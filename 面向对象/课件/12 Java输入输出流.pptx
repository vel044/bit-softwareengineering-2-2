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Lst>
  <p:sldSz cx="9144000" cy="6858000" type="screen4x3"/>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572"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52855" y="1500504"/>
            <a:ext cx="6638289" cy="148717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p:txBody>
          <a:bodyPr lIns="0" tIns="0" rIns="0" bIns="0"/>
          <a:lstStyle>
            <a:lvl1pPr>
              <a:defRPr sz="1200" b="0" i="0">
                <a:solidFill>
                  <a:srgbClr val="F1F1F1"/>
                </a:solidFill>
                <a:latin typeface="微软雅黑"/>
                <a:cs typeface="微软雅黑"/>
              </a:defRPr>
            </a:lvl1pPr>
          </a:lstStyle>
          <a:p>
            <a:pPr marL="38100">
              <a:lnSpc>
                <a:spcPct val="100000"/>
              </a:lnSpc>
              <a:spcBef>
                <a:spcPts val="17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等线"/>
                <a:cs typeface="等线"/>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p:txBody>
          <a:bodyPr lIns="0" tIns="0" rIns="0" bIns="0"/>
          <a:lstStyle>
            <a:lvl1pPr>
              <a:defRPr sz="1200" b="0" i="0">
                <a:solidFill>
                  <a:srgbClr val="F1F1F1"/>
                </a:solidFill>
                <a:latin typeface="微软雅黑"/>
                <a:cs typeface="微软雅黑"/>
              </a:defRPr>
            </a:lvl1pPr>
          </a:lstStyle>
          <a:p>
            <a:pPr marL="38100">
              <a:lnSpc>
                <a:spcPct val="100000"/>
              </a:lnSpc>
              <a:spcBef>
                <a:spcPts val="17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17" name="bk object 17"/>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18" name="bk object 18"/>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19" name="bk object 19"/>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20" name="bk object 20"/>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21" name="bk object 21"/>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22" name="bk object 22"/>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23" name="bk object 23"/>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24" name="bk object 24"/>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25" name="bk object 25"/>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26" name="bk object 26"/>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27" name="bk object 27"/>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28" name="bk object 28"/>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29" name="bk object 29"/>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30" name="bk object 30"/>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31" name="bk object 31"/>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32" name="bk object 32"/>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33" name="bk object 33"/>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34" name="bk object 34"/>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35" name="bk object 35"/>
          <p:cNvSpPr/>
          <p:nvPr/>
        </p:nvSpPr>
        <p:spPr>
          <a:xfrm>
            <a:off x="252984" y="903732"/>
            <a:ext cx="3168395" cy="2080260"/>
          </a:xfrm>
          <a:prstGeom prst="rect">
            <a:avLst/>
          </a:prstGeom>
          <a:blipFill>
            <a:blip r:embed="rId10" cstate="print"/>
            <a:stretch>
              <a:fillRect/>
            </a:stretch>
          </a:blipFill>
        </p:spPr>
        <p:txBody>
          <a:bodyPr wrap="square" lIns="0" tIns="0" rIns="0" bIns="0" rtlCol="0"/>
          <a:lstStyle/>
          <a:p>
            <a:endParaRPr/>
          </a:p>
        </p:txBody>
      </p:sp>
      <p:sp>
        <p:nvSpPr>
          <p:cNvPr id="36" name="bk object 36"/>
          <p:cNvSpPr/>
          <p:nvPr/>
        </p:nvSpPr>
        <p:spPr>
          <a:xfrm>
            <a:off x="249186" y="900049"/>
            <a:ext cx="3176270" cy="2087880"/>
          </a:xfrm>
          <a:custGeom>
            <a:avLst/>
            <a:gdLst/>
            <a:ahLst/>
            <a:cxnLst/>
            <a:rect l="l" t="t" r="r" b="b"/>
            <a:pathLst>
              <a:path w="3176270" h="2087880">
                <a:moveTo>
                  <a:pt x="3176270" y="2087651"/>
                </a:moveTo>
                <a:lnTo>
                  <a:pt x="0" y="2087651"/>
                </a:lnTo>
                <a:lnTo>
                  <a:pt x="0" y="0"/>
                </a:lnTo>
                <a:lnTo>
                  <a:pt x="3176270" y="0"/>
                </a:lnTo>
                <a:lnTo>
                  <a:pt x="3176270" y="3809"/>
                </a:lnTo>
                <a:lnTo>
                  <a:pt x="7620" y="3809"/>
                </a:lnTo>
                <a:lnTo>
                  <a:pt x="3810" y="7619"/>
                </a:lnTo>
                <a:lnTo>
                  <a:pt x="7620" y="7619"/>
                </a:lnTo>
                <a:lnTo>
                  <a:pt x="7620" y="2080031"/>
                </a:lnTo>
                <a:lnTo>
                  <a:pt x="3809" y="2080031"/>
                </a:lnTo>
                <a:lnTo>
                  <a:pt x="7620" y="2083841"/>
                </a:lnTo>
                <a:lnTo>
                  <a:pt x="3176270" y="2083841"/>
                </a:lnTo>
                <a:lnTo>
                  <a:pt x="3176270" y="2087651"/>
                </a:lnTo>
                <a:close/>
              </a:path>
              <a:path w="3176270" h="2087880">
                <a:moveTo>
                  <a:pt x="7620" y="7619"/>
                </a:moveTo>
                <a:lnTo>
                  <a:pt x="3810" y="7619"/>
                </a:lnTo>
                <a:lnTo>
                  <a:pt x="7620" y="3809"/>
                </a:lnTo>
                <a:lnTo>
                  <a:pt x="7620" y="7619"/>
                </a:lnTo>
                <a:close/>
              </a:path>
              <a:path w="3176270" h="2087880">
                <a:moveTo>
                  <a:pt x="3168649" y="7619"/>
                </a:moveTo>
                <a:lnTo>
                  <a:pt x="7620" y="7619"/>
                </a:lnTo>
                <a:lnTo>
                  <a:pt x="7620" y="3809"/>
                </a:lnTo>
                <a:lnTo>
                  <a:pt x="3168649" y="3809"/>
                </a:lnTo>
                <a:lnTo>
                  <a:pt x="3168649" y="7619"/>
                </a:lnTo>
                <a:close/>
              </a:path>
              <a:path w="3176270" h="2087880">
                <a:moveTo>
                  <a:pt x="3168649" y="2083841"/>
                </a:moveTo>
                <a:lnTo>
                  <a:pt x="3168649" y="3809"/>
                </a:lnTo>
                <a:lnTo>
                  <a:pt x="3172460" y="7619"/>
                </a:lnTo>
                <a:lnTo>
                  <a:pt x="3176270" y="7619"/>
                </a:lnTo>
                <a:lnTo>
                  <a:pt x="3176270" y="2080031"/>
                </a:lnTo>
                <a:lnTo>
                  <a:pt x="3172460" y="2080031"/>
                </a:lnTo>
                <a:lnTo>
                  <a:pt x="3168649" y="2083841"/>
                </a:lnTo>
                <a:close/>
              </a:path>
              <a:path w="3176270" h="2087880">
                <a:moveTo>
                  <a:pt x="3176270" y="7619"/>
                </a:moveTo>
                <a:lnTo>
                  <a:pt x="3172460" y="7619"/>
                </a:lnTo>
                <a:lnTo>
                  <a:pt x="3168649" y="3809"/>
                </a:lnTo>
                <a:lnTo>
                  <a:pt x="3176270" y="3809"/>
                </a:lnTo>
                <a:lnTo>
                  <a:pt x="3176270" y="7619"/>
                </a:lnTo>
                <a:close/>
              </a:path>
              <a:path w="3176270" h="2087880">
                <a:moveTo>
                  <a:pt x="7620" y="2083841"/>
                </a:moveTo>
                <a:lnTo>
                  <a:pt x="3809" y="2080031"/>
                </a:lnTo>
                <a:lnTo>
                  <a:pt x="7620" y="2080031"/>
                </a:lnTo>
                <a:lnTo>
                  <a:pt x="7620" y="2083841"/>
                </a:lnTo>
                <a:close/>
              </a:path>
              <a:path w="3176270" h="2087880">
                <a:moveTo>
                  <a:pt x="3168649" y="2083841"/>
                </a:moveTo>
                <a:lnTo>
                  <a:pt x="7620" y="2083841"/>
                </a:lnTo>
                <a:lnTo>
                  <a:pt x="7620" y="2080031"/>
                </a:lnTo>
                <a:lnTo>
                  <a:pt x="3168649" y="2080031"/>
                </a:lnTo>
                <a:lnTo>
                  <a:pt x="3168649" y="2083841"/>
                </a:lnTo>
                <a:close/>
              </a:path>
              <a:path w="3176270" h="2087880">
                <a:moveTo>
                  <a:pt x="3176270" y="2083841"/>
                </a:moveTo>
                <a:lnTo>
                  <a:pt x="3168649" y="2083841"/>
                </a:lnTo>
                <a:lnTo>
                  <a:pt x="3172460" y="2080031"/>
                </a:lnTo>
                <a:lnTo>
                  <a:pt x="3176270" y="2080031"/>
                </a:lnTo>
                <a:lnTo>
                  <a:pt x="3176270" y="2083841"/>
                </a:lnTo>
                <a:close/>
              </a:path>
            </a:pathLst>
          </a:custGeom>
          <a:solidFill>
            <a:srgbClr val="3E3E3E"/>
          </a:solidFill>
        </p:spPr>
        <p:txBody>
          <a:bodyPr wrap="square" lIns="0" tIns="0" rIns="0" bIns="0" rtlCol="0"/>
          <a:lstStyle/>
          <a:p>
            <a:endParaRPr/>
          </a:p>
        </p:txBody>
      </p:sp>
      <p:sp>
        <p:nvSpPr>
          <p:cNvPr id="37" name="bk object 37"/>
          <p:cNvSpPr/>
          <p:nvPr/>
        </p:nvSpPr>
        <p:spPr>
          <a:xfrm>
            <a:off x="469391" y="1242060"/>
            <a:ext cx="2737485" cy="338455"/>
          </a:xfrm>
          <a:custGeom>
            <a:avLst/>
            <a:gdLst/>
            <a:ahLst/>
            <a:cxnLst/>
            <a:rect l="l" t="t" r="r" b="b"/>
            <a:pathLst>
              <a:path w="2737485" h="338455">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38" name="bk object 38"/>
          <p:cNvSpPr/>
          <p:nvPr/>
        </p:nvSpPr>
        <p:spPr>
          <a:xfrm>
            <a:off x="462546" y="1236052"/>
            <a:ext cx="2749550" cy="351155"/>
          </a:xfrm>
          <a:custGeom>
            <a:avLst/>
            <a:gdLst/>
            <a:ahLst/>
            <a:cxnLst/>
            <a:rect l="l" t="t" r="r" b="b"/>
            <a:pathLst>
              <a:path w="2749550" h="351155">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5">
                <a:moveTo>
                  <a:pt x="12700" y="12700"/>
                </a:moveTo>
                <a:lnTo>
                  <a:pt x="6350" y="12700"/>
                </a:lnTo>
                <a:lnTo>
                  <a:pt x="12700" y="6350"/>
                </a:lnTo>
                <a:lnTo>
                  <a:pt x="12700" y="12700"/>
                </a:lnTo>
                <a:close/>
              </a:path>
              <a:path w="2749550" h="351155">
                <a:moveTo>
                  <a:pt x="2736850" y="12700"/>
                </a:moveTo>
                <a:lnTo>
                  <a:pt x="12700" y="12700"/>
                </a:lnTo>
                <a:lnTo>
                  <a:pt x="12700" y="6350"/>
                </a:lnTo>
                <a:lnTo>
                  <a:pt x="2736850" y="6350"/>
                </a:lnTo>
                <a:lnTo>
                  <a:pt x="2736850" y="12700"/>
                </a:lnTo>
                <a:close/>
              </a:path>
              <a:path w="2749550" h="351155">
                <a:moveTo>
                  <a:pt x="2736850" y="344805"/>
                </a:moveTo>
                <a:lnTo>
                  <a:pt x="2736850" y="6350"/>
                </a:lnTo>
                <a:lnTo>
                  <a:pt x="2743200" y="12700"/>
                </a:lnTo>
                <a:lnTo>
                  <a:pt x="2749550" y="12700"/>
                </a:lnTo>
                <a:lnTo>
                  <a:pt x="2749550" y="338455"/>
                </a:lnTo>
                <a:lnTo>
                  <a:pt x="2743200" y="338455"/>
                </a:lnTo>
                <a:lnTo>
                  <a:pt x="2736850" y="344805"/>
                </a:lnTo>
                <a:close/>
              </a:path>
              <a:path w="2749550" h="351155">
                <a:moveTo>
                  <a:pt x="2749550" y="12700"/>
                </a:moveTo>
                <a:lnTo>
                  <a:pt x="2743200" y="12700"/>
                </a:lnTo>
                <a:lnTo>
                  <a:pt x="2736850" y="6350"/>
                </a:lnTo>
                <a:lnTo>
                  <a:pt x="2749550" y="6350"/>
                </a:lnTo>
                <a:lnTo>
                  <a:pt x="2749550" y="12700"/>
                </a:lnTo>
                <a:close/>
              </a:path>
              <a:path w="2749550" h="351155">
                <a:moveTo>
                  <a:pt x="12700" y="344805"/>
                </a:moveTo>
                <a:lnTo>
                  <a:pt x="6350" y="338455"/>
                </a:lnTo>
                <a:lnTo>
                  <a:pt x="12700" y="338455"/>
                </a:lnTo>
                <a:lnTo>
                  <a:pt x="12700" y="344805"/>
                </a:lnTo>
                <a:close/>
              </a:path>
              <a:path w="2749550" h="351155">
                <a:moveTo>
                  <a:pt x="2736850" y="344805"/>
                </a:moveTo>
                <a:lnTo>
                  <a:pt x="12700" y="344805"/>
                </a:lnTo>
                <a:lnTo>
                  <a:pt x="12700" y="338455"/>
                </a:lnTo>
                <a:lnTo>
                  <a:pt x="2736850" y="338455"/>
                </a:lnTo>
                <a:lnTo>
                  <a:pt x="2736850" y="344805"/>
                </a:lnTo>
                <a:close/>
              </a:path>
              <a:path w="2749550" h="351155">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chemeClr val="tx1"/>
                </a:solidFill>
                <a:latin typeface="微软雅黑"/>
                <a:cs typeface="微软雅黑"/>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7" name="Holder 7"/>
          <p:cNvSpPr>
            <a:spLocks noGrp="1"/>
          </p:cNvSpPr>
          <p:nvPr>
            <p:ph type="sldNum" sz="quarter" idx="7"/>
          </p:nvPr>
        </p:nvSpPr>
        <p:spPr/>
        <p:txBody>
          <a:bodyPr lIns="0" tIns="0" rIns="0" bIns="0"/>
          <a:lstStyle>
            <a:lvl1pPr>
              <a:defRPr sz="1200" b="0" i="0">
                <a:solidFill>
                  <a:srgbClr val="F1F1F1"/>
                </a:solidFill>
                <a:latin typeface="微软雅黑"/>
                <a:cs typeface="微软雅黑"/>
              </a:defRPr>
            </a:lvl1pPr>
          </a:lstStyle>
          <a:p>
            <a:pPr marL="38100">
              <a:lnSpc>
                <a:spcPct val="100000"/>
              </a:lnSpc>
              <a:spcBef>
                <a:spcPts val="17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微软雅黑"/>
                <a:cs typeface="微软雅黑"/>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5" name="Holder 5"/>
          <p:cNvSpPr>
            <a:spLocks noGrp="1"/>
          </p:cNvSpPr>
          <p:nvPr>
            <p:ph type="sldNum" sz="quarter" idx="7"/>
          </p:nvPr>
        </p:nvSpPr>
        <p:spPr/>
        <p:txBody>
          <a:bodyPr lIns="0" tIns="0" rIns="0" bIns="0"/>
          <a:lstStyle>
            <a:lvl1pPr>
              <a:defRPr sz="1200" b="0" i="0">
                <a:solidFill>
                  <a:srgbClr val="F1F1F1"/>
                </a:solidFill>
                <a:latin typeface="微软雅黑"/>
                <a:cs typeface="微软雅黑"/>
              </a:defRPr>
            </a:lvl1pPr>
          </a:lstStyle>
          <a:p>
            <a:pPr marL="38100">
              <a:lnSpc>
                <a:spcPct val="100000"/>
              </a:lnSpc>
              <a:spcBef>
                <a:spcPts val="17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17" name="bk object 17"/>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18" name="bk object 18"/>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19" name="bk object 19"/>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20" name="bk object 20"/>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21" name="bk object 21"/>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22" name="bk object 22"/>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23" name="bk object 23"/>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24" name="bk object 24"/>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25" name="bk object 25"/>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26" name="bk object 26"/>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27" name="bk object 27"/>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28" name="bk object 28"/>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29" name="bk object 29"/>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30" name="bk object 30"/>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31" name="bk object 31"/>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32" name="bk object 32"/>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33" name="bk object 33"/>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5/6/2024</a:t>
            </a:fld>
            <a:endParaRPr lang="en-US"/>
          </a:p>
        </p:txBody>
      </p:sp>
      <p:sp>
        <p:nvSpPr>
          <p:cNvPr id="4" name="Holder 4"/>
          <p:cNvSpPr>
            <a:spLocks noGrp="1"/>
          </p:cNvSpPr>
          <p:nvPr>
            <p:ph type="sldNum" sz="quarter" idx="7"/>
          </p:nvPr>
        </p:nvSpPr>
        <p:spPr/>
        <p:txBody>
          <a:bodyPr lIns="0" tIns="0" rIns="0" bIns="0"/>
          <a:lstStyle>
            <a:lvl1pPr>
              <a:defRPr sz="1200" b="0" i="0">
                <a:solidFill>
                  <a:srgbClr val="F1F1F1"/>
                </a:solidFill>
                <a:latin typeface="微软雅黑"/>
                <a:cs typeface="微软雅黑"/>
              </a:defRPr>
            </a:lvl1pPr>
          </a:lstStyle>
          <a:p>
            <a:pPr marL="38100">
              <a:lnSpc>
                <a:spcPct val="100000"/>
              </a:lnSpc>
              <a:spcBef>
                <a:spcPts val="17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1.png"/><Relationship Id="rId12"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17" name="bk object 17"/>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18" name="bk object 18"/>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19" name="bk object 19"/>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20" name="bk object 20"/>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21" name="bk object 21"/>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22" name="bk object 22"/>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23" name="bk object 23"/>
          <p:cNvSpPr/>
          <p:nvPr/>
        </p:nvSpPr>
        <p:spPr>
          <a:xfrm>
            <a:off x="1998459" y="6417487"/>
            <a:ext cx="159918" cy="240436"/>
          </a:xfrm>
          <a:prstGeom prst="rect">
            <a:avLst/>
          </a:prstGeom>
          <a:blipFill>
            <a:blip r:embed="rId7" cstate="print"/>
            <a:stretch>
              <a:fillRect/>
            </a:stretch>
          </a:blipFill>
        </p:spPr>
        <p:txBody>
          <a:bodyPr wrap="square" lIns="0" tIns="0" rIns="0" bIns="0" rtlCol="0"/>
          <a:lstStyle/>
          <a:p>
            <a:endParaRPr/>
          </a:p>
        </p:txBody>
      </p:sp>
      <p:sp>
        <p:nvSpPr>
          <p:cNvPr id="24" name="bk object 24"/>
          <p:cNvSpPr/>
          <p:nvPr/>
        </p:nvSpPr>
        <p:spPr>
          <a:xfrm>
            <a:off x="2264105" y="6464096"/>
            <a:ext cx="89105" cy="179273"/>
          </a:xfrm>
          <a:prstGeom prst="rect">
            <a:avLst/>
          </a:prstGeom>
          <a:blipFill>
            <a:blip r:embed="rId8" cstate="print"/>
            <a:stretch>
              <a:fillRect/>
            </a:stretch>
          </a:blipFill>
        </p:spPr>
        <p:txBody>
          <a:bodyPr wrap="square" lIns="0" tIns="0" rIns="0" bIns="0" rtlCol="0"/>
          <a:lstStyle/>
          <a:p>
            <a:endParaRPr/>
          </a:p>
        </p:txBody>
      </p:sp>
      <p:sp>
        <p:nvSpPr>
          <p:cNvPr id="25" name="bk object 25"/>
          <p:cNvSpPr/>
          <p:nvPr/>
        </p:nvSpPr>
        <p:spPr>
          <a:xfrm>
            <a:off x="1541767" y="6402616"/>
            <a:ext cx="161002" cy="270814"/>
          </a:xfrm>
          <a:prstGeom prst="rect">
            <a:avLst/>
          </a:prstGeom>
          <a:blipFill>
            <a:blip r:embed="rId9" cstate="print"/>
            <a:stretch>
              <a:fillRect/>
            </a:stretch>
          </a:blipFill>
        </p:spPr>
        <p:txBody>
          <a:bodyPr wrap="square" lIns="0" tIns="0" rIns="0" bIns="0" rtlCol="0"/>
          <a:lstStyle/>
          <a:p>
            <a:endParaRPr/>
          </a:p>
        </p:txBody>
      </p:sp>
      <p:sp>
        <p:nvSpPr>
          <p:cNvPr id="26" name="bk object 26"/>
          <p:cNvSpPr/>
          <p:nvPr/>
        </p:nvSpPr>
        <p:spPr>
          <a:xfrm>
            <a:off x="1796440" y="6463360"/>
            <a:ext cx="94905" cy="148691"/>
          </a:xfrm>
          <a:prstGeom prst="rect">
            <a:avLst/>
          </a:prstGeom>
          <a:blipFill>
            <a:blip r:embed="rId10" cstate="print"/>
            <a:stretch>
              <a:fillRect/>
            </a:stretch>
          </a:blipFill>
        </p:spPr>
        <p:txBody>
          <a:bodyPr wrap="square" lIns="0" tIns="0" rIns="0" bIns="0" rtlCol="0"/>
          <a:lstStyle/>
          <a:p>
            <a:endParaRPr/>
          </a:p>
        </p:txBody>
      </p:sp>
      <p:sp>
        <p:nvSpPr>
          <p:cNvPr id="27" name="bk object 27"/>
          <p:cNvSpPr/>
          <p:nvPr/>
        </p:nvSpPr>
        <p:spPr>
          <a:xfrm>
            <a:off x="880122" y="6433527"/>
            <a:ext cx="142481" cy="203111"/>
          </a:xfrm>
          <a:prstGeom prst="rect">
            <a:avLst/>
          </a:prstGeom>
          <a:blipFill>
            <a:blip r:embed="rId11" cstate="print"/>
            <a:stretch>
              <a:fillRect/>
            </a:stretch>
          </a:blipFill>
        </p:spPr>
        <p:txBody>
          <a:bodyPr wrap="square" lIns="0" tIns="0" rIns="0" bIns="0" rtlCol="0"/>
          <a:lstStyle/>
          <a:p>
            <a:endParaRPr/>
          </a:p>
        </p:txBody>
      </p:sp>
      <p:sp>
        <p:nvSpPr>
          <p:cNvPr id="28" name="bk object 28"/>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29" name="bk object 29"/>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30" name="bk object 30"/>
          <p:cNvSpPr/>
          <p:nvPr/>
        </p:nvSpPr>
        <p:spPr>
          <a:xfrm>
            <a:off x="686562" y="6471818"/>
            <a:ext cx="108813" cy="126542"/>
          </a:xfrm>
          <a:prstGeom prst="rect">
            <a:avLst/>
          </a:prstGeom>
          <a:blipFill>
            <a:blip r:embed="rId12" cstate="print"/>
            <a:stretch>
              <a:fillRect/>
            </a:stretch>
          </a:blipFill>
        </p:spPr>
        <p:txBody>
          <a:bodyPr wrap="square" lIns="0" tIns="0" rIns="0" bIns="0" rtlCol="0"/>
          <a:lstStyle/>
          <a:p>
            <a:endParaRPr/>
          </a:p>
        </p:txBody>
      </p:sp>
      <p:sp>
        <p:nvSpPr>
          <p:cNvPr id="31" name="bk object 31"/>
          <p:cNvSpPr/>
          <p:nvPr/>
        </p:nvSpPr>
        <p:spPr>
          <a:xfrm>
            <a:off x="1088682" y="6402252"/>
            <a:ext cx="184064" cy="243238"/>
          </a:xfrm>
          <a:prstGeom prst="rect">
            <a:avLst/>
          </a:prstGeom>
          <a:blipFill>
            <a:blip r:embed="rId13" cstate="print"/>
            <a:stretch>
              <a:fillRect/>
            </a:stretch>
          </a:blipFill>
        </p:spPr>
        <p:txBody>
          <a:bodyPr wrap="square" lIns="0" tIns="0" rIns="0" bIns="0" rtlCol="0"/>
          <a:lstStyle/>
          <a:p>
            <a:endParaRPr/>
          </a:p>
        </p:txBody>
      </p:sp>
      <p:sp>
        <p:nvSpPr>
          <p:cNvPr id="32" name="bk object 32"/>
          <p:cNvSpPr/>
          <p:nvPr/>
        </p:nvSpPr>
        <p:spPr>
          <a:xfrm>
            <a:off x="7377683" y="347472"/>
            <a:ext cx="1476755" cy="432815"/>
          </a:xfrm>
          <a:prstGeom prst="rect">
            <a:avLst/>
          </a:prstGeom>
          <a:blipFill>
            <a:blip r:embed="rId14" cstate="print"/>
            <a:stretch>
              <a:fillRect/>
            </a:stretch>
          </a:blipFill>
        </p:spPr>
        <p:txBody>
          <a:bodyPr wrap="square" lIns="0" tIns="0" rIns="0" bIns="0" rtlCol="0"/>
          <a:lstStyle/>
          <a:p>
            <a:endParaRPr/>
          </a:p>
        </p:txBody>
      </p:sp>
      <p:sp>
        <p:nvSpPr>
          <p:cNvPr id="33" name="bk object 33"/>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34" name="bk object 34"/>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 name="Holder 2"/>
          <p:cNvSpPr>
            <a:spLocks noGrp="1"/>
          </p:cNvSpPr>
          <p:nvPr>
            <p:ph type="title"/>
          </p:nvPr>
        </p:nvSpPr>
        <p:spPr>
          <a:xfrm>
            <a:off x="229349" y="176682"/>
            <a:ext cx="8685301" cy="720090"/>
          </a:xfrm>
          <a:prstGeom prst="rect">
            <a:avLst/>
          </a:prstGeom>
        </p:spPr>
        <p:txBody>
          <a:bodyPr wrap="square" lIns="0" tIns="0" rIns="0" bIns="0">
            <a:spAutoFit/>
          </a:bodyPr>
          <a:lstStyle>
            <a:lvl1pPr>
              <a:defRPr sz="2400" b="1" i="0">
                <a:solidFill>
                  <a:schemeClr val="tx1"/>
                </a:solidFill>
                <a:latin typeface="微软雅黑"/>
                <a:cs typeface="微软雅黑"/>
              </a:defRPr>
            </a:lvl1pPr>
          </a:lstStyle>
          <a:p>
            <a:endParaRPr/>
          </a:p>
        </p:txBody>
      </p:sp>
      <p:sp>
        <p:nvSpPr>
          <p:cNvPr id="3" name="Holder 3"/>
          <p:cNvSpPr>
            <a:spLocks noGrp="1"/>
          </p:cNvSpPr>
          <p:nvPr>
            <p:ph type="body" idx="1"/>
          </p:nvPr>
        </p:nvSpPr>
        <p:spPr>
          <a:xfrm>
            <a:off x="761682" y="1974850"/>
            <a:ext cx="6650990" cy="3050540"/>
          </a:xfrm>
          <a:prstGeom prst="rect">
            <a:avLst/>
          </a:prstGeom>
        </p:spPr>
        <p:txBody>
          <a:bodyPr wrap="square" lIns="0" tIns="0" rIns="0" bIns="0">
            <a:spAutoFit/>
          </a:bodyPr>
          <a:lstStyle>
            <a:lvl1pPr>
              <a:defRPr sz="2400" b="0" i="0">
                <a:solidFill>
                  <a:schemeClr val="tx1"/>
                </a:solidFill>
                <a:latin typeface="等线"/>
                <a:cs typeface="等线"/>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5/6/2024</a:t>
            </a:fld>
            <a:endParaRPr lang="en-US"/>
          </a:p>
        </p:txBody>
      </p:sp>
      <p:sp>
        <p:nvSpPr>
          <p:cNvPr id="6" name="Holder 6"/>
          <p:cNvSpPr>
            <a:spLocks noGrp="1"/>
          </p:cNvSpPr>
          <p:nvPr>
            <p:ph type="sldNum" sz="quarter" idx="7"/>
          </p:nvPr>
        </p:nvSpPr>
        <p:spPr>
          <a:xfrm>
            <a:off x="8503602" y="6401152"/>
            <a:ext cx="255270" cy="226695"/>
          </a:xfrm>
          <a:prstGeom prst="rect">
            <a:avLst/>
          </a:prstGeom>
        </p:spPr>
        <p:txBody>
          <a:bodyPr wrap="square" lIns="0" tIns="0" rIns="0" bIns="0">
            <a:spAutoFit/>
          </a:bodyPr>
          <a:lstStyle>
            <a:lvl1pPr>
              <a:defRPr sz="1200" b="0" i="0">
                <a:solidFill>
                  <a:srgbClr val="F1F1F1"/>
                </a:solidFill>
                <a:latin typeface="微软雅黑"/>
                <a:cs typeface="微软雅黑"/>
              </a:defRPr>
            </a:lvl1pPr>
          </a:lstStyle>
          <a:p>
            <a:pPr marL="38100">
              <a:lnSpc>
                <a:spcPct val="100000"/>
              </a:lnSpc>
              <a:spcBef>
                <a:spcPts val="17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8.jpg"/><Relationship Id="rId5" Type="http://schemas.openxmlformats.org/officeDocument/2006/relationships/image" Target="../media/image4.png"/><Relationship Id="rId10" Type="http://schemas.openxmlformats.org/officeDocument/2006/relationships/image" Target="../media/image17.jpg"/><Relationship Id="rId4" Type="http://schemas.openxmlformats.org/officeDocument/2006/relationships/image" Target="../media/image3.png"/><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5.jpg"/><Relationship Id="rId4" Type="http://schemas.openxmlformats.org/officeDocument/2006/relationships/image" Target="../media/image3.png"/><Relationship Id="rId9"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9.jpg"/><Relationship Id="rId4" Type="http://schemas.openxmlformats.org/officeDocument/2006/relationships/image" Target="../media/image3.png"/><Relationship Id="rId9" Type="http://schemas.openxmlformats.org/officeDocument/2006/relationships/image" Target="../media/image8.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20.jpg"/><Relationship Id="rId4" Type="http://schemas.openxmlformats.org/officeDocument/2006/relationships/image" Target="../media/image3.png"/><Relationship Id="rId9" Type="http://schemas.openxmlformats.org/officeDocument/2006/relationships/image" Target="../media/image8.png"/></Relationships>
</file>

<file path=ppt/slides/_rels/slide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70.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png"/><Relationship Id="rId16"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7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7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3" name="object 3"/>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4" name="object 4"/>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5" name="object 5"/>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6" name="object 6"/>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7" name="object 7"/>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8" name="object 8"/>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9" name="object 9"/>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5" name="object 15"/>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6" name="object 16"/>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20" name="object 20"/>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1" name="object 21"/>
          <p:cNvSpPr txBox="1"/>
          <p:nvPr/>
        </p:nvSpPr>
        <p:spPr>
          <a:xfrm>
            <a:off x="78739" y="370700"/>
            <a:ext cx="7468870" cy="5447645"/>
          </a:xfrm>
          <a:prstGeom prst="rect">
            <a:avLst/>
          </a:prstGeom>
        </p:spPr>
        <p:txBody>
          <a:bodyPr vert="horz" wrap="square" lIns="0" tIns="12700" rIns="0" bIns="0" rtlCol="0">
            <a:spAutoFit/>
          </a:bodyPr>
          <a:lstStyle/>
          <a:p>
            <a:pPr marL="1217295">
              <a:lnSpc>
                <a:spcPct val="100000"/>
              </a:lnSpc>
              <a:spcBef>
                <a:spcPts val="100"/>
              </a:spcBef>
            </a:pPr>
            <a:r>
              <a:rPr sz="2100" b="1" dirty="0">
                <a:latin typeface="微软雅黑"/>
                <a:cs typeface="微软雅黑"/>
              </a:rPr>
              <a:t>本章知识点</a:t>
            </a:r>
            <a:endParaRPr sz="2100" dirty="0">
              <a:latin typeface="微软雅黑"/>
              <a:cs typeface="微软雅黑"/>
            </a:endParaRPr>
          </a:p>
          <a:p>
            <a:pPr>
              <a:lnSpc>
                <a:spcPct val="100000"/>
              </a:lnSpc>
              <a:spcBef>
                <a:spcPts val="10"/>
              </a:spcBef>
            </a:pPr>
            <a:endParaRPr sz="3350" dirty="0">
              <a:latin typeface="微软雅黑"/>
              <a:cs typeface="微软雅黑"/>
            </a:endParaRPr>
          </a:p>
          <a:p>
            <a:pPr marL="184150" indent="-171450">
              <a:lnSpc>
                <a:spcPct val="100000"/>
              </a:lnSpc>
              <a:buFont typeface="Arial"/>
              <a:buChar char="•"/>
              <a:tabLst>
                <a:tab pos="184150" algn="l"/>
              </a:tabLst>
            </a:pPr>
            <a:r>
              <a:rPr sz="2400" spc="-25" dirty="0">
                <a:latin typeface="微软雅黑"/>
                <a:cs typeface="微软雅黑"/>
              </a:rPr>
              <a:t>Java</a:t>
            </a:r>
            <a:r>
              <a:rPr sz="2400" dirty="0">
                <a:latin typeface="微软雅黑"/>
                <a:cs typeface="微软雅黑"/>
              </a:rPr>
              <a:t>流的类层次结构</a:t>
            </a:r>
          </a:p>
          <a:p>
            <a:pPr marL="184150" indent="-171450">
              <a:lnSpc>
                <a:spcPct val="100000"/>
              </a:lnSpc>
              <a:spcBef>
                <a:spcPts val="459"/>
              </a:spcBef>
              <a:buFont typeface="Arial"/>
              <a:buChar char="•"/>
              <a:tabLst>
                <a:tab pos="184150" algn="l"/>
              </a:tabLst>
            </a:pPr>
            <a:r>
              <a:rPr sz="2400" b="1" dirty="0">
                <a:latin typeface="微软雅黑"/>
                <a:cs typeface="微软雅黑"/>
              </a:rPr>
              <a:t>字节</a:t>
            </a:r>
            <a:r>
              <a:rPr sz="2400" dirty="0">
                <a:latin typeface="微软雅黑"/>
                <a:cs typeface="微软雅黑"/>
              </a:rPr>
              <a:t>流</a:t>
            </a:r>
          </a:p>
          <a:p>
            <a:pPr marL="527050" lvl="1" indent="-171450">
              <a:lnSpc>
                <a:spcPct val="100000"/>
              </a:lnSpc>
              <a:spcBef>
                <a:spcPts val="114"/>
              </a:spcBef>
              <a:buFont typeface="Arial"/>
              <a:buChar char="•"/>
              <a:tabLst>
                <a:tab pos="527050" algn="l"/>
              </a:tabLst>
            </a:pPr>
            <a:r>
              <a:rPr sz="2200" dirty="0">
                <a:latin typeface="微软雅黑"/>
                <a:cs typeface="微软雅黑"/>
              </a:rPr>
              <a:t>抽象类</a:t>
            </a:r>
            <a:r>
              <a:rPr sz="2200" spc="-15" dirty="0">
                <a:latin typeface="微软雅黑"/>
                <a:cs typeface="微软雅黑"/>
              </a:rPr>
              <a:t>InputStream</a:t>
            </a:r>
            <a:r>
              <a:rPr sz="2200" dirty="0">
                <a:latin typeface="微软雅黑"/>
                <a:cs typeface="微软雅黑"/>
              </a:rPr>
              <a:t>和</a:t>
            </a:r>
            <a:r>
              <a:rPr sz="2200" spc="-15" dirty="0">
                <a:latin typeface="微软雅黑"/>
                <a:cs typeface="微软雅黑"/>
              </a:rPr>
              <a:t>OutputStream</a:t>
            </a:r>
            <a:endParaRPr sz="2200" dirty="0">
              <a:latin typeface="微软雅黑"/>
              <a:cs typeface="微软雅黑"/>
            </a:endParaRPr>
          </a:p>
          <a:p>
            <a:pPr marL="527050" lvl="1" indent="-171450">
              <a:lnSpc>
                <a:spcPct val="100000"/>
              </a:lnSpc>
              <a:spcBef>
                <a:spcPts val="110"/>
              </a:spcBef>
              <a:buFont typeface="Arial"/>
              <a:buChar char="•"/>
              <a:tabLst>
                <a:tab pos="527050" algn="l"/>
              </a:tabLst>
            </a:pPr>
            <a:r>
              <a:rPr sz="2200" u="sng" dirty="0">
                <a:latin typeface="微软雅黑"/>
                <a:cs typeface="微软雅黑"/>
              </a:rPr>
              <a:t>文件</a:t>
            </a:r>
            <a:r>
              <a:rPr sz="2200" dirty="0">
                <a:latin typeface="微软雅黑"/>
                <a:cs typeface="微软雅黑"/>
              </a:rPr>
              <a:t>流</a:t>
            </a:r>
            <a:r>
              <a:rPr sz="2200" u="sng" spc="-15" dirty="0">
                <a:latin typeface="微软雅黑"/>
                <a:cs typeface="微软雅黑"/>
              </a:rPr>
              <a:t>File</a:t>
            </a:r>
            <a:r>
              <a:rPr sz="2200" spc="-15" dirty="0">
                <a:latin typeface="微软雅黑"/>
                <a:cs typeface="微软雅黑"/>
              </a:rPr>
              <a:t>InputStream</a:t>
            </a:r>
            <a:r>
              <a:rPr sz="2200" dirty="0">
                <a:latin typeface="微软雅黑"/>
                <a:cs typeface="微软雅黑"/>
              </a:rPr>
              <a:t>和</a:t>
            </a:r>
            <a:r>
              <a:rPr sz="2200" spc="-10" dirty="0">
                <a:latin typeface="微软雅黑"/>
                <a:cs typeface="微软雅黑"/>
              </a:rPr>
              <a:t>FileOutputStream</a:t>
            </a:r>
            <a:endParaRPr sz="2200" dirty="0">
              <a:latin typeface="微软雅黑"/>
              <a:cs typeface="微软雅黑"/>
            </a:endParaRPr>
          </a:p>
          <a:p>
            <a:pPr marL="527050" lvl="1" indent="-171450">
              <a:lnSpc>
                <a:spcPct val="100000"/>
              </a:lnSpc>
              <a:spcBef>
                <a:spcPts val="110"/>
              </a:spcBef>
              <a:buFont typeface="Arial"/>
              <a:buChar char="•"/>
              <a:tabLst>
                <a:tab pos="527050" algn="l"/>
              </a:tabLst>
            </a:pPr>
            <a:r>
              <a:rPr sz="2200" u="sng" dirty="0">
                <a:latin typeface="微软雅黑"/>
                <a:cs typeface="微软雅黑"/>
              </a:rPr>
              <a:t>缓冲</a:t>
            </a:r>
            <a:r>
              <a:rPr sz="2200" dirty="0">
                <a:latin typeface="微软雅黑"/>
                <a:cs typeface="微软雅黑"/>
              </a:rPr>
              <a:t>流</a:t>
            </a:r>
            <a:r>
              <a:rPr sz="2200" u="sng" spc="-15" dirty="0">
                <a:latin typeface="微软雅黑"/>
                <a:cs typeface="微软雅黑"/>
              </a:rPr>
              <a:t>Buffered</a:t>
            </a:r>
            <a:r>
              <a:rPr sz="2200" spc="-15" dirty="0">
                <a:latin typeface="微软雅黑"/>
                <a:cs typeface="微软雅黑"/>
              </a:rPr>
              <a:t>InputStream</a:t>
            </a:r>
            <a:r>
              <a:rPr sz="2200" dirty="0">
                <a:latin typeface="微软雅黑"/>
                <a:cs typeface="微软雅黑"/>
              </a:rPr>
              <a:t>和</a:t>
            </a:r>
            <a:r>
              <a:rPr sz="2200" spc="-10" dirty="0">
                <a:latin typeface="微软雅黑"/>
                <a:cs typeface="微软雅黑"/>
              </a:rPr>
              <a:t>BufferedOutputStream</a:t>
            </a:r>
            <a:endParaRPr sz="2200" dirty="0">
              <a:latin typeface="微软雅黑"/>
              <a:cs typeface="微软雅黑"/>
            </a:endParaRPr>
          </a:p>
          <a:p>
            <a:pPr marL="527050" lvl="1" indent="-171450">
              <a:lnSpc>
                <a:spcPct val="100000"/>
              </a:lnSpc>
              <a:spcBef>
                <a:spcPts val="110"/>
              </a:spcBef>
              <a:buFont typeface="Arial"/>
              <a:buChar char="•"/>
              <a:tabLst>
                <a:tab pos="527050" algn="l"/>
              </a:tabLst>
            </a:pPr>
            <a:r>
              <a:rPr sz="2200" u="sng" dirty="0">
                <a:latin typeface="微软雅黑"/>
                <a:cs typeface="微软雅黑"/>
              </a:rPr>
              <a:t>数据过滤</a:t>
            </a:r>
            <a:r>
              <a:rPr sz="2200" dirty="0">
                <a:latin typeface="微软雅黑"/>
                <a:cs typeface="微软雅黑"/>
              </a:rPr>
              <a:t>流</a:t>
            </a:r>
            <a:r>
              <a:rPr sz="2200" u="sng" spc="-15" dirty="0">
                <a:latin typeface="微软雅黑"/>
                <a:cs typeface="微软雅黑"/>
              </a:rPr>
              <a:t>Data</a:t>
            </a:r>
            <a:r>
              <a:rPr sz="2200" spc="-15" dirty="0">
                <a:latin typeface="微软雅黑"/>
                <a:cs typeface="微软雅黑"/>
              </a:rPr>
              <a:t>InputStream</a:t>
            </a:r>
            <a:r>
              <a:rPr sz="2200" dirty="0">
                <a:latin typeface="微软雅黑"/>
                <a:cs typeface="微软雅黑"/>
              </a:rPr>
              <a:t>和</a:t>
            </a:r>
            <a:r>
              <a:rPr sz="2200" spc="-10" dirty="0">
                <a:latin typeface="微软雅黑"/>
                <a:cs typeface="微软雅黑"/>
              </a:rPr>
              <a:t>DataOutputStream</a:t>
            </a:r>
            <a:endParaRPr sz="2200" dirty="0">
              <a:latin typeface="微软雅黑"/>
              <a:cs typeface="微软雅黑"/>
            </a:endParaRPr>
          </a:p>
          <a:p>
            <a:pPr marL="527050" lvl="1" indent="-171450">
              <a:lnSpc>
                <a:spcPct val="100000"/>
              </a:lnSpc>
              <a:spcBef>
                <a:spcPts val="110"/>
              </a:spcBef>
              <a:buFont typeface="Arial"/>
              <a:buChar char="•"/>
              <a:tabLst>
                <a:tab pos="527050" algn="l"/>
              </a:tabLst>
            </a:pPr>
            <a:r>
              <a:rPr sz="2200" dirty="0">
                <a:latin typeface="微软雅黑"/>
                <a:cs typeface="微软雅黑"/>
              </a:rPr>
              <a:t>打印流</a:t>
            </a:r>
            <a:r>
              <a:rPr sz="2200" spc="-15" dirty="0">
                <a:latin typeface="微软雅黑"/>
                <a:cs typeface="微软雅黑"/>
              </a:rPr>
              <a:t>PrintStream</a:t>
            </a:r>
            <a:endParaRPr sz="2200" dirty="0">
              <a:latin typeface="微软雅黑"/>
              <a:cs typeface="微软雅黑"/>
            </a:endParaRPr>
          </a:p>
          <a:p>
            <a:pPr marL="527050" lvl="1" indent="-171450">
              <a:lnSpc>
                <a:spcPct val="100000"/>
              </a:lnSpc>
              <a:spcBef>
                <a:spcPts val="110"/>
              </a:spcBef>
              <a:buFont typeface="Arial"/>
              <a:buChar char="•"/>
              <a:tabLst>
                <a:tab pos="527050" algn="l"/>
              </a:tabLst>
            </a:pPr>
            <a:r>
              <a:rPr sz="2200" dirty="0">
                <a:latin typeface="微软雅黑"/>
                <a:cs typeface="微软雅黑"/>
              </a:rPr>
              <a:t>序列化接口</a:t>
            </a:r>
            <a:r>
              <a:rPr sz="2200" spc="-5" dirty="0">
                <a:latin typeface="微软雅黑"/>
                <a:cs typeface="微软雅黑"/>
              </a:rPr>
              <a:t>Serializable</a:t>
            </a:r>
            <a:endParaRPr sz="2200" dirty="0">
              <a:latin typeface="微软雅黑"/>
              <a:cs typeface="微软雅黑"/>
            </a:endParaRPr>
          </a:p>
          <a:p>
            <a:pPr marL="527050" lvl="1" indent="-171450">
              <a:lnSpc>
                <a:spcPct val="100000"/>
              </a:lnSpc>
              <a:spcBef>
                <a:spcPts val="110"/>
              </a:spcBef>
              <a:buFont typeface="Arial"/>
              <a:buChar char="•"/>
              <a:tabLst>
                <a:tab pos="527050" algn="l"/>
              </a:tabLst>
            </a:pPr>
            <a:r>
              <a:rPr sz="2200" dirty="0">
                <a:latin typeface="微软雅黑"/>
                <a:cs typeface="微软雅黑"/>
              </a:rPr>
              <a:t>对象流</a:t>
            </a:r>
            <a:r>
              <a:rPr sz="2200" spc="-10" dirty="0">
                <a:latin typeface="微软雅黑"/>
                <a:cs typeface="微软雅黑"/>
              </a:rPr>
              <a:t>ObjectInputStream</a:t>
            </a:r>
            <a:r>
              <a:rPr sz="2200" dirty="0">
                <a:latin typeface="微软雅黑"/>
                <a:cs typeface="微软雅黑"/>
              </a:rPr>
              <a:t>和</a:t>
            </a:r>
            <a:r>
              <a:rPr sz="2200" spc="-10" dirty="0">
                <a:latin typeface="微软雅黑"/>
                <a:cs typeface="微软雅黑"/>
              </a:rPr>
              <a:t>ObjectOutputStream</a:t>
            </a:r>
            <a:endParaRPr sz="2200" dirty="0">
              <a:latin typeface="微软雅黑"/>
              <a:cs typeface="微软雅黑"/>
            </a:endParaRPr>
          </a:p>
          <a:p>
            <a:pPr marL="527050" marR="2320290" lvl="1" indent="-171450">
              <a:lnSpc>
                <a:spcPts val="2370"/>
              </a:lnSpc>
              <a:spcBef>
                <a:spcPts val="415"/>
              </a:spcBef>
              <a:buFont typeface="Arial"/>
              <a:buChar char="•"/>
              <a:tabLst>
                <a:tab pos="527050" algn="l"/>
              </a:tabLst>
            </a:pPr>
            <a:r>
              <a:rPr sz="2200" u="sng" dirty="0" err="1">
                <a:latin typeface="微软雅黑"/>
                <a:cs typeface="微软雅黑"/>
              </a:rPr>
              <a:t>字节数组</a:t>
            </a:r>
            <a:r>
              <a:rPr sz="2200" dirty="0" err="1">
                <a:latin typeface="微软雅黑"/>
                <a:cs typeface="微软雅黑"/>
              </a:rPr>
              <a:t>流</a:t>
            </a:r>
            <a:r>
              <a:rPr sz="2200" u="sng" spc="-5" dirty="0" err="1">
                <a:latin typeface="微软雅黑"/>
                <a:cs typeface="微软雅黑"/>
              </a:rPr>
              <a:t>B</a:t>
            </a:r>
            <a:r>
              <a:rPr sz="2200" u="sng" dirty="0" err="1">
                <a:latin typeface="微软雅黑"/>
                <a:cs typeface="微软雅黑"/>
              </a:rPr>
              <a:t>y</a:t>
            </a:r>
            <a:r>
              <a:rPr sz="2200" u="sng" spc="-25" dirty="0" err="1">
                <a:latin typeface="微软雅黑"/>
                <a:cs typeface="微软雅黑"/>
              </a:rPr>
              <a:t>t</a:t>
            </a:r>
            <a:r>
              <a:rPr sz="2200" u="sng" spc="-5" dirty="0" err="1">
                <a:latin typeface="微软雅黑"/>
                <a:cs typeface="微软雅黑"/>
              </a:rPr>
              <a:t>e</a:t>
            </a:r>
            <a:r>
              <a:rPr sz="2200" u="sng" dirty="0" err="1">
                <a:latin typeface="微软雅黑"/>
                <a:cs typeface="微软雅黑"/>
              </a:rPr>
              <a:t>A</a:t>
            </a:r>
            <a:r>
              <a:rPr sz="2200" u="sng" spc="-5" dirty="0" err="1">
                <a:latin typeface="微软雅黑"/>
                <a:cs typeface="微软雅黑"/>
              </a:rPr>
              <a:t>rray</a:t>
            </a:r>
            <a:r>
              <a:rPr sz="2200" spc="-10" dirty="0" err="1">
                <a:latin typeface="微软雅黑"/>
                <a:cs typeface="微软雅黑"/>
              </a:rPr>
              <a:t>I</a:t>
            </a:r>
            <a:r>
              <a:rPr sz="2200" spc="-5" dirty="0" err="1">
                <a:latin typeface="微软雅黑"/>
                <a:cs typeface="微软雅黑"/>
              </a:rPr>
              <a:t>nput</a:t>
            </a:r>
            <a:r>
              <a:rPr sz="2200" spc="-85" dirty="0" err="1">
                <a:latin typeface="微软雅黑"/>
                <a:cs typeface="微软雅黑"/>
              </a:rPr>
              <a:t>S</a:t>
            </a:r>
            <a:r>
              <a:rPr sz="2200" spc="-5" dirty="0" err="1">
                <a:latin typeface="微软雅黑"/>
                <a:cs typeface="微软雅黑"/>
              </a:rPr>
              <a:t>t</a:t>
            </a:r>
            <a:r>
              <a:rPr sz="2200" spc="-40" dirty="0" err="1">
                <a:latin typeface="微软雅黑"/>
                <a:cs typeface="微软雅黑"/>
              </a:rPr>
              <a:t>r</a:t>
            </a:r>
            <a:r>
              <a:rPr sz="2200" spc="-5" dirty="0" err="1">
                <a:latin typeface="微软雅黑"/>
                <a:cs typeface="微软雅黑"/>
              </a:rPr>
              <a:t>eam和</a:t>
            </a:r>
            <a:r>
              <a:rPr sz="2200" spc="-5" dirty="0">
                <a:latin typeface="微软雅黑"/>
                <a:cs typeface="微软雅黑"/>
              </a:rPr>
              <a:t>  </a:t>
            </a:r>
            <a:r>
              <a:rPr sz="2200" spc="-10" dirty="0" err="1">
                <a:latin typeface="微软雅黑"/>
                <a:cs typeface="微软雅黑"/>
              </a:rPr>
              <a:t>ByteArrayOutputStream</a:t>
            </a:r>
            <a:endParaRPr lang="en-US" sz="2200" spc="-10" dirty="0">
              <a:latin typeface="微软雅黑"/>
              <a:cs typeface="微软雅黑"/>
            </a:endParaRPr>
          </a:p>
          <a:p>
            <a:pPr marL="527050" marR="2320290" lvl="1" indent="-171450">
              <a:lnSpc>
                <a:spcPts val="2370"/>
              </a:lnSpc>
              <a:spcBef>
                <a:spcPts val="415"/>
              </a:spcBef>
              <a:buFont typeface="Arial"/>
              <a:buChar char="•"/>
              <a:tabLst>
                <a:tab pos="527050" algn="l"/>
              </a:tabLst>
            </a:pPr>
            <a:r>
              <a:rPr lang="zh-CN" altLang="en-US" sz="2400" b="0" i="0" dirty="0">
                <a:solidFill>
                  <a:srgbClr val="1F2328"/>
                </a:solidFill>
                <a:effectLst/>
                <a:latin typeface="-apple-system"/>
              </a:rPr>
              <a:t>管道通信</a:t>
            </a:r>
            <a:r>
              <a:rPr lang="zh-CN" altLang="en-US" sz="2200" b="0" i="0" spc="-10" dirty="0">
                <a:solidFill>
                  <a:srgbClr val="1F2328"/>
                </a:solidFill>
                <a:effectLst/>
                <a:latin typeface="微软雅黑"/>
              </a:rPr>
              <a:t>流</a:t>
            </a:r>
            <a:r>
              <a:rPr lang="en-US" altLang="zh-CN" sz="2200" b="0" i="0" u="sng" spc="-10" dirty="0">
                <a:solidFill>
                  <a:srgbClr val="1F2328"/>
                </a:solidFill>
                <a:effectLst/>
                <a:latin typeface="微软雅黑"/>
              </a:rPr>
              <a:t>Piped</a:t>
            </a:r>
            <a:r>
              <a:rPr lang="en-US" altLang="zh-CN" sz="2200" b="0" i="0" spc="-10" dirty="0">
                <a:solidFill>
                  <a:srgbClr val="1F2328"/>
                </a:solidFill>
                <a:effectLst/>
                <a:latin typeface="微软雅黑"/>
              </a:rPr>
              <a:t>InputStream</a:t>
            </a:r>
            <a:r>
              <a:rPr lang="zh-CN" altLang="en-US" sz="2200" spc="-10" dirty="0">
                <a:solidFill>
                  <a:srgbClr val="1F2328"/>
                </a:solidFill>
                <a:latin typeface="微软雅黑"/>
              </a:rPr>
              <a:t>和</a:t>
            </a:r>
            <a:r>
              <a:rPr lang="en-US" altLang="zh-CN" sz="2200" b="0" i="0" spc="-10" dirty="0">
                <a:solidFill>
                  <a:srgbClr val="1F2328"/>
                </a:solidFill>
                <a:effectLst/>
                <a:latin typeface="微软雅黑"/>
              </a:rPr>
              <a:t>PipedOutputStream</a:t>
            </a:r>
            <a:endParaRPr sz="2200" dirty="0">
              <a:latin typeface="微软雅黑"/>
              <a:cs typeface="微软雅黑"/>
            </a:endParaRPr>
          </a:p>
        </p:txBody>
      </p:sp>
      <p:sp>
        <p:nvSpPr>
          <p:cNvPr id="22" name="object 22"/>
          <p:cNvSpPr txBox="1"/>
          <p:nvPr/>
        </p:nvSpPr>
        <p:spPr>
          <a:xfrm>
            <a:off x="8548052" y="6401152"/>
            <a:ext cx="165735" cy="226695"/>
          </a:xfrm>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sz="1200" dirty="0">
                <a:solidFill>
                  <a:srgbClr val="F1F1F1"/>
                </a:solidFill>
                <a:latin typeface="微软雅黑"/>
                <a:cs typeface="微软雅黑"/>
              </a:rPr>
              <a:t>1</a:t>
            </a:fld>
            <a:endParaRPr sz="1200">
              <a:latin typeface="微软雅黑"/>
              <a:cs typeface="微软雅黑"/>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0700"/>
            <a:ext cx="1358900" cy="345440"/>
          </a:xfrm>
          <a:prstGeom prst="rect">
            <a:avLst/>
          </a:prstGeom>
        </p:spPr>
        <p:txBody>
          <a:bodyPr vert="horz" wrap="square" lIns="0" tIns="12700" rIns="0" bIns="0" rtlCol="0">
            <a:spAutoFit/>
          </a:bodyPr>
          <a:lstStyle/>
          <a:p>
            <a:pPr marL="12700">
              <a:lnSpc>
                <a:spcPct val="100000"/>
              </a:lnSpc>
              <a:spcBef>
                <a:spcPts val="100"/>
              </a:spcBef>
            </a:pPr>
            <a:r>
              <a:rPr sz="2100" dirty="0"/>
              <a:t>本章知识点</a:t>
            </a:r>
            <a:endParaRPr sz="2100"/>
          </a:p>
        </p:txBody>
      </p:sp>
      <p:sp>
        <p:nvSpPr>
          <p:cNvPr id="4" name="object 4"/>
          <p:cNvSpPr txBox="1"/>
          <p:nvPr/>
        </p:nvSpPr>
        <p:spPr>
          <a:xfrm>
            <a:off x="8548052" y="6401152"/>
            <a:ext cx="165735" cy="226695"/>
          </a:xfrm>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sz="1200" dirty="0">
                <a:solidFill>
                  <a:srgbClr val="F1F1F1"/>
                </a:solidFill>
                <a:latin typeface="微软雅黑"/>
                <a:cs typeface="微软雅黑"/>
              </a:rPr>
              <a:t>2</a:t>
            </a:fld>
            <a:endParaRPr sz="1200">
              <a:latin typeface="微软雅黑"/>
              <a:cs typeface="微软雅黑"/>
            </a:endParaRPr>
          </a:p>
        </p:txBody>
      </p:sp>
      <p:sp>
        <p:nvSpPr>
          <p:cNvPr id="3" name="object 3"/>
          <p:cNvSpPr txBox="1"/>
          <p:nvPr/>
        </p:nvSpPr>
        <p:spPr>
          <a:xfrm>
            <a:off x="78739" y="1456612"/>
            <a:ext cx="6369685" cy="3123290"/>
          </a:xfrm>
          <a:prstGeom prst="rect">
            <a:avLst/>
          </a:prstGeom>
        </p:spPr>
        <p:txBody>
          <a:bodyPr vert="horz" wrap="square" lIns="0" tIns="32384" rIns="0" bIns="0" rtlCol="0">
            <a:spAutoFit/>
          </a:bodyPr>
          <a:lstStyle/>
          <a:p>
            <a:pPr marL="184150" indent="-171450">
              <a:lnSpc>
                <a:spcPct val="100000"/>
              </a:lnSpc>
              <a:spcBef>
                <a:spcPts val="254"/>
              </a:spcBef>
              <a:buFont typeface="Arial"/>
              <a:buChar char="•"/>
              <a:tabLst>
                <a:tab pos="184150" algn="l"/>
              </a:tabLst>
            </a:pPr>
            <a:r>
              <a:rPr sz="2400" b="1" dirty="0">
                <a:latin typeface="微软雅黑"/>
                <a:cs typeface="微软雅黑"/>
              </a:rPr>
              <a:t>字符</a:t>
            </a:r>
            <a:r>
              <a:rPr sz="2400" dirty="0">
                <a:latin typeface="微软雅黑"/>
                <a:cs typeface="微软雅黑"/>
              </a:rPr>
              <a:t>流</a:t>
            </a:r>
          </a:p>
          <a:p>
            <a:pPr marL="527050" lvl="1" indent="-171450">
              <a:lnSpc>
                <a:spcPct val="100000"/>
              </a:lnSpc>
              <a:spcBef>
                <a:spcPts val="135"/>
              </a:spcBef>
              <a:buFont typeface="Arial"/>
              <a:buChar char="•"/>
              <a:tabLst>
                <a:tab pos="527050" algn="l"/>
              </a:tabLst>
            </a:pPr>
            <a:r>
              <a:rPr sz="2000" dirty="0">
                <a:latin typeface="微软雅黑"/>
                <a:cs typeface="微软雅黑"/>
              </a:rPr>
              <a:t>抽象类</a:t>
            </a:r>
            <a:r>
              <a:rPr sz="2000" spc="-15" dirty="0">
                <a:latin typeface="微软雅黑"/>
                <a:cs typeface="微软雅黑"/>
              </a:rPr>
              <a:t>Reader</a:t>
            </a:r>
            <a:r>
              <a:rPr sz="2000" dirty="0">
                <a:latin typeface="微软雅黑"/>
                <a:cs typeface="微软雅黑"/>
              </a:rPr>
              <a:t>和</a:t>
            </a:r>
            <a:r>
              <a:rPr sz="2000" spc="-10" dirty="0">
                <a:latin typeface="微软雅黑"/>
                <a:cs typeface="微软雅黑"/>
              </a:rPr>
              <a:t>Writer</a:t>
            </a:r>
            <a:endParaRPr sz="2000" dirty="0">
              <a:latin typeface="微软雅黑"/>
              <a:cs typeface="微软雅黑"/>
            </a:endParaRPr>
          </a:p>
          <a:p>
            <a:pPr marL="527050" lvl="1" indent="-171450">
              <a:lnSpc>
                <a:spcPct val="100000"/>
              </a:lnSpc>
              <a:spcBef>
                <a:spcPts val="135"/>
              </a:spcBef>
              <a:buFont typeface="Arial"/>
              <a:buChar char="•"/>
              <a:tabLst>
                <a:tab pos="527050" algn="l"/>
              </a:tabLst>
            </a:pPr>
            <a:r>
              <a:rPr sz="2000" dirty="0">
                <a:latin typeface="微软雅黑"/>
                <a:cs typeface="微软雅黑"/>
              </a:rPr>
              <a:t>转换流</a:t>
            </a:r>
            <a:r>
              <a:rPr sz="2000" spc="-15" dirty="0">
                <a:latin typeface="微软雅黑"/>
                <a:cs typeface="微软雅黑"/>
              </a:rPr>
              <a:t>InputStreamReader</a:t>
            </a:r>
            <a:r>
              <a:rPr sz="2000" dirty="0">
                <a:latin typeface="微软雅黑"/>
                <a:cs typeface="微软雅黑"/>
              </a:rPr>
              <a:t>和</a:t>
            </a:r>
            <a:r>
              <a:rPr sz="2000" spc="-10" dirty="0">
                <a:latin typeface="微软雅黑"/>
                <a:cs typeface="微软雅黑"/>
              </a:rPr>
              <a:t>OutputStreamWriter</a:t>
            </a:r>
            <a:endParaRPr sz="2000" dirty="0">
              <a:latin typeface="微软雅黑"/>
              <a:cs typeface="微软雅黑"/>
            </a:endParaRPr>
          </a:p>
          <a:p>
            <a:pPr marL="527050" lvl="1" indent="-171450">
              <a:lnSpc>
                <a:spcPct val="100000"/>
              </a:lnSpc>
              <a:spcBef>
                <a:spcPts val="135"/>
              </a:spcBef>
              <a:buFont typeface="Arial"/>
              <a:buChar char="•"/>
              <a:tabLst>
                <a:tab pos="527050" algn="l"/>
              </a:tabLst>
            </a:pPr>
            <a:r>
              <a:rPr sz="2000" spc="-10" dirty="0">
                <a:latin typeface="微软雅黑"/>
                <a:cs typeface="微软雅黑"/>
              </a:rPr>
              <a:t>FileReader</a:t>
            </a:r>
            <a:r>
              <a:rPr sz="2000" dirty="0">
                <a:latin typeface="微软雅黑"/>
                <a:cs typeface="微软雅黑"/>
              </a:rPr>
              <a:t>和</a:t>
            </a:r>
            <a:r>
              <a:rPr sz="2000" spc="-5" dirty="0">
                <a:latin typeface="微软雅黑"/>
                <a:cs typeface="微软雅黑"/>
              </a:rPr>
              <a:t>FileWriter</a:t>
            </a:r>
            <a:endParaRPr sz="2000" dirty="0">
              <a:latin typeface="微软雅黑"/>
              <a:cs typeface="微软雅黑"/>
            </a:endParaRPr>
          </a:p>
          <a:p>
            <a:pPr marL="527050" lvl="1" indent="-171450">
              <a:lnSpc>
                <a:spcPct val="100000"/>
              </a:lnSpc>
              <a:spcBef>
                <a:spcPts val="135"/>
              </a:spcBef>
              <a:buFont typeface="Arial"/>
              <a:buChar char="•"/>
              <a:tabLst>
                <a:tab pos="527050" algn="l"/>
              </a:tabLst>
            </a:pPr>
            <a:r>
              <a:rPr sz="2000" spc="-10" dirty="0">
                <a:latin typeface="微软雅黑"/>
                <a:cs typeface="微软雅黑"/>
              </a:rPr>
              <a:t>BufferedReader</a:t>
            </a:r>
            <a:r>
              <a:rPr sz="2000" spc="5" dirty="0">
                <a:latin typeface="微软雅黑"/>
                <a:cs typeface="微软雅黑"/>
              </a:rPr>
              <a:t>类</a:t>
            </a:r>
            <a:endParaRPr sz="2000" dirty="0">
              <a:latin typeface="微软雅黑"/>
              <a:cs typeface="微软雅黑"/>
            </a:endParaRPr>
          </a:p>
          <a:p>
            <a:pPr marL="527050" lvl="1" indent="-171450">
              <a:lnSpc>
                <a:spcPct val="100000"/>
              </a:lnSpc>
              <a:spcBef>
                <a:spcPts val="135"/>
              </a:spcBef>
              <a:buFont typeface="Arial"/>
              <a:buChar char="•"/>
              <a:tabLst>
                <a:tab pos="527050" algn="l"/>
              </a:tabLst>
            </a:pPr>
            <a:r>
              <a:rPr sz="2000" spc="-10" dirty="0">
                <a:latin typeface="微软雅黑"/>
                <a:cs typeface="微软雅黑"/>
              </a:rPr>
              <a:t>PrintWriter</a:t>
            </a:r>
            <a:r>
              <a:rPr sz="2000" spc="5" dirty="0">
                <a:latin typeface="微软雅黑"/>
                <a:cs typeface="微软雅黑"/>
              </a:rPr>
              <a:t>类</a:t>
            </a:r>
            <a:endParaRPr sz="2000" dirty="0">
              <a:latin typeface="微软雅黑"/>
              <a:cs typeface="微软雅黑"/>
            </a:endParaRPr>
          </a:p>
          <a:p>
            <a:pPr marL="184150" indent="-171450">
              <a:lnSpc>
                <a:spcPct val="100000"/>
              </a:lnSpc>
              <a:spcBef>
                <a:spcPts val="459"/>
              </a:spcBef>
              <a:buFont typeface="Arial"/>
              <a:buChar char="•"/>
              <a:tabLst>
                <a:tab pos="184150" algn="l"/>
              </a:tabLst>
            </a:pPr>
            <a:r>
              <a:rPr sz="2400" spc="-5" dirty="0">
                <a:latin typeface="微软雅黑"/>
                <a:cs typeface="微软雅黑"/>
              </a:rPr>
              <a:t>RandomAccessFile</a:t>
            </a:r>
            <a:r>
              <a:rPr sz="2400" dirty="0">
                <a:latin typeface="微软雅黑"/>
                <a:cs typeface="微软雅黑"/>
              </a:rPr>
              <a:t>类</a:t>
            </a:r>
          </a:p>
          <a:p>
            <a:pPr>
              <a:lnSpc>
                <a:spcPct val="100000"/>
              </a:lnSpc>
              <a:spcBef>
                <a:spcPts val="20"/>
              </a:spcBef>
              <a:buFont typeface="Arial"/>
              <a:buChar char="•"/>
            </a:pPr>
            <a:endParaRPr sz="2050" dirty="0">
              <a:latin typeface="微软雅黑"/>
              <a:cs typeface="微软雅黑"/>
            </a:endParaRPr>
          </a:p>
          <a:p>
            <a:pPr marL="184150" indent="-171450">
              <a:lnSpc>
                <a:spcPct val="100000"/>
              </a:lnSpc>
              <a:buFont typeface="Arial"/>
              <a:buChar char="•"/>
              <a:tabLst>
                <a:tab pos="184150" algn="l"/>
              </a:tabLst>
            </a:pPr>
            <a:r>
              <a:rPr sz="2400" dirty="0">
                <a:latin typeface="微软雅黑"/>
                <a:cs typeface="微软雅黑"/>
              </a:rPr>
              <a:t>操作文件的类和接口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7855" y="4785995"/>
            <a:ext cx="7225665" cy="720090"/>
          </a:xfrm>
          <a:prstGeom prst="rect">
            <a:avLst/>
          </a:prstGeom>
        </p:spPr>
        <p:txBody>
          <a:bodyPr vert="horz" wrap="square" lIns="0" tIns="53975" rIns="0" bIns="0" rtlCol="0">
            <a:spAutoFit/>
          </a:bodyPr>
          <a:lstStyle/>
          <a:p>
            <a:pPr marL="184150" marR="5080" indent="-171450">
              <a:lnSpc>
                <a:spcPts val="2590"/>
              </a:lnSpc>
              <a:spcBef>
                <a:spcPts val="425"/>
              </a:spcBef>
              <a:buFont typeface="Arial"/>
              <a:buChar char="•"/>
              <a:tabLst>
                <a:tab pos="184150" algn="l"/>
              </a:tabLst>
            </a:pPr>
            <a:r>
              <a:rPr sz="2400" spc="-40" dirty="0">
                <a:latin typeface="微软雅黑"/>
                <a:cs typeface="微软雅黑"/>
              </a:rPr>
              <a:t>J</a:t>
            </a:r>
            <a:r>
              <a:rPr sz="2400" spc="-5" dirty="0">
                <a:latin typeface="微软雅黑"/>
                <a:cs typeface="微软雅黑"/>
              </a:rPr>
              <a:t>a</a:t>
            </a:r>
            <a:r>
              <a:rPr sz="2400" spc="-50" dirty="0">
                <a:latin typeface="微软雅黑"/>
                <a:cs typeface="微软雅黑"/>
              </a:rPr>
              <a:t>v</a:t>
            </a:r>
            <a:r>
              <a:rPr sz="2400" spc="-5" dirty="0">
                <a:latin typeface="微软雅黑"/>
                <a:cs typeface="微软雅黑"/>
              </a:rPr>
              <a:t>a</a:t>
            </a:r>
            <a:r>
              <a:rPr sz="2400" dirty="0">
                <a:latin typeface="微软雅黑"/>
                <a:cs typeface="微软雅黑"/>
              </a:rPr>
              <a:t>用“流”的方式处理</a:t>
            </a:r>
            <a:r>
              <a:rPr sz="2400" spc="-5" dirty="0">
                <a:latin typeface="微软雅黑"/>
                <a:cs typeface="微软雅黑"/>
              </a:rPr>
              <a:t>I/O</a:t>
            </a:r>
            <a:r>
              <a:rPr sz="2400" dirty="0">
                <a:latin typeface="微软雅黑"/>
                <a:cs typeface="微软雅黑"/>
              </a:rPr>
              <a:t>，对应不同类型的</a:t>
            </a:r>
            <a:r>
              <a:rPr sz="2400" spc="-5" dirty="0">
                <a:latin typeface="微软雅黑"/>
                <a:cs typeface="微软雅黑"/>
              </a:rPr>
              <a:t>I/O</a:t>
            </a:r>
            <a:r>
              <a:rPr sz="2400" dirty="0">
                <a:latin typeface="微软雅黑"/>
                <a:cs typeface="微软雅黑"/>
              </a:rPr>
              <a:t>问 题，会有相应的流象提供解决方案。</a:t>
            </a:r>
            <a:endParaRPr sz="2400">
              <a:latin typeface="微软雅黑"/>
              <a:cs typeface="微软雅黑"/>
            </a:endParaRPr>
          </a:p>
        </p:txBody>
      </p:sp>
      <p:sp>
        <p:nvSpPr>
          <p:cNvPr id="3" name="object 3"/>
          <p:cNvSpPr txBox="1">
            <a:spLocks noGrp="1"/>
          </p:cNvSpPr>
          <p:nvPr>
            <p:ph type="title"/>
          </p:nvPr>
        </p:nvSpPr>
        <p:spPr>
          <a:xfrm>
            <a:off x="1238250" y="142875"/>
            <a:ext cx="4959350" cy="574040"/>
          </a:xfrm>
          <a:prstGeom prst="rect">
            <a:avLst/>
          </a:prstGeom>
        </p:spPr>
        <p:txBody>
          <a:bodyPr vert="horz" wrap="square" lIns="0" tIns="12700" rIns="0" bIns="0" rtlCol="0">
            <a:spAutoFit/>
          </a:bodyPr>
          <a:lstStyle/>
          <a:p>
            <a:pPr marL="12700">
              <a:lnSpc>
                <a:spcPct val="100000"/>
              </a:lnSpc>
              <a:spcBef>
                <a:spcPts val="100"/>
              </a:spcBef>
            </a:pPr>
            <a:r>
              <a:rPr sz="3600" spc="-5" dirty="0"/>
              <a:t>1</a:t>
            </a:r>
            <a:r>
              <a:rPr sz="3600" dirty="0"/>
              <a:t>、</a:t>
            </a:r>
            <a:r>
              <a:rPr sz="3600" spc="-45" dirty="0"/>
              <a:t>J</a:t>
            </a:r>
            <a:r>
              <a:rPr sz="3600" dirty="0"/>
              <a:t>a</a:t>
            </a:r>
            <a:r>
              <a:rPr sz="3600" spc="-60" dirty="0"/>
              <a:t>v</a:t>
            </a:r>
            <a:r>
              <a:rPr sz="3600" dirty="0"/>
              <a:t>a流的类层次结构</a:t>
            </a:r>
            <a:endParaRPr sz="3600"/>
          </a:p>
        </p:txBody>
      </p:sp>
      <p:sp>
        <p:nvSpPr>
          <p:cNvPr id="4" name="object 4"/>
          <p:cNvSpPr/>
          <p:nvPr/>
        </p:nvSpPr>
        <p:spPr>
          <a:xfrm>
            <a:off x="2089492" y="2746336"/>
            <a:ext cx="3394379" cy="1603057"/>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2373553" y="3054057"/>
            <a:ext cx="821690" cy="473709"/>
          </a:xfrm>
          <a:prstGeom prst="rect">
            <a:avLst/>
          </a:prstGeom>
        </p:spPr>
        <p:txBody>
          <a:bodyPr vert="horz" wrap="square" lIns="0" tIns="16510" rIns="0" bIns="0" rtlCol="0">
            <a:spAutoFit/>
          </a:bodyPr>
          <a:lstStyle/>
          <a:p>
            <a:pPr marL="12700" marR="5080" indent="-2540" algn="ctr">
              <a:lnSpc>
                <a:spcPct val="97100"/>
              </a:lnSpc>
              <a:spcBef>
                <a:spcPts val="130"/>
              </a:spcBef>
            </a:pPr>
            <a:r>
              <a:rPr sz="1000" spc="-5" dirty="0">
                <a:solidFill>
                  <a:srgbClr val="FF0000"/>
                </a:solidFill>
                <a:latin typeface="Times New Roman"/>
                <a:cs typeface="Times New Roman"/>
              </a:rPr>
              <a:t>Input </a:t>
            </a:r>
            <a:r>
              <a:rPr sz="1000" dirty="0">
                <a:solidFill>
                  <a:srgbClr val="FF0000"/>
                </a:solidFill>
                <a:latin typeface="Times New Roman"/>
                <a:cs typeface="Times New Roman"/>
              </a:rPr>
              <a:t>object  </a:t>
            </a:r>
            <a:r>
              <a:rPr sz="1000" spc="-5" dirty="0">
                <a:solidFill>
                  <a:srgbClr val="FF0000"/>
                </a:solidFill>
                <a:latin typeface="Times New Roman"/>
                <a:cs typeface="Times New Roman"/>
              </a:rPr>
              <a:t>created from</a:t>
            </a:r>
            <a:r>
              <a:rPr sz="1000" spc="-80" dirty="0">
                <a:solidFill>
                  <a:srgbClr val="FF0000"/>
                </a:solidFill>
                <a:latin typeface="Times New Roman"/>
                <a:cs typeface="Times New Roman"/>
              </a:rPr>
              <a:t> </a:t>
            </a:r>
            <a:r>
              <a:rPr sz="1000" dirty="0">
                <a:solidFill>
                  <a:srgbClr val="FF0000"/>
                </a:solidFill>
                <a:latin typeface="Times New Roman"/>
                <a:cs typeface="Times New Roman"/>
              </a:rPr>
              <a:t>an  </a:t>
            </a:r>
            <a:r>
              <a:rPr sz="1000" spc="-10" dirty="0">
                <a:solidFill>
                  <a:srgbClr val="FF0000"/>
                </a:solidFill>
                <a:latin typeface="Times New Roman"/>
                <a:cs typeface="Times New Roman"/>
              </a:rPr>
              <a:t>input</a:t>
            </a:r>
            <a:r>
              <a:rPr sz="1000" spc="-15" dirty="0">
                <a:solidFill>
                  <a:srgbClr val="FF0000"/>
                </a:solidFill>
                <a:latin typeface="Times New Roman"/>
                <a:cs typeface="Times New Roman"/>
              </a:rPr>
              <a:t> </a:t>
            </a:r>
            <a:r>
              <a:rPr sz="1000" spc="-5" dirty="0">
                <a:solidFill>
                  <a:srgbClr val="FF0000"/>
                </a:solidFill>
                <a:latin typeface="Times New Roman"/>
                <a:cs typeface="Times New Roman"/>
              </a:rPr>
              <a:t>class</a:t>
            </a:r>
            <a:endParaRPr sz="1000">
              <a:latin typeface="Times New Roman"/>
              <a:cs typeface="Times New Roman"/>
            </a:endParaRPr>
          </a:p>
        </p:txBody>
      </p:sp>
      <p:sp>
        <p:nvSpPr>
          <p:cNvPr id="6" name="object 6"/>
          <p:cNvSpPr txBox="1"/>
          <p:nvPr/>
        </p:nvSpPr>
        <p:spPr>
          <a:xfrm>
            <a:off x="2391816" y="3685514"/>
            <a:ext cx="821690" cy="473709"/>
          </a:xfrm>
          <a:prstGeom prst="rect">
            <a:avLst/>
          </a:prstGeom>
        </p:spPr>
        <p:txBody>
          <a:bodyPr vert="horz" wrap="square" lIns="0" tIns="16510" rIns="0" bIns="0" rtlCol="0">
            <a:spAutoFit/>
          </a:bodyPr>
          <a:lstStyle/>
          <a:p>
            <a:pPr marL="12700" marR="5080" indent="-2540" algn="ctr">
              <a:lnSpc>
                <a:spcPct val="97100"/>
              </a:lnSpc>
              <a:spcBef>
                <a:spcPts val="130"/>
              </a:spcBef>
            </a:pPr>
            <a:r>
              <a:rPr sz="1000" spc="-5" dirty="0">
                <a:solidFill>
                  <a:srgbClr val="FF0000"/>
                </a:solidFill>
                <a:latin typeface="Times New Roman"/>
                <a:cs typeface="Times New Roman"/>
              </a:rPr>
              <a:t>Output </a:t>
            </a:r>
            <a:r>
              <a:rPr sz="1000" dirty="0">
                <a:solidFill>
                  <a:srgbClr val="FF0000"/>
                </a:solidFill>
                <a:latin typeface="Times New Roman"/>
                <a:cs typeface="Times New Roman"/>
              </a:rPr>
              <a:t>object  </a:t>
            </a:r>
            <a:r>
              <a:rPr sz="1000" spc="-5" dirty="0">
                <a:solidFill>
                  <a:srgbClr val="FF0000"/>
                </a:solidFill>
                <a:latin typeface="Times New Roman"/>
                <a:cs typeface="Times New Roman"/>
              </a:rPr>
              <a:t>created from</a:t>
            </a:r>
            <a:r>
              <a:rPr sz="1000" spc="-80" dirty="0">
                <a:solidFill>
                  <a:srgbClr val="FF0000"/>
                </a:solidFill>
                <a:latin typeface="Times New Roman"/>
                <a:cs typeface="Times New Roman"/>
              </a:rPr>
              <a:t> </a:t>
            </a:r>
            <a:r>
              <a:rPr sz="1000" dirty="0">
                <a:solidFill>
                  <a:srgbClr val="FF0000"/>
                </a:solidFill>
                <a:latin typeface="Times New Roman"/>
                <a:cs typeface="Times New Roman"/>
              </a:rPr>
              <a:t>an  </a:t>
            </a:r>
            <a:r>
              <a:rPr sz="1000" spc="-5" dirty="0">
                <a:solidFill>
                  <a:srgbClr val="FF0000"/>
                </a:solidFill>
                <a:latin typeface="Times New Roman"/>
                <a:cs typeface="Times New Roman"/>
              </a:rPr>
              <a:t>output</a:t>
            </a:r>
            <a:r>
              <a:rPr sz="1000" spc="-20" dirty="0">
                <a:solidFill>
                  <a:srgbClr val="FF0000"/>
                </a:solidFill>
                <a:latin typeface="Times New Roman"/>
                <a:cs typeface="Times New Roman"/>
              </a:rPr>
              <a:t> </a:t>
            </a:r>
            <a:r>
              <a:rPr sz="1000" spc="-5" dirty="0">
                <a:solidFill>
                  <a:srgbClr val="FF0000"/>
                </a:solidFill>
                <a:latin typeface="Times New Roman"/>
                <a:cs typeface="Times New Roman"/>
              </a:rPr>
              <a:t>class</a:t>
            </a:r>
            <a:endParaRPr sz="1000">
              <a:latin typeface="Times New Roman"/>
              <a:cs typeface="Times New Roman"/>
            </a:endParaRPr>
          </a:p>
        </p:txBody>
      </p:sp>
      <p:sp>
        <p:nvSpPr>
          <p:cNvPr id="7" name="object 7"/>
          <p:cNvSpPr txBox="1"/>
          <p:nvPr/>
        </p:nvSpPr>
        <p:spPr>
          <a:xfrm>
            <a:off x="4000347" y="4133938"/>
            <a:ext cx="74866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0000"/>
                </a:solidFill>
                <a:latin typeface="Times New Roman"/>
                <a:cs typeface="Times New Roman"/>
              </a:rPr>
              <a:t>Output</a:t>
            </a:r>
            <a:r>
              <a:rPr sz="1000" spc="-45" dirty="0">
                <a:solidFill>
                  <a:srgbClr val="FF0000"/>
                </a:solidFill>
                <a:latin typeface="Times New Roman"/>
                <a:cs typeface="Times New Roman"/>
              </a:rPr>
              <a:t> </a:t>
            </a:r>
            <a:r>
              <a:rPr sz="1000" spc="-5" dirty="0">
                <a:solidFill>
                  <a:srgbClr val="FF0000"/>
                </a:solidFill>
                <a:latin typeface="Times New Roman"/>
                <a:cs typeface="Times New Roman"/>
              </a:rPr>
              <a:t>stream</a:t>
            </a:r>
            <a:endParaRPr sz="1000">
              <a:latin typeface="Times New Roman"/>
              <a:cs typeface="Times New Roman"/>
            </a:endParaRPr>
          </a:p>
        </p:txBody>
      </p:sp>
      <p:sp>
        <p:nvSpPr>
          <p:cNvPr id="8" name="object 8"/>
          <p:cNvSpPr/>
          <p:nvPr/>
        </p:nvSpPr>
        <p:spPr>
          <a:xfrm>
            <a:off x="5574423" y="3836911"/>
            <a:ext cx="563245" cy="294640"/>
          </a:xfrm>
          <a:custGeom>
            <a:avLst/>
            <a:gdLst/>
            <a:ahLst/>
            <a:cxnLst/>
            <a:rect l="l" t="t" r="r" b="b"/>
            <a:pathLst>
              <a:path w="563245" h="294639">
                <a:moveTo>
                  <a:pt x="281520" y="0"/>
                </a:moveTo>
                <a:lnTo>
                  <a:pt x="252615" y="0"/>
                </a:lnTo>
                <a:lnTo>
                  <a:pt x="225221" y="1523"/>
                </a:lnTo>
                <a:lnTo>
                  <a:pt x="197827" y="1523"/>
                </a:lnTo>
                <a:lnTo>
                  <a:pt x="171958" y="3047"/>
                </a:lnTo>
                <a:lnTo>
                  <a:pt x="147612" y="6095"/>
                </a:lnTo>
                <a:lnTo>
                  <a:pt x="135432" y="6095"/>
                </a:lnTo>
                <a:lnTo>
                  <a:pt x="124777" y="7619"/>
                </a:lnTo>
                <a:lnTo>
                  <a:pt x="112610" y="9143"/>
                </a:lnTo>
                <a:lnTo>
                  <a:pt x="101955" y="10667"/>
                </a:lnTo>
                <a:lnTo>
                  <a:pt x="92824" y="12204"/>
                </a:lnTo>
                <a:lnTo>
                  <a:pt x="82169" y="13728"/>
                </a:lnTo>
                <a:lnTo>
                  <a:pt x="73037" y="15252"/>
                </a:lnTo>
                <a:lnTo>
                  <a:pt x="63906" y="16776"/>
                </a:lnTo>
                <a:lnTo>
                  <a:pt x="56299" y="18300"/>
                </a:lnTo>
                <a:lnTo>
                  <a:pt x="48691" y="19824"/>
                </a:lnTo>
                <a:lnTo>
                  <a:pt x="41084" y="22872"/>
                </a:lnTo>
                <a:lnTo>
                  <a:pt x="33477" y="24396"/>
                </a:lnTo>
                <a:lnTo>
                  <a:pt x="27381" y="25920"/>
                </a:lnTo>
                <a:lnTo>
                  <a:pt x="22821" y="28981"/>
                </a:lnTo>
                <a:lnTo>
                  <a:pt x="16738" y="30505"/>
                </a:lnTo>
                <a:lnTo>
                  <a:pt x="12166" y="32029"/>
                </a:lnTo>
                <a:lnTo>
                  <a:pt x="9118" y="35077"/>
                </a:lnTo>
                <a:lnTo>
                  <a:pt x="6083" y="36601"/>
                </a:lnTo>
                <a:lnTo>
                  <a:pt x="3035" y="39649"/>
                </a:lnTo>
                <a:lnTo>
                  <a:pt x="1511" y="41173"/>
                </a:lnTo>
                <a:lnTo>
                  <a:pt x="0" y="44234"/>
                </a:lnTo>
                <a:lnTo>
                  <a:pt x="0" y="45758"/>
                </a:lnTo>
                <a:lnTo>
                  <a:pt x="0" y="247091"/>
                </a:lnTo>
                <a:lnTo>
                  <a:pt x="0" y="250139"/>
                </a:lnTo>
                <a:lnTo>
                  <a:pt x="1511" y="251663"/>
                </a:lnTo>
                <a:lnTo>
                  <a:pt x="3035" y="254711"/>
                </a:lnTo>
                <a:lnTo>
                  <a:pt x="6083" y="256247"/>
                </a:lnTo>
                <a:lnTo>
                  <a:pt x="9118" y="259295"/>
                </a:lnTo>
                <a:lnTo>
                  <a:pt x="12166" y="260819"/>
                </a:lnTo>
                <a:lnTo>
                  <a:pt x="16738" y="263867"/>
                </a:lnTo>
                <a:lnTo>
                  <a:pt x="22821" y="265391"/>
                </a:lnTo>
                <a:lnTo>
                  <a:pt x="27381" y="266915"/>
                </a:lnTo>
                <a:lnTo>
                  <a:pt x="33477" y="269963"/>
                </a:lnTo>
                <a:lnTo>
                  <a:pt x="41084" y="271500"/>
                </a:lnTo>
                <a:lnTo>
                  <a:pt x="48691" y="273024"/>
                </a:lnTo>
                <a:lnTo>
                  <a:pt x="56299" y="274548"/>
                </a:lnTo>
                <a:lnTo>
                  <a:pt x="63906" y="277596"/>
                </a:lnTo>
                <a:lnTo>
                  <a:pt x="73037" y="279120"/>
                </a:lnTo>
                <a:lnTo>
                  <a:pt x="82169" y="280644"/>
                </a:lnTo>
                <a:lnTo>
                  <a:pt x="92824" y="282168"/>
                </a:lnTo>
                <a:lnTo>
                  <a:pt x="101955" y="283692"/>
                </a:lnTo>
                <a:lnTo>
                  <a:pt x="112610" y="285216"/>
                </a:lnTo>
                <a:lnTo>
                  <a:pt x="124777" y="285216"/>
                </a:lnTo>
                <a:lnTo>
                  <a:pt x="135432" y="286753"/>
                </a:lnTo>
                <a:lnTo>
                  <a:pt x="147612" y="288277"/>
                </a:lnTo>
                <a:lnTo>
                  <a:pt x="171958" y="289801"/>
                </a:lnTo>
                <a:lnTo>
                  <a:pt x="197827" y="291325"/>
                </a:lnTo>
                <a:lnTo>
                  <a:pt x="225221" y="292849"/>
                </a:lnTo>
                <a:lnTo>
                  <a:pt x="252615" y="292849"/>
                </a:lnTo>
                <a:lnTo>
                  <a:pt x="281520" y="294373"/>
                </a:lnTo>
                <a:lnTo>
                  <a:pt x="310438" y="292849"/>
                </a:lnTo>
                <a:lnTo>
                  <a:pt x="337832" y="292849"/>
                </a:lnTo>
                <a:lnTo>
                  <a:pt x="365226" y="291325"/>
                </a:lnTo>
                <a:lnTo>
                  <a:pt x="391096" y="289801"/>
                </a:lnTo>
                <a:lnTo>
                  <a:pt x="415442" y="288277"/>
                </a:lnTo>
                <a:lnTo>
                  <a:pt x="427621" y="286753"/>
                </a:lnTo>
                <a:lnTo>
                  <a:pt x="438276" y="285216"/>
                </a:lnTo>
                <a:lnTo>
                  <a:pt x="448919" y="285216"/>
                </a:lnTo>
                <a:lnTo>
                  <a:pt x="459574" y="283692"/>
                </a:lnTo>
                <a:lnTo>
                  <a:pt x="470230" y="282168"/>
                </a:lnTo>
                <a:lnTo>
                  <a:pt x="480885" y="280644"/>
                </a:lnTo>
                <a:lnTo>
                  <a:pt x="490016" y="279120"/>
                </a:lnTo>
                <a:lnTo>
                  <a:pt x="497624" y="277596"/>
                </a:lnTo>
                <a:lnTo>
                  <a:pt x="506755" y="274548"/>
                </a:lnTo>
                <a:lnTo>
                  <a:pt x="514362" y="273024"/>
                </a:lnTo>
                <a:lnTo>
                  <a:pt x="521970" y="271500"/>
                </a:lnTo>
                <a:lnTo>
                  <a:pt x="528053" y="269963"/>
                </a:lnTo>
                <a:lnTo>
                  <a:pt x="534149" y="266915"/>
                </a:lnTo>
                <a:lnTo>
                  <a:pt x="540232" y="265391"/>
                </a:lnTo>
                <a:lnTo>
                  <a:pt x="544791" y="263867"/>
                </a:lnTo>
                <a:lnTo>
                  <a:pt x="549363" y="260819"/>
                </a:lnTo>
                <a:lnTo>
                  <a:pt x="553923" y="259295"/>
                </a:lnTo>
                <a:lnTo>
                  <a:pt x="556971" y="256247"/>
                </a:lnTo>
                <a:lnTo>
                  <a:pt x="560019" y="254711"/>
                </a:lnTo>
                <a:lnTo>
                  <a:pt x="561543" y="251663"/>
                </a:lnTo>
                <a:lnTo>
                  <a:pt x="561543" y="250139"/>
                </a:lnTo>
                <a:lnTo>
                  <a:pt x="563054" y="247091"/>
                </a:lnTo>
                <a:lnTo>
                  <a:pt x="563054" y="45758"/>
                </a:lnTo>
                <a:lnTo>
                  <a:pt x="561543" y="44234"/>
                </a:lnTo>
                <a:lnTo>
                  <a:pt x="561543" y="41173"/>
                </a:lnTo>
                <a:lnTo>
                  <a:pt x="560019" y="39649"/>
                </a:lnTo>
                <a:lnTo>
                  <a:pt x="556971" y="36601"/>
                </a:lnTo>
                <a:lnTo>
                  <a:pt x="553923" y="35077"/>
                </a:lnTo>
                <a:lnTo>
                  <a:pt x="549363" y="32029"/>
                </a:lnTo>
                <a:lnTo>
                  <a:pt x="544791" y="30505"/>
                </a:lnTo>
                <a:lnTo>
                  <a:pt x="540232" y="28981"/>
                </a:lnTo>
                <a:lnTo>
                  <a:pt x="534149" y="25920"/>
                </a:lnTo>
                <a:lnTo>
                  <a:pt x="528053" y="24396"/>
                </a:lnTo>
                <a:lnTo>
                  <a:pt x="521970" y="22872"/>
                </a:lnTo>
                <a:lnTo>
                  <a:pt x="514362" y="19824"/>
                </a:lnTo>
                <a:lnTo>
                  <a:pt x="506755" y="18300"/>
                </a:lnTo>
                <a:lnTo>
                  <a:pt x="497624" y="16776"/>
                </a:lnTo>
                <a:lnTo>
                  <a:pt x="490016" y="15252"/>
                </a:lnTo>
                <a:lnTo>
                  <a:pt x="480885" y="13728"/>
                </a:lnTo>
                <a:lnTo>
                  <a:pt x="470230" y="12204"/>
                </a:lnTo>
                <a:lnTo>
                  <a:pt x="459574" y="10667"/>
                </a:lnTo>
                <a:lnTo>
                  <a:pt x="448919" y="9143"/>
                </a:lnTo>
                <a:lnTo>
                  <a:pt x="438276" y="7619"/>
                </a:lnTo>
                <a:lnTo>
                  <a:pt x="427621" y="6095"/>
                </a:lnTo>
                <a:lnTo>
                  <a:pt x="415442" y="6095"/>
                </a:lnTo>
                <a:lnTo>
                  <a:pt x="391096" y="3047"/>
                </a:lnTo>
                <a:lnTo>
                  <a:pt x="365226" y="1523"/>
                </a:lnTo>
                <a:lnTo>
                  <a:pt x="337832" y="1523"/>
                </a:lnTo>
                <a:lnTo>
                  <a:pt x="310438" y="0"/>
                </a:lnTo>
                <a:lnTo>
                  <a:pt x="281520" y="0"/>
                </a:lnTo>
              </a:path>
            </a:pathLst>
          </a:custGeom>
          <a:ln w="9144">
            <a:solidFill>
              <a:srgbClr val="000000"/>
            </a:solidFill>
          </a:ln>
        </p:spPr>
        <p:txBody>
          <a:bodyPr wrap="square" lIns="0" tIns="0" rIns="0" bIns="0" rtlCol="0"/>
          <a:lstStyle/>
          <a:p>
            <a:endParaRPr/>
          </a:p>
        </p:txBody>
      </p:sp>
      <p:sp>
        <p:nvSpPr>
          <p:cNvPr id="9" name="object 9"/>
          <p:cNvSpPr/>
          <p:nvPr/>
        </p:nvSpPr>
        <p:spPr>
          <a:xfrm>
            <a:off x="5574423" y="3882669"/>
            <a:ext cx="563245" cy="47625"/>
          </a:xfrm>
          <a:custGeom>
            <a:avLst/>
            <a:gdLst/>
            <a:ahLst/>
            <a:cxnLst/>
            <a:rect l="l" t="t" r="r" b="b"/>
            <a:pathLst>
              <a:path w="563245" h="47625">
                <a:moveTo>
                  <a:pt x="0" y="0"/>
                </a:moveTo>
                <a:lnTo>
                  <a:pt x="0" y="3048"/>
                </a:lnTo>
                <a:lnTo>
                  <a:pt x="1511" y="4572"/>
                </a:lnTo>
                <a:lnTo>
                  <a:pt x="3035" y="7620"/>
                </a:lnTo>
                <a:lnTo>
                  <a:pt x="6083" y="9144"/>
                </a:lnTo>
                <a:lnTo>
                  <a:pt x="9118" y="12204"/>
                </a:lnTo>
                <a:lnTo>
                  <a:pt x="12166" y="13728"/>
                </a:lnTo>
                <a:lnTo>
                  <a:pt x="16738" y="16776"/>
                </a:lnTo>
                <a:lnTo>
                  <a:pt x="22821" y="18300"/>
                </a:lnTo>
                <a:lnTo>
                  <a:pt x="27381" y="19824"/>
                </a:lnTo>
                <a:lnTo>
                  <a:pt x="33477" y="22872"/>
                </a:lnTo>
                <a:lnTo>
                  <a:pt x="41084" y="24396"/>
                </a:lnTo>
                <a:lnTo>
                  <a:pt x="48691" y="25920"/>
                </a:lnTo>
                <a:lnTo>
                  <a:pt x="56299" y="27457"/>
                </a:lnTo>
                <a:lnTo>
                  <a:pt x="63906" y="30505"/>
                </a:lnTo>
                <a:lnTo>
                  <a:pt x="73037" y="32029"/>
                </a:lnTo>
                <a:lnTo>
                  <a:pt x="82169" y="33553"/>
                </a:lnTo>
                <a:lnTo>
                  <a:pt x="92824" y="35077"/>
                </a:lnTo>
                <a:lnTo>
                  <a:pt x="101955" y="36601"/>
                </a:lnTo>
                <a:lnTo>
                  <a:pt x="112610" y="38125"/>
                </a:lnTo>
                <a:lnTo>
                  <a:pt x="124777" y="38125"/>
                </a:lnTo>
                <a:lnTo>
                  <a:pt x="135432" y="39649"/>
                </a:lnTo>
                <a:lnTo>
                  <a:pt x="147612" y="41173"/>
                </a:lnTo>
                <a:lnTo>
                  <a:pt x="171958" y="42710"/>
                </a:lnTo>
                <a:lnTo>
                  <a:pt x="197827" y="44234"/>
                </a:lnTo>
                <a:lnTo>
                  <a:pt x="225221" y="45758"/>
                </a:lnTo>
                <a:lnTo>
                  <a:pt x="252615" y="45758"/>
                </a:lnTo>
                <a:lnTo>
                  <a:pt x="281520" y="47282"/>
                </a:lnTo>
                <a:lnTo>
                  <a:pt x="310438" y="45758"/>
                </a:lnTo>
                <a:lnTo>
                  <a:pt x="337832" y="45758"/>
                </a:lnTo>
                <a:lnTo>
                  <a:pt x="365226" y="44234"/>
                </a:lnTo>
                <a:lnTo>
                  <a:pt x="391096" y="42710"/>
                </a:lnTo>
                <a:lnTo>
                  <a:pt x="415442" y="41173"/>
                </a:lnTo>
                <a:lnTo>
                  <a:pt x="427621" y="39649"/>
                </a:lnTo>
                <a:lnTo>
                  <a:pt x="438276" y="38125"/>
                </a:lnTo>
                <a:lnTo>
                  <a:pt x="448919" y="38125"/>
                </a:lnTo>
                <a:lnTo>
                  <a:pt x="459574" y="36601"/>
                </a:lnTo>
                <a:lnTo>
                  <a:pt x="470230" y="35077"/>
                </a:lnTo>
                <a:lnTo>
                  <a:pt x="480885" y="33553"/>
                </a:lnTo>
                <a:lnTo>
                  <a:pt x="490016" y="32029"/>
                </a:lnTo>
                <a:lnTo>
                  <a:pt x="497624" y="30505"/>
                </a:lnTo>
                <a:lnTo>
                  <a:pt x="506755" y="27457"/>
                </a:lnTo>
                <a:lnTo>
                  <a:pt x="514362" y="25920"/>
                </a:lnTo>
                <a:lnTo>
                  <a:pt x="521970" y="24396"/>
                </a:lnTo>
                <a:lnTo>
                  <a:pt x="528053" y="22872"/>
                </a:lnTo>
                <a:lnTo>
                  <a:pt x="534149" y="19824"/>
                </a:lnTo>
                <a:lnTo>
                  <a:pt x="540232" y="18300"/>
                </a:lnTo>
                <a:lnTo>
                  <a:pt x="544791" y="16776"/>
                </a:lnTo>
                <a:lnTo>
                  <a:pt x="549363" y="13728"/>
                </a:lnTo>
                <a:lnTo>
                  <a:pt x="553923" y="12204"/>
                </a:lnTo>
                <a:lnTo>
                  <a:pt x="556971" y="9144"/>
                </a:lnTo>
                <a:lnTo>
                  <a:pt x="560019" y="7620"/>
                </a:lnTo>
                <a:lnTo>
                  <a:pt x="561543" y="4572"/>
                </a:lnTo>
                <a:lnTo>
                  <a:pt x="561543" y="3048"/>
                </a:lnTo>
                <a:lnTo>
                  <a:pt x="563054" y="0"/>
                </a:lnTo>
              </a:path>
            </a:pathLst>
          </a:custGeom>
          <a:ln w="9144">
            <a:solidFill>
              <a:srgbClr val="000000"/>
            </a:solidFill>
          </a:ln>
        </p:spPr>
        <p:txBody>
          <a:bodyPr wrap="square" lIns="0" tIns="0" rIns="0" bIns="0" rtlCol="0"/>
          <a:lstStyle/>
          <a:p>
            <a:endParaRPr/>
          </a:p>
        </p:txBody>
      </p:sp>
      <p:sp>
        <p:nvSpPr>
          <p:cNvPr id="10" name="object 10"/>
          <p:cNvSpPr txBox="1"/>
          <p:nvPr/>
        </p:nvSpPr>
        <p:spPr>
          <a:xfrm>
            <a:off x="5745860" y="3912780"/>
            <a:ext cx="22225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FF0000"/>
                </a:solidFill>
                <a:latin typeface="Times New Roman"/>
                <a:cs typeface="Times New Roman"/>
              </a:rPr>
              <a:t>Fil</a:t>
            </a:r>
            <a:r>
              <a:rPr sz="1000" spc="-5" dirty="0">
                <a:solidFill>
                  <a:srgbClr val="FF0000"/>
                </a:solidFill>
                <a:latin typeface="Times New Roman"/>
                <a:cs typeface="Times New Roman"/>
              </a:rPr>
              <a:t>e</a:t>
            </a:r>
            <a:endParaRPr sz="1000">
              <a:latin typeface="Times New Roman"/>
              <a:cs typeface="Times New Roman"/>
            </a:endParaRPr>
          </a:p>
        </p:txBody>
      </p:sp>
      <p:sp>
        <p:nvSpPr>
          <p:cNvPr id="11" name="object 11"/>
          <p:cNvSpPr/>
          <p:nvPr/>
        </p:nvSpPr>
        <p:spPr>
          <a:xfrm>
            <a:off x="5592673" y="3161207"/>
            <a:ext cx="561975" cy="293370"/>
          </a:xfrm>
          <a:custGeom>
            <a:avLst/>
            <a:gdLst/>
            <a:ahLst/>
            <a:cxnLst/>
            <a:rect l="l" t="t" r="r" b="b"/>
            <a:pathLst>
              <a:path w="561975" h="293370">
                <a:moveTo>
                  <a:pt x="281533" y="0"/>
                </a:moveTo>
                <a:lnTo>
                  <a:pt x="252628" y="0"/>
                </a:lnTo>
                <a:lnTo>
                  <a:pt x="223710" y="0"/>
                </a:lnTo>
                <a:lnTo>
                  <a:pt x="197840" y="1536"/>
                </a:lnTo>
                <a:lnTo>
                  <a:pt x="171970" y="3060"/>
                </a:lnTo>
                <a:lnTo>
                  <a:pt x="146100" y="4584"/>
                </a:lnTo>
                <a:lnTo>
                  <a:pt x="135445" y="6108"/>
                </a:lnTo>
                <a:lnTo>
                  <a:pt x="123266" y="7632"/>
                </a:lnTo>
                <a:lnTo>
                  <a:pt x="112623" y="9156"/>
                </a:lnTo>
                <a:lnTo>
                  <a:pt x="101968" y="10680"/>
                </a:lnTo>
                <a:lnTo>
                  <a:pt x="91312" y="12204"/>
                </a:lnTo>
                <a:lnTo>
                  <a:pt x="82181" y="13728"/>
                </a:lnTo>
                <a:lnTo>
                  <a:pt x="73050" y="15252"/>
                </a:lnTo>
                <a:lnTo>
                  <a:pt x="63919" y="16789"/>
                </a:lnTo>
                <a:lnTo>
                  <a:pt x="54787" y="18313"/>
                </a:lnTo>
                <a:lnTo>
                  <a:pt x="47180" y="19837"/>
                </a:lnTo>
                <a:lnTo>
                  <a:pt x="41097" y="21361"/>
                </a:lnTo>
                <a:lnTo>
                  <a:pt x="33489" y="24409"/>
                </a:lnTo>
                <a:lnTo>
                  <a:pt x="27393" y="25933"/>
                </a:lnTo>
                <a:lnTo>
                  <a:pt x="21310" y="27457"/>
                </a:lnTo>
                <a:lnTo>
                  <a:pt x="16751" y="30505"/>
                </a:lnTo>
                <a:lnTo>
                  <a:pt x="12179" y="32042"/>
                </a:lnTo>
                <a:lnTo>
                  <a:pt x="9131" y="33566"/>
                </a:lnTo>
                <a:lnTo>
                  <a:pt x="6096" y="36614"/>
                </a:lnTo>
                <a:lnTo>
                  <a:pt x="3048" y="38138"/>
                </a:lnTo>
                <a:lnTo>
                  <a:pt x="1524" y="41186"/>
                </a:lnTo>
                <a:lnTo>
                  <a:pt x="0" y="42710"/>
                </a:lnTo>
                <a:lnTo>
                  <a:pt x="0" y="45758"/>
                </a:lnTo>
                <a:lnTo>
                  <a:pt x="0" y="247103"/>
                </a:lnTo>
                <a:lnTo>
                  <a:pt x="0" y="250151"/>
                </a:lnTo>
                <a:lnTo>
                  <a:pt x="1524" y="251675"/>
                </a:lnTo>
                <a:lnTo>
                  <a:pt x="3048" y="254723"/>
                </a:lnTo>
                <a:lnTo>
                  <a:pt x="6096" y="256247"/>
                </a:lnTo>
                <a:lnTo>
                  <a:pt x="9131" y="259295"/>
                </a:lnTo>
                <a:lnTo>
                  <a:pt x="12179" y="260832"/>
                </a:lnTo>
                <a:lnTo>
                  <a:pt x="16751" y="262356"/>
                </a:lnTo>
                <a:lnTo>
                  <a:pt x="21310" y="265404"/>
                </a:lnTo>
                <a:lnTo>
                  <a:pt x="27393" y="266928"/>
                </a:lnTo>
                <a:lnTo>
                  <a:pt x="33489" y="268452"/>
                </a:lnTo>
                <a:lnTo>
                  <a:pt x="41097" y="271500"/>
                </a:lnTo>
                <a:lnTo>
                  <a:pt x="82181" y="279133"/>
                </a:lnTo>
                <a:lnTo>
                  <a:pt x="91312" y="280657"/>
                </a:lnTo>
                <a:lnTo>
                  <a:pt x="101968" y="282181"/>
                </a:lnTo>
                <a:lnTo>
                  <a:pt x="112623" y="283705"/>
                </a:lnTo>
                <a:lnTo>
                  <a:pt x="123266" y="285229"/>
                </a:lnTo>
                <a:lnTo>
                  <a:pt x="135445" y="286753"/>
                </a:lnTo>
                <a:lnTo>
                  <a:pt x="146100" y="288277"/>
                </a:lnTo>
                <a:lnTo>
                  <a:pt x="171970" y="289801"/>
                </a:lnTo>
                <a:lnTo>
                  <a:pt x="197840" y="291338"/>
                </a:lnTo>
                <a:lnTo>
                  <a:pt x="223710" y="292862"/>
                </a:lnTo>
                <a:lnTo>
                  <a:pt x="252628" y="292862"/>
                </a:lnTo>
                <a:lnTo>
                  <a:pt x="281533" y="292862"/>
                </a:lnTo>
                <a:lnTo>
                  <a:pt x="308927" y="292862"/>
                </a:lnTo>
                <a:lnTo>
                  <a:pt x="337845" y="292862"/>
                </a:lnTo>
                <a:lnTo>
                  <a:pt x="363715" y="291338"/>
                </a:lnTo>
                <a:lnTo>
                  <a:pt x="389585" y="289801"/>
                </a:lnTo>
                <a:lnTo>
                  <a:pt x="415455" y="288277"/>
                </a:lnTo>
                <a:lnTo>
                  <a:pt x="426110" y="286753"/>
                </a:lnTo>
                <a:lnTo>
                  <a:pt x="438289" y="285229"/>
                </a:lnTo>
                <a:lnTo>
                  <a:pt x="448932" y="283705"/>
                </a:lnTo>
                <a:lnTo>
                  <a:pt x="459587" y="282181"/>
                </a:lnTo>
                <a:lnTo>
                  <a:pt x="470242" y="280657"/>
                </a:lnTo>
                <a:lnTo>
                  <a:pt x="479374" y="279133"/>
                </a:lnTo>
                <a:lnTo>
                  <a:pt x="488505" y="277609"/>
                </a:lnTo>
                <a:lnTo>
                  <a:pt x="497636" y="276085"/>
                </a:lnTo>
                <a:lnTo>
                  <a:pt x="506768" y="274548"/>
                </a:lnTo>
                <a:lnTo>
                  <a:pt x="514375" y="273024"/>
                </a:lnTo>
                <a:lnTo>
                  <a:pt x="521982" y="271500"/>
                </a:lnTo>
                <a:lnTo>
                  <a:pt x="528065" y="268452"/>
                </a:lnTo>
                <a:lnTo>
                  <a:pt x="534162" y="266928"/>
                </a:lnTo>
                <a:lnTo>
                  <a:pt x="540245" y="265404"/>
                </a:lnTo>
                <a:lnTo>
                  <a:pt x="544804" y="262356"/>
                </a:lnTo>
                <a:lnTo>
                  <a:pt x="549376" y="260832"/>
                </a:lnTo>
                <a:lnTo>
                  <a:pt x="552424" y="259295"/>
                </a:lnTo>
                <a:lnTo>
                  <a:pt x="556983" y="256247"/>
                </a:lnTo>
                <a:lnTo>
                  <a:pt x="558507" y="254723"/>
                </a:lnTo>
                <a:lnTo>
                  <a:pt x="560031" y="251675"/>
                </a:lnTo>
                <a:lnTo>
                  <a:pt x="561543" y="250151"/>
                </a:lnTo>
                <a:lnTo>
                  <a:pt x="561543" y="247103"/>
                </a:lnTo>
                <a:lnTo>
                  <a:pt x="561543" y="45758"/>
                </a:lnTo>
                <a:lnTo>
                  <a:pt x="561543" y="42710"/>
                </a:lnTo>
                <a:lnTo>
                  <a:pt x="560031" y="41186"/>
                </a:lnTo>
                <a:lnTo>
                  <a:pt x="544804" y="30505"/>
                </a:lnTo>
                <a:lnTo>
                  <a:pt x="540245" y="27457"/>
                </a:lnTo>
                <a:lnTo>
                  <a:pt x="534162" y="25933"/>
                </a:lnTo>
                <a:lnTo>
                  <a:pt x="528065" y="24409"/>
                </a:lnTo>
                <a:lnTo>
                  <a:pt x="521982" y="21361"/>
                </a:lnTo>
                <a:lnTo>
                  <a:pt x="514375" y="19837"/>
                </a:lnTo>
                <a:lnTo>
                  <a:pt x="506768" y="18313"/>
                </a:lnTo>
                <a:lnTo>
                  <a:pt x="497636" y="16789"/>
                </a:lnTo>
                <a:lnTo>
                  <a:pt x="488505" y="15252"/>
                </a:lnTo>
                <a:lnTo>
                  <a:pt x="479374" y="13728"/>
                </a:lnTo>
                <a:lnTo>
                  <a:pt x="470242" y="12204"/>
                </a:lnTo>
                <a:lnTo>
                  <a:pt x="459587" y="10680"/>
                </a:lnTo>
                <a:lnTo>
                  <a:pt x="448932" y="9156"/>
                </a:lnTo>
                <a:lnTo>
                  <a:pt x="438289" y="7632"/>
                </a:lnTo>
                <a:lnTo>
                  <a:pt x="426110" y="6108"/>
                </a:lnTo>
                <a:lnTo>
                  <a:pt x="415455" y="4584"/>
                </a:lnTo>
                <a:lnTo>
                  <a:pt x="389585" y="3060"/>
                </a:lnTo>
                <a:lnTo>
                  <a:pt x="363715" y="1536"/>
                </a:lnTo>
                <a:lnTo>
                  <a:pt x="337845" y="0"/>
                </a:lnTo>
                <a:lnTo>
                  <a:pt x="308927" y="0"/>
                </a:lnTo>
                <a:lnTo>
                  <a:pt x="281533" y="0"/>
                </a:lnTo>
              </a:path>
            </a:pathLst>
          </a:custGeom>
          <a:ln w="9143">
            <a:solidFill>
              <a:srgbClr val="000000"/>
            </a:solidFill>
          </a:ln>
        </p:spPr>
        <p:txBody>
          <a:bodyPr wrap="square" lIns="0" tIns="0" rIns="0" bIns="0" rtlCol="0"/>
          <a:lstStyle/>
          <a:p>
            <a:endParaRPr/>
          </a:p>
        </p:txBody>
      </p:sp>
      <p:sp>
        <p:nvSpPr>
          <p:cNvPr id="12" name="object 12"/>
          <p:cNvSpPr/>
          <p:nvPr/>
        </p:nvSpPr>
        <p:spPr>
          <a:xfrm>
            <a:off x="5592673" y="3206965"/>
            <a:ext cx="561975" cy="46355"/>
          </a:xfrm>
          <a:custGeom>
            <a:avLst/>
            <a:gdLst/>
            <a:ahLst/>
            <a:cxnLst/>
            <a:rect l="l" t="t" r="r" b="b"/>
            <a:pathLst>
              <a:path w="561975" h="46354">
                <a:moveTo>
                  <a:pt x="0" y="0"/>
                </a:moveTo>
                <a:lnTo>
                  <a:pt x="0" y="3060"/>
                </a:lnTo>
                <a:lnTo>
                  <a:pt x="1524" y="4584"/>
                </a:lnTo>
                <a:lnTo>
                  <a:pt x="3048" y="7632"/>
                </a:lnTo>
                <a:lnTo>
                  <a:pt x="6096" y="9156"/>
                </a:lnTo>
                <a:lnTo>
                  <a:pt x="9131" y="12204"/>
                </a:lnTo>
                <a:lnTo>
                  <a:pt x="12179" y="13728"/>
                </a:lnTo>
                <a:lnTo>
                  <a:pt x="16751" y="15252"/>
                </a:lnTo>
                <a:lnTo>
                  <a:pt x="21310" y="18313"/>
                </a:lnTo>
                <a:lnTo>
                  <a:pt x="27393" y="19837"/>
                </a:lnTo>
                <a:lnTo>
                  <a:pt x="33489" y="21361"/>
                </a:lnTo>
                <a:lnTo>
                  <a:pt x="41097" y="24409"/>
                </a:lnTo>
                <a:lnTo>
                  <a:pt x="47180" y="25933"/>
                </a:lnTo>
                <a:lnTo>
                  <a:pt x="54787" y="27457"/>
                </a:lnTo>
                <a:lnTo>
                  <a:pt x="63919" y="28981"/>
                </a:lnTo>
                <a:lnTo>
                  <a:pt x="73050" y="30505"/>
                </a:lnTo>
                <a:lnTo>
                  <a:pt x="82181" y="32042"/>
                </a:lnTo>
                <a:lnTo>
                  <a:pt x="91312" y="33566"/>
                </a:lnTo>
                <a:lnTo>
                  <a:pt x="101968" y="35090"/>
                </a:lnTo>
                <a:lnTo>
                  <a:pt x="112623" y="36614"/>
                </a:lnTo>
                <a:lnTo>
                  <a:pt x="123266" y="38138"/>
                </a:lnTo>
                <a:lnTo>
                  <a:pt x="135445" y="39662"/>
                </a:lnTo>
                <a:lnTo>
                  <a:pt x="146100" y="41186"/>
                </a:lnTo>
                <a:lnTo>
                  <a:pt x="171970" y="42710"/>
                </a:lnTo>
                <a:lnTo>
                  <a:pt x="197840" y="44234"/>
                </a:lnTo>
                <a:lnTo>
                  <a:pt x="223710" y="45758"/>
                </a:lnTo>
                <a:lnTo>
                  <a:pt x="252628" y="45758"/>
                </a:lnTo>
                <a:lnTo>
                  <a:pt x="281533" y="45758"/>
                </a:lnTo>
                <a:lnTo>
                  <a:pt x="308927" y="45758"/>
                </a:lnTo>
                <a:lnTo>
                  <a:pt x="337845" y="45758"/>
                </a:lnTo>
                <a:lnTo>
                  <a:pt x="363715" y="44234"/>
                </a:lnTo>
                <a:lnTo>
                  <a:pt x="389585" y="42710"/>
                </a:lnTo>
                <a:lnTo>
                  <a:pt x="415455" y="41186"/>
                </a:lnTo>
                <a:lnTo>
                  <a:pt x="426110" y="39662"/>
                </a:lnTo>
                <a:lnTo>
                  <a:pt x="438289" y="38138"/>
                </a:lnTo>
                <a:lnTo>
                  <a:pt x="448932" y="36614"/>
                </a:lnTo>
                <a:lnTo>
                  <a:pt x="459587" y="35090"/>
                </a:lnTo>
                <a:lnTo>
                  <a:pt x="470242" y="33566"/>
                </a:lnTo>
                <a:lnTo>
                  <a:pt x="479374" y="32042"/>
                </a:lnTo>
                <a:lnTo>
                  <a:pt x="488505" y="30505"/>
                </a:lnTo>
                <a:lnTo>
                  <a:pt x="497636" y="28981"/>
                </a:lnTo>
                <a:lnTo>
                  <a:pt x="506768" y="27457"/>
                </a:lnTo>
                <a:lnTo>
                  <a:pt x="514375" y="25933"/>
                </a:lnTo>
                <a:lnTo>
                  <a:pt x="521982" y="24409"/>
                </a:lnTo>
                <a:lnTo>
                  <a:pt x="528065" y="21361"/>
                </a:lnTo>
                <a:lnTo>
                  <a:pt x="534162" y="19837"/>
                </a:lnTo>
                <a:lnTo>
                  <a:pt x="540245" y="18313"/>
                </a:lnTo>
                <a:lnTo>
                  <a:pt x="544804" y="15252"/>
                </a:lnTo>
                <a:lnTo>
                  <a:pt x="549376" y="13728"/>
                </a:lnTo>
                <a:lnTo>
                  <a:pt x="552424" y="12204"/>
                </a:lnTo>
                <a:lnTo>
                  <a:pt x="556983" y="9156"/>
                </a:lnTo>
                <a:lnTo>
                  <a:pt x="558507" y="7632"/>
                </a:lnTo>
                <a:lnTo>
                  <a:pt x="560031" y="4584"/>
                </a:lnTo>
                <a:lnTo>
                  <a:pt x="561543" y="3060"/>
                </a:lnTo>
                <a:lnTo>
                  <a:pt x="561543" y="0"/>
                </a:lnTo>
              </a:path>
            </a:pathLst>
          </a:custGeom>
          <a:ln w="9144">
            <a:solidFill>
              <a:srgbClr val="000000"/>
            </a:solidFill>
          </a:ln>
        </p:spPr>
        <p:txBody>
          <a:bodyPr wrap="square" lIns="0" tIns="0" rIns="0" bIns="0" rtlCol="0"/>
          <a:lstStyle/>
          <a:p>
            <a:endParaRPr/>
          </a:p>
        </p:txBody>
      </p:sp>
      <p:sp>
        <p:nvSpPr>
          <p:cNvPr id="13" name="object 13"/>
          <p:cNvSpPr txBox="1"/>
          <p:nvPr/>
        </p:nvSpPr>
        <p:spPr>
          <a:xfrm>
            <a:off x="5764110" y="3235553"/>
            <a:ext cx="22225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FF0000"/>
                </a:solidFill>
                <a:latin typeface="Times New Roman"/>
                <a:cs typeface="Times New Roman"/>
              </a:rPr>
              <a:t>Fil</a:t>
            </a:r>
            <a:r>
              <a:rPr sz="1000" spc="-5" dirty="0">
                <a:solidFill>
                  <a:srgbClr val="FF0000"/>
                </a:solidFill>
                <a:latin typeface="Times New Roman"/>
                <a:cs typeface="Times New Roman"/>
              </a:rPr>
              <a:t>e</a:t>
            </a:r>
            <a:endParaRPr sz="1000">
              <a:latin typeface="Times New Roman"/>
              <a:cs typeface="Times New Roman"/>
            </a:endParaRPr>
          </a:p>
        </p:txBody>
      </p:sp>
      <p:sp>
        <p:nvSpPr>
          <p:cNvPr id="17" name="object 17"/>
          <p:cNvSpPr txBox="1"/>
          <p:nvPr/>
        </p:nvSpPr>
        <p:spPr>
          <a:xfrm>
            <a:off x="8548052" y="6401152"/>
            <a:ext cx="165735" cy="226695"/>
          </a:xfrm>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sz="1200" dirty="0">
                <a:solidFill>
                  <a:srgbClr val="F1F1F1"/>
                </a:solidFill>
                <a:latin typeface="微软雅黑"/>
                <a:cs typeface="微软雅黑"/>
              </a:rPr>
              <a:t>3</a:t>
            </a:fld>
            <a:endParaRPr sz="1200">
              <a:latin typeface="微软雅黑"/>
              <a:cs typeface="微软雅黑"/>
            </a:endParaRPr>
          </a:p>
        </p:txBody>
      </p:sp>
      <p:sp>
        <p:nvSpPr>
          <p:cNvPr id="14" name="object 14"/>
          <p:cNvSpPr txBox="1"/>
          <p:nvPr/>
        </p:nvSpPr>
        <p:spPr>
          <a:xfrm>
            <a:off x="4041444" y="3191332"/>
            <a:ext cx="7245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0000"/>
                </a:solidFill>
                <a:latin typeface="Times New Roman"/>
                <a:cs typeface="Times New Roman"/>
              </a:rPr>
              <a:t>01011…1001</a:t>
            </a:r>
            <a:endParaRPr sz="1000">
              <a:latin typeface="Times New Roman"/>
              <a:cs typeface="Times New Roman"/>
            </a:endParaRPr>
          </a:p>
        </p:txBody>
      </p:sp>
      <p:sp>
        <p:nvSpPr>
          <p:cNvPr id="15" name="object 15"/>
          <p:cNvSpPr txBox="1"/>
          <p:nvPr/>
        </p:nvSpPr>
        <p:spPr>
          <a:xfrm>
            <a:off x="3997312" y="3841089"/>
            <a:ext cx="7245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0000"/>
                </a:solidFill>
                <a:latin typeface="Times New Roman"/>
                <a:cs typeface="Times New Roman"/>
              </a:rPr>
              <a:t>11001…1011</a:t>
            </a:r>
            <a:endParaRPr sz="1000">
              <a:latin typeface="Times New Roman"/>
              <a:cs typeface="Times New Roman"/>
            </a:endParaRPr>
          </a:p>
        </p:txBody>
      </p:sp>
      <p:sp>
        <p:nvSpPr>
          <p:cNvPr id="16" name="object 16"/>
          <p:cNvSpPr txBox="1"/>
          <p:nvPr/>
        </p:nvSpPr>
        <p:spPr>
          <a:xfrm>
            <a:off x="617855" y="1069083"/>
            <a:ext cx="7314565" cy="2058670"/>
          </a:xfrm>
          <a:prstGeom prst="rect">
            <a:avLst/>
          </a:prstGeom>
        </p:spPr>
        <p:txBody>
          <a:bodyPr vert="horz" wrap="square" lIns="0" tIns="236220" rIns="0" bIns="0" rtlCol="0">
            <a:spAutoFit/>
          </a:bodyPr>
          <a:lstStyle/>
          <a:p>
            <a:pPr marL="229235">
              <a:lnSpc>
                <a:spcPct val="100000"/>
              </a:lnSpc>
              <a:spcBef>
                <a:spcPts val="1860"/>
              </a:spcBef>
            </a:pPr>
            <a:r>
              <a:rPr sz="2800" spc="-5" dirty="0">
                <a:latin typeface="Arial"/>
                <a:cs typeface="Arial"/>
              </a:rPr>
              <a:t>1.1</a:t>
            </a:r>
            <a:r>
              <a:rPr sz="2800" dirty="0">
                <a:latin typeface="微软雅黑"/>
                <a:cs typeface="微软雅黑"/>
              </a:rPr>
              <a:t>输入输出</a:t>
            </a:r>
            <a:r>
              <a:rPr sz="2800" spc="-5" dirty="0">
                <a:latin typeface="微软雅黑"/>
                <a:cs typeface="微软雅黑"/>
              </a:rPr>
              <a:t>流</a:t>
            </a:r>
            <a:endParaRPr sz="2800">
              <a:latin typeface="微软雅黑"/>
              <a:cs typeface="微软雅黑"/>
            </a:endParaRPr>
          </a:p>
          <a:p>
            <a:pPr marL="184150" marR="5080" indent="-171450">
              <a:lnSpc>
                <a:spcPts val="2590"/>
              </a:lnSpc>
              <a:spcBef>
                <a:spcPts val="1845"/>
              </a:spcBef>
              <a:buFont typeface="Arial"/>
              <a:buChar char="•"/>
              <a:tabLst>
                <a:tab pos="184150" algn="l"/>
              </a:tabLst>
            </a:pPr>
            <a:r>
              <a:rPr sz="2400" spc="-25" dirty="0">
                <a:latin typeface="微软雅黑"/>
                <a:cs typeface="微软雅黑"/>
              </a:rPr>
              <a:t>Java</a:t>
            </a:r>
            <a:r>
              <a:rPr sz="2400" dirty="0">
                <a:latin typeface="微软雅黑"/>
                <a:cs typeface="微软雅黑"/>
              </a:rPr>
              <a:t>中的输入</a:t>
            </a:r>
            <a:r>
              <a:rPr sz="2400" spc="-5" dirty="0">
                <a:latin typeface="微软雅黑"/>
                <a:cs typeface="微软雅黑"/>
              </a:rPr>
              <a:t>/</a:t>
            </a:r>
            <a:r>
              <a:rPr sz="2400" dirty="0">
                <a:latin typeface="微软雅黑"/>
                <a:cs typeface="微软雅黑"/>
              </a:rPr>
              <a:t>输出</a:t>
            </a:r>
            <a:r>
              <a:rPr sz="2400" spc="-5" dirty="0">
                <a:latin typeface="微软雅黑"/>
                <a:cs typeface="微软雅黑"/>
              </a:rPr>
              <a:t>（Input/Output，</a:t>
            </a:r>
            <a:r>
              <a:rPr sz="2400" dirty="0">
                <a:latin typeface="微软雅黑"/>
                <a:cs typeface="微软雅黑"/>
              </a:rPr>
              <a:t>简称</a:t>
            </a:r>
            <a:r>
              <a:rPr sz="2400" spc="-5" dirty="0">
                <a:latin typeface="微软雅黑"/>
                <a:cs typeface="微软雅黑"/>
              </a:rPr>
              <a:t>I/O）：</a:t>
            </a:r>
            <a:r>
              <a:rPr sz="2400" dirty="0">
                <a:latin typeface="微软雅黑"/>
                <a:cs typeface="微软雅黑"/>
              </a:rPr>
              <a:t>程 序与外部设备或其他计算机进行数据交换的过程。</a:t>
            </a:r>
            <a:endParaRPr sz="2400">
              <a:latin typeface="微软雅黑"/>
              <a:cs typeface="微软雅黑"/>
            </a:endParaRPr>
          </a:p>
          <a:p>
            <a:pPr marL="1573530">
              <a:lnSpc>
                <a:spcPct val="100000"/>
              </a:lnSpc>
              <a:spcBef>
                <a:spcPts val="1340"/>
              </a:spcBef>
            </a:pPr>
            <a:r>
              <a:rPr sz="1000" spc="-5" dirty="0">
                <a:solidFill>
                  <a:srgbClr val="FF0000"/>
                </a:solidFill>
                <a:latin typeface="Times New Roman"/>
                <a:cs typeface="Times New Roman"/>
              </a:rPr>
              <a:t>Program</a:t>
            </a:r>
            <a:endParaRPr sz="1000">
              <a:latin typeface="Times New Roman"/>
              <a:cs typeface="Times New Roman"/>
            </a:endParaRPr>
          </a:p>
          <a:p>
            <a:pPr marL="3470910">
              <a:lnSpc>
                <a:spcPct val="100000"/>
              </a:lnSpc>
              <a:spcBef>
                <a:spcPts val="125"/>
              </a:spcBef>
            </a:pPr>
            <a:r>
              <a:rPr sz="1000" spc="-5" dirty="0">
                <a:solidFill>
                  <a:srgbClr val="FF0000"/>
                </a:solidFill>
                <a:latin typeface="Times New Roman"/>
                <a:cs typeface="Times New Roman"/>
              </a:rPr>
              <a:t>Input stream</a:t>
            </a:r>
            <a:endParaRPr sz="10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8880" y="1481454"/>
            <a:ext cx="4025900" cy="345440"/>
          </a:xfrm>
          <a:prstGeom prst="rect">
            <a:avLst/>
          </a:prstGeom>
        </p:spPr>
        <p:txBody>
          <a:bodyPr vert="horz" wrap="square" lIns="0" tIns="12700" rIns="0" bIns="0" rtlCol="0">
            <a:spAutoFit/>
          </a:bodyPr>
          <a:lstStyle/>
          <a:p>
            <a:pPr marL="12700">
              <a:lnSpc>
                <a:spcPct val="100000"/>
              </a:lnSpc>
              <a:spcBef>
                <a:spcPts val="100"/>
              </a:spcBef>
            </a:pPr>
            <a:r>
              <a:rPr sz="2100" b="0" dirty="0">
                <a:latin typeface="微软雅黑"/>
                <a:cs typeface="微软雅黑"/>
              </a:rPr>
              <a:t>按流的方向分为</a:t>
            </a:r>
            <a:r>
              <a:rPr sz="2100" dirty="0">
                <a:solidFill>
                  <a:srgbClr val="FF0000"/>
                </a:solidFill>
              </a:rPr>
              <a:t>输入流</a:t>
            </a:r>
            <a:r>
              <a:rPr sz="2100" b="0" dirty="0">
                <a:solidFill>
                  <a:srgbClr val="FF0000"/>
                </a:solidFill>
                <a:latin typeface="微软雅黑"/>
                <a:cs typeface="微软雅黑"/>
              </a:rPr>
              <a:t>和</a:t>
            </a:r>
            <a:r>
              <a:rPr sz="2100" dirty="0">
                <a:solidFill>
                  <a:srgbClr val="FF0000"/>
                </a:solidFill>
              </a:rPr>
              <a:t>输出流</a:t>
            </a:r>
            <a:r>
              <a:rPr sz="2100" b="0" dirty="0">
                <a:latin typeface="微软雅黑"/>
                <a:cs typeface="微软雅黑"/>
              </a:rPr>
              <a:t>。</a:t>
            </a:r>
            <a:endParaRPr sz="2100">
              <a:latin typeface="微软雅黑"/>
              <a:cs typeface="微软雅黑"/>
            </a:endParaRPr>
          </a:p>
        </p:txBody>
      </p:sp>
      <p:sp>
        <p:nvSpPr>
          <p:cNvPr id="4" name="object 4"/>
          <p:cNvSpPr txBox="1"/>
          <p:nvPr/>
        </p:nvSpPr>
        <p:spPr>
          <a:xfrm>
            <a:off x="8548052" y="6401152"/>
            <a:ext cx="165735" cy="226695"/>
          </a:xfrm>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sz="1200" dirty="0">
                <a:solidFill>
                  <a:srgbClr val="F1F1F1"/>
                </a:solidFill>
                <a:latin typeface="微软雅黑"/>
                <a:cs typeface="微软雅黑"/>
              </a:rPr>
              <a:t>4</a:t>
            </a:fld>
            <a:endParaRPr sz="1200">
              <a:latin typeface="微软雅黑"/>
              <a:cs typeface="微软雅黑"/>
            </a:endParaRPr>
          </a:p>
        </p:txBody>
      </p:sp>
      <p:sp>
        <p:nvSpPr>
          <p:cNvPr id="3" name="object 3"/>
          <p:cNvSpPr txBox="1"/>
          <p:nvPr/>
        </p:nvSpPr>
        <p:spPr>
          <a:xfrm>
            <a:off x="1198880" y="2184400"/>
            <a:ext cx="6553834" cy="3391535"/>
          </a:xfrm>
          <a:prstGeom prst="rect">
            <a:avLst/>
          </a:prstGeom>
        </p:spPr>
        <p:txBody>
          <a:bodyPr vert="horz" wrap="square" lIns="0" tIns="75565" rIns="0" bIns="0" rtlCol="0">
            <a:spAutoFit/>
          </a:bodyPr>
          <a:lstStyle/>
          <a:p>
            <a:pPr marL="12700">
              <a:lnSpc>
                <a:spcPct val="100000"/>
              </a:lnSpc>
              <a:spcBef>
                <a:spcPts val="595"/>
              </a:spcBef>
            </a:pPr>
            <a:r>
              <a:rPr sz="2100" dirty="0">
                <a:latin typeface="微软雅黑"/>
                <a:cs typeface="微软雅黑"/>
              </a:rPr>
              <a:t>按数据传输单位分为</a:t>
            </a:r>
            <a:r>
              <a:rPr sz="2100" b="1" dirty="0">
                <a:solidFill>
                  <a:srgbClr val="FF0000"/>
                </a:solidFill>
                <a:latin typeface="微软雅黑"/>
                <a:cs typeface="微软雅黑"/>
              </a:rPr>
              <a:t>字节流</a:t>
            </a:r>
            <a:r>
              <a:rPr sz="2100" dirty="0">
                <a:solidFill>
                  <a:srgbClr val="FF0000"/>
                </a:solidFill>
                <a:latin typeface="微软雅黑"/>
                <a:cs typeface="微软雅黑"/>
              </a:rPr>
              <a:t>和</a:t>
            </a:r>
            <a:r>
              <a:rPr sz="2100" b="1" dirty="0">
                <a:solidFill>
                  <a:srgbClr val="FF0000"/>
                </a:solidFill>
                <a:latin typeface="微软雅黑"/>
                <a:cs typeface="微软雅黑"/>
              </a:rPr>
              <a:t>字符流</a:t>
            </a:r>
            <a:r>
              <a:rPr sz="2100" dirty="0">
                <a:latin typeface="微软雅黑"/>
                <a:cs typeface="微软雅黑"/>
              </a:rPr>
              <a:t>。</a:t>
            </a:r>
            <a:endParaRPr sz="2100">
              <a:latin typeface="微软雅黑"/>
              <a:cs typeface="微软雅黑"/>
            </a:endParaRPr>
          </a:p>
          <a:p>
            <a:pPr marL="12700" marR="155575" indent="708660">
              <a:lnSpc>
                <a:spcPts val="2260"/>
              </a:lnSpc>
              <a:spcBef>
                <a:spcPts val="785"/>
              </a:spcBef>
            </a:pPr>
            <a:r>
              <a:rPr sz="2100" dirty="0">
                <a:latin typeface="微软雅黑"/>
                <a:cs typeface="微软雅黑"/>
              </a:rPr>
              <a:t>字节流（</a:t>
            </a:r>
            <a:r>
              <a:rPr sz="2100" spc="-5" dirty="0">
                <a:latin typeface="微软雅黑"/>
                <a:cs typeface="微软雅黑"/>
              </a:rPr>
              <a:t>st</a:t>
            </a:r>
            <a:r>
              <a:rPr sz="2100" spc="-35" dirty="0">
                <a:latin typeface="微软雅黑"/>
                <a:cs typeface="微软雅黑"/>
              </a:rPr>
              <a:t>r</a:t>
            </a:r>
            <a:r>
              <a:rPr sz="2100" spc="-5" dirty="0">
                <a:latin typeface="微软雅黑"/>
                <a:cs typeface="微软雅黑"/>
              </a:rPr>
              <a:t>ea</a:t>
            </a:r>
            <a:r>
              <a:rPr sz="2100" dirty="0">
                <a:latin typeface="微软雅黑"/>
                <a:cs typeface="微软雅黑"/>
              </a:rPr>
              <a:t>m）每次读写一个字节，可以读写 任意文件</a:t>
            </a:r>
            <a:endParaRPr sz="2100">
              <a:latin typeface="微软雅黑"/>
              <a:cs typeface="微软雅黑"/>
            </a:endParaRPr>
          </a:p>
          <a:p>
            <a:pPr marL="12700" marR="5080" indent="708660">
              <a:lnSpc>
                <a:spcPts val="2270"/>
              </a:lnSpc>
              <a:spcBef>
                <a:spcPts val="750"/>
              </a:spcBef>
            </a:pPr>
            <a:r>
              <a:rPr sz="2100" dirty="0">
                <a:latin typeface="微软雅黑"/>
                <a:cs typeface="微软雅黑"/>
              </a:rPr>
              <a:t>字符流（</a:t>
            </a:r>
            <a:r>
              <a:rPr sz="2100" spc="-35" dirty="0">
                <a:latin typeface="微软雅黑"/>
                <a:cs typeface="微软雅黑"/>
              </a:rPr>
              <a:t>r</a:t>
            </a:r>
            <a:r>
              <a:rPr sz="2100" spc="-5" dirty="0">
                <a:latin typeface="微软雅黑"/>
                <a:cs typeface="微软雅黑"/>
              </a:rPr>
              <a:t>ea</a:t>
            </a:r>
            <a:r>
              <a:rPr sz="2100" dirty="0">
                <a:latin typeface="微软雅黑"/>
                <a:cs typeface="微软雅黑"/>
              </a:rPr>
              <a:t>d</a:t>
            </a:r>
            <a:r>
              <a:rPr sz="2100" spc="-5" dirty="0">
                <a:latin typeface="微软雅黑"/>
                <a:cs typeface="微软雅黑"/>
              </a:rPr>
              <a:t>er</a:t>
            </a:r>
            <a:r>
              <a:rPr sz="2100" dirty="0">
                <a:latin typeface="微软雅黑"/>
                <a:cs typeface="微软雅黑"/>
              </a:rPr>
              <a:t>，w</a:t>
            </a:r>
            <a:r>
              <a:rPr sz="2100" spc="-5" dirty="0">
                <a:latin typeface="微软雅黑"/>
                <a:cs typeface="微软雅黑"/>
              </a:rPr>
              <a:t>r</a:t>
            </a:r>
            <a:r>
              <a:rPr sz="2100" dirty="0">
                <a:latin typeface="微软雅黑"/>
                <a:cs typeface="微软雅黑"/>
              </a:rPr>
              <a:t>i</a:t>
            </a:r>
            <a:r>
              <a:rPr sz="2100" spc="-25" dirty="0">
                <a:latin typeface="微软雅黑"/>
                <a:cs typeface="微软雅黑"/>
              </a:rPr>
              <a:t>t</a:t>
            </a:r>
            <a:r>
              <a:rPr sz="2100" spc="-5" dirty="0">
                <a:latin typeface="微软雅黑"/>
                <a:cs typeface="微软雅黑"/>
              </a:rPr>
              <a:t>er</a:t>
            </a:r>
            <a:r>
              <a:rPr sz="2100" dirty="0">
                <a:latin typeface="微软雅黑"/>
                <a:cs typeface="微软雅黑"/>
              </a:rPr>
              <a:t>）每次读写一个字符，可 以方便读写文本文件</a:t>
            </a:r>
            <a:endParaRPr sz="2100">
              <a:latin typeface="微软雅黑"/>
              <a:cs typeface="微软雅黑"/>
            </a:endParaRPr>
          </a:p>
          <a:p>
            <a:pPr>
              <a:lnSpc>
                <a:spcPct val="100000"/>
              </a:lnSpc>
              <a:spcBef>
                <a:spcPts val="80"/>
              </a:spcBef>
            </a:pPr>
            <a:endParaRPr sz="2000">
              <a:latin typeface="微软雅黑"/>
              <a:cs typeface="微软雅黑"/>
            </a:endParaRPr>
          </a:p>
          <a:p>
            <a:pPr marL="12700" marR="132715">
              <a:lnSpc>
                <a:spcPts val="2260"/>
              </a:lnSpc>
            </a:pPr>
            <a:r>
              <a:rPr sz="2100" dirty="0">
                <a:latin typeface="微软雅黑"/>
                <a:cs typeface="微软雅黑"/>
              </a:rPr>
              <a:t>按功能分为底层的</a:t>
            </a:r>
            <a:r>
              <a:rPr sz="2100" b="1" dirty="0">
                <a:solidFill>
                  <a:srgbClr val="FF0000"/>
                </a:solidFill>
                <a:latin typeface="微软雅黑"/>
                <a:cs typeface="微软雅黑"/>
              </a:rPr>
              <a:t>节点流</a:t>
            </a:r>
            <a:r>
              <a:rPr sz="2100" dirty="0">
                <a:latin typeface="微软雅黑"/>
                <a:cs typeface="微软雅黑"/>
              </a:rPr>
              <a:t>和上层的</a:t>
            </a:r>
            <a:r>
              <a:rPr sz="2100" b="1" dirty="0">
                <a:solidFill>
                  <a:srgbClr val="FF0000"/>
                </a:solidFill>
                <a:latin typeface="微软雅黑"/>
                <a:cs typeface="微软雅黑"/>
              </a:rPr>
              <a:t>处理流</a:t>
            </a:r>
            <a:r>
              <a:rPr sz="2100" dirty="0">
                <a:latin typeface="微软雅黑"/>
                <a:cs typeface="微软雅黑"/>
              </a:rPr>
              <a:t>（或称为包装 流）</a:t>
            </a:r>
            <a:endParaRPr sz="2100">
              <a:latin typeface="微软雅黑"/>
              <a:cs typeface="微软雅黑"/>
            </a:endParaRPr>
          </a:p>
          <a:p>
            <a:pPr marL="527050" indent="-171450">
              <a:lnSpc>
                <a:spcPct val="100000"/>
              </a:lnSpc>
              <a:spcBef>
                <a:spcPts val="130"/>
              </a:spcBef>
              <a:buFont typeface="Arial"/>
              <a:buChar char="•"/>
              <a:tabLst>
                <a:tab pos="527050" algn="l"/>
              </a:tabLst>
            </a:pPr>
            <a:r>
              <a:rPr sz="1800" dirty="0">
                <a:latin typeface="微软雅黑"/>
                <a:cs typeface="微软雅黑"/>
              </a:rPr>
              <a:t>节点流用于</a:t>
            </a:r>
            <a:r>
              <a:rPr sz="1800" dirty="0">
                <a:latin typeface="等线"/>
                <a:cs typeface="等线"/>
              </a:rPr>
              <a:t>进行输入输出操作</a:t>
            </a:r>
            <a:endParaRPr sz="1800">
              <a:latin typeface="等线"/>
              <a:cs typeface="等线"/>
            </a:endParaRPr>
          </a:p>
          <a:p>
            <a:pPr marL="527050" indent="-171450">
              <a:lnSpc>
                <a:spcPct val="100000"/>
              </a:lnSpc>
              <a:spcBef>
                <a:spcPts val="155"/>
              </a:spcBef>
              <a:buFont typeface="Arial"/>
              <a:buChar char="•"/>
              <a:tabLst>
                <a:tab pos="527050" algn="l"/>
              </a:tabLst>
            </a:pPr>
            <a:r>
              <a:rPr sz="1800" dirty="0">
                <a:latin typeface="微软雅黑"/>
                <a:cs typeface="微软雅黑"/>
              </a:rPr>
              <a:t>处理流用于</a:t>
            </a:r>
            <a:r>
              <a:rPr sz="1800" dirty="0">
                <a:latin typeface="等线"/>
                <a:cs typeface="等线"/>
              </a:rPr>
              <a:t>在节点流的基础上进行加工、转换、处理</a:t>
            </a:r>
            <a:r>
              <a:rPr sz="1800" dirty="0">
                <a:latin typeface="微软雅黑"/>
                <a:cs typeface="微软雅黑"/>
              </a:rPr>
              <a:t>。</a:t>
            </a:r>
            <a:endParaRPr sz="1800">
              <a:latin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2089" y="969644"/>
            <a:ext cx="4291965" cy="451484"/>
          </a:xfrm>
          <a:prstGeom prst="rect">
            <a:avLst/>
          </a:prstGeom>
        </p:spPr>
        <p:txBody>
          <a:bodyPr vert="horz" wrap="square" lIns="0" tIns="12065" rIns="0" bIns="0" rtlCol="0">
            <a:spAutoFit/>
          </a:bodyPr>
          <a:lstStyle/>
          <a:p>
            <a:pPr marL="12700">
              <a:lnSpc>
                <a:spcPct val="100000"/>
              </a:lnSpc>
              <a:spcBef>
                <a:spcPts val="95"/>
              </a:spcBef>
            </a:pPr>
            <a:r>
              <a:rPr sz="2800" b="0" dirty="0">
                <a:latin typeface="等线"/>
                <a:cs typeface="等线"/>
              </a:rPr>
              <a:t>节点流：进行输入输出操</a:t>
            </a:r>
            <a:r>
              <a:rPr sz="2800" b="0" spc="-5" dirty="0">
                <a:latin typeface="等线"/>
                <a:cs typeface="等线"/>
              </a:rPr>
              <a:t>作</a:t>
            </a:r>
            <a:endParaRPr sz="2800">
              <a:latin typeface="等线"/>
              <a:cs typeface="等线"/>
            </a:endParaRPr>
          </a:p>
        </p:txBody>
      </p:sp>
      <p:sp>
        <p:nvSpPr>
          <p:cNvPr id="3" name="object 3"/>
          <p:cNvSpPr/>
          <p:nvPr/>
        </p:nvSpPr>
        <p:spPr>
          <a:xfrm>
            <a:off x="964691" y="1917192"/>
            <a:ext cx="7827264" cy="417554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42416" y="1988820"/>
            <a:ext cx="6984492" cy="3922776"/>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689927" y="969644"/>
            <a:ext cx="7847965" cy="451484"/>
          </a:xfrm>
          <a:prstGeom prst="rect">
            <a:avLst/>
          </a:prstGeom>
        </p:spPr>
        <p:txBody>
          <a:bodyPr vert="horz" wrap="square" lIns="0" tIns="12065" rIns="0" bIns="0" rtlCol="0">
            <a:spAutoFit/>
          </a:bodyPr>
          <a:lstStyle/>
          <a:p>
            <a:pPr marL="12700">
              <a:lnSpc>
                <a:spcPct val="100000"/>
              </a:lnSpc>
              <a:spcBef>
                <a:spcPts val="95"/>
              </a:spcBef>
            </a:pPr>
            <a:r>
              <a:rPr sz="2800" b="0" dirty="0">
                <a:latin typeface="等线"/>
                <a:cs typeface="等线"/>
              </a:rPr>
              <a:t>处理流：在节点流的基础上进行加工、转换、处</a:t>
            </a:r>
            <a:r>
              <a:rPr sz="2800" b="0" spc="-5" dirty="0">
                <a:latin typeface="等线"/>
                <a:cs typeface="等线"/>
              </a:rPr>
              <a:t>理</a:t>
            </a:r>
            <a:endParaRPr sz="2800">
              <a:latin typeface="等线"/>
              <a:cs typeface="等线"/>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3" name="object 3"/>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4" name="object 4"/>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5" name="object 5"/>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6" name="object 6"/>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7" name="object 7"/>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8" name="object 8"/>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9" name="object 9"/>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5" name="object 15"/>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6" name="object 16"/>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20" name="object 20"/>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1" name="object 21"/>
          <p:cNvSpPr txBox="1"/>
          <p:nvPr/>
        </p:nvSpPr>
        <p:spPr>
          <a:xfrm>
            <a:off x="690244" y="1510664"/>
            <a:ext cx="7366000" cy="3379470"/>
          </a:xfrm>
          <a:prstGeom prst="rect">
            <a:avLst/>
          </a:prstGeom>
        </p:spPr>
        <p:txBody>
          <a:bodyPr vert="horz" wrap="square" lIns="0" tIns="13335" rIns="0" bIns="0" rtlCol="0">
            <a:spAutoFit/>
          </a:bodyPr>
          <a:lstStyle/>
          <a:p>
            <a:pPr marL="620395" indent="-607695">
              <a:lnSpc>
                <a:spcPct val="100000"/>
              </a:lnSpc>
              <a:spcBef>
                <a:spcPts val="105"/>
              </a:spcBef>
              <a:buClr>
                <a:srgbClr val="000000"/>
              </a:buClr>
              <a:buSzPct val="75000"/>
              <a:buAutoNum type="arabicPlain"/>
              <a:tabLst>
                <a:tab pos="620395" algn="l"/>
              </a:tabLst>
            </a:pPr>
            <a:r>
              <a:rPr sz="2000" spc="-5" dirty="0">
                <a:solidFill>
                  <a:srgbClr val="FF0000"/>
                </a:solidFill>
                <a:latin typeface="微软雅黑"/>
                <a:cs typeface="微软雅黑"/>
              </a:rPr>
              <a:t>Buffering</a:t>
            </a:r>
            <a:r>
              <a:rPr sz="2000" dirty="0">
                <a:solidFill>
                  <a:srgbClr val="FF0000"/>
                </a:solidFill>
                <a:latin typeface="微软雅黑"/>
                <a:cs typeface="微软雅黑"/>
              </a:rPr>
              <a:t>缓冲流</a:t>
            </a:r>
            <a:r>
              <a:rPr sz="2000" dirty="0">
                <a:latin typeface="微软雅黑"/>
                <a:cs typeface="微软雅黑"/>
              </a:rPr>
              <a:t>：在读入或写出时，对数据进行缓</a:t>
            </a:r>
            <a:r>
              <a:rPr sz="2000" spc="5" dirty="0">
                <a:latin typeface="微软雅黑"/>
                <a:cs typeface="微软雅黑"/>
              </a:rPr>
              <a:t>存</a:t>
            </a:r>
            <a:endParaRPr sz="2000" dirty="0">
              <a:latin typeface="微软雅黑"/>
              <a:cs typeface="微软雅黑"/>
            </a:endParaRPr>
          </a:p>
          <a:p>
            <a:pPr marL="671195" indent="-658495">
              <a:lnSpc>
                <a:spcPct val="100000"/>
              </a:lnSpc>
              <a:buClr>
                <a:srgbClr val="000000"/>
              </a:buClr>
              <a:buSzPct val="95000"/>
              <a:buAutoNum type="arabicPlain"/>
              <a:tabLst>
                <a:tab pos="671195" algn="l"/>
              </a:tabLst>
            </a:pPr>
            <a:r>
              <a:rPr sz="2000" spc="-10" dirty="0">
                <a:solidFill>
                  <a:srgbClr val="FF0000"/>
                </a:solidFill>
                <a:latin typeface="微软雅黑"/>
                <a:cs typeface="微软雅黑"/>
              </a:rPr>
              <a:t>Filtering </a:t>
            </a:r>
            <a:r>
              <a:rPr sz="2000" dirty="0">
                <a:solidFill>
                  <a:srgbClr val="FF0000"/>
                </a:solidFill>
                <a:latin typeface="微软雅黑"/>
                <a:cs typeface="微软雅黑"/>
              </a:rPr>
              <a:t>滤流</a:t>
            </a:r>
            <a:r>
              <a:rPr sz="2000" dirty="0">
                <a:latin typeface="微软雅黑"/>
                <a:cs typeface="微软雅黑"/>
              </a:rPr>
              <a:t>：在数据进行读或写时进行过滤</a:t>
            </a:r>
            <a:r>
              <a:rPr sz="2000" spc="5" dirty="0">
                <a:latin typeface="微软雅黑"/>
                <a:cs typeface="微软雅黑"/>
              </a:rPr>
              <a:t>。</a:t>
            </a:r>
            <a:endParaRPr sz="2000" dirty="0">
              <a:latin typeface="微软雅黑"/>
              <a:cs typeface="微软雅黑"/>
            </a:endParaRPr>
          </a:p>
          <a:p>
            <a:pPr marL="12700" marR="5080">
              <a:lnSpc>
                <a:spcPct val="100000"/>
              </a:lnSpc>
              <a:buSzPct val="95000"/>
              <a:buAutoNum type="arabicPlain"/>
              <a:tabLst>
                <a:tab pos="671195" algn="l"/>
              </a:tabLst>
            </a:pPr>
            <a:r>
              <a:rPr sz="2000" dirty="0">
                <a:latin typeface="微软雅黑"/>
                <a:cs typeface="微软雅黑"/>
              </a:rPr>
              <a:t>Converting</a:t>
            </a:r>
            <a:r>
              <a:rPr sz="2000" spc="-15" dirty="0">
                <a:latin typeface="微软雅黑"/>
                <a:cs typeface="微软雅黑"/>
              </a:rPr>
              <a:t> </a:t>
            </a:r>
            <a:r>
              <a:rPr sz="2000" spc="-5" dirty="0">
                <a:latin typeface="微软雅黑"/>
                <a:cs typeface="微软雅黑"/>
              </a:rPr>
              <a:t>between</a:t>
            </a:r>
            <a:r>
              <a:rPr sz="2000" spc="-20" dirty="0">
                <a:latin typeface="微软雅黑"/>
                <a:cs typeface="微软雅黑"/>
              </a:rPr>
              <a:t> </a:t>
            </a:r>
            <a:r>
              <a:rPr sz="2000" spc="-5" dirty="0">
                <a:latin typeface="微软雅黑"/>
                <a:cs typeface="微软雅黑"/>
              </a:rPr>
              <a:t>Bytes</a:t>
            </a:r>
            <a:r>
              <a:rPr sz="2000" spc="-15" dirty="0">
                <a:latin typeface="微软雅黑"/>
                <a:cs typeface="微软雅黑"/>
              </a:rPr>
              <a:t> </a:t>
            </a:r>
            <a:r>
              <a:rPr sz="2000" spc="-5" dirty="0">
                <a:latin typeface="微软雅黑"/>
                <a:cs typeface="微软雅黑"/>
              </a:rPr>
              <a:t>and</a:t>
            </a:r>
            <a:r>
              <a:rPr sz="2000" spc="-15" dirty="0">
                <a:latin typeface="微软雅黑"/>
                <a:cs typeface="微软雅黑"/>
              </a:rPr>
              <a:t> </a:t>
            </a:r>
            <a:r>
              <a:rPr sz="2000" spc="-5" dirty="0">
                <a:latin typeface="微软雅黑"/>
                <a:cs typeface="微软雅黑"/>
              </a:rPr>
              <a:t>Characters</a:t>
            </a:r>
            <a:r>
              <a:rPr sz="2000" spc="-10" dirty="0">
                <a:latin typeface="微软雅黑"/>
                <a:cs typeface="微软雅黑"/>
              </a:rPr>
              <a:t> </a:t>
            </a:r>
            <a:r>
              <a:rPr sz="2000" dirty="0">
                <a:latin typeface="微软雅黑"/>
                <a:cs typeface="微软雅黑"/>
              </a:rPr>
              <a:t>转换流：按</a:t>
            </a:r>
            <a:r>
              <a:rPr sz="2000" spc="5" dirty="0">
                <a:latin typeface="微软雅黑"/>
                <a:cs typeface="微软雅黑"/>
              </a:rPr>
              <a:t>照 </a:t>
            </a:r>
            <a:r>
              <a:rPr sz="2000" dirty="0">
                <a:latin typeface="微软雅黑"/>
                <a:cs typeface="微软雅黑"/>
              </a:rPr>
              <a:t>一定的编码</a:t>
            </a:r>
            <a:r>
              <a:rPr sz="2000" spc="-5" dirty="0">
                <a:latin typeface="微软雅黑"/>
                <a:cs typeface="微软雅黑"/>
              </a:rPr>
              <a:t>/</a:t>
            </a:r>
            <a:r>
              <a:rPr sz="2000" dirty="0">
                <a:latin typeface="微软雅黑"/>
                <a:cs typeface="微软雅黑"/>
              </a:rPr>
              <a:t>解码标准将字节流转换为字符流，或进行反向转</a:t>
            </a:r>
            <a:r>
              <a:rPr sz="2000" spc="5" dirty="0">
                <a:latin typeface="微软雅黑"/>
                <a:cs typeface="微软雅黑"/>
              </a:rPr>
              <a:t>换 </a:t>
            </a:r>
            <a:r>
              <a:rPr sz="2000" spc="-15" dirty="0">
                <a:latin typeface="微软雅黑"/>
                <a:cs typeface="微软雅黑"/>
              </a:rPr>
              <a:t>InputStreamReader</a:t>
            </a:r>
            <a:r>
              <a:rPr sz="2000" dirty="0">
                <a:latin typeface="微软雅黑"/>
                <a:cs typeface="微软雅黑"/>
              </a:rPr>
              <a:t>、</a:t>
            </a:r>
            <a:r>
              <a:rPr sz="2000" spc="-15" dirty="0">
                <a:latin typeface="微软雅黑"/>
                <a:cs typeface="微软雅黑"/>
              </a:rPr>
              <a:t>OutputStreamWriter</a:t>
            </a:r>
            <a:r>
              <a:rPr sz="2000" spc="5" dirty="0">
                <a:latin typeface="微软雅黑"/>
                <a:cs typeface="微软雅黑"/>
              </a:rPr>
              <a:t>。</a:t>
            </a:r>
            <a:r>
              <a:rPr sz="2000" spc="-10" dirty="0">
                <a:latin typeface="微软雅黑"/>
                <a:cs typeface="微软雅黑"/>
              </a:rPr>
              <a:t> </a:t>
            </a:r>
            <a:r>
              <a:rPr sz="2000" dirty="0">
                <a:latin typeface="微软雅黑"/>
                <a:cs typeface="微软雅黑"/>
              </a:rPr>
              <a:t>-</a:t>
            </a:r>
          </a:p>
          <a:p>
            <a:pPr marL="12700" marR="619760">
              <a:lnSpc>
                <a:spcPct val="100000"/>
              </a:lnSpc>
              <a:buSzPct val="95000"/>
              <a:buAutoNum type="arabicPlain"/>
              <a:tabLst>
                <a:tab pos="671195" algn="l"/>
              </a:tabLst>
            </a:pPr>
            <a:r>
              <a:rPr sz="2000" spc="-5" dirty="0">
                <a:latin typeface="微软雅黑"/>
                <a:cs typeface="微软雅黑"/>
              </a:rPr>
              <a:t>Object</a:t>
            </a:r>
            <a:r>
              <a:rPr sz="2000" spc="-15" dirty="0">
                <a:latin typeface="微软雅黑"/>
                <a:cs typeface="微软雅黑"/>
              </a:rPr>
              <a:t> </a:t>
            </a:r>
            <a:r>
              <a:rPr sz="2000" spc="-5" dirty="0">
                <a:latin typeface="微软雅黑"/>
                <a:cs typeface="微软雅黑"/>
              </a:rPr>
              <a:t>Serialization</a:t>
            </a:r>
            <a:r>
              <a:rPr sz="2000" spc="-20" dirty="0">
                <a:latin typeface="微软雅黑"/>
                <a:cs typeface="微软雅黑"/>
              </a:rPr>
              <a:t> </a:t>
            </a:r>
            <a:r>
              <a:rPr sz="2000" dirty="0">
                <a:latin typeface="微软雅黑"/>
                <a:cs typeface="微软雅黑"/>
              </a:rPr>
              <a:t>对象</a:t>
            </a:r>
            <a:r>
              <a:rPr sz="2000" spc="5" dirty="0">
                <a:latin typeface="微软雅黑"/>
                <a:cs typeface="微软雅黑"/>
              </a:rPr>
              <a:t>流</a:t>
            </a:r>
            <a:r>
              <a:rPr sz="2000" spc="-15" dirty="0">
                <a:latin typeface="微软雅黑"/>
                <a:cs typeface="微软雅黑"/>
              </a:rPr>
              <a:t> </a:t>
            </a:r>
            <a:r>
              <a:rPr sz="2000" spc="-10" dirty="0">
                <a:latin typeface="微软雅黑"/>
                <a:cs typeface="微软雅黑"/>
              </a:rPr>
              <a:t>：ObjectInputStream</a:t>
            </a:r>
            <a:r>
              <a:rPr sz="2000" spc="5" dirty="0">
                <a:latin typeface="微软雅黑"/>
                <a:cs typeface="微软雅黑"/>
              </a:rPr>
              <a:t>、 </a:t>
            </a:r>
            <a:r>
              <a:rPr sz="2000" spc="-10" dirty="0">
                <a:latin typeface="微软雅黑"/>
                <a:cs typeface="微软雅黑"/>
              </a:rPr>
              <a:t>ObjectOutputStream</a:t>
            </a:r>
            <a:endParaRPr sz="2000" dirty="0">
              <a:latin typeface="微软雅黑"/>
              <a:cs typeface="微软雅黑"/>
            </a:endParaRPr>
          </a:p>
          <a:p>
            <a:pPr marL="12700" marR="1124585">
              <a:lnSpc>
                <a:spcPct val="100000"/>
              </a:lnSpc>
              <a:buSzPct val="95000"/>
              <a:buAutoNum type="arabicPlain"/>
              <a:tabLst>
                <a:tab pos="671195" algn="l"/>
              </a:tabLst>
            </a:pPr>
            <a:r>
              <a:rPr sz="2000" spc="-5" dirty="0">
                <a:latin typeface="微软雅黑"/>
                <a:cs typeface="微软雅黑"/>
              </a:rPr>
              <a:t>DataConversion</a:t>
            </a:r>
            <a:r>
              <a:rPr sz="2000" dirty="0">
                <a:latin typeface="微软雅黑"/>
                <a:cs typeface="微软雅黑"/>
              </a:rPr>
              <a:t>数据流</a:t>
            </a:r>
            <a:r>
              <a:rPr sz="2000" spc="5" dirty="0">
                <a:latin typeface="微软雅黑"/>
                <a:cs typeface="微软雅黑"/>
              </a:rPr>
              <a:t>：</a:t>
            </a:r>
            <a:r>
              <a:rPr sz="2000" spc="-85" dirty="0">
                <a:latin typeface="微软雅黑"/>
                <a:cs typeface="微软雅黑"/>
              </a:rPr>
              <a:t> </a:t>
            </a:r>
            <a:r>
              <a:rPr sz="2000" dirty="0">
                <a:latin typeface="微软雅黑"/>
                <a:cs typeface="微软雅黑"/>
              </a:rPr>
              <a:t>按基本数据类型读、</a:t>
            </a:r>
            <a:r>
              <a:rPr sz="2000" spc="5" dirty="0">
                <a:latin typeface="微软雅黑"/>
                <a:cs typeface="微软雅黑"/>
              </a:rPr>
              <a:t>写 </a:t>
            </a:r>
            <a:r>
              <a:rPr sz="2000" spc="-10" dirty="0">
                <a:latin typeface="微软雅黑"/>
                <a:cs typeface="微软雅黑"/>
              </a:rPr>
              <a:t>DataInputStream</a:t>
            </a:r>
            <a:r>
              <a:rPr sz="2000" dirty="0">
                <a:latin typeface="微软雅黑"/>
                <a:cs typeface="微软雅黑"/>
              </a:rPr>
              <a:t>、</a:t>
            </a:r>
            <a:r>
              <a:rPr sz="2000" spc="-10" dirty="0">
                <a:latin typeface="微软雅黑"/>
                <a:cs typeface="微软雅黑"/>
              </a:rPr>
              <a:t>DataOutputStream</a:t>
            </a:r>
            <a:r>
              <a:rPr sz="2000" spc="-15" dirty="0">
                <a:latin typeface="微软雅黑"/>
                <a:cs typeface="微软雅黑"/>
              </a:rPr>
              <a:t> </a:t>
            </a:r>
            <a:r>
              <a:rPr sz="2000" spc="5" dirty="0">
                <a:latin typeface="微软雅黑"/>
                <a:cs typeface="微软雅黑"/>
              </a:rPr>
              <a:t>。</a:t>
            </a:r>
            <a:r>
              <a:rPr sz="2000" spc="-15" dirty="0">
                <a:latin typeface="微软雅黑"/>
                <a:cs typeface="微软雅黑"/>
              </a:rPr>
              <a:t> </a:t>
            </a:r>
            <a:r>
              <a:rPr sz="2000" dirty="0">
                <a:latin typeface="微软雅黑"/>
                <a:cs typeface="微软雅黑"/>
              </a:rPr>
              <a:t>-</a:t>
            </a:r>
          </a:p>
          <a:p>
            <a:pPr marL="12700" marR="369570" indent="74930">
              <a:lnSpc>
                <a:spcPct val="100000"/>
              </a:lnSpc>
              <a:buClr>
                <a:srgbClr val="000000"/>
              </a:buClr>
              <a:buSzPct val="95000"/>
              <a:buAutoNum type="arabicPlain"/>
              <a:tabLst>
                <a:tab pos="746125" algn="l"/>
              </a:tabLst>
            </a:pPr>
            <a:r>
              <a:rPr sz="2000" spc="-5" dirty="0">
                <a:solidFill>
                  <a:srgbClr val="FF0000"/>
                </a:solidFill>
                <a:latin typeface="微软雅黑"/>
                <a:cs typeface="微软雅黑"/>
              </a:rPr>
              <a:t>Printing</a:t>
            </a:r>
            <a:r>
              <a:rPr sz="2000" dirty="0">
                <a:solidFill>
                  <a:srgbClr val="FF0000"/>
                </a:solidFill>
                <a:latin typeface="微软雅黑"/>
                <a:cs typeface="微软雅黑"/>
              </a:rPr>
              <a:t>打印流</a:t>
            </a:r>
            <a:r>
              <a:rPr sz="2000" spc="5" dirty="0">
                <a:latin typeface="微软雅黑"/>
                <a:cs typeface="微软雅黑"/>
              </a:rPr>
              <a:t>：</a:t>
            </a:r>
            <a:r>
              <a:rPr sz="2000" spc="-55" dirty="0">
                <a:latin typeface="微软雅黑"/>
                <a:cs typeface="微软雅黑"/>
              </a:rPr>
              <a:t> </a:t>
            </a:r>
            <a:r>
              <a:rPr sz="2000" dirty="0">
                <a:latin typeface="微软雅黑"/>
                <a:cs typeface="微软雅黑"/>
              </a:rPr>
              <a:t>包含方便的打印方</a:t>
            </a:r>
            <a:r>
              <a:rPr sz="2000" spc="5" dirty="0">
                <a:latin typeface="微软雅黑"/>
                <a:cs typeface="微软雅黑"/>
              </a:rPr>
              <a:t>法</a:t>
            </a:r>
            <a:r>
              <a:rPr sz="2000" spc="-55" dirty="0">
                <a:latin typeface="微软雅黑"/>
                <a:cs typeface="微软雅黑"/>
              </a:rPr>
              <a:t> </a:t>
            </a:r>
            <a:r>
              <a:rPr sz="2000" spc="-5" dirty="0">
                <a:latin typeface="微软雅黑"/>
                <a:cs typeface="微软雅黑"/>
              </a:rPr>
              <a:t>：PrintWriter</a:t>
            </a:r>
            <a:r>
              <a:rPr sz="2000" spc="5" dirty="0">
                <a:latin typeface="微软雅黑"/>
                <a:cs typeface="微软雅黑"/>
              </a:rPr>
              <a:t>、 </a:t>
            </a:r>
            <a:r>
              <a:rPr sz="2000" spc="-15" dirty="0">
                <a:latin typeface="微软雅黑"/>
                <a:cs typeface="微软雅黑"/>
              </a:rPr>
              <a:t>PrintStream</a:t>
            </a:r>
            <a:endParaRPr sz="2000" dirty="0">
              <a:latin typeface="微软雅黑"/>
              <a:cs typeface="微软雅黑"/>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3027" y="370700"/>
            <a:ext cx="2297430" cy="345440"/>
          </a:xfrm>
          <a:prstGeom prst="rect">
            <a:avLst/>
          </a:prstGeom>
        </p:spPr>
        <p:txBody>
          <a:bodyPr vert="horz" wrap="square" lIns="0" tIns="12700" rIns="0" bIns="0" rtlCol="0">
            <a:spAutoFit/>
          </a:bodyPr>
          <a:lstStyle/>
          <a:p>
            <a:pPr marL="12700">
              <a:lnSpc>
                <a:spcPct val="100000"/>
              </a:lnSpc>
              <a:spcBef>
                <a:spcPts val="100"/>
              </a:spcBef>
            </a:pPr>
            <a:r>
              <a:rPr sz="2100" spc="-5" dirty="0"/>
              <a:t>1</a:t>
            </a:r>
            <a:r>
              <a:rPr sz="2100" dirty="0"/>
              <a:t>.</a:t>
            </a:r>
            <a:r>
              <a:rPr sz="2100" spc="-5" dirty="0"/>
              <a:t>2</a:t>
            </a:r>
            <a:r>
              <a:rPr sz="2100" dirty="0"/>
              <a:t>字节流层次结构</a:t>
            </a:r>
            <a:endParaRPr sz="2100"/>
          </a:p>
        </p:txBody>
      </p:sp>
      <p:sp>
        <p:nvSpPr>
          <p:cNvPr id="3" name="object 3"/>
          <p:cNvSpPr/>
          <p:nvPr/>
        </p:nvSpPr>
        <p:spPr>
          <a:xfrm>
            <a:off x="899160" y="1107947"/>
            <a:ext cx="7129272" cy="494869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0700"/>
            <a:ext cx="2297430" cy="345440"/>
          </a:xfrm>
          <a:prstGeom prst="rect">
            <a:avLst/>
          </a:prstGeom>
        </p:spPr>
        <p:txBody>
          <a:bodyPr vert="horz" wrap="square" lIns="0" tIns="12700" rIns="0" bIns="0" rtlCol="0">
            <a:spAutoFit/>
          </a:bodyPr>
          <a:lstStyle/>
          <a:p>
            <a:pPr marL="12700">
              <a:lnSpc>
                <a:spcPct val="100000"/>
              </a:lnSpc>
              <a:spcBef>
                <a:spcPts val="100"/>
              </a:spcBef>
            </a:pPr>
            <a:r>
              <a:rPr sz="2100" spc="-5" dirty="0"/>
              <a:t>1</a:t>
            </a:r>
            <a:r>
              <a:rPr sz="2100" dirty="0"/>
              <a:t>.</a:t>
            </a:r>
            <a:r>
              <a:rPr sz="2100" spc="-5" dirty="0"/>
              <a:t>2</a:t>
            </a:r>
            <a:r>
              <a:rPr sz="2100" dirty="0"/>
              <a:t>字符流层次结构</a:t>
            </a:r>
            <a:endParaRPr sz="2100"/>
          </a:p>
        </p:txBody>
      </p:sp>
      <p:sp>
        <p:nvSpPr>
          <p:cNvPr id="3" name="object 3"/>
          <p:cNvSpPr/>
          <p:nvPr/>
        </p:nvSpPr>
        <p:spPr>
          <a:xfrm>
            <a:off x="1620011" y="1124711"/>
            <a:ext cx="5832347" cy="4676881"/>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18589"/>
            <a:ext cx="8044815" cy="1366520"/>
          </a:xfrm>
          <a:prstGeom prst="rect">
            <a:avLst/>
          </a:prstGeom>
        </p:spPr>
        <p:txBody>
          <a:bodyPr vert="horz" wrap="square" lIns="0" tIns="75565" rIns="0" bIns="0" rtlCol="0">
            <a:spAutoFit/>
          </a:bodyPr>
          <a:lstStyle/>
          <a:p>
            <a:pPr marL="184150" indent="-171450">
              <a:lnSpc>
                <a:spcPct val="100000"/>
              </a:lnSpc>
              <a:spcBef>
                <a:spcPts val="595"/>
              </a:spcBef>
              <a:buFont typeface="Arial"/>
              <a:buChar char="•"/>
              <a:tabLst>
                <a:tab pos="184150" algn="l"/>
              </a:tabLst>
            </a:pPr>
            <a:r>
              <a:rPr sz="2100" dirty="0">
                <a:latin typeface="微软雅黑"/>
                <a:cs typeface="微软雅黑"/>
              </a:rPr>
              <a:t>字节流以</a:t>
            </a:r>
            <a:r>
              <a:rPr sz="2100" spc="-5" dirty="0">
                <a:latin typeface="微软雅黑"/>
                <a:cs typeface="微软雅黑"/>
              </a:rPr>
              <a:t>8</a:t>
            </a:r>
            <a:r>
              <a:rPr sz="2100" dirty="0">
                <a:latin typeface="微软雅黑"/>
                <a:cs typeface="微软雅黑"/>
              </a:rPr>
              <a:t>位的字节为读写单位。</a:t>
            </a:r>
            <a:endParaRPr sz="2100">
              <a:latin typeface="微软雅黑"/>
              <a:cs typeface="微软雅黑"/>
            </a:endParaRPr>
          </a:p>
          <a:p>
            <a:pPr marL="184150" marR="5080" indent="-171450">
              <a:lnSpc>
                <a:spcPts val="2270"/>
              </a:lnSpc>
              <a:spcBef>
                <a:spcPts val="775"/>
              </a:spcBef>
              <a:buFont typeface="Arial"/>
              <a:buChar char="•"/>
              <a:tabLst>
                <a:tab pos="184150" algn="l"/>
              </a:tabLst>
            </a:pPr>
            <a:r>
              <a:rPr sz="2100" dirty="0">
                <a:latin typeface="微软雅黑"/>
                <a:cs typeface="微软雅黑"/>
              </a:rPr>
              <a:t>字节流体系：以抽象类</a:t>
            </a:r>
            <a:r>
              <a:rPr sz="2100" spc="-15" dirty="0">
                <a:latin typeface="微软雅黑"/>
                <a:cs typeface="微软雅黑"/>
              </a:rPr>
              <a:t>InputStream</a:t>
            </a:r>
            <a:r>
              <a:rPr sz="2100" dirty="0">
                <a:latin typeface="微软雅黑"/>
                <a:cs typeface="微软雅黑"/>
              </a:rPr>
              <a:t>和</a:t>
            </a:r>
            <a:r>
              <a:rPr sz="2100" spc="-15" dirty="0">
                <a:latin typeface="微软雅黑"/>
                <a:cs typeface="微软雅黑"/>
              </a:rPr>
              <a:t>OutputStream</a:t>
            </a:r>
            <a:r>
              <a:rPr sz="2100" dirty="0">
                <a:latin typeface="微软雅黑"/>
                <a:cs typeface="微软雅黑"/>
              </a:rPr>
              <a:t>作为顶层向 下包含了众多子类成员，可以按照输入流</a:t>
            </a:r>
            <a:r>
              <a:rPr sz="2100" spc="-5" dirty="0">
                <a:latin typeface="微软雅黑"/>
                <a:cs typeface="微软雅黑"/>
              </a:rPr>
              <a:t>/</a:t>
            </a:r>
            <a:r>
              <a:rPr sz="2100" dirty="0">
                <a:latin typeface="微软雅黑"/>
                <a:cs typeface="微软雅黑"/>
              </a:rPr>
              <a:t>输出流的方式完成各种基 本数据类型数据、数组、字符串、对象、文件等的读入和写出。</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10</a:t>
            </a:fld>
            <a:endParaRPr dirty="0"/>
          </a:p>
        </p:txBody>
      </p:sp>
      <p:sp>
        <p:nvSpPr>
          <p:cNvPr id="3" name="object 3"/>
          <p:cNvSpPr txBox="1">
            <a:spLocks noGrp="1"/>
          </p:cNvSpPr>
          <p:nvPr>
            <p:ph type="title"/>
          </p:nvPr>
        </p:nvSpPr>
        <p:spPr>
          <a:xfrm>
            <a:off x="1283652" y="340512"/>
            <a:ext cx="1309370" cy="391160"/>
          </a:xfrm>
          <a:prstGeom prst="rect">
            <a:avLst/>
          </a:prstGeom>
        </p:spPr>
        <p:txBody>
          <a:bodyPr vert="horz" wrap="square" lIns="0" tIns="12700" rIns="0" bIns="0" rtlCol="0">
            <a:spAutoFit/>
          </a:bodyPr>
          <a:lstStyle/>
          <a:p>
            <a:pPr marL="12700">
              <a:lnSpc>
                <a:spcPct val="100000"/>
              </a:lnSpc>
              <a:spcBef>
                <a:spcPts val="100"/>
              </a:spcBef>
              <a:tabLst>
                <a:tab pos="381635" algn="l"/>
              </a:tabLst>
            </a:pPr>
            <a:r>
              <a:rPr dirty="0"/>
              <a:t>2	字节流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76375"/>
            <a:ext cx="6221095" cy="767715"/>
          </a:xfrm>
          <a:prstGeom prst="rect">
            <a:avLst/>
          </a:prstGeom>
        </p:spPr>
        <p:txBody>
          <a:bodyPr vert="horz" wrap="square" lIns="0" tIns="12700" rIns="0" bIns="0" rtlCol="0">
            <a:spAutoFit/>
          </a:bodyPr>
          <a:lstStyle/>
          <a:p>
            <a:pPr marL="12700">
              <a:lnSpc>
                <a:spcPct val="100000"/>
              </a:lnSpc>
              <a:spcBef>
                <a:spcPts val="100"/>
              </a:spcBef>
            </a:pPr>
            <a:r>
              <a:rPr sz="2400" spc="-5" dirty="0">
                <a:latin typeface="微软雅黑"/>
                <a:cs typeface="微软雅黑"/>
              </a:rPr>
              <a:t>1</a:t>
            </a:r>
            <a:r>
              <a:rPr sz="2400" dirty="0">
                <a:latin typeface="微软雅黑"/>
                <a:cs typeface="微软雅黑"/>
              </a:rPr>
              <a:t>、</a:t>
            </a:r>
            <a:r>
              <a:rPr sz="2400" spc="-15" dirty="0">
                <a:latin typeface="微软雅黑"/>
                <a:cs typeface="微软雅黑"/>
              </a:rPr>
              <a:t>InputStream</a:t>
            </a:r>
            <a:r>
              <a:rPr sz="2400" dirty="0">
                <a:latin typeface="微软雅黑"/>
                <a:cs typeface="微软雅黑"/>
              </a:rPr>
              <a:t>类</a:t>
            </a:r>
            <a:endParaRPr sz="2400">
              <a:latin typeface="微软雅黑"/>
              <a:cs typeface="微软雅黑"/>
            </a:endParaRPr>
          </a:p>
          <a:p>
            <a:pPr marL="417195" indent="-171450">
              <a:lnSpc>
                <a:spcPct val="100000"/>
              </a:lnSpc>
              <a:spcBef>
                <a:spcPts val="85"/>
              </a:spcBef>
              <a:buFont typeface="Arial"/>
              <a:buChar char="•"/>
              <a:tabLst>
                <a:tab pos="417195" algn="l"/>
              </a:tabLst>
            </a:pPr>
            <a:r>
              <a:rPr sz="2400" dirty="0">
                <a:latin typeface="微软雅黑"/>
                <a:cs typeface="微软雅黑"/>
              </a:rPr>
              <a:t>用来表示那些从不同数据源产生输入的类。</a:t>
            </a:r>
            <a:endParaRPr sz="2400">
              <a:latin typeface="微软雅黑"/>
              <a:cs typeface="微软雅黑"/>
            </a:endParaRPr>
          </a:p>
        </p:txBody>
      </p:sp>
      <p:sp>
        <p:nvSpPr>
          <p:cNvPr id="3" name="object 3"/>
          <p:cNvSpPr txBox="1">
            <a:spLocks noGrp="1"/>
          </p:cNvSpPr>
          <p:nvPr>
            <p:ph type="title"/>
          </p:nvPr>
        </p:nvSpPr>
        <p:spPr>
          <a:xfrm>
            <a:off x="1283969" y="340359"/>
            <a:ext cx="5977255" cy="391160"/>
          </a:xfrm>
          <a:prstGeom prst="rect">
            <a:avLst/>
          </a:prstGeom>
        </p:spPr>
        <p:txBody>
          <a:bodyPr vert="horz" wrap="square" lIns="0" tIns="12700" rIns="0" bIns="0" rtlCol="0">
            <a:spAutoFit/>
          </a:bodyPr>
          <a:lstStyle/>
          <a:p>
            <a:pPr marL="12700">
              <a:lnSpc>
                <a:spcPct val="100000"/>
              </a:lnSpc>
              <a:spcBef>
                <a:spcPts val="100"/>
              </a:spcBef>
              <a:tabLst>
                <a:tab pos="656590" algn="l"/>
              </a:tabLst>
            </a:pPr>
            <a:r>
              <a:rPr spc="-5" dirty="0"/>
              <a:t>2.1	</a:t>
            </a:r>
            <a:r>
              <a:rPr dirty="0"/>
              <a:t>抽象类</a:t>
            </a:r>
            <a:r>
              <a:rPr spc="-15" dirty="0"/>
              <a:t>InputStream</a:t>
            </a:r>
            <a:r>
              <a:rPr dirty="0"/>
              <a:t>和</a:t>
            </a:r>
            <a:r>
              <a:rPr spc="-10" dirty="0"/>
              <a:t>OutputStream</a:t>
            </a:r>
          </a:p>
        </p:txBody>
      </p:sp>
      <p:sp>
        <p:nvSpPr>
          <p:cNvPr id="4" name="object 4"/>
          <p:cNvSpPr/>
          <p:nvPr/>
        </p:nvSpPr>
        <p:spPr>
          <a:xfrm>
            <a:off x="899160" y="2478023"/>
            <a:ext cx="7129272" cy="3591499"/>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5500" y="1470660"/>
            <a:ext cx="7078980" cy="2663190"/>
          </a:xfrm>
          <a:prstGeom prst="rect">
            <a:avLst/>
          </a:prstGeom>
        </p:spPr>
        <p:txBody>
          <a:bodyPr vert="horz" wrap="square" lIns="0" tIns="12065" rIns="0" bIns="0" rtlCol="0">
            <a:spAutoFit/>
          </a:bodyPr>
          <a:lstStyle/>
          <a:p>
            <a:pPr marL="184150" indent="-171450">
              <a:lnSpc>
                <a:spcPct val="100000"/>
              </a:lnSpc>
              <a:spcBef>
                <a:spcPts val="95"/>
              </a:spcBef>
              <a:buFont typeface="Arial"/>
              <a:buChar char="•"/>
              <a:tabLst>
                <a:tab pos="184150" algn="l"/>
              </a:tabLst>
            </a:pPr>
            <a:r>
              <a:rPr sz="2800" spc="-15" dirty="0">
                <a:latin typeface="微软雅黑"/>
                <a:cs typeface="微软雅黑"/>
              </a:rPr>
              <a:t>InputStream</a:t>
            </a:r>
            <a:r>
              <a:rPr sz="2800" dirty="0">
                <a:latin typeface="微软雅黑"/>
                <a:cs typeface="微软雅黑"/>
              </a:rPr>
              <a:t>中的方</a:t>
            </a:r>
            <a:r>
              <a:rPr sz="2800" spc="-5" dirty="0">
                <a:latin typeface="微软雅黑"/>
                <a:cs typeface="微软雅黑"/>
              </a:rPr>
              <a:t>法</a:t>
            </a:r>
            <a:endParaRPr sz="2800">
              <a:latin typeface="微软雅黑"/>
              <a:cs typeface="微软雅黑"/>
            </a:endParaRPr>
          </a:p>
          <a:p>
            <a:pPr marL="527050" lvl="1" indent="-171450">
              <a:lnSpc>
                <a:spcPct val="100000"/>
              </a:lnSpc>
              <a:spcBef>
                <a:spcPts val="85"/>
              </a:spcBef>
              <a:buFont typeface="Arial"/>
              <a:buChar char="•"/>
              <a:tabLst>
                <a:tab pos="527050" algn="l"/>
              </a:tabLst>
            </a:pPr>
            <a:r>
              <a:rPr sz="2400" dirty="0">
                <a:latin typeface="微软雅黑"/>
                <a:cs typeface="微软雅黑"/>
              </a:rPr>
              <a:t>int</a:t>
            </a:r>
            <a:r>
              <a:rPr sz="2400" spc="-5" dirty="0">
                <a:latin typeface="微软雅黑"/>
                <a:cs typeface="微软雅黑"/>
              </a:rPr>
              <a:t> </a:t>
            </a:r>
            <a:r>
              <a:rPr sz="2400" spc="-10" dirty="0">
                <a:latin typeface="微软雅黑"/>
                <a:cs typeface="微软雅黑"/>
              </a:rPr>
              <a:t>read()</a:t>
            </a:r>
            <a:endParaRPr sz="2400">
              <a:latin typeface="微软雅黑"/>
              <a:cs typeface="微软雅黑"/>
            </a:endParaRPr>
          </a:p>
          <a:p>
            <a:pPr marL="527050" lvl="1" indent="-171450">
              <a:lnSpc>
                <a:spcPct val="100000"/>
              </a:lnSpc>
              <a:spcBef>
                <a:spcPts val="85"/>
              </a:spcBef>
              <a:buFont typeface="Arial"/>
              <a:buChar char="•"/>
              <a:tabLst>
                <a:tab pos="527050" algn="l"/>
              </a:tabLst>
            </a:pPr>
            <a:r>
              <a:rPr sz="2400" dirty="0">
                <a:latin typeface="微软雅黑"/>
                <a:cs typeface="微软雅黑"/>
              </a:rPr>
              <a:t>int </a:t>
            </a:r>
            <a:r>
              <a:rPr sz="2400" spc="-10" dirty="0">
                <a:latin typeface="微软雅黑"/>
                <a:cs typeface="微软雅黑"/>
              </a:rPr>
              <a:t>read(byte[] </a:t>
            </a:r>
            <a:r>
              <a:rPr sz="2400" dirty="0">
                <a:latin typeface="微软雅黑"/>
                <a:cs typeface="微软雅黑"/>
              </a:rPr>
              <a:t>b)</a:t>
            </a:r>
            <a:endParaRPr sz="2400">
              <a:latin typeface="微软雅黑"/>
              <a:cs typeface="微软雅黑"/>
            </a:endParaRPr>
          </a:p>
          <a:p>
            <a:pPr marL="527050" lvl="1" indent="-171450">
              <a:lnSpc>
                <a:spcPct val="100000"/>
              </a:lnSpc>
              <a:spcBef>
                <a:spcPts val="85"/>
              </a:spcBef>
              <a:buFont typeface="Arial"/>
              <a:buChar char="•"/>
              <a:tabLst>
                <a:tab pos="527050" algn="l"/>
              </a:tabLst>
            </a:pPr>
            <a:r>
              <a:rPr sz="2400" dirty="0">
                <a:latin typeface="微软雅黑"/>
                <a:cs typeface="微软雅黑"/>
              </a:rPr>
              <a:t>int </a:t>
            </a:r>
            <a:r>
              <a:rPr sz="2400" spc="-10" dirty="0">
                <a:latin typeface="微软雅黑"/>
                <a:cs typeface="微软雅黑"/>
              </a:rPr>
              <a:t>read(byte[] </a:t>
            </a:r>
            <a:r>
              <a:rPr sz="2400" dirty="0">
                <a:latin typeface="微软雅黑"/>
                <a:cs typeface="微软雅黑"/>
              </a:rPr>
              <a:t>b, int </a:t>
            </a:r>
            <a:r>
              <a:rPr sz="2400" spc="-60" dirty="0">
                <a:latin typeface="微软雅黑"/>
                <a:cs typeface="微软雅黑"/>
              </a:rPr>
              <a:t>off, </a:t>
            </a:r>
            <a:r>
              <a:rPr sz="2400" dirty="0">
                <a:latin typeface="微软雅黑"/>
                <a:cs typeface="微软雅黑"/>
              </a:rPr>
              <a:t>int</a:t>
            </a:r>
            <a:r>
              <a:rPr sz="2400" spc="50" dirty="0">
                <a:latin typeface="微软雅黑"/>
                <a:cs typeface="微软雅黑"/>
              </a:rPr>
              <a:t> </a:t>
            </a:r>
            <a:r>
              <a:rPr sz="2400" spc="-5" dirty="0">
                <a:latin typeface="微软雅黑"/>
                <a:cs typeface="微软雅黑"/>
              </a:rPr>
              <a:t>len)</a:t>
            </a:r>
            <a:endParaRPr sz="2400">
              <a:latin typeface="微软雅黑"/>
              <a:cs typeface="微软雅黑"/>
            </a:endParaRPr>
          </a:p>
          <a:p>
            <a:pPr marL="527050" lvl="1" indent="-171450">
              <a:lnSpc>
                <a:spcPct val="100000"/>
              </a:lnSpc>
              <a:spcBef>
                <a:spcPts val="85"/>
              </a:spcBef>
              <a:buFont typeface="Arial"/>
              <a:buChar char="•"/>
              <a:tabLst>
                <a:tab pos="527050" algn="l"/>
              </a:tabLst>
            </a:pPr>
            <a:r>
              <a:rPr sz="2400" dirty="0">
                <a:latin typeface="微软雅黑"/>
                <a:cs typeface="微软雅黑"/>
              </a:rPr>
              <a:t>int</a:t>
            </a:r>
            <a:r>
              <a:rPr sz="2400" spc="-5" dirty="0">
                <a:latin typeface="微软雅黑"/>
                <a:cs typeface="微软雅黑"/>
              </a:rPr>
              <a:t> </a:t>
            </a:r>
            <a:r>
              <a:rPr sz="2400" spc="-10" dirty="0">
                <a:latin typeface="微软雅黑"/>
                <a:cs typeface="微软雅黑"/>
              </a:rPr>
              <a:t>available()：</a:t>
            </a:r>
            <a:r>
              <a:rPr sz="2400" dirty="0">
                <a:latin typeface="微软雅黑"/>
                <a:cs typeface="微软雅黑"/>
              </a:rPr>
              <a:t>返回流中可用字节数。</a:t>
            </a:r>
            <a:endParaRPr sz="2400">
              <a:latin typeface="微软雅黑"/>
              <a:cs typeface="微软雅黑"/>
            </a:endParaRPr>
          </a:p>
          <a:p>
            <a:pPr marL="527050" marR="5080" lvl="1" indent="-171450">
              <a:lnSpc>
                <a:spcPts val="2590"/>
              </a:lnSpc>
              <a:spcBef>
                <a:spcPts val="409"/>
              </a:spcBef>
              <a:buFont typeface="Arial"/>
              <a:buChar char="•"/>
              <a:tabLst>
                <a:tab pos="527050" algn="l"/>
              </a:tabLst>
            </a:pPr>
            <a:r>
              <a:rPr sz="2400" spc="-10" dirty="0">
                <a:latin typeface="微软雅黑"/>
                <a:cs typeface="微软雅黑"/>
              </a:rPr>
              <a:t>void</a:t>
            </a:r>
            <a:r>
              <a:rPr sz="2400" spc="-75" dirty="0">
                <a:latin typeface="微软雅黑"/>
                <a:cs typeface="微软雅黑"/>
              </a:rPr>
              <a:t> </a:t>
            </a:r>
            <a:r>
              <a:rPr sz="2400" spc="-5" dirty="0">
                <a:latin typeface="微软雅黑"/>
                <a:cs typeface="微软雅黑"/>
              </a:rPr>
              <a:t>close()：</a:t>
            </a:r>
            <a:r>
              <a:rPr sz="2400" dirty="0">
                <a:latin typeface="微软雅黑"/>
                <a:cs typeface="微软雅黑"/>
              </a:rPr>
              <a:t>关闭输入流，并释放与该流关联的 所有系统资源。</a:t>
            </a:r>
            <a:endParaRPr sz="24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12</a:t>
            </a:fld>
            <a:endParaRPr dirty="0"/>
          </a:p>
        </p:txBody>
      </p:sp>
      <p:sp>
        <p:nvSpPr>
          <p:cNvPr id="3" name="object 3"/>
          <p:cNvSpPr txBox="1">
            <a:spLocks noGrp="1"/>
          </p:cNvSpPr>
          <p:nvPr>
            <p:ph type="title"/>
          </p:nvPr>
        </p:nvSpPr>
        <p:spPr>
          <a:xfrm>
            <a:off x="1265872" y="184937"/>
            <a:ext cx="5977255" cy="391160"/>
          </a:xfrm>
          <a:prstGeom prst="rect">
            <a:avLst/>
          </a:prstGeom>
        </p:spPr>
        <p:txBody>
          <a:bodyPr vert="horz" wrap="square" lIns="0" tIns="12700" rIns="0" bIns="0" rtlCol="0">
            <a:spAutoFit/>
          </a:bodyPr>
          <a:lstStyle/>
          <a:p>
            <a:pPr marL="12700">
              <a:lnSpc>
                <a:spcPct val="100000"/>
              </a:lnSpc>
              <a:spcBef>
                <a:spcPts val="100"/>
              </a:spcBef>
              <a:tabLst>
                <a:tab pos="656590" algn="l"/>
              </a:tabLst>
            </a:pPr>
            <a:r>
              <a:rPr spc="-5" dirty="0"/>
              <a:t>2.1	</a:t>
            </a:r>
            <a:r>
              <a:rPr dirty="0"/>
              <a:t>抽象类</a:t>
            </a:r>
            <a:r>
              <a:rPr spc="-15" dirty="0"/>
              <a:t>InputStream</a:t>
            </a:r>
            <a:r>
              <a:rPr dirty="0"/>
              <a:t>和</a:t>
            </a:r>
            <a:r>
              <a:rPr spc="-10" dirty="0"/>
              <a:t>OutputStream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1640" y="1470660"/>
            <a:ext cx="7650480" cy="2663190"/>
          </a:xfrm>
          <a:prstGeom prst="rect">
            <a:avLst/>
          </a:prstGeom>
        </p:spPr>
        <p:txBody>
          <a:bodyPr vert="horz" wrap="square" lIns="0" tIns="12065" rIns="0" bIns="0" rtlCol="0">
            <a:spAutoFit/>
          </a:bodyPr>
          <a:lstStyle/>
          <a:p>
            <a:pPr marL="184150" indent="-171450">
              <a:lnSpc>
                <a:spcPct val="100000"/>
              </a:lnSpc>
              <a:spcBef>
                <a:spcPts val="95"/>
              </a:spcBef>
              <a:buFont typeface="Arial"/>
              <a:buChar char="•"/>
              <a:tabLst>
                <a:tab pos="184150" algn="l"/>
              </a:tabLst>
            </a:pPr>
            <a:r>
              <a:rPr sz="2800" spc="-15" dirty="0">
                <a:latin typeface="微软雅黑"/>
                <a:cs typeface="微软雅黑"/>
              </a:rPr>
              <a:t>OutputStream</a:t>
            </a:r>
            <a:r>
              <a:rPr sz="2800" dirty="0">
                <a:latin typeface="微软雅黑"/>
                <a:cs typeface="微软雅黑"/>
              </a:rPr>
              <a:t>类中的方</a:t>
            </a:r>
            <a:r>
              <a:rPr sz="2800" spc="-5" dirty="0">
                <a:latin typeface="微软雅黑"/>
                <a:cs typeface="微软雅黑"/>
              </a:rPr>
              <a:t>法</a:t>
            </a:r>
            <a:endParaRPr sz="2800">
              <a:latin typeface="微软雅黑"/>
              <a:cs typeface="微软雅黑"/>
            </a:endParaRPr>
          </a:p>
          <a:p>
            <a:pPr marL="527050" lvl="1" indent="-171450">
              <a:lnSpc>
                <a:spcPct val="100000"/>
              </a:lnSpc>
              <a:spcBef>
                <a:spcPts val="85"/>
              </a:spcBef>
              <a:buFont typeface="Arial"/>
              <a:buChar char="•"/>
              <a:tabLst>
                <a:tab pos="527050" algn="l"/>
              </a:tabLst>
            </a:pPr>
            <a:r>
              <a:rPr sz="2400" spc="-5" dirty="0">
                <a:latin typeface="微软雅黑"/>
                <a:cs typeface="微软雅黑"/>
              </a:rPr>
              <a:t>write(int </a:t>
            </a:r>
            <a:r>
              <a:rPr sz="2400" dirty="0">
                <a:latin typeface="微软雅黑"/>
                <a:cs typeface="微软雅黑"/>
              </a:rPr>
              <a:t>b)</a:t>
            </a:r>
            <a:endParaRPr sz="2400">
              <a:latin typeface="微软雅黑"/>
              <a:cs typeface="微软雅黑"/>
            </a:endParaRPr>
          </a:p>
          <a:p>
            <a:pPr marL="527050" lvl="1" indent="-171450">
              <a:lnSpc>
                <a:spcPct val="100000"/>
              </a:lnSpc>
              <a:spcBef>
                <a:spcPts val="85"/>
              </a:spcBef>
              <a:buFont typeface="Arial"/>
              <a:buChar char="•"/>
              <a:tabLst>
                <a:tab pos="527050" algn="l"/>
              </a:tabLst>
            </a:pPr>
            <a:r>
              <a:rPr sz="2400" spc="-10" dirty="0">
                <a:latin typeface="微软雅黑"/>
                <a:cs typeface="微软雅黑"/>
              </a:rPr>
              <a:t>write(byte[] </a:t>
            </a:r>
            <a:r>
              <a:rPr sz="2400" dirty="0">
                <a:latin typeface="微软雅黑"/>
                <a:cs typeface="微软雅黑"/>
              </a:rPr>
              <a:t>b)</a:t>
            </a:r>
            <a:endParaRPr sz="2400">
              <a:latin typeface="微软雅黑"/>
              <a:cs typeface="微软雅黑"/>
            </a:endParaRPr>
          </a:p>
          <a:p>
            <a:pPr marL="527050" lvl="1" indent="-171450">
              <a:lnSpc>
                <a:spcPct val="100000"/>
              </a:lnSpc>
              <a:spcBef>
                <a:spcPts val="85"/>
              </a:spcBef>
              <a:buFont typeface="Arial"/>
              <a:buChar char="•"/>
              <a:tabLst>
                <a:tab pos="527050" algn="l"/>
              </a:tabLst>
            </a:pPr>
            <a:r>
              <a:rPr sz="2400" spc="-10" dirty="0">
                <a:latin typeface="微软雅黑"/>
                <a:cs typeface="微软雅黑"/>
              </a:rPr>
              <a:t>write(byte[] </a:t>
            </a:r>
            <a:r>
              <a:rPr sz="2400" dirty="0">
                <a:latin typeface="微软雅黑"/>
                <a:cs typeface="微软雅黑"/>
              </a:rPr>
              <a:t>b, int </a:t>
            </a:r>
            <a:r>
              <a:rPr sz="2400" spc="-60" dirty="0">
                <a:latin typeface="微软雅黑"/>
                <a:cs typeface="微软雅黑"/>
              </a:rPr>
              <a:t>off, </a:t>
            </a:r>
            <a:r>
              <a:rPr sz="2400" dirty="0">
                <a:latin typeface="微软雅黑"/>
                <a:cs typeface="微软雅黑"/>
              </a:rPr>
              <a:t>int</a:t>
            </a:r>
            <a:r>
              <a:rPr sz="2400" spc="60" dirty="0">
                <a:latin typeface="微软雅黑"/>
                <a:cs typeface="微软雅黑"/>
              </a:rPr>
              <a:t> </a:t>
            </a:r>
            <a:r>
              <a:rPr sz="2400" spc="-5" dirty="0">
                <a:latin typeface="微软雅黑"/>
                <a:cs typeface="微软雅黑"/>
              </a:rPr>
              <a:t>len)</a:t>
            </a:r>
            <a:endParaRPr sz="2400">
              <a:latin typeface="微软雅黑"/>
              <a:cs typeface="微软雅黑"/>
            </a:endParaRPr>
          </a:p>
          <a:p>
            <a:pPr marL="527050" lvl="1" indent="-171450">
              <a:lnSpc>
                <a:spcPct val="100000"/>
              </a:lnSpc>
              <a:spcBef>
                <a:spcPts val="85"/>
              </a:spcBef>
              <a:buFont typeface="Arial"/>
              <a:buChar char="•"/>
              <a:tabLst>
                <a:tab pos="527050" algn="l"/>
              </a:tabLst>
            </a:pPr>
            <a:r>
              <a:rPr sz="2400" spc="-10" dirty="0">
                <a:latin typeface="微软雅黑"/>
                <a:cs typeface="微软雅黑"/>
              </a:rPr>
              <a:t>void </a:t>
            </a:r>
            <a:r>
              <a:rPr sz="2400" spc="-5" dirty="0">
                <a:latin typeface="微软雅黑"/>
                <a:cs typeface="微软雅黑"/>
              </a:rPr>
              <a:t>close()：</a:t>
            </a:r>
            <a:r>
              <a:rPr sz="2400" dirty="0">
                <a:latin typeface="微软雅黑"/>
                <a:cs typeface="微软雅黑"/>
              </a:rPr>
              <a:t>关闭输出流。</a:t>
            </a:r>
            <a:endParaRPr sz="2400">
              <a:latin typeface="微软雅黑"/>
              <a:cs typeface="微软雅黑"/>
            </a:endParaRPr>
          </a:p>
          <a:p>
            <a:pPr marL="527050" marR="5080" lvl="1" indent="-171450">
              <a:lnSpc>
                <a:spcPts val="2590"/>
              </a:lnSpc>
              <a:spcBef>
                <a:spcPts val="409"/>
              </a:spcBef>
              <a:buFont typeface="Arial"/>
              <a:buChar char="•"/>
              <a:tabLst>
                <a:tab pos="527050" algn="l"/>
              </a:tabLst>
            </a:pPr>
            <a:r>
              <a:rPr sz="2400" spc="-10" dirty="0">
                <a:solidFill>
                  <a:srgbClr val="FF0000"/>
                </a:solidFill>
                <a:latin typeface="微软雅黑"/>
                <a:cs typeface="微软雅黑"/>
              </a:rPr>
              <a:t>void</a:t>
            </a:r>
            <a:r>
              <a:rPr sz="2400" spc="-70" dirty="0">
                <a:solidFill>
                  <a:srgbClr val="FF0000"/>
                </a:solidFill>
                <a:latin typeface="微软雅黑"/>
                <a:cs typeface="微软雅黑"/>
              </a:rPr>
              <a:t> </a:t>
            </a:r>
            <a:r>
              <a:rPr sz="2400" spc="-5" dirty="0">
                <a:solidFill>
                  <a:srgbClr val="FF0000"/>
                </a:solidFill>
                <a:latin typeface="微软雅黑"/>
                <a:cs typeface="微软雅黑"/>
              </a:rPr>
              <a:t>flush()</a:t>
            </a:r>
            <a:r>
              <a:rPr sz="2400" spc="-5" dirty="0">
                <a:latin typeface="微软雅黑"/>
                <a:cs typeface="微软雅黑"/>
              </a:rPr>
              <a:t>：</a:t>
            </a:r>
            <a:r>
              <a:rPr sz="2400" dirty="0">
                <a:latin typeface="微软雅黑"/>
                <a:cs typeface="微软雅黑"/>
              </a:rPr>
              <a:t>强制刷新输出缓冲区内容，将输出缓冲 区内容写入流。</a:t>
            </a:r>
            <a:endParaRPr sz="24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13</a:t>
            </a:fld>
            <a:endParaRPr dirty="0"/>
          </a:p>
        </p:txBody>
      </p:sp>
      <p:sp>
        <p:nvSpPr>
          <p:cNvPr id="3" name="object 3"/>
          <p:cNvSpPr txBox="1">
            <a:spLocks noGrp="1"/>
          </p:cNvSpPr>
          <p:nvPr>
            <p:ph type="title"/>
          </p:nvPr>
        </p:nvSpPr>
        <p:spPr>
          <a:xfrm>
            <a:off x="1283652" y="340512"/>
            <a:ext cx="5977255" cy="391160"/>
          </a:xfrm>
          <a:prstGeom prst="rect">
            <a:avLst/>
          </a:prstGeom>
        </p:spPr>
        <p:txBody>
          <a:bodyPr vert="horz" wrap="square" lIns="0" tIns="12700" rIns="0" bIns="0" rtlCol="0">
            <a:spAutoFit/>
          </a:bodyPr>
          <a:lstStyle/>
          <a:p>
            <a:pPr marL="12700">
              <a:lnSpc>
                <a:spcPct val="100000"/>
              </a:lnSpc>
              <a:spcBef>
                <a:spcPts val="100"/>
              </a:spcBef>
              <a:tabLst>
                <a:tab pos="656590" algn="l"/>
              </a:tabLst>
            </a:pPr>
            <a:r>
              <a:rPr spc="-5" dirty="0"/>
              <a:t>2.1	</a:t>
            </a:r>
            <a:r>
              <a:rPr dirty="0"/>
              <a:t>抽象类</a:t>
            </a:r>
            <a:r>
              <a:rPr spc="-15" dirty="0"/>
              <a:t>InputStream</a:t>
            </a:r>
            <a:r>
              <a:rPr dirty="0"/>
              <a:t>和</a:t>
            </a:r>
            <a:r>
              <a:rPr spc="-10" dirty="0"/>
              <a:t>OutputStream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8612"/>
            <a:ext cx="5866130" cy="331470"/>
          </a:xfrm>
          <a:prstGeom prst="rect">
            <a:avLst/>
          </a:prstGeom>
        </p:spPr>
        <p:txBody>
          <a:bodyPr vert="horz" wrap="square" lIns="0" tIns="13335" rIns="0" bIns="0" rtlCol="0">
            <a:spAutoFit/>
          </a:bodyPr>
          <a:lstStyle/>
          <a:p>
            <a:pPr marL="12700">
              <a:lnSpc>
                <a:spcPct val="100000"/>
              </a:lnSpc>
              <a:spcBef>
                <a:spcPts val="105"/>
              </a:spcBef>
              <a:tabLst>
                <a:tab pos="549275" algn="l"/>
              </a:tabLst>
            </a:pPr>
            <a:r>
              <a:rPr sz="2000" spc="-5" dirty="0"/>
              <a:t>2.2	</a:t>
            </a:r>
            <a:r>
              <a:rPr sz="2000" dirty="0"/>
              <a:t>文件流</a:t>
            </a:r>
            <a:r>
              <a:rPr sz="2000" spc="-10" dirty="0"/>
              <a:t>FileInputStream</a:t>
            </a:r>
            <a:r>
              <a:rPr sz="2000" dirty="0"/>
              <a:t>和</a:t>
            </a:r>
            <a:r>
              <a:rPr sz="2000" spc="-10" dirty="0"/>
              <a:t>FileOutputStream</a:t>
            </a:r>
            <a:endParaRPr sz="2000"/>
          </a:p>
        </p:txBody>
      </p:sp>
      <p:sp>
        <p:nvSpPr>
          <p:cNvPr id="3" name="object 3"/>
          <p:cNvSpPr/>
          <p:nvPr/>
        </p:nvSpPr>
        <p:spPr>
          <a:xfrm>
            <a:off x="1548383" y="4492752"/>
            <a:ext cx="1595628" cy="1749552"/>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38175" y="1476375"/>
            <a:ext cx="7774940" cy="4156075"/>
          </a:xfrm>
          <a:prstGeom prst="rect">
            <a:avLst/>
          </a:prstGeom>
        </p:spPr>
        <p:txBody>
          <a:bodyPr vert="horz" wrap="square" lIns="0" tIns="53975" rIns="0" bIns="0" rtlCol="0">
            <a:spAutoFit/>
          </a:bodyPr>
          <a:lstStyle/>
          <a:p>
            <a:pPr marL="184150" marR="295910" indent="-171450">
              <a:lnSpc>
                <a:spcPts val="2590"/>
              </a:lnSpc>
              <a:spcBef>
                <a:spcPts val="425"/>
              </a:spcBef>
              <a:buFont typeface="Arial"/>
              <a:buChar char="•"/>
              <a:tabLst>
                <a:tab pos="184150" algn="l"/>
              </a:tabLst>
            </a:pPr>
            <a:r>
              <a:rPr sz="2400" dirty="0">
                <a:latin typeface="微软雅黑"/>
                <a:cs typeface="微软雅黑"/>
              </a:rPr>
              <a:t>Fil</a:t>
            </a:r>
            <a:r>
              <a:rPr sz="2400" spc="-5" dirty="0">
                <a:latin typeface="微软雅黑"/>
                <a:cs typeface="微软雅黑"/>
              </a:rPr>
              <a:t>eI</a:t>
            </a:r>
            <a:r>
              <a:rPr sz="2400" dirty="0">
                <a:latin typeface="微软雅黑"/>
                <a:cs typeface="微软雅黑"/>
              </a:rPr>
              <a:t>nput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m和Fil</a:t>
            </a:r>
            <a:r>
              <a:rPr sz="2400" spc="-5" dirty="0">
                <a:latin typeface="微软雅黑"/>
                <a:cs typeface="微软雅黑"/>
              </a:rPr>
              <a:t>eO</a:t>
            </a:r>
            <a:r>
              <a:rPr sz="2400" dirty="0">
                <a:latin typeface="微软雅黑"/>
                <a:cs typeface="微软雅黑"/>
              </a:rPr>
              <a:t>utput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m：基于字节、广 泛用于操作文件。</a:t>
            </a:r>
            <a:endParaRPr sz="2400">
              <a:latin typeface="微软雅黑"/>
              <a:cs typeface="微软雅黑"/>
            </a:endParaRPr>
          </a:p>
          <a:p>
            <a:pPr marL="527050" marR="717550" lvl="1" indent="-171450">
              <a:lnSpc>
                <a:spcPts val="2590"/>
              </a:lnSpc>
              <a:spcBef>
                <a:spcPts val="375"/>
              </a:spcBef>
              <a:buFont typeface="Arial"/>
              <a:buChar char="•"/>
              <a:tabLst>
                <a:tab pos="527050" algn="l"/>
              </a:tabLst>
            </a:pPr>
            <a:r>
              <a:rPr sz="2400" spc="-10" dirty="0">
                <a:latin typeface="微软雅黑"/>
                <a:cs typeface="微软雅黑"/>
              </a:rPr>
              <a:t>FileInputStream </a:t>
            </a:r>
            <a:r>
              <a:rPr sz="2400" dirty="0">
                <a:latin typeface="微软雅黑"/>
                <a:cs typeface="微软雅黑"/>
              </a:rPr>
              <a:t>类 用 于 读 取 一 个 文 件 ，  Fil</a:t>
            </a:r>
            <a:r>
              <a:rPr sz="2400" spc="-5" dirty="0">
                <a:latin typeface="微软雅黑"/>
                <a:cs typeface="微软雅黑"/>
              </a:rPr>
              <a:t>eO</a:t>
            </a:r>
            <a:r>
              <a:rPr sz="2400" dirty="0">
                <a:latin typeface="微软雅黑"/>
                <a:cs typeface="微软雅黑"/>
              </a:rPr>
              <a:t>utput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m类用于将数据写入一个文件。</a:t>
            </a:r>
            <a:endParaRPr sz="2400">
              <a:latin typeface="微软雅黑"/>
              <a:cs typeface="微软雅黑"/>
            </a:endParaRPr>
          </a:p>
          <a:p>
            <a:pPr marL="2080895">
              <a:lnSpc>
                <a:spcPct val="100000"/>
              </a:lnSpc>
              <a:spcBef>
                <a:spcPts val="1880"/>
              </a:spcBef>
            </a:pPr>
            <a:r>
              <a:rPr sz="2400" spc="-5" dirty="0">
                <a:latin typeface="等线"/>
                <a:cs typeface="等线"/>
              </a:rPr>
              <a:t>FileStream.java</a:t>
            </a:r>
            <a:endParaRPr sz="2400">
              <a:latin typeface="等线"/>
              <a:cs typeface="等线"/>
            </a:endParaRPr>
          </a:p>
          <a:p>
            <a:pPr>
              <a:lnSpc>
                <a:spcPct val="100000"/>
              </a:lnSpc>
              <a:spcBef>
                <a:spcPts val="55"/>
              </a:spcBef>
            </a:pPr>
            <a:endParaRPr sz="2450">
              <a:latin typeface="等线"/>
              <a:cs typeface="等线"/>
            </a:endParaRPr>
          </a:p>
          <a:p>
            <a:pPr marL="3158490" marR="5080" lvl="2" indent="-285750">
              <a:lnSpc>
                <a:spcPct val="100000"/>
              </a:lnSpc>
              <a:buFont typeface="Arial"/>
              <a:buChar char="•"/>
              <a:tabLst>
                <a:tab pos="3157855" algn="l"/>
                <a:tab pos="3158490" algn="l"/>
              </a:tabLst>
            </a:pPr>
            <a:r>
              <a:rPr sz="1800" dirty="0">
                <a:latin typeface="微软雅黑"/>
                <a:cs typeface="微软雅黑"/>
              </a:rPr>
              <a:t>它们都会打开一个到实际文件的连接，并创 建一个文件输入流，如果该文件不存在，或 者它是一个目录，或者因为其他原因而无法 打开，会抛出</a:t>
            </a:r>
            <a:r>
              <a:rPr sz="1800" spc="-5" dirty="0">
                <a:latin typeface="微软雅黑"/>
                <a:cs typeface="微软雅黑"/>
              </a:rPr>
              <a:t>F</a:t>
            </a:r>
            <a:r>
              <a:rPr sz="1800" dirty="0">
                <a:latin typeface="微软雅黑"/>
                <a:cs typeface="微软雅黑"/>
              </a:rPr>
              <a:t>il</a:t>
            </a:r>
            <a:r>
              <a:rPr sz="1800" spc="-5" dirty="0">
                <a:latin typeface="微软雅黑"/>
                <a:cs typeface="微软雅黑"/>
              </a:rPr>
              <a:t>e</a:t>
            </a:r>
            <a:r>
              <a:rPr sz="1800" dirty="0">
                <a:latin typeface="微软雅黑"/>
                <a:cs typeface="微软雅黑"/>
              </a:rPr>
              <a:t>No</a:t>
            </a:r>
            <a:r>
              <a:rPr sz="1800" spc="-5" dirty="0">
                <a:latin typeface="微软雅黑"/>
                <a:cs typeface="微软雅黑"/>
              </a:rPr>
              <a:t>tF</a:t>
            </a:r>
            <a:r>
              <a:rPr sz="1800" dirty="0">
                <a:latin typeface="微软雅黑"/>
                <a:cs typeface="微软雅黑"/>
              </a:rPr>
              <a:t>oun</a:t>
            </a:r>
            <a:r>
              <a:rPr sz="1800" spc="-5" dirty="0">
                <a:latin typeface="微软雅黑"/>
                <a:cs typeface="微软雅黑"/>
              </a:rPr>
              <a:t>d</a:t>
            </a:r>
            <a:r>
              <a:rPr sz="1800" dirty="0">
                <a:latin typeface="微软雅黑"/>
                <a:cs typeface="微软雅黑"/>
              </a:rPr>
              <a:t>E</a:t>
            </a:r>
            <a:r>
              <a:rPr sz="1800" spc="-20" dirty="0">
                <a:latin typeface="微软雅黑"/>
                <a:cs typeface="微软雅黑"/>
              </a:rPr>
              <a:t>x</a:t>
            </a:r>
            <a:r>
              <a:rPr sz="1800" dirty="0">
                <a:latin typeface="微软雅黑"/>
                <a:cs typeface="微软雅黑"/>
              </a:rPr>
              <a:t>c</a:t>
            </a:r>
            <a:r>
              <a:rPr sz="1800" spc="-5" dirty="0">
                <a:latin typeface="微软雅黑"/>
                <a:cs typeface="微软雅黑"/>
              </a:rPr>
              <a:t>e</a:t>
            </a:r>
            <a:r>
              <a:rPr sz="1800" dirty="0">
                <a:latin typeface="微软雅黑"/>
                <a:cs typeface="微软雅黑"/>
              </a:rPr>
              <a:t>p</a:t>
            </a:r>
            <a:r>
              <a:rPr sz="1800" spc="-5" dirty="0">
                <a:latin typeface="微软雅黑"/>
                <a:cs typeface="微软雅黑"/>
              </a:rPr>
              <a:t>t</a:t>
            </a:r>
            <a:r>
              <a:rPr sz="1800" dirty="0">
                <a:latin typeface="微软雅黑"/>
                <a:cs typeface="微软雅黑"/>
              </a:rPr>
              <a:t>ion异常。 前者文件通过路径名</a:t>
            </a:r>
            <a:r>
              <a:rPr sz="1800" spc="-5" dirty="0">
                <a:latin typeface="微软雅黑"/>
                <a:cs typeface="微软雅黑"/>
              </a:rPr>
              <a:t>name</a:t>
            </a:r>
            <a:r>
              <a:rPr sz="1800" dirty="0">
                <a:latin typeface="微软雅黑"/>
                <a:cs typeface="微软雅黑"/>
              </a:rPr>
              <a:t>指定，后者通过 </a:t>
            </a:r>
            <a:r>
              <a:rPr sz="1800" spc="-5" dirty="0">
                <a:latin typeface="微软雅黑"/>
                <a:cs typeface="微软雅黑"/>
              </a:rPr>
              <a:t>File</a:t>
            </a:r>
            <a:r>
              <a:rPr sz="1800" dirty="0">
                <a:latin typeface="微软雅黑"/>
                <a:cs typeface="微软雅黑"/>
              </a:rPr>
              <a:t>对象指定。</a:t>
            </a:r>
            <a:endParaRPr sz="18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0555" y="176682"/>
            <a:ext cx="8284209" cy="5361305"/>
          </a:xfrm>
          <a:prstGeom prst="rect">
            <a:avLst/>
          </a:prstGeom>
        </p:spPr>
        <p:txBody>
          <a:bodyPr vert="horz" wrap="square" lIns="0" tIns="12700" rIns="0" bIns="0" rtlCol="0">
            <a:spAutoFit/>
          </a:bodyPr>
          <a:lstStyle/>
          <a:p>
            <a:pPr marL="665480">
              <a:lnSpc>
                <a:spcPts val="2735"/>
              </a:lnSpc>
              <a:spcBef>
                <a:spcPts val="100"/>
              </a:spcBef>
              <a:tabLst>
                <a:tab pos="1772920" algn="l"/>
              </a:tabLst>
            </a:pPr>
            <a:r>
              <a:rPr sz="2400" b="1" spc="-5" dirty="0">
                <a:latin typeface="微软雅黑"/>
                <a:cs typeface="微软雅黑"/>
              </a:rPr>
              <a:t>12.2.2	</a:t>
            </a:r>
            <a:r>
              <a:rPr sz="2400" b="1" dirty="0">
                <a:latin typeface="微软雅黑"/>
                <a:cs typeface="微软雅黑"/>
              </a:rPr>
              <a:t>文件流</a:t>
            </a:r>
            <a:r>
              <a:rPr sz="2400" b="1" spc="-10" dirty="0">
                <a:latin typeface="微软雅黑"/>
                <a:cs typeface="微软雅黑"/>
              </a:rPr>
              <a:t>FileInputStream</a:t>
            </a:r>
            <a:r>
              <a:rPr sz="2400" b="1" dirty="0">
                <a:latin typeface="微软雅黑"/>
                <a:cs typeface="微软雅黑"/>
              </a:rPr>
              <a:t>和</a:t>
            </a:r>
            <a:endParaRPr sz="2400">
              <a:latin typeface="微软雅黑"/>
              <a:cs typeface="微软雅黑"/>
            </a:endParaRPr>
          </a:p>
          <a:p>
            <a:pPr marL="531495">
              <a:lnSpc>
                <a:spcPts val="2735"/>
              </a:lnSpc>
              <a:tabLst>
                <a:tab pos="8270875"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FileOutputStream	</a:t>
            </a:r>
            <a:endParaRPr sz="2400">
              <a:latin typeface="微软雅黑"/>
              <a:cs typeface="微软雅黑"/>
            </a:endParaRPr>
          </a:p>
          <a:p>
            <a:pPr>
              <a:lnSpc>
                <a:spcPct val="100000"/>
              </a:lnSpc>
              <a:spcBef>
                <a:spcPts val="60"/>
              </a:spcBef>
            </a:pPr>
            <a:endParaRPr sz="2550">
              <a:latin typeface="微软雅黑"/>
              <a:cs typeface="微软雅黑"/>
            </a:endParaRPr>
          </a:p>
          <a:p>
            <a:pPr marL="121920">
              <a:lnSpc>
                <a:spcPct val="100000"/>
              </a:lnSpc>
            </a:pPr>
            <a:r>
              <a:rPr sz="2400" dirty="0">
                <a:latin typeface="微软雅黑"/>
                <a:cs typeface="微软雅黑"/>
              </a:rPr>
              <a:t>编写一个对指定文件进行加密复制的程序。</a:t>
            </a:r>
            <a:endParaRPr sz="2400">
              <a:latin typeface="微软雅黑"/>
              <a:cs typeface="微软雅黑"/>
            </a:endParaRPr>
          </a:p>
          <a:p>
            <a:pPr>
              <a:lnSpc>
                <a:spcPct val="100000"/>
              </a:lnSpc>
              <a:spcBef>
                <a:spcPts val="75"/>
              </a:spcBef>
            </a:pPr>
            <a:endParaRPr sz="2200">
              <a:latin typeface="微软雅黑"/>
              <a:cs typeface="微软雅黑"/>
            </a:endParaRPr>
          </a:p>
          <a:p>
            <a:pPr marL="184150" marR="776605" indent="-171450">
              <a:lnSpc>
                <a:spcPts val="2590"/>
              </a:lnSpc>
              <a:buFont typeface="Arial"/>
              <a:buChar char="•"/>
              <a:tabLst>
                <a:tab pos="184150" algn="l"/>
              </a:tabLst>
            </a:pPr>
            <a:r>
              <a:rPr sz="2400" dirty="0">
                <a:latin typeface="微软雅黑"/>
                <a:cs typeface="微软雅黑"/>
              </a:rPr>
              <a:t>分析：复制文件就是将一个文件读出再写入另一个文件 的过程，无论文件是何类型，都可以按照字节一一读出</a:t>
            </a:r>
            <a:endParaRPr sz="2400">
              <a:latin typeface="微软雅黑"/>
              <a:cs typeface="微软雅黑"/>
            </a:endParaRPr>
          </a:p>
          <a:p>
            <a:pPr marL="184150" marR="1873250">
              <a:lnSpc>
                <a:spcPts val="2590"/>
              </a:lnSpc>
            </a:pPr>
            <a:r>
              <a:rPr sz="2400" dirty="0">
                <a:latin typeface="微软雅黑"/>
                <a:cs typeface="微软雅黑"/>
              </a:rPr>
              <a:t>，一一写入，所以使用</a:t>
            </a:r>
            <a:r>
              <a:rPr sz="2400" spc="-10" dirty="0">
                <a:latin typeface="微软雅黑"/>
                <a:cs typeface="微软雅黑"/>
              </a:rPr>
              <a:t>FileInputStream</a:t>
            </a:r>
            <a:r>
              <a:rPr sz="2400" dirty="0">
                <a:latin typeface="微软雅黑"/>
                <a:cs typeface="微软雅黑"/>
              </a:rPr>
              <a:t>和 Fil</a:t>
            </a:r>
            <a:r>
              <a:rPr sz="2400" spc="-5" dirty="0">
                <a:latin typeface="微软雅黑"/>
                <a:cs typeface="微软雅黑"/>
              </a:rPr>
              <a:t>eO</a:t>
            </a:r>
            <a:r>
              <a:rPr sz="2400" dirty="0">
                <a:latin typeface="微软雅黑"/>
                <a:cs typeface="微软雅黑"/>
              </a:rPr>
              <a:t>utput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m可以实现任意文件的复制。</a:t>
            </a:r>
            <a:endParaRPr sz="2400">
              <a:latin typeface="微软雅黑"/>
              <a:cs typeface="微软雅黑"/>
            </a:endParaRPr>
          </a:p>
          <a:p>
            <a:pPr marL="184150" marR="845185" indent="-171450">
              <a:lnSpc>
                <a:spcPts val="2590"/>
              </a:lnSpc>
              <a:spcBef>
                <a:spcPts val="750"/>
              </a:spcBef>
              <a:buFont typeface="Arial"/>
              <a:buChar char="•"/>
              <a:tabLst>
                <a:tab pos="184150" algn="l"/>
              </a:tabLst>
            </a:pPr>
            <a:r>
              <a:rPr sz="2400" spc="-15" dirty="0">
                <a:latin typeface="微软雅黑"/>
                <a:cs typeface="微软雅黑"/>
              </a:rPr>
              <a:t>read()</a:t>
            </a:r>
            <a:r>
              <a:rPr sz="2400" dirty="0">
                <a:latin typeface="微软雅黑"/>
                <a:cs typeface="微软雅黑"/>
              </a:rPr>
              <a:t>方法每次从文件中读取一个字节，范围从</a:t>
            </a:r>
            <a:r>
              <a:rPr sz="2400" spc="-5" dirty="0">
                <a:latin typeface="微软雅黑"/>
                <a:cs typeface="微软雅黑"/>
              </a:rPr>
              <a:t>0</a:t>
            </a:r>
            <a:r>
              <a:rPr sz="2400" dirty="0">
                <a:latin typeface="微软雅黑"/>
                <a:cs typeface="微软雅黑"/>
              </a:rPr>
              <a:t>到 </a:t>
            </a:r>
            <a:r>
              <a:rPr sz="2400" spc="-5" dirty="0">
                <a:latin typeface="微软雅黑"/>
                <a:cs typeface="微软雅黑"/>
              </a:rPr>
              <a:t>255</a:t>
            </a:r>
            <a:r>
              <a:rPr sz="2400" dirty="0">
                <a:latin typeface="微软雅黑"/>
                <a:cs typeface="微软雅黑"/>
              </a:rPr>
              <a:t>间，如果已到达文件的末尾，则返回-</a:t>
            </a:r>
            <a:r>
              <a:rPr sz="2400" spc="-5" dirty="0">
                <a:latin typeface="微软雅黑"/>
                <a:cs typeface="微软雅黑"/>
              </a:rPr>
              <a:t>1</a:t>
            </a:r>
            <a:r>
              <a:rPr sz="2400" dirty="0">
                <a:latin typeface="微软雅黑"/>
                <a:cs typeface="微软雅黑"/>
              </a:rPr>
              <a:t>，所以循环 读取的条件为：检测读到的数据是否为</a:t>
            </a:r>
            <a:r>
              <a:rPr sz="2400" spc="-5" dirty="0">
                <a:latin typeface="微软雅黑"/>
                <a:cs typeface="微软雅黑"/>
              </a:rPr>
              <a:t>-1</a:t>
            </a:r>
            <a:r>
              <a:rPr sz="2400" dirty="0">
                <a:latin typeface="微软雅黑"/>
                <a:cs typeface="微软雅黑"/>
              </a:rPr>
              <a:t>。</a:t>
            </a:r>
            <a:endParaRPr sz="2400">
              <a:latin typeface="微软雅黑"/>
              <a:cs typeface="微软雅黑"/>
            </a:endParaRPr>
          </a:p>
          <a:p>
            <a:pPr marL="184150" marR="776605" indent="-171450">
              <a:lnSpc>
                <a:spcPts val="2590"/>
              </a:lnSpc>
              <a:spcBef>
                <a:spcPts val="750"/>
              </a:spcBef>
              <a:buFont typeface="Arial"/>
              <a:buChar char="•"/>
              <a:tabLst>
                <a:tab pos="184150" algn="l"/>
              </a:tabLst>
            </a:pPr>
            <a:r>
              <a:rPr sz="2400" dirty="0">
                <a:latin typeface="微软雅黑"/>
                <a:cs typeface="微软雅黑"/>
              </a:rPr>
              <a:t>所谓加密复制就是在写入数据前对其进行加密处理，可 以采取异或运算。</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76682"/>
            <a:ext cx="8836025" cy="4512945"/>
          </a:xfrm>
          <a:prstGeom prst="rect">
            <a:avLst/>
          </a:prstGeom>
        </p:spPr>
        <p:txBody>
          <a:bodyPr vert="horz" wrap="square" lIns="0" tIns="12700" rIns="0" bIns="0" rtlCol="0">
            <a:spAutoFit/>
          </a:bodyPr>
          <a:lstStyle/>
          <a:p>
            <a:pPr marL="1217295">
              <a:lnSpc>
                <a:spcPts val="2735"/>
              </a:lnSpc>
              <a:spcBef>
                <a:spcPts val="100"/>
              </a:spcBef>
              <a:tabLst>
                <a:tab pos="2324735" algn="l"/>
              </a:tabLst>
            </a:pPr>
            <a:r>
              <a:rPr sz="2400" b="1" spc="-5" dirty="0">
                <a:latin typeface="微软雅黑"/>
                <a:cs typeface="微软雅黑"/>
              </a:rPr>
              <a:t>12.2.2	</a:t>
            </a:r>
            <a:r>
              <a:rPr sz="2400" b="1" dirty="0">
                <a:latin typeface="微软雅黑"/>
                <a:cs typeface="微软雅黑"/>
              </a:rPr>
              <a:t>文件流</a:t>
            </a:r>
            <a:r>
              <a:rPr sz="2400" b="1" spc="-10" dirty="0">
                <a:latin typeface="微软雅黑"/>
                <a:cs typeface="微软雅黑"/>
              </a:rPr>
              <a:t>FileInputStream</a:t>
            </a:r>
            <a:r>
              <a:rPr sz="2400" b="1" dirty="0">
                <a:latin typeface="微软雅黑"/>
                <a:cs typeface="微软雅黑"/>
              </a:rPr>
              <a:t>和</a:t>
            </a:r>
            <a:endParaRPr sz="2400">
              <a:latin typeface="微软雅黑"/>
              <a:cs typeface="微软雅黑"/>
            </a:endParaRPr>
          </a:p>
          <a:p>
            <a:pPr marL="1083310">
              <a:lnSpc>
                <a:spcPts val="2735"/>
              </a:lnSpc>
              <a:tabLst>
                <a:tab pos="8822690"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FileOutputStream	</a:t>
            </a:r>
            <a:endParaRPr sz="2400">
              <a:latin typeface="微软雅黑"/>
              <a:cs typeface="微软雅黑"/>
            </a:endParaRPr>
          </a:p>
          <a:p>
            <a:pPr>
              <a:lnSpc>
                <a:spcPct val="100000"/>
              </a:lnSpc>
              <a:spcBef>
                <a:spcPts val="20"/>
              </a:spcBef>
            </a:pPr>
            <a:endParaRPr sz="2750">
              <a:latin typeface="微软雅黑"/>
              <a:cs typeface="微软雅黑"/>
            </a:endParaRPr>
          </a:p>
          <a:p>
            <a:pPr marL="121920" marR="929640">
              <a:lnSpc>
                <a:spcPts val="2590"/>
              </a:lnSpc>
            </a:pPr>
            <a:r>
              <a:rPr sz="2400" dirty="0">
                <a:latin typeface="微软雅黑"/>
                <a:cs typeface="微软雅黑"/>
              </a:rPr>
              <a:t>【例</a:t>
            </a:r>
            <a:r>
              <a:rPr sz="2400" spc="-5" dirty="0">
                <a:latin typeface="微软雅黑"/>
                <a:cs typeface="微软雅黑"/>
              </a:rPr>
              <a:t>12-2</a:t>
            </a:r>
            <a:r>
              <a:rPr sz="2400" dirty="0">
                <a:latin typeface="微软雅黑"/>
                <a:cs typeface="微软雅黑"/>
              </a:rPr>
              <a:t>】利用</a:t>
            </a:r>
            <a:r>
              <a:rPr sz="2400" spc="-5" dirty="0">
                <a:latin typeface="微软雅黑"/>
                <a:cs typeface="微软雅黑"/>
              </a:rPr>
              <a:t>try-with-resource</a:t>
            </a:r>
            <a:r>
              <a:rPr sz="2400" dirty="0">
                <a:latin typeface="微软雅黑"/>
                <a:cs typeface="微软雅黑"/>
              </a:rPr>
              <a:t>处理机制重写文件加密 复制程序。</a:t>
            </a:r>
            <a:endParaRPr sz="2400">
              <a:latin typeface="微软雅黑"/>
              <a:cs typeface="微软雅黑"/>
            </a:endParaRPr>
          </a:p>
          <a:p>
            <a:pPr marL="184150" marR="897890" indent="-171450">
              <a:lnSpc>
                <a:spcPts val="2590"/>
              </a:lnSpc>
              <a:spcBef>
                <a:spcPts val="750"/>
              </a:spcBef>
              <a:buFont typeface="Arial"/>
              <a:buChar char="•"/>
              <a:tabLst>
                <a:tab pos="184150" algn="l"/>
              </a:tabLst>
            </a:pPr>
            <a:r>
              <a:rPr sz="2400" dirty="0">
                <a:latin typeface="微软雅黑"/>
                <a:cs typeface="微软雅黑"/>
              </a:rPr>
              <a:t>分析：传统的输入输出流的关闭过程代码繁琐，</a:t>
            </a:r>
            <a:r>
              <a:rPr sz="2400" dirty="0">
                <a:solidFill>
                  <a:srgbClr val="FF0000"/>
                </a:solidFill>
                <a:latin typeface="微软雅黑"/>
                <a:cs typeface="微软雅黑"/>
              </a:rPr>
              <a:t>从</a:t>
            </a:r>
            <a:r>
              <a:rPr sz="2400" spc="-25" dirty="0">
                <a:solidFill>
                  <a:srgbClr val="FF0000"/>
                </a:solidFill>
                <a:latin typeface="微软雅黑"/>
                <a:cs typeface="微软雅黑"/>
              </a:rPr>
              <a:t>Java</a:t>
            </a:r>
            <a:r>
              <a:rPr sz="2400" spc="-95" dirty="0">
                <a:solidFill>
                  <a:srgbClr val="FF0000"/>
                </a:solidFill>
                <a:latin typeface="微软雅黑"/>
                <a:cs typeface="微软雅黑"/>
              </a:rPr>
              <a:t> </a:t>
            </a:r>
            <a:r>
              <a:rPr sz="2400" spc="-5" dirty="0">
                <a:solidFill>
                  <a:srgbClr val="FF0000"/>
                </a:solidFill>
                <a:latin typeface="微软雅黑"/>
                <a:cs typeface="微软雅黑"/>
              </a:rPr>
              <a:t>SE  7</a:t>
            </a:r>
            <a:r>
              <a:rPr sz="2400" dirty="0">
                <a:solidFill>
                  <a:srgbClr val="FF0000"/>
                </a:solidFill>
                <a:latin typeface="微软雅黑"/>
                <a:cs typeface="微软雅黑"/>
              </a:rPr>
              <a:t>引入了</a:t>
            </a:r>
            <a:r>
              <a:rPr sz="2400" spc="-5" dirty="0">
                <a:solidFill>
                  <a:srgbClr val="FF0000"/>
                </a:solidFill>
                <a:latin typeface="微软雅黑"/>
                <a:cs typeface="微软雅黑"/>
              </a:rPr>
              <a:t>try-with-resource</a:t>
            </a:r>
            <a:r>
              <a:rPr sz="2400" dirty="0">
                <a:solidFill>
                  <a:srgbClr val="FF0000"/>
                </a:solidFill>
                <a:latin typeface="微软雅黑"/>
                <a:cs typeface="微软雅黑"/>
              </a:rPr>
              <a:t>处理机制</a:t>
            </a:r>
            <a:r>
              <a:rPr sz="2400" dirty="0">
                <a:latin typeface="微软雅黑"/>
                <a:cs typeface="微软雅黑"/>
              </a:rPr>
              <a:t>。</a:t>
            </a:r>
            <a:endParaRPr sz="2400">
              <a:latin typeface="微软雅黑"/>
              <a:cs typeface="微软雅黑"/>
            </a:endParaRPr>
          </a:p>
          <a:p>
            <a:pPr marL="184150" marR="908050" indent="-171450">
              <a:lnSpc>
                <a:spcPts val="2590"/>
              </a:lnSpc>
              <a:spcBef>
                <a:spcPts val="750"/>
              </a:spcBef>
              <a:buFont typeface="Arial"/>
              <a:buChar char="•"/>
              <a:tabLst>
                <a:tab pos="184150" algn="l"/>
              </a:tabLst>
            </a:pPr>
            <a:r>
              <a:rPr sz="2400" dirty="0">
                <a:latin typeface="微软雅黑"/>
                <a:cs typeface="微软雅黑"/>
              </a:rPr>
              <a:t>如果一个类实现了Au</a:t>
            </a:r>
            <a:r>
              <a:rPr sz="2400" spc="-20" dirty="0">
                <a:latin typeface="微软雅黑"/>
                <a:cs typeface="微软雅黑"/>
              </a:rPr>
              <a:t>t</a:t>
            </a:r>
            <a:r>
              <a:rPr sz="2400" spc="-5" dirty="0">
                <a:latin typeface="微软雅黑"/>
                <a:cs typeface="微软雅黑"/>
              </a:rPr>
              <a:t>oC</a:t>
            </a:r>
            <a:r>
              <a:rPr sz="2400" dirty="0">
                <a:latin typeface="微软雅黑"/>
                <a:cs typeface="微软雅黑"/>
              </a:rPr>
              <a:t>l</a:t>
            </a:r>
            <a:r>
              <a:rPr sz="2400" spc="-5" dirty="0">
                <a:latin typeface="微软雅黑"/>
                <a:cs typeface="微软雅黑"/>
              </a:rPr>
              <a:t>osa</a:t>
            </a:r>
            <a:r>
              <a:rPr sz="2400" dirty="0">
                <a:latin typeface="微软雅黑"/>
                <a:cs typeface="微软雅黑"/>
              </a:rPr>
              <a:t>bl</a:t>
            </a:r>
            <a:r>
              <a:rPr sz="2400" spc="-5" dirty="0">
                <a:latin typeface="微软雅黑"/>
                <a:cs typeface="微软雅黑"/>
              </a:rPr>
              <a:t>e</a:t>
            </a:r>
            <a:r>
              <a:rPr sz="2400" dirty="0">
                <a:latin typeface="微软雅黑"/>
                <a:cs typeface="微软雅黑"/>
              </a:rPr>
              <a:t>接口，那么创建这个类的 对象就可以写在</a:t>
            </a:r>
            <a:r>
              <a:rPr sz="2400" spc="5" dirty="0">
                <a:latin typeface="微软雅黑"/>
                <a:cs typeface="微软雅黑"/>
              </a:rPr>
              <a:t>try-catch</a:t>
            </a:r>
            <a:r>
              <a:rPr sz="2400" dirty="0">
                <a:latin typeface="微软雅黑"/>
                <a:cs typeface="微软雅黑"/>
              </a:rPr>
              <a:t>的</a:t>
            </a:r>
            <a:r>
              <a:rPr sz="2400" spc="30" dirty="0">
                <a:latin typeface="微软雅黑"/>
                <a:cs typeface="微软雅黑"/>
              </a:rPr>
              <a:t>try</a:t>
            </a:r>
            <a:r>
              <a:rPr sz="2400" dirty="0">
                <a:latin typeface="微软雅黑"/>
                <a:cs typeface="微软雅黑"/>
              </a:rPr>
              <a:t>后面的括号中，并且能在 </a:t>
            </a:r>
            <a:r>
              <a:rPr sz="2400" spc="30" dirty="0">
                <a:latin typeface="微软雅黑"/>
                <a:cs typeface="微软雅黑"/>
              </a:rPr>
              <a:t>try</a:t>
            </a:r>
            <a:r>
              <a:rPr sz="2400" dirty="0">
                <a:latin typeface="微软雅黑"/>
                <a:cs typeface="微软雅黑"/>
              </a:rPr>
              <a:t>代码块正常结束前或者因发生异常要抛出异常前自动执 行</a:t>
            </a:r>
            <a:r>
              <a:rPr sz="2400" spc="-5" dirty="0">
                <a:latin typeface="微软雅黑"/>
                <a:cs typeface="微软雅黑"/>
              </a:rPr>
              <a:t>close()</a:t>
            </a:r>
            <a:r>
              <a:rPr sz="2400" dirty="0">
                <a:latin typeface="微软雅黑"/>
                <a:cs typeface="微软雅黑"/>
              </a:rPr>
              <a:t>方法，保证资源正常关闭，不再需要书写</a:t>
            </a:r>
            <a:r>
              <a:rPr sz="2400" spc="-5" dirty="0">
                <a:latin typeface="微软雅黑"/>
                <a:cs typeface="微软雅黑"/>
              </a:rPr>
              <a:t>finally  </a:t>
            </a:r>
            <a:r>
              <a:rPr sz="2400" dirty="0">
                <a:latin typeface="微软雅黑"/>
                <a:cs typeface="微软雅黑"/>
              </a:rPr>
              <a:t>代码块。</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76682"/>
            <a:ext cx="8836025" cy="2773045"/>
          </a:xfrm>
          <a:prstGeom prst="rect">
            <a:avLst/>
          </a:prstGeom>
        </p:spPr>
        <p:txBody>
          <a:bodyPr vert="horz" wrap="square" lIns="0" tIns="12700" rIns="0" bIns="0" rtlCol="0">
            <a:spAutoFit/>
          </a:bodyPr>
          <a:lstStyle/>
          <a:p>
            <a:pPr marL="1217295">
              <a:lnSpc>
                <a:spcPts val="2735"/>
              </a:lnSpc>
              <a:spcBef>
                <a:spcPts val="100"/>
              </a:spcBef>
              <a:tabLst>
                <a:tab pos="2324735" algn="l"/>
              </a:tabLst>
            </a:pPr>
            <a:r>
              <a:rPr sz="2400" b="1" spc="-5" dirty="0">
                <a:latin typeface="微软雅黑"/>
                <a:cs typeface="微软雅黑"/>
              </a:rPr>
              <a:t>12.2.2	</a:t>
            </a:r>
            <a:r>
              <a:rPr sz="2400" b="1" dirty="0">
                <a:latin typeface="微软雅黑"/>
                <a:cs typeface="微软雅黑"/>
              </a:rPr>
              <a:t>文件流</a:t>
            </a:r>
            <a:r>
              <a:rPr sz="2400" b="1" spc="-10" dirty="0">
                <a:latin typeface="微软雅黑"/>
                <a:cs typeface="微软雅黑"/>
              </a:rPr>
              <a:t>FileInputStream</a:t>
            </a:r>
            <a:r>
              <a:rPr sz="2400" b="1" dirty="0">
                <a:latin typeface="微软雅黑"/>
                <a:cs typeface="微软雅黑"/>
              </a:rPr>
              <a:t>和</a:t>
            </a:r>
            <a:endParaRPr sz="2400">
              <a:latin typeface="微软雅黑"/>
              <a:cs typeface="微软雅黑"/>
            </a:endParaRPr>
          </a:p>
          <a:p>
            <a:pPr marL="1083310">
              <a:lnSpc>
                <a:spcPts val="2735"/>
              </a:lnSpc>
              <a:tabLst>
                <a:tab pos="8822690"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FileOutputStream	</a:t>
            </a:r>
            <a:endParaRPr sz="2400">
              <a:latin typeface="微软雅黑"/>
              <a:cs typeface="微软雅黑"/>
            </a:endParaRPr>
          </a:p>
          <a:p>
            <a:pPr>
              <a:lnSpc>
                <a:spcPct val="100000"/>
              </a:lnSpc>
              <a:spcBef>
                <a:spcPts val="20"/>
              </a:spcBef>
            </a:pPr>
            <a:endParaRPr sz="2750">
              <a:latin typeface="微软雅黑"/>
              <a:cs typeface="微软雅黑"/>
            </a:endParaRPr>
          </a:p>
          <a:p>
            <a:pPr marL="121920" marR="929640">
              <a:lnSpc>
                <a:spcPts val="2590"/>
              </a:lnSpc>
            </a:pPr>
            <a:r>
              <a:rPr sz="2400" dirty="0">
                <a:latin typeface="微软雅黑"/>
                <a:cs typeface="微软雅黑"/>
              </a:rPr>
              <a:t>【例</a:t>
            </a:r>
            <a:r>
              <a:rPr sz="2400" spc="-5" dirty="0">
                <a:latin typeface="微软雅黑"/>
                <a:cs typeface="微软雅黑"/>
              </a:rPr>
              <a:t>12-2</a:t>
            </a:r>
            <a:r>
              <a:rPr sz="2400" dirty="0">
                <a:latin typeface="微软雅黑"/>
                <a:cs typeface="微软雅黑"/>
              </a:rPr>
              <a:t>】利用</a:t>
            </a:r>
            <a:r>
              <a:rPr sz="2400" spc="-5" dirty="0">
                <a:latin typeface="微软雅黑"/>
                <a:cs typeface="微软雅黑"/>
              </a:rPr>
              <a:t>try-with-resource</a:t>
            </a:r>
            <a:r>
              <a:rPr sz="2400" dirty="0">
                <a:latin typeface="微软雅黑"/>
                <a:cs typeface="微软雅黑"/>
              </a:rPr>
              <a:t>处理机制重写文件加密 复制程序。</a:t>
            </a:r>
            <a:endParaRPr sz="2400">
              <a:latin typeface="微软雅黑"/>
              <a:cs typeface="微软雅黑"/>
            </a:endParaRPr>
          </a:p>
          <a:p>
            <a:pPr marL="184150" marR="812800" indent="-171450">
              <a:lnSpc>
                <a:spcPts val="2590"/>
              </a:lnSpc>
              <a:spcBef>
                <a:spcPts val="750"/>
              </a:spcBef>
              <a:buFont typeface="Arial"/>
              <a:buChar char="•"/>
              <a:tabLst>
                <a:tab pos="184150" algn="l"/>
              </a:tabLst>
            </a:pPr>
            <a:r>
              <a:rPr sz="2400" spc="-25" dirty="0">
                <a:latin typeface="微软雅黑"/>
                <a:cs typeface="微软雅黑"/>
              </a:rPr>
              <a:t>Java</a:t>
            </a:r>
            <a:r>
              <a:rPr sz="2400" spc="-45" dirty="0">
                <a:latin typeface="微软雅黑"/>
                <a:cs typeface="微软雅黑"/>
              </a:rPr>
              <a:t> </a:t>
            </a:r>
            <a:r>
              <a:rPr sz="2400" spc="-5" dirty="0">
                <a:latin typeface="微软雅黑"/>
                <a:cs typeface="微软雅黑"/>
              </a:rPr>
              <a:t>SE</a:t>
            </a:r>
            <a:r>
              <a:rPr sz="2400" spc="-40" dirty="0">
                <a:latin typeface="微软雅黑"/>
                <a:cs typeface="微软雅黑"/>
              </a:rPr>
              <a:t> </a:t>
            </a:r>
            <a:r>
              <a:rPr sz="2400" spc="-5" dirty="0">
                <a:latin typeface="微软雅黑"/>
                <a:cs typeface="微软雅黑"/>
              </a:rPr>
              <a:t>7</a:t>
            </a:r>
            <a:r>
              <a:rPr sz="2400" dirty="0">
                <a:latin typeface="微软雅黑"/>
                <a:cs typeface="微软雅黑"/>
              </a:rPr>
              <a:t>后</a:t>
            </a:r>
            <a:r>
              <a:rPr sz="2400" spc="-10" dirty="0">
                <a:latin typeface="微软雅黑"/>
                <a:cs typeface="微软雅黑"/>
              </a:rPr>
              <a:t>java.io</a:t>
            </a:r>
            <a:r>
              <a:rPr sz="2400" dirty="0">
                <a:latin typeface="微软雅黑"/>
                <a:cs typeface="微软雅黑"/>
              </a:rPr>
              <a:t>中的类都实现了</a:t>
            </a:r>
            <a:r>
              <a:rPr sz="2400" spc="-5" dirty="0">
                <a:latin typeface="微软雅黑"/>
                <a:cs typeface="微软雅黑"/>
              </a:rPr>
              <a:t>AutoClosable</a:t>
            </a:r>
            <a:r>
              <a:rPr sz="2400" dirty="0">
                <a:latin typeface="微软雅黑"/>
                <a:cs typeface="微软雅黑"/>
              </a:rPr>
              <a:t>接口，可 以直接使用</a:t>
            </a:r>
            <a:r>
              <a:rPr sz="2400" spc="-5" dirty="0">
                <a:latin typeface="微软雅黑"/>
                <a:cs typeface="微软雅黑"/>
              </a:rPr>
              <a:t>try-with-resource</a:t>
            </a:r>
            <a:r>
              <a:rPr sz="2400" dirty="0">
                <a:latin typeface="微软雅黑"/>
                <a:cs typeface="微软雅黑"/>
              </a:rPr>
              <a:t>。</a:t>
            </a:r>
            <a:endParaRPr sz="2400">
              <a:latin typeface="微软雅黑"/>
              <a:cs typeface="微软雅黑"/>
            </a:endParaRPr>
          </a:p>
        </p:txBody>
      </p:sp>
      <p:sp>
        <p:nvSpPr>
          <p:cNvPr id="3" name="object 3"/>
          <p:cNvSpPr/>
          <p:nvPr/>
        </p:nvSpPr>
        <p:spPr>
          <a:xfrm>
            <a:off x="755904" y="3252215"/>
            <a:ext cx="7170420" cy="2780316"/>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12.2.2	</a:t>
            </a:r>
            <a:r>
              <a:rPr dirty="0"/>
              <a:t>文件流</a:t>
            </a:r>
            <a:r>
              <a:rPr spc="-10" dirty="0"/>
              <a:t>FileInputStream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FileOutputStream	</a:t>
            </a: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18</a:t>
            </a:fld>
            <a:endParaRPr dirty="0"/>
          </a:p>
        </p:txBody>
      </p:sp>
      <p:sp>
        <p:nvSpPr>
          <p:cNvPr id="21" name="object 21"/>
          <p:cNvSpPr txBox="1"/>
          <p:nvPr/>
        </p:nvSpPr>
        <p:spPr>
          <a:xfrm>
            <a:off x="982344" y="1476375"/>
            <a:ext cx="7211059" cy="3839210"/>
          </a:xfrm>
          <a:prstGeom prst="rect">
            <a:avLst/>
          </a:prstGeom>
        </p:spPr>
        <p:txBody>
          <a:bodyPr vert="horz" wrap="square" lIns="0" tIns="53975" rIns="0" bIns="0" rtlCol="0">
            <a:spAutoFit/>
          </a:bodyPr>
          <a:lstStyle/>
          <a:p>
            <a:pPr marL="12700" marR="296545" indent="90170">
              <a:lnSpc>
                <a:spcPts val="2590"/>
              </a:lnSpc>
              <a:spcBef>
                <a:spcPts val="425"/>
              </a:spcBef>
            </a:pPr>
            <a:r>
              <a:rPr sz="2400" dirty="0">
                <a:latin typeface="微软雅黑"/>
                <a:cs typeface="微软雅黑"/>
              </a:rPr>
              <a:t>在t</a:t>
            </a:r>
            <a:r>
              <a:rPr sz="2400" spc="95" dirty="0">
                <a:latin typeface="微软雅黑"/>
                <a:cs typeface="微软雅黑"/>
              </a:rPr>
              <a:t>r</a:t>
            </a:r>
            <a:r>
              <a:rPr sz="2400" spc="-5" dirty="0">
                <a:latin typeface="微软雅黑"/>
                <a:cs typeface="微软雅黑"/>
              </a:rPr>
              <a:t>y</a:t>
            </a:r>
            <a:r>
              <a:rPr sz="2400" dirty="0">
                <a:latin typeface="微软雅黑"/>
                <a:cs typeface="微软雅黑"/>
              </a:rPr>
              <a:t>关键字后面的括号中声明并初始化一个或多个 资源，这些资源必须实现了</a:t>
            </a:r>
            <a:r>
              <a:rPr sz="2400" spc="-5" dirty="0">
                <a:latin typeface="微软雅黑"/>
                <a:cs typeface="微软雅黑"/>
              </a:rPr>
              <a:t>AutoCloseable</a:t>
            </a:r>
            <a:r>
              <a:rPr sz="2400" dirty="0">
                <a:latin typeface="微软雅黑"/>
                <a:cs typeface="微软雅黑"/>
              </a:rPr>
              <a:t>接口</a:t>
            </a:r>
            <a:endParaRPr sz="2400">
              <a:latin typeface="微软雅黑"/>
              <a:cs typeface="微软雅黑"/>
            </a:endParaRPr>
          </a:p>
          <a:p>
            <a:pPr marL="1395095" marR="2098040">
              <a:lnSpc>
                <a:spcPct val="100000"/>
              </a:lnSpc>
              <a:spcBef>
                <a:spcPts val="2095"/>
              </a:spcBef>
            </a:pPr>
            <a:r>
              <a:rPr sz="1800" spc="20" dirty="0">
                <a:latin typeface="微软雅黑"/>
                <a:cs typeface="微软雅黑"/>
              </a:rPr>
              <a:t>try </a:t>
            </a:r>
            <a:r>
              <a:rPr sz="1800" spc="-20" dirty="0">
                <a:latin typeface="微软雅黑"/>
                <a:cs typeface="微软雅黑"/>
              </a:rPr>
              <a:t>(ResourceType </a:t>
            </a:r>
            <a:r>
              <a:rPr sz="1800" spc="-10" dirty="0">
                <a:latin typeface="微软雅黑"/>
                <a:cs typeface="微软雅黑"/>
              </a:rPr>
              <a:t>resource </a:t>
            </a:r>
            <a:r>
              <a:rPr sz="1800" dirty="0">
                <a:latin typeface="微软雅黑"/>
                <a:cs typeface="微软雅黑"/>
              </a:rPr>
              <a:t>= </a:t>
            </a:r>
            <a:r>
              <a:rPr sz="1800" spc="-5" dirty="0">
                <a:latin typeface="微软雅黑"/>
                <a:cs typeface="微软雅黑"/>
              </a:rPr>
              <a:t>new  </a:t>
            </a:r>
            <a:r>
              <a:rPr sz="1800" spc="-15" dirty="0">
                <a:latin typeface="微软雅黑"/>
                <a:cs typeface="微软雅黑"/>
              </a:rPr>
              <a:t>ResourceType(args...))</a:t>
            </a:r>
            <a:r>
              <a:rPr sz="1800" spc="-5" dirty="0">
                <a:latin typeface="微软雅黑"/>
                <a:cs typeface="微软雅黑"/>
              </a:rPr>
              <a:t> </a:t>
            </a:r>
            <a:r>
              <a:rPr sz="1800" dirty="0">
                <a:latin typeface="微软雅黑"/>
                <a:cs typeface="微软雅黑"/>
              </a:rPr>
              <a:t>{</a:t>
            </a:r>
            <a:endParaRPr sz="1800">
              <a:latin typeface="微软雅黑"/>
              <a:cs typeface="微软雅黑"/>
            </a:endParaRPr>
          </a:p>
          <a:p>
            <a:pPr marL="1666239">
              <a:lnSpc>
                <a:spcPct val="100000"/>
              </a:lnSpc>
            </a:pPr>
            <a:r>
              <a:rPr sz="1800" dirty="0">
                <a:latin typeface="微软雅黑"/>
                <a:cs typeface="微软雅黑"/>
              </a:rPr>
              <a:t>//</a:t>
            </a:r>
            <a:r>
              <a:rPr sz="1800" spc="-5" dirty="0">
                <a:latin typeface="微软雅黑"/>
                <a:cs typeface="微软雅黑"/>
              </a:rPr>
              <a:t> </a:t>
            </a:r>
            <a:r>
              <a:rPr sz="1800" dirty="0">
                <a:latin typeface="微软雅黑"/>
                <a:cs typeface="微软雅黑"/>
              </a:rPr>
              <a:t>代码块</a:t>
            </a:r>
            <a:endParaRPr sz="1800">
              <a:latin typeface="微软雅黑"/>
              <a:cs typeface="微软雅黑"/>
            </a:endParaRPr>
          </a:p>
          <a:p>
            <a:pPr marL="1395095">
              <a:lnSpc>
                <a:spcPct val="100000"/>
              </a:lnSpc>
            </a:pPr>
            <a:r>
              <a:rPr sz="1800" dirty="0">
                <a:latin typeface="微软雅黑"/>
                <a:cs typeface="微软雅黑"/>
              </a:rPr>
              <a:t>} </a:t>
            </a:r>
            <a:r>
              <a:rPr sz="1800" spc="-10" dirty="0">
                <a:latin typeface="微软雅黑"/>
                <a:cs typeface="微软雅黑"/>
              </a:rPr>
              <a:t>catch </a:t>
            </a:r>
            <a:r>
              <a:rPr sz="1800" spc="-15" dirty="0">
                <a:latin typeface="微软雅黑"/>
                <a:cs typeface="微软雅黑"/>
              </a:rPr>
              <a:t>(ExceptionType </a:t>
            </a:r>
            <a:r>
              <a:rPr sz="1800" spc="-5" dirty="0">
                <a:latin typeface="微软雅黑"/>
                <a:cs typeface="微软雅黑"/>
              </a:rPr>
              <a:t>e)</a:t>
            </a:r>
            <a:r>
              <a:rPr sz="1800" spc="20" dirty="0">
                <a:latin typeface="微软雅黑"/>
                <a:cs typeface="微软雅黑"/>
              </a:rPr>
              <a:t> </a:t>
            </a:r>
            <a:r>
              <a:rPr sz="1800" dirty="0">
                <a:latin typeface="微软雅黑"/>
                <a:cs typeface="微软雅黑"/>
              </a:rPr>
              <a:t>{</a:t>
            </a:r>
            <a:endParaRPr sz="1800">
              <a:latin typeface="微软雅黑"/>
              <a:cs typeface="微软雅黑"/>
            </a:endParaRPr>
          </a:p>
          <a:p>
            <a:pPr marL="1666239">
              <a:lnSpc>
                <a:spcPct val="100000"/>
              </a:lnSpc>
            </a:pPr>
            <a:r>
              <a:rPr sz="1800" dirty="0">
                <a:latin typeface="微软雅黑"/>
                <a:cs typeface="微软雅黑"/>
              </a:rPr>
              <a:t>//</a:t>
            </a:r>
            <a:r>
              <a:rPr sz="1800" spc="-5" dirty="0">
                <a:latin typeface="微软雅黑"/>
                <a:cs typeface="微软雅黑"/>
              </a:rPr>
              <a:t> </a:t>
            </a:r>
            <a:r>
              <a:rPr sz="1800" dirty="0">
                <a:latin typeface="微软雅黑"/>
                <a:cs typeface="微软雅黑"/>
              </a:rPr>
              <a:t>异常处理</a:t>
            </a:r>
            <a:endParaRPr sz="1800">
              <a:latin typeface="微软雅黑"/>
              <a:cs typeface="微软雅黑"/>
            </a:endParaRPr>
          </a:p>
          <a:p>
            <a:pPr marL="1395095">
              <a:lnSpc>
                <a:spcPct val="100000"/>
              </a:lnSpc>
            </a:pPr>
            <a:r>
              <a:rPr sz="1800" dirty="0">
                <a:latin typeface="微软雅黑"/>
                <a:cs typeface="微软雅黑"/>
              </a:rPr>
              <a:t>}</a:t>
            </a:r>
            <a:endParaRPr sz="1800">
              <a:latin typeface="微软雅黑"/>
              <a:cs typeface="微软雅黑"/>
            </a:endParaRPr>
          </a:p>
          <a:p>
            <a:pPr>
              <a:lnSpc>
                <a:spcPct val="100000"/>
              </a:lnSpc>
              <a:spcBef>
                <a:spcPts val="80"/>
              </a:spcBef>
            </a:pPr>
            <a:endParaRPr sz="2750">
              <a:latin typeface="微软雅黑"/>
              <a:cs typeface="微软雅黑"/>
            </a:endParaRPr>
          </a:p>
          <a:p>
            <a:pPr marL="251460" marR="5080" indent="67945">
              <a:lnSpc>
                <a:spcPct val="100000"/>
              </a:lnSpc>
            </a:pPr>
            <a:r>
              <a:rPr sz="1800" dirty="0">
                <a:latin typeface="微软雅黑"/>
                <a:cs typeface="微软雅黑"/>
              </a:rPr>
              <a:t>在代码块执行完毕之后，</a:t>
            </a:r>
            <a:r>
              <a:rPr sz="1800" spc="-30" dirty="0">
                <a:latin typeface="微软雅黑"/>
                <a:cs typeface="微软雅黑"/>
              </a:rPr>
              <a:t>J</a:t>
            </a:r>
            <a:r>
              <a:rPr sz="1800" dirty="0">
                <a:latin typeface="微软雅黑"/>
                <a:cs typeface="微软雅黑"/>
              </a:rPr>
              <a:t>a</a:t>
            </a:r>
            <a:r>
              <a:rPr sz="1800" spc="-40" dirty="0">
                <a:latin typeface="微软雅黑"/>
                <a:cs typeface="微软雅黑"/>
              </a:rPr>
              <a:t>v</a:t>
            </a:r>
            <a:r>
              <a:rPr sz="1800" dirty="0">
                <a:latin typeface="微软雅黑"/>
                <a:cs typeface="微软雅黑"/>
              </a:rPr>
              <a:t>a会自动调用这些资源的clos</a:t>
            </a:r>
            <a:r>
              <a:rPr sz="1800" spc="-5" dirty="0">
                <a:latin typeface="微软雅黑"/>
                <a:cs typeface="微软雅黑"/>
              </a:rPr>
              <a:t>e()</a:t>
            </a:r>
            <a:r>
              <a:rPr sz="1800" dirty="0">
                <a:latin typeface="微软雅黑"/>
                <a:cs typeface="微软雅黑"/>
              </a:rPr>
              <a:t>方法，释 放资源</a:t>
            </a:r>
            <a:endParaRPr sz="1800">
              <a:latin typeface="微软雅黑"/>
              <a:cs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4287" y="370700"/>
            <a:ext cx="6146800" cy="345440"/>
          </a:xfrm>
          <a:prstGeom prst="rect">
            <a:avLst/>
          </a:prstGeom>
        </p:spPr>
        <p:txBody>
          <a:bodyPr vert="horz" wrap="square" lIns="0" tIns="12700" rIns="0" bIns="0" rtlCol="0">
            <a:spAutoFit/>
          </a:bodyPr>
          <a:lstStyle/>
          <a:p>
            <a:pPr marL="12700">
              <a:lnSpc>
                <a:spcPct val="100000"/>
              </a:lnSpc>
              <a:spcBef>
                <a:spcPts val="100"/>
              </a:spcBef>
            </a:pPr>
            <a:r>
              <a:rPr sz="2100" spc="-10" dirty="0"/>
              <a:t>12.2.2.3FilterInputStream/FilterOutputStream</a:t>
            </a:r>
            <a:endParaRPr sz="2100"/>
          </a:p>
        </p:txBody>
      </p:sp>
      <p:sp>
        <p:nvSpPr>
          <p:cNvPr id="3" name="object 3"/>
          <p:cNvSpPr txBox="1"/>
          <p:nvPr/>
        </p:nvSpPr>
        <p:spPr>
          <a:xfrm>
            <a:off x="1347279" y="1334146"/>
            <a:ext cx="6645909" cy="313690"/>
          </a:xfrm>
          <a:prstGeom prst="rect">
            <a:avLst/>
          </a:prstGeom>
        </p:spPr>
        <p:txBody>
          <a:bodyPr vert="horz" wrap="square" lIns="0" tIns="17780" rIns="0" bIns="0" rtlCol="0">
            <a:spAutoFit/>
          </a:bodyPr>
          <a:lstStyle/>
          <a:p>
            <a:pPr marL="12700">
              <a:lnSpc>
                <a:spcPct val="100000"/>
              </a:lnSpc>
              <a:spcBef>
                <a:spcPts val="140"/>
              </a:spcBef>
            </a:pPr>
            <a:r>
              <a:rPr sz="1850" i="1" spc="-509" dirty="0">
                <a:latin typeface="微软雅黑"/>
                <a:cs typeface="微软雅黑"/>
              </a:rPr>
              <a:t>Filterstreams</a:t>
            </a:r>
            <a:r>
              <a:rPr sz="1800" spc="-509" dirty="0">
                <a:latin typeface="微软雅黑"/>
                <a:cs typeface="微软雅黑"/>
              </a:rPr>
              <a:t>are </a:t>
            </a:r>
            <a:r>
              <a:rPr sz="1800" spc="-10" dirty="0">
                <a:latin typeface="微软雅黑"/>
                <a:cs typeface="微软雅黑"/>
              </a:rPr>
              <a:t>streams </a:t>
            </a:r>
            <a:r>
              <a:rPr sz="1800" spc="-5" dirty="0">
                <a:latin typeface="微软雅黑"/>
                <a:cs typeface="微软雅黑"/>
              </a:rPr>
              <a:t>that filter bytes </a:t>
            </a:r>
            <a:r>
              <a:rPr sz="1800" dirty="0">
                <a:latin typeface="微软雅黑"/>
                <a:cs typeface="微软雅黑"/>
              </a:rPr>
              <a:t>for </a:t>
            </a:r>
            <a:r>
              <a:rPr sz="1800" spc="-5" dirty="0">
                <a:latin typeface="微软雅黑"/>
                <a:cs typeface="微软雅黑"/>
              </a:rPr>
              <a:t>some</a:t>
            </a:r>
            <a:r>
              <a:rPr sz="1800" spc="35" dirty="0">
                <a:latin typeface="微软雅黑"/>
                <a:cs typeface="微软雅黑"/>
              </a:rPr>
              <a:t> </a:t>
            </a:r>
            <a:r>
              <a:rPr sz="1800" spc="-5" dirty="0">
                <a:latin typeface="微软雅黑"/>
                <a:cs typeface="微软雅黑"/>
              </a:rPr>
              <a:t>purpose.</a:t>
            </a:r>
            <a:endParaRPr sz="1800">
              <a:latin typeface="微软雅黑"/>
              <a:cs typeface="微软雅黑"/>
            </a:endParaRPr>
          </a:p>
        </p:txBody>
      </p:sp>
      <p:sp>
        <p:nvSpPr>
          <p:cNvPr id="4" name="object 4"/>
          <p:cNvSpPr txBox="1"/>
          <p:nvPr/>
        </p:nvSpPr>
        <p:spPr>
          <a:xfrm>
            <a:off x="536701" y="4012476"/>
            <a:ext cx="845819" cy="340360"/>
          </a:xfrm>
          <a:prstGeom prst="rect">
            <a:avLst/>
          </a:prstGeom>
          <a:ln w="16852">
            <a:solidFill>
              <a:srgbClr val="000000"/>
            </a:solidFill>
          </a:ln>
        </p:spPr>
        <p:txBody>
          <a:bodyPr vert="horz" wrap="square" lIns="0" tIns="26034" rIns="0" bIns="0" rtlCol="0">
            <a:spAutoFit/>
          </a:bodyPr>
          <a:lstStyle/>
          <a:p>
            <a:pPr marL="170815">
              <a:lnSpc>
                <a:spcPct val="100000"/>
              </a:lnSpc>
              <a:spcBef>
                <a:spcPts val="204"/>
              </a:spcBef>
            </a:pPr>
            <a:r>
              <a:rPr sz="1450" spc="10" dirty="0">
                <a:latin typeface="Times New Roman"/>
                <a:cs typeface="Times New Roman"/>
              </a:rPr>
              <a:t>Object</a:t>
            </a:r>
            <a:endParaRPr sz="1450">
              <a:latin typeface="Times New Roman"/>
              <a:cs typeface="Times New Roman"/>
            </a:endParaRPr>
          </a:p>
        </p:txBody>
      </p:sp>
      <p:sp>
        <p:nvSpPr>
          <p:cNvPr id="5" name="object 5"/>
          <p:cNvSpPr txBox="1"/>
          <p:nvPr/>
        </p:nvSpPr>
        <p:spPr>
          <a:xfrm>
            <a:off x="4075379" y="5259514"/>
            <a:ext cx="1858010" cy="340360"/>
          </a:xfrm>
          <a:prstGeom prst="rect">
            <a:avLst/>
          </a:prstGeom>
          <a:ln w="16852">
            <a:solidFill>
              <a:srgbClr val="000000"/>
            </a:solidFill>
          </a:ln>
        </p:spPr>
        <p:txBody>
          <a:bodyPr vert="horz" wrap="square" lIns="0" tIns="23495" rIns="0" bIns="0" rtlCol="0">
            <a:spAutoFit/>
          </a:bodyPr>
          <a:lstStyle/>
          <a:p>
            <a:pPr marL="107314">
              <a:lnSpc>
                <a:spcPct val="100000"/>
              </a:lnSpc>
              <a:spcBef>
                <a:spcPts val="185"/>
              </a:spcBef>
            </a:pPr>
            <a:r>
              <a:rPr sz="1450" spc="5" dirty="0">
                <a:latin typeface="Times New Roman"/>
                <a:cs typeface="Times New Roman"/>
              </a:rPr>
              <a:t>ObjectOutputStream</a:t>
            </a:r>
            <a:endParaRPr sz="1450">
              <a:latin typeface="Times New Roman"/>
              <a:cs typeface="Times New Roman"/>
            </a:endParaRPr>
          </a:p>
        </p:txBody>
      </p:sp>
      <p:sp>
        <p:nvSpPr>
          <p:cNvPr id="6" name="object 6"/>
          <p:cNvSpPr txBox="1"/>
          <p:nvPr/>
        </p:nvSpPr>
        <p:spPr>
          <a:xfrm>
            <a:off x="4075379" y="4782045"/>
            <a:ext cx="1686560" cy="340360"/>
          </a:xfrm>
          <a:prstGeom prst="rect">
            <a:avLst/>
          </a:prstGeom>
          <a:solidFill>
            <a:srgbClr val="339966"/>
          </a:solidFill>
          <a:ln w="16852">
            <a:solidFill>
              <a:srgbClr val="000000"/>
            </a:solidFill>
          </a:ln>
        </p:spPr>
        <p:txBody>
          <a:bodyPr vert="horz" wrap="square" lIns="0" tIns="26034" rIns="0" bIns="0" rtlCol="0">
            <a:spAutoFit/>
          </a:bodyPr>
          <a:lstStyle/>
          <a:p>
            <a:pPr marL="135255">
              <a:lnSpc>
                <a:spcPct val="100000"/>
              </a:lnSpc>
              <a:spcBef>
                <a:spcPts val="204"/>
              </a:spcBef>
            </a:pPr>
            <a:r>
              <a:rPr sz="1450" spc="5" dirty="0">
                <a:latin typeface="Times New Roman"/>
                <a:cs typeface="Times New Roman"/>
              </a:rPr>
              <a:t>FilterOutputStream</a:t>
            </a:r>
            <a:endParaRPr sz="1450">
              <a:latin typeface="Times New Roman"/>
              <a:cs typeface="Times New Roman"/>
            </a:endParaRPr>
          </a:p>
        </p:txBody>
      </p:sp>
      <p:sp>
        <p:nvSpPr>
          <p:cNvPr id="7" name="object 7"/>
          <p:cNvSpPr txBox="1"/>
          <p:nvPr/>
        </p:nvSpPr>
        <p:spPr>
          <a:xfrm>
            <a:off x="4075379" y="4276496"/>
            <a:ext cx="1627505" cy="340360"/>
          </a:xfrm>
          <a:prstGeom prst="rect">
            <a:avLst/>
          </a:prstGeom>
          <a:ln w="16852">
            <a:solidFill>
              <a:srgbClr val="000000"/>
            </a:solidFill>
          </a:ln>
        </p:spPr>
        <p:txBody>
          <a:bodyPr vert="horz" wrap="square" lIns="0" tIns="23495" rIns="0" bIns="0" rtlCol="0">
            <a:spAutoFit/>
          </a:bodyPr>
          <a:lstStyle/>
          <a:p>
            <a:pPr marL="107314">
              <a:lnSpc>
                <a:spcPct val="100000"/>
              </a:lnSpc>
              <a:spcBef>
                <a:spcPts val="185"/>
              </a:spcBef>
            </a:pPr>
            <a:r>
              <a:rPr sz="1450" spc="5" dirty="0">
                <a:latin typeface="Times New Roman"/>
                <a:cs typeface="Times New Roman"/>
              </a:rPr>
              <a:t>FileOutputStream</a:t>
            </a:r>
            <a:endParaRPr sz="1450">
              <a:latin typeface="Times New Roman"/>
              <a:cs typeface="Times New Roman"/>
            </a:endParaRPr>
          </a:p>
        </p:txBody>
      </p:sp>
      <p:sp>
        <p:nvSpPr>
          <p:cNvPr id="8" name="object 8"/>
          <p:cNvSpPr txBox="1"/>
          <p:nvPr/>
        </p:nvSpPr>
        <p:spPr>
          <a:xfrm>
            <a:off x="6632702" y="3456368"/>
            <a:ext cx="1806575" cy="337185"/>
          </a:xfrm>
          <a:prstGeom prst="rect">
            <a:avLst/>
          </a:prstGeom>
          <a:ln w="16852">
            <a:solidFill>
              <a:srgbClr val="000000"/>
            </a:solidFill>
          </a:ln>
        </p:spPr>
        <p:txBody>
          <a:bodyPr vert="horz" wrap="square" lIns="0" tIns="23495" rIns="0" bIns="0" rtlCol="0">
            <a:spAutoFit/>
          </a:bodyPr>
          <a:lstStyle/>
          <a:p>
            <a:pPr marL="106045">
              <a:lnSpc>
                <a:spcPct val="100000"/>
              </a:lnSpc>
              <a:spcBef>
                <a:spcPts val="185"/>
              </a:spcBef>
            </a:pPr>
            <a:r>
              <a:rPr sz="1450" spc="5" dirty="0">
                <a:latin typeface="Times New Roman"/>
                <a:cs typeface="Times New Roman"/>
              </a:rPr>
              <a:t>BufferedInputStream</a:t>
            </a:r>
            <a:endParaRPr sz="1450">
              <a:latin typeface="Times New Roman"/>
              <a:cs typeface="Times New Roman"/>
            </a:endParaRPr>
          </a:p>
        </p:txBody>
      </p:sp>
      <p:sp>
        <p:nvSpPr>
          <p:cNvPr id="9" name="object 9"/>
          <p:cNvSpPr txBox="1"/>
          <p:nvPr/>
        </p:nvSpPr>
        <p:spPr>
          <a:xfrm>
            <a:off x="6632702" y="2948012"/>
            <a:ext cx="1520190" cy="340360"/>
          </a:xfrm>
          <a:prstGeom prst="rect">
            <a:avLst/>
          </a:prstGeom>
          <a:ln w="16852">
            <a:solidFill>
              <a:srgbClr val="000000"/>
            </a:solidFill>
          </a:ln>
        </p:spPr>
        <p:txBody>
          <a:bodyPr vert="horz" wrap="square" lIns="0" tIns="23495" rIns="0" bIns="0" rtlCol="0">
            <a:spAutoFit/>
          </a:bodyPr>
          <a:lstStyle/>
          <a:p>
            <a:pPr marL="120650">
              <a:lnSpc>
                <a:spcPct val="100000"/>
              </a:lnSpc>
              <a:spcBef>
                <a:spcPts val="185"/>
              </a:spcBef>
            </a:pPr>
            <a:r>
              <a:rPr sz="1450" spc="5" dirty="0">
                <a:latin typeface="Times New Roman"/>
                <a:cs typeface="Times New Roman"/>
              </a:rPr>
              <a:t>DataInputStream</a:t>
            </a:r>
            <a:endParaRPr sz="1450" dirty="0">
              <a:latin typeface="Times New Roman"/>
              <a:cs typeface="Times New Roman"/>
            </a:endParaRPr>
          </a:p>
        </p:txBody>
      </p:sp>
      <p:sp>
        <p:nvSpPr>
          <p:cNvPr id="10" name="object 10"/>
          <p:cNvSpPr/>
          <p:nvPr/>
        </p:nvSpPr>
        <p:spPr>
          <a:xfrm>
            <a:off x="3587508" y="2821622"/>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11" name="object 11"/>
          <p:cNvSpPr txBox="1"/>
          <p:nvPr/>
        </p:nvSpPr>
        <p:spPr>
          <a:xfrm>
            <a:off x="6603673" y="4276496"/>
            <a:ext cx="2026920" cy="340360"/>
          </a:xfrm>
          <a:prstGeom prst="rect">
            <a:avLst/>
          </a:prstGeom>
          <a:ln w="16852">
            <a:solidFill>
              <a:srgbClr val="000000"/>
            </a:solidFill>
          </a:ln>
        </p:spPr>
        <p:txBody>
          <a:bodyPr vert="horz" wrap="square" lIns="0" tIns="23495" rIns="0" bIns="0" rtlCol="0">
            <a:spAutoFit/>
          </a:bodyPr>
          <a:lstStyle/>
          <a:p>
            <a:pPr marL="154940">
              <a:lnSpc>
                <a:spcPct val="100000"/>
              </a:lnSpc>
              <a:spcBef>
                <a:spcPts val="185"/>
              </a:spcBef>
            </a:pPr>
            <a:r>
              <a:rPr sz="1450" spc="5" dirty="0">
                <a:latin typeface="Times New Roman"/>
                <a:cs typeface="Times New Roman"/>
              </a:rPr>
              <a:t>BufferedOutputStream</a:t>
            </a:r>
            <a:endParaRPr sz="1450">
              <a:latin typeface="Times New Roman"/>
              <a:cs typeface="Times New Roman"/>
            </a:endParaRPr>
          </a:p>
        </p:txBody>
      </p:sp>
      <p:sp>
        <p:nvSpPr>
          <p:cNvPr id="12" name="object 12"/>
          <p:cNvSpPr txBox="1"/>
          <p:nvPr/>
        </p:nvSpPr>
        <p:spPr>
          <a:xfrm>
            <a:off x="6603673" y="4782045"/>
            <a:ext cx="1686560" cy="340360"/>
          </a:xfrm>
          <a:prstGeom prst="rect">
            <a:avLst/>
          </a:prstGeom>
          <a:ln w="16852">
            <a:solidFill>
              <a:srgbClr val="000000"/>
            </a:solidFill>
          </a:ln>
        </p:spPr>
        <p:txBody>
          <a:bodyPr vert="horz" wrap="square" lIns="0" tIns="26034" rIns="0" bIns="0" rtlCol="0">
            <a:spAutoFit/>
          </a:bodyPr>
          <a:lstStyle/>
          <a:p>
            <a:pPr marL="135255">
              <a:lnSpc>
                <a:spcPct val="100000"/>
              </a:lnSpc>
              <a:spcBef>
                <a:spcPts val="204"/>
              </a:spcBef>
            </a:pPr>
            <a:r>
              <a:rPr sz="1450" spc="10" dirty="0">
                <a:latin typeface="Times New Roman"/>
                <a:cs typeface="Times New Roman"/>
              </a:rPr>
              <a:t>DataOutputStream</a:t>
            </a:r>
            <a:endParaRPr sz="1450">
              <a:latin typeface="Times New Roman"/>
              <a:cs typeface="Times New Roman"/>
            </a:endParaRPr>
          </a:p>
        </p:txBody>
      </p:sp>
      <p:sp>
        <p:nvSpPr>
          <p:cNvPr id="13" name="object 13"/>
          <p:cNvSpPr txBox="1"/>
          <p:nvPr/>
        </p:nvSpPr>
        <p:spPr>
          <a:xfrm>
            <a:off x="6603673" y="5287594"/>
            <a:ext cx="1352550" cy="340360"/>
          </a:xfrm>
          <a:prstGeom prst="rect">
            <a:avLst/>
          </a:prstGeom>
          <a:ln w="16852">
            <a:solidFill>
              <a:srgbClr val="000000"/>
            </a:solidFill>
          </a:ln>
        </p:spPr>
        <p:txBody>
          <a:bodyPr vert="horz" wrap="square" lIns="0" tIns="23495" rIns="0" bIns="0" rtlCol="0">
            <a:spAutoFit/>
          </a:bodyPr>
          <a:lstStyle/>
          <a:p>
            <a:pPr marL="154940">
              <a:lnSpc>
                <a:spcPct val="100000"/>
              </a:lnSpc>
              <a:spcBef>
                <a:spcPts val="185"/>
              </a:spcBef>
            </a:pPr>
            <a:r>
              <a:rPr sz="1450" spc="5" dirty="0">
                <a:latin typeface="Times New Roman"/>
                <a:cs typeface="Times New Roman"/>
              </a:rPr>
              <a:t>PrintStream</a:t>
            </a:r>
            <a:endParaRPr sz="1450">
              <a:latin typeface="Times New Roman"/>
              <a:cs typeface="Times New Roman"/>
            </a:endParaRPr>
          </a:p>
        </p:txBody>
      </p:sp>
      <p:sp>
        <p:nvSpPr>
          <p:cNvPr id="14" name="object 14"/>
          <p:cNvSpPr txBox="1"/>
          <p:nvPr/>
        </p:nvSpPr>
        <p:spPr>
          <a:xfrm>
            <a:off x="4093171" y="3686683"/>
            <a:ext cx="1688464" cy="340360"/>
          </a:xfrm>
          <a:prstGeom prst="rect">
            <a:avLst/>
          </a:prstGeom>
          <a:ln w="16852">
            <a:solidFill>
              <a:srgbClr val="000000"/>
            </a:solidFill>
          </a:ln>
        </p:spPr>
        <p:txBody>
          <a:bodyPr vert="horz" wrap="square" lIns="0" tIns="23495" rIns="0" bIns="0" rtlCol="0">
            <a:spAutoFit/>
          </a:bodyPr>
          <a:lstStyle/>
          <a:p>
            <a:pPr marL="131445">
              <a:lnSpc>
                <a:spcPct val="100000"/>
              </a:lnSpc>
              <a:spcBef>
                <a:spcPts val="185"/>
              </a:spcBef>
            </a:pPr>
            <a:r>
              <a:rPr sz="1450" spc="5" dirty="0">
                <a:latin typeface="Times New Roman"/>
                <a:cs typeface="Times New Roman"/>
              </a:rPr>
              <a:t>ObjectInputStream</a:t>
            </a:r>
            <a:endParaRPr sz="1450">
              <a:latin typeface="Times New Roman"/>
              <a:cs typeface="Times New Roman"/>
            </a:endParaRPr>
          </a:p>
        </p:txBody>
      </p:sp>
      <p:sp>
        <p:nvSpPr>
          <p:cNvPr id="15" name="object 15"/>
          <p:cNvSpPr txBox="1"/>
          <p:nvPr/>
        </p:nvSpPr>
        <p:spPr>
          <a:xfrm>
            <a:off x="4093171" y="3158655"/>
            <a:ext cx="1688464" cy="340360"/>
          </a:xfrm>
          <a:prstGeom prst="rect">
            <a:avLst/>
          </a:prstGeom>
          <a:solidFill>
            <a:srgbClr val="339966"/>
          </a:solidFill>
          <a:ln w="16852">
            <a:solidFill>
              <a:srgbClr val="000000"/>
            </a:solidFill>
          </a:ln>
        </p:spPr>
        <p:txBody>
          <a:bodyPr vert="horz" wrap="square" lIns="0" tIns="23495" rIns="0" bIns="0" rtlCol="0">
            <a:spAutoFit/>
          </a:bodyPr>
          <a:lstStyle/>
          <a:p>
            <a:pPr marL="106045">
              <a:lnSpc>
                <a:spcPct val="100000"/>
              </a:lnSpc>
              <a:spcBef>
                <a:spcPts val="185"/>
              </a:spcBef>
            </a:pPr>
            <a:r>
              <a:rPr sz="1450" spc="5" dirty="0">
                <a:latin typeface="Times New Roman"/>
                <a:cs typeface="Times New Roman"/>
              </a:rPr>
              <a:t>FilterInputStream</a:t>
            </a:r>
            <a:endParaRPr sz="1450">
              <a:latin typeface="Times New Roman"/>
              <a:cs typeface="Times New Roman"/>
            </a:endParaRPr>
          </a:p>
        </p:txBody>
      </p:sp>
      <p:sp>
        <p:nvSpPr>
          <p:cNvPr id="16" name="object 16"/>
          <p:cNvSpPr txBox="1"/>
          <p:nvPr/>
        </p:nvSpPr>
        <p:spPr>
          <a:xfrm>
            <a:off x="4093171" y="2653106"/>
            <a:ext cx="1520190" cy="340360"/>
          </a:xfrm>
          <a:prstGeom prst="rect">
            <a:avLst/>
          </a:prstGeom>
          <a:ln w="16852">
            <a:solidFill>
              <a:srgbClr val="000000"/>
            </a:solidFill>
          </a:ln>
        </p:spPr>
        <p:txBody>
          <a:bodyPr vert="horz" wrap="square" lIns="0" tIns="23495" rIns="0" bIns="0" rtlCol="0">
            <a:spAutoFit/>
          </a:bodyPr>
          <a:lstStyle/>
          <a:p>
            <a:pPr marL="151130">
              <a:lnSpc>
                <a:spcPct val="100000"/>
              </a:lnSpc>
              <a:spcBef>
                <a:spcPts val="185"/>
              </a:spcBef>
            </a:pPr>
            <a:r>
              <a:rPr sz="1450" spc="5" dirty="0">
                <a:latin typeface="Times New Roman"/>
                <a:cs typeface="Times New Roman"/>
              </a:rPr>
              <a:t>FileInputStream</a:t>
            </a:r>
            <a:endParaRPr sz="1450">
              <a:latin typeface="Times New Roman"/>
              <a:cs typeface="Times New Roman"/>
            </a:endParaRPr>
          </a:p>
        </p:txBody>
      </p:sp>
      <p:sp>
        <p:nvSpPr>
          <p:cNvPr id="17" name="object 17"/>
          <p:cNvSpPr/>
          <p:nvPr/>
        </p:nvSpPr>
        <p:spPr>
          <a:xfrm>
            <a:off x="3587508" y="3327171"/>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18" name="object 18"/>
          <p:cNvSpPr/>
          <p:nvPr/>
        </p:nvSpPr>
        <p:spPr>
          <a:xfrm>
            <a:off x="3587508" y="3855199"/>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19" name="object 19"/>
          <p:cNvSpPr/>
          <p:nvPr/>
        </p:nvSpPr>
        <p:spPr>
          <a:xfrm>
            <a:off x="1379461" y="4180992"/>
            <a:ext cx="168910" cy="168910"/>
          </a:xfrm>
          <a:custGeom>
            <a:avLst/>
            <a:gdLst/>
            <a:ahLst/>
            <a:cxnLst/>
            <a:rect l="l" t="t" r="r" b="b"/>
            <a:pathLst>
              <a:path w="168909" h="168910">
                <a:moveTo>
                  <a:pt x="168554" y="168529"/>
                </a:moveTo>
                <a:lnTo>
                  <a:pt x="0" y="0"/>
                </a:lnTo>
              </a:path>
            </a:pathLst>
          </a:custGeom>
          <a:ln w="16852">
            <a:solidFill>
              <a:srgbClr val="FF0000"/>
            </a:solidFill>
          </a:ln>
        </p:spPr>
        <p:txBody>
          <a:bodyPr wrap="square" lIns="0" tIns="0" rIns="0" bIns="0" rtlCol="0"/>
          <a:lstStyle/>
          <a:p>
            <a:endParaRPr/>
          </a:p>
        </p:txBody>
      </p:sp>
      <p:sp>
        <p:nvSpPr>
          <p:cNvPr id="20" name="object 20"/>
          <p:cNvSpPr/>
          <p:nvPr/>
        </p:nvSpPr>
        <p:spPr>
          <a:xfrm>
            <a:off x="1379461" y="4012476"/>
            <a:ext cx="174625" cy="168910"/>
          </a:xfrm>
          <a:custGeom>
            <a:avLst/>
            <a:gdLst/>
            <a:ahLst/>
            <a:cxnLst/>
            <a:rect l="l" t="t" r="r" b="b"/>
            <a:pathLst>
              <a:path w="174625" h="168910">
                <a:moveTo>
                  <a:pt x="174180" y="0"/>
                </a:moveTo>
                <a:lnTo>
                  <a:pt x="0" y="168516"/>
                </a:lnTo>
              </a:path>
            </a:pathLst>
          </a:custGeom>
          <a:ln w="16852">
            <a:solidFill>
              <a:srgbClr val="FF0000"/>
            </a:solidFill>
          </a:ln>
        </p:spPr>
        <p:txBody>
          <a:bodyPr wrap="square" lIns="0" tIns="0" rIns="0" bIns="0" rtlCol="0"/>
          <a:lstStyle/>
          <a:p>
            <a:endParaRPr/>
          </a:p>
        </p:txBody>
      </p:sp>
      <p:graphicFrame>
        <p:nvGraphicFramePr>
          <p:cNvPr id="21" name="object 21"/>
          <p:cNvGraphicFramePr>
            <a:graphicFrameLocks noGrp="1"/>
          </p:cNvGraphicFramePr>
          <p:nvPr/>
        </p:nvGraphicFramePr>
        <p:xfrm>
          <a:off x="1539589" y="3153035"/>
          <a:ext cx="1691004" cy="1943568"/>
        </p:xfrm>
        <a:graphic>
          <a:graphicData uri="http://schemas.openxmlformats.org/drawingml/2006/table">
            <a:tbl>
              <a:tblPr firstRow="1" bandRow="1">
                <a:tableStyleId>{2D5ABB26-0587-4C30-8999-92F81FD0307C}</a:tableStyleId>
              </a:tblPr>
              <a:tblGrid>
                <a:gridCol w="180975">
                  <a:extLst>
                    <a:ext uri="{9D8B030D-6E8A-4147-A177-3AD203B41FA5}">
                      <a16:colId xmlns:a16="http://schemas.microsoft.com/office/drawing/2014/main" val="20000"/>
                    </a:ext>
                  </a:extLst>
                </a:gridCol>
                <a:gridCol w="267970">
                  <a:extLst>
                    <a:ext uri="{9D8B030D-6E8A-4147-A177-3AD203B41FA5}">
                      <a16:colId xmlns:a16="http://schemas.microsoft.com/office/drawing/2014/main" val="20001"/>
                    </a:ext>
                  </a:extLst>
                </a:gridCol>
                <a:gridCol w="64134">
                  <a:extLst>
                    <a:ext uri="{9D8B030D-6E8A-4147-A177-3AD203B41FA5}">
                      <a16:colId xmlns:a16="http://schemas.microsoft.com/office/drawing/2014/main" val="20002"/>
                    </a:ext>
                  </a:extLst>
                </a:gridCol>
                <a:gridCol w="1177925">
                  <a:extLst>
                    <a:ext uri="{9D8B030D-6E8A-4147-A177-3AD203B41FA5}">
                      <a16:colId xmlns:a16="http://schemas.microsoft.com/office/drawing/2014/main" val="20003"/>
                    </a:ext>
                  </a:extLst>
                </a:gridCol>
              </a:tblGrid>
              <a:tr h="168516">
                <a:tc gridSpan="3">
                  <a:txBody>
                    <a:bodyPr/>
                    <a:lstStyle/>
                    <a:p>
                      <a:pPr>
                        <a:lnSpc>
                          <a:spcPct val="100000"/>
                        </a:lnSpc>
                      </a:pPr>
                      <a:endParaRPr sz="900">
                        <a:latin typeface="Times New Roman"/>
                        <a:cs typeface="Times New Roman"/>
                      </a:endParaRPr>
                    </a:p>
                  </a:txBody>
                  <a:tcPr marL="0" marR="0" marT="0" marB="0">
                    <a:lnR w="19050">
                      <a:solidFill>
                        <a:srgbClr val="000000"/>
                      </a:solidFill>
                      <a:prstDash val="solid"/>
                    </a:lnR>
                  </a:tcPr>
                </a:tc>
                <a:tc hMerge="1">
                  <a:txBody>
                    <a:bodyPr/>
                    <a:lstStyle/>
                    <a:p>
                      <a:endParaRPr/>
                    </a:p>
                  </a:txBody>
                  <a:tcPr marL="0" marR="0" marT="0" marB="0"/>
                </a:tc>
                <a:tc hMerge="1">
                  <a:txBody>
                    <a:bodyPr/>
                    <a:lstStyle/>
                    <a:p>
                      <a:endParaRPr/>
                    </a:p>
                  </a:txBody>
                  <a:tcPr marL="0" marR="0" marT="0" marB="0"/>
                </a:tc>
                <a:tc rowSpan="2">
                  <a:txBody>
                    <a:bodyPr/>
                    <a:lstStyle/>
                    <a:p>
                      <a:pPr marL="126364">
                        <a:lnSpc>
                          <a:spcPct val="100000"/>
                        </a:lnSpc>
                        <a:spcBef>
                          <a:spcPts val="185"/>
                        </a:spcBef>
                      </a:pPr>
                      <a:r>
                        <a:rPr sz="1450" i="1" spc="10" dirty="0">
                          <a:latin typeface="Times New Roman"/>
                          <a:cs typeface="Times New Roman"/>
                        </a:rPr>
                        <a:t>InputStream</a:t>
                      </a:r>
                      <a:endParaRPr sz="1450">
                        <a:latin typeface="Times New Roman"/>
                        <a:cs typeface="Times New Roman"/>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71323">
                <a:tc rowSpan="2">
                  <a:txBody>
                    <a:bodyPr/>
                    <a:lstStyle/>
                    <a:p>
                      <a:pPr>
                        <a:lnSpc>
                          <a:spcPct val="100000"/>
                        </a:lnSpc>
                      </a:pPr>
                      <a:endParaRPr sz="1600">
                        <a:latin typeface="Times New Roman"/>
                        <a:cs typeface="Times New Roman"/>
                      </a:endParaRPr>
                    </a:p>
                  </a:txBody>
                  <a:tcPr marL="0" marR="0" marT="0" marB="0">
                    <a:lnR w="28575">
                      <a:solidFill>
                        <a:srgbClr val="FF0000"/>
                      </a:solidFill>
                      <a:prstDash val="solid"/>
                    </a:lnR>
                    <a:lnB w="19050">
                      <a:solidFill>
                        <a:srgbClr val="FF0000"/>
                      </a:solidFill>
                      <a:prstDash val="solid"/>
                    </a:lnB>
                  </a:tcPr>
                </a:tc>
                <a:tc gridSpan="2">
                  <a:txBody>
                    <a:bodyPr/>
                    <a:lstStyle/>
                    <a:p>
                      <a:pPr>
                        <a:lnSpc>
                          <a:spcPct val="100000"/>
                        </a:lnSpc>
                      </a:pPr>
                      <a:endParaRPr sz="900">
                        <a:latin typeface="Times New Roman"/>
                        <a:cs typeface="Times New Roman"/>
                      </a:endParaRPr>
                    </a:p>
                  </a:txBody>
                  <a:tcPr marL="0" marR="0" marT="0" marB="0">
                    <a:lnL w="28575">
                      <a:solidFill>
                        <a:srgbClr val="FF0000"/>
                      </a:solidFill>
                      <a:prstDash val="solid"/>
                    </a:lnL>
                    <a:lnR w="19050">
                      <a:solidFill>
                        <a:srgbClr val="000000"/>
                      </a:solidFill>
                      <a:prstDash val="solid"/>
                    </a:lnR>
                    <a:lnT w="19050">
                      <a:solidFill>
                        <a:srgbClr val="FF0000"/>
                      </a:solidFill>
                      <a:prstDash val="solid"/>
                    </a:lnT>
                  </a:tcPr>
                </a:tc>
                <a:tc hMerge="1">
                  <a:txBody>
                    <a:bodyPr/>
                    <a:lstStyle/>
                    <a:p>
                      <a:endParaRPr/>
                    </a:p>
                  </a:txBody>
                  <a:tcPr marL="0" marR="0" marT="0" marB="0"/>
                </a:tc>
                <a:tc vMerge="1">
                  <a:txBody>
                    <a:bodyPr/>
                    <a:lstStyle/>
                    <a:p>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679691">
                <a:tc vMerge="1">
                  <a:txBody>
                    <a:bodyPr/>
                    <a:lstStyle/>
                    <a:p>
                      <a:endParaRPr/>
                    </a:p>
                  </a:txBody>
                  <a:tcPr marL="0" marR="0" marT="0" marB="0">
                    <a:lnR w="28575">
                      <a:solidFill>
                        <a:srgbClr val="FF0000"/>
                      </a:solidFill>
                      <a:prstDash val="solid"/>
                    </a:lnR>
                    <a:lnB w="19050">
                      <a:solidFill>
                        <a:srgbClr val="FF0000"/>
                      </a:solidFill>
                      <a:prstDash val="solid"/>
                    </a:lnB>
                  </a:tcPr>
                </a:tc>
                <a:tc rowSpan="2" gridSpan="3">
                  <a:txBody>
                    <a:bodyPr/>
                    <a:lstStyle/>
                    <a:p>
                      <a:pPr>
                        <a:lnSpc>
                          <a:spcPct val="100000"/>
                        </a:lnSpc>
                      </a:pPr>
                      <a:endParaRPr sz="1600">
                        <a:latin typeface="Times New Roman"/>
                        <a:cs typeface="Times New Roman"/>
                      </a:endParaRPr>
                    </a:p>
                  </a:txBody>
                  <a:tcPr marL="0" marR="0" marT="0" marB="0">
                    <a:lnL w="28575">
                      <a:solidFill>
                        <a:srgbClr val="FF0000"/>
                      </a:solidFill>
                      <a:prstDash val="solid"/>
                    </a:lnL>
                  </a:tcPr>
                </a:tc>
                <a:tc rowSpan="2" hMerge="1">
                  <a:txBody>
                    <a:bodyPr/>
                    <a:lstStyle/>
                    <a:p>
                      <a:endParaRPr/>
                    </a:p>
                  </a:txBody>
                  <a:tcPr marL="0" marR="0" marT="0" marB="0"/>
                </a:tc>
                <a:tc rowSpan="2" hMerge="1">
                  <a:txBody>
                    <a:bodyPr/>
                    <a:lstStyle/>
                    <a:p>
                      <a:endParaRPr/>
                    </a:p>
                  </a:txBody>
                  <a:tcPr marL="0" marR="0" marT="0" marB="0"/>
                </a:tc>
                <a:extLst>
                  <a:ext uri="{0D108BD9-81ED-4DB2-BD59-A6C34878D82A}">
                    <a16:rowId xmlns:a16="http://schemas.microsoft.com/office/drawing/2014/main" val="10002"/>
                  </a:ext>
                </a:extLst>
              </a:tr>
              <a:tr h="587006">
                <a:tc rowSpan="2">
                  <a:txBody>
                    <a:bodyPr/>
                    <a:lstStyle/>
                    <a:p>
                      <a:pPr>
                        <a:lnSpc>
                          <a:spcPct val="100000"/>
                        </a:lnSpc>
                      </a:pPr>
                      <a:endParaRPr sz="1600">
                        <a:latin typeface="Times New Roman"/>
                        <a:cs typeface="Times New Roman"/>
                      </a:endParaRPr>
                    </a:p>
                  </a:txBody>
                  <a:tcPr marL="0" marR="0" marT="0" marB="0">
                    <a:lnR w="28575">
                      <a:solidFill>
                        <a:srgbClr val="FF0000"/>
                      </a:solidFill>
                      <a:prstDash val="solid"/>
                    </a:lnR>
                    <a:lnT w="19050">
                      <a:solidFill>
                        <a:srgbClr val="FF0000"/>
                      </a:solidFill>
                      <a:prstDash val="solid"/>
                    </a:lnT>
                  </a:tcPr>
                </a:tc>
                <a:tc gridSpan="3" vMerge="1">
                  <a:txBody>
                    <a:bodyPr/>
                    <a:lstStyle/>
                    <a:p>
                      <a:endParaRPr/>
                    </a:p>
                  </a:txBody>
                  <a:tcPr marL="0" marR="0" marT="0" marB="0">
                    <a:lnL w="28575">
                      <a:solidFill>
                        <a:srgbClr val="FF0000"/>
                      </a:solidFill>
                      <a:prstDash val="solid"/>
                    </a:lnL>
                  </a:tcPr>
                </a:tc>
                <a:tc hMerge="1" vMerge="1">
                  <a:txBody>
                    <a:bodyPr/>
                    <a:lstStyle/>
                    <a:p>
                      <a:endParaRPr/>
                    </a:p>
                  </a:txBody>
                  <a:tcPr marL="0" marR="0" marT="0" marB="0"/>
                </a:tc>
                <a:tc hMerge="1" vMerge="1">
                  <a:txBody>
                    <a:bodyPr/>
                    <a:lstStyle/>
                    <a:p>
                      <a:endParaRPr/>
                    </a:p>
                  </a:txBody>
                  <a:tcPr marL="0" marR="0" marT="0" marB="0"/>
                </a:tc>
                <a:extLst>
                  <a:ext uri="{0D108BD9-81ED-4DB2-BD59-A6C34878D82A}">
                    <a16:rowId xmlns:a16="http://schemas.microsoft.com/office/drawing/2014/main" val="10003"/>
                  </a:ext>
                </a:extLst>
              </a:tr>
              <a:tr h="181159">
                <a:tc vMerge="1">
                  <a:txBody>
                    <a:bodyPr/>
                    <a:lstStyle/>
                    <a:p>
                      <a:endParaRPr/>
                    </a:p>
                  </a:txBody>
                  <a:tcPr marL="0" marR="0" marT="0" marB="0">
                    <a:lnR w="28575">
                      <a:solidFill>
                        <a:srgbClr val="FF0000"/>
                      </a:solidFill>
                      <a:prstDash val="solid"/>
                    </a:lnR>
                    <a:lnT w="19050">
                      <a:solidFill>
                        <a:srgbClr val="FF0000"/>
                      </a:solidFill>
                      <a:prstDash val="solid"/>
                    </a:lnT>
                  </a:tcPr>
                </a:tc>
                <a:tc>
                  <a:txBody>
                    <a:bodyPr/>
                    <a:lstStyle/>
                    <a:p>
                      <a:pPr>
                        <a:lnSpc>
                          <a:spcPct val="100000"/>
                        </a:lnSpc>
                      </a:pPr>
                      <a:endParaRPr sz="1000">
                        <a:latin typeface="Times New Roman"/>
                        <a:cs typeface="Times New Roman"/>
                      </a:endParaRPr>
                    </a:p>
                  </a:txBody>
                  <a:tcPr marL="0" marR="0" marT="0" marB="0">
                    <a:lnL w="28575">
                      <a:solidFill>
                        <a:srgbClr val="FF0000"/>
                      </a:solidFill>
                      <a:prstDash val="solid"/>
                    </a:lnL>
                    <a:lnR w="19050">
                      <a:solidFill>
                        <a:srgbClr val="000000"/>
                      </a:solidFill>
                      <a:prstDash val="solid"/>
                    </a:lnR>
                    <a:lnB w="28575">
                      <a:solidFill>
                        <a:srgbClr val="FF0000"/>
                      </a:solidFill>
                      <a:prstDash val="solid"/>
                    </a:lnB>
                  </a:tcPr>
                </a:tc>
                <a:tc rowSpan="2" gridSpan="2">
                  <a:txBody>
                    <a:bodyPr/>
                    <a:lstStyle/>
                    <a:p>
                      <a:pPr marL="92075">
                        <a:lnSpc>
                          <a:spcPct val="100000"/>
                        </a:lnSpc>
                        <a:spcBef>
                          <a:spcPts val="185"/>
                        </a:spcBef>
                      </a:pPr>
                      <a:r>
                        <a:rPr sz="1450" i="1" spc="10" dirty="0">
                          <a:latin typeface="Times New Roman"/>
                          <a:cs typeface="Times New Roman"/>
                        </a:rPr>
                        <a:t>OutputStream</a:t>
                      </a:r>
                      <a:endParaRPr sz="1450">
                        <a:latin typeface="Times New Roman"/>
                        <a:cs typeface="Times New Roman"/>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rowSpan="2" hMerge="1">
                  <a:txBody>
                    <a:bodyPr/>
                    <a:lstStyle/>
                    <a:p>
                      <a:endParaRPr/>
                    </a:p>
                  </a:txBody>
                  <a:tcPr marL="0" marR="0" marT="0" marB="0"/>
                </a:tc>
                <a:extLst>
                  <a:ext uri="{0D108BD9-81ED-4DB2-BD59-A6C34878D82A}">
                    <a16:rowId xmlns:a16="http://schemas.microsoft.com/office/drawing/2014/main" val="10004"/>
                  </a:ext>
                </a:extLst>
              </a:tr>
              <a:tr h="155873">
                <a:tc gridSpan="2">
                  <a:txBody>
                    <a:bodyPr/>
                    <a:lstStyle/>
                    <a:p>
                      <a:pPr>
                        <a:lnSpc>
                          <a:spcPct val="100000"/>
                        </a:lnSpc>
                      </a:pPr>
                      <a:endParaRPr sz="800">
                        <a:latin typeface="Times New Roman"/>
                        <a:cs typeface="Times New Roman"/>
                      </a:endParaRPr>
                    </a:p>
                  </a:txBody>
                  <a:tcPr marL="0" marR="0" marT="0" marB="0">
                    <a:lnR w="19050">
                      <a:solidFill>
                        <a:srgbClr val="000000"/>
                      </a:solidFill>
                      <a:prstDash val="solid"/>
                    </a:lnR>
                  </a:tcPr>
                </a:tc>
                <a:tc hMerge="1">
                  <a:txBody>
                    <a:bodyPr/>
                    <a:lstStyle/>
                    <a:p>
                      <a:endParaRPr/>
                    </a:p>
                  </a:txBody>
                  <a:tcPr marL="0" marR="0" marT="0" marB="0"/>
                </a:tc>
                <a:tc gridSpan="2" vMerge="1">
                  <a:txBody>
                    <a:bodyPr/>
                    <a:lstStyle/>
                    <a:p>
                      <a:endParaRPr/>
                    </a:p>
                  </a:txBody>
                  <a:tcPr marL="0" marR="0" marT="2349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vMerge="1">
                  <a:txBody>
                    <a:bodyPr/>
                    <a:lstStyle/>
                    <a:p>
                      <a:endParaRPr/>
                    </a:p>
                  </a:txBody>
                  <a:tcPr marL="0" marR="0" marT="0" marB="0"/>
                </a:tc>
                <a:extLst>
                  <a:ext uri="{0D108BD9-81ED-4DB2-BD59-A6C34878D82A}">
                    <a16:rowId xmlns:a16="http://schemas.microsoft.com/office/drawing/2014/main" val="10005"/>
                  </a:ext>
                </a:extLst>
              </a:tr>
            </a:tbl>
          </a:graphicData>
        </a:graphic>
      </p:graphicFrame>
      <p:sp>
        <p:nvSpPr>
          <p:cNvPr id="22" name="object 22"/>
          <p:cNvSpPr/>
          <p:nvPr/>
        </p:nvSpPr>
        <p:spPr>
          <a:xfrm>
            <a:off x="3584702" y="2830042"/>
            <a:ext cx="14604" cy="1036955"/>
          </a:xfrm>
          <a:custGeom>
            <a:avLst/>
            <a:gdLst/>
            <a:ahLst/>
            <a:cxnLst/>
            <a:rect l="l" t="t" r="r" b="b"/>
            <a:pathLst>
              <a:path w="14604" h="1036954">
                <a:moveTo>
                  <a:pt x="14046" y="0"/>
                </a:moveTo>
                <a:lnTo>
                  <a:pt x="0" y="1036383"/>
                </a:lnTo>
              </a:path>
            </a:pathLst>
          </a:custGeom>
          <a:ln w="16852">
            <a:solidFill>
              <a:srgbClr val="FF0000"/>
            </a:solidFill>
          </a:ln>
        </p:spPr>
        <p:txBody>
          <a:bodyPr wrap="square" lIns="0" tIns="0" rIns="0" bIns="0" rtlCol="0"/>
          <a:lstStyle/>
          <a:p>
            <a:endParaRPr/>
          </a:p>
        </p:txBody>
      </p:sp>
      <p:sp>
        <p:nvSpPr>
          <p:cNvPr id="23" name="object 23"/>
          <p:cNvSpPr/>
          <p:nvPr/>
        </p:nvSpPr>
        <p:spPr>
          <a:xfrm>
            <a:off x="3410534" y="3161461"/>
            <a:ext cx="0" cy="337185"/>
          </a:xfrm>
          <a:custGeom>
            <a:avLst/>
            <a:gdLst/>
            <a:ahLst/>
            <a:cxnLst/>
            <a:rect l="l" t="t" r="r" b="b"/>
            <a:pathLst>
              <a:path h="337185">
                <a:moveTo>
                  <a:pt x="0" y="0"/>
                </a:moveTo>
                <a:lnTo>
                  <a:pt x="0" y="337032"/>
                </a:lnTo>
              </a:path>
            </a:pathLst>
          </a:custGeom>
          <a:ln w="16852">
            <a:solidFill>
              <a:srgbClr val="FF0000"/>
            </a:solidFill>
          </a:ln>
        </p:spPr>
        <p:txBody>
          <a:bodyPr wrap="square" lIns="0" tIns="0" rIns="0" bIns="0" rtlCol="0"/>
          <a:lstStyle/>
          <a:p>
            <a:endParaRPr/>
          </a:p>
        </p:txBody>
      </p:sp>
      <p:sp>
        <p:nvSpPr>
          <p:cNvPr id="24" name="object 24"/>
          <p:cNvSpPr/>
          <p:nvPr/>
        </p:nvSpPr>
        <p:spPr>
          <a:xfrm>
            <a:off x="3410534" y="3329978"/>
            <a:ext cx="168910" cy="0"/>
          </a:xfrm>
          <a:custGeom>
            <a:avLst/>
            <a:gdLst/>
            <a:ahLst/>
            <a:cxnLst/>
            <a:rect l="l" t="t" r="r" b="b"/>
            <a:pathLst>
              <a:path w="168910">
                <a:moveTo>
                  <a:pt x="168554" y="0"/>
                </a:moveTo>
                <a:lnTo>
                  <a:pt x="0" y="0"/>
                </a:lnTo>
              </a:path>
            </a:pathLst>
          </a:custGeom>
          <a:ln w="16852">
            <a:solidFill>
              <a:srgbClr val="FF0000"/>
            </a:solidFill>
          </a:ln>
        </p:spPr>
        <p:txBody>
          <a:bodyPr wrap="square" lIns="0" tIns="0" rIns="0" bIns="0" rtlCol="0"/>
          <a:lstStyle/>
          <a:p>
            <a:endParaRPr/>
          </a:p>
        </p:txBody>
      </p:sp>
      <p:sp>
        <p:nvSpPr>
          <p:cNvPr id="25" name="object 25"/>
          <p:cNvSpPr/>
          <p:nvPr/>
        </p:nvSpPr>
        <p:spPr>
          <a:xfrm>
            <a:off x="3241979" y="3329978"/>
            <a:ext cx="168910" cy="168910"/>
          </a:xfrm>
          <a:custGeom>
            <a:avLst/>
            <a:gdLst/>
            <a:ahLst/>
            <a:cxnLst/>
            <a:rect l="l" t="t" r="r" b="b"/>
            <a:pathLst>
              <a:path w="168910" h="168910">
                <a:moveTo>
                  <a:pt x="168554" y="168516"/>
                </a:moveTo>
                <a:lnTo>
                  <a:pt x="0" y="0"/>
                </a:lnTo>
              </a:path>
            </a:pathLst>
          </a:custGeom>
          <a:ln w="16852">
            <a:solidFill>
              <a:srgbClr val="FF0000"/>
            </a:solidFill>
          </a:ln>
        </p:spPr>
        <p:txBody>
          <a:bodyPr wrap="square" lIns="0" tIns="0" rIns="0" bIns="0" rtlCol="0"/>
          <a:lstStyle/>
          <a:p>
            <a:endParaRPr/>
          </a:p>
        </p:txBody>
      </p:sp>
      <p:sp>
        <p:nvSpPr>
          <p:cNvPr id="26" name="object 26"/>
          <p:cNvSpPr/>
          <p:nvPr/>
        </p:nvSpPr>
        <p:spPr>
          <a:xfrm>
            <a:off x="3241979" y="3161461"/>
            <a:ext cx="174625" cy="168910"/>
          </a:xfrm>
          <a:custGeom>
            <a:avLst/>
            <a:gdLst/>
            <a:ahLst/>
            <a:cxnLst/>
            <a:rect l="l" t="t" r="r" b="b"/>
            <a:pathLst>
              <a:path w="174625" h="168910">
                <a:moveTo>
                  <a:pt x="174167" y="0"/>
                </a:moveTo>
                <a:lnTo>
                  <a:pt x="0" y="168516"/>
                </a:lnTo>
              </a:path>
            </a:pathLst>
          </a:custGeom>
          <a:ln w="16852">
            <a:solidFill>
              <a:srgbClr val="FF0000"/>
            </a:solidFill>
          </a:ln>
        </p:spPr>
        <p:txBody>
          <a:bodyPr wrap="square" lIns="0" tIns="0" rIns="0" bIns="0" rtlCol="0"/>
          <a:lstStyle/>
          <a:p>
            <a:endParaRPr/>
          </a:p>
        </p:txBody>
      </p:sp>
      <p:sp>
        <p:nvSpPr>
          <p:cNvPr id="27" name="object 27"/>
          <p:cNvSpPr/>
          <p:nvPr/>
        </p:nvSpPr>
        <p:spPr>
          <a:xfrm>
            <a:off x="3570655" y="4950561"/>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28" name="object 28"/>
          <p:cNvSpPr/>
          <p:nvPr/>
        </p:nvSpPr>
        <p:spPr>
          <a:xfrm>
            <a:off x="3570655" y="4445012"/>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29" name="object 29"/>
          <p:cNvSpPr/>
          <p:nvPr/>
        </p:nvSpPr>
        <p:spPr>
          <a:xfrm>
            <a:off x="3570655" y="5428030"/>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30" name="object 30"/>
          <p:cNvSpPr/>
          <p:nvPr/>
        </p:nvSpPr>
        <p:spPr>
          <a:xfrm>
            <a:off x="3559416" y="4445012"/>
            <a:ext cx="0" cy="983615"/>
          </a:xfrm>
          <a:custGeom>
            <a:avLst/>
            <a:gdLst/>
            <a:ahLst/>
            <a:cxnLst/>
            <a:rect l="l" t="t" r="r" b="b"/>
            <a:pathLst>
              <a:path h="983614">
                <a:moveTo>
                  <a:pt x="0" y="0"/>
                </a:moveTo>
                <a:lnTo>
                  <a:pt x="0" y="983018"/>
                </a:lnTo>
              </a:path>
            </a:pathLst>
          </a:custGeom>
          <a:ln w="16852">
            <a:solidFill>
              <a:srgbClr val="FF0000"/>
            </a:solidFill>
          </a:ln>
        </p:spPr>
        <p:txBody>
          <a:bodyPr wrap="square" lIns="0" tIns="0" rIns="0" bIns="0" rtlCol="0"/>
          <a:lstStyle/>
          <a:p>
            <a:endParaRPr/>
          </a:p>
        </p:txBody>
      </p:sp>
      <p:sp>
        <p:nvSpPr>
          <p:cNvPr id="31" name="object 31"/>
          <p:cNvSpPr/>
          <p:nvPr/>
        </p:nvSpPr>
        <p:spPr>
          <a:xfrm>
            <a:off x="3402101" y="4782045"/>
            <a:ext cx="0" cy="337185"/>
          </a:xfrm>
          <a:custGeom>
            <a:avLst/>
            <a:gdLst/>
            <a:ahLst/>
            <a:cxnLst/>
            <a:rect l="l" t="t" r="r" b="b"/>
            <a:pathLst>
              <a:path h="337185">
                <a:moveTo>
                  <a:pt x="0" y="0"/>
                </a:moveTo>
                <a:lnTo>
                  <a:pt x="0" y="337032"/>
                </a:lnTo>
              </a:path>
            </a:pathLst>
          </a:custGeom>
          <a:ln w="16852">
            <a:solidFill>
              <a:srgbClr val="FF0000"/>
            </a:solidFill>
          </a:ln>
        </p:spPr>
        <p:txBody>
          <a:bodyPr wrap="square" lIns="0" tIns="0" rIns="0" bIns="0" rtlCol="0"/>
          <a:lstStyle/>
          <a:p>
            <a:endParaRPr/>
          </a:p>
        </p:txBody>
      </p:sp>
      <p:sp>
        <p:nvSpPr>
          <p:cNvPr id="32" name="object 32"/>
          <p:cNvSpPr/>
          <p:nvPr/>
        </p:nvSpPr>
        <p:spPr>
          <a:xfrm>
            <a:off x="3402101" y="4950561"/>
            <a:ext cx="168910" cy="0"/>
          </a:xfrm>
          <a:custGeom>
            <a:avLst/>
            <a:gdLst/>
            <a:ahLst/>
            <a:cxnLst/>
            <a:rect l="l" t="t" r="r" b="b"/>
            <a:pathLst>
              <a:path w="168910">
                <a:moveTo>
                  <a:pt x="168554" y="0"/>
                </a:moveTo>
                <a:lnTo>
                  <a:pt x="0" y="0"/>
                </a:lnTo>
              </a:path>
            </a:pathLst>
          </a:custGeom>
          <a:ln w="16852">
            <a:solidFill>
              <a:srgbClr val="FF0000"/>
            </a:solidFill>
          </a:ln>
        </p:spPr>
        <p:txBody>
          <a:bodyPr wrap="square" lIns="0" tIns="0" rIns="0" bIns="0" rtlCol="0"/>
          <a:lstStyle/>
          <a:p>
            <a:endParaRPr/>
          </a:p>
        </p:txBody>
      </p:sp>
      <p:sp>
        <p:nvSpPr>
          <p:cNvPr id="33" name="object 33"/>
          <p:cNvSpPr/>
          <p:nvPr/>
        </p:nvSpPr>
        <p:spPr>
          <a:xfrm>
            <a:off x="3233547" y="4950561"/>
            <a:ext cx="168910" cy="168910"/>
          </a:xfrm>
          <a:custGeom>
            <a:avLst/>
            <a:gdLst/>
            <a:ahLst/>
            <a:cxnLst/>
            <a:rect l="l" t="t" r="r" b="b"/>
            <a:pathLst>
              <a:path w="168910" h="168910">
                <a:moveTo>
                  <a:pt x="168554" y="168516"/>
                </a:moveTo>
                <a:lnTo>
                  <a:pt x="0" y="0"/>
                </a:lnTo>
              </a:path>
            </a:pathLst>
          </a:custGeom>
          <a:ln w="16852">
            <a:solidFill>
              <a:srgbClr val="FF0000"/>
            </a:solidFill>
          </a:ln>
        </p:spPr>
        <p:txBody>
          <a:bodyPr wrap="square" lIns="0" tIns="0" rIns="0" bIns="0" rtlCol="0"/>
          <a:lstStyle/>
          <a:p>
            <a:endParaRPr/>
          </a:p>
        </p:txBody>
      </p:sp>
      <p:sp>
        <p:nvSpPr>
          <p:cNvPr id="34" name="object 34"/>
          <p:cNvSpPr/>
          <p:nvPr/>
        </p:nvSpPr>
        <p:spPr>
          <a:xfrm>
            <a:off x="3233547" y="4782045"/>
            <a:ext cx="174625" cy="168910"/>
          </a:xfrm>
          <a:custGeom>
            <a:avLst/>
            <a:gdLst/>
            <a:ahLst/>
            <a:cxnLst/>
            <a:rect l="l" t="t" r="r" b="b"/>
            <a:pathLst>
              <a:path w="174625" h="168910">
                <a:moveTo>
                  <a:pt x="174167" y="0"/>
                </a:moveTo>
                <a:lnTo>
                  <a:pt x="0" y="168516"/>
                </a:lnTo>
              </a:path>
            </a:pathLst>
          </a:custGeom>
          <a:ln w="16852">
            <a:solidFill>
              <a:srgbClr val="FF0000"/>
            </a:solidFill>
          </a:ln>
        </p:spPr>
        <p:txBody>
          <a:bodyPr wrap="square" lIns="0" tIns="0" rIns="0" bIns="0" rtlCol="0"/>
          <a:lstStyle/>
          <a:p>
            <a:endParaRPr/>
          </a:p>
        </p:txBody>
      </p:sp>
      <p:sp>
        <p:nvSpPr>
          <p:cNvPr id="35" name="object 35"/>
          <p:cNvSpPr/>
          <p:nvPr/>
        </p:nvSpPr>
        <p:spPr>
          <a:xfrm>
            <a:off x="6127038" y="3116529"/>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36" name="object 36"/>
          <p:cNvSpPr/>
          <p:nvPr/>
        </p:nvSpPr>
        <p:spPr>
          <a:xfrm>
            <a:off x="6127038" y="3622078"/>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37" name="object 37"/>
          <p:cNvSpPr/>
          <p:nvPr/>
        </p:nvSpPr>
        <p:spPr>
          <a:xfrm>
            <a:off x="6127038" y="3110903"/>
            <a:ext cx="0" cy="525780"/>
          </a:xfrm>
          <a:custGeom>
            <a:avLst/>
            <a:gdLst/>
            <a:ahLst/>
            <a:cxnLst/>
            <a:rect l="l" t="t" r="r" b="b"/>
            <a:pathLst>
              <a:path h="525779">
                <a:moveTo>
                  <a:pt x="0" y="0"/>
                </a:moveTo>
                <a:lnTo>
                  <a:pt x="0" y="525221"/>
                </a:lnTo>
              </a:path>
            </a:pathLst>
          </a:custGeom>
          <a:ln w="16852">
            <a:solidFill>
              <a:srgbClr val="FF0000"/>
            </a:solidFill>
          </a:ln>
        </p:spPr>
        <p:txBody>
          <a:bodyPr wrap="square" lIns="0" tIns="0" rIns="0" bIns="0" rtlCol="0"/>
          <a:lstStyle/>
          <a:p>
            <a:endParaRPr/>
          </a:p>
        </p:txBody>
      </p:sp>
      <p:sp>
        <p:nvSpPr>
          <p:cNvPr id="38" name="object 38"/>
          <p:cNvSpPr/>
          <p:nvPr/>
        </p:nvSpPr>
        <p:spPr>
          <a:xfrm>
            <a:off x="5933211" y="3178314"/>
            <a:ext cx="0" cy="337185"/>
          </a:xfrm>
          <a:custGeom>
            <a:avLst/>
            <a:gdLst/>
            <a:ahLst/>
            <a:cxnLst/>
            <a:rect l="l" t="t" r="r" b="b"/>
            <a:pathLst>
              <a:path h="337185">
                <a:moveTo>
                  <a:pt x="0" y="0"/>
                </a:moveTo>
                <a:lnTo>
                  <a:pt x="0" y="337032"/>
                </a:lnTo>
              </a:path>
            </a:pathLst>
          </a:custGeom>
          <a:ln w="16852">
            <a:solidFill>
              <a:srgbClr val="FF0000"/>
            </a:solidFill>
          </a:ln>
        </p:spPr>
        <p:txBody>
          <a:bodyPr wrap="square" lIns="0" tIns="0" rIns="0" bIns="0" rtlCol="0"/>
          <a:lstStyle/>
          <a:p>
            <a:endParaRPr/>
          </a:p>
        </p:txBody>
      </p:sp>
      <p:sp>
        <p:nvSpPr>
          <p:cNvPr id="39" name="object 39"/>
          <p:cNvSpPr/>
          <p:nvPr/>
        </p:nvSpPr>
        <p:spPr>
          <a:xfrm>
            <a:off x="5933211" y="3346830"/>
            <a:ext cx="168910" cy="0"/>
          </a:xfrm>
          <a:custGeom>
            <a:avLst/>
            <a:gdLst/>
            <a:ahLst/>
            <a:cxnLst/>
            <a:rect l="l" t="t" r="r" b="b"/>
            <a:pathLst>
              <a:path w="168910">
                <a:moveTo>
                  <a:pt x="168541" y="0"/>
                </a:moveTo>
                <a:lnTo>
                  <a:pt x="0" y="0"/>
                </a:lnTo>
              </a:path>
            </a:pathLst>
          </a:custGeom>
          <a:ln w="16852">
            <a:solidFill>
              <a:srgbClr val="FF0000"/>
            </a:solidFill>
          </a:ln>
        </p:spPr>
        <p:txBody>
          <a:bodyPr wrap="square" lIns="0" tIns="0" rIns="0" bIns="0" rtlCol="0"/>
          <a:lstStyle/>
          <a:p>
            <a:endParaRPr/>
          </a:p>
        </p:txBody>
      </p:sp>
      <p:sp>
        <p:nvSpPr>
          <p:cNvPr id="40" name="object 40"/>
          <p:cNvSpPr/>
          <p:nvPr/>
        </p:nvSpPr>
        <p:spPr>
          <a:xfrm>
            <a:off x="5764657" y="3346830"/>
            <a:ext cx="168910" cy="168910"/>
          </a:xfrm>
          <a:custGeom>
            <a:avLst/>
            <a:gdLst/>
            <a:ahLst/>
            <a:cxnLst/>
            <a:rect l="l" t="t" r="r" b="b"/>
            <a:pathLst>
              <a:path w="168910" h="168910">
                <a:moveTo>
                  <a:pt x="168554" y="168516"/>
                </a:moveTo>
                <a:lnTo>
                  <a:pt x="0" y="0"/>
                </a:lnTo>
              </a:path>
            </a:pathLst>
          </a:custGeom>
          <a:ln w="16852">
            <a:solidFill>
              <a:srgbClr val="FF0000"/>
            </a:solidFill>
          </a:ln>
        </p:spPr>
        <p:txBody>
          <a:bodyPr wrap="square" lIns="0" tIns="0" rIns="0" bIns="0" rtlCol="0"/>
          <a:lstStyle/>
          <a:p>
            <a:endParaRPr/>
          </a:p>
        </p:txBody>
      </p:sp>
      <p:sp>
        <p:nvSpPr>
          <p:cNvPr id="41" name="object 41"/>
          <p:cNvSpPr/>
          <p:nvPr/>
        </p:nvSpPr>
        <p:spPr>
          <a:xfrm>
            <a:off x="5764657" y="3178314"/>
            <a:ext cx="174625" cy="168910"/>
          </a:xfrm>
          <a:custGeom>
            <a:avLst/>
            <a:gdLst/>
            <a:ahLst/>
            <a:cxnLst/>
            <a:rect l="l" t="t" r="r" b="b"/>
            <a:pathLst>
              <a:path w="174625" h="168910">
                <a:moveTo>
                  <a:pt x="174167" y="0"/>
                </a:moveTo>
                <a:lnTo>
                  <a:pt x="0" y="168516"/>
                </a:lnTo>
              </a:path>
            </a:pathLst>
          </a:custGeom>
          <a:ln w="16852">
            <a:solidFill>
              <a:srgbClr val="FF0000"/>
            </a:solidFill>
          </a:ln>
        </p:spPr>
        <p:txBody>
          <a:bodyPr wrap="square" lIns="0" tIns="0" rIns="0" bIns="0" rtlCol="0"/>
          <a:lstStyle/>
          <a:p>
            <a:endParaRPr/>
          </a:p>
        </p:txBody>
      </p:sp>
      <p:sp>
        <p:nvSpPr>
          <p:cNvPr id="42" name="object 42"/>
          <p:cNvSpPr/>
          <p:nvPr/>
        </p:nvSpPr>
        <p:spPr>
          <a:xfrm>
            <a:off x="6098946" y="4445012"/>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43" name="object 43"/>
          <p:cNvSpPr/>
          <p:nvPr/>
        </p:nvSpPr>
        <p:spPr>
          <a:xfrm>
            <a:off x="6098946" y="5456123"/>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44" name="object 44"/>
          <p:cNvSpPr/>
          <p:nvPr/>
        </p:nvSpPr>
        <p:spPr>
          <a:xfrm>
            <a:off x="6098946" y="4950561"/>
            <a:ext cx="506095" cy="0"/>
          </a:xfrm>
          <a:custGeom>
            <a:avLst/>
            <a:gdLst/>
            <a:ahLst/>
            <a:cxnLst/>
            <a:rect l="l" t="t" r="r" b="b"/>
            <a:pathLst>
              <a:path w="506095">
                <a:moveTo>
                  <a:pt x="505663" y="0"/>
                </a:moveTo>
                <a:lnTo>
                  <a:pt x="0" y="0"/>
                </a:lnTo>
              </a:path>
            </a:pathLst>
          </a:custGeom>
          <a:ln w="16852">
            <a:solidFill>
              <a:srgbClr val="FF0000"/>
            </a:solidFill>
          </a:ln>
        </p:spPr>
        <p:txBody>
          <a:bodyPr wrap="square" lIns="0" tIns="0" rIns="0" bIns="0" rtlCol="0"/>
          <a:lstStyle/>
          <a:p>
            <a:endParaRPr/>
          </a:p>
        </p:txBody>
      </p:sp>
      <p:sp>
        <p:nvSpPr>
          <p:cNvPr id="45" name="object 45"/>
          <p:cNvSpPr/>
          <p:nvPr/>
        </p:nvSpPr>
        <p:spPr>
          <a:xfrm>
            <a:off x="6098946" y="4445012"/>
            <a:ext cx="0" cy="1011555"/>
          </a:xfrm>
          <a:custGeom>
            <a:avLst/>
            <a:gdLst/>
            <a:ahLst/>
            <a:cxnLst/>
            <a:rect l="l" t="t" r="r" b="b"/>
            <a:pathLst>
              <a:path h="1011554">
                <a:moveTo>
                  <a:pt x="0" y="0"/>
                </a:moveTo>
                <a:lnTo>
                  <a:pt x="0" y="1011110"/>
                </a:lnTo>
              </a:path>
            </a:pathLst>
          </a:custGeom>
          <a:ln w="16852">
            <a:solidFill>
              <a:srgbClr val="FF0000"/>
            </a:solidFill>
          </a:ln>
        </p:spPr>
        <p:txBody>
          <a:bodyPr wrap="square" lIns="0" tIns="0" rIns="0" bIns="0" rtlCol="0"/>
          <a:lstStyle/>
          <a:p>
            <a:endParaRPr/>
          </a:p>
        </p:txBody>
      </p:sp>
      <p:sp>
        <p:nvSpPr>
          <p:cNvPr id="46" name="object 46"/>
          <p:cNvSpPr/>
          <p:nvPr/>
        </p:nvSpPr>
        <p:spPr>
          <a:xfrm>
            <a:off x="5930391" y="4782045"/>
            <a:ext cx="0" cy="337185"/>
          </a:xfrm>
          <a:custGeom>
            <a:avLst/>
            <a:gdLst/>
            <a:ahLst/>
            <a:cxnLst/>
            <a:rect l="l" t="t" r="r" b="b"/>
            <a:pathLst>
              <a:path h="337185">
                <a:moveTo>
                  <a:pt x="0" y="0"/>
                </a:moveTo>
                <a:lnTo>
                  <a:pt x="0" y="337032"/>
                </a:lnTo>
              </a:path>
            </a:pathLst>
          </a:custGeom>
          <a:ln w="16852">
            <a:solidFill>
              <a:srgbClr val="FF0000"/>
            </a:solidFill>
          </a:ln>
        </p:spPr>
        <p:txBody>
          <a:bodyPr wrap="square" lIns="0" tIns="0" rIns="0" bIns="0" rtlCol="0"/>
          <a:lstStyle/>
          <a:p>
            <a:endParaRPr/>
          </a:p>
        </p:txBody>
      </p:sp>
      <p:sp>
        <p:nvSpPr>
          <p:cNvPr id="47" name="object 47"/>
          <p:cNvSpPr/>
          <p:nvPr/>
        </p:nvSpPr>
        <p:spPr>
          <a:xfrm>
            <a:off x="5930391" y="4950561"/>
            <a:ext cx="168910" cy="0"/>
          </a:xfrm>
          <a:custGeom>
            <a:avLst/>
            <a:gdLst/>
            <a:ahLst/>
            <a:cxnLst/>
            <a:rect l="l" t="t" r="r" b="b"/>
            <a:pathLst>
              <a:path w="168910">
                <a:moveTo>
                  <a:pt x="168554" y="0"/>
                </a:moveTo>
                <a:lnTo>
                  <a:pt x="0" y="0"/>
                </a:lnTo>
              </a:path>
            </a:pathLst>
          </a:custGeom>
          <a:ln w="16852">
            <a:solidFill>
              <a:srgbClr val="FF0000"/>
            </a:solidFill>
          </a:ln>
        </p:spPr>
        <p:txBody>
          <a:bodyPr wrap="square" lIns="0" tIns="0" rIns="0" bIns="0" rtlCol="0"/>
          <a:lstStyle/>
          <a:p>
            <a:endParaRPr/>
          </a:p>
        </p:txBody>
      </p:sp>
      <p:sp>
        <p:nvSpPr>
          <p:cNvPr id="48" name="object 48"/>
          <p:cNvSpPr/>
          <p:nvPr/>
        </p:nvSpPr>
        <p:spPr>
          <a:xfrm>
            <a:off x="5761837" y="4950561"/>
            <a:ext cx="168910" cy="168910"/>
          </a:xfrm>
          <a:custGeom>
            <a:avLst/>
            <a:gdLst/>
            <a:ahLst/>
            <a:cxnLst/>
            <a:rect l="l" t="t" r="r" b="b"/>
            <a:pathLst>
              <a:path w="168910" h="168910">
                <a:moveTo>
                  <a:pt x="168554" y="168516"/>
                </a:moveTo>
                <a:lnTo>
                  <a:pt x="0" y="0"/>
                </a:lnTo>
              </a:path>
            </a:pathLst>
          </a:custGeom>
          <a:ln w="16852">
            <a:solidFill>
              <a:srgbClr val="FF0000"/>
            </a:solidFill>
          </a:ln>
        </p:spPr>
        <p:txBody>
          <a:bodyPr wrap="square" lIns="0" tIns="0" rIns="0" bIns="0" rtlCol="0"/>
          <a:lstStyle/>
          <a:p>
            <a:endParaRPr/>
          </a:p>
        </p:txBody>
      </p:sp>
      <p:sp>
        <p:nvSpPr>
          <p:cNvPr id="49" name="object 49"/>
          <p:cNvSpPr/>
          <p:nvPr/>
        </p:nvSpPr>
        <p:spPr>
          <a:xfrm>
            <a:off x="5761837" y="4782045"/>
            <a:ext cx="174625" cy="168910"/>
          </a:xfrm>
          <a:custGeom>
            <a:avLst/>
            <a:gdLst/>
            <a:ahLst/>
            <a:cxnLst/>
            <a:rect l="l" t="t" r="r" b="b"/>
            <a:pathLst>
              <a:path w="174625" h="168910">
                <a:moveTo>
                  <a:pt x="174180" y="0"/>
                </a:moveTo>
                <a:lnTo>
                  <a:pt x="0" y="168516"/>
                </a:lnTo>
              </a:path>
            </a:pathLst>
          </a:custGeom>
          <a:ln w="16852">
            <a:solidFill>
              <a:srgbClr val="FF0000"/>
            </a:solidFill>
          </a:ln>
        </p:spPr>
        <p:txBody>
          <a:bodyPr wrap="square" lIns="0" tIns="0" rIns="0" bIns="0" rtlCol="0"/>
          <a:lstStyle/>
          <a:p>
            <a:endParaRPr/>
          </a:p>
        </p:txBody>
      </p:sp>
      <p:sp>
        <p:nvSpPr>
          <p:cNvPr id="50" name="object 50"/>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1640" y="176682"/>
            <a:ext cx="8493125" cy="5075555"/>
          </a:xfrm>
          <a:prstGeom prst="rect">
            <a:avLst/>
          </a:prstGeom>
        </p:spPr>
        <p:txBody>
          <a:bodyPr vert="horz" wrap="square" lIns="0" tIns="12700" rIns="0" bIns="0" rtlCol="0">
            <a:spAutoFit/>
          </a:bodyPr>
          <a:lstStyle/>
          <a:p>
            <a:pPr marL="874394">
              <a:lnSpc>
                <a:spcPts val="2735"/>
              </a:lnSpc>
              <a:spcBef>
                <a:spcPts val="100"/>
              </a:spcBef>
              <a:tabLst>
                <a:tab pos="1981835" algn="l"/>
              </a:tabLst>
            </a:pPr>
            <a:r>
              <a:rPr sz="2400" b="1" spc="-5" dirty="0">
                <a:latin typeface="微软雅黑"/>
                <a:cs typeface="微软雅黑"/>
              </a:rPr>
              <a:t>12.2.4	</a:t>
            </a:r>
            <a:r>
              <a:rPr sz="2400" b="1" dirty="0">
                <a:latin typeface="微软雅黑"/>
                <a:cs typeface="微软雅黑"/>
              </a:rPr>
              <a:t>缓冲流</a:t>
            </a:r>
            <a:r>
              <a:rPr sz="2400" b="1" spc="-10" dirty="0">
                <a:latin typeface="微软雅黑"/>
                <a:cs typeface="微软雅黑"/>
              </a:rPr>
              <a:t>BufferedInputStream</a:t>
            </a:r>
            <a:r>
              <a:rPr sz="2400" b="1" dirty="0">
                <a:latin typeface="微软雅黑"/>
                <a:cs typeface="微软雅黑"/>
              </a:rPr>
              <a:t>和</a:t>
            </a:r>
            <a:endParaRPr sz="2400">
              <a:latin typeface="微软雅黑"/>
              <a:cs typeface="微软雅黑"/>
            </a:endParaRPr>
          </a:p>
          <a:p>
            <a:pPr marL="740410">
              <a:lnSpc>
                <a:spcPts val="2735"/>
              </a:lnSpc>
              <a:tabLst>
                <a:tab pos="8479790"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BufferedOutputStream	</a:t>
            </a:r>
            <a:endParaRPr sz="2400">
              <a:latin typeface="微软雅黑"/>
              <a:cs typeface="微软雅黑"/>
            </a:endParaRPr>
          </a:p>
          <a:p>
            <a:pPr>
              <a:lnSpc>
                <a:spcPct val="100000"/>
              </a:lnSpc>
              <a:spcBef>
                <a:spcPts val="20"/>
              </a:spcBef>
            </a:pPr>
            <a:endParaRPr sz="2750">
              <a:latin typeface="微软雅黑"/>
              <a:cs typeface="微软雅黑"/>
            </a:endParaRPr>
          </a:p>
          <a:p>
            <a:pPr marL="184150" marR="862965" indent="-171450">
              <a:lnSpc>
                <a:spcPts val="2590"/>
              </a:lnSpc>
              <a:buFont typeface="Arial"/>
              <a:buChar char="•"/>
              <a:tabLst>
                <a:tab pos="184150" algn="l"/>
              </a:tabLst>
            </a:pPr>
            <a:r>
              <a:rPr sz="2400" spc="-15" dirty="0">
                <a:latin typeface="微软雅黑"/>
                <a:cs typeface="微软雅黑"/>
              </a:rPr>
              <a:t>BufferedInputStream</a:t>
            </a:r>
            <a:r>
              <a:rPr sz="2400" dirty="0">
                <a:latin typeface="微软雅黑"/>
                <a:cs typeface="微软雅黑"/>
              </a:rPr>
              <a:t>和</a:t>
            </a:r>
            <a:r>
              <a:rPr sz="2400" spc="-15" dirty="0">
                <a:latin typeface="微软雅黑"/>
                <a:cs typeface="微软雅黑"/>
              </a:rPr>
              <a:t>BufferedOutputStream</a:t>
            </a:r>
            <a:r>
              <a:rPr sz="2400" dirty="0">
                <a:latin typeface="微软雅黑"/>
                <a:cs typeface="微软雅黑"/>
              </a:rPr>
              <a:t>是 </a:t>
            </a:r>
            <a:r>
              <a:rPr sz="2400" spc="-15" dirty="0">
                <a:latin typeface="微软雅黑"/>
                <a:cs typeface="微软雅黑"/>
              </a:rPr>
              <a:t>FilterInputStream</a:t>
            </a:r>
            <a:r>
              <a:rPr sz="2400" dirty="0">
                <a:latin typeface="微软雅黑"/>
                <a:cs typeface="微软雅黑"/>
              </a:rPr>
              <a:t>和</a:t>
            </a:r>
            <a:r>
              <a:rPr sz="2400" spc="-10" dirty="0">
                <a:latin typeface="微软雅黑"/>
                <a:cs typeface="微软雅黑"/>
              </a:rPr>
              <a:t>FilterOutputStream</a:t>
            </a:r>
            <a:r>
              <a:rPr sz="2400" dirty="0">
                <a:latin typeface="微软雅黑"/>
                <a:cs typeface="微软雅黑"/>
              </a:rPr>
              <a:t>的子类，为普 通的字节流增加了缓冲区功能，将</a:t>
            </a:r>
            <a:r>
              <a:rPr sz="2400" spc="-15" dirty="0">
                <a:latin typeface="微软雅黑"/>
                <a:cs typeface="微软雅黑"/>
              </a:rPr>
              <a:t>InputStream</a:t>
            </a:r>
            <a:r>
              <a:rPr sz="2400" dirty="0">
                <a:latin typeface="微软雅黑"/>
                <a:cs typeface="微软雅黑"/>
              </a:rPr>
              <a:t>和 </a:t>
            </a:r>
            <a:r>
              <a:rPr sz="2400" spc="-15" dirty="0">
                <a:latin typeface="微软雅黑"/>
                <a:cs typeface="微软雅黑"/>
              </a:rPr>
              <a:t>OutputStream</a:t>
            </a:r>
            <a:r>
              <a:rPr sz="2400" dirty="0">
                <a:latin typeface="微软雅黑"/>
                <a:cs typeface="微软雅黑"/>
              </a:rPr>
              <a:t>对象包装为一个带缓冲的字节流。</a:t>
            </a:r>
            <a:endParaRPr sz="2400">
              <a:latin typeface="微软雅黑"/>
              <a:cs typeface="微软雅黑"/>
            </a:endParaRPr>
          </a:p>
          <a:p>
            <a:pPr>
              <a:lnSpc>
                <a:spcPct val="100000"/>
              </a:lnSpc>
              <a:spcBef>
                <a:spcPts val="25"/>
              </a:spcBef>
              <a:buFont typeface="Arial"/>
              <a:buChar char="•"/>
            </a:pPr>
            <a:endParaRPr sz="1800">
              <a:latin typeface="微软雅黑"/>
              <a:cs typeface="微软雅黑"/>
            </a:endParaRPr>
          </a:p>
          <a:p>
            <a:pPr marL="184150" marR="985519" indent="-171450" algn="just">
              <a:lnSpc>
                <a:spcPts val="2590"/>
              </a:lnSpc>
              <a:buFont typeface="Arial"/>
              <a:buChar char="•"/>
              <a:tabLst>
                <a:tab pos="184150" algn="l"/>
              </a:tabLst>
            </a:pPr>
            <a:r>
              <a:rPr sz="2400" dirty="0">
                <a:latin typeface="微软雅黑"/>
                <a:cs typeface="微软雅黑"/>
              </a:rPr>
              <a:t>原理：因为内存的读写速度快，而磁盘的读写速度慢， 二者间的数据传输堵塞严重。所以，为了减少对磁盘的 存取，通常在内存和磁盘间建立一个缓冲区，从磁盘中 读数据时一次读入一个缓冲区大小的数量，数据写入磁 盘时也是先将缓冲区装满后，再将缓冲区数据一次性写 入到磁盘，由此提高了文件存取的效率。</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p:nvPr/>
        </p:nvSpPr>
        <p:spPr>
          <a:xfrm>
            <a:off x="78739" y="1470660"/>
            <a:ext cx="7959090" cy="2849245"/>
          </a:xfrm>
          <a:prstGeom prst="rect">
            <a:avLst/>
          </a:prstGeom>
        </p:spPr>
        <p:txBody>
          <a:bodyPr vert="horz" wrap="square" lIns="0" tIns="12065" rIns="0" bIns="0" rtlCol="0">
            <a:spAutoFit/>
          </a:bodyPr>
          <a:lstStyle/>
          <a:p>
            <a:pPr marL="184150" indent="-171450">
              <a:lnSpc>
                <a:spcPct val="100000"/>
              </a:lnSpc>
              <a:spcBef>
                <a:spcPts val="95"/>
              </a:spcBef>
              <a:buFont typeface="Arial"/>
              <a:buChar char="•"/>
              <a:tabLst>
                <a:tab pos="184150" algn="l"/>
              </a:tabLst>
            </a:pPr>
            <a:r>
              <a:rPr sz="2800" spc="-15" dirty="0">
                <a:latin typeface="微软雅黑"/>
                <a:cs typeface="微软雅黑"/>
              </a:rPr>
              <a:t>BufferedInputStream</a:t>
            </a:r>
            <a:r>
              <a:rPr sz="2800" dirty="0">
                <a:latin typeface="微软雅黑"/>
                <a:cs typeface="微软雅黑"/>
              </a:rPr>
              <a:t>的构造方法</a:t>
            </a:r>
            <a:r>
              <a:rPr sz="2800" spc="-5" dirty="0">
                <a:latin typeface="微软雅黑"/>
                <a:cs typeface="微软雅黑"/>
              </a:rPr>
              <a:t>：</a:t>
            </a:r>
            <a:endParaRPr sz="2800">
              <a:latin typeface="微软雅黑"/>
              <a:cs typeface="微软雅黑"/>
            </a:endParaRPr>
          </a:p>
          <a:p>
            <a:pPr marL="527050" marR="5080" lvl="1" indent="-171450">
              <a:lnSpc>
                <a:spcPts val="2590"/>
              </a:lnSpc>
              <a:spcBef>
                <a:spcPts val="409"/>
              </a:spcBef>
              <a:buFont typeface="Arial"/>
              <a:buChar char="•"/>
              <a:tabLst>
                <a:tab pos="527050" algn="l"/>
              </a:tabLst>
            </a:pPr>
            <a:r>
              <a:rPr sz="2400" spc="-15" dirty="0">
                <a:latin typeface="微软雅黑"/>
                <a:cs typeface="微软雅黑"/>
              </a:rPr>
              <a:t>BufferedInputStream(InputStream</a:t>
            </a:r>
            <a:r>
              <a:rPr sz="2400" dirty="0">
                <a:latin typeface="微软雅黑"/>
                <a:cs typeface="微软雅黑"/>
              </a:rPr>
              <a:t> </a:t>
            </a:r>
            <a:r>
              <a:rPr sz="2400" spc="-5" dirty="0">
                <a:latin typeface="微软雅黑"/>
                <a:cs typeface="微软雅黑"/>
              </a:rPr>
              <a:t>in)：</a:t>
            </a:r>
            <a:r>
              <a:rPr sz="2400" dirty="0">
                <a:latin typeface="微软雅黑"/>
                <a:cs typeface="微软雅黑"/>
              </a:rPr>
              <a:t>包装 </a:t>
            </a:r>
            <a:r>
              <a:rPr sz="2400" spc="-15" dirty="0">
                <a:latin typeface="微软雅黑"/>
                <a:cs typeface="微软雅黑"/>
              </a:rPr>
              <a:t>InputStream</a:t>
            </a:r>
            <a:r>
              <a:rPr sz="2400" dirty="0">
                <a:latin typeface="微软雅黑"/>
                <a:cs typeface="微软雅黑"/>
              </a:rPr>
              <a:t>对象、创建</a:t>
            </a:r>
            <a:r>
              <a:rPr sz="2400" spc="-15" dirty="0">
                <a:latin typeface="微软雅黑"/>
                <a:cs typeface="微软雅黑"/>
              </a:rPr>
              <a:t>BufferedInputStream</a:t>
            </a:r>
            <a:r>
              <a:rPr sz="2400" dirty="0">
                <a:latin typeface="微软雅黑"/>
                <a:cs typeface="微软雅黑"/>
              </a:rPr>
              <a:t>对象，  并创建一个默认大小（</a:t>
            </a:r>
            <a:r>
              <a:rPr sz="2400" spc="-5" dirty="0">
                <a:latin typeface="微软雅黑"/>
                <a:cs typeface="微软雅黑"/>
              </a:rPr>
              <a:t>8192</a:t>
            </a:r>
            <a:r>
              <a:rPr sz="2400" dirty="0">
                <a:latin typeface="微软雅黑"/>
                <a:cs typeface="微软雅黑"/>
              </a:rPr>
              <a:t>字节）的字节数组做缓冲区</a:t>
            </a:r>
            <a:endParaRPr sz="2400">
              <a:latin typeface="微软雅黑"/>
              <a:cs typeface="微软雅黑"/>
            </a:endParaRPr>
          </a:p>
          <a:p>
            <a:pPr marL="527050">
              <a:lnSpc>
                <a:spcPts val="2550"/>
              </a:lnSpc>
            </a:pPr>
            <a:r>
              <a:rPr sz="2400" dirty="0">
                <a:latin typeface="微软雅黑"/>
                <a:cs typeface="微软雅黑"/>
              </a:rPr>
              <a:t>。</a:t>
            </a:r>
            <a:endParaRPr sz="2400">
              <a:latin typeface="微软雅黑"/>
              <a:cs typeface="微软雅黑"/>
            </a:endParaRPr>
          </a:p>
          <a:p>
            <a:pPr marL="527050" marR="155575" lvl="1" indent="-171450">
              <a:lnSpc>
                <a:spcPts val="2590"/>
              </a:lnSpc>
              <a:spcBef>
                <a:spcPts val="415"/>
              </a:spcBef>
              <a:buFont typeface="Arial"/>
              <a:buChar char="•"/>
              <a:tabLst>
                <a:tab pos="527050" algn="l"/>
              </a:tabLst>
            </a:pPr>
            <a:r>
              <a:rPr sz="2400" spc="-15" dirty="0">
                <a:latin typeface="微软雅黑"/>
                <a:cs typeface="微软雅黑"/>
              </a:rPr>
              <a:t>BufferedInputStream(InputStream</a:t>
            </a:r>
            <a:r>
              <a:rPr sz="2400" dirty="0">
                <a:latin typeface="微软雅黑"/>
                <a:cs typeface="微软雅黑"/>
              </a:rPr>
              <a:t> in, int</a:t>
            </a:r>
            <a:r>
              <a:rPr sz="2400" spc="5" dirty="0">
                <a:latin typeface="微软雅黑"/>
                <a:cs typeface="微软雅黑"/>
              </a:rPr>
              <a:t> </a:t>
            </a:r>
            <a:r>
              <a:rPr sz="2400" spc="-5" dirty="0">
                <a:latin typeface="微软雅黑"/>
                <a:cs typeface="微软雅黑"/>
              </a:rPr>
              <a:t>size) </a:t>
            </a:r>
            <a:r>
              <a:rPr sz="2400" dirty="0">
                <a:latin typeface="微软雅黑"/>
                <a:cs typeface="微软雅黑"/>
              </a:rPr>
              <a:t>：包 装</a:t>
            </a:r>
            <a:r>
              <a:rPr sz="2400" spc="-15" dirty="0">
                <a:latin typeface="微软雅黑"/>
                <a:cs typeface="微软雅黑"/>
              </a:rPr>
              <a:t>InputStream</a:t>
            </a:r>
            <a:r>
              <a:rPr sz="2400" dirty="0">
                <a:latin typeface="微软雅黑"/>
                <a:cs typeface="微软雅黑"/>
              </a:rPr>
              <a:t>对象、创建指定缓冲区大小的 </a:t>
            </a:r>
            <a:r>
              <a:rPr sz="2400" spc="-15" dirty="0">
                <a:latin typeface="微软雅黑"/>
                <a:cs typeface="微软雅黑"/>
              </a:rPr>
              <a:t>BufferedInputStream</a:t>
            </a:r>
            <a:r>
              <a:rPr sz="2400" dirty="0">
                <a:latin typeface="微软雅黑"/>
                <a:cs typeface="微软雅黑"/>
              </a:rPr>
              <a:t>对象。</a:t>
            </a:r>
            <a:endParaRPr sz="2400">
              <a:latin typeface="微软雅黑"/>
              <a:cs typeface="微软雅黑"/>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21</a:t>
            </a:fld>
            <a:endParaRPr dirty="0"/>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12.2.4	</a:t>
            </a:r>
            <a:r>
              <a:rPr dirty="0"/>
              <a:t>缓冲流</a:t>
            </a:r>
            <a:r>
              <a:rPr spc="-10" dirty="0"/>
              <a:t>BufferedInputStream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BufferedOutputStream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12.2.4	</a:t>
            </a:r>
            <a:r>
              <a:rPr dirty="0"/>
              <a:t>缓冲流</a:t>
            </a:r>
            <a:r>
              <a:rPr spc="-10" dirty="0"/>
              <a:t>BufferedInputStream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BufferedOutputStream	</a:t>
            </a:r>
          </a:p>
        </p:txBody>
      </p:sp>
      <p:sp>
        <p:nvSpPr>
          <p:cNvPr id="21" name="object 21"/>
          <p:cNvSpPr/>
          <p:nvPr/>
        </p:nvSpPr>
        <p:spPr>
          <a:xfrm>
            <a:off x="3029711" y="1557527"/>
            <a:ext cx="6114288" cy="1819656"/>
          </a:xfrm>
          <a:prstGeom prst="rect">
            <a:avLst/>
          </a:prstGeom>
          <a:blipFill>
            <a:blip r:embed="rId10" cstate="print"/>
            <a:stretch>
              <a:fillRect/>
            </a:stretch>
          </a:blipFill>
        </p:spPr>
        <p:txBody>
          <a:bodyPr wrap="square" lIns="0" tIns="0" rIns="0" bIns="0" rtlCol="0"/>
          <a:lstStyle/>
          <a:p>
            <a:endParaRPr/>
          </a:p>
        </p:txBody>
      </p:sp>
      <p:sp>
        <p:nvSpPr>
          <p:cNvPr id="22" name="object 22"/>
          <p:cNvSpPr/>
          <p:nvPr/>
        </p:nvSpPr>
        <p:spPr>
          <a:xfrm>
            <a:off x="1548383" y="3788664"/>
            <a:ext cx="5903975" cy="1656588"/>
          </a:xfrm>
          <a:prstGeom prst="rect">
            <a:avLst/>
          </a:prstGeom>
          <a:blipFill>
            <a:blip r:embed="rId11" cstate="print"/>
            <a:stretch>
              <a:fillRect/>
            </a:stretch>
          </a:blipFill>
        </p:spPr>
        <p:txBody>
          <a:bodyPr wrap="square" lIns="0" tIns="0" rIns="0" bIns="0" rtlCol="0"/>
          <a:lstStyle/>
          <a:p>
            <a:endParaRPr/>
          </a:p>
        </p:txBody>
      </p:sp>
      <p:sp>
        <p:nvSpPr>
          <p:cNvPr id="23" name="object 2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12.2.4	</a:t>
            </a:r>
            <a:r>
              <a:rPr dirty="0"/>
              <a:t>缓冲流</a:t>
            </a:r>
            <a:r>
              <a:rPr spc="-10" dirty="0"/>
              <a:t>BufferedInputStream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BufferedOutputStream	</a:t>
            </a: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23</a:t>
            </a:fld>
            <a:endParaRPr dirty="0"/>
          </a:p>
        </p:txBody>
      </p:sp>
      <p:sp>
        <p:nvSpPr>
          <p:cNvPr id="21" name="object 21"/>
          <p:cNvSpPr txBox="1"/>
          <p:nvPr/>
        </p:nvSpPr>
        <p:spPr>
          <a:xfrm>
            <a:off x="78739" y="1481454"/>
            <a:ext cx="7981950" cy="1468120"/>
          </a:xfrm>
          <a:prstGeom prst="rect">
            <a:avLst/>
          </a:prstGeom>
        </p:spPr>
        <p:txBody>
          <a:bodyPr vert="horz" wrap="square" lIns="0" tIns="12700" rIns="0" bIns="0" rtlCol="0">
            <a:spAutoFit/>
          </a:bodyPr>
          <a:lstStyle/>
          <a:p>
            <a:pPr marL="184150" indent="-171450">
              <a:lnSpc>
                <a:spcPts val="2390"/>
              </a:lnSpc>
              <a:spcBef>
                <a:spcPts val="100"/>
              </a:spcBef>
              <a:buFont typeface="Arial"/>
              <a:buChar char="•"/>
              <a:tabLst>
                <a:tab pos="184150" algn="l"/>
              </a:tabLst>
            </a:pPr>
            <a:r>
              <a:rPr sz="2100" dirty="0">
                <a:latin typeface="微软雅黑"/>
                <a:cs typeface="微软雅黑"/>
              </a:rPr>
              <a:t>【例</a:t>
            </a:r>
            <a:r>
              <a:rPr sz="2100" spc="-5" dirty="0">
                <a:latin typeface="微软雅黑"/>
                <a:cs typeface="微软雅黑"/>
              </a:rPr>
              <a:t>12</a:t>
            </a:r>
            <a:r>
              <a:rPr sz="2100" dirty="0">
                <a:latin typeface="微软雅黑"/>
                <a:cs typeface="微软雅黑"/>
              </a:rPr>
              <a:t>-</a:t>
            </a:r>
            <a:r>
              <a:rPr sz="2100" spc="-5" dirty="0">
                <a:latin typeface="微软雅黑"/>
                <a:cs typeface="微软雅黑"/>
              </a:rPr>
              <a:t>3</a:t>
            </a:r>
            <a:r>
              <a:rPr sz="2100" dirty="0">
                <a:latin typeface="微软雅黑"/>
                <a:cs typeface="微软雅黑"/>
              </a:rPr>
              <a:t>】对比带缓冲区的文件复制与不带缓冲区文件复制的性能</a:t>
            </a:r>
            <a:endParaRPr sz="2100">
              <a:latin typeface="微软雅黑"/>
              <a:cs typeface="微软雅黑"/>
            </a:endParaRPr>
          </a:p>
          <a:p>
            <a:pPr marL="184150">
              <a:lnSpc>
                <a:spcPts val="2390"/>
              </a:lnSpc>
            </a:pPr>
            <a:r>
              <a:rPr sz="2100" dirty="0">
                <a:latin typeface="微软雅黑"/>
                <a:cs typeface="微软雅黑"/>
              </a:rPr>
              <a:t>。</a:t>
            </a:r>
            <a:endParaRPr sz="2100">
              <a:latin typeface="微软雅黑"/>
              <a:cs typeface="微软雅黑"/>
            </a:endParaRPr>
          </a:p>
          <a:p>
            <a:pPr>
              <a:lnSpc>
                <a:spcPct val="100000"/>
              </a:lnSpc>
              <a:spcBef>
                <a:spcPts val="50"/>
              </a:spcBef>
            </a:pPr>
            <a:endParaRPr sz="1450">
              <a:latin typeface="微软雅黑"/>
              <a:cs typeface="微软雅黑"/>
            </a:endParaRPr>
          </a:p>
          <a:p>
            <a:pPr marL="527050" marR="132080" lvl="1" indent="-171450">
              <a:lnSpc>
                <a:spcPts val="1939"/>
              </a:lnSpc>
              <a:buFont typeface="Arial"/>
              <a:buChar char="•"/>
              <a:tabLst>
                <a:tab pos="527050" algn="l"/>
              </a:tabLst>
            </a:pPr>
            <a:r>
              <a:rPr sz="1800" dirty="0">
                <a:latin typeface="微软雅黑"/>
                <a:cs typeface="微软雅黑"/>
              </a:rPr>
              <a:t>通过完成相同的复制工作所花费的时间对比得到带缓冲区与不带缓冲区间 的差别。</a:t>
            </a:r>
            <a:endParaRPr sz="1800">
              <a:latin typeface="微软雅黑"/>
              <a:cs typeface="微软雅黑"/>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12.2.4	</a:t>
            </a:r>
            <a:r>
              <a:rPr dirty="0"/>
              <a:t>缓冲流</a:t>
            </a:r>
            <a:r>
              <a:rPr spc="-10" dirty="0"/>
              <a:t>BufferedInputStream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BufferedOutputStream	</a:t>
            </a:r>
          </a:p>
        </p:txBody>
      </p:sp>
      <p:sp>
        <p:nvSpPr>
          <p:cNvPr id="21" name="object 21"/>
          <p:cNvSpPr txBox="1"/>
          <p:nvPr/>
        </p:nvSpPr>
        <p:spPr>
          <a:xfrm>
            <a:off x="2527935" y="1417827"/>
            <a:ext cx="5885815" cy="3763010"/>
          </a:xfrm>
          <a:prstGeom prst="rect">
            <a:avLst/>
          </a:prstGeom>
        </p:spPr>
        <p:txBody>
          <a:bodyPr vert="horz" wrap="square" lIns="0" tIns="64769" rIns="0" bIns="0" rtlCol="0">
            <a:spAutoFit/>
          </a:bodyPr>
          <a:lstStyle/>
          <a:p>
            <a:pPr marL="184150" indent="-171450" algn="just">
              <a:lnSpc>
                <a:spcPct val="100000"/>
              </a:lnSpc>
              <a:spcBef>
                <a:spcPts val="509"/>
              </a:spcBef>
              <a:buFont typeface="Arial"/>
              <a:buChar char="•"/>
              <a:tabLst>
                <a:tab pos="184150" algn="l"/>
              </a:tabLst>
            </a:pPr>
            <a:r>
              <a:rPr sz="2800" spc="-5" dirty="0">
                <a:latin typeface="微软雅黑"/>
                <a:cs typeface="微软雅黑"/>
              </a:rPr>
              <a:t>【</a:t>
            </a:r>
            <a:r>
              <a:rPr sz="2800" dirty="0">
                <a:latin typeface="微软雅黑"/>
                <a:cs typeface="微软雅黑"/>
              </a:rPr>
              <a:t> 关于</a:t>
            </a:r>
            <a:r>
              <a:rPr sz="2800" spc="-5" dirty="0">
                <a:latin typeface="微软雅黑"/>
                <a:cs typeface="微软雅黑"/>
              </a:rPr>
              <a:t>flush()</a:t>
            </a:r>
            <a:r>
              <a:rPr sz="2800" dirty="0">
                <a:latin typeface="微软雅黑"/>
                <a:cs typeface="微软雅黑"/>
              </a:rPr>
              <a:t>刷新</a:t>
            </a:r>
            <a:r>
              <a:rPr sz="2800" spc="-5" dirty="0">
                <a:latin typeface="微软雅黑"/>
                <a:cs typeface="微软雅黑"/>
              </a:rPr>
              <a:t>】</a:t>
            </a:r>
            <a:endParaRPr sz="2800">
              <a:latin typeface="微软雅黑"/>
              <a:cs typeface="微软雅黑"/>
            </a:endParaRPr>
          </a:p>
          <a:p>
            <a:pPr marL="184150" marR="5080" indent="-171450" algn="just">
              <a:lnSpc>
                <a:spcPts val="3020"/>
              </a:lnSpc>
              <a:spcBef>
                <a:spcPts val="795"/>
              </a:spcBef>
              <a:buFont typeface="Arial"/>
              <a:buChar char="•"/>
              <a:tabLst>
                <a:tab pos="184150" algn="l"/>
              </a:tabLst>
            </a:pPr>
            <a:r>
              <a:rPr sz="2800" dirty="0">
                <a:latin typeface="微软雅黑"/>
                <a:cs typeface="微软雅黑"/>
              </a:rPr>
              <a:t>对于</a:t>
            </a:r>
            <a:r>
              <a:rPr sz="2800" spc="-15" dirty="0">
                <a:latin typeface="微软雅黑"/>
                <a:cs typeface="微软雅黑"/>
              </a:rPr>
              <a:t>BufferedOutputStream，</a:t>
            </a:r>
            <a:r>
              <a:rPr sz="2800" dirty="0">
                <a:latin typeface="微软雅黑"/>
                <a:cs typeface="微软雅黑"/>
              </a:rPr>
              <a:t>只</a:t>
            </a:r>
            <a:r>
              <a:rPr sz="2800" spc="-5" dirty="0">
                <a:latin typeface="微软雅黑"/>
                <a:cs typeface="微软雅黑"/>
              </a:rPr>
              <a:t>有 </a:t>
            </a:r>
            <a:r>
              <a:rPr sz="2800" dirty="0">
                <a:latin typeface="微软雅黑"/>
                <a:cs typeface="微软雅黑"/>
              </a:rPr>
              <a:t>缓冲区满时，才会将数据真正送到</a:t>
            </a:r>
            <a:r>
              <a:rPr sz="2800" spc="-5" dirty="0">
                <a:latin typeface="微软雅黑"/>
                <a:cs typeface="微软雅黑"/>
              </a:rPr>
              <a:t>输 </a:t>
            </a:r>
            <a:r>
              <a:rPr sz="2800" dirty="0">
                <a:latin typeface="微软雅黑"/>
                <a:cs typeface="微软雅黑"/>
              </a:rPr>
              <a:t>出流</a:t>
            </a:r>
            <a:r>
              <a:rPr sz="2800" spc="-5" dirty="0">
                <a:latin typeface="微软雅黑"/>
                <a:cs typeface="微软雅黑"/>
              </a:rPr>
              <a:t>。</a:t>
            </a:r>
            <a:endParaRPr sz="2800">
              <a:latin typeface="微软雅黑"/>
              <a:cs typeface="微软雅黑"/>
            </a:endParaRPr>
          </a:p>
          <a:p>
            <a:pPr marL="184150" marR="5080" indent="-171450">
              <a:lnSpc>
                <a:spcPts val="3020"/>
              </a:lnSpc>
              <a:spcBef>
                <a:spcPts val="750"/>
              </a:spcBef>
              <a:buFont typeface="Arial"/>
              <a:buChar char="•"/>
              <a:tabLst>
                <a:tab pos="184150" algn="l"/>
              </a:tabLst>
            </a:pPr>
            <a:r>
              <a:rPr sz="2800" dirty="0">
                <a:latin typeface="微软雅黑"/>
                <a:cs typeface="微软雅黑"/>
              </a:rPr>
              <a:t>有些情况下，就需要人为地调</a:t>
            </a:r>
            <a:r>
              <a:rPr sz="2800" spc="-5" dirty="0">
                <a:latin typeface="微软雅黑"/>
                <a:cs typeface="微软雅黑"/>
              </a:rPr>
              <a:t>用 flush()</a:t>
            </a:r>
            <a:r>
              <a:rPr sz="2800" dirty="0">
                <a:latin typeface="微软雅黑"/>
                <a:cs typeface="微软雅黑"/>
              </a:rPr>
              <a:t>方法将尚未填满的缓冲区中</a:t>
            </a:r>
            <a:r>
              <a:rPr sz="2800" spc="-5" dirty="0">
                <a:latin typeface="微软雅黑"/>
                <a:cs typeface="微软雅黑"/>
              </a:rPr>
              <a:t>的 </a:t>
            </a:r>
            <a:r>
              <a:rPr sz="2800" dirty="0">
                <a:latin typeface="微软雅黑"/>
                <a:cs typeface="微软雅黑"/>
              </a:rPr>
              <a:t>数据送出。例如，数据已经读取完</a:t>
            </a:r>
            <a:r>
              <a:rPr sz="2800" spc="-5" dirty="0">
                <a:latin typeface="微软雅黑"/>
                <a:cs typeface="微软雅黑"/>
              </a:rPr>
              <a:t>毕</a:t>
            </a:r>
            <a:endParaRPr sz="2800">
              <a:latin typeface="微软雅黑"/>
              <a:cs typeface="微软雅黑"/>
            </a:endParaRPr>
          </a:p>
          <a:p>
            <a:pPr marL="184150" marR="5080">
              <a:lnSpc>
                <a:spcPts val="3020"/>
              </a:lnSpc>
            </a:pPr>
            <a:r>
              <a:rPr sz="2800" dirty="0">
                <a:latin typeface="微软雅黑"/>
                <a:cs typeface="微软雅黑"/>
              </a:rPr>
              <a:t>，但缓冲区尚未装满，这时必须由</a:t>
            </a:r>
            <a:r>
              <a:rPr sz="2800" spc="-5" dirty="0">
                <a:latin typeface="微软雅黑"/>
                <a:cs typeface="微软雅黑"/>
              </a:rPr>
              <a:t>程 </a:t>
            </a:r>
            <a:r>
              <a:rPr sz="2800" dirty="0">
                <a:latin typeface="微软雅黑"/>
                <a:cs typeface="微软雅黑"/>
              </a:rPr>
              <a:t>序调用</a:t>
            </a:r>
            <a:r>
              <a:rPr sz="2800" spc="-5" dirty="0">
                <a:latin typeface="微软雅黑"/>
                <a:cs typeface="微软雅黑"/>
              </a:rPr>
              <a:t>flush()</a:t>
            </a:r>
            <a:r>
              <a:rPr sz="2800" dirty="0">
                <a:latin typeface="微软雅黑"/>
                <a:cs typeface="微软雅黑"/>
              </a:rPr>
              <a:t>方法强制刷新缓冲区</a:t>
            </a:r>
            <a:r>
              <a:rPr sz="2800" spc="-5" dirty="0">
                <a:latin typeface="微软雅黑"/>
                <a:cs typeface="微软雅黑"/>
              </a:rPr>
              <a:t>。</a:t>
            </a:r>
            <a:endParaRPr sz="2800">
              <a:latin typeface="微软雅黑"/>
              <a:cs typeface="微软雅黑"/>
            </a:endParaRPr>
          </a:p>
        </p:txBody>
      </p:sp>
      <p:sp>
        <p:nvSpPr>
          <p:cNvPr id="22" name="object 22"/>
          <p:cNvSpPr/>
          <p:nvPr/>
        </p:nvSpPr>
        <p:spPr>
          <a:xfrm>
            <a:off x="396240" y="1557527"/>
            <a:ext cx="1595628" cy="1749552"/>
          </a:xfrm>
          <a:prstGeom prst="rect">
            <a:avLst/>
          </a:prstGeom>
          <a:blipFill>
            <a:blip r:embed="rId10" cstate="print"/>
            <a:stretch>
              <a:fillRect/>
            </a:stretch>
          </a:blipFill>
        </p:spPr>
        <p:txBody>
          <a:bodyPr wrap="square" lIns="0" tIns="0" rIns="0" bIns="0" rtlCol="0"/>
          <a:lstStyle/>
          <a:p>
            <a:endParaRPr/>
          </a:p>
        </p:txBody>
      </p:sp>
      <p:sp>
        <p:nvSpPr>
          <p:cNvPr id="23" name="object 2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p:nvPr/>
        </p:nvSpPr>
        <p:spPr>
          <a:xfrm>
            <a:off x="887094" y="1481454"/>
            <a:ext cx="7131050" cy="1686560"/>
          </a:xfrm>
          <a:prstGeom prst="rect">
            <a:avLst/>
          </a:prstGeom>
        </p:spPr>
        <p:txBody>
          <a:bodyPr vert="horz" wrap="square" lIns="0" tIns="49530" rIns="0" bIns="0" rtlCol="0">
            <a:spAutoFit/>
          </a:bodyPr>
          <a:lstStyle/>
          <a:p>
            <a:pPr marL="184150" marR="242570" indent="-171450">
              <a:lnSpc>
                <a:spcPts val="2260"/>
              </a:lnSpc>
              <a:spcBef>
                <a:spcPts val="390"/>
              </a:spcBef>
              <a:buFont typeface="Arial"/>
              <a:buChar char="•"/>
              <a:tabLst>
                <a:tab pos="184150" algn="l"/>
              </a:tabLst>
            </a:pPr>
            <a:r>
              <a:rPr sz="2100" dirty="0">
                <a:latin typeface="微软雅黑"/>
                <a:cs typeface="微软雅黑"/>
              </a:rPr>
              <a:t>数据过滤流类</a:t>
            </a:r>
            <a:r>
              <a:rPr sz="2100" spc="-15" dirty="0">
                <a:latin typeface="微软雅黑"/>
                <a:cs typeface="微软雅黑"/>
              </a:rPr>
              <a:t>DataInputStream</a:t>
            </a:r>
            <a:r>
              <a:rPr sz="2100" dirty="0">
                <a:latin typeface="微软雅黑"/>
                <a:cs typeface="微软雅黑"/>
              </a:rPr>
              <a:t>和</a:t>
            </a:r>
            <a:r>
              <a:rPr sz="2100" spc="-15" dirty="0">
                <a:latin typeface="微软雅黑"/>
                <a:cs typeface="微软雅黑"/>
              </a:rPr>
              <a:t>DataOutputStream</a:t>
            </a:r>
            <a:r>
              <a:rPr sz="2100" dirty="0">
                <a:latin typeface="微软雅黑"/>
                <a:cs typeface="微软雅黑"/>
              </a:rPr>
              <a:t>是 </a:t>
            </a:r>
            <a:r>
              <a:rPr sz="2100" spc="-15" dirty="0">
                <a:latin typeface="微软雅黑"/>
                <a:cs typeface="微软雅黑"/>
              </a:rPr>
              <a:t>FilterInputStream</a:t>
            </a:r>
            <a:r>
              <a:rPr sz="2100" dirty="0">
                <a:latin typeface="微软雅黑"/>
                <a:cs typeface="微软雅黑"/>
              </a:rPr>
              <a:t>和</a:t>
            </a:r>
            <a:r>
              <a:rPr sz="2100" spc="-15" dirty="0">
                <a:latin typeface="微软雅黑"/>
                <a:cs typeface="微软雅黑"/>
              </a:rPr>
              <a:t>FilterOutputStream</a:t>
            </a:r>
            <a:r>
              <a:rPr sz="2100" dirty="0">
                <a:latin typeface="微软雅黑"/>
                <a:cs typeface="微软雅黑"/>
              </a:rPr>
              <a:t>的子类。</a:t>
            </a:r>
          </a:p>
          <a:p>
            <a:pPr>
              <a:lnSpc>
                <a:spcPct val="100000"/>
              </a:lnSpc>
              <a:spcBef>
                <a:spcPts val="90"/>
              </a:spcBef>
              <a:buFont typeface="Arial"/>
              <a:buChar char="•"/>
            </a:pPr>
            <a:endParaRPr sz="2000" dirty="0">
              <a:latin typeface="微软雅黑"/>
              <a:cs typeface="微软雅黑"/>
            </a:endParaRPr>
          </a:p>
          <a:p>
            <a:pPr marL="184150" marR="5080" indent="-171450">
              <a:lnSpc>
                <a:spcPts val="2260"/>
              </a:lnSpc>
              <a:buFont typeface="Arial"/>
              <a:buChar char="•"/>
              <a:tabLst>
                <a:tab pos="184150" algn="l"/>
              </a:tabLst>
            </a:pPr>
            <a:r>
              <a:rPr sz="2100" dirty="0">
                <a:latin typeface="微软雅黑"/>
                <a:cs typeface="微软雅黑"/>
              </a:rPr>
              <a:t>它们将字节数据按照指定形式结合成有意义的基本数据类型 数据、以及</a:t>
            </a:r>
            <a:r>
              <a:rPr sz="2100" spc="-15" dirty="0">
                <a:latin typeface="微软雅黑"/>
                <a:cs typeface="微软雅黑"/>
              </a:rPr>
              <a:t>String</a:t>
            </a:r>
            <a:r>
              <a:rPr sz="2100" dirty="0">
                <a:latin typeface="微软雅黑"/>
                <a:cs typeface="微软雅黑"/>
              </a:rPr>
              <a:t>类型数据。</a:t>
            </a: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25</a:t>
            </a:fld>
            <a:endParaRPr dirty="0"/>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12.2.5	</a:t>
            </a:r>
            <a:r>
              <a:rPr dirty="0"/>
              <a:t>数据过滤流</a:t>
            </a:r>
            <a:r>
              <a:rPr spc="-10" dirty="0"/>
              <a:t>DataInputStream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DataOutputStream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p:nvPr/>
        </p:nvSpPr>
        <p:spPr>
          <a:xfrm>
            <a:off x="188595" y="1486534"/>
            <a:ext cx="7812405" cy="792480"/>
          </a:xfrm>
          <a:prstGeom prst="rect">
            <a:avLst/>
          </a:prstGeom>
        </p:spPr>
        <p:txBody>
          <a:bodyPr vert="horz" wrap="square" lIns="0" tIns="43815" rIns="0" bIns="0" rtlCol="0">
            <a:spAutoFit/>
          </a:bodyPr>
          <a:lstStyle/>
          <a:p>
            <a:pPr marL="268605" marR="5080" indent="-255904">
              <a:lnSpc>
                <a:spcPts val="1939"/>
              </a:lnSpc>
              <a:spcBef>
                <a:spcPts val="345"/>
              </a:spcBef>
              <a:buSzPct val="66666"/>
              <a:buFont typeface="Wingdings 3"/>
              <a:buChar char=""/>
              <a:tabLst>
                <a:tab pos="267970" algn="l"/>
                <a:tab pos="268605" algn="l"/>
              </a:tabLst>
            </a:pPr>
            <a:r>
              <a:rPr sz="1800" spc="-10" dirty="0">
                <a:latin typeface="微软雅黑"/>
                <a:cs typeface="微软雅黑"/>
              </a:rPr>
              <a:t>DataInputStream</a:t>
            </a:r>
            <a:r>
              <a:rPr sz="1800" dirty="0">
                <a:latin typeface="微软雅黑"/>
                <a:cs typeface="微软雅黑"/>
              </a:rPr>
              <a:t>除父类</a:t>
            </a:r>
            <a:r>
              <a:rPr sz="1800" spc="-15" dirty="0">
                <a:latin typeface="微软雅黑"/>
                <a:cs typeface="微软雅黑"/>
              </a:rPr>
              <a:t>InputStream</a:t>
            </a:r>
            <a:r>
              <a:rPr sz="1800" dirty="0">
                <a:latin typeface="微软雅黑"/>
                <a:cs typeface="微软雅黑"/>
              </a:rPr>
              <a:t>中的</a:t>
            </a:r>
            <a:r>
              <a:rPr sz="1800" spc="-5" dirty="0">
                <a:latin typeface="微软雅黑"/>
                <a:cs typeface="微软雅黑"/>
              </a:rPr>
              <a:t>3</a:t>
            </a:r>
            <a:r>
              <a:rPr sz="1800" dirty="0">
                <a:latin typeface="微软雅黑"/>
                <a:cs typeface="微软雅黑"/>
              </a:rPr>
              <a:t>个</a:t>
            </a:r>
            <a:r>
              <a:rPr sz="1800" spc="-10" dirty="0">
                <a:latin typeface="微软雅黑"/>
                <a:cs typeface="微软雅黑"/>
              </a:rPr>
              <a:t>read()</a:t>
            </a:r>
            <a:r>
              <a:rPr sz="1800" dirty="0">
                <a:latin typeface="微软雅黑"/>
                <a:cs typeface="微软雅黑"/>
              </a:rPr>
              <a:t>方法外，还有</a:t>
            </a:r>
            <a:r>
              <a:rPr sz="1800" spc="-5" dirty="0">
                <a:latin typeface="微软雅黑"/>
                <a:cs typeface="微软雅黑"/>
              </a:rPr>
              <a:t>8</a:t>
            </a:r>
            <a:r>
              <a:rPr sz="1800" dirty="0">
                <a:latin typeface="微软雅黑"/>
                <a:cs typeface="微软雅黑"/>
              </a:rPr>
              <a:t>种基本 数据类型数据的读方法，如果读取过程中输入流已到达文件末尾，则抛出 </a:t>
            </a:r>
            <a:r>
              <a:rPr sz="1800" spc="-5" dirty="0">
                <a:latin typeface="微软雅黑"/>
                <a:cs typeface="微软雅黑"/>
              </a:rPr>
              <a:t>EOFException</a:t>
            </a:r>
            <a:r>
              <a:rPr sz="1800" dirty="0">
                <a:latin typeface="微软雅黑"/>
                <a:cs typeface="微软雅黑"/>
              </a:rPr>
              <a:t>异常。</a:t>
            </a:r>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12.2.5	</a:t>
            </a:r>
            <a:r>
              <a:rPr dirty="0"/>
              <a:t>数据过滤流</a:t>
            </a:r>
            <a:r>
              <a:rPr spc="-10" dirty="0"/>
              <a:t>DataInputStream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DataOutputStream	</a:t>
            </a:r>
          </a:p>
        </p:txBody>
      </p:sp>
      <p:sp>
        <p:nvSpPr>
          <p:cNvPr id="22" name="object 22"/>
          <p:cNvSpPr/>
          <p:nvPr/>
        </p:nvSpPr>
        <p:spPr>
          <a:xfrm>
            <a:off x="519683" y="2564892"/>
            <a:ext cx="7846454" cy="3352800"/>
          </a:xfrm>
          <a:prstGeom prst="rect">
            <a:avLst/>
          </a:prstGeom>
          <a:blipFill>
            <a:blip r:embed="rId10" cstate="print"/>
            <a:stretch>
              <a:fillRect/>
            </a:stretch>
          </a:blipFill>
        </p:spPr>
        <p:txBody>
          <a:bodyPr wrap="square" lIns="0" tIns="0" rIns="0" bIns="0" rtlCol="0"/>
          <a:lstStyle/>
          <a:p>
            <a:endParaRPr/>
          </a:p>
        </p:txBody>
      </p:sp>
      <p:sp>
        <p:nvSpPr>
          <p:cNvPr id="23" name="object 2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26</a:t>
            </a:fld>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p:nvPr/>
        </p:nvSpPr>
        <p:spPr>
          <a:xfrm>
            <a:off x="78739" y="1481454"/>
            <a:ext cx="3397885" cy="1208405"/>
          </a:xfrm>
          <a:prstGeom prst="rect">
            <a:avLst/>
          </a:prstGeom>
        </p:spPr>
        <p:txBody>
          <a:bodyPr vert="horz" wrap="square" lIns="0" tIns="48260" rIns="0" bIns="0" rtlCol="0">
            <a:spAutoFit/>
          </a:bodyPr>
          <a:lstStyle/>
          <a:p>
            <a:pPr marL="184150" marR="5080" indent="-171450">
              <a:lnSpc>
                <a:spcPts val="2270"/>
              </a:lnSpc>
              <a:spcBef>
                <a:spcPts val="380"/>
              </a:spcBef>
              <a:buFont typeface="Arial"/>
              <a:buChar char="•"/>
              <a:tabLst>
                <a:tab pos="184150" algn="l"/>
              </a:tabLst>
            </a:pPr>
            <a:r>
              <a:rPr sz="2100" spc="-15" dirty="0">
                <a:latin typeface="微软雅黑"/>
                <a:cs typeface="微软雅黑"/>
              </a:rPr>
              <a:t>DataOutputStream</a:t>
            </a:r>
            <a:r>
              <a:rPr sz="2100" dirty="0">
                <a:latin typeface="微软雅黑"/>
                <a:cs typeface="微软雅黑"/>
              </a:rPr>
              <a:t>除父类 </a:t>
            </a:r>
            <a:r>
              <a:rPr sz="2100" spc="-15" dirty="0">
                <a:latin typeface="微软雅黑"/>
                <a:cs typeface="微软雅黑"/>
              </a:rPr>
              <a:t>OutputStream</a:t>
            </a:r>
            <a:r>
              <a:rPr sz="2100" dirty="0">
                <a:latin typeface="微软雅黑"/>
                <a:cs typeface="微软雅黑"/>
              </a:rPr>
              <a:t>中的和</a:t>
            </a:r>
            <a:r>
              <a:rPr sz="2100" spc="-5" dirty="0">
                <a:latin typeface="微软雅黑"/>
                <a:cs typeface="微软雅黑"/>
              </a:rPr>
              <a:t>3</a:t>
            </a:r>
            <a:r>
              <a:rPr sz="2100" dirty="0">
                <a:latin typeface="微软雅黑"/>
                <a:cs typeface="微软雅黑"/>
              </a:rPr>
              <a:t>个 </a:t>
            </a:r>
            <a:r>
              <a:rPr sz="2100" spc="-10" dirty="0">
                <a:latin typeface="微软雅黑"/>
                <a:cs typeface="微软雅黑"/>
              </a:rPr>
              <a:t>write()</a:t>
            </a:r>
            <a:r>
              <a:rPr sz="2100" dirty="0">
                <a:latin typeface="微软雅黑"/>
                <a:cs typeface="微软雅黑"/>
              </a:rPr>
              <a:t>方法外，还有</a:t>
            </a:r>
            <a:r>
              <a:rPr sz="2100" spc="-5" dirty="0">
                <a:latin typeface="微软雅黑"/>
                <a:cs typeface="微软雅黑"/>
              </a:rPr>
              <a:t>8</a:t>
            </a:r>
            <a:r>
              <a:rPr sz="2100" dirty="0">
                <a:latin typeface="微软雅黑"/>
                <a:cs typeface="微软雅黑"/>
              </a:rPr>
              <a:t>种基 本数据类型数据的写方法：</a:t>
            </a:r>
            <a:endParaRPr sz="2100">
              <a:latin typeface="微软雅黑"/>
              <a:cs typeface="微软雅黑"/>
            </a:endParaRPr>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pPr>
            <a:r>
              <a:rPr spc="-5" dirty="0"/>
              <a:t>12.2.5 </a:t>
            </a:r>
            <a:r>
              <a:rPr dirty="0"/>
              <a:t>数据过滤流</a:t>
            </a:r>
            <a:r>
              <a:rPr spc="-10" dirty="0"/>
              <a:t>DataInputStream</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DataOutputStream	</a:t>
            </a:r>
          </a:p>
        </p:txBody>
      </p:sp>
      <p:sp>
        <p:nvSpPr>
          <p:cNvPr id="22" name="object 22"/>
          <p:cNvSpPr/>
          <p:nvPr/>
        </p:nvSpPr>
        <p:spPr>
          <a:xfrm>
            <a:off x="4283964" y="1289303"/>
            <a:ext cx="3858767" cy="4238244"/>
          </a:xfrm>
          <a:prstGeom prst="rect">
            <a:avLst/>
          </a:prstGeom>
          <a:blipFill>
            <a:blip r:embed="rId10" cstate="print"/>
            <a:stretch>
              <a:fillRect/>
            </a:stretch>
          </a:blipFill>
        </p:spPr>
        <p:txBody>
          <a:bodyPr wrap="square" lIns="0" tIns="0" rIns="0" bIns="0" rtlCol="0"/>
          <a:lstStyle/>
          <a:p>
            <a:endParaRPr/>
          </a:p>
        </p:txBody>
      </p:sp>
      <p:sp>
        <p:nvSpPr>
          <p:cNvPr id="23" name="object 2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76682"/>
            <a:ext cx="8836025" cy="2677795"/>
          </a:xfrm>
          <a:prstGeom prst="rect">
            <a:avLst/>
          </a:prstGeom>
        </p:spPr>
        <p:txBody>
          <a:bodyPr vert="horz" wrap="square" lIns="0" tIns="12700" rIns="0" bIns="0" rtlCol="0">
            <a:spAutoFit/>
          </a:bodyPr>
          <a:lstStyle/>
          <a:p>
            <a:pPr marL="1217295">
              <a:lnSpc>
                <a:spcPts val="2735"/>
              </a:lnSpc>
              <a:spcBef>
                <a:spcPts val="100"/>
              </a:spcBef>
              <a:tabLst>
                <a:tab pos="2324735" algn="l"/>
              </a:tabLst>
            </a:pPr>
            <a:r>
              <a:rPr sz="2400" b="1" spc="-5" dirty="0">
                <a:latin typeface="微软雅黑"/>
                <a:cs typeface="微软雅黑"/>
              </a:rPr>
              <a:t>12.2.5	</a:t>
            </a:r>
            <a:r>
              <a:rPr sz="2400" b="1" dirty="0">
                <a:latin typeface="微软雅黑"/>
                <a:cs typeface="微软雅黑"/>
              </a:rPr>
              <a:t>数据过滤流</a:t>
            </a:r>
            <a:r>
              <a:rPr sz="2400" b="1" spc="-10" dirty="0">
                <a:latin typeface="微软雅黑"/>
                <a:cs typeface="微软雅黑"/>
              </a:rPr>
              <a:t>DataInputStream</a:t>
            </a:r>
            <a:r>
              <a:rPr sz="2400" b="1" dirty="0">
                <a:latin typeface="微软雅黑"/>
                <a:cs typeface="微软雅黑"/>
              </a:rPr>
              <a:t>和</a:t>
            </a:r>
            <a:endParaRPr sz="2400" dirty="0">
              <a:latin typeface="微软雅黑"/>
              <a:cs typeface="微软雅黑"/>
            </a:endParaRPr>
          </a:p>
          <a:p>
            <a:pPr marL="1083310">
              <a:lnSpc>
                <a:spcPts val="2735"/>
              </a:lnSpc>
              <a:tabLst>
                <a:tab pos="8822690"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DataOutputStream	</a:t>
            </a:r>
            <a:endParaRPr sz="2400" dirty="0">
              <a:latin typeface="微软雅黑"/>
              <a:cs typeface="微软雅黑"/>
            </a:endParaRPr>
          </a:p>
          <a:p>
            <a:pPr>
              <a:lnSpc>
                <a:spcPct val="100000"/>
              </a:lnSpc>
              <a:spcBef>
                <a:spcPts val="20"/>
              </a:spcBef>
            </a:pPr>
            <a:endParaRPr sz="2750" dirty="0">
              <a:latin typeface="微软雅黑"/>
              <a:cs typeface="微软雅黑"/>
            </a:endParaRPr>
          </a:p>
          <a:p>
            <a:pPr marL="184150" marR="2585085" indent="-171450">
              <a:lnSpc>
                <a:spcPts val="2590"/>
              </a:lnSpc>
              <a:buFont typeface="Arial"/>
              <a:buChar char="•"/>
              <a:tabLst>
                <a:tab pos="184150" algn="l"/>
              </a:tabLst>
            </a:pPr>
            <a:r>
              <a:rPr sz="2400" dirty="0">
                <a:latin typeface="微软雅黑"/>
                <a:cs typeface="微软雅黑"/>
              </a:rPr>
              <a:t>它们的构造方法就是对已有的</a:t>
            </a:r>
            <a:r>
              <a:rPr sz="2400" spc="-5" dirty="0">
                <a:latin typeface="微软雅黑"/>
                <a:cs typeface="微软雅黑"/>
              </a:rPr>
              <a:t>I</a:t>
            </a:r>
            <a:r>
              <a:rPr sz="2400" dirty="0">
                <a:latin typeface="微软雅黑"/>
                <a:cs typeface="微软雅黑"/>
              </a:rPr>
              <a:t>nput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m和  </a:t>
            </a:r>
            <a:r>
              <a:rPr sz="2400" spc="-15" dirty="0">
                <a:latin typeface="微软雅黑"/>
                <a:cs typeface="微软雅黑"/>
              </a:rPr>
              <a:t>OutputStream </a:t>
            </a:r>
            <a:r>
              <a:rPr sz="2400" dirty="0">
                <a:latin typeface="微软雅黑"/>
                <a:cs typeface="微软雅黑"/>
              </a:rPr>
              <a:t>对 象 进 行 包 装 ：  </a:t>
            </a:r>
            <a:r>
              <a:rPr sz="2400" spc="-15" dirty="0">
                <a:latin typeface="微软雅黑"/>
                <a:cs typeface="微软雅黑"/>
              </a:rPr>
              <a:t>DataInputStream(InputStream </a:t>
            </a:r>
            <a:r>
              <a:rPr sz="2400" spc="-5" dirty="0">
                <a:latin typeface="微软雅黑"/>
                <a:cs typeface="微软雅黑"/>
              </a:rPr>
              <a:t>in)，  </a:t>
            </a:r>
            <a:r>
              <a:rPr sz="2400" spc="-15" dirty="0">
                <a:latin typeface="微软雅黑"/>
                <a:cs typeface="微软雅黑"/>
              </a:rPr>
              <a:t>DataOutputStream(OutputStream</a:t>
            </a:r>
            <a:r>
              <a:rPr sz="2400" spc="5" dirty="0">
                <a:latin typeface="微软雅黑"/>
                <a:cs typeface="微软雅黑"/>
              </a:rPr>
              <a:t> </a:t>
            </a:r>
            <a:r>
              <a:rPr sz="2400" spc="-5" dirty="0">
                <a:latin typeface="微软雅黑"/>
                <a:cs typeface="微软雅黑"/>
              </a:rPr>
              <a:t>out)</a:t>
            </a:r>
            <a:endParaRPr sz="2400" dirty="0">
              <a:latin typeface="微软雅黑"/>
              <a:cs typeface="微软雅黑"/>
            </a:endParaRPr>
          </a:p>
        </p:txBody>
      </p:sp>
      <p:sp>
        <p:nvSpPr>
          <p:cNvPr id="3" name="object 3"/>
          <p:cNvSpPr/>
          <p:nvPr/>
        </p:nvSpPr>
        <p:spPr>
          <a:xfrm>
            <a:off x="1475232" y="3316596"/>
            <a:ext cx="5871972" cy="2600101"/>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28</a:t>
            </a:fld>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76682"/>
            <a:ext cx="8836025" cy="3855085"/>
          </a:xfrm>
          <a:prstGeom prst="rect">
            <a:avLst/>
          </a:prstGeom>
        </p:spPr>
        <p:txBody>
          <a:bodyPr vert="horz" wrap="square" lIns="0" tIns="12700" rIns="0" bIns="0" rtlCol="0">
            <a:spAutoFit/>
          </a:bodyPr>
          <a:lstStyle/>
          <a:p>
            <a:pPr marL="1217295">
              <a:lnSpc>
                <a:spcPts val="2735"/>
              </a:lnSpc>
              <a:spcBef>
                <a:spcPts val="100"/>
              </a:spcBef>
              <a:tabLst>
                <a:tab pos="2324735" algn="l"/>
              </a:tabLst>
            </a:pPr>
            <a:r>
              <a:rPr sz="2400" b="1" spc="-5" dirty="0">
                <a:latin typeface="微软雅黑"/>
                <a:cs typeface="微软雅黑"/>
              </a:rPr>
              <a:t>12.2.5	</a:t>
            </a:r>
            <a:r>
              <a:rPr sz="2400" b="1" dirty="0">
                <a:latin typeface="微软雅黑"/>
                <a:cs typeface="微软雅黑"/>
              </a:rPr>
              <a:t>数据过滤流</a:t>
            </a:r>
            <a:r>
              <a:rPr sz="2400" b="1" spc="-10" dirty="0">
                <a:latin typeface="微软雅黑"/>
                <a:cs typeface="微软雅黑"/>
              </a:rPr>
              <a:t>DataInputStream</a:t>
            </a:r>
            <a:r>
              <a:rPr sz="2400" b="1" dirty="0">
                <a:latin typeface="微软雅黑"/>
                <a:cs typeface="微软雅黑"/>
              </a:rPr>
              <a:t>和</a:t>
            </a:r>
            <a:endParaRPr sz="2400">
              <a:latin typeface="微软雅黑"/>
              <a:cs typeface="微软雅黑"/>
            </a:endParaRPr>
          </a:p>
          <a:p>
            <a:pPr marL="1083310">
              <a:lnSpc>
                <a:spcPts val="2735"/>
              </a:lnSpc>
              <a:tabLst>
                <a:tab pos="8822690"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DataOutputStream	</a:t>
            </a:r>
            <a:endParaRPr sz="2400">
              <a:latin typeface="微软雅黑"/>
              <a:cs typeface="微软雅黑"/>
            </a:endParaRPr>
          </a:p>
          <a:p>
            <a:pPr>
              <a:lnSpc>
                <a:spcPct val="100000"/>
              </a:lnSpc>
              <a:spcBef>
                <a:spcPts val="20"/>
              </a:spcBef>
            </a:pPr>
            <a:endParaRPr sz="2750">
              <a:latin typeface="微软雅黑"/>
              <a:cs typeface="微软雅黑"/>
            </a:endParaRPr>
          </a:p>
          <a:p>
            <a:pPr marL="121920" marR="991869" algn="just">
              <a:lnSpc>
                <a:spcPts val="2590"/>
              </a:lnSpc>
            </a:pPr>
            <a:r>
              <a:rPr sz="2400" dirty="0">
                <a:latin typeface="微软雅黑"/>
                <a:cs typeface="微软雅黑"/>
              </a:rPr>
              <a:t>【例</a:t>
            </a:r>
            <a:r>
              <a:rPr sz="2400" spc="-5" dirty="0">
                <a:latin typeface="微软雅黑"/>
                <a:cs typeface="微软雅黑"/>
              </a:rPr>
              <a:t>12</a:t>
            </a:r>
            <a:r>
              <a:rPr sz="2400" dirty="0">
                <a:latin typeface="微软雅黑"/>
                <a:cs typeface="微软雅黑"/>
              </a:rPr>
              <a:t>-</a:t>
            </a:r>
            <a:r>
              <a:rPr sz="2400" spc="-5" dirty="0">
                <a:latin typeface="微软雅黑"/>
                <a:cs typeface="微软雅黑"/>
              </a:rPr>
              <a:t>4</a:t>
            </a:r>
            <a:r>
              <a:rPr sz="2400" dirty="0">
                <a:latin typeface="微软雅黑"/>
                <a:cs typeface="微软雅黑"/>
              </a:rPr>
              <a:t>】使用数据过滤流将</a:t>
            </a:r>
            <a:r>
              <a:rPr sz="2400" spc="-5" dirty="0">
                <a:latin typeface="微软雅黑"/>
                <a:cs typeface="微软雅黑"/>
              </a:rPr>
              <a:t>1000</a:t>
            </a:r>
            <a:r>
              <a:rPr sz="2400" dirty="0">
                <a:latin typeface="微软雅黑"/>
                <a:cs typeface="微软雅黑"/>
              </a:rPr>
              <a:t>-</a:t>
            </a:r>
            <a:r>
              <a:rPr sz="2400" spc="-5" dirty="0">
                <a:latin typeface="微软雅黑"/>
                <a:cs typeface="微软雅黑"/>
              </a:rPr>
              <a:t>2000</a:t>
            </a:r>
            <a:r>
              <a:rPr sz="2400" dirty="0">
                <a:latin typeface="微软雅黑"/>
                <a:cs typeface="微软雅黑"/>
              </a:rPr>
              <a:t>间的素数写到文 件中持久化保存；将这些素数从文件读出、按每行</a:t>
            </a:r>
            <a:r>
              <a:rPr sz="2400" spc="-5" dirty="0">
                <a:latin typeface="微软雅黑"/>
                <a:cs typeface="微软雅黑"/>
              </a:rPr>
              <a:t>10</a:t>
            </a:r>
            <a:r>
              <a:rPr sz="2400" dirty="0">
                <a:latin typeface="微软雅黑"/>
                <a:cs typeface="微软雅黑"/>
              </a:rPr>
              <a:t>个的 形式打印。</a:t>
            </a:r>
            <a:endParaRPr sz="2400">
              <a:latin typeface="微软雅黑"/>
              <a:cs typeface="微软雅黑"/>
            </a:endParaRPr>
          </a:p>
          <a:p>
            <a:pPr>
              <a:lnSpc>
                <a:spcPct val="100000"/>
              </a:lnSpc>
              <a:spcBef>
                <a:spcPts val="35"/>
              </a:spcBef>
            </a:pPr>
            <a:endParaRPr sz="2200">
              <a:latin typeface="微软雅黑"/>
              <a:cs typeface="微软雅黑"/>
            </a:endParaRPr>
          </a:p>
          <a:p>
            <a:pPr marL="184150" marR="833119" indent="-171450">
              <a:lnSpc>
                <a:spcPts val="2590"/>
              </a:lnSpc>
              <a:buFont typeface="Arial"/>
              <a:buChar char="•"/>
              <a:tabLst>
                <a:tab pos="184150" algn="l"/>
              </a:tabLst>
            </a:pPr>
            <a:r>
              <a:rPr sz="2400" dirty="0">
                <a:latin typeface="微软雅黑"/>
                <a:cs typeface="微软雅黑"/>
              </a:rPr>
              <a:t>分析：使用自定义方法</a:t>
            </a:r>
            <a:r>
              <a:rPr sz="2400" spc="-5" dirty="0">
                <a:latin typeface="微软雅黑"/>
                <a:cs typeface="微软雅黑"/>
              </a:rPr>
              <a:t>boolean</a:t>
            </a:r>
            <a:r>
              <a:rPr sz="2400" spc="-50" dirty="0">
                <a:latin typeface="微软雅黑"/>
                <a:cs typeface="微软雅黑"/>
              </a:rPr>
              <a:t> </a:t>
            </a:r>
            <a:r>
              <a:rPr sz="2400" spc="-5" dirty="0">
                <a:latin typeface="微软雅黑"/>
                <a:cs typeface="微软雅黑"/>
              </a:rPr>
              <a:t>isPrime(int)</a:t>
            </a:r>
            <a:r>
              <a:rPr sz="2400" dirty="0">
                <a:latin typeface="微软雅黑"/>
                <a:cs typeface="微软雅黑"/>
              </a:rPr>
              <a:t>判断某数是否 是素数。找到素数后，将其用</a:t>
            </a:r>
            <a:r>
              <a:rPr sz="2400" spc="-5" dirty="0">
                <a:latin typeface="微软雅黑"/>
                <a:cs typeface="微软雅黑"/>
              </a:rPr>
              <a:t>writeInt()</a:t>
            </a:r>
            <a:r>
              <a:rPr sz="2400" dirty="0">
                <a:latin typeface="微软雅黑"/>
                <a:cs typeface="微软雅黑"/>
              </a:rPr>
              <a:t>方法写入文件。读 取文件时，每次使用</a:t>
            </a:r>
            <a:r>
              <a:rPr sz="2400" spc="-10" dirty="0">
                <a:latin typeface="微软雅黑"/>
                <a:cs typeface="微软雅黑"/>
              </a:rPr>
              <a:t>readInt()</a:t>
            </a:r>
            <a:r>
              <a:rPr sz="2400" dirty="0">
                <a:latin typeface="微软雅黑"/>
                <a:cs typeface="微软雅黑"/>
              </a:rPr>
              <a:t>方法读取一个int。</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29</a:t>
            </a:fld>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81454"/>
            <a:ext cx="8197850" cy="1974214"/>
          </a:xfrm>
          <a:prstGeom prst="rect">
            <a:avLst/>
          </a:prstGeom>
        </p:spPr>
        <p:txBody>
          <a:bodyPr vert="horz" wrap="square" lIns="0" tIns="48260" rIns="0" bIns="0" rtlCol="0">
            <a:spAutoFit/>
          </a:bodyPr>
          <a:lstStyle/>
          <a:p>
            <a:pPr marL="184150" marR="5080" indent="-171450" algn="just">
              <a:lnSpc>
                <a:spcPts val="2270"/>
              </a:lnSpc>
              <a:spcBef>
                <a:spcPts val="380"/>
              </a:spcBef>
              <a:buFont typeface="Arial"/>
              <a:buChar char="•"/>
              <a:tabLst>
                <a:tab pos="184150" algn="l"/>
              </a:tabLst>
            </a:pPr>
            <a:r>
              <a:rPr sz="2100" dirty="0">
                <a:latin typeface="微软雅黑"/>
                <a:cs typeface="微软雅黑"/>
              </a:rPr>
              <a:t>有时希望将以对象方式存在于内存中的数据存储至文件（持久化到文 件），需要时再将其从文件中读出还原为对象，或者在网络上传送对 象，</a:t>
            </a:r>
            <a:endParaRPr sz="2100">
              <a:latin typeface="微软雅黑"/>
              <a:cs typeface="微软雅黑"/>
            </a:endParaRPr>
          </a:p>
          <a:p>
            <a:pPr>
              <a:lnSpc>
                <a:spcPct val="100000"/>
              </a:lnSpc>
              <a:spcBef>
                <a:spcPts val="60"/>
              </a:spcBef>
              <a:buFont typeface="Arial"/>
              <a:buChar char="•"/>
            </a:pPr>
            <a:endParaRPr sz="1850">
              <a:latin typeface="微软雅黑"/>
              <a:cs typeface="微软雅黑"/>
            </a:endParaRPr>
          </a:p>
          <a:p>
            <a:pPr marL="184150" indent="-171450">
              <a:lnSpc>
                <a:spcPts val="2390"/>
              </a:lnSpc>
              <a:buFont typeface="Arial"/>
              <a:buChar char="•"/>
              <a:tabLst>
                <a:tab pos="184150" algn="l"/>
              </a:tabLst>
            </a:pPr>
            <a:r>
              <a:rPr sz="2100" dirty="0">
                <a:latin typeface="微软雅黑"/>
                <a:cs typeface="微软雅黑"/>
              </a:rPr>
              <a:t>使用</a:t>
            </a:r>
            <a:r>
              <a:rPr sz="2100" spc="-25" dirty="0">
                <a:latin typeface="微软雅黑"/>
                <a:cs typeface="微软雅黑"/>
              </a:rPr>
              <a:t>Java</a:t>
            </a:r>
            <a:r>
              <a:rPr sz="2100" dirty="0">
                <a:latin typeface="微软雅黑"/>
                <a:cs typeface="微软雅黑"/>
              </a:rPr>
              <a:t>提供的对象流</a:t>
            </a:r>
            <a:r>
              <a:rPr sz="2100" spc="-10" dirty="0">
                <a:latin typeface="微软雅黑"/>
                <a:cs typeface="微软雅黑"/>
              </a:rPr>
              <a:t>ObjectInputStream</a:t>
            </a:r>
            <a:r>
              <a:rPr sz="2100" dirty="0">
                <a:latin typeface="微软雅黑"/>
                <a:cs typeface="微软雅黑"/>
              </a:rPr>
              <a:t>和</a:t>
            </a:r>
            <a:r>
              <a:rPr sz="2100" spc="-10" dirty="0">
                <a:latin typeface="微软雅黑"/>
                <a:cs typeface="微软雅黑"/>
              </a:rPr>
              <a:t>objectOutputStream</a:t>
            </a:r>
            <a:endParaRPr sz="2100">
              <a:latin typeface="微软雅黑"/>
              <a:cs typeface="微软雅黑"/>
            </a:endParaRPr>
          </a:p>
          <a:p>
            <a:pPr marL="184150">
              <a:lnSpc>
                <a:spcPts val="2390"/>
              </a:lnSpc>
            </a:pPr>
            <a:r>
              <a:rPr sz="2100" dirty="0">
                <a:latin typeface="微软雅黑"/>
                <a:cs typeface="微软雅黑"/>
              </a:rPr>
              <a:t>。</a:t>
            </a:r>
            <a:endParaRPr sz="2100">
              <a:latin typeface="微软雅黑"/>
              <a:cs typeface="微软雅黑"/>
            </a:endParaRPr>
          </a:p>
        </p:txBody>
      </p:sp>
      <p:sp>
        <p:nvSpPr>
          <p:cNvPr id="3" name="object 3"/>
          <p:cNvSpPr txBox="1">
            <a:spLocks noGrp="1"/>
          </p:cNvSpPr>
          <p:nvPr>
            <p:ph type="title"/>
          </p:nvPr>
        </p:nvSpPr>
        <p:spPr>
          <a:xfrm>
            <a:off x="1283652" y="44602"/>
            <a:ext cx="5040630" cy="953135"/>
          </a:xfrm>
          <a:prstGeom prst="rect">
            <a:avLst/>
          </a:prstGeom>
        </p:spPr>
        <p:txBody>
          <a:bodyPr vert="horz" wrap="square" lIns="0" tIns="69215" rIns="0" bIns="0" rtlCol="0">
            <a:spAutoFit/>
          </a:bodyPr>
          <a:lstStyle/>
          <a:p>
            <a:pPr marL="12700" marR="5080">
              <a:lnSpc>
                <a:spcPts val="3450"/>
              </a:lnSpc>
              <a:spcBef>
                <a:spcPts val="545"/>
              </a:spcBef>
            </a:pPr>
            <a:r>
              <a:rPr sz="3200" spc="-5" dirty="0"/>
              <a:t>12.2.6</a:t>
            </a:r>
            <a:r>
              <a:rPr sz="3200" spc="-80" dirty="0"/>
              <a:t> </a:t>
            </a:r>
            <a:r>
              <a:rPr sz="3200" dirty="0"/>
              <a:t>对象流与序列化接</a:t>
            </a:r>
            <a:r>
              <a:rPr sz="3200" spc="5" dirty="0"/>
              <a:t>口 </a:t>
            </a:r>
            <a:r>
              <a:rPr sz="3200" spc="-5" dirty="0"/>
              <a:t>Serializable</a:t>
            </a:r>
            <a:endParaRPr sz="3200"/>
          </a:p>
        </p:txBody>
      </p:sp>
      <p:sp>
        <p:nvSpPr>
          <p:cNvPr id="4" name="object 4"/>
          <p:cNvSpPr/>
          <p:nvPr/>
        </p:nvSpPr>
        <p:spPr>
          <a:xfrm>
            <a:off x="1470888" y="4055173"/>
            <a:ext cx="1737995" cy="441959"/>
          </a:xfrm>
          <a:custGeom>
            <a:avLst/>
            <a:gdLst/>
            <a:ahLst/>
            <a:cxnLst/>
            <a:rect l="l" t="t" r="r" b="b"/>
            <a:pathLst>
              <a:path w="1737995" h="441960">
                <a:moveTo>
                  <a:pt x="1732953" y="441578"/>
                </a:moveTo>
                <a:lnTo>
                  <a:pt x="4762" y="441578"/>
                </a:lnTo>
                <a:lnTo>
                  <a:pt x="3289" y="441337"/>
                </a:lnTo>
                <a:lnTo>
                  <a:pt x="1968" y="440664"/>
                </a:lnTo>
                <a:lnTo>
                  <a:pt x="914" y="439610"/>
                </a:lnTo>
                <a:lnTo>
                  <a:pt x="241" y="438289"/>
                </a:lnTo>
                <a:lnTo>
                  <a:pt x="0" y="436816"/>
                </a:lnTo>
                <a:lnTo>
                  <a:pt x="0" y="4762"/>
                </a:lnTo>
                <a:lnTo>
                  <a:pt x="4762" y="0"/>
                </a:lnTo>
                <a:lnTo>
                  <a:pt x="1732953" y="0"/>
                </a:lnTo>
                <a:lnTo>
                  <a:pt x="1737715" y="4762"/>
                </a:lnTo>
                <a:lnTo>
                  <a:pt x="9525" y="4762"/>
                </a:lnTo>
                <a:lnTo>
                  <a:pt x="4762" y="9525"/>
                </a:lnTo>
                <a:lnTo>
                  <a:pt x="9525" y="9525"/>
                </a:lnTo>
                <a:lnTo>
                  <a:pt x="9525" y="432053"/>
                </a:lnTo>
                <a:lnTo>
                  <a:pt x="4762" y="432053"/>
                </a:lnTo>
                <a:lnTo>
                  <a:pt x="9525" y="436816"/>
                </a:lnTo>
                <a:lnTo>
                  <a:pt x="1737715" y="436816"/>
                </a:lnTo>
                <a:lnTo>
                  <a:pt x="1737487" y="438289"/>
                </a:lnTo>
                <a:lnTo>
                  <a:pt x="1736813" y="439610"/>
                </a:lnTo>
                <a:lnTo>
                  <a:pt x="1735759" y="440664"/>
                </a:lnTo>
                <a:lnTo>
                  <a:pt x="1734426" y="441337"/>
                </a:lnTo>
                <a:lnTo>
                  <a:pt x="1732953" y="441578"/>
                </a:lnTo>
                <a:close/>
              </a:path>
              <a:path w="1737995" h="441960">
                <a:moveTo>
                  <a:pt x="9525" y="9525"/>
                </a:moveTo>
                <a:lnTo>
                  <a:pt x="4762" y="9525"/>
                </a:lnTo>
                <a:lnTo>
                  <a:pt x="9525" y="4762"/>
                </a:lnTo>
                <a:lnTo>
                  <a:pt x="9525" y="9525"/>
                </a:lnTo>
                <a:close/>
              </a:path>
              <a:path w="1737995" h="441960">
                <a:moveTo>
                  <a:pt x="1728190" y="9525"/>
                </a:moveTo>
                <a:lnTo>
                  <a:pt x="9525" y="9525"/>
                </a:lnTo>
                <a:lnTo>
                  <a:pt x="9525" y="4762"/>
                </a:lnTo>
                <a:lnTo>
                  <a:pt x="1728190" y="4762"/>
                </a:lnTo>
                <a:lnTo>
                  <a:pt x="1728190" y="9525"/>
                </a:lnTo>
                <a:close/>
              </a:path>
              <a:path w="1737995" h="441960">
                <a:moveTo>
                  <a:pt x="1728190" y="436816"/>
                </a:moveTo>
                <a:lnTo>
                  <a:pt x="1728190" y="4762"/>
                </a:lnTo>
                <a:lnTo>
                  <a:pt x="1732953" y="9525"/>
                </a:lnTo>
                <a:lnTo>
                  <a:pt x="1737715" y="9525"/>
                </a:lnTo>
                <a:lnTo>
                  <a:pt x="1737715" y="432053"/>
                </a:lnTo>
                <a:lnTo>
                  <a:pt x="1732953" y="432053"/>
                </a:lnTo>
                <a:lnTo>
                  <a:pt x="1728190" y="436816"/>
                </a:lnTo>
                <a:close/>
              </a:path>
              <a:path w="1737995" h="441960">
                <a:moveTo>
                  <a:pt x="1737715" y="9525"/>
                </a:moveTo>
                <a:lnTo>
                  <a:pt x="1732953" y="9525"/>
                </a:lnTo>
                <a:lnTo>
                  <a:pt x="1728190" y="4762"/>
                </a:lnTo>
                <a:lnTo>
                  <a:pt x="1737715" y="4762"/>
                </a:lnTo>
                <a:lnTo>
                  <a:pt x="1737715" y="9525"/>
                </a:lnTo>
                <a:close/>
              </a:path>
              <a:path w="1737995" h="441960">
                <a:moveTo>
                  <a:pt x="9525" y="436816"/>
                </a:moveTo>
                <a:lnTo>
                  <a:pt x="4762" y="432053"/>
                </a:lnTo>
                <a:lnTo>
                  <a:pt x="9525" y="432053"/>
                </a:lnTo>
                <a:lnTo>
                  <a:pt x="9525" y="436816"/>
                </a:lnTo>
                <a:close/>
              </a:path>
              <a:path w="1737995" h="441960">
                <a:moveTo>
                  <a:pt x="1728190" y="436816"/>
                </a:moveTo>
                <a:lnTo>
                  <a:pt x="9525" y="436816"/>
                </a:lnTo>
                <a:lnTo>
                  <a:pt x="9525" y="432053"/>
                </a:lnTo>
                <a:lnTo>
                  <a:pt x="1728190" y="432053"/>
                </a:lnTo>
                <a:lnTo>
                  <a:pt x="1728190" y="436816"/>
                </a:lnTo>
                <a:close/>
              </a:path>
              <a:path w="1737995" h="441960">
                <a:moveTo>
                  <a:pt x="1737715" y="436816"/>
                </a:moveTo>
                <a:lnTo>
                  <a:pt x="1728190" y="436816"/>
                </a:lnTo>
                <a:lnTo>
                  <a:pt x="1732953" y="432053"/>
                </a:lnTo>
                <a:lnTo>
                  <a:pt x="1737715" y="432053"/>
                </a:lnTo>
                <a:lnTo>
                  <a:pt x="1737715" y="436816"/>
                </a:lnTo>
                <a:close/>
              </a:path>
            </a:pathLst>
          </a:custGeom>
          <a:solidFill>
            <a:srgbClr val="006C39"/>
          </a:solidFill>
        </p:spPr>
        <p:txBody>
          <a:bodyPr wrap="square" lIns="0" tIns="0" rIns="0" bIns="0" rtlCol="0"/>
          <a:lstStyle/>
          <a:p>
            <a:endParaRPr/>
          </a:p>
        </p:txBody>
      </p:sp>
      <p:sp>
        <p:nvSpPr>
          <p:cNvPr id="5" name="object 5"/>
          <p:cNvSpPr/>
          <p:nvPr/>
        </p:nvSpPr>
        <p:spPr>
          <a:xfrm>
            <a:off x="1470888" y="4487227"/>
            <a:ext cx="1737995" cy="441959"/>
          </a:xfrm>
          <a:custGeom>
            <a:avLst/>
            <a:gdLst/>
            <a:ahLst/>
            <a:cxnLst/>
            <a:rect l="l" t="t" r="r" b="b"/>
            <a:pathLst>
              <a:path w="1737995" h="441960">
                <a:moveTo>
                  <a:pt x="1732953" y="441566"/>
                </a:moveTo>
                <a:lnTo>
                  <a:pt x="4762" y="441566"/>
                </a:lnTo>
                <a:lnTo>
                  <a:pt x="3289" y="441337"/>
                </a:lnTo>
                <a:lnTo>
                  <a:pt x="1968" y="440664"/>
                </a:lnTo>
                <a:lnTo>
                  <a:pt x="914" y="439610"/>
                </a:lnTo>
                <a:lnTo>
                  <a:pt x="241" y="438276"/>
                </a:lnTo>
                <a:lnTo>
                  <a:pt x="0" y="436803"/>
                </a:lnTo>
                <a:lnTo>
                  <a:pt x="0" y="4762"/>
                </a:lnTo>
                <a:lnTo>
                  <a:pt x="4762" y="0"/>
                </a:lnTo>
                <a:lnTo>
                  <a:pt x="1732953" y="0"/>
                </a:lnTo>
                <a:lnTo>
                  <a:pt x="1737715" y="4762"/>
                </a:lnTo>
                <a:lnTo>
                  <a:pt x="9525" y="4762"/>
                </a:lnTo>
                <a:lnTo>
                  <a:pt x="4762" y="9525"/>
                </a:lnTo>
                <a:lnTo>
                  <a:pt x="9525" y="9525"/>
                </a:lnTo>
                <a:lnTo>
                  <a:pt x="9525" y="432041"/>
                </a:lnTo>
                <a:lnTo>
                  <a:pt x="4762" y="432041"/>
                </a:lnTo>
                <a:lnTo>
                  <a:pt x="9525" y="436803"/>
                </a:lnTo>
                <a:lnTo>
                  <a:pt x="1737715" y="436803"/>
                </a:lnTo>
                <a:lnTo>
                  <a:pt x="1737487" y="438276"/>
                </a:lnTo>
                <a:lnTo>
                  <a:pt x="1736813" y="439610"/>
                </a:lnTo>
                <a:lnTo>
                  <a:pt x="1735759" y="440664"/>
                </a:lnTo>
                <a:lnTo>
                  <a:pt x="1734426" y="441337"/>
                </a:lnTo>
                <a:lnTo>
                  <a:pt x="1732953" y="441566"/>
                </a:lnTo>
                <a:close/>
              </a:path>
              <a:path w="1737995" h="441960">
                <a:moveTo>
                  <a:pt x="9525" y="9525"/>
                </a:moveTo>
                <a:lnTo>
                  <a:pt x="4762" y="9525"/>
                </a:lnTo>
                <a:lnTo>
                  <a:pt x="9525" y="4762"/>
                </a:lnTo>
                <a:lnTo>
                  <a:pt x="9525" y="9525"/>
                </a:lnTo>
                <a:close/>
              </a:path>
              <a:path w="1737995" h="441960">
                <a:moveTo>
                  <a:pt x="1728190" y="9525"/>
                </a:moveTo>
                <a:lnTo>
                  <a:pt x="9525" y="9525"/>
                </a:lnTo>
                <a:lnTo>
                  <a:pt x="9525" y="4762"/>
                </a:lnTo>
                <a:lnTo>
                  <a:pt x="1728190" y="4762"/>
                </a:lnTo>
                <a:lnTo>
                  <a:pt x="1728190" y="9525"/>
                </a:lnTo>
                <a:close/>
              </a:path>
              <a:path w="1737995" h="441960">
                <a:moveTo>
                  <a:pt x="1728190" y="436803"/>
                </a:moveTo>
                <a:lnTo>
                  <a:pt x="1728190" y="4762"/>
                </a:lnTo>
                <a:lnTo>
                  <a:pt x="1732953" y="9525"/>
                </a:lnTo>
                <a:lnTo>
                  <a:pt x="1737715" y="9525"/>
                </a:lnTo>
                <a:lnTo>
                  <a:pt x="1737715" y="432041"/>
                </a:lnTo>
                <a:lnTo>
                  <a:pt x="1732953" y="432041"/>
                </a:lnTo>
                <a:lnTo>
                  <a:pt x="1728190" y="436803"/>
                </a:lnTo>
                <a:close/>
              </a:path>
              <a:path w="1737995" h="441960">
                <a:moveTo>
                  <a:pt x="1737715" y="9525"/>
                </a:moveTo>
                <a:lnTo>
                  <a:pt x="1732953" y="9525"/>
                </a:lnTo>
                <a:lnTo>
                  <a:pt x="1728190" y="4762"/>
                </a:lnTo>
                <a:lnTo>
                  <a:pt x="1737715" y="4762"/>
                </a:lnTo>
                <a:lnTo>
                  <a:pt x="1737715" y="9525"/>
                </a:lnTo>
                <a:close/>
              </a:path>
              <a:path w="1737995" h="441960">
                <a:moveTo>
                  <a:pt x="9525" y="436803"/>
                </a:moveTo>
                <a:lnTo>
                  <a:pt x="4762" y="432041"/>
                </a:lnTo>
                <a:lnTo>
                  <a:pt x="9525" y="432041"/>
                </a:lnTo>
                <a:lnTo>
                  <a:pt x="9525" y="436803"/>
                </a:lnTo>
                <a:close/>
              </a:path>
              <a:path w="1737995" h="441960">
                <a:moveTo>
                  <a:pt x="1728190" y="436803"/>
                </a:moveTo>
                <a:lnTo>
                  <a:pt x="9525" y="436803"/>
                </a:lnTo>
                <a:lnTo>
                  <a:pt x="9525" y="432041"/>
                </a:lnTo>
                <a:lnTo>
                  <a:pt x="1728190" y="432041"/>
                </a:lnTo>
                <a:lnTo>
                  <a:pt x="1728190" y="436803"/>
                </a:lnTo>
                <a:close/>
              </a:path>
              <a:path w="1737995" h="441960">
                <a:moveTo>
                  <a:pt x="1737715" y="436803"/>
                </a:moveTo>
                <a:lnTo>
                  <a:pt x="1728190" y="436803"/>
                </a:lnTo>
                <a:lnTo>
                  <a:pt x="1732953" y="432041"/>
                </a:lnTo>
                <a:lnTo>
                  <a:pt x="1737715" y="432041"/>
                </a:lnTo>
                <a:lnTo>
                  <a:pt x="1737715" y="436803"/>
                </a:lnTo>
                <a:close/>
              </a:path>
            </a:pathLst>
          </a:custGeom>
          <a:solidFill>
            <a:srgbClr val="006C39"/>
          </a:solidFill>
        </p:spPr>
        <p:txBody>
          <a:bodyPr wrap="square" lIns="0" tIns="0" rIns="0" bIns="0" rtlCol="0"/>
          <a:lstStyle/>
          <a:p>
            <a:endParaRPr/>
          </a:p>
        </p:txBody>
      </p:sp>
      <p:sp>
        <p:nvSpPr>
          <p:cNvPr id="6" name="object 6"/>
          <p:cNvSpPr/>
          <p:nvPr/>
        </p:nvSpPr>
        <p:spPr>
          <a:xfrm>
            <a:off x="4448555" y="4276344"/>
            <a:ext cx="1203960" cy="431291"/>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4445139" y="4266768"/>
            <a:ext cx="1212850" cy="450850"/>
          </a:xfrm>
          <a:custGeom>
            <a:avLst/>
            <a:gdLst/>
            <a:ahLst/>
            <a:cxnLst/>
            <a:rect l="l" t="t" r="r" b="b"/>
            <a:pathLst>
              <a:path w="1212850" h="450850">
                <a:moveTo>
                  <a:pt x="987145" y="117208"/>
                </a:moveTo>
                <a:lnTo>
                  <a:pt x="987145" y="0"/>
                </a:lnTo>
                <a:lnTo>
                  <a:pt x="996340" y="9194"/>
                </a:lnTo>
                <a:lnTo>
                  <a:pt x="994765" y="9194"/>
                </a:lnTo>
                <a:lnTo>
                  <a:pt x="988263" y="11887"/>
                </a:lnTo>
                <a:lnTo>
                  <a:pt x="994765" y="18389"/>
                </a:lnTo>
                <a:lnTo>
                  <a:pt x="994765" y="113398"/>
                </a:lnTo>
                <a:lnTo>
                  <a:pt x="990955" y="113398"/>
                </a:lnTo>
                <a:lnTo>
                  <a:pt x="987145" y="117208"/>
                </a:lnTo>
                <a:close/>
              </a:path>
              <a:path w="1212850" h="450850">
                <a:moveTo>
                  <a:pt x="994765" y="18389"/>
                </a:moveTo>
                <a:lnTo>
                  <a:pt x="988263" y="11887"/>
                </a:lnTo>
                <a:lnTo>
                  <a:pt x="994765" y="9194"/>
                </a:lnTo>
                <a:lnTo>
                  <a:pt x="994765" y="18389"/>
                </a:lnTo>
                <a:close/>
              </a:path>
              <a:path w="1212850" h="450850">
                <a:moveTo>
                  <a:pt x="1201597" y="225221"/>
                </a:moveTo>
                <a:lnTo>
                  <a:pt x="994765" y="18389"/>
                </a:lnTo>
                <a:lnTo>
                  <a:pt x="994765" y="9194"/>
                </a:lnTo>
                <a:lnTo>
                  <a:pt x="996340" y="9194"/>
                </a:lnTo>
                <a:lnTo>
                  <a:pt x="1209675" y="222529"/>
                </a:lnTo>
                <a:lnTo>
                  <a:pt x="1204290" y="222529"/>
                </a:lnTo>
                <a:lnTo>
                  <a:pt x="1201597" y="225221"/>
                </a:lnTo>
                <a:close/>
              </a:path>
              <a:path w="1212850" h="450850">
                <a:moveTo>
                  <a:pt x="987145" y="337045"/>
                </a:moveTo>
                <a:lnTo>
                  <a:pt x="0" y="337045"/>
                </a:lnTo>
                <a:lnTo>
                  <a:pt x="0" y="113398"/>
                </a:lnTo>
                <a:lnTo>
                  <a:pt x="987145" y="113398"/>
                </a:lnTo>
                <a:lnTo>
                  <a:pt x="987145" y="117208"/>
                </a:lnTo>
                <a:lnTo>
                  <a:pt x="7619" y="117208"/>
                </a:lnTo>
                <a:lnTo>
                  <a:pt x="3809" y="121018"/>
                </a:lnTo>
                <a:lnTo>
                  <a:pt x="7619" y="121018"/>
                </a:lnTo>
                <a:lnTo>
                  <a:pt x="7619" y="329425"/>
                </a:lnTo>
                <a:lnTo>
                  <a:pt x="3809" y="329425"/>
                </a:lnTo>
                <a:lnTo>
                  <a:pt x="7619" y="333235"/>
                </a:lnTo>
                <a:lnTo>
                  <a:pt x="987145" y="333235"/>
                </a:lnTo>
                <a:lnTo>
                  <a:pt x="987145" y="337045"/>
                </a:lnTo>
                <a:close/>
              </a:path>
              <a:path w="1212850" h="450850">
                <a:moveTo>
                  <a:pt x="994765" y="121018"/>
                </a:moveTo>
                <a:lnTo>
                  <a:pt x="7619" y="121018"/>
                </a:lnTo>
                <a:lnTo>
                  <a:pt x="7619" y="117208"/>
                </a:lnTo>
                <a:lnTo>
                  <a:pt x="987145" y="117208"/>
                </a:lnTo>
                <a:lnTo>
                  <a:pt x="990955" y="113398"/>
                </a:lnTo>
                <a:lnTo>
                  <a:pt x="994765" y="113398"/>
                </a:lnTo>
                <a:lnTo>
                  <a:pt x="994765" y="121018"/>
                </a:lnTo>
                <a:close/>
              </a:path>
              <a:path w="1212850" h="450850">
                <a:moveTo>
                  <a:pt x="7619" y="121018"/>
                </a:moveTo>
                <a:lnTo>
                  <a:pt x="3809" y="121018"/>
                </a:lnTo>
                <a:lnTo>
                  <a:pt x="7619" y="117208"/>
                </a:lnTo>
                <a:lnTo>
                  <a:pt x="7619" y="121018"/>
                </a:lnTo>
                <a:close/>
              </a:path>
              <a:path w="1212850" h="450850">
                <a:moveTo>
                  <a:pt x="1204290" y="227914"/>
                </a:moveTo>
                <a:lnTo>
                  <a:pt x="1201597" y="225221"/>
                </a:lnTo>
                <a:lnTo>
                  <a:pt x="1204290" y="222529"/>
                </a:lnTo>
                <a:lnTo>
                  <a:pt x="1204290" y="227914"/>
                </a:lnTo>
                <a:close/>
              </a:path>
              <a:path w="1212850" h="450850">
                <a:moveTo>
                  <a:pt x="1209675" y="227914"/>
                </a:moveTo>
                <a:lnTo>
                  <a:pt x="1204290" y="227914"/>
                </a:lnTo>
                <a:lnTo>
                  <a:pt x="1204290" y="222529"/>
                </a:lnTo>
                <a:lnTo>
                  <a:pt x="1209675" y="222529"/>
                </a:lnTo>
                <a:lnTo>
                  <a:pt x="1212367" y="225221"/>
                </a:lnTo>
                <a:lnTo>
                  <a:pt x="1209675" y="227914"/>
                </a:lnTo>
                <a:close/>
              </a:path>
              <a:path w="1212850" h="450850">
                <a:moveTo>
                  <a:pt x="996340" y="441248"/>
                </a:moveTo>
                <a:lnTo>
                  <a:pt x="994765" y="441248"/>
                </a:lnTo>
                <a:lnTo>
                  <a:pt x="994765" y="432041"/>
                </a:lnTo>
                <a:lnTo>
                  <a:pt x="1201597" y="225221"/>
                </a:lnTo>
                <a:lnTo>
                  <a:pt x="1204290" y="227914"/>
                </a:lnTo>
                <a:lnTo>
                  <a:pt x="1209675" y="227914"/>
                </a:lnTo>
                <a:lnTo>
                  <a:pt x="996340" y="441248"/>
                </a:lnTo>
                <a:close/>
              </a:path>
              <a:path w="1212850" h="450850">
                <a:moveTo>
                  <a:pt x="7619" y="333235"/>
                </a:moveTo>
                <a:lnTo>
                  <a:pt x="3809" y="329425"/>
                </a:lnTo>
                <a:lnTo>
                  <a:pt x="7619" y="329425"/>
                </a:lnTo>
                <a:lnTo>
                  <a:pt x="7619" y="333235"/>
                </a:lnTo>
                <a:close/>
              </a:path>
              <a:path w="1212850" h="450850">
                <a:moveTo>
                  <a:pt x="994765" y="337045"/>
                </a:moveTo>
                <a:lnTo>
                  <a:pt x="990955" y="337045"/>
                </a:lnTo>
                <a:lnTo>
                  <a:pt x="987145" y="333235"/>
                </a:lnTo>
                <a:lnTo>
                  <a:pt x="7619" y="333235"/>
                </a:lnTo>
                <a:lnTo>
                  <a:pt x="7619" y="329425"/>
                </a:lnTo>
                <a:lnTo>
                  <a:pt x="994765" y="329425"/>
                </a:lnTo>
                <a:lnTo>
                  <a:pt x="994765" y="337045"/>
                </a:lnTo>
                <a:close/>
              </a:path>
              <a:path w="1212850" h="450850">
                <a:moveTo>
                  <a:pt x="987145" y="450443"/>
                </a:moveTo>
                <a:lnTo>
                  <a:pt x="987145" y="333235"/>
                </a:lnTo>
                <a:lnTo>
                  <a:pt x="990955" y="337045"/>
                </a:lnTo>
                <a:lnTo>
                  <a:pt x="994765" y="337045"/>
                </a:lnTo>
                <a:lnTo>
                  <a:pt x="994765" y="432041"/>
                </a:lnTo>
                <a:lnTo>
                  <a:pt x="988263" y="438543"/>
                </a:lnTo>
                <a:lnTo>
                  <a:pt x="994765" y="441248"/>
                </a:lnTo>
                <a:lnTo>
                  <a:pt x="996340" y="441248"/>
                </a:lnTo>
                <a:lnTo>
                  <a:pt x="987145" y="450443"/>
                </a:lnTo>
                <a:close/>
              </a:path>
              <a:path w="1212850" h="450850">
                <a:moveTo>
                  <a:pt x="994765" y="441248"/>
                </a:moveTo>
                <a:lnTo>
                  <a:pt x="988263" y="438543"/>
                </a:lnTo>
                <a:lnTo>
                  <a:pt x="994765" y="432041"/>
                </a:lnTo>
                <a:lnTo>
                  <a:pt x="994765" y="441248"/>
                </a:lnTo>
                <a:close/>
              </a:path>
            </a:pathLst>
          </a:custGeom>
          <a:solidFill>
            <a:srgbClr val="006C39"/>
          </a:solidFill>
        </p:spPr>
        <p:txBody>
          <a:bodyPr wrap="square" lIns="0" tIns="0" rIns="0" bIns="0" rtlCol="0"/>
          <a:lstStyle/>
          <a:p>
            <a:endParaRPr/>
          </a:p>
        </p:txBody>
      </p:sp>
      <p:sp>
        <p:nvSpPr>
          <p:cNvPr id="8" name="object 8"/>
          <p:cNvSpPr txBox="1"/>
          <p:nvPr/>
        </p:nvSpPr>
        <p:spPr>
          <a:xfrm>
            <a:off x="5874880" y="4255147"/>
            <a:ext cx="1802764" cy="451484"/>
          </a:xfrm>
          <a:prstGeom prst="rect">
            <a:avLst/>
          </a:prstGeom>
        </p:spPr>
        <p:txBody>
          <a:bodyPr vert="horz" wrap="square" lIns="0" tIns="12065" rIns="0" bIns="0" rtlCol="0">
            <a:spAutoFit/>
          </a:bodyPr>
          <a:lstStyle/>
          <a:p>
            <a:pPr marL="12700">
              <a:lnSpc>
                <a:spcPct val="100000"/>
              </a:lnSpc>
              <a:spcBef>
                <a:spcPts val="95"/>
              </a:spcBef>
            </a:pPr>
            <a:r>
              <a:rPr sz="2800" dirty="0">
                <a:latin typeface="微软雅黑"/>
                <a:cs typeface="微软雅黑"/>
              </a:rPr>
              <a:t>文件、网</a:t>
            </a:r>
            <a:r>
              <a:rPr sz="2800" spc="-5" dirty="0">
                <a:latin typeface="微软雅黑"/>
                <a:cs typeface="微软雅黑"/>
              </a:rPr>
              <a:t>络</a:t>
            </a:r>
            <a:endParaRPr sz="2800">
              <a:latin typeface="微软雅黑"/>
              <a:cs typeface="微软雅黑"/>
            </a:endParaRPr>
          </a:p>
        </p:txBody>
      </p:sp>
      <p:sp>
        <p:nvSpPr>
          <p:cNvPr id="9" name="object 9"/>
          <p:cNvSpPr txBox="1"/>
          <p:nvPr/>
        </p:nvSpPr>
        <p:spPr>
          <a:xfrm>
            <a:off x="1935391" y="4028185"/>
            <a:ext cx="807720" cy="1285240"/>
          </a:xfrm>
          <a:prstGeom prst="rect">
            <a:avLst/>
          </a:prstGeom>
        </p:spPr>
        <p:txBody>
          <a:bodyPr vert="horz" wrap="square" lIns="0" tIns="6985" rIns="0" bIns="0" rtlCol="0">
            <a:spAutoFit/>
          </a:bodyPr>
          <a:lstStyle/>
          <a:p>
            <a:pPr marL="208279" marR="5080" indent="-195580">
              <a:lnSpc>
                <a:spcPct val="101200"/>
              </a:lnSpc>
              <a:spcBef>
                <a:spcPts val="55"/>
              </a:spcBef>
            </a:pPr>
            <a:r>
              <a:rPr sz="2800" spc="-5" dirty="0">
                <a:solidFill>
                  <a:srgbClr val="006C39"/>
                </a:solidFill>
                <a:latin typeface="Consolas"/>
                <a:cs typeface="Consolas"/>
              </a:rPr>
              <a:t>Lucy  15</a:t>
            </a:r>
            <a:endParaRPr sz="2800">
              <a:latin typeface="Consolas"/>
              <a:cs typeface="Consolas"/>
            </a:endParaRPr>
          </a:p>
          <a:p>
            <a:pPr marL="146685">
              <a:lnSpc>
                <a:spcPct val="100000"/>
              </a:lnSpc>
              <a:spcBef>
                <a:spcPts val="755"/>
              </a:spcBef>
            </a:pPr>
            <a:r>
              <a:rPr sz="2000" dirty="0">
                <a:latin typeface="微软雅黑"/>
                <a:cs typeface="微软雅黑"/>
              </a:rPr>
              <a:t>对</a:t>
            </a:r>
            <a:r>
              <a:rPr sz="2000" spc="5" dirty="0">
                <a:latin typeface="微软雅黑"/>
                <a:cs typeface="微软雅黑"/>
              </a:rPr>
              <a:t>象</a:t>
            </a:r>
            <a:endParaRPr sz="2000">
              <a:latin typeface="微软雅黑"/>
              <a:cs typeface="微软雅黑"/>
            </a:endParaRPr>
          </a:p>
        </p:txBody>
      </p:sp>
      <p:sp>
        <p:nvSpPr>
          <p:cNvPr id="10" name="object 10"/>
          <p:cNvSpPr/>
          <p:nvPr/>
        </p:nvSpPr>
        <p:spPr>
          <a:xfrm>
            <a:off x="3348228" y="4276344"/>
            <a:ext cx="1100327" cy="431291"/>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3342475" y="4266768"/>
            <a:ext cx="1110615" cy="450850"/>
          </a:xfrm>
          <a:custGeom>
            <a:avLst/>
            <a:gdLst/>
            <a:ahLst/>
            <a:cxnLst/>
            <a:rect l="l" t="t" r="r" b="b"/>
            <a:pathLst>
              <a:path w="1110614" h="450850">
                <a:moveTo>
                  <a:pt x="225221" y="450443"/>
                </a:moveTo>
                <a:lnTo>
                  <a:pt x="0" y="225221"/>
                </a:lnTo>
                <a:lnTo>
                  <a:pt x="225221" y="0"/>
                </a:lnTo>
                <a:lnTo>
                  <a:pt x="225221" y="9194"/>
                </a:lnTo>
                <a:lnTo>
                  <a:pt x="217601" y="9194"/>
                </a:lnTo>
                <a:lnTo>
                  <a:pt x="217601" y="18389"/>
                </a:lnTo>
                <a:lnTo>
                  <a:pt x="13461" y="222529"/>
                </a:lnTo>
                <a:lnTo>
                  <a:pt x="8077" y="222529"/>
                </a:lnTo>
                <a:lnTo>
                  <a:pt x="8077" y="227914"/>
                </a:lnTo>
                <a:lnTo>
                  <a:pt x="13462" y="227914"/>
                </a:lnTo>
                <a:lnTo>
                  <a:pt x="217601" y="432041"/>
                </a:lnTo>
                <a:lnTo>
                  <a:pt x="217601" y="441248"/>
                </a:lnTo>
                <a:lnTo>
                  <a:pt x="225221" y="441248"/>
                </a:lnTo>
                <a:lnTo>
                  <a:pt x="225221" y="450443"/>
                </a:lnTo>
                <a:close/>
              </a:path>
              <a:path w="1110614" h="450850">
                <a:moveTo>
                  <a:pt x="217601" y="18389"/>
                </a:moveTo>
                <a:lnTo>
                  <a:pt x="217601" y="9194"/>
                </a:lnTo>
                <a:lnTo>
                  <a:pt x="224104" y="11887"/>
                </a:lnTo>
                <a:lnTo>
                  <a:pt x="217601" y="18389"/>
                </a:lnTo>
                <a:close/>
              </a:path>
              <a:path w="1110614" h="450850">
                <a:moveTo>
                  <a:pt x="1102664" y="121018"/>
                </a:moveTo>
                <a:lnTo>
                  <a:pt x="217601" y="121018"/>
                </a:lnTo>
                <a:lnTo>
                  <a:pt x="217601" y="18389"/>
                </a:lnTo>
                <a:lnTo>
                  <a:pt x="224104" y="11887"/>
                </a:lnTo>
                <a:lnTo>
                  <a:pt x="217601" y="9194"/>
                </a:lnTo>
                <a:lnTo>
                  <a:pt x="225221" y="9194"/>
                </a:lnTo>
                <a:lnTo>
                  <a:pt x="225221" y="113398"/>
                </a:lnTo>
                <a:lnTo>
                  <a:pt x="221411" y="113398"/>
                </a:lnTo>
                <a:lnTo>
                  <a:pt x="225221" y="117208"/>
                </a:lnTo>
                <a:lnTo>
                  <a:pt x="1102664" y="117208"/>
                </a:lnTo>
                <a:lnTo>
                  <a:pt x="1102664" y="121018"/>
                </a:lnTo>
                <a:close/>
              </a:path>
              <a:path w="1110614" h="450850">
                <a:moveTo>
                  <a:pt x="225221" y="117208"/>
                </a:moveTo>
                <a:lnTo>
                  <a:pt x="221411" y="113398"/>
                </a:lnTo>
                <a:lnTo>
                  <a:pt x="225221" y="113398"/>
                </a:lnTo>
                <a:lnTo>
                  <a:pt x="225221" y="117208"/>
                </a:lnTo>
                <a:close/>
              </a:path>
              <a:path w="1110614" h="450850">
                <a:moveTo>
                  <a:pt x="1110284" y="121018"/>
                </a:moveTo>
                <a:lnTo>
                  <a:pt x="1106474" y="121018"/>
                </a:lnTo>
                <a:lnTo>
                  <a:pt x="1102664" y="117208"/>
                </a:lnTo>
                <a:lnTo>
                  <a:pt x="225221" y="117208"/>
                </a:lnTo>
                <a:lnTo>
                  <a:pt x="225221" y="113398"/>
                </a:lnTo>
                <a:lnTo>
                  <a:pt x="1110284" y="113398"/>
                </a:lnTo>
                <a:lnTo>
                  <a:pt x="1110284" y="121018"/>
                </a:lnTo>
                <a:close/>
              </a:path>
              <a:path w="1110614" h="450850">
                <a:moveTo>
                  <a:pt x="1102664" y="333235"/>
                </a:moveTo>
                <a:lnTo>
                  <a:pt x="1102664" y="117208"/>
                </a:lnTo>
                <a:lnTo>
                  <a:pt x="1106474" y="121018"/>
                </a:lnTo>
                <a:lnTo>
                  <a:pt x="1110284" y="121018"/>
                </a:lnTo>
                <a:lnTo>
                  <a:pt x="1110284" y="329425"/>
                </a:lnTo>
                <a:lnTo>
                  <a:pt x="1106474" y="329425"/>
                </a:lnTo>
                <a:lnTo>
                  <a:pt x="1102664" y="333235"/>
                </a:lnTo>
                <a:close/>
              </a:path>
              <a:path w="1110614" h="450850">
                <a:moveTo>
                  <a:pt x="8077" y="227914"/>
                </a:moveTo>
                <a:lnTo>
                  <a:pt x="8077" y="222529"/>
                </a:lnTo>
                <a:lnTo>
                  <a:pt x="10769" y="225221"/>
                </a:lnTo>
                <a:lnTo>
                  <a:pt x="8077" y="227914"/>
                </a:lnTo>
                <a:close/>
              </a:path>
              <a:path w="1110614" h="450850">
                <a:moveTo>
                  <a:pt x="10769" y="225221"/>
                </a:moveTo>
                <a:lnTo>
                  <a:pt x="8077" y="222529"/>
                </a:lnTo>
                <a:lnTo>
                  <a:pt x="13461" y="222529"/>
                </a:lnTo>
                <a:lnTo>
                  <a:pt x="10769" y="225221"/>
                </a:lnTo>
                <a:close/>
              </a:path>
              <a:path w="1110614" h="450850">
                <a:moveTo>
                  <a:pt x="13462" y="227914"/>
                </a:moveTo>
                <a:lnTo>
                  <a:pt x="8077" y="227914"/>
                </a:lnTo>
                <a:lnTo>
                  <a:pt x="10769" y="225221"/>
                </a:lnTo>
                <a:lnTo>
                  <a:pt x="13462" y="227914"/>
                </a:lnTo>
                <a:close/>
              </a:path>
              <a:path w="1110614" h="450850">
                <a:moveTo>
                  <a:pt x="225221" y="441248"/>
                </a:moveTo>
                <a:lnTo>
                  <a:pt x="217601" y="441248"/>
                </a:lnTo>
                <a:lnTo>
                  <a:pt x="224104" y="438543"/>
                </a:lnTo>
                <a:lnTo>
                  <a:pt x="217601" y="432041"/>
                </a:lnTo>
                <a:lnTo>
                  <a:pt x="217601" y="329425"/>
                </a:lnTo>
                <a:lnTo>
                  <a:pt x="1102664" y="329425"/>
                </a:lnTo>
                <a:lnTo>
                  <a:pt x="1102664" y="333235"/>
                </a:lnTo>
                <a:lnTo>
                  <a:pt x="225221" y="333235"/>
                </a:lnTo>
                <a:lnTo>
                  <a:pt x="221411" y="337045"/>
                </a:lnTo>
                <a:lnTo>
                  <a:pt x="225221" y="337045"/>
                </a:lnTo>
                <a:lnTo>
                  <a:pt x="225221" y="441248"/>
                </a:lnTo>
                <a:close/>
              </a:path>
              <a:path w="1110614" h="450850">
                <a:moveTo>
                  <a:pt x="1110284" y="337045"/>
                </a:moveTo>
                <a:lnTo>
                  <a:pt x="225221" y="337045"/>
                </a:lnTo>
                <a:lnTo>
                  <a:pt x="225221" y="333235"/>
                </a:lnTo>
                <a:lnTo>
                  <a:pt x="1102664" y="333235"/>
                </a:lnTo>
                <a:lnTo>
                  <a:pt x="1106474" y="329425"/>
                </a:lnTo>
                <a:lnTo>
                  <a:pt x="1110284" y="329425"/>
                </a:lnTo>
                <a:lnTo>
                  <a:pt x="1110284" y="337045"/>
                </a:lnTo>
                <a:close/>
              </a:path>
              <a:path w="1110614" h="450850">
                <a:moveTo>
                  <a:pt x="225221" y="337045"/>
                </a:moveTo>
                <a:lnTo>
                  <a:pt x="221411" y="337045"/>
                </a:lnTo>
                <a:lnTo>
                  <a:pt x="225221" y="333235"/>
                </a:lnTo>
                <a:lnTo>
                  <a:pt x="225221" y="337045"/>
                </a:lnTo>
                <a:close/>
              </a:path>
              <a:path w="1110614" h="450850">
                <a:moveTo>
                  <a:pt x="217601" y="441248"/>
                </a:moveTo>
                <a:lnTo>
                  <a:pt x="217601" y="432041"/>
                </a:lnTo>
                <a:lnTo>
                  <a:pt x="224104" y="438543"/>
                </a:lnTo>
                <a:lnTo>
                  <a:pt x="217601" y="441248"/>
                </a:lnTo>
                <a:close/>
              </a:path>
            </a:pathLst>
          </a:custGeom>
          <a:solidFill>
            <a:srgbClr val="006C39"/>
          </a:solidFill>
        </p:spPr>
        <p:txBody>
          <a:bodyPr wrap="square" lIns="0" tIns="0" rIns="0" bIns="0" rtlCol="0"/>
          <a:lstStyle/>
          <a:p>
            <a:endParaRPr/>
          </a:p>
        </p:txBody>
      </p:sp>
      <p:sp>
        <p:nvSpPr>
          <p:cNvPr id="12" name="object 1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30</a:t>
            </a:fld>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40512"/>
            <a:ext cx="5525770" cy="391160"/>
          </a:xfrm>
          <a:prstGeom prst="rect">
            <a:avLst/>
          </a:prstGeom>
        </p:spPr>
        <p:txBody>
          <a:bodyPr vert="horz" wrap="square" lIns="0" tIns="12700" rIns="0" bIns="0" rtlCol="0">
            <a:spAutoFit/>
          </a:bodyPr>
          <a:lstStyle/>
          <a:p>
            <a:pPr marL="12700">
              <a:lnSpc>
                <a:spcPct val="100000"/>
              </a:lnSpc>
              <a:spcBef>
                <a:spcPts val="100"/>
              </a:spcBef>
            </a:pPr>
            <a:r>
              <a:rPr spc="-5" dirty="0"/>
              <a:t>12.2.6</a:t>
            </a:r>
            <a:r>
              <a:rPr spc="-60" dirty="0"/>
              <a:t> </a:t>
            </a:r>
            <a:r>
              <a:rPr dirty="0"/>
              <a:t>对象流与序列化接口</a:t>
            </a:r>
            <a:r>
              <a:rPr spc="-5" dirty="0"/>
              <a:t>Serializable</a:t>
            </a:r>
          </a:p>
        </p:txBody>
      </p:sp>
      <p:sp>
        <p:nvSpPr>
          <p:cNvPr id="3" name="object 3"/>
          <p:cNvSpPr/>
          <p:nvPr/>
        </p:nvSpPr>
        <p:spPr>
          <a:xfrm>
            <a:off x="1398879" y="5108778"/>
            <a:ext cx="1737995" cy="441959"/>
          </a:xfrm>
          <a:custGeom>
            <a:avLst/>
            <a:gdLst/>
            <a:ahLst/>
            <a:cxnLst/>
            <a:rect l="l" t="t" r="r" b="b"/>
            <a:pathLst>
              <a:path w="1737995" h="441960">
                <a:moveTo>
                  <a:pt x="1732965" y="441578"/>
                </a:moveTo>
                <a:lnTo>
                  <a:pt x="4762" y="441578"/>
                </a:lnTo>
                <a:lnTo>
                  <a:pt x="3302" y="441337"/>
                </a:lnTo>
                <a:lnTo>
                  <a:pt x="1968" y="440664"/>
                </a:lnTo>
                <a:lnTo>
                  <a:pt x="914" y="439610"/>
                </a:lnTo>
                <a:lnTo>
                  <a:pt x="241" y="438289"/>
                </a:lnTo>
                <a:lnTo>
                  <a:pt x="0" y="436816"/>
                </a:lnTo>
                <a:lnTo>
                  <a:pt x="0" y="4762"/>
                </a:lnTo>
                <a:lnTo>
                  <a:pt x="4762" y="0"/>
                </a:lnTo>
                <a:lnTo>
                  <a:pt x="1732965" y="0"/>
                </a:lnTo>
                <a:lnTo>
                  <a:pt x="1737728" y="4762"/>
                </a:lnTo>
                <a:lnTo>
                  <a:pt x="9525" y="4762"/>
                </a:lnTo>
                <a:lnTo>
                  <a:pt x="4762" y="9525"/>
                </a:lnTo>
                <a:lnTo>
                  <a:pt x="9525" y="9525"/>
                </a:lnTo>
                <a:lnTo>
                  <a:pt x="9525" y="432053"/>
                </a:lnTo>
                <a:lnTo>
                  <a:pt x="4762" y="432053"/>
                </a:lnTo>
                <a:lnTo>
                  <a:pt x="9525" y="436816"/>
                </a:lnTo>
                <a:lnTo>
                  <a:pt x="1737728" y="436816"/>
                </a:lnTo>
                <a:lnTo>
                  <a:pt x="1737487" y="438289"/>
                </a:lnTo>
                <a:lnTo>
                  <a:pt x="1736813" y="439610"/>
                </a:lnTo>
                <a:lnTo>
                  <a:pt x="1735759" y="440664"/>
                </a:lnTo>
                <a:lnTo>
                  <a:pt x="1734426" y="441337"/>
                </a:lnTo>
                <a:lnTo>
                  <a:pt x="1732965" y="441578"/>
                </a:lnTo>
                <a:close/>
              </a:path>
              <a:path w="1737995" h="441960">
                <a:moveTo>
                  <a:pt x="9525" y="9525"/>
                </a:moveTo>
                <a:lnTo>
                  <a:pt x="4762" y="9525"/>
                </a:lnTo>
                <a:lnTo>
                  <a:pt x="9525" y="4762"/>
                </a:lnTo>
                <a:lnTo>
                  <a:pt x="9525" y="9525"/>
                </a:lnTo>
                <a:close/>
              </a:path>
              <a:path w="1737995" h="441960">
                <a:moveTo>
                  <a:pt x="1728203" y="9525"/>
                </a:moveTo>
                <a:lnTo>
                  <a:pt x="9525" y="9525"/>
                </a:lnTo>
                <a:lnTo>
                  <a:pt x="9525" y="4762"/>
                </a:lnTo>
                <a:lnTo>
                  <a:pt x="1728203" y="4762"/>
                </a:lnTo>
                <a:lnTo>
                  <a:pt x="1728203" y="9525"/>
                </a:lnTo>
                <a:close/>
              </a:path>
              <a:path w="1737995" h="441960">
                <a:moveTo>
                  <a:pt x="1728203" y="436816"/>
                </a:moveTo>
                <a:lnTo>
                  <a:pt x="1728203" y="4762"/>
                </a:lnTo>
                <a:lnTo>
                  <a:pt x="1732965" y="9525"/>
                </a:lnTo>
                <a:lnTo>
                  <a:pt x="1737728" y="9525"/>
                </a:lnTo>
                <a:lnTo>
                  <a:pt x="1737728" y="432053"/>
                </a:lnTo>
                <a:lnTo>
                  <a:pt x="1732965" y="432053"/>
                </a:lnTo>
                <a:lnTo>
                  <a:pt x="1728203" y="436816"/>
                </a:lnTo>
                <a:close/>
              </a:path>
              <a:path w="1737995" h="441960">
                <a:moveTo>
                  <a:pt x="1737728" y="9525"/>
                </a:moveTo>
                <a:lnTo>
                  <a:pt x="1732965" y="9525"/>
                </a:lnTo>
                <a:lnTo>
                  <a:pt x="1728203" y="4762"/>
                </a:lnTo>
                <a:lnTo>
                  <a:pt x="1737728" y="4762"/>
                </a:lnTo>
                <a:lnTo>
                  <a:pt x="1737728" y="9525"/>
                </a:lnTo>
                <a:close/>
              </a:path>
              <a:path w="1737995" h="441960">
                <a:moveTo>
                  <a:pt x="9525" y="436816"/>
                </a:moveTo>
                <a:lnTo>
                  <a:pt x="4762" y="432053"/>
                </a:lnTo>
                <a:lnTo>
                  <a:pt x="9525" y="432053"/>
                </a:lnTo>
                <a:lnTo>
                  <a:pt x="9525" y="436816"/>
                </a:lnTo>
                <a:close/>
              </a:path>
              <a:path w="1737995" h="441960">
                <a:moveTo>
                  <a:pt x="1728203" y="436816"/>
                </a:moveTo>
                <a:lnTo>
                  <a:pt x="9525" y="436816"/>
                </a:lnTo>
                <a:lnTo>
                  <a:pt x="9525" y="432053"/>
                </a:lnTo>
                <a:lnTo>
                  <a:pt x="1728203" y="432053"/>
                </a:lnTo>
                <a:lnTo>
                  <a:pt x="1728203" y="436816"/>
                </a:lnTo>
                <a:close/>
              </a:path>
              <a:path w="1737995" h="441960">
                <a:moveTo>
                  <a:pt x="1737728" y="436816"/>
                </a:moveTo>
                <a:lnTo>
                  <a:pt x="1728203" y="436816"/>
                </a:lnTo>
                <a:lnTo>
                  <a:pt x="1732965" y="432053"/>
                </a:lnTo>
                <a:lnTo>
                  <a:pt x="1737728" y="432053"/>
                </a:lnTo>
                <a:lnTo>
                  <a:pt x="1737728" y="436816"/>
                </a:lnTo>
                <a:close/>
              </a:path>
            </a:pathLst>
          </a:custGeom>
          <a:solidFill>
            <a:srgbClr val="006C39"/>
          </a:solidFill>
        </p:spPr>
        <p:txBody>
          <a:bodyPr wrap="square" lIns="0" tIns="0" rIns="0" bIns="0" rtlCol="0"/>
          <a:lstStyle/>
          <a:p>
            <a:endParaRPr/>
          </a:p>
        </p:txBody>
      </p:sp>
      <p:sp>
        <p:nvSpPr>
          <p:cNvPr id="4" name="object 4"/>
          <p:cNvSpPr/>
          <p:nvPr/>
        </p:nvSpPr>
        <p:spPr>
          <a:xfrm>
            <a:off x="1398879" y="5540832"/>
            <a:ext cx="1737995" cy="441959"/>
          </a:xfrm>
          <a:custGeom>
            <a:avLst/>
            <a:gdLst/>
            <a:ahLst/>
            <a:cxnLst/>
            <a:rect l="l" t="t" r="r" b="b"/>
            <a:pathLst>
              <a:path w="1737995" h="441960">
                <a:moveTo>
                  <a:pt x="1732965" y="441566"/>
                </a:moveTo>
                <a:lnTo>
                  <a:pt x="4762" y="441566"/>
                </a:lnTo>
                <a:lnTo>
                  <a:pt x="3302" y="441337"/>
                </a:lnTo>
                <a:lnTo>
                  <a:pt x="1968" y="440664"/>
                </a:lnTo>
                <a:lnTo>
                  <a:pt x="914" y="439610"/>
                </a:lnTo>
                <a:lnTo>
                  <a:pt x="241" y="438276"/>
                </a:lnTo>
                <a:lnTo>
                  <a:pt x="0" y="436803"/>
                </a:lnTo>
                <a:lnTo>
                  <a:pt x="0" y="4762"/>
                </a:lnTo>
                <a:lnTo>
                  <a:pt x="4762" y="0"/>
                </a:lnTo>
                <a:lnTo>
                  <a:pt x="1732965" y="0"/>
                </a:lnTo>
                <a:lnTo>
                  <a:pt x="1737728" y="4762"/>
                </a:lnTo>
                <a:lnTo>
                  <a:pt x="9525" y="4762"/>
                </a:lnTo>
                <a:lnTo>
                  <a:pt x="4762" y="9525"/>
                </a:lnTo>
                <a:lnTo>
                  <a:pt x="9525" y="9525"/>
                </a:lnTo>
                <a:lnTo>
                  <a:pt x="9525" y="432041"/>
                </a:lnTo>
                <a:lnTo>
                  <a:pt x="4762" y="432041"/>
                </a:lnTo>
                <a:lnTo>
                  <a:pt x="9525" y="436803"/>
                </a:lnTo>
                <a:lnTo>
                  <a:pt x="1737728" y="436803"/>
                </a:lnTo>
                <a:lnTo>
                  <a:pt x="1737487" y="438276"/>
                </a:lnTo>
                <a:lnTo>
                  <a:pt x="1736813" y="439610"/>
                </a:lnTo>
                <a:lnTo>
                  <a:pt x="1735759" y="440664"/>
                </a:lnTo>
                <a:lnTo>
                  <a:pt x="1734426" y="441337"/>
                </a:lnTo>
                <a:lnTo>
                  <a:pt x="1732965" y="441566"/>
                </a:lnTo>
                <a:close/>
              </a:path>
              <a:path w="1737995" h="441960">
                <a:moveTo>
                  <a:pt x="9525" y="9525"/>
                </a:moveTo>
                <a:lnTo>
                  <a:pt x="4762" y="9525"/>
                </a:lnTo>
                <a:lnTo>
                  <a:pt x="9525" y="4762"/>
                </a:lnTo>
                <a:lnTo>
                  <a:pt x="9525" y="9525"/>
                </a:lnTo>
                <a:close/>
              </a:path>
              <a:path w="1737995" h="441960">
                <a:moveTo>
                  <a:pt x="1728203" y="9525"/>
                </a:moveTo>
                <a:lnTo>
                  <a:pt x="9525" y="9525"/>
                </a:lnTo>
                <a:lnTo>
                  <a:pt x="9525" y="4762"/>
                </a:lnTo>
                <a:lnTo>
                  <a:pt x="1728203" y="4762"/>
                </a:lnTo>
                <a:lnTo>
                  <a:pt x="1728203" y="9525"/>
                </a:lnTo>
                <a:close/>
              </a:path>
              <a:path w="1737995" h="441960">
                <a:moveTo>
                  <a:pt x="1728203" y="436803"/>
                </a:moveTo>
                <a:lnTo>
                  <a:pt x="1728203" y="4762"/>
                </a:lnTo>
                <a:lnTo>
                  <a:pt x="1732965" y="9525"/>
                </a:lnTo>
                <a:lnTo>
                  <a:pt x="1737728" y="9525"/>
                </a:lnTo>
                <a:lnTo>
                  <a:pt x="1737728" y="432041"/>
                </a:lnTo>
                <a:lnTo>
                  <a:pt x="1732965" y="432041"/>
                </a:lnTo>
                <a:lnTo>
                  <a:pt x="1728203" y="436803"/>
                </a:lnTo>
                <a:close/>
              </a:path>
              <a:path w="1737995" h="441960">
                <a:moveTo>
                  <a:pt x="1737728" y="9525"/>
                </a:moveTo>
                <a:lnTo>
                  <a:pt x="1732965" y="9525"/>
                </a:lnTo>
                <a:lnTo>
                  <a:pt x="1728203" y="4762"/>
                </a:lnTo>
                <a:lnTo>
                  <a:pt x="1737728" y="4762"/>
                </a:lnTo>
                <a:lnTo>
                  <a:pt x="1737728" y="9525"/>
                </a:lnTo>
                <a:close/>
              </a:path>
              <a:path w="1737995" h="441960">
                <a:moveTo>
                  <a:pt x="9525" y="436803"/>
                </a:moveTo>
                <a:lnTo>
                  <a:pt x="4762" y="432041"/>
                </a:lnTo>
                <a:lnTo>
                  <a:pt x="9525" y="432041"/>
                </a:lnTo>
                <a:lnTo>
                  <a:pt x="9525" y="436803"/>
                </a:lnTo>
                <a:close/>
              </a:path>
              <a:path w="1737995" h="441960">
                <a:moveTo>
                  <a:pt x="1728203" y="436803"/>
                </a:moveTo>
                <a:lnTo>
                  <a:pt x="9525" y="436803"/>
                </a:lnTo>
                <a:lnTo>
                  <a:pt x="9525" y="432041"/>
                </a:lnTo>
                <a:lnTo>
                  <a:pt x="1728203" y="432041"/>
                </a:lnTo>
                <a:lnTo>
                  <a:pt x="1728203" y="436803"/>
                </a:lnTo>
                <a:close/>
              </a:path>
              <a:path w="1737995" h="441960">
                <a:moveTo>
                  <a:pt x="1737728" y="436803"/>
                </a:moveTo>
                <a:lnTo>
                  <a:pt x="1728203" y="436803"/>
                </a:lnTo>
                <a:lnTo>
                  <a:pt x="1732965" y="432041"/>
                </a:lnTo>
                <a:lnTo>
                  <a:pt x="1737728" y="432041"/>
                </a:lnTo>
                <a:lnTo>
                  <a:pt x="1737728" y="436803"/>
                </a:lnTo>
                <a:close/>
              </a:path>
            </a:pathLst>
          </a:custGeom>
          <a:solidFill>
            <a:srgbClr val="006C39"/>
          </a:solidFill>
        </p:spPr>
        <p:txBody>
          <a:bodyPr wrap="square" lIns="0" tIns="0" rIns="0" bIns="0" rtlCol="0"/>
          <a:lstStyle/>
          <a:p>
            <a:endParaRPr/>
          </a:p>
        </p:txBody>
      </p:sp>
      <p:sp>
        <p:nvSpPr>
          <p:cNvPr id="5" name="object 5"/>
          <p:cNvSpPr/>
          <p:nvPr/>
        </p:nvSpPr>
        <p:spPr>
          <a:xfrm>
            <a:off x="3348228" y="5329428"/>
            <a:ext cx="2159508" cy="262127"/>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344049" y="5320372"/>
            <a:ext cx="2169795" cy="280035"/>
          </a:xfrm>
          <a:custGeom>
            <a:avLst/>
            <a:gdLst/>
            <a:ahLst/>
            <a:cxnLst/>
            <a:rect l="l" t="t" r="r" b="b"/>
            <a:pathLst>
              <a:path w="2169795" h="280035">
                <a:moveTo>
                  <a:pt x="2029434" y="74599"/>
                </a:moveTo>
                <a:lnTo>
                  <a:pt x="2029434" y="0"/>
                </a:lnTo>
                <a:lnTo>
                  <a:pt x="2038629" y="9194"/>
                </a:lnTo>
                <a:lnTo>
                  <a:pt x="2037054" y="9194"/>
                </a:lnTo>
                <a:lnTo>
                  <a:pt x="2030552" y="11887"/>
                </a:lnTo>
                <a:lnTo>
                  <a:pt x="2037054" y="18389"/>
                </a:lnTo>
                <a:lnTo>
                  <a:pt x="2037054" y="70789"/>
                </a:lnTo>
                <a:lnTo>
                  <a:pt x="2033244" y="70789"/>
                </a:lnTo>
                <a:lnTo>
                  <a:pt x="2029434" y="74599"/>
                </a:lnTo>
                <a:close/>
              </a:path>
              <a:path w="2169795" h="280035">
                <a:moveTo>
                  <a:pt x="2037054" y="18389"/>
                </a:moveTo>
                <a:lnTo>
                  <a:pt x="2030552" y="11887"/>
                </a:lnTo>
                <a:lnTo>
                  <a:pt x="2037054" y="9194"/>
                </a:lnTo>
                <a:lnTo>
                  <a:pt x="2037054" y="18389"/>
                </a:lnTo>
                <a:close/>
              </a:path>
              <a:path w="2169795" h="280035">
                <a:moveTo>
                  <a:pt x="2158663" y="139998"/>
                </a:moveTo>
                <a:lnTo>
                  <a:pt x="2037054" y="18389"/>
                </a:lnTo>
                <a:lnTo>
                  <a:pt x="2037054" y="9194"/>
                </a:lnTo>
                <a:lnTo>
                  <a:pt x="2038629" y="9194"/>
                </a:lnTo>
                <a:lnTo>
                  <a:pt x="2166734" y="137299"/>
                </a:lnTo>
                <a:lnTo>
                  <a:pt x="2161362" y="137299"/>
                </a:lnTo>
                <a:lnTo>
                  <a:pt x="2158663" y="139998"/>
                </a:lnTo>
                <a:close/>
              </a:path>
              <a:path w="2169795" h="280035">
                <a:moveTo>
                  <a:pt x="2029434" y="209207"/>
                </a:moveTo>
                <a:lnTo>
                  <a:pt x="0" y="209207"/>
                </a:lnTo>
                <a:lnTo>
                  <a:pt x="0" y="70789"/>
                </a:lnTo>
                <a:lnTo>
                  <a:pt x="2029434" y="70789"/>
                </a:lnTo>
                <a:lnTo>
                  <a:pt x="2029434" y="74599"/>
                </a:lnTo>
                <a:lnTo>
                  <a:pt x="7620" y="74599"/>
                </a:lnTo>
                <a:lnTo>
                  <a:pt x="3810" y="78409"/>
                </a:lnTo>
                <a:lnTo>
                  <a:pt x="7620" y="78409"/>
                </a:lnTo>
                <a:lnTo>
                  <a:pt x="7620" y="201587"/>
                </a:lnTo>
                <a:lnTo>
                  <a:pt x="3810" y="201587"/>
                </a:lnTo>
                <a:lnTo>
                  <a:pt x="7620" y="205397"/>
                </a:lnTo>
                <a:lnTo>
                  <a:pt x="2029434" y="205397"/>
                </a:lnTo>
                <a:lnTo>
                  <a:pt x="2029434" y="209207"/>
                </a:lnTo>
                <a:close/>
              </a:path>
              <a:path w="2169795" h="280035">
                <a:moveTo>
                  <a:pt x="2037054" y="78409"/>
                </a:moveTo>
                <a:lnTo>
                  <a:pt x="7620" y="78409"/>
                </a:lnTo>
                <a:lnTo>
                  <a:pt x="7620" y="74599"/>
                </a:lnTo>
                <a:lnTo>
                  <a:pt x="2029434" y="74599"/>
                </a:lnTo>
                <a:lnTo>
                  <a:pt x="2033244" y="70789"/>
                </a:lnTo>
                <a:lnTo>
                  <a:pt x="2037054" y="70789"/>
                </a:lnTo>
                <a:lnTo>
                  <a:pt x="2037054" y="78409"/>
                </a:lnTo>
                <a:close/>
              </a:path>
              <a:path w="2169795" h="280035">
                <a:moveTo>
                  <a:pt x="7620" y="78409"/>
                </a:moveTo>
                <a:lnTo>
                  <a:pt x="3810" y="78409"/>
                </a:lnTo>
                <a:lnTo>
                  <a:pt x="7620" y="74599"/>
                </a:lnTo>
                <a:lnTo>
                  <a:pt x="7620" y="78409"/>
                </a:lnTo>
                <a:close/>
              </a:path>
              <a:path w="2169795" h="280035">
                <a:moveTo>
                  <a:pt x="2161362" y="142697"/>
                </a:moveTo>
                <a:lnTo>
                  <a:pt x="2158663" y="139998"/>
                </a:lnTo>
                <a:lnTo>
                  <a:pt x="2161362" y="137299"/>
                </a:lnTo>
                <a:lnTo>
                  <a:pt x="2161362" y="142697"/>
                </a:lnTo>
                <a:close/>
              </a:path>
              <a:path w="2169795" h="280035">
                <a:moveTo>
                  <a:pt x="2166746" y="142697"/>
                </a:moveTo>
                <a:lnTo>
                  <a:pt x="2161362" y="142697"/>
                </a:lnTo>
                <a:lnTo>
                  <a:pt x="2161362" y="137299"/>
                </a:lnTo>
                <a:lnTo>
                  <a:pt x="2166734" y="137299"/>
                </a:lnTo>
                <a:lnTo>
                  <a:pt x="2169439" y="140004"/>
                </a:lnTo>
                <a:lnTo>
                  <a:pt x="2166746" y="142697"/>
                </a:lnTo>
                <a:close/>
              </a:path>
              <a:path w="2169795" h="280035">
                <a:moveTo>
                  <a:pt x="2038630" y="270802"/>
                </a:moveTo>
                <a:lnTo>
                  <a:pt x="2037054" y="270802"/>
                </a:lnTo>
                <a:lnTo>
                  <a:pt x="2037054" y="261607"/>
                </a:lnTo>
                <a:lnTo>
                  <a:pt x="2158669" y="140004"/>
                </a:lnTo>
                <a:lnTo>
                  <a:pt x="2161362" y="142697"/>
                </a:lnTo>
                <a:lnTo>
                  <a:pt x="2166746" y="142697"/>
                </a:lnTo>
                <a:lnTo>
                  <a:pt x="2038630" y="270802"/>
                </a:lnTo>
                <a:close/>
              </a:path>
              <a:path w="2169795" h="280035">
                <a:moveTo>
                  <a:pt x="7620" y="205397"/>
                </a:moveTo>
                <a:lnTo>
                  <a:pt x="3810" y="201587"/>
                </a:lnTo>
                <a:lnTo>
                  <a:pt x="7620" y="201587"/>
                </a:lnTo>
                <a:lnTo>
                  <a:pt x="7620" y="205397"/>
                </a:lnTo>
                <a:close/>
              </a:path>
              <a:path w="2169795" h="280035">
                <a:moveTo>
                  <a:pt x="2037054" y="209207"/>
                </a:moveTo>
                <a:lnTo>
                  <a:pt x="2033244" y="209207"/>
                </a:lnTo>
                <a:lnTo>
                  <a:pt x="2029434" y="205397"/>
                </a:lnTo>
                <a:lnTo>
                  <a:pt x="7620" y="205397"/>
                </a:lnTo>
                <a:lnTo>
                  <a:pt x="7620" y="201587"/>
                </a:lnTo>
                <a:lnTo>
                  <a:pt x="2037054" y="201587"/>
                </a:lnTo>
                <a:lnTo>
                  <a:pt x="2037054" y="209207"/>
                </a:lnTo>
                <a:close/>
              </a:path>
              <a:path w="2169795" h="280035">
                <a:moveTo>
                  <a:pt x="2029434" y="279996"/>
                </a:moveTo>
                <a:lnTo>
                  <a:pt x="2029434" y="205397"/>
                </a:lnTo>
                <a:lnTo>
                  <a:pt x="2033244" y="209207"/>
                </a:lnTo>
                <a:lnTo>
                  <a:pt x="2037054" y="209207"/>
                </a:lnTo>
                <a:lnTo>
                  <a:pt x="2037054" y="261607"/>
                </a:lnTo>
                <a:lnTo>
                  <a:pt x="2030552" y="268109"/>
                </a:lnTo>
                <a:lnTo>
                  <a:pt x="2037054" y="270802"/>
                </a:lnTo>
                <a:lnTo>
                  <a:pt x="2038630" y="270802"/>
                </a:lnTo>
                <a:lnTo>
                  <a:pt x="2029434" y="279996"/>
                </a:lnTo>
                <a:close/>
              </a:path>
              <a:path w="2169795" h="280035">
                <a:moveTo>
                  <a:pt x="2037054" y="270802"/>
                </a:moveTo>
                <a:lnTo>
                  <a:pt x="2030552" y="268109"/>
                </a:lnTo>
                <a:lnTo>
                  <a:pt x="2037054" y="261607"/>
                </a:lnTo>
                <a:lnTo>
                  <a:pt x="2037054" y="270802"/>
                </a:lnTo>
                <a:close/>
              </a:path>
            </a:pathLst>
          </a:custGeom>
          <a:solidFill>
            <a:srgbClr val="006C39"/>
          </a:solidFill>
        </p:spPr>
        <p:txBody>
          <a:bodyPr wrap="square" lIns="0" tIns="0" rIns="0" bIns="0" rtlCol="0"/>
          <a:lstStyle/>
          <a:p>
            <a:endParaRPr/>
          </a:p>
        </p:txBody>
      </p:sp>
      <p:sp>
        <p:nvSpPr>
          <p:cNvPr id="7" name="object 7"/>
          <p:cNvSpPr txBox="1"/>
          <p:nvPr/>
        </p:nvSpPr>
        <p:spPr>
          <a:xfrm>
            <a:off x="5802871" y="5308752"/>
            <a:ext cx="1447165" cy="451484"/>
          </a:xfrm>
          <a:prstGeom prst="rect">
            <a:avLst/>
          </a:prstGeom>
        </p:spPr>
        <p:txBody>
          <a:bodyPr vert="horz" wrap="square" lIns="0" tIns="12065" rIns="0" bIns="0" rtlCol="0">
            <a:spAutoFit/>
          </a:bodyPr>
          <a:lstStyle/>
          <a:p>
            <a:pPr marL="12700">
              <a:lnSpc>
                <a:spcPct val="100000"/>
              </a:lnSpc>
              <a:spcBef>
                <a:spcPts val="95"/>
              </a:spcBef>
            </a:pPr>
            <a:r>
              <a:rPr sz="2800" dirty="0">
                <a:latin typeface="微软雅黑"/>
                <a:cs typeface="微软雅黑"/>
              </a:rPr>
              <a:t>字节序</a:t>
            </a:r>
            <a:r>
              <a:rPr sz="2800" spc="-5" dirty="0">
                <a:latin typeface="微软雅黑"/>
                <a:cs typeface="微软雅黑"/>
              </a:rPr>
              <a:t>列</a:t>
            </a:r>
            <a:endParaRPr sz="2800">
              <a:latin typeface="微软雅黑"/>
              <a:cs typeface="微软雅黑"/>
            </a:endParaRPr>
          </a:p>
        </p:txBody>
      </p:sp>
      <p:sp>
        <p:nvSpPr>
          <p:cNvPr id="8" name="object 8"/>
          <p:cNvSpPr txBox="1"/>
          <p:nvPr/>
        </p:nvSpPr>
        <p:spPr>
          <a:xfrm>
            <a:off x="1863382" y="5081790"/>
            <a:ext cx="807720" cy="1285240"/>
          </a:xfrm>
          <a:prstGeom prst="rect">
            <a:avLst/>
          </a:prstGeom>
        </p:spPr>
        <p:txBody>
          <a:bodyPr vert="horz" wrap="square" lIns="0" tIns="6985" rIns="0" bIns="0" rtlCol="0">
            <a:spAutoFit/>
          </a:bodyPr>
          <a:lstStyle/>
          <a:p>
            <a:pPr marL="207645" marR="5080" indent="-195580">
              <a:lnSpc>
                <a:spcPct val="101200"/>
              </a:lnSpc>
              <a:spcBef>
                <a:spcPts val="55"/>
              </a:spcBef>
            </a:pPr>
            <a:r>
              <a:rPr sz="2800" spc="-5" dirty="0">
                <a:solidFill>
                  <a:srgbClr val="006C39"/>
                </a:solidFill>
                <a:latin typeface="Consolas"/>
                <a:cs typeface="Consolas"/>
              </a:rPr>
              <a:t>Lucy  15</a:t>
            </a:r>
            <a:endParaRPr sz="2800">
              <a:latin typeface="Consolas"/>
              <a:cs typeface="Consolas"/>
            </a:endParaRPr>
          </a:p>
          <a:p>
            <a:pPr marL="146685">
              <a:lnSpc>
                <a:spcPct val="100000"/>
              </a:lnSpc>
              <a:spcBef>
                <a:spcPts val="755"/>
              </a:spcBef>
            </a:pPr>
            <a:r>
              <a:rPr sz="2000" dirty="0">
                <a:latin typeface="微软雅黑"/>
                <a:cs typeface="微软雅黑"/>
              </a:rPr>
              <a:t>对</a:t>
            </a:r>
            <a:r>
              <a:rPr sz="2000" spc="5" dirty="0">
                <a:latin typeface="微软雅黑"/>
                <a:cs typeface="微软雅黑"/>
              </a:rPr>
              <a:t>象</a:t>
            </a:r>
            <a:endParaRPr sz="2000">
              <a:latin typeface="微软雅黑"/>
              <a:cs typeface="微软雅黑"/>
            </a:endParaRPr>
          </a:p>
        </p:txBody>
      </p:sp>
      <p:sp>
        <p:nvSpPr>
          <p:cNvPr id="9" name="object 9"/>
          <p:cNvSpPr/>
          <p:nvPr/>
        </p:nvSpPr>
        <p:spPr>
          <a:xfrm>
            <a:off x="3348228" y="5591555"/>
            <a:ext cx="2159508" cy="251460"/>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3342475" y="5581980"/>
            <a:ext cx="2169795" cy="270510"/>
          </a:xfrm>
          <a:custGeom>
            <a:avLst/>
            <a:gdLst/>
            <a:ahLst/>
            <a:cxnLst/>
            <a:rect l="l" t="t" r="r" b="b"/>
            <a:pathLst>
              <a:path w="2169795" h="270510">
                <a:moveTo>
                  <a:pt x="135204" y="270395"/>
                </a:moveTo>
                <a:lnTo>
                  <a:pt x="0" y="135191"/>
                </a:lnTo>
                <a:lnTo>
                  <a:pt x="135204" y="0"/>
                </a:lnTo>
                <a:lnTo>
                  <a:pt x="135204" y="9194"/>
                </a:lnTo>
                <a:lnTo>
                  <a:pt x="127584" y="9194"/>
                </a:lnTo>
                <a:lnTo>
                  <a:pt x="127584" y="18390"/>
                </a:lnTo>
                <a:lnTo>
                  <a:pt x="13486" y="132499"/>
                </a:lnTo>
                <a:lnTo>
                  <a:pt x="8089" y="132499"/>
                </a:lnTo>
                <a:lnTo>
                  <a:pt x="8089" y="137896"/>
                </a:lnTo>
                <a:lnTo>
                  <a:pt x="13486" y="137896"/>
                </a:lnTo>
                <a:lnTo>
                  <a:pt x="127584" y="252005"/>
                </a:lnTo>
                <a:lnTo>
                  <a:pt x="127584" y="261200"/>
                </a:lnTo>
                <a:lnTo>
                  <a:pt x="135204" y="261200"/>
                </a:lnTo>
                <a:lnTo>
                  <a:pt x="135204" y="270395"/>
                </a:lnTo>
                <a:close/>
              </a:path>
              <a:path w="2169795" h="270510">
                <a:moveTo>
                  <a:pt x="127584" y="18390"/>
                </a:moveTo>
                <a:lnTo>
                  <a:pt x="127584" y="9194"/>
                </a:lnTo>
                <a:lnTo>
                  <a:pt x="134086" y="11887"/>
                </a:lnTo>
                <a:lnTo>
                  <a:pt x="127584" y="18390"/>
                </a:lnTo>
                <a:close/>
              </a:path>
              <a:path w="2169795" h="270510">
                <a:moveTo>
                  <a:pt x="2161819" y="76009"/>
                </a:moveTo>
                <a:lnTo>
                  <a:pt x="127584" y="76009"/>
                </a:lnTo>
                <a:lnTo>
                  <a:pt x="127584" y="18390"/>
                </a:lnTo>
                <a:lnTo>
                  <a:pt x="134086" y="11887"/>
                </a:lnTo>
                <a:lnTo>
                  <a:pt x="127584" y="9194"/>
                </a:lnTo>
                <a:lnTo>
                  <a:pt x="135204" y="9194"/>
                </a:lnTo>
                <a:lnTo>
                  <a:pt x="135204" y="68389"/>
                </a:lnTo>
                <a:lnTo>
                  <a:pt x="131394" y="68389"/>
                </a:lnTo>
                <a:lnTo>
                  <a:pt x="135204" y="72199"/>
                </a:lnTo>
                <a:lnTo>
                  <a:pt x="2161819" y="72199"/>
                </a:lnTo>
                <a:lnTo>
                  <a:pt x="2161819" y="76009"/>
                </a:lnTo>
                <a:close/>
              </a:path>
              <a:path w="2169795" h="270510">
                <a:moveTo>
                  <a:pt x="135204" y="72199"/>
                </a:moveTo>
                <a:lnTo>
                  <a:pt x="131394" y="68389"/>
                </a:lnTo>
                <a:lnTo>
                  <a:pt x="135204" y="68389"/>
                </a:lnTo>
                <a:lnTo>
                  <a:pt x="135204" y="72199"/>
                </a:lnTo>
                <a:close/>
              </a:path>
              <a:path w="2169795" h="270510">
                <a:moveTo>
                  <a:pt x="2169439" y="76009"/>
                </a:moveTo>
                <a:lnTo>
                  <a:pt x="2165629" y="76009"/>
                </a:lnTo>
                <a:lnTo>
                  <a:pt x="2161819" y="72199"/>
                </a:lnTo>
                <a:lnTo>
                  <a:pt x="135204" y="72199"/>
                </a:lnTo>
                <a:lnTo>
                  <a:pt x="135204" y="68389"/>
                </a:lnTo>
                <a:lnTo>
                  <a:pt x="2169439" y="68389"/>
                </a:lnTo>
                <a:lnTo>
                  <a:pt x="2169439" y="76009"/>
                </a:lnTo>
                <a:close/>
              </a:path>
              <a:path w="2169795" h="270510">
                <a:moveTo>
                  <a:pt x="2161819" y="198196"/>
                </a:moveTo>
                <a:lnTo>
                  <a:pt x="2161819" y="72199"/>
                </a:lnTo>
                <a:lnTo>
                  <a:pt x="2165629" y="76009"/>
                </a:lnTo>
                <a:lnTo>
                  <a:pt x="2169439" y="76009"/>
                </a:lnTo>
                <a:lnTo>
                  <a:pt x="2169439" y="194386"/>
                </a:lnTo>
                <a:lnTo>
                  <a:pt x="2165629" y="194386"/>
                </a:lnTo>
                <a:lnTo>
                  <a:pt x="2161819" y="198196"/>
                </a:lnTo>
                <a:close/>
              </a:path>
              <a:path w="2169795" h="270510">
                <a:moveTo>
                  <a:pt x="8089" y="137896"/>
                </a:moveTo>
                <a:lnTo>
                  <a:pt x="8089" y="132499"/>
                </a:lnTo>
                <a:lnTo>
                  <a:pt x="10788" y="135197"/>
                </a:lnTo>
                <a:lnTo>
                  <a:pt x="8089" y="137896"/>
                </a:lnTo>
                <a:close/>
              </a:path>
              <a:path w="2169795" h="270510">
                <a:moveTo>
                  <a:pt x="10788" y="135197"/>
                </a:moveTo>
                <a:lnTo>
                  <a:pt x="8089" y="132499"/>
                </a:lnTo>
                <a:lnTo>
                  <a:pt x="13486" y="132499"/>
                </a:lnTo>
                <a:lnTo>
                  <a:pt x="10788" y="135197"/>
                </a:lnTo>
                <a:close/>
              </a:path>
              <a:path w="2169795" h="270510">
                <a:moveTo>
                  <a:pt x="13486" y="137896"/>
                </a:moveTo>
                <a:lnTo>
                  <a:pt x="8089" y="137896"/>
                </a:lnTo>
                <a:lnTo>
                  <a:pt x="10788" y="135197"/>
                </a:lnTo>
                <a:lnTo>
                  <a:pt x="13486" y="137896"/>
                </a:lnTo>
                <a:close/>
              </a:path>
              <a:path w="2169795" h="270510">
                <a:moveTo>
                  <a:pt x="135204" y="261200"/>
                </a:moveTo>
                <a:lnTo>
                  <a:pt x="127584" y="261200"/>
                </a:lnTo>
                <a:lnTo>
                  <a:pt x="134086" y="258508"/>
                </a:lnTo>
                <a:lnTo>
                  <a:pt x="127584" y="252005"/>
                </a:lnTo>
                <a:lnTo>
                  <a:pt x="127584" y="194386"/>
                </a:lnTo>
                <a:lnTo>
                  <a:pt x="2161819" y="194386"/>
                </a:lnTo>
                <a:lnTo>
                  <a:pt x="2161819" y="198196"/>
                </a:lnTo>
                <a:lnTo>
                  <a:pt x="135204" y="198196"/>
                </a:lnTo>
                <a:lnTo>
                  <a:pt x="131394" y="202006"/>
                </a:lnTo>
                <a:lnTo>
                  <a:pt x="135204" y="202006"/>
                </a:lnTo>
                <a:lnTo>
                  <a:pt x="135204" y="261200"/>
                </a:lnTo>
                <a:close/>
              </a:path>
              <a:path w="2169795" h="270510">
                <a:moveTo>
                  <a:pt x="2169439" y="202006"/>
                </a:moveTo>
                <a:lnTo>
                  <a:pt x="135204" y="202006"/>
                </a:lnTo>
                <a:lnTo>
                  <a:pt x="135204" y="198196"/>
                </a:lnTo>
                <a:lnTo>
                  <a:pt x="2161819" y="198196"/>
                </a:lnTo>
                <a:lnTo>
                  <a:pt x="2165629" y="194386"/>
                </a:lnTo>
                <a:lnTo>
                  <a:pt x="2169439" y="194386"/>
                </a:lnTo>
                <a:lnTo>
                  <a:pt x="2169439" y="202006"/>
                </a:lnTo>
                <a:close/>
              </a:path>
              <a:path w="2169795" h="270510">
                <a:moveTo>
                  <a:pt x="135204" y="202006"/>
                </a:moveTo>
                <a:lnTo>
                  <a:pt x="131394" y="202006"/>
                </a:lnTo>
                <a:lnTo>
                  <a:pt x="135204" y="198196"/>
                </a:lnTo>
                <a:lnTo>
                  <a:pt x="135204" y="202006"/>
                </a:lnTo>
                <a:close/>
              </a:path>
              <a:path w="2169795" h="270510">
                <a:moveTo>
                  <a:pt x="127584" y="261200"/>
                </a:moveTo>
                <a:lnTo>
                  <a:pt x="127584" y="252005"/>
                </a:lnTo>
                <a:lnTo>
                  <a:pt x="134086" y="258508"/>
                </a:lnTo>
                <a:lnTo>
                  <a:pt x="127584" y="261200"/>
                </a:lnTo>
                <a:close/>
              </a:path>
            </a:pathLst>
          </a:custGeom>
          <a:solidFill>
            <a:srgbClr val="006C39"/>
          </a:solidFill>
        </p:spPr>
        <p:txBody>
          <a:bodyPr wrap="square" lIns="0" tIns="0" rIns="0" bIns="0" rtlCol="0"/>
          <a:lstStyle/>
          <a:p>
            <a:endParaRPr/>
          </a:p>
        </p:txBody>
      </p:sp>
      <p:sp>
        <p:nvSpPr>
          <p:cNvPr id="11" name="object 11"/>
          <p:cNvSpPr txBox="1"/>
          <p:nvPr/>
        </p:nvSpPr>
        <p:spPr>
          <a:xfrm>
            <a:off x="4056189" y="5033276"/>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a:cs typeface="微软雅黑"/>
              </a:rPr>
              <a:t>序列化</a:t>
            </a:r>
            <a:endParaRPr sz="1800">
              <a:latin typeface="微软雅黑"/>
              <a:cs typeface="微软雅黑"/>
            </a:endParaRPr>
          </a:p>
        </p:txBody>
      </p:sp>
      <p:sp>
        <p:nvSpPr>
          <p:cNvPr id="14" name="object 1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31</a:t>
            </a:fld>
            <a:endParaRPr dirty="0"/>
          </a:p>
        </p:txBody>
      </p:sp>
      <p:sp>
        <p:nvSpPr>
          <p:cNvPr id="12" name="object 12"/>
          <p:cNvSpPr txBox="1"/>
          <p:nvPr/>
        </p:nvSpPr>
        <p:spPr>
          <a:xfrm>
            <a:off x="3902798" y="5835141"/>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a:cs typeface="微软雅黑"/>
              </a:rPr>
              <a:t>反序列化</a:t>
            </a:r>
            <a:endParaRPr sz="1800">
              <a:latin typeface="微软雅黑"/>
              <a:cs typeface="微软雅黑"/>
            </a:endParaRPr>
          </a:p>
        </p:txBody>
      </p:sp>
      <p:sp>
        <p:nvSpPr>
          <p:cNvPr id="13" name="object 13"/>
          <p:cNvSpPr txBox="1"/>
          <p:nvPr/>
        </p:nvSpPr>
        <p:spPr>
          <a:xfrm>
            <a:off x="330200" y="939165"/>
            <a:ext cx="7931150" cy="3744595"/>
          </a:xfrm>
          <a:prstGeom prst="rect">
            <a:avLst/>
          </a:prstGeom>
        </p:spPr>
        <p:txBody>
          <a:bodyPr vert="horz" wrap="square" lIns="0" tIns="49530" rIns="0" bIns="0" rtlCol="0">
            <a:spAutoFit/>
          </a:bodyPr>
          <a:lstStyle/>
          <a:p>
            <a:pPr marL="184150" marR="5080" indent="-171450">
              <a:lnSpc>
                <a:spcPts val="2260"/>
              </a:lnSpc>
              <a:spcBef>
                <a:spcPts val="390"/>
              </a:spcBef>
              <a:buFont typeface="Arial"/>
              <a:buChar char="•"/>
              <a:tabLst>
                <a:tab pos="184150" algn="l"/>
              </a:tabLst>
            </a:pPr>
            <a:r>
              <a:rPr sz="2100" dirty="0">
                <a:latin typeface="微软雅黑"/>
                <a:cs typeface="微软雅黑"/>
              </a:rPr>
              <a:t>如果对象需要被持久化到文件，或者在网络上传送对象，则定义该 对象的类必须实现</a:t>
            </a:r>
            <a:r>
              <a:rPr sz="2100" b="1" spc="-5" dirty="0">
                <a:solidFill>
                  <a:srgbClr val="FF0000"/>
                </a:solidFill>
                <a:latin typeface="微软雅黑"/>
                <a:cs typeface="微软雅黑"/>
              </a:rPr>
              <a:t>Serializable</a:t>
            </a:r>
            <a:r>
              <a:rPr sz="2100" dirty="0">
                <a:latin typeface="微软雅黑"/>
                <a:cs typeface="微软雅黑"/>
              </a:rPr>
              <a:t>接口。</a:t>
            </a:r>
            <a:endParaRPr sz="2100">
              <a:latin typeface="微软雅黑"/>
              <a:cs typeface="微软雅黑"/>
            </a:endParaRPr>
          </a:p>
          <a:p>
            <a:pPr marL="527050" marR="83820" lvl="1" indent="-171450">
              <a:lnSpc>
                <a:spcPts val="1939"/>
              </a:lnSpc>
              <a:spcBef>
                <a:spcPts val="380"/>
              </a:spcBef>
              <a:buFont typeface="Arial"/>
              <a:buChar char="•"/>
              <a:tabLst>
                <a:tab pos="527050" algn="l"/>
              </a:tabLst>
            </a:pPr>
            <a:r>
              <a:rPr sz="1800" dirty="0">
                <a:latin typeface="微软雅黑"/>
                <a:cs typeface="微软雅黑"/>
              </a:rPr>
              <a:t>把</a:t>
            </a:r>
            <a:r>
              <a:rPr sz="1800" spc="-30" dirty="0">
                <a:latin typeface="微软雅黑"/>
                <a:cs typeface="微软雅黑"/>
              </a:rPr>
              <a:t>J</a:t>
            </a:r>
            <a:r>
              <a:rPr sz="1800" dirty="0">
                <a:latin typeface="微软雅黑"/>
                <a:cs typeface="微软雅黑"/>
              </a:rPr>
              <a:t>a</a:t>
            </a:r>
            <a:r>
              <a:rPr sz="1800" spc="-40" dirty="0">
                <a:latin typeface="微软雅黑"/>
                <a:cs typeface="微软雅黑"/>
              </a:rPr>
              <a:t>v</a:t>
            </a:r>
            <a:r>
              <a:rPr sz="1800" dirty="0">
                <a:latin typeface="微软雅黑"/>
                <a:cs typeface="微软雅黑"/>
              </a:rPr>
              <a:t>a对象转换为字节序列的过程称为</a:t>
            </a:r>
            <a:r>
              <a:rPr sz="1800" dirty="0">
                <a:solidFill>
                  <a:srgbClr val="FF0000"/>
                </a:solidFill>
                <a:latin typeface="微软雅黑"/>
                <a:cs typeface="微软雅黑"/>
              </a:rPr>
              <a:t>对象的序列化</a:t>
            </a:r>
            <a:r>
              <a:rPr sz="1800" dirty="0">
                <a:latin typeface="微软雅黑"/>
                <a:cs typeface="微软雅黑"/>
              </a:rPr>
              <a:t>，把字节序列恢复为  </a:t>
            </a:r>
            <a:r>
              <a:rPr sz="1800" spc="-20" dirty="0">
                <a:latin typeface="微软雅黑"/>
                <a:cs typeface="微软雅黑"/>
              </a:rPr>
              <a:t>Java</a:t>
            </a:r>
            <a:r>
              <a:rPr sz="1800" dirty="0">
                <a:latin typeface="微软雅黑"/>
                <a:cs typeface="微软雅黑"/>
              </a:rPr>
              <a:t>对象的过程称为</a:t>
            </a:r>
            <a:r>
              <a:rPr sz="1800" dirty="0">
                <a:solidFill>
                  <a:srgbClr val="FF0000"/>
                </a:solidFill>
                <a:latin typeface="微软雅黑"/>
                <a:cs typeface="微软雅黑"/>
              </a:rPr>
              <a:t>对象的反序列化</a:t>
            </a:r>
            <a:r>
              <a:rPr sz="1800" dirty="0">
                <a:latin typeface="微软雅黑"/>
                <a:cs typeface="微软雅黑"/>
              </a:rPr>
              <a:t>。</a:t>
            </a:r>
            <a:endParaRPr sz="1800">
              <a:latin typeface="微软雅黑"/>
              <a:cs typeface="微软雅黑"/>
            </a:endParaRPr>
          </a:p>
          <a:p>
            <a:pPr marL="1778635" marR="2791460">
              <a:lnSpc>
                <a:spcPct val="100000"/>
              </a:lnSpc>
              <a:spcBef>
                <a:spcPts val="1010"/>
              </a:spcBef>
            </a:pPr>
            <a:r>
              <a:rPr sz="2000" b="1" spc="-5" dirty="0">
                <a:solidFill>
                  <a:srgbClr val="006C39"/>
                </a:solidFill>
                <a:latin typeface="Courier New"/>
                <a:cs typeface="Courier New"/>
              </a:rPr>
              <a:t>public class Foo  implements  java.io.Serializable</a:t>
            </a:r>
            <a:r>
              <a:rPr sz="2000" b="1" spc="-40" dirty="0">
                <a:solidFill>
                  <a:srgbClr val="006C39"/>
                </a:solidFill>
                <a:latin typeface="Courier New"/>
                <a:cs typeface="Courier New"/>
              </a:rPr>
              <a:t> </a:t>
            </a:r>
            <a:r>
              <a:rPr sz="2000" b="1" dirty="0">
                <a:solidFill>
                  <a:srgbClr val="006C39"/>
                </a:solidFill>
                <a:latin typeface="Courier New"/>
                <a:cs typeface="Courier New"/>
              </a:rPr>
              <a:t>{</a:t>
            </a:r>
            <a:endParaRPr sz="2000">
              <a:latin typeface="Courier New"/>
              <a:cs typeface="Courier New"/>
            </a:endParaRPr>
          </a:p>
          <a:p>
            <a:pPr marL="2083435">
              <a:lnSpc>
                <a:spcPct val="100000"/>
              </a:lnSpc>
            </a:pPr>
            <a:r>
              <a:rPr sz="2000" b="1" spc="-5" dirty="0">
                <a:solidFill>
                  <a:srgbClr val="006C39"/>
                </a:solidFill>
                <a:latin typeface="Courier New"/>
                <a:cs typeface="Courier New"/>
              </a:rPr>
              <a:t>private int</a:t>
            </a:r>
            <a:r>
              <a:rPr sz="2000" b="1" spc="-10" dirty="0">
                <a:solidFill>
                  <a:srgbClr val="006C39"/>
                </a:solidFill>
                <a:latin typeface="Courier New"/>
                <a:cs typeface="Courier New"/>
              </a:rPr>
              <a:t> </a:t>
            </a:r>
            <a:r>
              <a:rPr sz="2000" b="1" spc="-5" dirty="0">
                <a:solidFill>
                  <a:srgbClr val="006C39"/>
                </a:solidFill>
                <a:latin typeface="Courier New"/>
                <a:cs typeface="Courier New"/>
              </a:rPr>
              <a:t>v1;</a:t>
            </a:r>
            <a:endParaRPr sz="2000">
              <a:latin typeface="Courier New"/>
              <a:cs typeface="Courier New"/>
            </a:endParaRPr>
          </a:p>
          <a:p>
            <a:pPr marL="2083435" marR="1995170" indent="34290">
              <a:lnSpc>
                <a:spcPct val="100000"/>
              </a:lnSpc>
            </a:pPr>
            <a:r>
              <a:rPr sz="2000" b="1" spc="-5" dirty="0">
                <a:solidFill>
                  <a:srgbClr val="006C39"/>
                </a:solidFill>
                <a:latin typeface="Courier New"/>
                <a:cs typeface="Courier New"/>
              </a:rPr>
              <a:t>private static double v2;  private transient </a:t>
            </a:r>
            <a:r>
              <a:rPr sz="2000" b="1" dirty="0">
                <a:solidFill>
                  <a:srgbClr val="006C39"/>
                </a:solidFill>
                <a:latin typeface="Courier New"/>
                <a:cs typeface="Courier New"/>
              </a:rPr>
              <a:t>A v3</a:t>
            </a:r>
            <a:r>
              <a:rPr sz="2000" b="1" spc="-40" dirty="0">
                <a:solidFill>
                  <a:srgbClr val="006C39"/>
                </a:solidFill>
                <a:latin typeface="Courier New"/>
                <a:cs typeface="Courier New"/>
              </a:rPr>
              <a:t> </a:t>
            </a:r>
            <a:r>
              <a:rPr sz="2000" b="1" dirty="0">
                <a:solidFill>
                  <a:srgbClr val="006C39"/>
                </a:solidFill>
                <a:latin typeface="Courier New"/>
                <a:cs typeface="Courier New"/>
              </a:rPr>
              <a:t>=</a:t>
            </a:r>
            <a:endParaRPr sz="2000">
              <a:latin typeface="Courier New"/>
              <a:cs typeface="Courier New"/>
            </a:endParaRPr>
          </a:p>
          <a:p>
            <a:pPr marL="1778635">
              <a:lnSpc>
                <a:spcPct val="100000"/>
              </a:lnSpc>
            </a:pPr>
            <a:r>
              <a:rPr sz="2000" b="1" spc="-5" dirty="0">
                <a:solidFill>
                  <a:srgbClr val="006C39"/>
                </a:solidFill>
                <a:latin typeface="Courier New"/>
                <a:cs typeface="Courier New"/>
              </a:rPr>
              <a:t>new</a:t>
            </a:r>
            <a:r>
              <a:rPr sz="2000" b="1" spc="-10" dirty="0">
                <a:solidFill>
                  <a:srgbClr val="006C39"/>
                </a:solidFill>
                <a:latin typeface="Courier New"/>
                <a:cs typeface="Courier New"/>
              </a:rPr>
              <a:t> </a:t>
            </a:r>
            <a:r>
              <a:rPr sz="2000" b="1" spc="-5" dirty="0">
                <a:solidFill>
                  <a:srgbClr val="006C39"/>
                </a:solidFill>
                <a:latin typeface="Courier New"/>
                <a:cs typeface="Courier New"/>
              </a:rPr>
              <a:t>A();</a:t>
            </a:r>
            <a:endParaRPr sz="2000">
              <a:latin typeface="Courier New"/>
              <a:cs typeface="Courier New"/>
            </a:endParaRPr>
          </a:p>
          <a:p>
            <a:pPr marL="1778635">
              <a:lnSpc>
                <a:spcPct val="100000"/>
              </a:lnSpc>
            </a:pPr>
            <a:r>
              <a:rPr sz="2000" b="1" dirty="0">
                <a:solidFill>
                  <a:srgbClr val="006C39"/>
                </a:solidFill>
                <a:latin typeface="Courier New"/>
                <a:cs typeface="Courier New"/>
              </a:rPr>
              <a:t>}</a:t>
            </a:r>
            <a:endParaRPr sz="2000">
              <a:latin typeface="Courier New"/>
              <a:cs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2010" y="1486534"/>
            <a:ext cx="8197850" cy="1038860"/>
          </a:xfrm>
          <a:prstGeom prst="rect">
            <a:avLst/>
          </a:prstGeom>
        </p:spPr>
        <p:txBody>
          <a:bodyPr vert="horz" wrap="square" lIns="0" tIns="43815" rIns="0" bIns="0" rtlCol="0">
            <a:spAutoFit/>
          </a:bodyPr>
          <a:lstStyle/>
          <a:p>
            <a:pPr marL="184150" marR="5080" indent="-171450" algn="just">
              <a:lnSpc>
                <a:spcPts val="1939"/>
              </a:lnSpc>
              <a:spcBef>
                <a:spcPts val="345"/>
              </a:spcBef>
              <a:buFont typeface="Arial"/>
              <a:buChar char="•"/>
              <a:tabLst>
                <a:tab pos="184150" algn="l"/>
              </a:tabLst>
            </a:pPr>
            <a:r>
              <a:rPr sz="1800" spc="-5" dirty="0">
                <a:latin typeface="微软雅黑"/>
                <a:cs typeface="微软雅黑"/>
              </a:rPr>
              <a:t>JVM</a:t>
            </a:r>
            <a:r>
              <a:rPr sz="1800" dirty="0">
                <a:latin typeface="微软雅黑"/>
                <a:cs typeface="微软雅黑"/>
              </a:rPr>
              <a:t>使用</a:t>
            </a:r>
            <a:r>
              <a:rPr sz="1800" spc="-10" dirty="0">
                <a:latin typeface="微软雅黑"/>
                <a:cs typeface="微软雅黑"/>
              </a:rPr>
              <a:t>s</a:t>
            </a:r>
            <a:r>
              <a:rPr sz="1800" spc="-10" dirty="0">
                <a:solidFill>
                  <a:srgbClr val="FF0000"/>
                </a:solidFill>
                <a:latin typeface="微软雅黑"/>
                <a:cs typeface="微软雅黑"/>
              </a:rPr>
              <a:t>erialVersionUID</a:t>
            </a:r>
            <a:r>
              <a:rPr sz="1800" dirty="0">
                <a:latin typeface="微软雅黑"/>
                <a:cs typeface="微软雅黑"/>
              </a:rPr>
              <a:t>来验证版本一致性。在进行反序列化时</a:t>
            </a:r>
            <a:r>
              <a:rPr sz="1800" spc="-5" dirty="0">
                <a:latin typeface="微软雅黑"/>
                <a:cs typeface="微软雅黑"/>
              </a:rPr>
              <a:t>，JVM</a:t>
            </a:r>
            <a:r>
              <a:rPr sz="1800" dirty="0">
                <a:latin typeface="微软雅黑"/>
                <a:cs typeface="微软雅黑"/>
              </a:rPr>
              <a:t>会把传 来的字节流中的</a:t>
            </a:r>
            <a:r>
              <a:rPr sz="1800" spc="-10" dirty="0">
                <a:latin typeface="微软雅黑"/>
                <a:cs typeface="微软雅黑"/>
              </a:rPr>
              <a:t>serialVersionUID</a:t>
            </a:r>
            <a:r>
              <a:rPr sz="1800" dirty="0">
                <a:latin typeface="微软雅黑"/>
                <a:cs typeface="微软雅黑"/>
              </a:rPr>
              <a:t>与本地相应类的</a:t>
            </a:r>
            <a:r>
              <a:rPr sz="1800" spc="-10" dirty="0">
                <a:latin typeface="微软雅黑"/>
                <a:cs typeface="微软雅黑"/>
              </a:rPr>
              <a:t>serialVersionUID</a:t>
            </a:r>
            <a:r>
              <a:rPr sz="1800" dirty="0">
                <a:latin typeface="微软雅黑"/>
                <a:cs typeface="微软雅黑"/>
              </a:rPr>
              <a:t>进行比较，  如果相同就认为是一致的，可以进行反序列化，否则就会出现序列化版本不一致 的</a:t>
            </a:r>
            <a:r>
              <a:rPr sz="1800" spc="-5" dirty="0">
                <a:latin typeface="微软雅黑"/>
                <a:cs typeface="微软雅黑"/>
              </a:rPr>
              <a:t>InvalidCastException</a:t>
            </a:r>
            <a:r>
              <a:rPr sz="1800" dirty="0">
                <a:latin typeface="微软雅黑"/>
                <a:cs typeface="微软雅黑"/>
              </a:rPr>
              <a:t>异常。</a:t>
            </a:r>
            <a:endParaRPr sz="1800">
              <a:latin typeface="微软雅黑"/>
              <a:cs typeface="微软雅黑"/>
            </a:endParaRPr>
          </a:p>
        </p:txBody>
      </p:sp>
      <p:sp>
        <p:nvSpPr>
          <p:cNvPr id="3" name="object 3"/>
          <p:cNvSpPr txBox="1">
            <a:spLocks noGrp="1"/>
          </p:cNvSpPr>
          <p:nvPr>
            <p:ph type="title"/>
          </p:nvPr>
        </p:nvSpPr>
        <p:spPr>
          <a:xfrm>
            <a:off x="1283652" y="44602"/>
            <a:ext cx="5040630" cy="953135"/>
          </a:xfrm>
          <a:prstGeom prst="rect">
            <a:avLst/>
          </a:prstGeom>
        </p:spPr>
        <p:txBody>
          <a:bodyPr vert="horz" wrap="square" lIns="0" tIns="69215" rIns="0" bIns="0" rtlCol="0">
            <a:spAutoFit/>
          </a:bodyPr>
          <a:lstStyle/>
          <a:p>
            <a:pPr marL="12700" marR="5080">
              <a:lnSpc>
                <a:spcPts val="3450"/>
              </a:lnSpc>
              <a:spcBef>
                <a:spcPts val="545"/>
              </a:spcBef>
            </a:pPr>
            <a:r>
              <a:rPr sz="3200" spc="-5" dirty="0"/>
              <a:t>12.2.6</a:t>
            </a:r>
            <a:r>
              <a:rPr sz="3200" spc="-80" dirty="0"/>
              <a:t> </a:t>
            </a:r>
            <a:r>
              <a:rPr sz="3200" dirty="0"/>
              <a:t>对象流与序列化接</a:t>
            </a:r>
            <a:r>
              <a:rPr sz="3200" spc="5" dirty="0"/>
              <a:t>口 </a:t>
            </a:r>
            <a:r>
              <a:rPr sz="3200" spc="-5" dirty="0"/>
              <a:t>Serializable</a:t>
            </a:r>
            <a:endParaRPr sz="3200"/>
          </a:p>
        </p:txBody>
      </p:sp>
      <p:sp>
        <p:nvSpPr>
          <p:cNvPr id="4" name="object 4"/>
          <p:cNvSpPr/>
          <p:nvPr/>
        </p:nvSpPr>
        <p:spPr>
          <a:xfrm>
            <a:off x="333044" y="3650234"/>
            <a:ext cx="1737995" cy="441959"/>
          </a:xfrm>
          <a:custGeom>
            <a:avLst/>
            <a:gdLst/>
            <a:ahLst/>
            <a:cxnLst/>
            <a:rect l="l" t="t" r="r" b="b"/>
            <a:pathLst>
              <a:path w="1737995" h="441960">
                <a:moveTo>
                  <a:pt x="1732953" y="441566"/>
                </a:moveTo>
                <a:lnTo>
                  <a:pt x="4762" y="441566"/>
                </a:lnTo>
                <a:lnTo>
                  <a:pt x="3289" y="441337"/>
                </a:lnTo>
                <a:lnTo>
                  <a:pt x="1968" y="440664"/>
                </a:lnTo>
                <a:lnTo>
                  <a:pt x="914" y="439610"/>
                </a:lnTo>
                <a:lnTo>
                  <a:pt x="228" y="438276"/>
                </a:lnTo>
                <a:lnTo>
                  <a:pt x="0" y="436803"/>
                </a:lnTo>
                <a:lnTo>
                  <a:pt x="0" y="4762"/>
                </a:lnTo>
                <a:lnTo>
                  <a:pt x="4762" y="0"/>
                </a:lnTo>
                <a:lnTo>
                  <a:pt x="1732953" y="0"/>
                </a:lnTo>
                <a:lnTo>
                  <a:pt x="1737715" y="4762"/>
                </a:lnTo>
                <a:lnTo>
                  <a:pt x="9525" y="4762"/>
                </a:lnTo>
                <a:lnTo>
                  <a:pt x="4762" y="9525"/>
                </a:lnTo>
                <a:lnTo>
                  <a:pt x="9525" y="9525"/>
                </a:lnTo>
                <a:lnTo>
                  <a:pt x="9525" y="432041"/>
                </a:lnTo>
                <a:lnTo>
                  <a:pt x="4762" y="432041"/>
                </a:lnTo>
                <a:lnTo>
                  <a:pt x="9525" y="436803"/>
                </a:lnTo>
                <a:lnTo>
                  <a:pt x="1737715" y="436803"/>
                </a:lnTo>
                <a:lnTo>
                  <a:pt x="1737487" y="438276"/>
                </a:lnTo>
                <a:lnTo>
                  <a:pt x="1736801" y="439610"/>
                </a:lnTo>
                <a:lnTo>
                  <a:pt x="1735759" y="440664"/>
                </a:lnTo>
                <a:lnTo>
                  <a:pt x="1734426" y="441337"/>
                </a:lnTo>
                <a:lnTo>
                  <a:pt x="1732953" y="441566"/>
                </a:lnTo>
                <a:close/>
              </a:path>
              <a:path w="1737995" h="441960">
                <a:moveTo>
                  <a:pt x="9525" y="9525"/>
                </a:moveTo>
                <a:lnTo>
                  <a:pt x="4762" y="9525"/>
                </a:lnTo>
                <a:lnTo>
                  <a:pt x="9525" y="4762"/>
                </a:lnTo>
                <a:lnTo>
                  <a:pt x="9525" y="9525"/>
                </a:lnTo>
                <a:close/>
              </a:path>
              <a:path w="1737995" h="441960">
                <a:moveTo>
                  <a:pt x="1728190" y="9525"/>
                </a:moveTo>
                <a:lnTo>
                  <a:pt x="9525" y="9525"/>
                </a:lnTo>
                <a:lnTo>
                  <a:pt x="9525" y="4762"/>
                </a:lnTo>
                <a:lnTo>
                  <a:pt x="1728190" y="4762"/>
                </a:lnTo>
                <a:lnTo>
                  <a:pt x="1728190" y="9525"/>
                </a:lnTo>
                <a:close/>
              </a:path>
              <a:path w="1737995" h="441960">
                <a:moveTo>
                  <a:pt x="1728190" y="436803"/>
                </a:moveTo>
                <a:lnTo>
                  <a:pt x="1728190" y="4762"/>
                </a:lnTo>
                <a:lnTo>
                  <a:pt x="1732953" y="9525"/>
                </a:lnTo>
                <a:lnTo>
                  <a:pt x="1737715" y="9525"/>
                </a:lnTo>
                <a:lnTo>
                  <a:pt x="1737715" y="432041"/>
                </a:lnTo>
                <a:lnTo>
                  <a:pt x="1732953" y="432041"/>
                </a:lnTo>
                <a:lnTo>
                  <a:pt x="1728190" y="436803"/>
                </a:lnTo>
                <a:close/>
              </a:path>
              <a:path w="1737995" h="441960">
                <a:moveTo>
                  <a:pt x="1737715" y="9525"/>
                </a:moveTo>
                <a:lnTo>
                  <a:pt x="1732953" y="9525"/>
                </a:lnTo>
                <a:lnTo>
                  <a:pt x="1728190" y="4762"/>
                </a:lnTo>
                <a:lnTo>
                  <a:pt x="1737715" y="4762"/>
                </a:lnTo>
                <a:lnTo>
                  <a:pt x="1737715" y="9525"/>
                </a:lnTo>
                <a:close/>
              </a:path>
              <a:path w="1737995" h="441960">
                <a:moveTo>
                  <a:pt x="9525" y="436803"/>
                </a:moveTo>
                <a:lnTo>
                  <a:pt x="4762" y="432041"/>
                </a:lnTo>
                <a:lnTo>
                  <a:pt x="9525" y="432041"/>
                </a:lnTo>
                <a:lnTo>
                  <a:pt x="9525" y="436803"/>
                </a:lnTo>
                <a:close/>
              </a:path>
              <a:path w="1737995" h="441960">
                <a:moveTo>
                  <a:pt x="1728190" y="436803"/>
                </a:moveTo>
                <a:lnTo>
                  <a:pt x="9525" y="436803"/>
                </a:lnTo>
                <a:lnTo>
                  <a:pt x="9525" y="432041"/>
                </a:lnTo>
                <a:lnTo>
                  <a:pt x="1728190" y="432041"/>
                </a:lnTo>
                <a:lnTo>
                  <a:pt x="1728190" y="436803"/>
                </a:lnTo>
                <a:close/>
              </a:path>
              <a:path w="1737995" h="441960">
                <a:moveTo>
                  <a:pt x="1737715" y="436803"/>
                </a:moveTo>
                <a:lnTo>
                  <a:pt x="1728190" y="436803"/>
                </a:lnTo>
                <a:lnTo>
                  <a:pt x="1732953" y="432041"/>
                </a:lnTo>
                <a:lnTo>
                  <a:pt x="1737715" y="432041"/>
                </a:lnTo>
                <a:lnTo>
                  <a:pt x="1737715" y="436803"/>
                </a:lnTo>
                <a:close/>
              </a:path>
            </a:pathLst>
          </a:custGeom>
          <a:solidFill>
            <a:srgbClr val="006C39"/>
          </a:solidFill>
        </p:spPr>
        <p:txBody>
          <a:bodyPr wrap="square" lIns="0" tIns="0" rIns="0" bIns="0" rtlCol="0"/>
          <a:lstStyle/>
          <a:p>
            <a:endParaRPr/>
          </a:p>
        </p:txBody>
      </p:sp>
      <p:sp>
        <p:nvSpPr>
          <p:cNvPr id="5" name="object 5"/>
          <p:cNvSpPr/>
          <p:nvPr/>
        </p:nvSpPr>
        <p:spPr>
          <a:xfrm>
            <a:off x="333044" y="4082275"/>
            <a:ext cx="1737995" cy="441959"/>
          </a:xfrm>
          <a:custGeom>
            <a:avLst/>
            <a:gdLst/>
            <a:ahLst/>
            <a:cxnLst/>
            <a:rect l="l" t="t" r="r" b="b"/>
            <a:pathLst>
              <a:path w="1737995" h="441960">
                <a:moveTo>
                  <a:pt x="1732953" y="441578"/>
                </a:moveTo>
                <a:lnTo>
                  <a:pt x="4762" y="441578"/>
                </a:lnTo>
                <a:lnTo>
                  <a:pt x="3289" y="441337"/>
                </a:lnTo>
                <a:lnTo>
                  <a:pt x="1968" y="440664"/>
                </a:lnTo>
                <a:lnTo>
                  <a:pt x="914" y="439610"/>
                </a:lnTo>
                <a:lnTo>
                  <a:pt x="228" y="438289"/>
                </a:lnTo>
                <a:lnTo>
                  <a:pt x="0" y="436816"/>
                </a:lnTo>
                <a:lnTo>
                  <a:pt x="0" y="4762"/>
                </a:lnTo>
                <a:lnTo>
                  <a:pt x="4762" y="0"/>
                </a:lnTo>
                <a:lnTo>
                  <a:pt x="1732953" y="0"/>
                </a:lnTo>
                <a:lnTo>
                  <a:pt x="1737715" y="4762"/>
                </a:lnTo>
                <a:lnTo>
                  <a:pt x="9525" y="4762"/>
                </a:lnTo>
                <a:lnTo>
                  <a:pt x="4762" y="9525"/>
                </a:lnTo>
                <a:lnTo>
                  <a:pt x="9525" y="9525"/>
                </a:lnTo>
                <a:lnTo>
                  <a:pt x="9525" y="432053"/>
                </a:lnTo>
                <a:lnTo>
                  <a:pt x="4762" y="432053"/>
                </a:lnTo>
                <a:lnTo>
                  <a:pt x="9525" y="436816"/>
                </a:lnTo>
                <a:lnTo>
                  <a:pt x="1737715" y="436816"/>
                </a:lnTo>
                <a:lnTo>
                  <a:pt x="1737487" y="438289"/>
                </a:lnTo>
                <a:lnTo>
                  <a:pt x="1736801" y="439610"/>
                </a:lnTo>
                <a:lnTo>
                  <a:pt x="1735759" y="440664"/>
                </a:lnTo>
                <a:lnTo>
                  <a:pt x="1734426" y="441337"/>
                </a:lnTo>
                <a:lnTo>
                  <a:pt x="1732953" y="441578"/>
                </a:lnTo>
                <a:close/>
              </a:path>
              <a:path w="1737995" h="441960">
                <a:moveTo>
                  <a:pt x="9525" y="9525"/>
                </a:moveTo>
                <a:lnTo>
                  <a:pt x="4762" y="9525"/>
                </a:lnTo>
                <a:lnTo>
                  <a:pt x="9525" y="4762"/>
                </a:lnTo>
                <a:lnTo>
                  <a:pt x="9525" y="9525"/>
                </a:lnTo>
                <a:close/>
              </a:path>
              <a:path w="1737995" h="441960">
                <a:moveTo>
                  <a:pt x="1728190" y="9525"/>
                </a:moveTo>
                <a:lnTo>
                  <a:pt x="9525" y="9525"/>
                </a:lnTo>
                <a:lnTo>
                  <a:pt x="9525" y="4762"/>
                </a:lnTo>
                <a:lnTo>
                  <a:pt x="1728190" y="4762"/>
                </a:lnTo>
                <a:lnTo>
                  <a:pt x="1728190" y="9525"/>
                </a:lnTo>
                <a:close/>
              </a:path>
              <a:path w="1737995" h="441960">
                <a:moveTo>
                  <a:pt x="1728190" y="436816"/>
                </a:moveTo>
                <a:lnTo>
                  <a:pt x="1728190" y="4762"/>
                </a:lnTo>
                <a:lnTo>
                  <a:pt x="1732953" y="9525"/>
                </a:lnTo>
                <a:lnTo>
                  <a:pt x="1737715" y="9525"/>
                </a:lnTo>
                <a:lnTo>
                  <a:pt x="1737715" y="432053"/>
                </a:lnTo>
                <a:lnTo>
                  <a:pt x="1732953" y="432053"/>
                </a:lnTo>
                <a:lnTo>
                  <a:pt x="1728190" y="436816"/>
                </a:lnTo>
                <a:close/>
              </a:path>
              <a:path w="1737995" h="441960">
                <a:moveTo>
                  <a:pt x="1737715" y="9525"/>
                </a:moveTo>
                <a:lnTo>
                  <a:pt x="1732953" y="9525"/>
                </a:lnTo>
                <a:lnTo>
                  <a:pt x="1728190" y="4762"/>
                </a:lnTo>
                <a:lnTo>
                  <a:pt x="1737715" y="4762"/>
                </a:lnTo>
                <a:lnTo>
                  <a:pt x="1737715" y="9525"/>
                </a:lnTo>
                <a:close/>
              </a:path>
              <a:path w="1737995" h="441960">
                <a:moveTo>
                  <a:pt x="9525" y="436816"/>
                </a:moveTo>
                <a:lnTo>
                  <a:pt x="4762" y="432053"/>
                </a:lnTo>
                <a:lnTo>
                  <a:pt x="9525" y="432053"/>
                </a:lnTo>
                <a:lnTo>
                  <a:pt x="9525" y="436816"/>
                </a:lnTo>
                <a:close/>
              </a:path>
              <a:path w="1737995" h="441960">
                <a:moveTo>
                  <a:pt x="1728190" y="436816"/>
                </a:moveTo>
                <a:lnTo>
                  <a:pt x="9525" y="436816"/>
                </a:lnTo>
                <a:lnTo>
                  <a:pt x="9525" y="432053"/>
                </a:lnTo>
                <a:lnTo>
                  <a:pt x="1728190" y="432053"/>
                </a:lnTo>
                <a:lnTo>
                  <a:pt x="1728190" y="436816"/>
                </a:lnTo>
                <a:close/>
              </a:path>
              <a:path w="1737995" h="441960">
                <a:moveTo>
                  <a:pt x="1737715" y="436816"/>
                </a:moveTo>
                <a:lnTo>
                  <a:pt x="1728190" y="436816"/>
                </a:lnTo>
                <a:lnTo>
                  <a:pt x="1732953" y="432053"/>
                </a:lnTo>
                <a:lnTo>
                  <a:pt x="1737715" y="432053"/>
                </a:lnTo>
                <a:lnTo>
                  <a:pt x="1737715" y="436816"/>
                </a:lnTo>
                <a:close/>
              </a:path>
            </a:pathLst>
          </a:custGeom>
          <a:solidFill>
            <a:srgbClr val="006C39"/>
          </a:solidFill>
        </p:spPr>
        <p:txBody>
          <a:bodyPr wrap="square" lIns="0" tIns="0" rIns="0" bIns="0" rtlCol="0"/>
          <a:lstStyle/>
          <a:p>
            <a:endParaRPr/>
          </a:p>
        </p:txBody>
      </p:sp>
      <p:sp>
        <p:nvSpPr>
          <p:cNvPr id="6" name="object 6"/>
          <p:cNvSpPr/>
          <p:nvPr/>
        </p:nvSpPr>
        <p:spPr>
          <a:xfrm>
            <a:off x="2337816" y="3834384"/>
            <a:ext cx="2161032" cy="252983"/>
          </a:xfrm>
          <a:prstGeom prst="rect">
            <a:avLst/>
          </a:prstGeom>
          <a:blipFill>
            <a:blip r:embed="rId2" cstate="print"/>
            <a:stretch>
              <a:fillRect/>
            </a:stretch>
          </a:blipFill>
        </p:spPr>
        <p:txBody>
          <a:bodyPr wrap="square" lIns="0" tIns="0" rIns="0" bIns="0" rtlCol="0"/>
          <a:lstStyle/>
          <a:p>
            <a:endParaRPr/>
          </a:p>
        </p:txBody>
      </p:sp>
      <p:sp>
        <p:nvSpPr>
          <p:cNvPr id="7" name="object 7"/>
          <p:cNvSpPr/>
          <p:nvPr/>
        </p:nvSpPr>
        <p:spPr>
          <a:xfrm>
            <a:off x="2334729" y="3825621"/>
            <a:ext cx="2169795" cy="270510"/>
          </a:xfrm>
          <a:custGeom>
            <a:avLst/>
            <a:gdLst/>
            <a:ahLst/>
            <a:cxnLst/>
            <a:rect l="l" t="t" r="r" b="b"/>
            <a:pathLst>
              <a:path w="2169795" h="270510">
                <a:moveTo>
                  <a:pt x="2034235" y="72199"/>
                </a:moveTo>
                <a:lnTo>
                  <a:pt x="2034235" y="0"/>
                </a:lnTo>
                <a:lnTo>
                  <a:pt x="2043429" y="9194"/>
                </a:lnTo>
                <a:lnTo>
                  <a:pt x="2041855" y="9194"/>
                </a:lnTo>
                <a:lnTo>
                  <a:pt x="2035352" y="11899"/>
                </a:lnTo>
                <a:lnTo>
                  <a:pt x="2041855" y="18402"/>
                </a:lnTo>
                <a:lnTo>
                  <a:pt x="2041855" y="68389"/>
                </a:lnTo>
                <a:lnTo>
                  <a:pt x="2038045" y="68389"/>
                </a:lnTo>
                <a:lnTo>
                  <a:pt x="2034235" y="72199"/>
                </a:lnTo>
                <a:close/>
              </a:path>
              <a:path w="2169795" h="270510">
                <a:moveTo>
                  <a:pt x="2041855" y="18402"/>
                </a:moveTo>
                <a:lnTo>
                  <a:pt x="2035352" y="11899"/>
                </a:lnTo>
                <a:lnTo>
                  <a:pt x="2041855" y="9194"/>
                </a:lnTo>
                <a:lnTo>
                  <a:pt x="2041855" y="18402"/>
                </a:lnTo>
                <a:close/>
              </a:path>
              <a:path w="2169795" h="270510">
                <a:moveTo>
                  <a:pt x="2158657" y="135204"/>
                </a:moveTo>
                <a:lnTo>
                  <a:pt x="2041855" y="18402"/>
                </a:lnTo>
                <a:lnTo>
                  <a:pt x="2041855" y="9194"/>
                </a:lnTo>
                <a:lnTo>
                  <a:pt x="2043429" y="9194"/>
                </a:lnTo>
                <a:lnTo>
                  <a:pt x="2166747" y="132511"/>
                </a:lnTo>
                <a:lnTo>
                  <a:pt x="2161349" y="132511"/>
                </a:lnTo>
                <a:lnTo>
                  <a:pt x="2158657" y="135204"/>
                </a:lnTo>
                <a:close/>
              </a:path>
              <a:path w="2169795" h="270510">
                <a:moveTo>
                  <a:pt x="2034235" y="202006"/>
                </a:moveTo>
                <a:lnTo>
                  <a:pt x="0" y="202006"/>
                </a:lnTo>
                <a:lnTo>
                  <a:pt x="0" y="68389"/>
                </a:lnTo>
                <a:lnTo>
                  <a:pt x="2034235" y="68389"/>
                </a:lnTo>
                <a:lnTo>
                  <a:pt x="2034235" y="72199"/>
                </a:lnTo>
                <a:lnTo>
                  <a:pt x="7620" y="72199"/>
                </a:lnTo>
                <a:lnTo>
                  <a:pt x="3810" y="76009"/>
                </a:lnTo>
                <a:lnTo>
                  <a:pt x="7620" y="76009"/>
                </a:lnTo>
                <a:lnTo>
                  <a:pt x="7620" y="194386"/>
                </a:lnTo>
                <a:lnTo>
                  <a:pt x="3810" y="194386"/>
                </a:lnTo>
                <a:lnTo>
                  <a:pt x="7620" y="198196"/>
                </a:lnTo>
                <a:lnTo>
                  <a:pt x="2034235" y="198196"/>
                </a:lnTo>
                <a:lnTo>
                  <a:pt x="2034235" y="202006"/>
                </a:lnTo>
                <a:close/>
              </a:path>
              <a:path w="2169795" h="270510">
                <a:moveTo>
                  <a:pt x="2041855" y="76009"/>
                </a:moveTo>
                <a:lnTo>
                  <a:pt x="7620" y="76009"/>
                </a:lnTo>
                <a:lnTo>
                  <a:pt x="7620" y="72199"/>
                </a:lnTo>
                <a:lnTo>
                  <a:pt x="2034235" y="72199"/>
                </a:lnTo>
                <a:lnTo>
                  <a:pt x="2038045" y="68389"/>
                </a:lnTo>
                <a:lnTo>
                  <a:pt x="2041855" y="68389"/>
                </a:lnTo>
                <a:lnTo>
                  <a:pt x="2041855" y="76009"/>
                </a:lnTo>
                <a:close/>
              </a:path>
              <a:path w="2169795" h="270510">
                <a:moveTo>
                  <a:pt x="7620" y="76009"/>
                </a:moveTo>
                <a:lnTo>
                  <a:pt x="3810" y="76009"/>
                </a:lnTo>
                <a:lnTo>
                  <a:pt x="7620" y="72199"/>
                </a:lnTo>
                <a:lnTo>
                  <a:pt x="7620" y="76009"/>
                </a:lnTo>
                <a:close/>
              </a:path>
              <a:path w="2169795" h="270510">
                <a:moveTo>
                  <a:pt x="2161349" y="137896"/>
                </a:moveTo>
                <a:lnTo>
                  <a:pt x="2158657" y="135204"/>
                </a:lnTo>
                <a:lnTo>
                  <a:pt x="2161349" y="132511"/>
                </a:lnTo>
                <a:lnTo>
                  <a:pt x="2161349" y="137896"/>
                </a:lnTo>
                <a:close/>
              </a:path>
              <a:path w="2169795" h="270510">
                <a:moveTo>
                  <a:pt x="2166746" y="137896"/>
                </a:moveTo>
                <a:lnTo>
                  <a:pt x="2161349" y="137896"/>
                </a:lnTo>
                <a:lnTo>
                  <a:pt x="2161349" y="132511"/>
                </a:lnTo>
                <a:lnTo>
                  <a:pt x="2166747" y="132511"/>
                </a:lnTo>
                <a:lnTo>
                  <a:pt x="2169439" y="135204"/>
                </a:lnTo>
                <a:lnTo>
                  <a:pt x="2166746" y="137896"/>
                </a:lnTo>
                <a:close/>
              </a:path>
              <a:path w="2169795" h="270510">
                <a:moveTo>
                  <a:pt x="2043430" y="261200"/>
                </a:moveTo>
                <a:lnTo>
                  <a:pt x="2041855" y="261200"/>
                </a:lnTo>
                <a:lnTo>
                  <a:pt x="2041855" y="252006"/>
                </a:lnTo>
                <a:lnTo>
                  <a:pt x="2158657" y="135204"/>
                </a:lnTo>
                <a:lnTo>
                  <a:pt x="2161349" y="137896"/>
                </a:lnTo>
                <a:lnTo>
                  <a:pt x="2166746" y="137896"/>
                </a:lnTo>
                <a:lnTo>
                  <a:pt x="2043430" y="261200"/>
                </a:lnTo>
                <a:close/>
              </a:path>
              <a:path w="2169795" h="270510">
                <a:moveTo>
                  <a:pt x="7620" y="198196"/>
                </a:moveTo>
                <a:lnTo>
                  <a:pt x="3810" y="194386"/>
                </a:lnTo>
                <a:lnTo>
                  <a:pt x="7620" y="194386"/>
                </a:lnTo>
                <a:lnTo>
                  <a:pt x="7620" y="198196"/>
                </a:lnTo>
                <a:close/>
              </a:path>
              <a:path w="2169795" h="270510">
                <a:moveTo>
                  <a:pt x="2041855" y="202006"/>
                </a:moveTo>
                <a:lnTo>
                  <a:pt x="2038045" y="202006"/>
                </a:lnTo>
                <a:lnTo>
                  <a:pt x="2034235" y="198196"/>
                </a:lnTo>
                <a:lnTo>
                  <a:pt x="7620" y="198196"/>
                </a:lnTo>
                <a:lnTo>
                  <a:pt x="7620" y="194386"/>
                </a:lnTo>
                <a:lnTo>
                  <a:pt x="2041855" y="194386"/>
                </a:lnTo>
                <a:lnTo>
                  <a:pt x="2041855" y="202006"/>
                </a:lnTo>
                <a:close/>
              </a:path>
              <a:path w="2169795" h="270510">
                <a:moveTo>
                  <a:pt x="2034235" y="270395"/>
                </a:moveTo>
                <a:lnTo>
                  <a:pt x="2034235" y="198196"/>
                </a:lnTo>
                <a:lnTo>
                  <a:pt x="2038045" y="202006"/>
                </a:lnTo>
                <a:lnTo>
                  <a:pt x="2041855" y="202006"/>
                </a:lnTo>
                <a:lnTo>
                  <a:pt x="2041855" y="252006"/>
                </a:lnTo>
                <a:lnTo>
                  <a:pt x="2035352" y="258508"/>
                </a:lnTo>
                <a:lnTo>
                  <a:pt x="2041855" y="261200"/>
                </a:lnTo>
                <a:lnTo>
                  <a:pt x="2043430" y="261200"/>
                </a:lnTo>
                <a:lnTo>
                  <a:pt x="2034235" y="270395"/>
                </a:lnTo>
                <a:close/>
              </a:path>
              <a:path w="2169795" h="270510">
                <a:moveTo>
                  <a:pt x="2041855" y="261200"/>
                </a:moveTo>
                <a:lnTo>
                  <a:pt x="2035352" y="258508"/>
                </a:lnTo>
                <a:lnTo>
                  <a:pt x="2041855" y="252006"/>
                </a:lnTo>
                <a:lnTo>
                  <a:pt x="2041855" y="261200"/>
                </a:lnTo>
                <a:close/>
              </a:path>
            </a:pathLst>
          </a:custGeom>
          <a:solidFill>
            <a:srgbClr val="006C39"/>
          </a:solidFill>
        </p:spPr>
        <p:txBody>
          <a:bodyPr wrap="square" lIns="0" tIns="0" rIns="0" bIns="0" rtlCol="0"/>
          <a:lstStyle/>
          <a:p>
            <a:endParaRPr/>
          </a:p>
        </p:txBody>
      </p:sp>
      <p:sp>
        <p:nvSpPr>
          <p:cNvPr id="8" name="object 8"/>
          <p:cNvSpPr txBox="1"/>
          <p:nvPr/>
        </p:nvSpPr>
        <p:spPr>
          <a:xfrm>
            <a:off x="4577841" y="3902735"/>
            <a:ext cx="1447165" cy="451484"/>
          </a:xfrm>
          <a:prstGeom prst="rect">
            <a:avLst/>
          </a:prstGeom>
        </p:spPr>
        <p:txBody>
          <a:bodyPr vert="horz" wrap="square" lIns="0" tIns="12065" rIns="0" bIns="0" rtlCol="0">
            <a:spAutoFit/>
          </a:bodyPr>
          <a:lstStyle/>
          <a:p>
            <a:pPr marL="12700">
              <a:lnSpc>
                <a:spcPct val="100000"/>
              </a:lnSpc>
              <a:spcBef>
                <a:spcPts val="95"/>
              </a:spcBef>
            </a:pPr>
            <a:r>
              <a:rPr sz="2800" dirty="0">
                <a:latin typeface="微软雅黑"/>
                <a:cs typeface="微软雅黑"/>
              </a:rPr>
              <a:t>字节序</a:t>
            </a:r>
            <a:r>
              <a:rPr sz="2800" spc="-5" dirty="0">
                <a:latin typeface="微软雅黑"/>
                <a:cs typeface="微软雅黑"/>
              </a:rPr>
              <a:t>列</a:t>
            </a:r>
            <a:endParaRPr sz="2800">
              <a:latin typeface="微软雅黑"/>
              <a:cs typeface="微软雅黑"/>
            </a:endParaRPr>
          </a:p>
        </p:txBody>
      </p:sp>
      <p:sp>
        <p:nvSpPr>
          <p:cNvPr id="9" name="object 9"/>
          <p:cNvSpPr/>
          <p:nvPr/>
        </p:nvSpPr>
        <p:spPr>
          <a:xfrm>
            <a:off x="2281427" y="4133088"/>
            <a:ext cx="2161032" cy="251460"/>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276640" y="4123423"/>
            <a:ext cx="2169795" cy="270510"/>
          </a:xfrm>
          <a:custGeom>
            <a:avLst/>
            <a:gdLst/>
            <a:ahLst/>
            <a:cxnLst/>
            <a:rect l="l" t="t" r="r" b="b"/>
            <a:pathLst>
              <a:path w="2169795" h="270510">
                <a:moveTo>
                  <a:pt x="135191" y="270395"/>
                </a:moveTo>
                <a:lnTo>
                  <a:pt x="0" y="135204"/>
                </a:lnTo>
                <a:lnTo>
                  <a:pt x="135191" y="0"/>
                </a:lnTo>
                <a:lnTo>
                  <a:pt x="135191" y="9207"/>
                </a:lnTo>
                <a:lnTo>
                  <a:pt x="127571" y="9207"/>
                </a:lnTo>
                <a:lnTo>
                  <a:pt x="127571" y="18402"/>
                </a:lnTo>
                <a:lnTo>
                  <a:pt x="13461" y="132511"/>
                </a:lnTo>
                <a:lnTo>
                  <a:pt x="8077" y="132511"/>
                </a:lnTo>
                <a:lnTo>
                  <a:pt x="8077" y="137896"/>
                </a:lnTo>
                <a:lnTo>
                  <a:pt x="13461" y="137896"/>
                </a:lnTo>
                <a:lnTo>
                  <a:pt x="127571" y="252006"/>
                </a:lnTo>
                <a:lnTo>
                  <a:pt x="127571" y="261200"/>
                </a:lnTo>
                <a:lnTo>
                  <a:pt x="135191" y="261200"/>
                </a:lnTo>
                <a:lnTo>
                  <a:pt x="135191" y="270395"/>
                </a:lnTo>
                <a:close/>
              </a:path>
              <a:path w="2169795" h="270510">
                <a:moveTo>
                  <a:pt x="127571" y="18402"/>
                </a:moveTo>
                <a:lnTo>
                  <a:pt x="127571" y="9207"/>
                </a:lnTo>
                <a:lnTo>
                  <a:pt x="134073" y="11899"/>
                </a:lnTo>
                <a:lnTo>
                  <a:pt x="127571" y="18402"/>
                </a:lnTo>
                <a:close/>
              </a:path>
              <a:path w="2169795" h="270510">
                <a:moveTo>
                  <a:pt x="2161806" y="76009"/>
                </a:moveTo>
                <a:lnTo>
                  <a:pt x="127571" y="76009"/>
                </a:lnTo>
                <a:lnTo>
                  <a:pt x="127571" y="18402"/>
                </a:lnTo>
                <a:lnTo>
                  <a:pt x="134073" y="11899"/>
                </a:lnTo>
                <a:lnTo>
                  <a:pt x="127571" y="9207"/>
                </a:lnTo>
                <a:lnTo>
                  <a:pt x="135191" y="9207"/>
                </a:lnTo>
                <a:lnTo>
                  <a:pt x="135191" y="68389"/>
                </a:lnTo>
                <a:lnTo>
                  <a:pt x="131381" y="68389"/>
                </a:lnTo>
                <a:lnTo>
                  <a:pt x="135191" y="72199"/>
                </a:lnTo>
                <a:lnTo>
                  <a:pt x="2161806" y="72199"/>
                </a:lnTo>
                <a:lnTo>
                  <a:pt x="2161806" y="76009"/>
                </a:lnTo>
                <a:close/>
              </a:path>
              <a:path w="2169795" h="270510">
                <a:moveTo>
                  <a:pt x="135191" y="72199"/>
                </a:moveTo>
                <a:lnTo>
                  <a:pt x="131381" y="68389"/>
                </a:lnTo>
                <a:lnTo>
                  <a:pt x="135191" y="68389"/>
                </a:lnTo>
                <a:lnTo>
                  <a:pt x="135191" y="72199"/>
                </a:lnTo>
                <a:close/>
              </a:path>
              <a:path w="2169795" h="270510">
                <a:moveTo>
                  <a:pt x="2169426" y="76009"/>
                </a:moveTo>
                <a:lnTo>
                  <a:pt x="2165616" y="76009"/>
                </a:lnTo>
                <a:lnTo>
                  <a:pt x="2161806" y="72199"/>
                </a:lnTo>
                <a:lnTo>
                  <a:pt x="135191" y="72199"/>
                </a:lnTo>
                <a:lnTo>
                  <a:pt x="135191" y="68389"/>
                </a:lnTo>
                <a:lnTo>
                  <a:pt x="2169426" y="68389"/>
                </a:lnTo>
                <a:lnTo>
                  <a:pt x="2169426" y="76009"/>
                </a:lnTo>
                <a:close/>
              </a:path>
              <a:path w="2169795" h="270510">
                <a:moveTo>
                  <a:pt x="2161806" y="198196"/>
                </a:moveTo>
                <a:lnTo>
                  <a:pt x="2161806" y="72199"/>
                </a:lnTo>
                <a:lnTo>
                  <a:pt x="2165616" y="76009"/>
                </a:lnTo>
                <a:lnTo>
                  <a:pt x="2169426" y="76009"/>
                </a:lnTo>
                <a:lnTo>
                  <a:pt x="2169426" y="194386"/>
                </a:lnTo>
                <a:lnTo>
                  <a:pt x="2165616" y="194386"/>
                </a:lnTo>
                <a:lnTo>
                  <a:pt x="2161806" y="198196"/>
                </a:lnTo>
                <a:close/>
              </a:path>
              <a:path w="2169795" h="270510">
                <a:moveTo>
                  <a:pt x="8077" y="137896"/>
                </a:moveTo>
                <a:lnTo>
                  <a:pt x="8077" y="132511"/>
                </a:lnTo>
                <a:lnTo>
                  <a:pt x="10769" y="135204"/>
                </a:lnTo>
                <a:lnTo>
                  <a:pt x="8077" y="137896"/>
                </a:lnTo>
                <a:close/>
              </a:path>
              <a:path w="2169795" h="270510">
                <a:moveTo>
                  <a:pt x="10769" y="135204"/>
                </a:moveTo>
                <a:lnTo>
                  <a:pt x="8077" y="132511"/>
                </a:lnTo>
                <a:lnTo>
                  <a:pt x="13461" y="132511"/>
                </a:lnTo>
                <a:lnTo>
                  <a:pt x="10769" y="135204"/>
                </a:lnTo>
                <a:close/>
              </a:path>
              <a:path w="2169795" h="270510">
                <a:moveTo>
                  <a:pt x="13461" y="137896"/>
                </a:moveTo>
                <a:lnTo>
                  <a:pt x="8077" y="137896"/>
                </a:lnTo>
                <a:lnTo>
                  <a:pt x="10769" y="135204"/>
                </a:lnTo>
                <a:lnTo>
                  <a:pt x="13461" y="137896"/>
                </a:lnTo>
                <a:close/>
              </a:path>
              <a:path w="2169795" h="270510">
                <a:moveTo>
                  <a:pt x="135191" y="261200"/>
                </a:moveTo>
                <a:lnTo>
                  <a:pt x="127571" y="261200"/>
                </a:lnTo>
                <a:lnTo>
                  <a:pt x="134073" y="258508"/>
                </a:lnTo>
                <a:lnTo>
                  <a:pt x="127571" y="252006"/>
                </a:lnTo>
                <a:lnTo>
                  <a:pt x="127571" y="194386"/>
                </a:lnTo>
                <a:lnTo>
                  <a:pt x="2161806" y="194386"/>
                </a:lnTo>
                <a:lnTo>
                  <a:pt x="2161806" y="198196"/>
                </a:lnTo>
                <a:lnTo>
                  <a:pt x="135191" y="198196"/>
                </a:lnTo>
                <a:lnTo>
                  <a:pt x="131381" y="202006"/>
                </a:lnTo>
                <a:lnTo>
                  <a:pt x="135191" y="202006"/>
                </a:lnTo>
                <a:lnTo>
                  <a:pt x="135191" y="261200"/>
                </a:lnTo>
                <a:close/>
              </a:path>
              <a:path w="2169795" h="270510">
                <a:moveTo>
                  <a:pt x="2169426" y="202006"/>
                </a:moveTo>
                <a:lnTo>
                  <a:pt x="135191" y="202006"/>
                </a:lnTo>
                <a:lnTo>
                  <a:pt x="135191" y="198196"/>
                </a:lnTo>
                <a:lnTo>
                  <a:pt x="2161806" y="198196"/>
                </a:lnTo>
                <a:lnTo>
                  <a:pt x="2165616" y="194386"/>
                </a:lnTo>
                <a:lnTo>
                  <a:pt x="2169426" y="194386"/>
                </a:lnTo>
                <a:lnTo>
                  <a:pt x="2169426" y="202006"/>
                </a:lnTo>
                <a:close/>
              </a:path>
              <a:path w="2169795" h="270510">
                <a:moveTo>
                  <a:pt x="135191" y="202006"/>
                </a:moveTo>
                <a:lnTo>
                  <a:pt x="131381" y="202006"/>
                </a:lnTo>
                <a:lnTo>
                  <a:pt x="135191" y="198196"/>
                </a:lnTo>
                <a:lnTo>
                  <a:pt x="135191" y="202006"/>
                </a:lnTo>
                <a:close/>
              </a:path>
              <a:path w="2169795" h="270510">
                <a:moveTo>
                  <a:pt x="127571" y="261200"/>
                </a:moveTo>
                <a:lnTo>
                  <a:pt x="127571" y="252006"/>
                </a:lnTo>
                <a:lnTo>
                  <a:pt x="134073" y="258508"/>
                </a:lnTo>
                <a:lnTo>
                  <a:pt x="127571" y="261200"/>
                </a:lnTo>
                <a:close/>
              </a:path>
            </a:pathLst>
          </a:custGeom>
          <a:solidFill>
            <a:srgbClr val="006C39"/>
          </a:solidFill>
        </p:spPr>
        <p:txBody>
          <a:bodyPr wrap="square" lIns="0" tIns="0" rIns="0" bIns="0" rtlCol="0"/>
          <a:lstStyle/>
          <a:p>
            <a:endParaRPr/>
          </a:p>
        </p:txBody>
      </p:sp>
      <p:sp>
        <p:nvSpPr>
          <p:cNvPr id="11" name="object 11"/>
          <p:cNvSpPr txBox="1"/>
          <p:nvPr/>
        </p:nvSpPr>
        <p:spPr>
          <a:xfrm>
            <a:off x="2990354" y="3574719"/>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a:cs typeface="微软雅黑"/>
              </a:rPr>
              <a:t>序列化</a:t>
            </a:r>
            <a:endParaRPr sz="1800">
              <a:latin typeface="微软雅黑"/>
              <a:cs typeface="微软雅黑"/>
            </a:endParaRPr>
          </a:p>
        </p:txBody>
      </p:sp>
      <p:sp>
        <p:nvSpPr>
          <p:cNvPr id="12" name="object 12"/>
          <p:cNvSpPr txBox="1"/>
          <p:nvPr/>
        </p:nvSpPr>
        <p:spPr>
          <a:xfrm>
            <a:off x="2836951" y="4376585"/>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a:cs typeface="微软雅黑"/>
              </a:rPr>
              <a:t>反序列化</a:t>
            </a:r>
            <a:endParaRPr sz="1800">
              <a:latin typeface="微软雅黑"/>
              <a:cs typeface="微软雅黑"/>
            </a:endParaRPr>
          </a:p>
        </p:txBody>
      </p:sp>
      <p:sp>
        <p:nvSpPr>
          <p:cNvPr id="13" name="object 13"/>
          <p:cNvSpPr txBox="1"/>
          <p:nvPr/>
        </p:nvSpPr>
        <p:spPr>
          <a:xfrm>
            <a:off x="7073544" y="3887838"/>
            <a:ext cx="1802764" cy="451484"/>
          </a:xfrm>
          <a:prstGeom prst="rect">
            <a:avLst/>
          </a:prstGeom>
        </p:spPr>
        <p:txBody>
          <a:bodyPr vert="horz" wrap="square" lIns="0" tIns="12065" rIns="0" bIns="0" rtlCol="0">
            <a:spAutoFit/>
          </a:bodyPr>
          <a:lstStyle/>
          <a:p>
            <a:pPr marL="12700">
              <a:lnSpc>
                <a:spcPct val="100000"/>
              </a:lnSpc>
              <a:spcBef>
                <a:spcPts val="95"/>
              </a:spcBef>
            </a:pPr>
            <a:r>
              <a:rPr sz="2800" dirty="0">
                <a:latin typeface="微软雅黑"/>
                <a:cs typeface="微软雅黑"/>
              </a:rPr>
              <a:t>文件、网</a:t>
            </a:r>
            <a:r>
              <a:rPr sz="2800" spc="-5" dirty="0">
                <a:latin typeface="微软雅黑"/>
                <a:cs typeface="微软雅黑"/>
              </a:rPr>
              <a:t>络</a:t>
            </a:r>
            <a:endParaRPr sz="2800">
              <a:latin typeface="微软雅黑"/>
              <a:cs typeface="微软雅黑"/>
            </a:endParaRPr>
          </a:p>
        </p:txBody>
      </p:sp>
      <p:sp>
        <p:nvSpPr>
          <p:cNvPr id="14" name="object 14"/>
          <p:cNvSpPr/>
          <p:nvPr/>
        </p:nvSpPr>
        <p:spPr>
          <a:xfrm>
            <a:off x="6202679" y="3870959"/>
            <a:ext cx="720851" cy="251460"/>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6198984" y="3861815"/>
            <a:ext cx="729615" cy="270510"/>
          </a:xfrm>
          <a:custGeom>
            <a:avLst/>
            <a:gdLst/>
            <a:ahLst/>
            <a:cxnLst/>
            <a:rect l="l" t="t" r="r" b="b"/>
            <a:pathLst>
              <a:path w="729615" h="270510">
                <a:moveTo>
                  <a:pt x="594004" y="72199"/>
                </a:moveTo>
                <a:lnTo>
                  <a:pt x="594004" y="0"/>
                </a:lnTo>
                <a:lnTo>
                  <a:pt x="603198" y="9194"/>
                </a:lnTo>
                <a:lnTo>
                  <a:pt x="601624" y="9194"/>
                </a:lnTo>
                <a:lnTo>
                  <a:pt x="595122" y="11899"/>
                </a:lnTo>
                <a:lnTo>
                  <a:pt x="601624" y="18402"/>
                </a:lnTo>
                <a:lnTo>
                  <a:pt x="601624" y="68389"/>
                </a:lnTo>
                <a:lnTo>
                  <a:pt x="597814" y="68389"/>
                </a:lnTo>
                <a:lnTo>
                  <a:pt x="594004" y="72199"/>
                </a:lnTo>
                <a:close/>
              </a:path>
              <a:path w="729615" h="270510">
                <a:moveTo>
                  <a:pt x="601624" y="18402"/>
                </a:moveTo>
                <a:lnTo>
                  <a:pt x="595122" y="11899"/>
                </a:lnTo>
                <a:lnTo>
                  <a:pt x="601624" y="9194"/>
                </a:lnTo>
                <a:lnTo>
                  <a:pt x="601624" y="18402"/>
                </a:lnTo>
                <a:close/>
              </a:path>
              <a:path w="729615" h="270510">
                <a:moveTo>
                  <a:pt x="718426" y="135204"/>
                </a:moveTo>
                <a:lnTo>
                  <a:pt x="601624" y="18402"/>
                </a:lnTo>
                <a:lnTo>
                  <a:pt x="601624" y="9194"/>
                </a:lnTo>
                <a:lnTo>
                  <a:pt x="603198" y="9194"/>
                </a:lnTo>
                <a:lnTo>
                  <a:pt x="726503" y="132511"/>
                </a:lnTo>
                <a:lnTo>
                  <a:pt x="721118" y="132511"/>
                </a:lnTo>
                <a:lnTo>
                  <a:pt x="718426" y="135204"/>
                </a:lnTo>
                <a:close/>
              </a:path>
              <a:path w="729615" h="270510">
                <a:moveTo>
                  <a:pt x="594004" y="202006"/>
                </a:moveTo>
                <a:lnTo>
                  <a:pt x="0" y="202006"/>
                </a:lnTo>
                <a:lnTo>
                  <a:pt x="0" y="68389"/>
                </a:lnTo>
                <a:lnTo>
                  <a:pt x="594004" y="68389"/>
                </a:lnTo>
                <a:lnTo>
                  <a:pt x="594004" y="72199"/>
                </a:lnTo>
                <a:lnTo>
                  <a:pt x="7620" y="72199"/>
                </a:lnTo>
                <a:lnTo>
                  <a:pt x="3810" y="76009"/>
                </a:lnTo>
                <a:lnTo>
                  <a:pt x="7620" y="76009"/>
                </a:lnTo>
                <a:lnTo>
                  <a:pt x="7620" y="194386"/>
                </a:lnTo>
                <a:lnTo>
                  <a:pt x="3810" y="194386"/>
                </a:lnTo>
                <a:lnTo>
                  <a:pt x="7620" y="198196"/>
                </a:lnTo>
                <a:lnTo>
                  <a:pt x="594004" y="198196"/>
                </a:lnTo>
                <a:lnTo>
                  <a:pt x="594004" y="202006"/>
                </a:lnTo>
                <a:close/>
              </a:path>
              <a:path w="729615" h="270510">
                <a:moveTo>
                  <a:pt x="601624" y="76009"/>
                </a:moveTo>
                <a:lnTo>
                  <a:pt x="7620" y="76009"/>
                </a:lnTo>
                <a:lnTo>
                  <a:pt x="7620" y="72199"/>
                </a:lnTo>
                <a:lnTo>
                  <a:pt x="594004" y="72199"/>
                </a:lnTo>
                <a:lnTo>
                  <a:pt x="597814" y="68389"/>
                </a:lnTo>
                <a:lnTo>
                  <a:pt x="601624" y="68389"/>
                </a:lnTo>
                <a:lnTo>
                  <a:pt x="601624" y="76009"/>
                </a:lnTo>
                <a:close/>
              </a:path>
              <a:path w="729615" h="270510">
                <a:moveTo>
                  <a:pt x="7620" y="76009"/>
                </a:moveTo>
                <a:lnTo>
                  <a:pt x="3810" y="76009"/>
                </a:lnTo>
                <a:lnTo>
                  <a:pt x="7620" y="72199"/>
                </a:lnTo>
                <a:lnTo>
                  <a:pt x="7620" y="76009"/>
                </a:lnTo>
                <a:close/>
              </a:path>
              <a:path w="729615" h="270510">
                <a:moveTo>
                  <a:pt x="721118" y="137896"/>
                </a:moveTo>
                <a:lnTo>
                  <a:pt x="718426" y="135204"/>
                </a:lnTo>
                <a:lnTo>
                  <a:pt x="721118" y="132511"/>
                </a:lnTo>
                <a:lnTo>
                  <a:pt x="721118" y="137896"/>
                </a:lnTo>
                <a:close/>
              </a:path>
              <a:path w="729615" h="270510">
                <a:moveTo>
                  <a:pt x="726503" y="137896"/>
                </a:moveTo>
                <a:lnTo>
                  <a:pt x="721118" y="137896"/>
                </a:lnTo>
                <a:lnTo>
                  <a:pt x="721118" y="132511"/>
                </a:lnTo>
                <a:lnTo>
                  <a:pt x="726503" y="132511"/>
                </a:lnTo>
                <a:lnTo>
                  <a:pt x="729195" y="135204"/>
                </a:lnTo>
                <a:lnTo>
                  <a:pt x="726503" y="137896"/>
                </a:lnTo>
                <a:close/>
              </a:path>
              <a:path w="729615" h="270510">
                <a:moveTo>
                  <a:pt x="603199" y="261200"/>
                </a:moveTo>
                <a:lnTo>
                  <a:pt x="601624" y="261200"/>
                </a:lnTo>
                <a:lnTo>
                  <a:pt x="601624" y="252006"/>
                </a:lnTo>
                <a:lnTo>
                  <a:pt x="718426" y="135204"/>
                </a:lnTo>
                <a:lnTo>
                  <a:pt x="721118" y="137896"/>
                </a:lnTo>
                <a:lnTo>
                  <a:pt x="726503" y="137896"/>
                </a:lnTo>
                <a:lnTo>
                  <a:pt x="603199" y="261200"/>
                </a:lnTo>
                <a:close/>
              </a:path>
              <a:path w="729615" h="270510">
                <a:moveTo>
                  <a:pt x="7620" y="198196"/>
                </a:moveTo>
                <a:lnTo>
                  <a:pt x="3810" y="194386"/>
                </a:lnTo>
                <a:lnTo>
                  <a:pt x="7620" y="194386"/>
                </a:lnTo>
                <a:lnTo>
                  <a:pt x="7620" y="198196"/>
                </a:lnTo>
                <a:close/>
              </a:path>
              <a:path w="729615" h="270510">
                <a:moveTo>
                  <a:pt x="601624" y="202006"/>
                </a:moveTo>
                <a:lnTo>
                  <a:pt x="597814" y="202006"/>
                </a:lnTo>
                <a:lnTo>
                  <a:pt x="594004" y="198196"/>
                </a:lnTo>
                <a:lnTo>
                  <a:pt x="7620" y="198196"/>
                </a:lnTo>
                <a:lnTo>
                  <a:pt x="7620" y="194386"/>
                </a:lnTo>
                <a:lnTo>
                  <a:pt x="601624" y="194386"/>
                </a:lnTo>
                <a:lnTo>
                  <a:pt x="601624" y="202006"/>
                </a:lnTo>
                <a:close/>
              </a:path>
              <a:path w="729615" h="270510">
                <a:moveTo>
                  <a:pt x="594004" y="270395"/>
                </a:moveTo>
                <a:lnTo>
                  <a:pt x="594004" y="198196"/>
                </a:lnTo>
                <a:lnTo>
                  <a:pt x="597814" y="202006"/>
                </a:lnTo>
                <a:lnTo>
                  <a:pt x="601624" y="202006"/>
                </a:lnTo>
                <a:lnTo>
                  <a:pt x="601624" y="252006"/>
                </a:lnTo>
                <a:lnTo>
                  <a:pt x="595122" y="258508"/>
                </a:lnTo>
                <a:lnTo>
                  <a:pt x="601624" y="261200"/>
                </a:lnTo>
                <a:lnTo>
                  <a:pt x="603199" y="261200"/>
                </a:lnTo>
                <a:lnTo>
                  <a:pt x="594004" y="270395"/>
                </a:lnTo>
                <a:close/>
              </a:path>
              <a:path w="729615" h="270510">
                <a:moveTo>
                  <a:pt x="601624" y="261200"/>
                </a:moveTo>
                <a:lnTo>
                  <a:pt x="595122" y="258508"/>
                </a:lnTo>
                <a:lnTo>
                  <a:pt x="601624" y="252006"/>
                </a:lnTo>
                <a:lnTo>
                  <a:pt x="601624" y="261200"/>
                </a:lnTo>
                <a:close/>
              </a:path>
            </a:pathLst>
          </a:custGeom>
          <a:solidFill>
            <a:srgbClr val="006C39"/>
          </a:solidFill>
        </p:spPr>
        <p:txBody>
          <a:bodyPr wrap="square" lIns="0" tIns="0" rIns="0" bIns="0" rtlCol="0"/>
          <a:lstStyle/>
          <a:p>
            <a:endParaRPr/>
          </a:p>
        </p:txBody>
      </p:sp>
      <p:sp>
        <p:nvSpPr>
          <p:cNvPr id="16" name="object 16"/>
          <p:cNvSpPr/>
          <p:nvPr/>
        </p:nvSpPr>
        <p:spPr>
          <a:xfrm>
            <a:off x="6202679" y="4123944"/>
            <a:ext cx="720851" cy="252983"/>
          </a:xfrm>
          <a:prstGeom prst="rect">
            <a:avLst/>
          </a:prstGeom>
          <a:blipFill>
            <a:blip r:embed="rId5" cstate="print"/>
            <a:stretch>
              <a:fillRect/>
            </a:stretch>
          </a:blipFill>
        </p:spPr>
        <p:txBody>
          <a:bodyPr wrap="square" lIns="0" tIns="0" rIns="0" bIns="0" rtlCol="0"/>
          <a:lstStyle/>
          <a:p>
            <a:endParaRPr/>
          </a:p>
        </p:txBody>
      </p:sp>
      <p:sp>
        <p:nvSpPr>
          <p:cNvPr id="17" name="object 17"/>
          <p:cNvSpPr/>
          <p:nvPr/>
        </p:nvSpPr>
        <p:spPr>
          <a:xfrm>
            <a:off x="6197409" y="4115485"/>
            <a:ext cx="729615" cy="270510"/>
          </a:xfrm>
          <a:custGeom>
            <a:avLst/>
            <a:gdLst/>
            <a:ahLst/>
            <a:cxnLst/>
            <a:rect l="l" t="t" r="r" b="b"/>
            <a:pathLst>
              <a:path w="729615" h="270510">
                <a:moveTo>
                  <a:pt x="135191" y="270395"/>
                </a:moveTo>
                <a:lnTo>
                  <a:pt x="0" y="135191"/>
                </a:lnTo>
                <a:lnTo>
                  <a:pt x="135191" y="0"/>
                </a:lnTo>
                <a:lnTo>
                  <a:pt x="135191" y="9194"/>
                </a:lnTo>
                <a:lnTo>
                  <a:pt x="127571" y="9194"/>
                </a:lnTo>
                <a:lnTo>
                  <a:pt x="127571" y="18389"/>
                </a:lnTo>
                <a:lnTo>
                  <a:pt x="13461" y="132499"/>
                </a:lnTo>
                <a:lnTo>
                  <a:pt x="8077" y="132499"/>
                </a:lnTo>
                <a:lnTo>
                  <a:pt x="8077" y="137883"/>
                </a:lnTo>
                <a:lnTo>
                  <a:pt x="13461" y="137883"/>
                </a:lnTo>
                <a:lnTo>
                  <a:pt x="127571" y="251993"/>
                </a:lnTo>
                <a:lnTo>
                  <a:pt x="127571" y="261200"/>
                </a:lnTo>
                <a:lnTo>
                  <a:pt x="135191" y="261200"/>
                </a:lnTo>
                <a:lnTo>
                  <a:pt x="135191" y="270395"/>
                </a:lnTo>
                <a:close/>
              </a:path>
              <a:path w="729615" h="270510">
                <a:moveTo>
                  <a:pt x="127571" y="18389"/>
                </a:moveTo>
                <a:lnTo>
                  <a:pt x="127571" y="9194"/>
                </a:lnTo>
                <a:lnTo>
                  <a:pt x="134073" y="11887"/>
                </a:lnTo>
                <a:lnTo>
                  <a:pt x="127571" y="18389"/>
                </a:lnTo>
                <a:close/>
              </a:path>
              <a:path w="729615" h="270510">
                <a:moveTo>
                  <a:pt x="721575" y="76009"/>
                </a:moveTo>
                <a:lnTo>
                  <a:pt x="127571" y="76009"/>
                </a:lnTo>
                <a:lnTo>
                  <a:pt x="127571" y="18389"/>
                </a:lnTo>
                <a:lnTo>
                  <a:pt x="134073" y="11887"/>
                </a:lnTo>
                <a:lnTo>
                  <a:pt x="127571" y="9194"/>
                </a:lnTo>
                <a:lnTo>
                  <a:pt x="135191" y="9194"/>
                </a:lnTo>
                <a:lnTo>
                  <a:pt x="135191" y="68389"/>
                </a:lnTo>
                <a:lnTo>
                  <a:pt x="131381" y="68389"/>
                </a:lnTo>
                <a:lnTo>
                  <a:pt x="135191" y="72199"/>
                </a:lnTo>
                <a:lnTo>
                  <a:pt x="721575" y="72199"/>
                </a:lnTo>
                <a:lnTo>
                  <a:pt x="721575" y="76009"/>
                </a:lnTo>
                <a:close/>
              </a:path>
              <a:path w="729615" h="270510">
                <a:moveTo>
                  <a:pt x="135191" y="72199"/>
                </a:moveTo>
                <a:lnTo>
                  <a:pt x="131381" y="68389"/>
                </a:lnTo>
                <a:lnTo>
                  <a:pt x="135191" y="68389"/>
                </a:lnTo>
                <a:lnTo>
                  <a:pt x="135191" y="72199"/>
                </a:lnTo>
                <a:close/>
              </a:path>
              <a:path w="729615" h="270510">
                <a:moveTo>
                  <a:pt x="729195" y="76009"/>
                </a:moveTo>
                <a:lnTo>
                  <a:pt x="725385" y="76009"/>
                </a:lnTo>
                <a:lnTo>
                  <a:pt x="721575" y="72199"/>
                </a:lnTo>
                <a:lnTo>
                  <a:pt x="135191" y="72199"/>
                </a:lnTo>
                <a:lnTo>
                  <a:pt x="135191" y="68389"/>
                </a:lnTo>
                <a:lnTo>
                  <a:pt x="729195" y="68389"/>
                </a:lnTo>
                <a:lnTo>
                  <a:pt x="729195" y="76009"/>
                </a:lnTo>
                <a:close/>
              </a:path>
              <a:path w="729615" h="270510">
                <a:moveTo>
                  <a:pt x="721575" y="198196"/>
                </a:moveTo>
                <a:lnTo>
                  <a:pt x="721575" y="72199"/>
                </a:lnTo>
                <a:lnTo>
                  <a:pt x="725385" y="76009"/>
                </a:lnTo>
                <a:lnTo>
                  <a:pt x="729195" y="76009"/>
                </a:lnTo>
                <a:lnTo>
                  <a:pt x="729195" y="194386"/>
                </a:lnTo>
                <a:lnTo>
                  <a:pt x="725385" y="194386"/>
                </a:lnTo>
                <a:lnTo>
                  <a:pt x="721575" y="198196"/>
                </a:lnTo>
                <a:close/>
              </a:path>
              <a:path w="729615" h="270510">
                <a:moveTo>
                  <a:pt x="8077" y="137883"/>
                </a:moveTo>
                <a:lnTo>
                  <a:pt x="8077" y="132499"/>
                </a:lnTo>
                <a:lnTo>
                  <a:pt x="10769" y="135191"/>
                </a:lnTo>
                <a:lnTo>
                  <a:pt x="8077" y="137883"/>
                </a:lnTo>
                <a:close/>
              </a:path>
              <a:path w="729615" h="270510">
                <a:moveTo>
                  <a:pt x="10769" y="135191"/>
                </a:moveTo>
                <a:lnTo>
                  <a:pt x="8077" y="132499"/>
                </a:lnTo>
                <a:lnTo>
                  <a:pt x="13461" y="132499"/>
                </a:lnTo>
                <a:lnTo>
                  <a:pt x="10769" y="135191"/>
                </a:lnTo>
                <a:close/>
              </a:path>
              <a:path w="729615" h="270510">
                <a:moveTo>
                  <a:pt x="13461" y="137883"/>
                </a:moveTo>
                <a:lnTo>
                  <a:pt x="8077" y="137883"/>
                </a:lnTo>
                <a:lnTo>
                  <a:pt x="10769" y="135191"/>
                </a:lnTo>
                <a:lnTo>
                  <a:pt x="13461" y="137883"/>
                </a:lnTo>
                <a:close/>
              </a:path>
              <a:path w="729615" h="270510">
                <a:moveTo>
                  <a:pt x="135191" y="261200"/>
                </a:moveTo>
                <a:lnTo>
                  <a:pt x="127571" y="261200"/>
                </a:lnTo>
                <a:lnTo>
                  <a:pt x="134073" y="258495"/>
                </a:lnTo>
                <a:lnTo>
                  <a:pt x="127571" y="251993"/>
                </a:lnTo>
                <a:lnTo>
                  <a:pt x="127571" y="194386"/>
                </a:lnTo>
                <a:lnTo>
                  <a:pt x="721575" y="194386"/>
                </a:lnTo>
                <a:lnTo>
                  <a:pt x="721575" y="198196"/>
                </a:lnTo>
                <a:lnTo>
                  <a:pt x="135191" y="198196"/>
                </a:lnTo>
                <a:lnTo>
                  <a:pt x="131381" y="202006"/>
                </a:lnTo>
                <a:lnTo>
                  <a:pt x="135191" y="202006"/>
                </a:lnTo>
                <a:lnTo>
                  <a:pt x="135191" y="261200"/>
                </a:lnTo>
                <a:close/>
              </a:path>
              <a:path w="729615" h="270510">
                <a:moveTo>
                  <a:pt x="729195" y="202006"/>
                </a:moveTo>
                <a:lnTo>
                  <a:pt x="135191" y="202006"/>
                </a:lnTo>
                <a:lnTo>
                  <a:pt x="135191" y="198196"/>
                </a:lnTo>
                <a:lnTo>
                  <a:pt x="721575" y="198196"/>
                </a:lnTo>
                <a:lnTo>
                  <a:pt x="725385" y="194386"/>
                </a:lnTo>
                <a:lnTo>
                  <a:pt x="729195" y="194386"/>
                </a:lnTo>
                <a:lnTo>
                  <a:pt x="729195" y="202006"/>
                </a:lnTo>
                <a:close/>
              </a:path>
              <a:path w="729615" h="270510">
                <a:moveTo>
                  <a:pt x="135191" y="202006"/>
                </a:moveTo>
                <a:lnTo>
                  <a:pt x="131381" y="202006"/>
                </a:lnTo>
                <a:lnTo>
                  <a:pt x="135191" y="198196"/>
                </a:lnTo>
                <a:lnTo>
                  <a:pt x="135191" y="202006"/>
                </a:lnTo>
                <a:close/>
              </a:path>
              <a:path w="729615" h="270510">
                <a:moveTo>
                  <a:pt x="127571" y="261200"/>
                </a:moveTo>
                <a:lnTo>
                  <a:pt x="127571" y="251993"/>
                </a:lnTo>
                <a:lnTo>
                  <a:pt x="134073" y="258495"/>
                </a:lnTo>
                <a:lnTo>
                  <a:pt x="127571" y="261200"/>
                </a:lnTo>
                <a:close/>
              </a:path>
            </a:pathLst>
          </a:custGeom>
          <a:solidFill>
            <a:srgbClr val="006C39"/>
          </a:solidFill>
        </p:spPr>
        <p:txBody>
          <a:bodyPr wrap="square" lIns="0" tIns="0" rIns="0" bIns="0" rtlCol="0"/>
          <a:lstStyle/>
          <a:p>
            <a:endParaRPr/>
          </a:p>
        </p:txBody>
      </p:sp>
      <p:sp>
        <p:nvSpPr>
          <p:cNvPr id="18" name="object 18"/>
          <p:cNvSpPr txBox="1"/>
          <p:nvPr/>
        </p:nvSpPr>
        <p:spPr>
          <a:xfrm>
            <a:off x="560552" y="4783582"/>
            <a:ext cx="3736340" cy="331470"/>
          </a:xfrm>
          <a:prstGeom prst="rect">
            <a:avLst/>
          </a:prstGeom>
        </p:spPr>
        <p:txBody>
          <a:bodyPr vert="horz" wrap="square" lIns="0" tIns="13335" rIns="0" bIns="0" rtlCol="0">
            <a:spAutoFit/>
          </a:bodyPr>
          <a:lstStyle/>
          <a:p>
            <a:pPr marL="38100">
              <a:lnSpc>
                <a:spcPct val="100000"/>
              </a:lnSpc>
              <a:spcBef>
                <a:spcPts val="105"/>
              </a:spcBef>
              <a:tabLst>
                <a:tab pos="1876425" algn="l"/>
              </a:tabLst>
            </a:pPr>
            <a:r>
              <a:rPr sz="3000" spc="-22" baseline="33333" dirty="0">
                <a:latin typeface="微软雅黑"/>
                <a:cs typeface="微软雅黑"/>
              </a:rPr>
              <a:t>Student</a:t>
            </a:r>
            <a:r>
              <a:rPr sz="3000" spc="7" baseline="33333" dirty="0">
                <a:latin typeface="微软雅黑"/>
                <a:cs typeface="微软雅黑"/>
              </a:rPr>
              <a:t>类</a:t>
            </a:r>
            <a:r>
              <a:rPr sz="3000" u="sng" spc="7" baseline="33333" dirty="0">
                <a:uFill>
                  <a:solidFill>
                    <a:srgbClr val="006C39"/>
                  </a:solidFill>
                </a:uFill>
                <a:latin typeface="微软雅黑"/>
                <a:cs typeface="微软雅黑"/>
              </a:rPr>
              <a:t> 	</a:t>
            </a:r>
            <a:r>
              <a:rPr sz="1800" spc="-10" dirty="0">
                <a:latin typeface="微软雅黑"/>
                <a:cs typeface="微软雅黑"/>
              </a:rPr>
              <a:t>serialVersionUID</a:t>
            </a:r>
            <a:endParaRPr sz="1800">
              <a:latin typeface="微软雅黑"/>
              <a:cs typeface="微软雅黑"/>
            </a:endParaRPr>
          </a:p>
        </p:txBody>
      </p:sp>
      <p:sp>
        <p:nvSpPr>
          <p:cNvPr id="19" name="object 19"/>
          <p:cNvSpPr/>
          <p:nvPr/>
        </p:nvSpPr>
        <p:spPr>
          <a:xfrm>
            <a:off x="5270081" y="4455744"/>
            <a:ext cx="0" cy="497840"/>
          </a:xfrm>
          <a:custGeom>
            <a:avLst/>
            <a:gdLst/>
            <a:ahLst/>
            <a:cxnLst/>
            <a:rect l="l" t="t" r="r" b="b"/>
            <a:pathLst>
              <a:path h="497839">
                <a:moveTo>
                  <a:pt x="0" y="0"/>
                </a:moveTo>
                <a:lnTo>
                  <a:pt x="0" y="497814"/>
                </a:lnTo>
              </a:path>
            </a:pathLst>
          </a:custGeom>
          <a:ln w="7620">
            <a:solidFill>
              <a:srgbClr val="006C39"/>
            </a:solidFill>
          </a:ln>
        </p:spPr>
        <p:txBody>
          <a:bodyPr wrap="square" lIns="0" tIns="0" rIns="0" bIns="0" rtlCol="0"/>
          <a:lstStyle/>
          <a:p>
            <a:endParaRPr/>
          </a:p>
        </p:txBody>
      </p:sp>
      <p:sp>
        <p:nvSpPr>
          <p:cNvPr id="20" name="object 20"/>
          <p:cNvSpPr/>
          <p:nvPr/>
        </p:nvSpPr>
        <p:spPr>
          <a:xfrm>
            <a:off x="4333976" y="4913033"/>
            <a:ext cx="936625" cy="76200"/>
          </a:xfrm>
          <a:custGeom>
            <a:avLst/>
            <a:gdLst/>
            <a:ahLst/>
            <a:cxnLst/>
            <a:rect l="l" t="t" r="r" b="b"/>
            <a:pathLst>
              <a:path w="936625" h="76200">
                <a:moveTo>
                  <a:pt x="76200" y="76200"/>
                </a:moveTo>
                <a:lnTo>
                  <a:pt x="0" y="38100"/>
                </a:lnTo>
                <a:lnTo>
                  <a:pt x="76200" y="0"/>
                </a:lnTo>
                <a:lnTo>
                  <a:pt x="76200" y="34289"/>
                </a:lnTo>
                <a:lnTo>
                  <a:pt x="57150" y="34289"/>
                </a:lnTo>
                <a:lnTo>
                  <a:pt x="57150" y="41910"/>
                </a:lnTo>
                <a:lnTo>
                  <a:pt x="76200" y="41910"/>
                </a:lnTo>
                <a:lnTo>
                  <a:pt x="76200" y="76200"/>
                </a:lnTo>
                <a:close/>
              </a:path>
              <a:path w="936625" h="76200">
                <a:moveTo>
                  <a:pt x="76200" y="41910"/>
                </a:moveTo>
                <a:lnTo>
                  <a:pt x="57150" y="41910"/>
                </a:lnTo>
                <a:lnTo>
                  <a:pt x="57150" y="34289"/>
                </a:lnTo>
                <a:lnTo>
                  <a:pt x="76200" y="34289"/>
                </a:lnTo>
                <a:lnTo>
                  <a:pt x="76200" y="41910"/>
                </a:lnTo>
                <a:close/>
              </a:path>
              <a:path w="936625" h="76200">
                <a:moveTo>
                  <a:pt x="936104" y="41910"/>
                </a:moveTo>
                <a:lnTo>
                  <a:pt x="76200" y="41910"/>
                </a:lnTo>
                <a:lnTo>
                  <a:pt x="76200" y="34289"/>
                </a:lnTo>
                <a:lnTo>
                  <a:pt x="936104" y="34289"/>
                </a:lnTo>
                <a:lnTo>
                  <a:pt x="936104" y="41910"/>
                </a:lnTo>
                <a:close/>
              </a:path>
            </a:pathLst>
          </a:custGeom>
          <a:solidFill>
            <a:srgbClr val="006C39"/>
          </a:solidFill>
        </p:spPr>
        <p:txBody>
          <a:bodyPr wrap="square" lIns="0" tIns="0" rIns="0" bIns="0" rtlCol="0"/>
          <a:lstStyle/>
          <a:p>
            <a:endParaRPr/>
          </a:p>
        </p:txBody>
      </p:sp>
      <p:sp>
        <p:nvSpPr>
          <p:cNvPr id="21" name="object 21"/>
          <p:cNvSpPr/>
          <p:nvPr/>
        </p:nvSpPr>
        <p:spPr>
          <a:xfrm>
            <a:off x="333044" y="3220605"/>
            <a:ext cx="1737995" cy="441959"/>
          </a:xfrm>
          <a:custGeom>
            <a:avLst/>
            <a:gdLst/>
            <a:ahLst/>
            <a:cxnLst/>
            <a:rect l="l" t="t" r="r" b="b"/>
            <a:pathLst>
              <a:path w="1737995" h="441960">
                <a:moveTo>
                  <a:pt x="1732953" y="441578"/>
                </a:moveTo>
                <a:lnTo>
                  <a:pt x="4762" y="441578"/>
                </a:lnTo>
                <a:lnTo>
                  <a:pt x="3289" y="441337"/>
                </a:lnTo>
                <a:lnTo>
                  <a:pt x="1968" y="440664"/>
                </a:lnTo>
                <a:lnTo>
                  <a:pt x="914" y="439610"/>
                </a:lnTo>
                <a:lnTo>
                  <a:pt x="228" y="438289"/>
                </a:lnTo>
                <a:lnTo>
                  <a:pt x="0" y="436816"/>
                </a:lnTo>
                <a:lnTo>
                  <a:pt x="0" y="4762"/>
                </a:lnTo>
                <a:lnTo>
                  <a:pt x="4762" y="0"/>
                </a:lnTo>
                <a:lnTo>
                  <a:pt x="1732953" y="0"/>
                </a:lnTo>
                <a:lnTo>
                  <a:pt x="1737715" y="4762"/>
                </a:lnTo>
                <a:lnTo>
                  <a:pt x="9525" y="4762"/>
                </a:lnTo>
                <a:lnTo>
                  <a:pt x="4762" y="9525"/>
                </a:lnTo>
                <a:lnTo>
                  <a:pt x="9525" y="9525"/>
                </a:lnTo>
                <a:lnTo>
                  <a:pt x="9525" y="432053"/>
                </a:lnTo>
                <a:lnTo>
                  <a:pt x="4762" y="432053"/>
                </a:lnTo>
                <a:lnTo>
                  <a:pt x="9525" y="436816"/>
                </a:lnTo>
                <a:lnTo>
                  <a:pt x="1737715" y="436816"/>
                </a:lnTo>
                <a:lnTo>
                  <a:pt x="1737487" y="438289"/>
                </a:lnTo>
                <a:lnTo>
                  <a:pt x="1736801" y="439610"/>
                </a:lnTo>
                <a:lnTo>
                  <a:pt x="1735759" y="440664"/>
                </a:lnTo>
                <a:lnTo>
                  <a:pt x="1734426" y="441337"/>
                </a:lnTo>
                <a:lnTo>
                  <a:pt x="1732953" y="441578"/>
                </a:lnTo>
                <a:close/>
              </a:path>
              <a:path w="1737995" h="441960">
                <a:moveTo>
                  <a:pt x="9525" y="9525"/>
                </a:moveTo>
                <a:lnTo>
                  <a:pt x="4762" y="9525"/>
                </a:lnTo>
                <a:lnTo>
                  <a:pt x="9525" y="4762"/>
                </a:lnTo>
                <a:lnTo>
                  <a:pt x="9525" y="9525"/>
                </a:lnTo>
                <a:close/>
              </a:path>
              <a:path w="1737995" h="441960">
                <a:moveTo>
                  <a:pt x="1728190" y="9525"/>
                </a:moveTo>
                <a:lnTo>
                  <a:pt x="9525" y="9525"/>
                </a:lnTo>
                <a:lnTo>
                  <a:pt x="9525" y="4762"/>
                </a:lnTo>
                <a:lnTo>
                  <a:pt x="1728190" y="4762"/>
                </a:lnTo>
                <a:lnTo>
                  <a:pt x="1728190" y="9525"/>
                </a:lnTo>
                <a:close/>
              </a:path>
              <a:path w="1737995" h="441960">
                <a:moveTo>
                  <a:pt x="1728190" y="436816"/>
                </a:moveTo>
                <a:lnTo>
                  <a:pt x="1728190" y="4762"/>
                </a:lnTo>
                <a:lnTo>
                  <a:pt x="1732953" y="9525"/>
                </a:lnTo>
                <a:lnTo>
                  <a:pt x="1737715" y="9525"/>
                </a:lnTo>
                <a:lnTo>
                  <a:pt x="1737715" y="432053"/>
                </a:lnTo>
                <a:lnTo>
                  <a:pt x="1732953" y="432053"/>
                </a:lnTo>
                <a:lnTo>
                  <a:pt x="1728190" y="436816"/>
                </a:lnTo>
                <a:close/>
              </a:path>
              <a:path w="1737995" h="441960">
                <a:moveTo>
                  <a:pt x="1737715" y="9525"/>
                </a:moveTo>
                <a:lnTo>
                  <a:pt x="1732953" y="9525"/>
                </a:lnTo>
                <a:lnTo>
                  <a:pt x="1728190" y="4762"/>
                </a:lnTo>
                <a:lnTo>
                  <a:pt x="1737715" y="4762"/>
                </a:lnTo>
                <a:lnTo>
                  <a:pt x="1737715" y="9525"/>
                </a:lnTo>
                <a:close/>
              </a:path>
              <a:path w="1737995" h="441960">
                <a:moveTo>
                  <a:pt x="9525" y="436816"/>
                </a:moveTo>
                <a:lnTo>
                  <a:pt x="4762" y="432053"/>
                </a:lnTo>
                <a:lnTo>
                  <a:pt x="9525" y="432053"/>
                </a:lnTo>
                <a:lnTo>
                  <a:pt x="9525" y="436816"/>
                </a:lnTo>
                <a:close/>
              </a:path>
              <a:path w="1737995" h="441960">
                <a:moveTo>
                  <a:pt x="1728190" y="436816"/>
                </a:moveTo>
                <a:lnTo>
                  <a:pt x="9525" y="436816"/>
                </a:lnTo>
                <a:lnTo>
                  <a:pt x="9525" y="432053"/>
                </a:lnTo>
                <a:lnTo>
                  <a:pt x="1728190" y="432053"/>
                </a:lnTo>
                <a:lnTo>
                  <a:pt x="1728190" y="436816"/>
                </a:lnTo>
                <a:close/>
              </a:path>
              <a:path w="1737995" h="441960">
                <a:moveTo>
                  <a:pt x="1737715" y="436816"/>
                </a:moveTo>
                <a:lnTo>
                  <a:pt x="1728190" y="436816"/>
                </a:lnTo>
                <a:lnTo>
                  <a:pt x="1732953" y="432053"/>
                </a:lnTo>
                <a:lnTo>
                  <a:pt x="1737715" y="432053"/>
                </a:lnTo>
                <a:lnTo>
                  <a:pt x="1737715" y="436816"/>
                </a:lnTo>
                <a:close/>
              </a:path>
            </a:pathLst>
          </a:custGeom>
          <a:solidFill>
            <a:srgbClr val="006C39"/>
          </a:solidFill>
        </p:spPr>
        <p:txBody>
          <a:bodyPr wrap="square" lIns="0" tIns="0" rIns="0" bIns="0" rtlCol="0"/>
          <a:lstStyle/>
          <a:p>
            <a:endParaRPr/>
          </a:p>
        </p:txBody>
      </p:sp>
      <p:sp>
        <p:nvSpPr>
          <p:cNvPr id="22" name="object 22"/>
          <p:cNvSpPr txBox="1"/>
          <p:nvPr/>
        </p:nvSpPr>
        <p:spPr>
          <a:xfrm>
            <a:off x="487667" y="3245380"/>
            <a:ext cx="1428115" cy="1262380"/>
          </a:xfrm>
          <a:prstGeom prst="rect">
            <a:avLst/>
          </a:prstGeom>
        </p:spPr>
        <p:txBody>
          <a:bodyPr vert="horz" wrap="square" lIns="0" tIns="60960" rIns="0" bIns="0" rtlCol="0">
            <a:spAutoFit/>
          </a:bodyPr>
          <a:lstStyle/>
          <a:p>
            <a:pPr algn="ctr">
              <a:lnSpc>
                <a:spcPct val="100000"/>
              </a:lnSpc>
              <a:spcBef>
                <a:spcPts val="480"/>
              </a:spcBef>
            </a:pPr>
            <a:r>
              <a:rPr sz="1600" b="1" spc="-5" dirty="0">
                <a:latin typeface="Calibri"/>
                <a:cs typeface="Calibri"/>
              </a:rPr>
              <a:t>serial</a:t>
            </a:r>
            <a:r>
              <a:rPr sz="1600" b="1" spc="-90" dirty="0">
                <a:latin typeface="Calibri"/>
                <a:cs typeface="Calibri"/>
              </a:rPr>
              <a:t>V</a:t>
            </a:r>
            <a:r>
              <a:rPr sz="1600" b="1" spc="-5" dirty="0">
                <a:latin typeface="Calibri"/>
                <a:cs typeface="Calibri"/>
              </a:rPr>
              <a:t>e</a:t>
            </a:r>
            <a:r>
              <a:rPr sz="1600" b="1" spc="-25" dirty="0">
                <a:latin typeface="Calibri"/>
                <a:cs typeface="Calibri"/>
              </a:rPr>
              <a:t>r</a:t>
            </a:r>
            <a:r>
              <a:rPr sz="1600" b="1" spc="-5" dirty="0">
                <a:latin typeface="Calibri"/>
                <a:cs typeface="Calibri"/>
              </a:rPr>
              <a:t>sionU</a:t>
            </a:r>
            <a:r>
              <a:rPr sz="1600" b="1" spc="-10" dirty="0">
                <a:latin typeface="Calibri"/>
                <a:cs typeface="Calibri"/>
              </a:rPr>
              <a:t>I</a:t>
            </a:r>
            <a:r>
              <a:rPr sz="1600" b="1" spc="-5" dirty="0">
                <a:latin typeface="Calibri"/>
                <a:cs typeface="Calibri"/>
              </a:rPr>
              <a:t>D</a:t>
            </a:r>
            <a:endParaRPr sz="1600">
              <a:latin typeface="Calibri"/>
              <a:cs typeface="Calibri"/>
            </a:endParaRPr>
          </a:p>
          <a:p>
            <a:pPr marL="304800" marR="297180" algn="ctr">
              <a:lnSpc>
                <a:spcPct val="101200"/>
              </a:lnSpc>
              <a:spcBef>
                <a:spcPts val="635"/>
              </a:spcBef>
            </a:pPr>
            <a:r>
              <a:rPr sz="2800" spc="-5" dirty="0">
                <a:latin typeface="Calibri"/>
                <a:cs typeface="Calibri"/>
              </a:rPr>
              <a:t>name  </a:t>
            </a:r>
            <a:r>
              <a:rPr sz="2800" spc="-15" dirty="0">
                <a:latin typeface="Calibri"/>
                <a:cs typeface="Calibri"/>
              </a:rPr>
              <a:t>age</a:t>
            </a:r>
            <a:endParaRPr sz="2800">
              <a:latin typeface="Calibri"/>
              <a:cs typeface="Calibri"/>
            </a:endParaRPr>
          </a:p>
        </p:txBody>
      </p:sp>
      <p:sp>
        <p:nvSpPr>
          <p:cNvPr id="23" name="object 23"/>
          <p:cNvSpPr/>
          <p:nvPr/>
        </p:nvSpPr>
        <p:spPr>
          <a:xfrm>
            <a:off x="1862442" y="4531867"/>
            <a:ext cx="76200" cy="434975"/>
          </a:xfrm>
          <a:custGeom>
            <a:avLst/>
            <a:gdLst/>
            <a:ahLst/>
            <a:cxnLst/>
            <a:rect l="l" t="t" r="r" b="b"/>
            <a:pathLst>
              <a:path w="76200" h="434975">
                <a:moveTo>
                  <a:pt x="34289" y="76200"/>
                </a:moveTo>
                <a:lnTo>
                  <a:pt x="0" y="76200"/>
                </a:lnTo>
                <a:lnTo>
                  <a:pt x="38100" y="0"/>
                </a:lnTo>
                <a:lnTo>
                  <a:pt x="66675" y="57150"/>
                </a:lnTo>
                <a:lnTo>
                  <a:pt x="34289" y="57150"/>
                </a:lnTo>
                <a:lnTo>
                  <a:pt x="34289" y="76200"/>
                </a:lnTo>
                <a:close/>
              </a:path>
              <a:path w="76200" h="434975">
                <a:moveTo>
                  <a:pt x="41910" y="434467"/>
                </a:moveTo>
                <a:lnTo>
                  <a:pt x="34289" y="434467"/>
                </a:lnTo>
                <a:lnTo>
                  <a:pt x="34289" y="57150"/>
                </a:lnTo>
                <a:lnTo>
                  <a:pt x="41910" y="57150"/>
                </a:lnTo>
                <a:lnTo>
                  <a:pt x="41910" y="434467"/>
                </a:lnTo>
                <a:close/>
              </a:path>
              <a:path w="76200" h="434975">
                <a:moveTo>
                  <a:pt x="76200" y="76200"/>
                </a:moveTo>
                <a:lnTo>
                  <a:pt x="41910" y="76200"/>
                </a:lnTo>
                <a:lnTo>
                  <a:pt x="41910" y="57150"/>
                </a:lnTo>
                <a:lnTo>
                  <a:pt x="66675" y="57150"/>
                </a:lnTo>
                <a:lnTo>
                  <a:pt x="76200" y="76200"/>
                </a:lnTo>
                <a:close/>
              </a:path>
            </a:pathLst>
          </a:custGeom>
          <a:solidFill>
            <a:srgbClr val="006C39"/>
          </a:solidFill>
        </p:spPr>
        <p:txBody>
          <a:bodyPr wrap="square" lIns="0" tIns="0" rIns="0" bIns="0" rtlCol="0"/>
          <a:lstStyle/>
          <a:p>
            <a:endParaRPr/>
          </a:p>
        </p:txBody>
      </p:sp>
      <p:sp>
        <p:nvSpPr>
          <p:cNvPr id="24" name="object 2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32</a:t>
            </a:fld>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3725" y="1486534"/>
            <a:ext cx="7475855" cy="1086485"/>
          </a:xfrm>
          <a:prstGeom prst="rect">
            <a:avLst/>
          </a:prstGeom>
        </p:spPr>
        <p:txBody>
          <a:bodyPr vert="horz" wrap="square" lIns="0" tIns="43815" rIns="0" bIns="0" rtlCol="0">
            <a:spAutoFit/>
          </a:bodyPr>
          <a:lstStyle/>
          <a:p>
            <a:pPr marL="184150" marR="5080" indent="-171450">
              <a:lnSpc>
                <a:spcPts val="1939"/>
              </a:lnSpc>
              <a:spcBef>
                <a:spcPts val="345"/>
              </a:spcBef>
              <a:buFont typeface="Arial"/>
              <a:buChar char="•"/>
              <a:tabLst>
                <a:tab pos="184150" algn="l"/>
              </a:tabLst>
            </a:pPr>
            <a:r>
              <a:rPr sz="1800" dirty="0">
                <a:latin typeface="微软雅黑"/>
                <a:cs typeface="微软雅黑"/>
              </a:rPr>
              <a:t>支持序列化的类使用常量</a:t>
            </a:r>
            <a:r>
              <a:rPr sz="1800" dirty="0">
                <a:solidFill>
                  <a:srgbClr val="FF0000"/>
                </a:solidFill>
                <a:latin typeface="微软雅黑"/>
                <a:cs typeface="微软雅黑"/>
              </a:rPr>
              <a:t>s</a:t>
            </a:r>
            <a:r>
              <a:rPr sz="1800" spc="-5" dirty="0">
                <a:solidFill>
                  <a:srgbClr val="FF0000"/>
                </a:solidFill>
                <a:latin typeface="微软雅黑"/>
                <a:cs typeface="微软雅黑"/>
              </a:rPr>
              <a:t>er</a:t>
            </a:r>
            <a:r>
              <a:rPr sz="1800" dirty="0">
                <a:solidFill>
                  <a:srgbClr val="FF0000"/>
                </a:solidFill>
                <a:latin typeface="微软雅黑"/>
                <a:cs typeface="微软雅黑"/>
              </a:rPr>
              <a:t>ial</a:t>
            </a:r>
            <a:r>
              <a:rPr sz="1800" spc="-130" dirty="0">
                <a:solidFill>
                  <a:srgbClr val="FF0000"/>
                </a:solidFill>
                <a:latin typeface="微软雅黑"/>
                <a:cs typeface="微软雅黑"/>
              </a:rPr>
              <a:t>V</a:t>
            </a:r>
            <a:r>
              <a:rPr sz="1800" spc="-5" dirty="0">
                <a:solidFill>
                  <a:srgbClr val="FF0000"/>
                </a:solidFill>
                <a:latin typeface="微软雅黑"/>
                <a:cs typeface="微软雅黑"/>
              </a:rPr>
              <a:t>e</a:t>
            </a:r>
            <a:r>
              <a:rPr sz="1800" spc="5" dirty="0">
                <a:solidFill>
                  <a:srgbClr val="FF0000"/>
                </a:solidFill>
                <a:latin typeface="微软雅黑"/>
                <a:cs typeface="微软雅黑"/>
              </a:rPr>
              <a:t>r</a:t>
            </a:r>
            <a:r>
              <a:rPr sz="1800" dirty="0">
                <a:solidFill>
                  <a:srgbClr val="FF0000"/>
                </a:solidFill>
                <a:latin typeface="微软雅黑"/>
                <a:cs typeface="微软雅黑"/>
              </a:rPr>
              <a:t>sionUI</a:t>
            </a:r>
            <a:r>
              <a:rPr sz="1800" spc="-5" dirty="0">
                <a:solidFill>
                  <a:srgbClr val="FF0000"/>
                </a:solidFill>
                <a:latin typeface="微软雅黑"/>
                <a:cs typeface="微软雅黑"/>
              </a:rPr>
              <a:t>D</a:t>
            </a:r>
            <a:r>
              <a:rPr sz="1800" dirty="0">
                <a:latin typeface="微软雅黑"/>
                <a:cs typeface="微软雅黑"/>
              </a:rPr>
              <a:t>标识可序列化对象的版本，从 而维持版本信息的一致。</a:t>
            </a:r>
            <a:endParaRPr sz="1800">
              <a:latin typeface="微软雅黑"/>
              <a:cs typeface="微软雅黑"/>
            </a:endParaRPr>
          </a:p>
          <a:p>
            <a:pPr marL="184150" marR="690880" indent="-171450">
              <a:lnSpc>
                <a:spcPts val="1939"/>
              </a:lnSpc>
              <a:spcBef>
                <a:spcPts val="375"/>
              </a:spcBef>
              <a:buFont typeface="Arial"/>
              <a:buChar char="•"/>
              <a:tabLst>
                <a:tab pos="184150" algn="l"/>
              </a:tabLst>
            </a:pPr>
            <a:r>
              <a:rPr sz="1800" dirty="0">
                <a:latin typeface="微软雅黑"/>
                <a:cs typeface="微软雅黑"/>
              </a:rPr>
              <a:t>为了提高s</a:t>
            </a:r>
            <a:r>
              <a:rPr sz="1800" spc="-5" dirty="0">
                <a:latin typeface="微软雅黑"/>
                <a:cs typeface="微软雅黑"/>
              </a:rPr>
              <a:t>er</a:t>
            </a:r>
            <a:r>
              <a:rPr sz="1800" dirty="0">
                <a:latin typeface="微软雅黑"/>
                <a:cs typeface="微软雅黑"/>
              </a:rPr>
              <a:t>ial</a:t>
            </a:r>
            <a:r>
              <a:rPr sz="1800" spc="-130" dirty="0">
                <a:latin typeface="微软雅黑"/>
                <a:cs typeface="微软雅黑"/>
              </a:rPr>
              <a:t>V</a:t>
            </a:r>
            <a:r>
              <a:rPr sz="1800" spc="-5" dirty="0">
                <a:latin typeface="微软雅黑"/>
                <a:cs typeface="微软雅黑"/>
              </a:rPr>
              <a:t>e</a:t>
            </a:r>
            <a:r>
              <a:rPr sz="1800" spc="5" dirty="0">
                <a:latin typeface="微软雅黑"/>
                <a:cs typeface="微软雅黑"/>
              </a:rPr>
              <a:t>r</a:t>
            </a:r>
            <a:r>
              <a:rPr sz="1800" dirty="0">
                <a:latin typeface="微软雅黑"/>
                <a:cs typeface="微软雅黑"/>
              </a:rPr>
              <a:t>sionUI</a:t>
            </a:r>
            <a:r>
              <a:rPr sz="1800" spc="-5" dirty="0">
                <a:latin typeface="微软雅黑"/>
                <a:cs typeface="微软雅黑"/>
              </a:rPr>
              <a:t>D</a:t>
            </a:r>
            <a:r>
              <a:rPr sz="1800" dirty="0">
                <a:latin typeface="微软雅黑"/>
                <a:cs typeface="微软雅黑"/>
              </a:rPr>
              <a:t>的独立性和确定性，</a:t>
            </a:r>
            <a:r>
              <a:rPr sz="1800" dirty="0">
                <a:solidFill>
                  <a:srgbClr val="FF0000"/>
                </a:solidFill>
                <a:latin typeface="微软雅黑"/>
                <a:cs typeface="微软雅黑"/>
              </a:rPr>
              <a:t>强烈建议显式定义  </a:t>
            </a:r>
            <a:r>
              <a:rPr sz="1800" spc="-10" dirty="0">
                <a:solidFill>
                  <a:srgbClr val="FF0000"/>
                </a:solidFill>
                <a:latin typeface="微软雅黑"/>
                <a:cs typeface="微软雅黑"/>
              </a:rPr>
              <a:t>serialVersionUID，</a:t>
            </a:r>
            <a:r>
              <a:rPr sz="1800" dirty="0">
                <a:solidFill>
                  <a:srgbClr val="FF0000"/>
                </a:solidFill>
                <a:latin typeface="微软雅黑"/>
                <a:cs typeface="微软雅黑"/>
              </a:rPr>
              <a:t>为它赋予明确的取值。</a:t>
            </a:r>
            <a:endParaRPr sz="1800">
              <a:latin typeface="微软雅黑"/>
              <a:cs typeface="微软雅黑"/>
            </a:endParaRPr>
          </a:p>
        </p:txBody>
      </p:sp>
      <p:sp>
        <p:nvSpPr>
          <p:cNvPr id="3" name="object 3"/>
          <p:cNvSpPr txBox="1">
            <a:spLocks noGrp="1"/>
          </p:cNvSpPr>
          <p:nvPr>
            <p:ph type="title"/>
          </p:nvPr>
        </p:nvSpPr>
        <p:spPr>
          <a:xfrm>
            <a:off x="1283652" y="44602"/>
            <a:ext cx="5040630" cy="953135"/>
          </a:xfrm>
          <a:prstGeom prst="rect">
            <a:avLst/>
          </a:prstGeom>
        </p:spPr>
        <p:txBody>
          <a:bodyPr vert="horz" wrap="square" lIns="0" tIns="69215" rIns="0" bIns="0" rtlCol="0">
            <a:spAutoFit/>
          </a:bodyPr>
          <a:lstStyle/>
          <a:p>
            <a:pPr marL="12700" marR="5080">
              <a:lnSpc>
                <a:spcPts val="3450"/>
              </a:lnSpc>
              <a:spcBef>
                <a:spcPts val="545"/>
              </a:spcBef>
            </a:pPr>
            <a:r>
              <a:rPr sz="3200" spc="-5" dirty="0"/>
              <a:t>12.2.6</a:t>
            </a:r>
            <a:r>
              <a:rPr sz="3200" spc="-80" dirty="0"/>
              <a:t> </a:t>
            </a:r>
            <a:r>
              <a:rPr sz="3200" dirty="0"/>
              <a:t>对象流与序列化接</a:t>
            </a:r>
            <a:r>
              <a:rPr sz="3200" spc="5" dirty="0"/>
              <a:t>口 </a:t>
            </a:r>
            <a:r>
              <a:rPr sz="3200" spc="-5" dirty="0"/>
              <a:t>Serializable</a:t>
            </a:r>
            <a:endParaRPr sz="3200"/>
          </a:p>
        </p:txBody>
      </p:sp>
      <p:sp>
        <p:nvSpPr>
          <p:cNvPr id="4" name="object 4"/>
          <p:cNvSpPr/>
          <p:nvPr/>
        </p:nvSpPr>
        <p:spPr>
          <a:xfrm>
            <a:off x="2234183" y="3220211"/>
            <a:ext cx="2161032" cy="25146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230564" y="3210471"/>
            <a:ext cx="2169795" cy="270510"/>
          </a:xfrm>
          <a:custGeom>
            <a:avLst/>
            <a:gdLst/>
            <a:ahLst/>
            <a:cxnLst/>
            <a:rect l="l" t="t" r="r" b="b"/>
            <a:pathLst>
              <a:path w="2169795" h="270510">
                <a:moveTo>
                  <a:pt x="2034235" y="72199"/>
                </a:moveTo>
                <a:lnTo>
                  <a:pt x="2034235" y="0"/>
                </a:lnTo>
                <a:lnTo>
                  <a:pt x="2043429" y="9194"/>
                </a:lnTo>
                <a:lnTo>
                  <a:pt x="2041855" y="9194"/>
                </a:lnTo>
                <a:lnTo>
                  <a:pt x="2035352" y="11887"/>
                </a:lnTo>
                <a:lnTo>
                  <a:pt x="2041855" y="18389"/>
                </a:lnTo>
                <a:lnTo>
                  <a:pt x="2041855" y="68389"/>
                </a:lnTo>
                <a:lnTo>
                  <a:pt x="2038045" y="68389"/>
                </a:lnTo>
                <a:lnTo>
                  <a:pt x="2034235" y="72199"/>
                </a:lnTo>
                <a:close/>
              </a:path>
              <a:path w="2169795" h="270510">
                <a:moveTo>
                  <a:pt x="2041855" y="18389"/>
                </a:moveTo>
                <a:lnTo>
                  <a:pt x="2035352" y="11887"/>
                </a:lnTo>
                <a:lnTo>
                  <a:pt x="2041855" y="9194"/>
                </a:lnTo>
                <a:lnTo>
                  <a:pt x="2041855" y="18389"/>
                </a:lnTo>
                <a:close/>
              </a:path>
              <a:path w="2169795" h="270510">
                <a:moveTo>
                  <a:pt x="2158657" y="135191"/>
                </a:moveTo>
                <a:lnTo>
                  <a:pt x="2041855" y="18389"/>
                </a:lnTo>
                <a:lnTo>
                  <a:pt x="2041855" y="9194"/>
                </a:lnTo>
                <a:lnTo>
                  <a:pt x="2043429" y="9194"/>
                </a:lnTo>
                <a:lnTo>
                  <a:pt x="2166734" y="132499"/>
                </a:lnTo>
                <a:lnTo>
                  <a:pt x="2161349" y="132499"/>
                </a:lnTo>
                <a:lnTo>
                  <a:pt x="2158657" y="135191"/>
                </a:lnTo>
                <a:close/>
              </a:path>
              <a:path w="2169795" h="270510">
                <a:moveTo>
                  <a:pt x="2034235" y="202006"/>
                </a:moveTo>
                <a:lnTo>
                  <a:pt x="0" y="202006"/>
                </a:lnTo>
                <a:lnTo>
                  <a:pt x="0" y="68389"/>
                </a:lnTo>
                <a:lnTo>
                  <a:pt x="2034235" y="68389"/>
                </a:lnTo>
                <a:lnTo>
                  <a:pt x="2034235" y="72199"/>
                </a:lnTo>
                <a:lnTo>
                  <a:pt x="7620" y="72199"/>
                </a:lnTo>
                <a:lnTo>
                  <a:pt x="3810" y="76009"/>
                </a:lnTo>
                <a:lnTo>
                  <a:pt x="7620" y="76009"/>
                </a:lnTo>
                <a:lnTo>
                  <a:pt x="7620" y="194386"/>
                </a:lnTo>
                <a:lnTo>
                  <a:pt x="3810" y="194386"/>
                </a:lnTo>
                <a:lnTo>
                  <a:pt x="7620" y="198196"/>
                </a:lnTo>
                <a:lnTo>
                  <a:pt x="2034235" y="198196"/>
                </a:lnTo>
                <a:lnTo>
                  <a:pt x="2034235" y="202006"/>
                </a:lnTo>
                <a:close/>
              </a:path>
              <a:path w="2169795" h="270510">
                <a:moveTo>
                  <a:pt x="2041855" y="76009"/>
                </a:moveTo>
                <a:lnTo>
                  <a:pt x="7620" y="76009"/>
                </a:lnTo>
                <a:lnTo>
                  <a:pt x="7620" y="72199"/>
                </a:lnTo>
                <a:lnTo>
                  <a:pt x="2034235" y="72199"/>
                </a:lnTo>
                <a:lnTo>
                  <a:pt x="2038045" y="68389"/>
                </a:lnTo>
                <a:lnTo>
                  <a:pt x="2041855" y="68389"/>
                </a:lnTo>
                <a:lnTo>
                  <a:pt x="2041855" y="76009"/>
                </a:lnTo>
                <a:close/>
              </a:path>
              <a:path w="2169795" h="270510">
                <a:moveTo>
                  <a:pt x="7620" y="76009"/>
                </a:moveTo>
                <a:lnTo>
                  <a:pt x="3810" y="76009"/>
                </a:lnTo>
                <a:lnTo>
                  <a:pt x="7620" y="72199"/>
                </a:lnTo>
                <a:lnTo>
                  <a:pt x="7620" y="76009"/>
                </a:lnTo>
                <a:close/>
              </a:path>
              <a:path w="2169795" h="270510">
                <a:moveTo>
                  <a:pt x="2161349" y="137883"/>
                </a:moveTo>
                <a:lnTo>
                  <a:pt x="2158657" y="135191"/>
                </a:lnTo>
                <a:lnTo>
                  <a:pt x="2161349" y="132499"/>
                </a:lnTo>
                <a:lnTo>
                  <a:pt x="2161349" y="137883"/>
                </a:lnTo>
                <a:close/>
              </a:path>
              <a:path w="2169795" h="270510">
                <a:moveTo>
                  <a:pt x="2166734" y="137883"/>
                </a:moveTo>
                <a:lnTo>
                  <a:pt x="2161349" y="137883"/>
                </a:lnTo>
                <a:lnTo>
                  <a:pt x="2161349" y="132499"/>
                </a:lnTo>
                <a:lnTo>
                  <a:pt x="2166734" y="132499"/>
                </a:lnTo>
                <a:lnTo>
                  <a:pt x="2169426" y="135191"/>
                </a:lnTo>
                <a:lnTo>
                  <a:pt x="2166734" y="137883"/>
                </a:lnTo>
                <a:close/>
              </a:path>
              <a:path w="2169795" h="270510">
                <a:moveTo>
                  <a:pt x="2043429" y="261200"/>
                </a:moveTo>
                <a:lnTo>
                  <a:pt x="2041855" y="261200"/>
                </a:lnTo>
                <a:lnTo>
                  <a:pt x="2041855" y="251993"/>
                </a:lnTo>
                <a:lnTo>
                  <a:pt x="2158657" y="135191"/>
                </a:lnTo>
                <a:lnTo>
                  <a:pt x="2161349" y="137883"/>
                </a:lnTo>
                <a:lnTo>
                  <a:pt x="2166734" y="137883"/>
                </a:lnTo>
                <a:lnTo>
                  <a:pt x="2043429" y="261200"/>
                </a:lnTo>
                <a:close/>
              </a:path>
              <a:path w="2169795" h="270510">
                <a:moveTo>
                  <a:pt x="7620" y="198196"/>
                </a:moveTo>
                <a:lnTo>
                  <a:pt x="3810" y="194386"/>
                </a:lnTo>
                <a:lnTo>
                  <a:pt x="7620" y="194386"/>
                </a:lnTo>
                <a:lnTo>
                  <a:pt x="7620" y="198196"/>
                </a:lnTo>
                <a:close/>
              </a:path>
              <a:path w="2169795" h="270510">
                <a:moveTo>
                  <a:pt x="2041855" y="202006"/>
                </a:moveTo>
                <a:lnTo>
                  <a:pt x="2038045" y="202006"/>
                </a:lnTo>
                <a:lnTo>
                  <a:pt x="2034235" y="198196"/>
                </a:lnTo>
                <a:lnTo>
                  <a:pt x="7620" y="198196"/>
                </a:lnTo>
                <a:lnTo>
                  <a:pt x="7620" y="194386"/>
                </a:lnTo>
                <a:lnTo>
                  <a:pt x="2041855" y="194386"/>
                </a:lnTo>
                <a:lnTo>
                  <a:pt x="2041855" y="202006"/>
                </a:lnTo>
                <a:close/>
              </a:path>
              <a:path w="2169795" h="270510">
                <a:moveTo>
                  <a:pt x="2034235" y="270395"/>
                </a:moveTo>
                <a:lnTo>
                  <a:pt x="2034235" y="198196"/>
                </a:lnTo>
                <a:lnTo>
                  <a:pt x="2038045" y="202006"/>
                </a:lnTo>
                <a:lnTo>
                  <a:pt x="2041855" y="202006"/>
                </a:lnTo>
                <a:lnTo>
                  <a:pt x="2041855" y="251993"/>
                </a:lnTo>
                <a:lnTo>
                  <a:pt x="2035352" y="258495"/>
                </a:lnTo>
                <a:lnTo>
                  <a:pt x="2041855" y="261200"/>
                </a:lnTo>
                <a:lnTo>
                  <a:pt x="2043429" y="261200"/>
                </a:lnTo>
                <a:lnTo>
                  <a:pt x="2034235" y="270395"/>
                </a:lnTo>
                <a:close/>
              </a:path>
              <a:path w="2169795" h="270510">
                <a:moveTo>
                  <a:pt x="2041855" y="261200"/>
                </a:moveTo>
                <a:lnTo>
                  <a:pt x="2035352" y="258495"/>
                </a:lnTo>
                <a:lnTo>
                  <a:pt x="2041855" y="251993"/>
                </a:lnTo>
                <a:lnTo>
                  <a:pt x="2041855" y="261200"/>
                </a:lnTo>
                <a:close/>
              </a:path>
            </a:pathLst>
          </a:custGeom>
          <a:solidFill>
            <a:srgbClr val="006C39"/>
          </a:solidFill>
        </p:spPr>
        <p:txBody>
          <a:bodyPr wrap="square" lIns="0" tIns="0" rIns="0" bIns="0" rtlCol="0"/>
          <a:lstStyle/>
          <a:p>
            <a:endParaRPr/>
          </a:p>
        </p:txBody>
      </p:sp>
      <p:sp>
        <p:nvSpPr>
          <p:cNvPr id="6" name="object 6"/>
          <p:cNvSpPr txBox="1"/>
          <p:nvPr/>
        </p:nvSpPr>
        <p:spPr>
          <a:xfrm>
            <a:off x="4530178" y="3251390"/>
            <a:ext cx="1447165" cy="451484"/>
          </a:xfrm>
          <a:prstGeom prst="rect">
            <a:avLst/>
          </a:prstGeom>
        </p:spPr>
        <p:txBody>
          <a:bodyPr vert="horz" wrap="square" lIns="0" tIns="12065" rIns="0" bIns="0" rtlCol="0">
            <a:spAutoFit/>
          </a:bodyPr>
          <a:lstStyle/>
          <a:p>
            <a:pPr marL="12700">
              <a:lnSpc>
                <a:spcPct val="100000"/>
              </a:lnSpc>
              <a:spcBef>
                <a:spcPts val="95"/>
              </a:spcBef>
            </a:pPr>
            <a:r>
              <a:rPr sz="2800" dirty="0">
                <a:latin typeface="微软雅黑"/>
                <a:cs typeface="微软雅黑"/>
              </a:rPr>
              <a:t>字节序</a:t>
            </a:r>
            <a:r>
              <a:rPr sz="2800" spc="-5" dirty="0">
                <a:latin typeface="微软雅黑"/>
                <a:cs typeface="微软雅黑"/>
              </a:rPr>
              <a:t>列</a:t>
            </a:r>
            <a:endParaRPr sz="2800">
              <a:latin typeface="微软雅黑"/>
              <a:cs typeface="微软雅黑"/>
            </a:endParaRPr>
          </a:p>
        </p:txBody>
      </p:sp>
      <p:sp>
        <p:nvSpPr>
          <p:cNvPr id="7" name="object 7"/>
          <p:cNvSpPr/>
          <p:nvPr/>
        </p:nvSpPr>
        <p:spPr>
          <a:xfrm>
            <a:off x="2234183" y="3480815"/>
            <a:ext cx="2161032" cy="252984"/>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228976" y="3472078"/>
            <a:ext cx="2169795" cy="270510"/>
          </a:xfrm>
          <a:custGeom>
            <a:avLst/>
            <a:gdLst/>
            <a:ahLst/>
            <a:cxnLst/>
            <a:rect l="l" t="t" r="r" b="b"/>
            <a:pathLst>
              <a:path w="2169795" h="270510">
                <a:moveTo>
                  <a:pt x="135204" y="270395"/>
                </a:moveTo>
                <a:lnTo>
                  <a:pt x="0" y="135191"/>
                </a:lnTo>
                <a:lnTo>
                  <a:pt x="135204" y="0"/>
                </a:lnTo>
                <a:lnTo>
                  <a:pt x="135204" y="9194"/>
                </a:lnTo>
                <a:lnTo>
                  <a:pt x="127584" y="9194"/>
                </a:lnTo>
                <a:lnTo>
                  <a:pt x="127584" y="18390"/>
                </a:lnTo>
                <a:lnTo>
                  <a:pt x="13486" y="132499"/>
                </a:lnTo>
                <a:lnTo>
                  <a:pt x="8089" y="132499"/>
                </a:lnTo>
                <a:lnTo>
                  <a:pt x="8089" y="137896"/>
                </a:lnTo>
                <a:lnTo>
                  <a:pt x="13486" y="137896"/>
                </a:lnTo>
                <a:lnTo>
                  <a:pt x="127584" y="252005"/>
                </a:lnTo>
                <a:lnTo>
                  <a:pt x="127584" y="261200"/>
                </a:lnTo>
                <a:lnTo>
                  <a:pt x="135204" y="261200"/>
                </a:lnTo>
                <a:lnTo>
                  <a:pt x="135204" y="270395"/>
                </a:lnTo>
                <a:close/>
              </a:path>
              <a:path w="2169795" h="270510">
                <a:moveTo>
                  <a:pt x="127584" y="18390"/>
                </a:moveTo>
                <a:lnTo>
                  <a:pt x="127584" y="9194"/>
                </a:lnTo>
                <a:lnTo>
                  <a:pt x="134086" y="11887"/>
                </a:lnTo>
                <a:lnTo>
                  <a:pt x="127584" y="18390"/>
                </a:lnTo>
                <a:close/>
              </a:path>
              <a:path w="2169795" h="270510">
                <a:moveTo>
                  <a:pt x="2161819" y="76009"/>
                </a:moveTo>
                <a:lnTo>
                  <a:pt x="127584" y="76009"/>
                </a:lnTo>
                <a:lnTo>
                  <a:pt x="127584" y="18390"/>
                </a:lnTo>
                <a:lnTo>
                  <a:pt x="134086" y="11887"/>
                </a:lnTo>
                <a:lnTo>
                  <a:pt x="127584" y="9194"/>
                </a:lnTo>
                <a:lnTo>
                  <a:pt x="135204" y="9194"/>
                </a:lnTo>
                <a:lnTo>
                  <a:pt x="135204" y="68389"/>
                </a:lnTo>
                <a:lnTo>
                  <a:pt x="131394" y="68389"/>
                </a:lnTo>
                <a:lnTo>
                  <a:pt x="135204" y="72199"/>
                </a:lnTo>
                <a:lnTo>
                  <a:pt x="2161819" y="72199"/>
                </a:lnTo>
                <a:lnTo>
                  <a:pt x="2161819" y="76009"/>
                </a:lnTo>
                <a:close/>
              </a:path>
              <a:path w="2169795" h="270510">
                <a:moveTo>
                  <a:pt x="135204" y="72199"/>
                </a:moveTo>
                <a:lnTo>
                  <a:pt x="131394" y="68389"/>
                </a:lnTo>
                <a:lnTo>
                  <a:pt x="135204" y="68389"/>
                </a:lnTo>
                <a:lnTo>
                  <a:pt x="135204" y="72199"/>
                </a:lnTo>
                <a:close/>
              </a:path>
              <a:path w="2169795" h="270510">
                <a:moveTo>
                  <a:pt x="2169439" y="76009"/>
                </a:moveTo>
                <a:lnTo>
                  <a:pt x="2165629" y="76009"/>
                </a:lnTo>
                <a:lnTo>
                  <a:pt x="2161819" y="72199"/>
                </a:lnTo>
                <a:lnTo>
                  <a:pt x="135204" y="72199"/>
                </a:lnTo>
                <a:lnTo>
                  <a:pt x="135204" y="68389"/>
                </a:lnTo>
                <a:lnTo>
                  <a:pt x="2169439" y="68389"/>
                </a:lnTo>
                <a:lnTo>
                  <a:pt x="2169439" y="76009"/>
                </a:lnTo>
                <a:close/>
              </a:path>
              <a:path w="2169795" h="270510">
                <a:moveTo>
                  <a:pt x="2161819" y="198196"/>
                </a:moveTo>
                <a:lnTo>
                  <a:pt x="2161819" y="72199"/>
                </a:lnTo>
                <a:lnTo>
                  <a:pt x="2165629" y="76009"/>
                </a:lnTo>
                <a:lnTo>
                  <a:pt x="2169439" y="76009"/>
                </a:lnTo>
                <a:lnTo>
                  <a:pt x="2169439" y="194386"/>
                </a:lnTo>
                <a:lnTo>
                  <a:pt x="2165629" y="194386"/>
                </a:lnTo>
                <a:lnTo>
                  <a:pt x="2161819" y="198196"/>
                </a:lnTo>
                <a:close/>
              </a:path>
              <a:path w="2169795" h="270510">
                <a:moveTo>
                  <a:pt x="8089" y="137896"/>
                </a:moveTo>
                <a:lnTo>
                  <a:pt x="8089" y="132499"/>
                </a:lnTo>
                <a:lnTo>
                  <a:pt x="10788" y="135197"/>
                </a:lnTo>
                <a:lnTo>
                  <a:pt x="8089" y="137896"/>
                </a:lnTo>
                <a:close/>
              </a:path>
              <a:path w="2169795" h="270510">
                <a:moveTo>
                  <a:pt x="10788" y="135197"/>
                </a:moveTo>
                <a:lnTo>
                  <a:pt x="8089" y="132499"/>
                </a:lnTo>
                <a:lnTo>
                  <a:pt x="13486" y="132499"/>
                </a:lnTo>
                <a:lnTo>
                  <a:pt x="10788" y="135197"/>
                </a:lnTo>
                <a:close/>
              </a:path>
              <a:path w="2169795" h="270510">
                <a:moveTo>
                  <a:pt x="13486" y="137896"/>
                </a:moveTo>
                <a:lnTo>
                  <a:pt x="8089" y="137896"/>
                </a:lnTo>
                <a:lnTo>
                  <a:pt x="10788" y="135197"/>
                </a:lnTo>
                <a:lnTo>
                  <a:pt x="13486" y="137896"/>
                </a:lnTo>
                <a:close/>
              </a:path>
              <a:path w="2169795" h="270510">
                <a:moveTo>
                  <a:pt x="135204" y="261200"/>
                </a:moveTo>
                <a:lnTo>
                  <a:pt x="127584" y="261200"/>
                </a:lnTo>
                <a:lnTo>
                  <a:pt x="134086" y="258508"/>
                </a:lnTo>
                <a:lnTo>
                  <a:pt x="127584" y="252005"/>
                </a:lnTo>
                <a:lnTo>
                  <a:pt x="127584" y="194386"/>
                </a:lnTo>
                <a:lnTo>
                  <a:pt x="2161819" y="194386"/>
                </a:lnTo>
                <a:lnTo>
                  <a:pt x="2161819" y="198196"/>
                </a:lnTo>
                <a:lnTo>
                  <a:pt x="135204" y="198196"/>
                </a:lnTo>
                <a:lnTo>
                  <a:pt x="131394" y="202006"/>
                </a:lnTo>
                <a:lnTo>
                  <a:pt x="135204" y="202006"/>
                </a:lnTo>
                <a:lnTo>
                  <a:pt x="135204" y="261200"/>
                </a:lnTo>
                <a:close/>
              </a:path>
              <a:path w="2169795" h="270510">
                <a:moveTo>
                  <a:pt x="2169439" y="202006"/>
                </a:moveTo>
                <a:lnTo>
                  <a:pt x="135204" y="202006"/>
                </a:lnTo>
                <a:lnTo>
                  <a:pt x="135204" y="198196"/>
                </a:lnTo>
                <a:lnTo>
                  <a:pt x="2161819" y="198196"/>
                </a:lnTo>
                <a:lnTo>
                  <a:pt x="2165629" y="194386"/>
                </a:lnTo>
                <a:lnTo>
                  <a:pt x="2169439" y="194386"/>
                </a:lnTo>
                <a:lnTo>
                  <a:pt x="2169439" y="202006"/>
                </a:lnTo>
                <a:close/>
              </a:path>
              <a:path w="2169795" h="270510">
                <a:moveTo>
                  <a:pt x="135204" y="202006"/>
                </a:moveTo>
                <a:lnTo>
                  <a:pt x="131394" y="202006"/>
                </a:lnTo>
                <a:lnTo>
                  <a:pt x="135204" y="198196"/>
                </a:lnTo>
                <a:lnTo>
                  <a:pt x="135204" y="202006"/>
                </a:lnTo>
                <a:close/>
              </a:path>
              <a:path w="2169795" h="270510">
                <a:moveTo>
                  <a:pt x="127584" y="261200"/>
                </a:moveTo>
                <a:lnTo>
                  <a:pt x="127584" y="252005"/>
                </a:lnTo>
                <a:lnTo>
                  <a:pt x="134086" y="258508"/>
                </a:lnTo>
                <a:lnTo>
                  <a:pt x="127584" y="261200"/>
                </a:lnTo>
                <a:close/>
              </a:path>
            </a:pathLst>
          </a:custGeom>
          <a:solidFill>
            <a:srgbClr val="006C39"/>
          </a:solidFill>
        </p:spPr>
        <p:txBody>
          <a:bodyPr wrap="square" lIns="0" tIns="0" rIns="0" bIns="0" rtlCol="0"/>
          <a:lstStyle/>
          <a:p>
            <a:endParaRPr/>
          </a:p>
        </p:txBody>
      </p:sp>
      <p:sp>
        <p:nvSpPr>
          <p:cNvPr id="9" name="object 9"/>
          <p:cNvSpPr txBox="1"/>
          <p:nvPr/>
        </p:nvSpPr>
        <p:spPr>
          <a:xfrm>
            <a:off x="2942704" y="2923375"/>
            <a:ext cx="7112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a:cs typeface="微软雅黑"/>
              </a:rPr>
              <a:t>序列化</a:t>
            </a:r>
            <a:endParaRPr sz="1800">
              <a:latin typeface="微软雅黑"/>
              <a:cs typeface="微软雅黑"/>
            </a:endParaRPr>
          </a:p>
        </p:txBody>
      </p:sp>
      <p:sp>
        <p:nvSpPr>
          <p:cNvPr id="10" name="object 10"/>
          <p:cNvSpPr txBox="1"/>
          <p:nvPr/>
        </p:nvSpPr>
        <p:spPr>
          <a:xfrm>
            <a:off x="2789301" y="3725240"/>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微软雅黑"/>
                <a:cs typeface="微软雅黑"/>
              </a:rPr>
              <a:t>反序列化</a:t>
            </a:r>
            <a:endParaRPr sz="1800">
              <a:latin typeface="微软雅黑"/>
              <a:cs typeface="微软雅黑"/>
            </a:endParaRPr>
          </a:p>
        </p:txBody>
      </p:sp>
      <p:sp>
        <p:nvSpPr>
          <p:cNvPr id="11" name="object 11"/>
          <p:cNvSpPr txBox="1"/>
          <p:nvPr/>
        </p:nvSpPr>
        <p:spPr>
          <a:xfrm>
            <a:off x="7025893" y="3236480"/>
            <a:ext cx="1802764" cy="451484"/>
          </a:xfrm>
          <a:prstGeom prst="rect">
            <a:avLst/>
          </a:prstGeom>
        </p:spPr>
        <p:txBody>
          <a:bodyPr vert="horz" wrap="square" lIns="0" tIns="12065" rIns="0" bIns="0" rtlCol="0">
            <a:spAutoFit/>
          </a:bodyPr>
          <a:lstStyle/>
          <a:p>
            <a:pPr marL="12700">
              <a:lnSpc>
                <a:spcPct val="100000"/>
              </a:lnSpc>
              <a:spcBef>
                <a:spcPts val="95"/>
              </a:spcBef>
            </a:pPr>
            <a:r>
              <a:rPr sz="2800" dirty="0">
                <a:latin typeface="微软雅黑"/>
                <a:cs typeface="微软雅黑"/>
              </a:rPr>
              <a:t>文件、网</a:t>
            </a:r>
            <a:r>
              <a:rPr sz="2800" spc="-5" dirty="0">
                <a:latin typeface="微软雅黑"/>
                <a:cs typeface="微软雅黑"/>
              </a:rPr>
              <a:t>络</a:t>
            </a:r>
            <a:endParaRPr sz="2800">
              <a:latin typeface="微软雅黑"/>
              <a:cs typeface="微软雅黑"/>
            </a:endParaRPr>
          </a:p>
        </p:txBody>
      </p:sp>
      <p:sp>
        <p:nvSpPr>
          <p:cNvPr id="12" name="object 12"/>
          <p:cNvSpPr/>
          <p:nvPr/>
        </p:nvSpPr>
        <p:spPr>
          <a:xfrm>
            <a:off x="6155435" y="3220211"/>
            <a:ext cx="719328" cy="251460"/>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6151333" y="3210471"/>
            <a:ext cx="729615" cy="270510"/>
          </a:xfrm>
          <a:custGeom>
            <a:avLst/>
            <a:gdLst/>
            <a:ahLst/>
            <a:cxnLst/>
            <a:rect l="l" t="t" r="r" b="b"/>
            <a:pathLst>
              <a:path w="729615" h="270510">
                <a:moveTo>
                  <a:pt x="593991" y="72199"/>
                </a:moveTo>
                <a:lnTo>
                  <a:pt x="593991" y="0"/>
                </a:lnTo>
                <a:lnTo>
                  <a:pt x="603187" y="9194"/>
                </a:lnTo>
                <a:lnTo>
                  <a:pt x="601611" y="9194"/>
                </a:lnTo>
                <a:lnTo>
                  <a:pt x="595109" y="11887"/>
                </a:lnTo>
                <a:lnTo>
                  <a:pt x="601611" y="18389"/>
                </a:lnTo>
                <a:lnTo>
                  <a:pt x="601611" y="68389"/>
                </a:lnTo>
                <a:lnTo>
                  <a:pt x="597801" y="68389"/>
                </a:lnTo>
                <a:lnTo>
                  <a:pt x="593991" y="72199"/>
                </a:lnTo>
                <a:close/>
              </a:path>
              <a:path w="729615" h="270510">
                <a:moveTo>
                  <a:pt x="601611" y="18389"/>
                </a:moveTo>
                <a:lnTo>
                  <a:pt x="595109" y="11887"/>
                </a:lnTo>
                <a:lnTo>
                  <a:pt x="601611" y="9194"/>
                </a:lnTo>
                <a:lnTo>
                  <a:pt x="601611" y="18389"/>
                </a:lnTo>
                <a:close/>
              </a:path>
              <a:path w="729615" h="270510">
                <a:moveTo>
                  <a:pt x="718413" y="135191"/>
                </a:moveTo>
                <a:lnTo>
                  <a:pt x="601611" y="18389"/>
                </a:lnTo>
                <a:lnTo>
                  <a:pt x="601611" y="9194"/>
                </a:lnTo>
                <a:lnTo>
                  <a:pt x="603187" y="9194"/>
                </a:lnTo>
                <a:lnTo>
                  <a:pt x="726503" y="132499"/>
                </a:lnTo>
                <a:lnTo>
                  <a:pt x="721105" y="132499"/>
                </a:lnTo>
                <a:lnTo>
                  <a:pt x="718413" y="135191"/>
                </a:lnTo>
                <a:close/>
              </a:path>
              <a:path w="729615" h="270510">
                <a:moveTo>
                  <a:pt x="593991" y="202006"/>
                </a:moveTo>
                <a:lnTo>
                  <a:pt x="0" y="202006"/>
                </a:lnTo>
                <a:lnTo>
                  <a:pt x="0" y="68389"/>
                </a:lnTo>
                <a:lnTo>
                  <a:pt x="593991" y="68389"/>
                </a:lnTo>
                <a:lnTo>
                  <a:pt x="593991" y="72199"/>
                </a:lnTo>
                <a:lnTo>
                  <a:pt x="7619" y="72199"/>
                </a:lnTo>
                <a:lnTo>
                  <a:pt x="3809" y="76009"/>
                </a:lnTo>
                <a:lnTo>
                  <a:pt x="7619" y="76009"/>
                </a:lnTo>
                <a:lnTo>
                  <a:pt x="7619" y="194386"/>
                </a:lnTo>
                <a:lnTo>
                  <a:pt x="3809" y="194386"/>
                </a:lnTo>
                <a:lnTo>
                  <a:pt x="7619" y="198196"/>
                </a:lnTo>
                <a:lnTo>
                  <a:pt x="593991" y="198196"/>
                </a:lnTo>
                <a:lnTo>
                  <a:pt x="593991" y="202006"/>
                </a:lnTo>
                <a:close/>
              </a:path>
              <a:path w="729615" h="270510">
                <a:moveTo>
                  <a:pt x="601611" y="76009"/>
                </a:moveTo>
                <a:lnTo>
                  <a:pt x="7619" y="76009"/>
                </a:lnTo>
                <a:lnTo>
                  <a:pt x="7619" y="72199"/>
                </a:lnTo>
                <a:lnTo>
                  <a:pt x="593991" y="72199"/>
                </a:lnTo>
                <a:lnTo>
                  <a:pt x="597801" y="68389"/>
                </a:lnTo>
                <a:lnTo>
                  <a:pt x="601611" y="68389"/>
                </a:lnTo>
                <a:lnTo>
                  <a:pt x="601611" y="76009"/>
                </a:lnTo>
                <a:close/>
              </a:path>
              <a:path w="729615" h="270510">
                <a:moveTo>
                  <a:pt x="7619" y="76009"/>
                </a:moveTo>
                <a:lnTo>
                  <a:pt x="3809" y="76009"/>
                </a:lnTo>
                <a:lnTo>
                  <a:pt x="7619" y="72199"/>
                </a:lnTo>
                <a:lnTo>
                  <a:pt x="7619" y="76009"/>
                </a:lnTo>
                <a:close/>
              </a:path>
              <a:path w="729615" h="270510">
                <a:moveTo>
                  <a:pt x="721105" y="137883"/>
                </a:moveTo>
                <a:lnTo>
                  <a:pt x="718413" y="135191"/>
                </a:lnTo>
                <a:lnTo>
                  <a:pt x="721105" y="132499"/>
                </a:lnTo>
                <a:lnTo>
                  <a:pt x="721105" y="137883"/>
                </a:lnTo>
                <a:close/>
              </a:path>
              <a:path w="729615" h="270510">
                <a:moveTo>
                  <a:pt x="726503" y="137883"/>
                </a:moveTo>
                <a:lnTo>
                  <a:pt x="721105" y="137883"/>
                </a:lnTo>
                <a:lnTo>
                  <a:pt x="721105" y="132499"/>
                </a:lnTo>
                <a:lnTo>
                  <a:pt x="726503" y="132499"/>
                </a:lnTo>
                <a:lnTo>
                  <a:pt x="729195" y="135191"/>
                </a:lnTo>
                <a:lnTo>
                  <a:pt x="726503" y="137883"/>
                </a:lnTo>
                <a:close/>
              </a:path>
              <a:path w="729615" h="270510">
                <a:moveTo>
                  <a:pt x="603186" y="261200"/>
                </a:moveTo>
                <a:lnTo>
                  <a:pt x="601611" y="261200"/>
                </a:lnTo>
                <a:lnTo>
                  <a:pt x="601611" y="251993"/>
                </a:lnTo>
                <a:lnTo>
                  <a:pt x="718413" y="135191"/>
                </a:lnTo>
                <a:lnTo>
                  <a:pt x="721105" y="137883"/>
                </a:lnTo>
                <a:lnTo>
                  <a:pt x="726503" y="137883"/>
                </a:lnTo>
                <a:lnTo>
                  <a:pt x="603186" y="261200"/>
                </a:lnTo>
                <a:close/>
              </a:path>
              <a:path w="729615" h="270510">
                <a:moveTo>
                  <a:pt x="7619" y="198196"/>
                </a:moveTo>
                <a:lnTo>
                  <a:pt x="3809" y="194386"/>
                </a:lnTo>
                <a:lnTo>
                  <a:pt x="7619" y="194386"/>
                </a:lnTo>
                <a:lnTo>
                  <a:pt x="7619" y="198196"/>
                </a:lnTo>
                <a:close/>
              </a:path>
              <a:path w="729615" h="270510">
                <a:moveTo>
                  <a:pt x="601611" y="202006"/>
                </a:moveTo>
                <a:lnTo>
                  <a:pt x="597801" y="202006"/>
                </a:lnTo>
                <a:lnTo>
                  <a:pt x="593991" y="198196"/>
                </a:lnTo>
                <a:lnTo>
                  <a:pt x="7619" y="198196"/>
                </a:lnTo>
                <a:lnTo>
                  <a:pt x="7619" y="194386"/>
                </a:lnTo>
                <a:lnTo>
                  <a:pt x="601611" y="194386"/>
                </a:lnTo>
                <a:lnTo>
                  <a:pt x="601611" y="202006"/>
                </a:lnTo>
                <a:close/>
              </a:path>
              <a:path w="729615" h="270510">
                <a:moveTo>
                  <a:pt x="593991" y="270395"/>
                </a:moveTo>
                <a:lnTo>
                  <a:pt x="593991" y="198196"/>
                </a:lnTo>
                <a:lnTo>
                  <a:pt x="597801" y="202006"/>
                </a:lnTo>
                <a:lnTo>
                  <a:pt x="601611" y="202006"/>
                </a:lnTo>
                <a:lnTo>
                  <a:pt x="601611" y="251993"/>
                </a:lnTo>
                <a:lnTo>
                  <a:pt x="595109" y="258495"/>
                </a:lnTo>
                <a:lnTo>
                  <a:pt x="601611" y="261200"/>
                </a:lnTo>
                <a:lnTo>
                  <a:pt x="603186" y="261200"/>
                </a:lnTo>
                <a:lnTo>
                  <a:pt x="593991" y="270395"/>
                </a:lnTo>
                <a:close/>
              </a:path>
              <a:path w="729615" h="270510">
                <a:moveTo>
                  <a:pt x="601611" y="261200"/>
                </a:moveTo>
                <a:lnTo>
                  <a:pt x="595109" y="258495"/>
                </a:lnTo>
                <a:lnTo>
                  <a:pt x="601611" y="251993"/>
                </a:lnTo>
                <a:lnTo>
                  <a:pt x="601611" y="261200"/>
                </a:lnTo>
                <a:close/>
              </a:path>
            </a:pathLst>
          </a:custGeom>
          <a:solidFill>
            <a:srgbClr val="006C39"/>
          </a:solidFill>
        </p:spPr>
        <p:txBody>
          <a:bodyPr wrap="square" lIns="0" tIns="0" rIns="0" bIns="0" rtlCol="0"/>
          <a:lstStyle/>
          <a:p>
            <a:endParaRPr/>
          </a:p>
        </p:txBody>
      </p:sp>
      <p:sp>
        <p:nvSpPr>
          <p:cNvPr id="14" name="object 14"/>
          <p:cNvSpPr/>
          <p:nvPr/>
        </p:nvSpPr>
        <p:spPr>
          <a:xfrm>
            <a:off x="6155435" y="3473196"/>
            <a:ext cx="719328" cy="251459"/>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6149746" y="3464128"/>
            <a:ext cx="729615" cy="270510"/>
          </a:xfrm>
          <a:custGeom>
            <a:avLst/>
            <a:gdLst/>
            <a:ahLst/>
            <a:cxnLst/>
            <a:rect l="l" t="t" r="r" b="b"/>
            <a:pathLst>
              <a:path w="729615" h="270510">
                <a:moveTo>
                  <a:pt x="135204" y="270395"/>
                </a:moveTo>
                <a:lnTo>
                  <a:pt x="0" y="135204"/>
                </a:lnTo>
                <a:lnTo>
                  <a:pt x="135204" y="0"/>
                </a:lnTo>
                <a:lnTo>
                  <a:pt x="135204" y="9207"/>
                </a:lnTo>
                <a:lnTo>
                  <a:pt x="127584" y="9207"/>
                </a:lnTo>
                <a:lnTo>
                  <a:pt x="127584" y="18402"/>
                </a:lnTo>
                <a:lnTo>
                  <a:pt x="13474" y="132511"/>
                </a:lnTo>
                <a:lnTo>
                  <a:pt x="8089" y="132511"/>
                </a:lnTo>
                <a:lnTo>
                  <a:pt x="8089" y="137896"/>
                </a:lnTo>
                <a:lnTo>
                  <a:pt x="13474" y="137896"/>
                </a:lnTo>
                <a:lnTo>
                  <a:pt x="127584" y="252006"/>
                </a:lnTo>
                <a:lnTo>
                  <a:pt x="127584" y="261200"/>
                </a:lnTo>
                <a:lnTo>
                  <a:pt x="135204" y="261200"/>
                </a:lnTo>
                <a:lnTo>
                  <a:pt x="135204" y="270395"/>
                </a:lnTo>
                <a:close/>
              </a:path>
              <a:path w="729615" h="270510">
                <a:moveTo>
                  <a:pt x="127584" y="18402"/>
                </a:moveTo>
                <a:lnTo>
                  <a:pt x="127584" y="9207"/>
                </a:lnTo>
                <a:lnTo>
                  <a:pt x="134086" y="11899"/>
                </a:lnTo>
                <a:lnTo>
                  <a:pt x="127584" y="18402"/>
                </a:lnTo>
                <a:close/>
              </a:path>
              <a:path w="729615" h="270510">
                <a:moveTo>
                  <a:pt x="721588" y="76009"/>
                </a:moveTo>
                <a:lnTo>
                  <a:pt x="127584" y="76009"/>
                </a:lnTo>
                <a:lnTo>
                  <a:pt x="127584" y="18402"/>
                </a:lnTo>
                <a:lnTo>
                  <a:pt x="134086" y="11899"/>
                </a:lnTo>
                <a:lnTo>
                  <a:pt x="127584" y="9207"/>
                </a:lnTo>
                <a:lnTo>
                  <a:pt x="135204" y="9207"/>
                </a:lnTo>
                <a:lnTo>
                  <a:pt x="135204" y="68389"/>
                </a:lnTo>
                <a:lnTo>
                  <a:pt x="131394" y="68389"/>
                </a:lnTo>
                <a:lnTo>
                  <a:pt x="135204" y="72199"/>
                </a:lnTo>
                <a:lnTo>
                  <a:pt x="721588" y="72199"/>
                </a:lnTo>
                <a:lnTo>
                  <a:pt x="721588" y="76009"/>
                </a:lnTo>
                <a:close/>
              </a:path>
              <a:path w="729615" h="270510">
                <a:moveTo>
                  <a:pt x="135204" y="72199"/>
                </a:moveTo>
                <a:lnTo>
                  <a:pt x="131394" y="68389"/>
                </a:lnTo>
                <a:lnTo>
                  <a:pt x="135204" y="68389"/>
                </a:lnTo>
                <a:lnTo>
                  <a:pt x="135204" y="72199"/>
                </a:lnTo>
                <a:close/>
              </a:path>
              <a:path w="729615" h="270510">
                <a:moveTo>
                  <a:pt x="729208" y="76009"/>
                </a:moveTo>
                <a:lnTo>
                  <a:pt x="725398" y="76009"/>
                </a:lnTo>
                <a:lnTo>
                  <a:pt x="721588" y="72199"/>
                </a:lnTo>
                <a:lnTo>
                  <a:pt x="135204" y="72199"/>
                </a:lnTo>
                <a:lnTo>
                  <a:pt x="135204" y="68389"/>
                </a:lnTo>
                <a:lnTo>
                  <a:pt x="729208" y="68389"/>
                </a:lnTo>
                <a:lnTo>
                  <a:pt x="729208" y="76009"/>
                </a:lnTo>
                <a:close/>
              </a:path>
              <a:path w="729615" h="270510">
                <a:moveTo>
                  <a:pt x="721588" y="198208"/>
                </a:moveTo>
                <a:lnTo>
                  <a:pt x="721588" y="72199"/>
                </a:lnTo>
                <a:lnTo>
                  <a:pt x="725398" y="76009"/>
                </a:lnTo>
                <a:lnTo>
                  <a:pt x="729208" y="76009"/>
                </a:lnTo>
                <a:lnTo>
                  <a:pt x="729208" y="194398"/>
                </a:lnTo>
                <a:lnTo>
                  <a:pt x="725398" y="194398"/>
                </a:lnTo>
                <a:lnTo>
                  <a:pt x="721588" y="198208"/>
                </a:lnTo>
                <a:close/>
              </a:path>
              <a:path w="729615" h="270510">
                <a:moveTo>
                  <a:pt x="8089" y="137896"/>
                </a:moveTo>
                <a:lnTo>
                  <a:pt x="8089" y="132511"/>
                </a:lnTo>
                <a:lnTo>
                  <a:pt x="10782" y="135204"/>
                </a:lnTo>
                <a:lnTo>
                  <a:pt x="8089" y="137896"/>
                </a:lnTo>
                <a:close/>
              </a:path>
              <a:path w="729615" h="270510">
                <a:moveTo>
                  <a:pt x="10782" y="135204"/>
                </a:moveTo>
                <a:lnTo>
                  <a:pt x="8089" y="132511"/>
                </a:lnTo>
                <a:lnTo>
                  <a:pt x="13474" y="132511"/>
                </a:lnTo>
                <a:lnTo>
                  <a:pt x="10782" y="135204"/>
                </a:lnTo>
                <a:close/>
              </a:path>
              <a:path w="729615" h="270510">
                <a:moveTo>
                  <a:pt x="13474" y="137896"/>
                </a:moveTo>
                <a:lnTo>
                  <a:pt x="8089" y="137896"/>
                </a:lnTo>
                <a:lnTo>
                  <a:pt x="10782" y="135204"/>
                </a:lnTo>
                <a:lnTo>
                  <a:pt x="13474" y="137896"/>
                </a:lnTo>
                <a:close/>
              </a:path>
              <a:path w="729615" h="270510">
                <a:moveTo>
                  <a:pt x="135204" y="261200"/>
                </a:moveTo>
                <a:lnTo>
                  <a:pt x="127584" y="261200"/>
                </a:lnTo>
                <a:lnTo>
                  <a:pt x="134086" y="258508"/>
                </a:lnTo>
                <a:lnTo>
                  <a:pt x="127584" y="252006"/>
                </a:lnTo>
                <a:lnTo>
                  <a:pt x="127584" y="194398"/>
                </a:lnTo>
                <a:lnTo>
                  <a:pt x="721588" y="194398"/>
                </a:lnTo>
                <a:lnTo>
                  <a:pt x="721588" y="198208"/>
                </a:lnTo>
                <a:lnTo>
                  <a:pt x="135204" y="198208"/>
                </a:lnTo>
                <a:lnTo>
                  <a:pt x="131394" y="202018"/>
                </a:lnTo>
                <a:lnTo>
                  <a:pt x="135204" y="202018"/>
                </a:lnTo>
                <a:lnTo>
                  <a:pt x="135204" y="261200"/>
                </a:lnTo>
                <a:close/>
              </a:path>
              <a:path w="729615" h="270510">
                <a:moveTo>
                  <a:pt x="729208" y="202018"/>
                </a:moveTo>
                <a:lnTo>
                  <a:pt x="135204" y="202018"/>
                </a:lnTo>
                <a:lnTo>
                  <a:pt x="135204" y="198208"/>
                </a:lnTo>
                <a:lnTo>
                  <a:pt x="721588" y="198208"/>
                </a:lnTo>
                <a:lnTo>
                  <a:pt x="725398" y="194398"/>
                </a:lnTo>
                <a:lnTo>
                  <a:pt x="729208" y="194398"/>
                </a:lnTo>
                <a:lnTo>
                  <a:pt x="729208" y="202018"/>
                </a:lnTo>
                <a:close/>
              </a:path>
              <a:path w="729615" h="270510">
                <a:moveTo>
                  <a:pt x="135204" y="202018"/>
                </a:moveTo>
                <a:lnTo>
                  <a:pt x="131394" y="202018"/>
                </a:lnTo>
                <a:lnTo>
                  <a:pt x="135204" y="198208"/>
                </a:lnTo>
                <a:lnTo>
                  <a:pt x="135204" y="202018"/>
                </a:lnTo>
                <a:close/>
              </a:path>
              <a:path w="729615" h="270510">
                <a:moveTo>
                  <a:pt x="127584" y="261200"/>
                </a:moveTo>
                <a:lnTo>
                  <a:pt x="127584" y="252006"/>
                </a:lnTo>
                <a:lnTo>
                  <a:pt x="134086" y="258508"/>
                </a:lnTo>
                <a:lnTo>
                  <a:pt x="127584" y="261200"/>
                </a:lnTo>
                <a:close/>
              </a:path>
            </a:pathLst>
          </a:custGeom>
          <a:solidFill>
            <a:srgbClr val="006C39"/>
          </a:solidFill>
        </p:spPr>
        <p:txBody>
          <a:bodyPr wrap="square" lIns="0" tIns="0" rIns="0" bIns="0" rtlCol="0"/>
          <a:lstStyle/>
          <a:p>
            <a:endParaRPr/>
          </a:p>
        </p:txBody>
      </p:sp>
      <p:sp>
        <p:nvSpPr>
          <p:cNvPr id="16" name="object 16"/>
          <p:cNvSpPr txBox="1"/>
          <p:nvPr/>
        </p:nvSpPr>
        <p:spPr>
          <a:xfrm>
            <a:off x="474344" y="4888229"/>
            <a:ext cx="6266180" cy="1122680"/>
          </a:xfrm>
          <a:prstGeom prst="rect">
            <a:avLst/>
          </a:prstGeom>
        </p:spPr>
        <p:txBody>
          <a:bodyPr vert="horz" wrap="square" lIns="0" tIns="12700" rIns="0" bIns="0" rtlCol="0">
            <a:spAutoFit/>
          </a:bodyPr>
          <a:lstStyle/>
          <a:p>
            <a:pPr marL="469265" marR="5080" indent="-457200">
              <a:lnSpc>
                <a:spcPct val="100000"/>
              </a:lnSpc>
              <a:spcBef>
                <a:spcPts val="100"/>
              </a:spcBef>
            </a:pPr>
            <a:r>
              <a:rPr sz="1800" b="1" dirty="0">
                <a:solidFill>
                  <a:srgbClr val="7E0054"/>
                </a:solidFill>
                <a:latin typeface="Consolas"/>
                <a:cs typeface="Consolas"/>
              </a:rPr>
              <a:t>public class </a:t>
            </a:r>
            <a:r>
              <a:rPr sz="1800" b="1" dirty="0">
                <a:latin typeface="Consolas"/>
                <a:cs typeface="Consolas"/>
              </a:rPr>
              <a:t>Student </a:t>
            </a:r>
            <a:r>
              <a:rPr sz="1800" b="1" dirty="0">
                <a:solidFill>
                  <a:srgbClr val="7E0054"/>
                </a:solidFill>
                <a:latin typeface="Consolas"/>
                <a:cs typeface="Consolas"/>
              </a:rPr>
              <a:t>implements </a:t>
            </a:r>
            <a:r>
              <a:rPr sz="1800" b="1" dirty="0">
                <a:latin typeface="Consolas"/>
                <a:cs typeface="Consolas"/>
              </a:rPr>
              <a:t>Serializable{  </a:t>
            </a:r>
            <a:r>
              <a:rPr sz="1800" b="1" dirty="0">
                <a:solidFill>
                  <a:srgbClr val="7E0054"/>
                </a:solidFill>
                <a:latin typeface="Consolas"/>
                <a:cs typeface="Consolas"/>
              </a:rPr>
              <a:t>private static final long </a:t>
            </a:r>
            <a:r>
              <a:rPr sz="1800" b="1" dirty="0">
                <a:solidFill>
                  <a:srgbClr val="0000C0"/>
                </a:solidFill>
                <a:latin typeface="Consolas"/>
                <a:cs typeface="Consolas"/>
              </a:rPr>
              <a:t>serialVersionUID </a:t>
            </a:r>
            <a:r>
              <a:rPr sz="1800" b="1" dirty="0">
                <a:latin typeface="Consolas"/>
                <a:cs typeface="Consolas"/>
              </a:rPr>
              <a:t>=</a:t>
            </a:r>
            <a:r>
              <a:rPr sz="1800" b="1" spc="-100" dirty="0">
                <a:latin typeface="Consolas"/>
                <a:cs typeface="Consolas"/>
              </a:rPr>
              <a:t> </a:t>
            </a:r>
            <a:r>
              <a:rPr sz="1800" b="1" dirty="0">
                <a:latin typeface="Consolas"/>
                <a:cs typeface="Consolas"/>
              </a:rPr>
              <a:t>-  7108027765951316257L;</a:t>
            </a:r>
            <a:endParaRPr sz="1800">
              <a:latin typeface="Consolas"/>
              <a:cs typeface="Consolas"/>
            </a:endParaRPr>
          </a:p>
          <a:p>
            <a:pPr marL="12700">
              <a:lnSpc>
                <a:spcPct val="100000"/>
              </a:lnSpc>
            </a:pPr>
            <a:r>
              <a:rPr sz="1800" b="1" dirty="0">
                <a:latin typeface="Consolas"/>
                <a:cs typeface="Consolas"/>
              </a:rPr>
              <a:t>}</a:t>
            </a:r>
            <a:endParaRPr sz="1800">
              <a:latin typeface="Consolas"/>
              <a:cs typeface="Consolas"/>
            </a:endParaRPr>
          </a:p>
        </p:txBody>
      </p:sp>
      <p:sp>
        <p:nvSpPr>
          <p:cNvPr id="17" name="object 17"/>
          <p:cNvSpPr/>
          <p:nvPr/>
        </p:nvSpPr>
        <p:spPr>
          <a:xfrm>
            <a:off x="335394" y="3297275"/>
            <a:ext cx="1737995" cy="441959"/>
          </a:xfrm>
          <a:custGeom>
            <a:avLst/>
            <a:gdLst/>
            <a:ahLst/>
            <a:cxnLst/>
            <a:rect l="l" t="t" r="r" b="b"/>
            <a:pathLst>
              <a:path w="1737995" h="441960">
                <a:moveTo>
                  <a:pt x="1732965" y="441579"/>
                </a:moveTo>
                <a:lnTo>
                  <a:pt x="4762" y="441579"/>
                </a:lnTo>
                <a:lnTo>
                  <a:pt x="3302" y="441350"/>
                </a:lnTo>
                <a:lnTo>
                  <a:pt x="1968" y="440664"/>
                </a:lnTo>
                <a:lnTo>
                  <a:pt x="914" y="439610"/>
                </a:lnTo>
                <a:lnTo>
                  <a:pt x="241" y="438289"/>
                </a:lnTo>
                <a:lnTo>
                  <a:pt x="0" y="436816"/>
                </a:lnTo>
                <a:lnTo>
                  <a:pt x="0" y="4762"/>
                </a:lnTo>
                <a:lnTo>
                  <a:pt x="4762" y="0"/>
                </a:lnTo>
                <a:lnTo>
                  <a:pt x="1732965" y="0"/>
                </a:lnTo>
                <a:lnTo>
                  <a:pt x="1737728" y="4762"/>
                </a:lnTo>
                <a:lnTo>
                  <a:pt x="9525" y="4762"/>
                </a:lnTo>
                <a:lnTo>
                  <a:pt x="4762" y="9525"/>
                </a:lnTo>
                <a:lnTo>
                  <a:pt x="9525" y="9525"/>
                </a:lnTo>
                <a:lnTo>
                  <a:pt x="9525" y="432054"/>
                </a:lnTo>
                <a:lnTo>
                  <a:pt x="4762" y="432054"/>
                </a:lnTo>
                <a:lnTo>
                  <a:pt x="9525" y="436816"/>
                </a:lnTo>
                <a:lnTo>
                  <a:pt x="1737728" y="436816"/>
                </a:lnTo>
                <a:lnTo>
                  <a:pt x="1737487" y="438289"/>
                </a:lnTo>
                <a:lnTo>
                  <a:pt x="1736813" y="439610"/>
                </a:lnTo>
                <a:lnTo>
                  <a:pt x="1735759" y="440664"/>
                </a:lnTo>
                <a:lnTo>
                  <a:pt x="1734426" y="441350"/>
                </a:lnTo>
                <a:lnTo>
                  <a:pt x="1732965" y="441579"/>
                </a:lnTo>
                <a:close/>
              </a:path>
              <a:path w="1737995" h="441960">
                <a:moveTo>
                  <a:pt x="9525" y="9525"/>
                </a:moveTo>
                <a:lnTo>
                  <a:pt x="4762" y="9525"/>
                </a:lnTo>
                <a:lnTo>
                  <a:pt x="9525" y="4762"/>
                </a:lnTo>
                <a:lnTo>
                  <a:pt x="9525" y="9525"/>
                </a:lnTo>
                <a:close/>
              </a:path>
              <a:path w="1737995" h="441960">
                <a:moveTo>
                  <a:pt x="1728203" y="9525"/>
                </a:moveTo>
                <a:lnTo>
                  <a:pt x="9525" y="9525"/>
                </a:lnTo>
                <a:lnTo>
                  <a:pt x="9525" y="4762"/>
                </a:lnTo>
                <a:lnTo>
                  <a:pt x="1728203" y="4762"/>
                </a:lnTo>
                <a:lnTo>
                  <a:pt x="1728203" y="9525"/>
                </a:lnTo>
                <a:close/>
              </a:path>
              <a:path w="1737995" h="441960">
                <a:moveTo>
                  <a:pt x="1728203" y="436816"/>
                </a:moveTo>
                <a:lnTo>
                  <a:pt x="1728203" y="4762"/>
                </a:lnTo>
                <a:lnTo>
                  <a:pt x="1732965" y="9525"/>
                </a:lnTo>
                <a:lnTo>
                  <a:pt x="1737728" y="9525"/>
                </a:lnTo>
                <a:lnTo>
                  <a:pt x="1737728" y="432054"/>
                </a:lnTo>
                <a:lnTo>
                  <a:pt x="1732965" y="432054"/>
                </a:lnTo>
                <a:lnTo>
                  <a:pt x="1728203" y="436816"/>
                </a:lnTo>
                <a:close/>
              </a:path>
              <a:path w="1737995" h="441960">
                <a:moveTo>
                  <a:pt x="1737728" y="9525"/>
                </a:moveTo>
                <a:lnTo>
                  <a:pt x="1732965" y="9525"/>
                </a:lnTo>
                <a:lnTo>
                  <a:pt x="1728203" y="4762"/>
                </a:lnTo>
                <a:lnTo>
                  <a:pt x="1737728" y="4762"/>
                </a:lnTo>
                <a:lnTo>
                  <a:pt x="1737728" y="9525"/>
                </a:lnTo>
                <a:close/>
              </a:path>
              <a:path w="1737995" h="441960">
                <a:moveTo>
                  <a:pt x="9525" y="436816"/>
                </a:moveTo>
                <a:lnTo>
                  <a:pt x="4762" y="432054"/>
                </a:lnTo>
                <a:lnTo>
                  <a:pt x="9525" y="432054"/>
                </a:lnTo>
                <a:lnTo>
                  <a:pt x="9525" y="436816"/>
                </a:lnTo>
                <a:close/>
              </a:path>
              <a:path w="1737995" h="441960">
                <a:moveTo>
                  <a:pt x="1728203" y="436816"/>
                </a:moveTo>
                <a:lnTo>
                  <a:pt x="9525" y="436816"/>
                </a:lnTo>
                <a:lnTo>
                  <a:pt x="9525" y="432054"/>
                </a:lnTo>
                <a:lnTo>
                  <a:pt x="1728203" y="432054"/>
                </a:lnTo>
                <a:lnTo>
                  <a:pt x="1728203" y="436816"/>
                </a:lnTo>
                <a:close/>
              </a:path>
              <a:path w="1737995" h="441960">
                <a:moveTo>
                  <a:pt x="1737728" y="436816"/>
                </a:moveTo>
                <a:lnTo>
                  <a:pt x="1728203" y="436816"/>
                </a:lnTo>
                <a:lnTo>
                  <a:pt x="1732965" y="432054"/>
                </a:lnTo>
                <a:lnTo>
                  <a:pt x="1737728" y="432054"/>
                </a:lnTo>
                <a:lnTo>
                  <a:pt x="1737728" y="436816"/>
                </a:lnTo>
                <a:close/>
              </a:path>
            </a:pathLst>
          </a:custGeom>
          <a:solidFill>
            <a:srgbClr val="006C39"/>
          </a:solidFill>
        </p:spPr>
        <p:txBody>
          <a:bodyPr wrap="square" lIns="0" tIns="0" rIns="0" bIns="0" rtlCol="0"/>
          <a:lstStyle/>
          <a:p>
            <a:endParaRPr/>
          </a:p>
        </p:txBody>
      </p:sp>
      <p:sp>
        <p:nvSpPr>
          <p:cNvPr id="18" name="object 18"/>
          <p:cNvSpPr/>
          <p:nvPr/>
        </p:nvSpPr>
        <p:spPr>
          <a:xfrm>
            <a:off x="335394" y="3729329"/>
            <a:ext cx="1737995" cy="441959"/>
          </a:xfrm>
          <a:custGeom>
            <a:avLst/>
            <a:gdLst/>
            <a:ahLst/>
            <a:cxnLst/>
            <a:rect l="l" t="t" r="r" b="b"/>
            <a:pathLst>
              <a:path w="1737995" h="441960">
                <a:moveTo>
                  <a:pt x="1732965" y="441578"/>
                </a:moveTo>
                <a:lnTo>
                  <a:pt x="4762" y="441578"/>
                </a:lnTo>
                <a:lnTo>
                  <a:pt x="3302" y="441337"/>
                </a:lnTo>
                <a:lnTo>
                  <a:pt x="1968" y="440664"/>
                </a:lnTo>
                <a:lnTo>
                  <a:pt x="914" y="439610"/>
                </a:lnTo>
                <a:lnTo>
                  <a:pt x="241" y="438276"/>
                </a:lnTo>
                <a:lnTo>
                  <a:pt x="0" y="436816"/>
                </a:lnTo>
                <a:lnTo>
                  <a:pt x="0" y="4762"/>
                </a:lnTo>
                <a:lnTo>
                  <a:pt x="4762" y="0"/>
                </a:lnTo>
                <a:lnTo>
                  <a:pt x="1732965" y="0"/>
                </a:lnTo>
                <a:lnTo>
                  <a:pt x="1737728" y="4762"/>
                </a:lnTo>
                <a:lnTo>
                  <a:pt x="9525" y="4762"/>
                </a:lnTo>
                <a:lnTo>
                  <a:pt x="4762" y="9525"/>
                </a:lnTo>
                <a:lnTo>
                  <a:pt x="9525" y="9525"/>
                </a:lnTo>
                <a:lnTo>
                  <a:pt x="9525" y="432053"/>
                </a:lnTo>
                <a:lnTo>
                  <a:pt x="4762" y="432053"/>
                </a:lnTo>
                <a:lnTo>
                  <a:pt x="9525" y="436816"/>
                </a:lnTo>
                <a:lnTo>
                  <a:pt x="1737728" y="436816"/>
                </a:lnTo>
                <a:lnTo>
                  <a:pt x="1737487" y="438276"/>
                </a:lnTo>
                <a:lnTo>
                  <a:pt x="1736813" y="439610"/>
                </a:lnTo>
                <a:lnTo>
                  <a:pt x="1735759" y="440664"/>
                </a:lnTo>
                <a:lnTo>
                  <a:pt x="1734426" y="441337"/>
                </a:lnTo>
                <a:lnTo>
                  <a:pt x="1732965" y="441578"/>
                </a:lnTo>
                <a:close/>
              </a:path>
              <a:path w="1737995" h="441960">
                <a:moveTo>
                  <a:pt x="9525" y="9525"/>
                </a:moveTo>
                <a:lnTo>
                  <a:pt x="4762" y="9525"/>
                </a:lnTo>
                <a:lnTo>
                  <a:pt x="9525" y="4762"/>
                </a:lnTo>
                <a:lnTo>
                  <a:pt x="9525" y="9525"/>
                </a:lnTo>
                <a:close/>
              </a:path>
              <a:path w="1737995" h="441960">
                <a:moveTo>
                  <a:pt x="1728203" y="9525"/>
                </a:moveTo>
                <a:lnTo>
                  <a:pt x="9525" y="9525"/>
                </a:lnTo>
                <a:lnTo>
                  <a:pt x="9525" y="4762"/>
                </a:lnTo>
                <a:lnTo>
                  <a:pt x="1728203" y="4762"/>
                </a:lnTo>
                <a:lnTo>
                  <a:pt x="1728203" y="9525"/>
                </a:lnTo>
                <a:close/>
              </a:path>
              <a:path w="1737995" h="441960">
                <a:moveTo>
                  <a:pt x="1728203" y="436816"/>
                </a:moveTo>
                <a:lnTo>
                  <a:pt x="1728203" y="4762"/>
                </a:lnTo>
                <a:lnTo>
                  <a:pt x="1732965" y="9525"/>
                </a:lnTo>
                <a:lnTo>
                  <a:pt x="1737728" y="9525"/>
                </a:lnTo>
                <a:lnTo>
                  <a:pt x="1737728" y="432053"/>
                </a:lnTo>
                <a:lnTo>
                  <a:pt x="1732965" y="432053"/>
                </a:lnTo>
                <a:lnTo>
                  <a:pt x="1728203" y="436816"/>
                </a:lnTo>
                <a:close/>
              </a:path>
              <a:path w="1737995" h="441960">
                <a:moveTo>
                  <a:pt x="1737728" y="9525"/>
                </a:moveTo>
                <a:lnTo>
                  <a:pt x="1732965" y="9525"/>
                </a:lnTo>
                <a:lnTo>
                  <a:pt x="1728203" y="4762"/>
                </a:lnTo>
                <a:lnTo>
                  <a:pt x="1737728" y="4762"/>
                </a:lnTo>
                <a:lnTo>
                  <a:pt x="1737728" y="9525"/>
                </a:lnTo>
                <a:close/>
              </a:path>
              <a:path w="1737995" h="441960">
                <a:moveTo>
                  <a:pt x="9525" y="436816"/>
                </a:moveTo>
                <a:lnTo>
                  <a:pt x="4762" y="432053"/>
                </a:lnTo>
                <a:lnTo>
                  <a:pt x="9525" y="432053"/>
                </a:lnTo>
                <a:lnTo>
                  <a:pt x="9525" y="436816"/>
                </a:lnTo>
                <a:close/>
              </a:path>
              <a:path w="1737995" h="441960">
                <a:moveTo>
                  <a:pt x="1728203" y="436816"/>
                </a:moveTo>
                <a:lnTo>
                  <a:pt x="9525" y="436816"/>
                </a:lnTo>
                <a:lnTo>
                  <a:pt x="9525" y="432053"/>
                </a:lnTo>
                <a:lnTo>
                  <a:pt x="1728203" y="432053"/>
                </a:lnTo>
                <a:lnTo>
                  <a:pt x="1728203" y="436816"/>
                </a:lnTo>
                <a:close/>
              </a:path>
              <a:path w="1737995" h="441960">
                <a:moveTo>
                  <a:pt x="1737728" y="436816"/>
                </a:moveTo>
                <a:lnTo>
                  <a:pt x="1728203" y="436816"/>
                </a:lnTo>
                <a:lnTo>
                  <a:pt x="1732965" y="432053"/>
                </a:lnTo>
                <a:lnTo>
                  <a:pt x="1737728" y="432053"/>
                </a:lnTo>
                <a:lnTo>
                  <a:pt x="1737728" y="436816"/>
                </a:lnTo>
                <a:close/>
              </a:path>
            </a:pathLst>
          </a:custGeom>
          <a:solidFill>
            <a:srgbClr val="006C39"/>
          </a:solidFill>
        </p:spPr>
        <p:txBody>
          <a:bodyPr wrap="square" lIns="0" tIns="0" rIns="0" bIns="0" rtlCol="0"/>
          <a:lstStyle/>
          <a:p>
            <a:endParaRPr/>
          </a:p>
        </p:txBody>
      </p:sp>
      <p:sp>
        <p:nvSpPr>
          <p:cNvPr id="19" name="object 19"/>
          <p:cNvSpPr/>
          <p:nvPr/>
        </p:nvSpPr>
        <p:spPr>
          <a:xfrm>
            <a:off x="335394" y="2867660"/>
            <a:ext cx="1737995" cy="441959"/>
          </a:xfrm>
          <a:custGeom>
            <a:avLst/>
            <a:gdLst/>
            <a:ahLst/>
            <a:cxnLst/>
            <a:rect l="l" t="t" r="r" b="b"/>
            <a:pathLst>
              <a:path w="1737995" h="441960">
                <a:moveTo>
                  <a:pt x="1732965" y="441566"/>
                </a:moveTo>
                <a:lnTo>
                  <a:pt x="4762" y="441566"/>
                </a:lnTo>
                <a:lnTo>
                  <a:pt x="3302" y="441337"/>
                </a:lnTo>
                <a:lnTo>
                  <a:pt x="1968" y="440664"/>
                </a:lnTo>
                <a:lnTo>
                  <a:pt x="914" y="439610"/>
                </a:lnTo>
                <a:lnTo>
                  <a:pt x="241" y="438276"/>
                </a:lnTo>
                <a:lnTo>
                  <a:pt x="0" y="436803"/>
                </a:lnTo>
                <a:lnTo>
                  <a:pt x="0" y="4762"/>
                </a:lnTo>
                <a:lnTo>
                  <a:pt x="4762" y="0"/>
                </a:lnTo>
                <a:lnTo>
                  <a:pt x="1732965" y="0"/>
                </a:lnTo>
                <a:lnTo>
                  <a:pt x="1737728" y="4762"/>
                </a:lnTo>
                <a:lnTo>
                  <a:pt x="9525" y="4762"/>
                </a:lnTo>
                <a:lnTo>
                  <a:pt x="4762" y="9525"/>
                </a:lnTo>
                <a:lnTo>
                  <a:pt x="9525" y="9525"/>
                </a:lnTo>
                <a:lnTo>
                  <a:pt x="9525" y="432041"/>
                </a:lnTo>
                <a:lnTo>
                  <a:pt x="4762" y="432041"/>
                </a:lnTo>
                <a:lnTo>
                  <a:pt x="9525" y="436803"/>
                </a:lnTo>
                <a:lnTo>
                  <a:pt x="1737728" y="436803"/>
                </a:lnTo>
                <a:lnTo>
                  <a:pt x="1737487" y="438276"/>
                </a:lnTo>
                <a:lnTo>
                  <a:pt x="1736813" y="439610"/>
                </a:lnTo>
                <a:lnTo>
                  <a:pt x="1735759" y="440664"/>
                </a:lnTo>
                <a:lnTo>
                  <a:pt x="1734426" y="441337"/>
                </a:lnTo>
                <a:lnTo>
                  <a:pt x="1732965" y="441566"/>
                </a:lnTo>
                <a:close/>
              </a:path>
              <a:path w="1737995" h="441960">
                <a:moveTo>
                  <a:pt x="9525" y="9525"/>
                </a:moveTo>
                <a:lnTo>
                  <a:pt x="4762" y="9525"/>
                </a:lnTo>
                <a:lnTo>
                  <a:pt x="9525" y="4762"/>
                </a:lnTo>
                <a:lnTo>
                  <a:pt x="9525" y="9525"/>
                </a:lnTo>
                <a:close/>
              </a:path>
              <a:path w="1737995" h="441960">
                <a:moveTo>
                  <a:pt x="1728203" y="9525"/>
                </a:moveTo>
                <a:lnTo>
                  <a:pt x="9525" y="9525"/>
                </a:lnTo>
                <a:lnTo>
                  <a:pt x="9525" y="4762"/>
                </a:lnTo>
                <a:lnTo>
                  <a:pt x="1728203" y="4762"/>
                </a:lnTo>
                <a:lnTo>
                  <a:pt x="1728203" y="9525"/>
                </a:lnTo>
                <a:close/>
              </a:path>
              <a:path w="1737995" h="441960">
                <a:moveTo>
                  <a:pt x="1728203" y="436803"/>
                </a:moveTo>
                <a:lnTo>
                  <a:pt x="1728203" y="4762"/>
                </a:lnTo>
                <a:lnTo>
                  <a:pt x="1732965" y="9525"/>
                </a:lnTo>
                <a:lnTo>
                  <a:pt x="1737728" y="9525"/>
                </a:lnTo>
                <a:lnTo>
                  <a:pt x="1737728" y="432041"/>
                </a:lnTo>
                <a:lnTo>
                  <a:pt x="1732965" y="432041"/>
                </a:lnTo>
                <a:lnTo>
                  <a:pt x="1728203" y="436803"/>
                </a:lnTo>
                <a:close/>
              </a:path>
              <a:path w="1737995" h="441960">
                <a:moveTo>
                  <a:pt x="1737728" y="9525"/>
                </a:moveTo>
                <a:lnTo>
                  <a:pt x="1732965" y="9525"/>
                </a:lnTo>
                <a:lnTo>
                  <a:pt x="1728203" y="4762"/>
                </a:lnTo>
                <a:lnTo>
                  <a:pt x="1737728" y="4762"/>
                </a:lnTo>
                <a:lnTo>
                  <a:pt x="1737728" y="9525"/>
                </a:lnTo>
                <a:close/>
              </a:path>
              <a:path w="1737995" h="441960">
                <a:moveTo>
                  <a:pt x="9525" y="436803"/>
                </a:moveTo>
                <a:lnTo>
                  <a:pt x="4762" y="432041"/>
                </a:lnTo>
                <a:lnTo>
                  <a:pt x="9525" y="432041"/>
                </a:lnTo>
                <a:lnTo>
                  <a:pt x="9525" y="436803"/>
                </a:lnTo>
                <a:close/>
              </a:path>
              <a:path w="1737995" h="441960">
                <a:moveTo>
                  <a:pt x="1728203" y="436803"/>
                </a:moveTo>
                <a:lnTo>
                  <a:pt x="9525" y="436803"/>
                </a:lnTo>
                <a:lnTo>
                  <a:pt x="9525" y="432041"/>
                </a:lnTo>
                <a:lnTo>
                  <a:pt x="1728203" y="432041"/>
                </a:lnTo>
                <a:lnTo>
                  <a:pt x="1728203" y="436803"/>
                </a:lnTo>
                <a:close/>
              </a:path>
              <a:path w="1737995" h="441960">
                <a:moveTo>
                  <a:pt x="1737728" y="436803"/>
                </a:moveTo>
                <a:lnTo>
                  <a:pt x="1728203" y="436803"/>
                </a:lnTo>
                <a:lnTo>
                  <a:pt x="1732965" y="432041"/>
                </a:lnTo>
                <a:lnTo>
                  <a:pt x="1737728" y="432041"/>
                </a:lnTo>
                <a:lnTo>
                  <a:pt x="1737728" y="436803"/>
                </a:lnTo>
                <a:close/>
              </a:path>
            </a:pathLst>
          </a:custGeom>
          <a:solidFill>
            <a:srgbClr val="006C39"/>
          </a:solidFill>
        </p:spPr>
        <p:txBody>
          <a:bodyPr wrap="square" lIns="0" tIns="0" rIns="0" bIns="0" rtlCol="0"/>
          <a:lstStyle/>
          <a:p>
            <a:endParaRPr/>
          </a:p>
        </p:txBody>
      </p:sp>
      <p:sp>
        <p:nvSpPr>
          <p:cNvPr id="20" name="object 20"/>
          <p:cNvSpPr txBox="1"/>
          <p:nvPr/>
        </p:nvSpPr>
        <p:spPr>
          <a:xfrm>
            <a:off x="490016" y="2892442"/>
            <a:ext cx="1428115" cy="1713864"/>
          </a:xfrm>
          <a:prstGeom prst="rect">
            <a:avLst/>
          </a:prstGeom>
        </p:spPr>
        <p:txBody>
          <a:bodyPr vert="horz" wrap="square" lIns="0" tIns="60960" rIns="0" bIns="0" rtlCol="0">
            <a:spAutoFit/>
          </a:bodyPr>
          <a:lstStyle/>
          <a:p>
            <a:pPr algn="ctr">
              <a:lnSpc>
                <a:spcPct val="100000"/>
              </a:lnSpc>
              <a:spcBef>
                <a:spcPts val="480"/>
              </a:spcBef>
            </a:pPr>
            <a:r>
              <a:rPr sz="1600" b="1" spc="-5" dirty="0">
                <a:latin typeface="Calibri"/>
                <a:cs typeface="Calibri"/>
              </a:rPr>
              <a:t>serial</a:t>
            </a:r>
            <a:r>
              <a:rPr sz="1600" b="1" spc="-90" dirty="0">
                <a:latin typeface="Calibri"/>
                <a:cs typeface="Calibri"/>
              </a:rPr>
              <a:t>V</a:t>
            </a:r>
            <a:r>
              <a:rPr sz="1600" b="1" spc="-5" dirty="0">
                <a:latin typeface="Calibri"/>
                <a:cs typeface="Calibri"/>
              </a:rPr>
              <a:t>e</a:t>
            </a:r>
            <a:r>
              <a:rPr sz="1600" b="1" spc="-25" dirty="0">
                <a:latin typeface="Calibri"/>
                <a:cs typeface="Calibri"/>
              </a:rPr>
              <a:t>r</a:t>
            </a:r>
            <a:r>
              <a:rPr sz="1600" b="1" spc="-5" dirty="0">
                <a:latin typeface="Calibri"/>
                <a:cs typeface="Calibri"/>
              </a:rPr>
              <a:t>sionU</a:t>
            </a:r>
            <a:r>
              <a:rPr sz="1600" b="1" spc="-10" dirty="0">
                <a:latin typeface="Calibri"/>
                <a:cs typeface="Calibri"/>
              </a:rPr>
              <a:t>I</a:t>
            </a:r>
            <a:r>
              <a:rPr sz="1600" b="1" spc="-5" dirty="0">
                <a:latin typeface="Calibri"/>
                <a:cs typeface="Calibri"/>
              </a:rPr>
              <a:t>D</a:t>
            </a:r>
            <a:endParaRPr sz="1600">
              <a:latin typeface="Calibri"/>
              <a:cs typeface="Calibri"/>
            </a:endParaRPr>
          </a:p>
          <a:p>
            <a:pPr marL="304800" marR="297180" algn="ctr">
              <a:lnSpc>
                <a:spcPct val="101200"/>
              </a:lnSpc>
              <a:spcBef>
                <a:spcPts val="635"/>
              </a:spcBef>
            </a:pPr>
            <a:r>
              <a:rPr sz="2800" spc="-5" dirty="0">
                <a:latin typeface="Calibri"/>
                <a:cs typeface="Calibri"/>
              </a:rPr>
              <a:t>name  </a:t>
            </a:r>
            <a:r>
              <a:rPr sz="2800" spc="-15" dirty="0">
                <a:latin typeface="Calibri"/>
                <a:cs typeface="Calibri"/>
              </a:rPr>
              <a:t>age</a:t>
            </a:r>
            <a:endParaRPr sz="2800">
              <a:latin typeface="Calibri"/>
              <a:cs typeface="Calibri"/>
            </a:endParaRPr>
          </a:p>
          <a:p>
            <a:pPr algn="ctr">
              <a:lnSpc>
                <a:spcPct val="100000"/>
              </a:lnSpc>
              <a:spcBef>
                <a:spcPts val="1155"/>
              </a:spcBef>
            </a:pPr>
            <a:r>
              <a:rPr sz="2000" spc="-15" dirty="0">
                <a:latin typeface="微软雅黑"/>
                <a:cs typeface="微软雅黑"/>
              </a:rPr>
              <a:t>Student</a:t>
            </a:r>
            <a:r>
              <a:rPr sz="2000" spc="5" dirty="0">
                <a:latin typeface="微软雅黑"/>
                <a:cs typeface="微软雅黑"/>
              </a:rPr>
              <a:t>类</a:t>
            </a:r>
            <a:endParaRPr sz="2000">
              <a:latin typeface="微软雅黑"/>
              <a:cs typeface="微软雅黑"/>
            </a:endParaRPr>
          </a:p>
        </p:txBody>
      </p:sp>
      <p:sp>
        <p:nvSpPr>
          <p:cNvPr id="21" name="object 21"/>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33</a:t>
            </a:fld>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44602"/>
            <a:ext cx="5040630" cy="953135"/>
          </a:xfrm>
          <a:prstGeom prst="rect">
            <a:avLst/>
          </a:prstGeom>
        </p:spPr>
        <p:txBody>
          <a:bodyPr vert="horz" wrap="square" lIns="0" tIns="69215" rIns="0" bIns="0" rtlCol="0">
            <a:spAutoFit/>
          </a:bodyPr>
          <a:lstStyle/>
          <a:p>
            <a:pPr marL="12700" marR="5080">
              <a:lnSpc>
                <a:spcPts val="3450"/>
              </a:lnSpc>
              <a:spcBef>
                <a:spcPts val="545"/>
              </a:spcBef>
            </a:pPr>
            <a:r>
              <a:rPr sz="3200" spc="-5" dirty="0"/>
              <a:t>12.2.6</a:t>
            </a:r>
            <a:r>
              <a:rPr sz="3200" spc="-80" dirty="0"/>
              <a:t> </a:t>
            </a:r>
            <a:r>
              <a:rPr sz="3200" dirty="0"/>
              <a:t>对象流与序列化接</a:t>
            </a:r>
            <a:r>
              <a:rPr sz="3200" spc="5" dirty="0"/>
              <a:t>口 </a:t>
            </a:r>
            <a:r>
              <a:rPr sz="3200" spc="-5" dirty="0"/>
              <a:t>Serializable</a:t>
            </a:r>
            <a:endParaRPr sz="3200"/>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34</a:t>
            </a:fld>
            <a:endParaRPr dirty="0"/>
          </a:p>
        </p:txBody>
      </p:sp>
      <p:sp>
        <p:nvSpPr>
          <p:cNvPr id="3" name="object 3"/>
          <p:cNvSpPr txBox="1"/>
          <p:nvPr/>
        </p:nvSpPr>
        <p:spPr>
          <a:xfrm>
            <a:off x="353059" y="1512570"/>
            <a:ext cx="7703184" cy="1671320"/>
          </a:xfrm>
          <a:prstGeom prst="rect">
            <a:avLst/>
          </a:prstGeom>
        </p:spPr>
        <p:txBody>
          <a:bodyPr vert="horz" wrap="square" lIns="0" tIns="12700" rIns="0" bIns="0" rtlCol="0">
            <a:spAutoFit/>
          </a:bodyPr>
          <a:lstStyle/>
          <a:p>
            <a:pPr marL="12700" marR="4025265">
              <a:lnSpc>
                <a:spcPct val="100000"/>
              </a:lnSpc>
              <a:spcBef>
                <a:spcPts val="100"/>
              </a:spcBef>
            </a:pPr>
            <a:r>
              <a:rPr sz="1800" dirty="0">
                <a:latin typeface="微软雅黑"/>
                <a:cs typeface="微软雅黑"/>
              </a:rPr>
              <a:t>对象可序列化：必须满足如下要求：  </a:t>
            </a:r>
            <a:r>
              <a:rPr sz="1800" spc="-5" dirty="0">
                <a:latin typeface="微软雅黑"/>
                <a:cs typeface="微软雅黑"/>
              </a:rPr>
              <a:t>1</a:t>
            </a:r>
            <a:r>
              <a:rPr sz="1800" dirty="0">
                <a:latin typeface="微软雅黑"/>
                <a:cs typeface="微软雅黑"/>
              </a:rPr>
              <a:t>、该类实现了</a:t>
            </a:r>
            <a:r>
              <a:rPr sz="1800" spc="-5" dirty="0">
                <a:latin typeface="微软雅黑"/>
                <a:cs typeface="微软雅黑"/>
              </a:rPr>
              <a:t>Serializable</a:t>
            </a:r>
            <a:r>
              <a:rPr sz="1800" dirty="0">
                <a:latin typeface="微软雅黑"/>
                <a:cs typeface="微软雅黑"/>
              </a:rPr>
              <a:t>接口。</a:t>
            </a:r>
            <a:endParaRPr sz="1800">
              <a:latin typeface="微软雅黑"/>
              <a:cs typeface="微软雅黑"/>
            </a:endParaRPr>
          </a:p>
          <a:p>
            <a:pPr marL="12700" marR="5080">
              <a:lnSpc>
                <a:spcPct val="100000"/>
              </a:lnSpc>
            </a:pPr>
            <a:r>
              <a:rPr sz="1800" spc="-5" dirty="0">
                <a:latin typeface="微软雅黑"/>
                <a:cs typeface="微软雅黑"/>
              </a:rPr>
              <a:t>2</a:t>
            </a:r>
            <a:r>
              <a:rPr sz="1800" dirty="0">
                <a:latin typeface="微软雅黑"/>
                <a:cs typeface="微软雅黑"/>
              </a:rPr>
              <a:t>、该类的所有参与序列化的成员变量也必须是可序列化的（即定义成员变量 的类型也要实现</a:t>
            </a:r>
            <a:r>
              <a:rPr sz="1800" spc="-5" dirty="0">
                <a:latin typeface="微软雅黑"/>
                <a:cs typeface="微软雅黑"/>
              </a:rPr>
              <a:t>Serializable，</a:t>
            </a:r>
            <a:r>
              <a:rPr sz="1800" dirty="0">
                <a:latin typeface="微软雅黑"/>
                <a:cs typeface="微软雅黑"/>
              </a:rPr>
              <a:t>如</a:t>
            </a:r>
            <a:r>
              <a:rPr sz="1800" spc="-15" dirty="0">
                <a:latin typeface="微软雅黑"/>
                <a:cs typeface="微软雅黑"/>
              </a:rPr>
              <a:t>String</a:t>
            </a:r>
            <a:r>
              <a:rPr sz="1800" dirty="0">
                <a:latin typeface="微软雅黑"/>
                <a:cs typeface="微软雅黑"/>
              </a:rPr>
              <a:t>、数据类型等），即使类实现了 </a:t>
            </a:r>
            <a:r>
              <a:rPr sz="1800" spc="-5" dirty="0">
                <a:latin typeface="微软雅黑"/>
                <a:cs typeface="微软雅黑"/>
              </a:rPr>
              <a:t>Serializable</a:t>
            </a:r>
            <a:r>
              <a:rPr sz="1800" dirty="0">
                <a:latin typeface="微软雅黑"/>
                <a:cs typeface="微软雅黑"/>
              </a:rPr>
              <a:t>接口，如果有定义没有实现</a:t>
            </a:r>
            <a:r>
              <a:rPr sz="1800" spc="-5" dirty="0">
                <a:latin typeface="微软雅黑"/>
                <a:cs typeface="微软雅黑"/>
              </a:rPr>
              <a:t>Serializable</a:t>
            </a:r>
            <a:r>
              <a:rPr sz="1800" dirty="0">
                <a:latin typeface="微软雅黑"/>
                <a:cs typeface="微软雅黑"/>
              </a:rPr>
              <a:t>类型的成员变量，则这 个类的对象也不能序列化。</a:t>
            </a:r>
            <a:endParaRPr sz="1800">
              <a:latin typeface="微软雅黑"/>
              <a:cs typeface="微软雅黑"/>
            </a:endParaRPr>
          </a:p>
        </p:txBody>
      </p:sp>
      <p:sp>
        <p:nvSpPr>
          <p:cNvPr id="4" name="object 4"/>
          <p:cNvSpPr txBox="1"/>
          <p:nvPr/>
        </p:nvSpPr>
        <p:spPr>
          <a:xfrm>
            <a:off x="417194" y="3961129"/>
            <a:ext cx="7714615" cy="112268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微软雅黑"/>
                <a:cs typeface="微软雅黑"/>
              </a:rPr>
              <a:t>当一个可序列化类有多个父类时（包括直接和间接父类），这些父类要么有 无参的构造器，要么也是可序列化的——否则反序列化时抛出 In</a:t>
            </a:r>
            <a:r>
              <a:rPr sz="1800" spc="-40" dirty="0">
                <a:latin typeface="微软雅黑"/>
                <a:cs typeface="微软雅黑"/>
              </a:rPr>
              <a:t>v</a:t>
            </a:r>
            <a:r>
              <a:rPr sz="1800" dirty="0">
                <a:latin typeface="微软雅黑"/>
                <a:cs typeface="微软雅黑"/>
              </a:rPr>
              <a:t>ali</a:t>
            </a:r>
            <a:r>
              <a:rPr sz="1800" spc="-5" dirty="0">
                <a:latin typeface="微软雅黑"/>
                <a:cs typeface="微软雅黑"/>
              </a:rPr>
              <a:t>d</a:t>
            </a:r>
            <a:r>
              <a:rPr sz="1800" dirty="0">
                <a:latin typeface="微软雅黑"/>
                <a:cs typeface="微软雅黑"/>
              </a:rPr>
              <a:t>ClassE</a:t>
            </a:r>
            <a:r>
              <a:rPr sz="1800" spc="-20" dirty="0">
                <a:latin typeface="微软雅黑"/>
                <a:cs typeface="微软雅黑"/>
              </a:rPr>
              <a:t>x</a:t>
            </a:r>
            <a:r>
              <a:rPr sz="1800" dirty="0">
                <a:latin typeface="微软雅黑"/>
                <a:cs typeface="微软雅黑"/>
              </a:rPr>
              <a:t>cp</a:t>
            </a:r>
            <a:r>
              <a:rPr sz="1800" spc="-5" dirty="0">
                <a:latin typeface="微软雅黑"/>
                <a:cs typeface="微软雅黑"/>
              </a:rPr>
              <a:t>t</a:t>
            </a:r>
            <a:r>
              <a:rPr sz="1800" dirty="0">
                <a:latin typeface="微软雅黑"/>
                <a:cs typeface="微软雅黑"/>
              </a:rPr>
              <a:t>ion异常。如果父类是不可序列化的，只带有无参数的构造 器，则该父类中定义的成员变量值不会序列化到二进制流中</a:t>
            </a:r>
            <a:endParaRPr sz="1800">
              <a:latin typeface="微软雅黑"/>
              <a:cs typeface="微软雅黑"/>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4244" y="1124584"/>
            <a:ext cx="7226300" cy="5039360"/>
          </a:xfrm>
          <a:prstGeom prst="rect">
            <a:avLst/>
          </a:prstGeom>
        </p:spPr>
        <p:txBody>
          <a:bodyPr vert="horz" wrap="square" lIns="0" tIns="12700" rIns="0" bIns="0" rtlCol="0">
            <a:spAutoFit/>
          </a:bodyPr>
          <a:lstStyle/>
          <a:p>
            <a:pPr marL="12700">
              <a:lnSpc>
                <a:spcPts val="2395"/>
              </a:lnSpc>
              <a:spcBef>
                <a:spcPts val="100"/>
              </a:spcBef>
            </a:pPr>
            <a:r>
              <a:rPr sz="2100" dirty="0">
                <a:latin typeface="微软雅黑"/>
                <a:cs typeface="微软雅黑"/>
              </a:rPr>
              <a:t>【例</a:t>
            </a:r>
            <a:r>
              <a:rPr sz="2100" spc="-5" dirty="0">
                <a:latin typeface="微软雅黑"/>
                <a:cs typeface="微软雅黑"/>
              </a:rPr>
              <a:t>12-5</a:t>
            </a:r>
            <a:r>
              <a:rPr sz="2100" dirty="0">
                <a:latin typeface="微软雅黑"/>
                <a:cs typeface="微软雅黑"/>
              </a:rPr>
              <a:t>】将一个</a:t>
            </a:r>
            <a:r>
              <a:rPr sz="2100" spc="-15" dirty="0">
                <a:latin typeface="微软雅黑"/>
                <a:cs typeface="微软雅黑"/>
              </a:rPr>
              <a:t>Student</a:t>
            </a:r>
            <a:r>
              <a:rPr sz="2100" dirty="0">
                <a:latin typeface="微软雅黑"/>
                <a:cs typeface="微软雅黑"/>
              </a:rPr>
              <a:t>对象持久化到文件，并从文件读出</a:t>
            </a:r>
            <a:endParaRPr sz="2100">
              <a:latin typeface="微软雅黑"/>
              <a:cs typeface="微软雅黑"/>
            </a:endParaRPr>
          </a:p>
          <a:p>
            <a:pPr marL="12700">
              <a:lnSpc>
                <a:spcPts val="2395"/>
              </a:lnSpc>
            </a:pPr>
            <a:r>
              <a:rPr sz="2100" dirty="0">
                <a:latin typeface="微软雅黑"/>
                <a:cs typeface="微软雅黑"/>
              </a:rPr>
              <a:t>、打印。</a:t>
            </a:r>
            <a:endParaRPr sz="2100">
              <a:latin typeface="微软雅黑"/>
              <a:cs typeface="微软雅黑"/>
            </a:endParaRPr>
          </a:p>
          <a:p>
            <a:pPr marL="12700">
              <a:lnSpc>
                <a:spcPct val="100000"/>
              </a:lnSpc>
              <a:spcBef>
                <a:spcPts val="495"/>
              </a:spcBef>
            </a:pPr>
            <a:r>
              <a:rPr sz="2100" dirty="0">
                <a:latin typeface="微软雅黑"/>
                <a:cs typeface="微软雅黑"/>
              </a:rPr>
              <a:t>注意：</a:t>
            </a:r>
            <a:endParaRPr sz="2100">
              <a:latin typeface="微软雅黑"/>
              <a:cs typeface="微软雅黑"/>
            </a:endParaRPr>
          </a:p>
          <a:p>
            <a:pPr marL="12700" marR="195580" algn="just">
              <a:lnSpc>
                <a:spcPts val="2260"/>
              </a:lnSpc>
              <a:spcBef>
                <a:spcPts val="785"/>
              </a:spcBef>
            </a:pPr>
            <a:r>
              <a:rPr sz="2100" spc="-5" dirty="0">
                <a:latin typeface="微软雅黑"/>
                <a:cs typeface="微软雅黑"/>
              </a:rPr>
              <a:t>1</a:t>
            </a:r>
            <a:r>
              <a:rPr sz="2100" dirty="0">
                <a:latin typeface="微软雅黑"/>
                <a:cs typeface="微软雅黑"/>
              </a:rPr>
              <a:t>、当程序多次</a:t>
            </a:r>
            <a:r>
              <a:rPr sz="2100" spc="-10" dirty="0">
                <a:latin typeface="微软雅黑"/>
                <a:cs typeface="微软雅黑"/>
              </a:rPr>
              <a:t>writeObject</a:t>
            </a:r>
            <a:r>
              <a:rPr sz="2100" dirty="0">
                <a:latin typeface="微软雅黑"/>
                <a:cs typeface="微软雅黑"/>
              </a:rPr>
              <a:t>同一个对象时，实际上并未输出 多个对象，程序多次调用</a:t>
            </a:r>
            <a:r>
              <a:rPr sz="2100" spc="-35" dirty="0">
                <a:latin typeface="微软雅黑"/>
                <a:cs typeface="微软雅黑"/>
              </a:rPr>
              <a:t>r</a:t>
            </a:r>
            <a:r>
              <a:rPr sz="2100" spc="-5" dirty="0">
                <a:latin typeface="微软雅黑"/>
                <a:cs typeface="微软雅黑"/>
              </a:rPr>
              <a:t>ea</a:t>
            </a:r>
            <a:r>
              <a:rPr sz="2100" dirty="0">
                <a:latin typeface="微软雅黑"/>
                <a:cs typeface="微软雅黑"/>
              </a:rPr>
              <a:t>d</a:t>
            </a:r>
            <a:r>
              <a:rPr sz="2100" spc="-5" dirty="0">
                <a:latin typeface="微软雅黑"/>
                <a:cs typeface="微软雅黑"/>
              </a:rPr>
              <a:t>Obje</a:t>
            </a:r>
            <a:r>
              <a:rPr sz="2100" dirty="0">
                <a:latin typeface="微软雅黑"/>
                <a:cs typeface="微软雅黑"/>
              </a:rPr>
              <a:t>c</a:t>
            </a:r>
            <a:r>
              <a:rPr sz="2100" spc="-5" dirty="0">
                <a:latin typeface="微软雅黑"/>
                <a:cs typeface="微软雅黑"/>
              </a:rPr>
              <a:t>t</a:t>
            </a:r>
            <a:r>
              <a:rPr sz="2100" dirty="0">
                <a:latin typeface="微软雅黑"/>
                <a:cs typeface="微软雅黑"/>
              </a:rPr>
              <a:t>时恢复的全部是同一个 对象。</a:t>
            </a:r>
            <a:endParaRPr sz="2100">
              <a:latin typeface="微软雅黑"/>
              <a:cs typeface="微软雅黑"/>
            </a:endParaRPr>
          </a:p>
          <a:p>
            <a:pPr marL="12700" marR="1842135">
              <a:lnSpc>
                <a:spcPts val="3010"/>
              </a:lnSpc>
              <a:spcBef>
                <a:spcPts val="165"/>
              </a:spcBef>
            </a:pPr>
            <a:r>
              <a:rPr sz="2100" spc="-5" dirty="0">
                <a:latin typeface="微软雅黑"/>
                <a:cs typeface="微软雅黑"/>
              </a:rPr>
              <a:t>2</a:t>
            </a:r>
            <a:r>
              <a:rPr sz="2100" dirty="0">
                <a:latin typeface="微软雅黑"/>
                <a:cs typeface="微软雅黑"/>
              </a:rPr>
              <a:t>、</a:t>
            </a:r>
            <a:r>
              <a:rPr sz="2100" spc="-5" dirty="0">
                <a:latin typeface="微软雅黑"/>
                <a:cs typeface="微软雅黑"/>
              </a:rPr>
              <a:t>stat</a:t>
            </a:r>
            <a:r>
              <a:rPr sz="2100" dirty="0">
                <a:latin typeface="微软雅黑"/>
                <a:cs typeface="微软雅黑"/>
              </a:rPr>
              <a:t>ic修饰的是是类变量，不会被序列化。  </a:t>
            </a:r>
            <a:r>
              <a:rPr sz="2100" spc="-5" dirty="0">
                <a:latin typeface="微软雅黑"/>
                <a:cs typeface="微软雅黑"/>
              </a:rPr>
              <a:t>3</a:t>
            </a:r>
            <a:r>
              <a:rPr sz="2100" dirty="0">
                <a:latin typeface="微软雅黑"/>
                <a:cs typeface="微软雅黑"/>
              </a:rPr>
              <a:t>、用</a:t>
            </a:r>
            <a:r>
              <a:rPr sz="2100" spc="-5" dirty="0">
                <a:latin typeface="微软雅黑"/>
                <a:cs typeface="微软雅黑"/>
              </a:rPr>
              <a:t>transient</a:t>
            </a:r>
            <a:r>
              <a:rPr sz="2100" dirty="0">
                <a:latin typeface="微软雅黑"/>
                <a:cs typeface="微软雅黑"/>
              </a:rPr>
              <a:t>修饰的数据成员不会被序列化 </a:t>
            </a:r>
            <a:r>
              <a:rPr sz="2100" spc="-5" dirty="0">
                <a:latin typeface="微软雅黑"/>
                <a:cs typeface="微软雅黑"/>
              </a:rPr>
              <a:t>Example:12-6</a:t>
            </a:r>
            <a:r>
              <a:rPr sz="2100" spc="-10" dirty="0">
                <a:latin typeface="微软雅黑"/>
                <a:cs typeface="微软雅黑"/>
              </a:rPr>
              <a:t> </a:t>
            </a:r>
            <a:r>
              <a:rPr sz="2100" dirty="0">
                <a:latin typeface="微软雅黑"/>
                <a:cs typeface="微软雅黑"/>
              </a:rPr>
              <a:t>中的</a:t>
            </a:r>
            <a:r>
              <a:rPr sz="2100" spc="-15" dirty="0">
                <a:latin typeface="微软雅黑"/>
                <a:cs typeface="微软雅黑"/>
              </a:rPr>
              <a:t>Student</a:t>
            </a:r>
            <a:endParaRPr sz="2100">
              <a:latin typeface="微软雅黑"/>
              <a:cs typeface="微软雅黑"/>
            </a:endParaRPr>
          </a:p>
          <a:p>
            <a:pPr>
              <a:lnSpc>
                <a:spcPct val="100000"/>
              </a:lnSpc>
              <a:spcBef>
                <a:spcPts val="35"/>
              </a:spcBef>
            </a:pPr>
            <a:endParaRPr sz="1950">
              <a:latin typeface="微软雅黑"/>
              <a:cs typeface="微软雅黑"/>
            </a:endParaRPr>
          </a:p>
          <a:p>
            <a:pPr marL="12700" marR="5080">
              <a:lnSpc>
                <a:spcPts val="2260"/>
              </a:lnSpc>
            </a:pPr>
            <a:r>
              <a:rPr sz="2100" dirty="0">
                <a:latin typeface="微软雅黑"/>
                <a:cs typeface="微软雅黑"/>
              </a:rPr>
              <a:t>对象引用的序列化原理：当程序第一次序列化某个对象时（包 括用</a:t>
            </a:r>
            <a:r>
              <a:rPr sz="2100" spc="-10" dirty="0">
                <a:latin typeface="微软雅黑"/>
                <a:cs typeface="微软雅黑"/>
              </a:rPr>
              <a:t>writeObject</a:t>
            </a:r>
            <a:r>
              <a:rPr sz="2100" dirty="0">
                <a:latin typeface="微软雅黑"/>
                <a:cs typeface="微软雅黑"/>
              </a:rPr>
              <a:t>输出、或关联序列化时），系统才会真正将 该对象的数据输出到磁盘或者网络，并为该序列化对象分配一 个版本化编号，以后如果再次序列化该对象，并不会真正输出 该对象数据，而是输出版本化编号。</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35</a:t>
            </a:fld>
            <a:endParaRPr dirty="0"/>
          </a:p>
        </p:txBody>
      </p:sp>
      <p:sp>
        <p:nvSpPr>
          <p:cNvPr id="3" name="object 3"/>
          <p:cNvSpPr txBox="1">
            <a:spLocks noGrp="1"/>
          </p:cNvSpPr>
          <p:nvPr>
            <p:ph type="title"/>
          </p:nvPr>
        </p:nvSpPr>
        <p:spPr>
          <a:xfrm>
            <a:off x="1283652" y="44602"/>
            <a:ext cx="5040630" cy="953135"/>
          </a:xfrm>
          <a:prstGeom prst="rect">
            <a:avLst/>
          </a:prstGeom>
        </p:spPr>
        <p:txBody>
          <a:bodyPr vert="horz" wrap="square" lIns="0" tIns="69215" rIns="0" bIns="0" rtlCol="0">
            <a:spAutoFit/>
          </a:bodyPr>
          <a:lstStyle/>
          <a:p>
            <a:pPr marL="12700" marR="5080">
              <a:lnSpc>
                <a:spcPts val="3450"/>
              </a:lnSpc>
              <a:spcBef>
                <a:spcPts val="545"/>
              </a:spcBef>
            </a:pPr>
            <a:r>
              <a:rPr sz="3200" spc="-5" dirty="0"/>
              <a:t>12.2.6</a:t>
            </a:r>
            <a:r>
              <a:rPr sz="3200" spc="-80" dirty="0"/>
              <a:t> </a:t>
            </a:r>
            <a:r>
              <a:rPr sz="3200" dirty="0"/>
              <a:t>对象流与序列化接</a:t>
            </a:r>
            <a:r>
              <a:rPr sz="3200" spc="5" dirty="0"/>
              <a:t>口 </a:t>
            </a:r>
            <a:r>
              <a:rPr sz="3200" spc="-5" dirty="0"/>
              <a:t>Serializable</a:t>
            </a:r>
            <a:endParaRPr sz="3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9775" y="1481454"/>
            <a:ext cx="7397750" cy="3965575"/>
          </a:xfrm>
          <a:prstGeom prst="rect">
            <a:avLst/>
          </a:prstGeom>
        </p:spPr>
        <p:txBody>
          <a:bodyPr vert="horz" wrap="square" lIns="0" tIns="12700" rIns="0" bIns="0" rtlCol="0">
            <a:spAutoFit/>
          </a:bodyPr>
          <a:lstStyle/>
          <a:p>
            <a:pPr marL="184150" indent="-171450">
              <a:lnSpc>
                <a:spcPts val="2390"/>
              </a:lnSpc>
              <a:spcBef>
                <a:spcPts val="100"/>
              </a:spcBef>
              <a:buFont typeface="Arial"/>
              <a:buChar char="•"/>
              <a:tabLst>
                <a:tab pos="184150" algn="l"/>
              </a:tabLst>
            </a:pPr>
            <a:r>
              <a:rPr sz="2100" dirty="0">
                <a:latin typeface="微软雅黑"/>
                <a:cs typeface="微软雅黑"/>
              </a:rPr>
              <a:t>流的来源或目的地不一定是文件，也可以是内存中的一段空间</a:t>
            </a:r>
            <a:endParaRPr sz="2100">
              <a:latin typeface="微软雅黑"/>
              <a:cs typeface="微软雅黑"/>
            </a:endParaRPr>
          </a:p>
          <a:p>
            <a:pPr marL="184150">
              <a:lnSpc>
                <a:spcPts val="2390"/>
              </a:lnSpc>
            </a:pPr>
            <a:r>
              <a:rPr sz="2100" dirty="0">
                <a:latin typeface="微软雅黑"/>
                <a:cs typeface="微软雅黑"/>
              </a:rPr>
              <a:t>。</a:t>
            </a:r>
            <a:endParaRPr sz="2100">
              <a:latin typeface="微软雅黑"/>
              <a:cs typeface="微软雅黑"/>
            </a:endParaRPr>
          </a:p>
          <a:p>
            <a:pPr marL="527050" marR="5080" lvl="1" indent="-171450" algn="just">
              <a:lnSpc>
                <a:spcPts val="1939"/>
              </a:lnSpc>
              <a:spcBef>
                <a:spcPts val="405"/>
              </a:spcBef>
              <a:buFont typeface="Arial"/>
              <a:buChar char="•"/>
              <a:tabLst>
                <a:tab pos="527050" algn="l"/>
              </a:tabLst>
            </a:pPr>
            <a:r>
              <a:rPr sz="1800" dirty="0">
                <a:latin typeface="微软雅黑"/>
                <a:cs typeface="微软雅黑"/>
              </a:rPr>
              <a:t>内存虚拟文件就是把内存中的数据缓存区虚拟成一个文件，原来应该 写入到磁盘文件的内容，可以写入内存中；原来应该从磁盘文件中读 取的内容，也可以从内存中读取。这样可以大大提高应用程序的性能 和效率。</a:t>
            </a:r>
            <a:endParaRPr sz="1800">
              <a:latin typeface="微软雅黑"/>
              <a:cs typeface="微软雅黑"/>
            </a:endParaRPr>
          </a:p>
          <a:p>
            <a:pPr lvl="1">
              <a:lnSpc>
                <a:spcPct val="100000"/>
              </a:lnSpc>
              <a:spcBef>
                <a:spcPts val="75"/>
              </a:spcBef>
              <a:buFont typeface="Arial"/>
              <a:buChar char="•"/>
            </a:pPr>
            <a:endParaRPr sz="2000">
              <a:latin typeface="微软雅黑"/>
              <a:cs typeface="微软雅黑"/>
            </a:endParaRPr>
          </a:p>
          <a:p>
            <a:pPr marL="184150" marR="23495" indent="-171450">
              <a:lnSpc>
                <a:spcPts val="2270"/>
              </a:lnSpc>
              <a:buFont typeface="Arial"/>
              <a:buChar char="•"/>
              <a:tabLst>
                <a:tab pos="184150" algn="l"/>
              </a:tabLst>
            </a:pPr>
            <a:r>
              <a:rPr sz="2100" dirty="0">
                <a:latin typeface="微软雅黑"/>
                <a:cs typeface="微软雅黑"/>
              </a:rPr>
              <a:t>在</a:t>
            </a:r>
            <a:r>
              <a:rPr sz="2100" spc="-25" dirty="0">
                <a:latin typeface="微软雅黑"/>
                <a:cs typeface="微软雅黑"/>
              </a:rPr>
              <a:t>Java</a:t>
            </a:r>
            <a:r>
              <a:rPr sz="2100" dirty="0">
                <a:latin typeface="微软雅黑"/>
                <a:cs typeface="微软雅黑"/>
              </a:rPr>
              <a:t>中定义了</a:t>
            </a:r>
            <a:r>
              <a:rPr sz="2100" spc="-10" dirty="0">
                <a:latin typeface="微软雅黑"/>
                <a:cs typeface="微软雅黑"/>
              </a:rPr>
              <a:t>ByteArrayInputStream</a:t>
            </a:r>
            <a:r>
              <a:rPr sz="2100" dirty="0">
                <a:latin typeface="微软雅黑"/>
                <a:cs typeface="微软雅黑"/>
              </a:rPr>
              <a:t>和 By</a:t>
            </a:r>
            <a:r>
              <a:rPr sz="2100" spc="-25" dirty="0">
                <a:latin typeface="微软雅黑"/>
                <a:cs typeface="微软雅黑"/>
              </a:rPr>
              <a:t>t</a:t>
            </a:r>
            <a:r>
              <a:rPr sz="2100" spc="-5" dirty="0">
                <a:latin typeface="微软雅黑"/>
                <a:cs typeface="微软雅黑"/>
              </a:rPr>
              <a:t>e</a:t>
            </a:r>
            <a:r>
              <a:rPr sz="2100" dirty="0">
                <a:latin typeface="微软雅黑"/>
                <a:cs typeface="微软雅黑"/>
              </a:rPr>
              <a:t>A</a:t>
            </a:r>
            <a:r>
              <a:rPr sz="2100" spc="-5" dirty="0">
                <a:latin typeface="微软雅黑"/>
                <a:cs typeface="微软雅黑"/>
              </a:rPr>
              <a:t>rrayO</a:t>
            </a:r>
            <a:r>
              <a:rPr sz="2100" dirty="0">
                <a:latin typeface="微软雅黑"/>
                <a:cs typeface="微软雅黑"/>
              </a:rPr>
              <a:t>u</a:t>
            </a:r>
            <a:r>
              <a:rPr sz="2100" spc="-5" dirty="0">
                <a:latin typeface="微软雅黑"/>
                <a:cs typeface="微软雅黑"/>
              </a:rPr>
              <a:t>tp</a:t>
            </a:r>
            <a:r>
              <a:rPr sz="2100" dirty="0">
                <a:latin typeface="微软雅黑"/>
                <a:cs typeface="微软雅黑"/>
              </a:rPr>
              <a:t>u</a:t>
            </a:r>
            <a:r>
              <a:rPr sz="2100" spc="-5" dirty="0">
                <a:latin typeface="微软雅黑"/>
                <a:cs typeface="微软雅黑"/>
              </a:rPr>
              <a:t>t</a:t>
            </a:r>
            <a:r>
              <a:rPr sz="2100" spc="-80" dirty="0">
                <a:latin typeface="微软雅黑"/>
                <a:cs typeface="微软雅黑"/>
              </a:rPr>
              <a:t>S</a:t>
            </a:r>
            <a:r>
              <a:rPr sz="2100" spc="-5" dirty="0">
                <a:latin typeface="微软雅黑"/>
                <a:cs typeface="微软雅黑"/>
              </a:rPr>
              <a:t>t</a:t>
            </a:r>
            <a:r>
              <a:rPr sz="2100" spc="-35" dirty="0">
                <a:latin typeface="微软雅黑"/>
                <a:cs typeface="微软雅黑"/>
              </a:rPr>
              <a:t>r</a:t>
            </a:r>
            <a:r>
              <a:rPr sz="2100" spc="-5" dirty="0">
                <a:latin typeface="微软雅黑"/>
                <a:cs typeface="微软雅黑"/>
              </a:rPr>
              <a:t>ea</a:t>
            </a:r>
            <a:r>
              <a:rPr sz="2100" dirty="0">
                <a:latin typeface="微软雅黑"/>
                <a:cs typeface="微软雅黑"/>
              </a:rPr>
              <a:t>m，用于以</a:t>
            </a:r>
            <a:r>
              <a:rPr sz="2100" spc="-5" dirty="0">
                <a:latin typeface="微软雅黑"/>
                <a:cs typeface="微软雅黑"/>
              </a:rPr>
              <a:t>I/O</a:t>
            </a:r>
            <a:r>
              <a:rPr sz="2100" dirty="0">
                <a:latin typeface="微软雅黑"/>
                <a:cs typeface="微软雅黑"/>
              </a:rPr>
              <a:t>流的方式来完成对字节 数组内容的读写，来支持类似内存虚拟文件的功能。</a:t>
            </a:r>
            <a:endParaRPr sz="2100">
              <a:latin typeface="微软雅黑"/>
              <a:cs typeface="微软雅黑"/>
            </a:endParaRPr>
          </a:p>
          <a:p>
            <a:pPr marL="184150" marR="5080" indent="-171450" algn="just">
              <a:lnSpc>
                <a:spcPts val="2270"/>
              </a:lnSpc>
              <a:spcBef>
                <a:spcPts val="735"/>
              </a:spcBef>
              <a:buFont typeface="Arial"/>
              <a:buChar char="•"/>
              <a:tabLst>
                <a:tab pos="184150" algn="l"/>
              </a:tabLst>
            </a:pPr>
            <a:r>
              <a:rPr sz="2100" spc="-10" dirty="0">
                <a:latin typeface="微软雅黑"/>
                <a:cs typeface="微软雅黑"/>
              </a:rPr>
              <a:t>ByteArrayInputStream</a:t>
            </a:r>
            <a:r>
              <a:rPr sz="2100" dirty="0">
                <a:latin typeface="微软雅黑"/>
                <a:cs typeface="微软雅黑"/>
              </a:rPr>
              <a:t>和</a:t>
            </a:r>
            <a:r>
              <a:rPr sz="2100" spc="-10" dirty="0">
                <a:latin typeface="微软雅黑"/>
                <a:cs typeface="微软雅黑"/>
              </a:rPr>
              <a:t>ByteArrayOutputStream</a:t>
            </a:r>
            <a:r>
              <a:rPr sz="2100" dirty="0">
                <a:latin typeface="微软雅黑"/>
                <a:cs typeface="微软雅黑"/>
              </a:rPr>
              <a:t>作为与内 存这个物理存储打交道的节点流，它们可以被处理流所包装， 从而用更丰富的操作使用字节数组流中的字节数据。</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36</a:t>
            </a:fld>
            <a:endParaRPr dirty="0"/>
          </a:p>
        </p:txBody>
      </p:sp>
      <p:sp>
        <p:nvSpPr>
          <p:cNvPr id="3" name="object 3"/>
          <p:cNvSpPr txBox="1">
            <a:spLocks noGrp="1"/>
          </p:cNvSpPr>
          <p:nvPr>
            <p:ph type="title"/>
          </p:nvPr>
        </p:nvSpPr>
        <p:spPr>
          <a:xfrm>
            <a:off x="1778952" y="242087"/>
            <a:ext cx="5334635" cy="605790"/>
          </a:xfrm>
          <a:prstGeom prst="rect">
            <a:avLst/>
          </a:prstGeom>
        </p:spPr>
        <p:txBody>
          <a:bodyPr vert="horz" wrap="square" lIns="0" tIns="47625" rIns="0" bIns="0" rtlCol="0">
            <a:spAutoFit/>
          </a:bodyPr>
          <a:lstStyle/>
          <a:p>
            <a:pPr marL="1122680" marR="5080" indent="-1109980">
              <a:lnSpc>
                <a:spcPts val="2160"/>
              </a:lnSpc>
              <a:spcBef>
                <a:spcPts val="375"/>
              </a:spcBef>
              <a:tabLst>
                <a:tab pos="935355" algn="l"/>
              </a:tabLst>
            </a:pPr>
            <a:r>
              <a:rPr sz="2000" spc="-5" dirty="0"/>
              <a:t>12.2.7	</a:t>
            </a:r>
            <a:r>
              <a:rPr sz="2000" dirty="0"/>
              <a:t>字节数组流</a:t>
            </a:r>
            <a:r>
              <a:rPr sz="2000" spc="-10" dirty="0"/>
              <a:t>ByteArrayInputStream</a:t>
            </a:r>
            <a:r>
              <a:rPr sz="2000" spc="5" dirty="0"/>
              <a:t>和 </a:t>
            </a:r>
            <a:r>
              <a:rPr sz="2000" spc="-10" dirty="0"/>
              <a:t>ByteArrayOutputStream</a:t>
            </a:r>
            <a:endParaRPr sz="2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57747"/>
            <a:ext cx="7957820" cy="2531745"/>
          </a:xfrm>
          <a:prstGeom prst="rect">
            <a:avLst/>
          </a:prstGeom>
        </p:spPr>
        <p:txBody>
          <a:bodyPr vert="horz" wrap="square" lIns="0" tIns="36195" rIns="0" bIns="0" rtlCol="0">
            <a:spAutoFit/>
          </a:bodyPr>
          <a:lstStyle/>
          <a:p>
            <a:pPr marL="184150" indent="-171450">
              <a:lnSpc>
                <a:spcPct val="100000"/>
              </a:lnSpc>
              <a:spcBef>
                <a:spcPts val="285"/>
              </a:spcBef>
              <a:buFont typeface="Arial"/>
              <a:buChar char="•"/>
              <a:tabLst>
                <a:tab pos="184150" algn="l"/>
              </a:tabLst>
            </a:pPr>
            <a:r>
              <a:rPr sz="2100" dirty="0">
                <a:latin typeface="微软雅黑"/>
                <a:cs typeface="微软雅黑"/>
              </a:rPr>
              <a:t>构造方法：</a:t>
            </a:r>
            <a:endParaRPr sz="2100">
              <a:latin typeface="微软雅黑"/>
              <a:cs typeface="微软雅黑"/>
            </a:endParaRPr>
          </a:p>
          <a:p>
            <a:pPr marL="527050" marR="5080" lvl="1" indent="-171450">
              <a:lnSpc>
                <a:spcPts val="1939"/>
              </a:lnSpc>
              <a:spcBef>
                <a:spcPts val="409"/>
              </a:spcBef>
              <a:buFont typeface="Arial"/>
              <a:buChar char="•"/>
              <a:tabLst>
                <a:tab pos="527050" algn="l"/>
              </a:tabLst>
            </a:pPr>
            <a:r>
              <a:rPr sz="1800" spc="-10" dirty="0">
                <a:latin typeface="微软雅黑"/>
                <a:cs typeface="微软雅黑"/>
              </a:rPr>
              <a:t>ByteArrayInputStream(byte[]</a:t>
            </a:r>
            <a:r>
              <a:rPr sz="1800" dirty="0">
                <a:latin typeface="微软雅黑"/>
                <a:cs typeface="微软雅黑"/>
              </a:rPr>
              <a:t> </a:t>
            </a:r>
            <a:r>
              <a:rPr sz="1800" spc="-5" dirty="0">
                <a:latin typeface="微软雅黑"/>
                <a:cs typeface="微软雅黑"/>
              </a:rPr>
              <a:t>buf)：</a:t>
            </a:r>
            <a:r>
              <a:rPr sz="1800" dirty="0">
                <a:latin typeface="微软雅黑"/>
                <a:cs typeface="微软雅黑"/>
              </a:rPr>
              <a:t>使用buf作为其缓冲区数组创建一个 </a:t>
            </a:r>
            <a:r>
              <a:rPr sz="1800" spc="-10" dirty="0">
                <a:latin typeface="微软雅黑"/>
                <a:cs typeface="微软雅黑"/>
              </a:rPr>
              <a:t>ByteArrayInputStream</a:t>
            </a:r>
            <a:r>
              <a:rPr sz="1800" dirty="0">
                <a:latin typeface="微软雅黑"/>
                <a:cs typeface="微软雅黑"/>
              </a:rPr>
              <a:t>对象。</a:t>
            </a:r>
            <a:endParaRPr sz="1800">
              <a:latin typeface="微软雅黑"/>
              <a:cs typeface="微软雅黑"/>
            </a:endParaRPr>
          </a:p>
          <a:p>
            <a:pPr marL="527050" marR="11430" lvl="1" indent="-171450">
              <a:lnSpc>
                <a:spcPts val="1939"/>
              </a:lnSpc>
              <a:spcBef>
                <a:spcPts val="375"/>
              </a:spcBef>
              <a:buFont typeface="Arial"/>
              <a:buChar char="•"/>
              <a:tabLst>
                <a:tab pos="527050" algn="l"/>
              </a:tabLst>
            </a:pPr>
            <a:r>
              <a:rPr sz="1800" spc="-10" dirty="0">
                <a:latin typeface="微软雅黑"/>
                <a:cs typeface="微软雅黑"/>
              </a:rPr>
              <a:t>ByteArrayInputStream(byte[]</a:t>
            </a:r>
            <a:r>
              <a:rPr sz="1800" dirty="0">
                <a:latin typeface="微软雅黑"/>
                <a:cs typeface="微软雅黑"/>
              </a:rPr>
              <a:t> buf,</a:t>
            </a:r>
            <a:r>
              <a:rPr sz="1800" spc="5" dirty="0">
                <a:latin typeface="微软雅黑"/>
                <a:cs typeface="微软雅黑"/>
              </a:rPr>
              <a:t> </a:t>
            </a:r>
            <a:r>
              <a:rPr sz="1800" dirty="0">
                <a:latin typeface="微软雅黑"/>
                <a:cs typeface="微软雅黑"/>
              </a:rPr>
              <a:t>int</a:t>
            </a:r>
            <a:r>
              <a:rPr sz="1800" spc="5" dirty="0">
                <a:latin typeface="微软雅黑"/>
                <a:cs typeface="微软雅黑"/>
              </a:rPr>
              <a:t> </a:t>
            </a:r>
            <a:r>
              <a:rPr sz="1800" spc="-10" dirty="0">
                <a:latin typeface="微软雅黑"/>
                <a:cs typeface="微软雅黑"/>
              </a:rPr>
              <a:t>offset,</a:t>
            </a:r>
            <a:r>
              <a:rPr sz="1800" spc="5" dirty="0">
                <a:latin typeface="微软雅黑"/>
                <a:cs typeface="微软雅黑"/>
              </a:rPr>
              <a:t> </a:t>
            </a:r>
            <a:r>
              <a:rPr sz="1800" dirty="0">
                <a:latin typeface="微软雅黑"/>
                <a:cs typeface="微软雅黑"/>
              </a:rPr>
              <a:t>int</a:t>
            </a:r>
            <a:r>
              <a:rPr sz="1800" spc="5" dirty="0">
                <a:latin typeface="微软雅黑"/>
                <a:cs typeface="微软雅黑"/>
              </a:rPr>
              <a:t> </a:t>
            </a:r>
            <a:r>
              <a:rPr sz="1800" spc="-5" dirty="0">
                <a:latin typeface="微软雅黑"/>
                <a:cs typeface="微软雅黑"/>
              </a:rPr>
              <a:t>length)：</a:t>
            </a:r>
            <a:r>
              <a:rPr sz="1800" dirty="0">
                <a:latin typeface="微软雅黑"/>
                <a:cs typeface="微软雅黑"/>
              </a:rPr>
              <a:t>使用buf数组 从</a:t>
            </a:r>
            <a:r>
              <a:rPr sz="1800" spc="-10" dirty="0">
                <a:latin typeface="微软雅黑"/>
                <a:cs typeface="微软雅黑"/>
              </a:rPr>
              <a:t>offset</a:t>
            </a:r>
            <a:r>
              <a:rPr sz="1800" dirty="0">
                <a:latin typeface="微软雅黑"/>
                <a:cs typeface="微软雅黑"/>
              </a:rPr>
              <a:t>位置开始的</a:t>
            </a:r>
            <a:r>
              <a:rPr sz="1800" spc="-5" dirty="0">
                <a:latin typeface="微软雅黑"/>
                <a:cs typeface="微软雅黑"/>
              </a:rPr>
              <a:t>length</a:t>
            </a:r>
            <a:r>
              <a:rPr sz="1800" dirty="0">
                <a:latin typeface="微软雅黑"/>
                <a:cs typeface="微软雅黑"/>
              </a:rPr>
              <a:t>长度空间作为缓冲区创建 </a:t>
            </a:r>
            <a:r>
              <a:rPr sz="1800" spc="-10" dirty="0">
                <a:latin typeface="微软雅黑"/>
                <a:cs typeface="微软雅黑"/>
              </a:rPr>
              <a:t>ByteArrayInputStream</a:t>
            </a:r>
            <a:r>
              <a:rPr sz="1800" dirty="0">
                <a:latin typeface="微软雅黑"/>
                <a:cs typeface="微软雅黑"/>
              </a:rPr>
              <a:t>。</a:t>
            </a:r>
            <a:endParaRPr sz="1800">
              <a:latin typeface="微软雅黑"/>
              <a:cs typeface="微软雅黑"/>
            </a:endParaRPr>
          </a:p>
          <a:p>
            <a:pPr marL="527050" lvl="1" indent="-171450">
              <a:lnSpc>
                <a:spcPct val="100000"/>
              </a:lnSpc>
              <a:spcBef>
                <a:spcPts val="125"/>
              </a:spcBef>
              <a:buFont typeface="Arial"/>
              <a:buChar char="•"/>
              <a:tabLst>
                <a:tab pos="527050" algn="l"/>
              </a:tabLst>
            </a:pPr>
            <a:r>
              <a:rPr sz="1800" spc="-10" dirty="0">
                <a:latin typeface="微软雅黑"/>
                <a:cs typeface="微软雅黑"/>
              </a:rPr>
              <a:t>ByteArrayOutputStream()：</a:t>
            </a:r>
            <a:r>
              <a:rPr sz="1800" dirty="0">
                <a:latin typeface="微软雅黑"/>
                <a:cs typeface="微软雅黑"/>
              </a:rPr>
              <a:t>创建一个新的字节数组输出流。</a:t>
            </a:r>
            <a:endParaRPr sz="1800">
              <a:latin typeface="微软雅黑"/>
              <a:cs typeface="微软雅黑"/>
            </a:endParaRPr>
          </a:p>
          <a:p>
            <a:pPr marL="527050" marR="14604" lvl="1" indent="-171450">
              <a:lnSpc>
                <a:spcPts val="1939"/>
              </a:lnSpc>
              <a:spcBef>
                <a:spcPts val="405"/>
              </a:spcBef>
              <a:buFont typeface="Arial"/>
              <a:buChar char="•"/>
              <a:tabLst>
                <a:tab pos="527050" algn="l"/>
              </a:tabLst>
            </a:pPr>
            <a:r>
              <a:rPr sz="1800" spc="-10" dirty="0">
                <a:latin typeface="微软雅黑"/>
                <a:cs typeface="微软雅黑"/>
              </a:rPr>
              <a:t>ByteArrayOutputStream(int</a:t>
            </a:r>
            <a:r>
              <a:rPr sz="1800" spc="-5" dirty="0">
                <a:latin typeface="微软雅黑"/>
                <a:cs typeface="微软雅黑"/>
              </a:rPr>
              <a:t> size)：</a:t>
            </a:r>
            <a:r>
              <a:rPr sz="1800" dirty="0">
                <a:latin typeface="微软雅黑"/>
                <a:cs typeface="微软雅黑"/>
              </a:rPr>
              <a:t>创建一个新的字节数组输出流，它具 有指定大小的缓冲区容量。</a:t>
            </a:r>
            <a:endParaRPr sz="18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37</a:t>
            </a:fld>
            <a:endParaRPr dirty="0"/>
          </a:p>
        </p:txBody>
      </p:sp>
      <p:sp>
        <p:nvSpPr>
          <p:cNvPr id="3" name="object 3"/>
          <p:cNvSpPr txBox="1">
            <a:spLocks noGrp="1"/>
          </p:cNvSpPr>
          <p:nvPr>
            <p:ph type="title"/>
          </p:nvPr>
        </p:nvSpPr>
        <p:spPr>
          <a:xfrm>
            <a:off x="1778952" y="242087"/>
            <a:ext cx="5334635" cy="605790"/>
          </a:xfrm>
          <a:prstGeom prst="rect">
            <a:avLst/>
          </a:prstGeom>
        </p:spPr>
        <p:txBody>
          <a:bodyPr vert="horz" wrap="square" lIns="0" tIns="47625" rIns="0" bIns="0" rtlCol="0">
            <a:spAutoFit/>
          </a:bodyPr>
          <a:lstStyle/>
          <a:p>
            <a:pPr marL="1122680" marR="5080" indent="-1109980">
              <a:lnSpc>
                <a:spcPts val="2160"/>
              </a:lnSpc>
              <a:spcBef>
                <a:spcPts val="375"/>
              </a:spcBef>
              <a:tabLst>
                <a:tab pos="935355" algn="l"/>
              </a:tabLst>
            </a:pPr>
            <a:r>
              <a:rPr sz="2000" spc="-5" dirty="0"/>
              <a:t>12.2.7	</a:t>
            </a:r>
            <a:r>
              <a:rPr sz="2000" dirty="0"/>
              <a:t>字节数组流</a:t>
            </a:r>
            <a:r>
              <a:rPr sz="2000" spc="-10" dirty="0"/>
              <a:t>ByteArrayInputStream</a:t>
            </a:r>
            <a:r>
              <a:rPr sz="2000" spc="5" dirty="0"/>
              <a:t>和 </a:t>
            </a:r>
            <a:r>
              <a:rPr sz="2000" spc="-10" dirty="0"/>
              <a:t>ByteArrayOutputStream</a:t>
            </a: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81454"/>
            <a:ext cx="7745095" cy="2103755"/>
          </a:xfrm>
          <a:prstGeom prst="rect">
            <a:avLst/>
          </a:prstGeom>
        </p:spPr>
        <p:txBody>
          <a:bodyPr vert="horz" wrap="square" lIns="0" tIns="12700" rIns="0" bIns="0" rtlCol="0">
            <a:spAutoFit/>
          </a:bodyPr>
          <a:lstStyle/>
          <a:p>
            <a:pPr marL="12700">
              <a:lnSpc>
                <a:spcPct val="100000"/>
              </a:lnSpc>
              <a:spcBef>
                <a:spcPts val="100"/>
              </a:spcBef>
            </a:pPr>
            <a:r>
              <a:rPr sz="2100" dirty="0">
                <a:latin typeface="微软雅黑"/>
                <a:cs typeface="微软雅黑"/>
              </a:rPr>
              <a:t>【例</a:t>
            </a:r>
            <a:r>
              <a:rPr sz="2100" spc="-5" dirty="0">
                <a:latin typeface="微软雅黑"/>
                <a:cs typeface="微软雅黑"/>
              </a:rPr>
              <a:t>12-6</a:t>
            </a:r>
            <a:r>
              <a:rPr sz="2100" dirty="0">
                <a:latin typeface="微软雅黑"/>
                <a:cs typeface="微软雅黑"/>
              </a:rPr>
              <a:t>】实现对象的深复制。</a:t>
            </a:r>
            <a:endParaRPr sz="2100">
              <a:latin typeface="微软雅黑"/>
              <a:cs typeface="微软雅黑"/>
            </a:endParaRPr>
          </a:p>
          <a:p>
            <a:pPr>
              <a:lnSpc>
                <a:spcPct val="100000"/>
              </a:lnSpc>
              <a:spcBef>
                <a:spcPts val="10"/>
              </a:spcBef>
            </a:pPr>
            <a:endParaRPr sz="1850">
              <a:latin typeface="微软雅黑"/>
              <a:cs typeface="微软雅黑"/>
            </a:endParaRPr>
          </a:p>
          <a:p>
            <a:pPr marL="417195" marR="5080" indent="-171450">
              <a:lnSpc>
                <a:spcPts val="1939"/>
              </a:lnSpc>
              <a:buFont typeface="Arial"/>
              <a:buChar char="•"/>
              <a:tabLst>
                <a:tab pos="417195" algn="l"/>
              </a:tabLst>
            </a:pPr>
            <a:r>
              <a:rPr sz="1800" dirty="0">
                <a:latin typeface="微软雅黑"/>
                <a:cs typeface="微软雅黑"/>
              </a:rPr>
              <a:t>深复制的前提：对象以及对象内部所有引用到的对象都是可序列化的，即 都实现了</a:t>
            </a:r>
            <a:r>
              <a:rPr sz="1800" spc="-5" dirty="0">
                <a:latin typeface="微软雅黑"/>
                <a:cs typeface="微软雅黑"/>
              </a:rPr>
              <a:t>Serializable</a:t>
            </a:r>
            <a:r>
              <a:rPr sz="1800" dirty="0">
                <a:latin typeface="微软雅黑"/>
                <a:cs typeface="微软雅黑"/>
              </a:rPr>
              <a:t>接口。</a:t>
            </a:r>
            <a:endParaRPr sz="1800">
              <a:latin typeface="微软雅黑"/>
              <a:cs typeface="微软雅黑"/>
            </a:endParaRPr>
          </a:p>
          <a:p>
            <a:pPr>
              <a:lnSpc>
                <a:spcPct val="100000"/>
              </a:lnSpc>
              <a:spcBef>
                <a:spcPts val="20"/>
              </a:spcBef>
              <a:buFont typeface="Arial"/>
              <a:buChar char="•"/>
            </a:pPr>
            <a:endParaRPr sz="1450">
              <a:latin typeface="微软雅黑"/>
              <a:cs typeface="微软雅黑"/>
            </a:endParaRPr>
          </a:p>
          <a:p>
            <a:pPr marL="417195" marR="5080" indent="-171450">
              <a:lnSpc>
                <a:spcPts val="1939"/>
              </a:lnSpc>
              <a:buFont typeface="Arial"/>
              <a:buChar char="•"/>
              <a:tabLst>
                <a:tab pos="417195" algn="l"/>
              </a:tabLst>
            </a:pPr>
            <a:r>
              <a:rPr sz="1800" dirty="0">
                <a:latin typeface="微软雅黑"/>
                <a:cs typeface="微软雅黑"/>
              </a:rPr>
              <a:t>将对象持久化到文件中再读出可以获得原对象的一个拷贝，所以利用这个 方法可以深复制对象。</a:t>
            </a:r>
            <a:endParaRPr sz="18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38</a:t>
            </a:fld>
            <a:endParaRPr dirty="0"/>
          </a:p>
        </p:txBody>
      </p:sp>
      <p:sp>
        <p:nvSpPr>
          <p:cNvPr id="3" name="object 3"/>
          <p:cNvSpPr txBox="1">
            <a:spLocks noGrp="1"/>
          </p:cNvSpPr>
          <p:nvPr>
            <p:ph type="title"/>
          </p:nvPr>
        </p:nvSpPr>
        <p:spPr>
          <a:xfrm>
            <a:off x="1778952" y="242087"/>
            <a:ext cx="5334635" cy="605790"/>
          </a:xfrm>
          <a:prstGeom prst="rect">
            <a:avLst/>
          </a:prstGeom>
        </p:spPr>
        <p:txBody>
          <a:bodyPr vert="horz" wrap="square" lIns="0" tIns="47625" rIns="0" bIns="0" rtlCol="0">
            <a:spAutoFit/>
          </a:bodyPr>
          <a:lstStyle/>
          <a:p>
            <a:pPr marL="1122680" marR="5080" indent="-1109980">
              <a:lnSpc>
                <a:spcPts val="2160"/>
              </a:lnSpc>
              <a:spcBef>
                <a:spcPts val="375"/>
              </a:spcBef>
              <a:tabLst>
                <a:tab pos="935355" algn="l"/>
              </a:tabLst>
            </a:pPr>
            <a:r>
              <a:rPr sz="2000" spc="-5" dirty="0"/>
              <a:t>12.2.7	</a:t>
            </a:r>
            <a:r>
              <a:rPr sz="2000" dirty="0"/>
              <a:t>字节数组流</a:t>
            </a:r>
            <a:r>
              <a:rPr sz="2000" spc="-10" dirty="0"/>
              <a:t>ByteArrayInputStream</a:t>
            </a:r>
            <a:r>
              <a:rPr sz="2000" spc="5" dirty="0"/>
              <a:t>和 </a:t>
            </a:r>
            <a:r>
              <a:rPr sz="2000" spc="-10" dirty="0"/>
              <a:t>ByteArrayOutputStream</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2185" y="2324734"/>
            <a:ext cx="6903084" cy="1377950"/>
          </a:xfrm>
          <a:prstGeom prst="rect">
            <a:avLst/>
          </a:prstGeom>
        </p:spPr>
        <p:txBody>
          <a:bodyPr vert="horz" wrap="square" lIns="0" tIns="53975" rIns="0" bIns="0" rtlCol="0">
            <a:spAutoFit/>
          </a:bodyPr>
          <a:lstStyle/>
          <a:p>
            <a:pPr marL="184150" marR="5080" indent="-171450">
              <a:lnSpc>
                <a:spcPts val="2590"/>
              </a:lnSpc>
              <a:spcBef>
                <a:spcPts val="425"/>
              </a:spcBef>
              <a:buFont typeface="Arial"/>
              <a:buChar char="•"/>
              <a:tabLst>
                <a:tab pos="184150" algn="l"/>
              </a:tabLst>
            </a:pPr>
            <a:r>
              <a:rPr sz="2400" dirty="0">
                <a:latin typeface="微软雅黑"/>
                <a:cs typeface="微软雅黑"/>
              </a:rPr>
              <a:t>为了便于读写字符型数据，让</a:t>
            </a:r>
            <a:r>
              <a:rPr sz="2400" spc="-25" dirty="0">
                <a:latin typeface="微软雅黑"/>
                <a:cs typeface="微软雅黑"/>
              </a:rPr>
              <a:t>Java</a:t>
            </a:r>
            <a:r>
              <a:rPr sz="2400" dirty="0">
                <a:latin typeface="微软雅黑"/>
                <a:cs typeface="微软雅黑"/>
              </a:rPr>
              <a:t>的</a:t>
            </a:r>
            <a:r>
              <a:rPr sz="2400" spc="-5" dirty="0">
                <a:latin typeface="微软雅黑"/>
                <a:cs typeface="微软雅黑"/>
              </a:rPr>
              <a:t>I/O</a:t>
            </a:r>
            <a:r>
              <a:rPr sz="2400" dirty="0">
                <a:latin typeface="微软雅黑"/>
                <a:cs typeface="微软雅黑"/>
              </a:rPr>
              <a:t>流都支持 </a:t>
            </a:r>
            <a:r>
              <a:rPr sz="2400" spc="-5" dirty="0">
                <a:latin typeface="微软雅黑"/>
                <a:cs typeface="微软雅黑"/>
              </a:rPr>
              <a:t>Unicode</a:t>
            </a:r>
            <a:r>
              <a:rPr sz="2400" dirty="0">
                <a:latin typeface="微软雅黑"/>
                <a:cs typeface="微软雅黑"/>
              </a:rPr>
              <a:t>编码，并允许使用其他字符编码方案，  </a:t>
            </a:r>
            <a:r>
              <a:rPr sz="2400" spc="-25" dirty="0">
                <a:latin typeface="微软雅黑"/>
                <a:cs typeface="微软雅黑"/>
              </a:rPr>
              <a:t>Java</a:t>
            </a:r>
            <a:r>
              <a:rPr sz="2400" spc="-60" dirty="0">
                <a:latin typeface="微软雅黑"/>
                <a:cs typeface="微软雅黑"/>
              </a:rPr>
              <a:t> </a:t>
            </a:r>
            <a:r>
              <a:rPr sz="2400" spc="-5" dirty="0">
                <a:latin typeface="微软雅黑"/>
                <a:cs typeface="微软雅黑"/>
              </a:rPr>
              <a:t>1.1</a:t>
            </a:r>
            <a:r>
              <a:rPr sz="2400" dirty="0">
                <a:latin typeface="微软雅黑"/>
                <a:cs typeface="微软雅黑"/>
              </a:rPr>
              <a:t>的类库中增加了</a:t>
            </a:r>
            <a:r>
              <a:rPr sz="2400" spc="-20" dirty="0">
                <a:latin typeface="微软雅黑"/>
                <a:cs typeface="微软雅黑"/>
              </a:rPr>
              <a:t>Reader</a:t>
            </a:r>
            <a:r>
              <a:rPr sz="2400" dirty="0">
                <a:latin typeface="微软雅黑"/>
                <a:cs typeface="微软雅黑"/>
              </a:rPr>
              <a:t>和</a:t>
            </a:r>
            <a:r>
              <a:rPr sz="2400" spc="-10" dirty="0">
                <a:latin typeface="微软雅黑"/>
                <a:cs typeface="微软雅黑"/>
              </a:rPr>
              <a:t>Writer</a:t>
            </a:r>
            <a:r>
              <a:rPr sz="2400" dirty="0">
                <a:latin typeface="微软雅黑"/>
                <a:cs typeface="微软雅黑"/>
              </a:rPr>
              <a:t>继承层次 结构，分别表示字符输入流和字符输出流。</a:t>
            </a:r>
            <a:endParaRPr sz="24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39</a:t>
            </a:fld>
            <a:endParaRPr dirty="0"/>
          </a:p>
        </p:txBody>
      </p:sp>
      <p:sp>
        <p:nvSpPr>
          <p:cNvPr id="3" name="object 3"/>
          <p:cNvSpPr txBox="1">
            <a:spLocks noGrp="1"/>
          </p:cNvSpPr>
          <p:nvPr>
            <p:ph type="title"/>
          </p:nvPr>
        </p:nvSpPr>
        <p:spPr>
          <a:xfrm>
            <a:off x="1283652" y="226212"/>
            <a:ext cx="2645410" cy="574040"/>
          </a:xfrm>
          <a:prstGeom prst="rect">
            <a:avLst/>
          </a:prstGeom>
        </p:spPr>
        <p:txBody>
          <a:bodyPr vert="horz" wrap="square" lIns="0" tIns="12700" rIns="0" bIns="0" rtlCol="0">
            <a:spAutoFit/>
          </a:bodyPr>
          <a:lstStyle/>
          <a:p>
            <a:pPr marL="12700">
              <a:lnSpc>
                <a:spcPct val="100000"/>
              </a:lnSpc>
              <a:spcBef>
                <a:spcPts val="100"/>
              </a:spcBef>
              <a:tabLst>
                <a:tab pos="1260475" algn="l"/>
              </a:tabLst>
            </a:pPr>
            <a:r>
              <a:rPr sz="3600" spc="-5" dirty="0"/>
              <a:t>12</a:t>
            </a:r>
            <a:r>
              <a:rPr sz="3600" dirty="0"/>
              <a:t>.3	字符流</a:t>
            </a:r>
            <a:endParaRPr sz="36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0700"/>
            <a:ext cx="3850640" cy="345440"/>
          </a:xfrm>
          <a:prstGeom prst="rect">
            <a:avLst/>
          </a:prstGeom>
        </p:spPr>
        <p:txBody>
          <a:bodyPr vert="horz" wrap="square" lIns="0" tIns="12700" rIns="0" bIns="0" rtlCol="0">
            <a:spAutoFit/>
          </a:bodyPr>
          <a:lstStyle/>
          <a:p>
            <a:pPr marL="12700">
              <a:lnSpc>
                <a:spcPct val="100000"/>
              </a:lnSpc>
              <a:spcBef>
                <a:spcPts val="100"/>
              </a:spcBef>
              <a:tabLst>
                <a:tab pos="981075" algn="l"/>
              </a:tabLst>
            </a:pPr>
            <a:r>
              <a:rPr sz="2100" spc="-5" dirty="0"/>
              <a:t>12.3.1	</a:t>
            </a:r>
            <a:r>
              <a:rPr sz="2100" dirty="0"/>
              <a:t>抽象类</a:t>
            </a:r>
            <a:r>
              <a:rPr sz="2100" spc="-15" dirty="0"/>
              <a:t>Reader</a:t>
            </a:r>
            <a:r>
              <a:rPr sz="2100" dirty="0"/>
              <a:t>和</a:t>
            </a:r>
            <a:r>
              <a:rPr sz="2100" spc="-5" dirty="0"/>
              <a:t>Writer</a:t>
            </a:r>
            <a:endParaRPr sz="2100"/>
          </a:p>
        </p:txBody>
      </p:sp>
      <p:sp>
        <p:nvSpPr>
          <p:cNvPr id="3" name="object 3"/>
          <p:cNvSpPr/>
          <p:nvPr/>
        </p:nvSpPr>
        <p:spPr>
          <a:xfrm>
            <a:off x="1763267" y="1557527"/>
            <a:ext cx="5832348" cy="4751832"/>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40</a:t>
            </a:fld>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55420"/>
            <a:ext cx="8011159" cy="4175125"/>
          </a:xfrm>
          <a:prstGeom prst="rect">
            <a:avLst/>
          </a:prstGeom>
        </p:spPr>
        <p:txBody>
          <a:bodyPr vert="horz" wrap="square" lIns="0" tIns="12700" rIns="0" bIns="0" rtlCol="0">
            <a:spAutoFit/>
          </a:bodyPr>
          <a:lstStyle/>
          <a:p>
            <a:pPr marL="184150" indent="-171450">
              <a:lnSpc>
                <a:spcPct val="100000"/>
              </a:lnSpc>
              <a:spcBef>
                <a:spcPts val="100"/>
              </a:spcBef>
              <a:buFont typeface="Arial"/>
              <a:buChar char="•"/>
              <a:tabLst>
                <a:tab pos="184150" algn="l"/>
              </a:tabLst>
            </a:pPr>
            <a:r>
              <a:rPr sz="2100" spc="-15" dirty="0">
                <a:latin typeface="微软雅黑"/>
                <a:cs typeface="微软雅黑"/>
              </a:rPr>
              <a:t>Reader</a:t>
            </a:r>
            <a:r>
              <a:rPr sz="2100" dirty="0">
                <a:latin typeface="微软雅黑"/>
                <a:cs typeface="微软雅黑"/>
              </a:rPr>
              <a:t>类中</a:t>
            </a:r>
            <a:r>
              <a:rPr sz="2100" spc="-5" dirty="0">
                <a:latin typeface="微软雅黑"/>
                <a:cs typeface="微软雅黑"/>
              </a:rPr>
              <a:t>3</a:t>
            </a:r>
            <a:r>
              <a:rPr sz="2100" dirty="0">
                <a:latin typeface="微软雅黑"/>
                <a:cs typeface="微软雅黑"/>
              </a:rPr>
              <a:t>个基本的读取数据的方法：</a:t>
            </a:r>
            <a:endParaRPr sz="2100">
              <a:latin typeface="微软雅黑"/>
              <a:cs typeface="微软雅黑"/>
            </a:endParaRPr>
          </a:p>
          <a:p>
            <a:pPr>
              <a:lnSpc>
                <a:spcPct val="100000"/>
              </a:lnSpc>
              <a:spcBef>
                <a:spcPts val="70"/>
              </a:spcBef>
              <a:buFont typeface="Arial"/>
              <a:buChar char="•"/>
            </a:pPr>
            <a:endParaRPr sz="1400">
              <a:latin typeface="微软雅黑"/>
              <a:cs typeface="微软雅黑"/>
            </a:endParaRPr>
          </a:p>
          <a:p>
            <a:pPr marL="527050" lvl="1" indent="-171450">
              <a:lnSpc>
                <a:spcPts val="2160"/>
              </a:lnSpc>
              <a:spcBef>
                <a:spcPts val="5"/>
              </a:spcBef>
              <a:buFont typeface="Arial"/>
              <a:buChar char="•"/>
              <a:tabLst>
                <a:tab pos="527050" algn="l"/>
              </a:tabLst>
            </a:pPr>
            <a:r>
              <a:rPr sz="2000" spc="-5" dirty="0">
                <a:latin typeface="微软雅黑"/>
                <a:cs typeface="微软雅黑"/>
              </a:rPr>
              <a:t>int</a:t>
            </a:r>
            <a:r>
              <a:rPr sz="2000" spc="-35" dirty="0">
                <a:latin typeface="微软雅黑"/>
                <a:cs typeface="微软雅黑"/>
              </a:rPr>
              <a:t> </a:t>
            </a:r>
            <a:r>
              <a:rPr sz="2000" spc="-10" dirty="0">
                <a:latin typeface="微软雅黑"/>
                <a:cs typeface="微软雅黑"/>
              </a:rPr>
              <a:t>read()：</a:t>
            </a:r>
            <a:r>
              <a:rPr sz="2000" dirty="0">
                <a:latin typeface="微软雅黑"/>
                <a:cs typeface="微软雅黑"/>
              </a:rPr>
              <a:t>从输入流中读取单个字符。因为</a:t>
            </a:r>
            <a:r>
              <a:rPr sz="2000" spc="-20" dirty="0">
                <a:latin typeface="微软雅黑"/>
                <a:cs typeface="微软雅黑"/>
              </a:rPr>
              <a:t>Java</a:t>
            </a:r>
            <a:r>
              <a:rPr sz="2000" dirty="0">
                <a:latin typeface="微软雅黑"/>
                <a:cs typeface="微软雅黑"/>
              </a:rPr>
              <a:t>采用</a:t>
            </a:r>
            <a:r>
              <a:rPr sz="2000" spc="-5" dirty="0">
                <a:latin typeface="微软雅黑"/>
                <a:cs typeface="微软雅黑"/>
              </a:rPr>
              <a:t>Unicode</a:t>
            </a:r>
            <a:r>
              <a:rPr sz="2000" dirty="0">
                <a:latin typeface="微软雅黑"/>
                <a:cs typeface="微软雅黑"/>
              </a:rPr>
              <a:t>编</a:t>
            </a:r>
            <a:r>
              <a:rPr sz="2000" spc="5" dirty="0">
                <a:latin typeface="微软雅黑"/>
                <a:cs typeface="微软雅黑"/>
              </a:rPr>
              <a:t>码</a:t>
            </a:r>
            <a:endParaRPr sz="2000">
              <a:latin typeface="微软雅黑"/>
              <a:cs typeface="微软雅黑"/>
            </a:endParaRPr>
          </a:p>
          <a:p>
            <a:pPr marL="527050" marR="116839">
              <a:lnSpc>
                <a:spcPts val="1920"/>
              </a:lnSpc>
              <a:spcBef>
                <a:spcPts val="220"/>
              </a:spcBef>
            </a:pPr>
            <a:r>
              <a:rPr sz="2000" spc="-5" dirty="0">
                <a:latin typeface="微软雅黑"/>
                <a:cs typeface="微软雅黑"/>
              </a:rPr>
              <a:t>，每个字符分配2个字节的存储空间，所以</a:t>
            </a:r>
            <a:r>
              <a:rPr sz="2000" spc="-35" dirty="0">
                <a:latin typeface="微软雅黑"/>
                <a:cs typeface="微软雅黑"/>
              </a:rPr>
              <a:t>r</a:t>
            </a:r>
            <a:r>
              <a:rPr sz="2000" spc="-5" dirty="0">
                <a:latin typeface="微软雅黑"/>
                <a:cs typeface="微软雅黑"/>
              </a:rPr>
              <a:t>ead</a:t>
            </a:r>
            <a:r>
              <a:rPr sz="2000" dirty="0">
                <a:latin typeface="微软雅黑"/>
                <a:cs typeface="微软雅黑"/>
              </a:rPr>
              <a:t>()</a:t>
            </a:r>
            <a:r>
              <a:rPr sz="2000" spc="-5" dirty="0">
                <a:latin typeface="微软雅黑"/>
                <a:cs typeface="微软雅黑"/>
              </a:rPr>
              <a:t>方法将读取2个</a:t>
            </a:r>
            <a:r>
              <a:rPr sz="2000" dirty="0">
                <a:latin typeface="微软雅黑"/>
                <a:cs typeface="微软雅黑"/>
              </a:rPr>
              <a:t>字 节，返回所读取的字符数据的</a:t>
            </a:r>
            <a:r>
              <a:rPr sz="2000" spc="-5" dirty="0">
                <a:latin typeface="微软雅黑"/>
                <a:cs typeface="微软雅黑"/>
              </a:rPr>
              <a:t>Unicode</a:t>
            </a:r>
            <a:r>
              <a:rPr sz="2000" dirty="0">
                <a:latin typeface="微软雅黑"/>
                <a:cs typeface="微软雅黑"/>
              </a:rPr>
              <a:t>编码</a:t>
            </a:r>
            <a:r>
              <a:rPr sz="2000" spc="5" dirty="0">
                <a:latin typeface="微软雅黑"/>
                <a:cs typeface="微软雅黑"/>
              </a:rPr>
              <a:t>。</a:t>
            </a:r>
            <a:endParaRPr sz="2000">
              <a:latin typeface="微软雅黑"/>
              <a:cs typeface="微软雅黑"/>
            </a:endParaRPr>
          </a:p>
          <a:p>
            <a:pPr>
              <a:lnSpc>
                <a:spcPct val="100000"/>
              </a:lnSpc>
            </a:pPr>
            <a:endParaRPr sz="1450">
              <a:latin typeface="微软雅黑"/>
              <a:cs typeface="微软雅黑"/>
            </a:endParaRPr>
          </a:p>
          <a:p>
            <a:pPr marL="527050" marR="157480" lvl="1" indent="-171450">
              <a:lnSpc>
                <a:spcPts val="1920"/>
              </a:lnSpc>
              <a:buFont typeface="Arial"/>
              <a:buChar char="•"/>
              <a:tabLst>
                <a:tab pos="527050" algn="l"/>
              </a:tabLst>
            </a:pPr>
            <a:r>
              <a:rPr sz="2000" spc="-5" dirty="0">
                <a:latin typeface="微软雅黑"/>
                <a:cs typeface="微软雅黑"/>
              </a:rPr>
              <a:t>int</a:t>
            </a:r>
            <a:r>
              <a:rPr sz="2000" spc="-25" dirty="0">
                <a:latin typeface="微软雅黑"/>
                <a:cs typeface="微软雅黑"/>
              </a:rPr>
              <a:t> </a:t>
            </a:r>
            <a:r>
              <a:rPr sz="2000" spc="-5" dirty="0">
                <a:latin typeface="微软雅黑"/>
                <a:cs typeface="微软雅黑"/>
              </a:rPr>
              <a:t>read(char[]</a:t>
            </a:r>
            <a:r>
              <a:rPr sz="2000" spc="-20" dirty="0">
                <a:latin typeface="微软雅黑"/>
                <a:cs typeface="微软雅黑"/>
              </a:rPr>
              <a:t> </a:t>
            </a:r>
            <a:r>
              <a:rPr sz="2000" spc="-5" dirty="0">
                <a:latin typeface="微软雅黑"/>
                <a:cs typeface="微软雅黑"/>
              </a:rPr>
              <a:t>cbuf)：</a:t>
            </a:r>
            <a:r>
              <a:rPr sz="2000" dirty="0">
                <a:latin typeface="微软雅黑"/>
                <a:cs typeface="微软雅黑"/>
              </a:rPr>
              <a:t>从输入流中最多读取</a:t>
            </a:r>
            <a:r>
              <a:rPr sz="2000" spc="-20" dirty="0">
                <a:latin typeface="微软雅黑"/>
                <a:cs typeface="微软雅黑"/>
              </a:rPr>
              <a:t>cbuf.length</a:t>
            </a:r>
            <a:r>
              <a:rPr sz="2000" dirty="0">
                <a:latin typeface="微软雅黑"/>
                <a:cs typeface="微软雅黑"/>
              </a:rPr>
              <a:t>个字符</a:t>
            </a:r>
            <a:r>
              <a:rPr sz="2000" spc="5" dirty="0">
                <a:latin typeface="微软雅黑"/>
                <a:cs typeface="微软雅黑"/>
              </a:rPr>
              <a:t>的 </a:t>
            </a:r>
            <a:r>
              <a:rPr sz="2000" dirty="0">
                <a:latin typeface="微软雅黑"/>
                <a:cs typeface="微软雅黑"/>
              </a:rPr>
              <a:t>数据，并将其存储在字符数组</a:t>
            </a:r>
            <a:r>
              <a:rPr sz="2000" spc="-5" dirty="0">
                <a:latin typeface="微软雅黑"/>
                <a:cs typeface="微软雅黑"/>
              </a:rPr>
              <a:t>cbuf</a:t>
            </a:r>
            <a:r>
              <a:rPr sz="2000" dirty="0">
                <a:latin typeface="微软雅黑"/>
                <a:cs typeface="微软雅黑"/>
              </a:rPr>
              <a:t>中，返回实际读取的字符数</a:t>
            </a:r>
            <a:r>
              <a:rPr sz="2000" spc="5" dirty="0">
                <a:latin typeface="微软雅黑"/>
                <a:cs typeface="微软雅黑"/>
              </a:rPr>
              <a:t>。</a:t>
            </a:r>
            <a:endParaRPr sz="2000">
              <a:latin typeface="微软雅黑"/>
              <a:cs typeface="微软雅黑"/>
            </a:endParaRPr>
          </a:p>
          <a:p>
            <a:pPr marL="527050" lvl="1" indent="-171450">
              <a:lnSpc>
                <a:spcPts val="2160"/>
              </a:lnSpc>
              <a:spcBef>
                <a:spcPts val="2205"/>
              </a:spcBef>
              <a:buFont typeface="Arial"/>
              <a:buChar char="•"/>
              <a:tabLst>
                <a:tab pos="527050" algn="l"/>
              </a:tabLst>
            </a:pPr>
            <a:r>
              <a:rPr sz="2000" spc="-5" dirty="0">
                <a:latin typeface="微软雅黑"/>
                <a:cs typeface="微软雅黑"/>
              </a:rPr>
              <a:t>int</a:t>
            </a:r>
            <a:r>
              <a:rPr sz="2000" spc="-10" dirty="0">
                <a:latin typeface="微软雅黑"/>
                <a:cs typeface="微软雅黑"/>
              </a:rPr>
              <a:t> </a:t>
            </a:r>
            <a:r>
              <a:rPr sz="2000" spc="-5" dirty="0">
                <a:latin typeface="微软雅黑"/>
                <a:cs typeface="微软雅黑"/>
              </a:rPr>
              <a:t>read(char[]</a:t>
            </a:r>
            <a:r>
              <a:rPr sz="2000" spc="-10" dirty="0">
                <a:latin typeface="微软雅黑"/>
                <a:cs typeface="微软雅黑"/>
              </a:rPr>
              <a:t> </a:t>
            </a:r>
            <a:r>
              <a:rPr sz="2000" spc="-5" dirty="0">
                <a:latin typeface="微软雅黑"/>
                <a:cs typeface="微软雅黑"/>
              </a:rPr>
              <a:t>cbuf,</a:t>
            </a:r>
            <a:r>
              <a:rPr sz="2000" spc="-10" dirty="0">
                <a:latin typeface="微软雅黑"/>
                <a:cs typeface="微软雅黑"/>
              </a:rPr>
              <a:t> </a:t>
            </a:r>
            <a:r>
              <a:rPr sz="2000" spc="-5" dirty="0">
                <a:latin typeface="微软雅黑"/>
                <a:cs typeface="微软雅黑"/>
              </a:rPr>
              <a:t>int</a:t>
            </a:r>
            <a:r>
              <a:rPr sz="2000" spc="-10" dirty="0">
                <a:latin typeface="微软雅黑"/>
                <a:cs typeface="微软雅黑"/>
              </a:rPr>
              <a:t> </a:t>
            </a:r>
            <a:r>
              <a:rPr sz="2000" spc="-50" dirty="0">
                <a:latin typeface="微软雅黑"/>
                <a:cs typeface="微软雅黑"/>
              </a:rPr>
              <a:t>off,</a:t>
            </a:r>
            <a:r>
              <a:rPr sz="2000" spc="-10" dirty="0">
                <a:latin typeface="微软雅黑"/>
                <a:cs typeface="微软雅黑"/>
              </a:rPr>
              <a:t> </a:t>
            </a:r>
            <a:r>
              <a:rPr sz="2000" spc="-5" dirty="0">
                <a:latin typeface="微软雅黑"/>
                <a:cs typeface="微软雅黑"/>
              </a:rPr>
              <a:t>int len)：</a:t>
            </a:r>
            <a:r>
              <a:rPr sz="2000" dirty="0">
                <a:latin typeface="微软雅黑"/>
                <a:cs typeface="微软雅黑"/>
              </a:rPr>
              <a:t>从输入流中最多读取</a:t>
            </a:r>
            <a:r>
              <a:rPr sz="2000" spc="-5" dirty="0">
                <a:latin typeface="微软雅黑"/>
                <a:cs typeface="微软雅黑"/>
              </a:rPr>
              <a:t>len</a:t>
            </a:r>
            <a:r>
              <a:rPr sz="2000" spc="5" dirty="0">
                <a:latin typeface="微软雅黑"/>
                <a:cs typeface="微软雅黑"/>
              </a:rPr>
              <a:t>个</a:t>
            </a:r>
            <a:endParaRPr sz="2000">
              <a:latin typeface="微软雅黑"/>
              <a:cs typeface="微软雅黑"/>
            </a:endParaRPr>
          </a:p>
          <a:p>
            <a:pPr marL="527050" marR="5080">
              <a:lnSpc>
                <a:spcPct val="80000"/>
              </a:lnSpc>
              <a:spcBef>
                <a:spcPts val="240"/>
              </a:spcBef>
            </a:pPr>
            <a:r>
              <a:rPr sz="2000" spc="-5" dirty="0">
                <a:latin typeface="微软雅黑"/>
                <a:cs typeface="微软雅黑"/>
              </a:rPr>
              <a:t>字符的数据，并将其存储在字符数组c</a:t>
            </a:r>
            <a:r>
              <a:rPr sz="2000" spc="-10" dirty="0">
                <a:latin typeface="微软雅黑"/>
                <a:cs typeface="微软雅黑"/>
              </a:rPr>
              <a:t>bu</a:t>
            </a:r>
            <a:r>
              <a:rPr sz="2000" spc="-5" dirty="0">
                <a:latin typeface="微软雅黑"/>
                <a:cs typeface="微软雅黑"/>
              </a:rPr>
              <a:t>f中，从数组的</a:t>
            </a:r>
            <a:r>
              <a:rPr sz="2000" spc="-45" dirty="0">
                <a:latin typeface="微软雅黑"/>
                <a:cs typeface="微软雅黑"/>
              </a:rPr>
              <a:t>o</a:t>
            </a:r>
            <a:r>
              <a:rPr sz="2000" spc="-5" dirty="0">
                <a:latin typeface="微软雅黑"/>
                <a:cs typeface="微软雅黑"/>
              </a:rPr>
              <a:t>ff位置开</a:t>
            </a:r>
            <a:r>
              <a:rPr sz="2000" dirty="0">
                <a:latin typeface="微软雅黑"/>
                <a:cs typeface="微软雅黑"/>
              </a:rPr>
              <a:t>始 存储</a:t>
            </a:r>
            <a:r>
              <a:rPr sz="2000" spc="5" dirty="0">
                <a:latin typeface="微软雅黑"/>
                <a:cs typeface="微软雅黑"/>
              </a:rPr>
              <a:t>。</a:t>
            </a:r>
            <a:endParaRPr sz="2000">
              <a:latin typeface="微软雅黑"/>
              <a:cs typeface="微软雅黑"/>
            </a:endParaRPr>
          </a:p>
          <a:p>
            <a:pPr marL="527050" lvl="1" indent="-171450">
              <a:lnSpc>
                <a:spcPts val="2185"/>
              </a:lnSpc>
              <a:spcBef>
                <a:spcPts val="2190"/>
              </a:spcBef>
              <a:buFont typeface="Arial"/>
              <a:buChar char="•"/>
              <a:tabLst>
                <a:tab pos="527050" algn="l"/>
              </a:tabLst>
            </a:pPr>
            <a:r>
              <a:rPr sz="2000" dirty="0">
                <a:latin typeface="微软雅黑"/>
                <a:cs typeface="微软雅黑"/>
              </a:rPr>
              <a:t>所有</a:t>
            </a:r>
            <a:r>
              <a:rPr sz="2000" spc="-10" dirty="0">
                <a:latin typeface="微软雅黑"/>
                <a:cs typeface="微软雅黑"/>
              </a:rPr>
              <a:t>read()</a:t>
            </a:r>
            <a:r>
              <a:rPr sz="2000" dirty="0">
                <a:latin typeface="微软雅黑"/>
                <a:cs typeface="微软雅黑"/>
              </a:rPr>
              <a:t>方法在读取流数据时，如果已到达流的末尾，则返回-1</a:t>
            </a:r>
            <a:endParaRPr sz="2000">
              <a:latin typeface="微软雅黑"/>
              <a:cs typeface="微软雅黑"/>
            </a:endParaRPr>
          </a:p>
          <a:p>
            <a:pPr marL="527050">
              <a:lnSpc>
                <a:spcPts val="1945"/>
              </a:lnSpc>
            </a:pPr>
            <a:r>
              <a:rPr sz="1800" dirty="0">
                <a:latin typeface="微软雅黑"/>
                <a:cs typeface="微软雅黑"/>
              </a:rPr>
              <a:t>。</a:t>
            </a:r>
            <a:endParaRPr sz="18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41</a:t>
            </a:fld>
            <a:endParaRPr dirty="0"/>
          </a:p>
        </p:txBody>
      </p:sp>
      <p:sp>
        <p:nvSpPr>
          <p:cNvPr id="3" name="object 3"/>
          <p:cNvSpPr txBox="1">
            <a:spLocks noGrp="1"/>
          </p:cNvSpPr>
          <p:nvPr>
            <p:ph type="title"/>
          </p:nvPr>
        </p:nvSpPr>
        <p:spPr>
          <a:xfrm>
            <a:off x="1283652" y="0"/>
            <a:ext cx="5115560" cy="1067435"/>
          </a:xfrm>
          <a:prstGeom prst="rect">
            <a:avLst/>
          </a:prstGeom>
        </p:spPr>
        <p:txBody>
          <a:bodyPr vert="horz" wrap="square" lIns="0" tIns="74295" rIns="0" bIns="0" rtlCol="0">
            <a:spAutoFit/>
          </a:bodyPr>
          <a:lstStyle/>
          <a:p>
            <a:pPr marL="12700" marR="5080">
              <a:lnSpc>
                <a:spcPts val="3890"/>
              </a:lnSpc>
              <a:spcBef>
                <a:spcPts val="585"/>
              </a:spcBef>
              <a:tabLst>
                <a:tab pos="1673225" algn="l"/>
              </a:tabLst>
            </a:pPr>
            <a:r>
              <a:rPr sz="3600" spc="-5" dirty="0"/>
              <a:t>12</a:t>
            </a:r>
            <a:r>
              <a:rPr sz="3600" dirty="0"/>
              <a:t>.</a:t>
            </a:r>
            <a:r>
              <a:rPr sz="3600" spc="-5" dirty="0"/>
              <a:t>3</a:t>
            </a:r>
            <a:r>
              <a:rPr sz="3600" dirty="0"/>
              <a:t>.1	抽象类</a:t>
            </a:r>
            <a:r>
              <a:rPr sz="3600" spc="-100" dirty="0"/>
              <a:t>R</a:t>
            </a:r>
            <a:r>
              <a:rPr sz="3600" spc="-5" dirty="0"/>
              <a:t>e</a:t>
            </a:r>
            <a:r>
              <a:rPr sz="3600" dirty="0"/>
              <a:t>a</a:t>
            </a:r>
            <a:r>
              <a:rPr sz="3600" spc="-5" dirty="0"/>
              <a:t>der</a:t>
            </a:r>
            <a:r>
              <a:rPr sz="3600" dirty="0"/>
              <a:t>和  </a:t>
            </a:r>
            <a:r>
              <a:rPr sz="3600" spc="-5" dirty="0"/>
              <a:t>Writer</a:t>
            </a:r>
            <a:endParaRPr sz="36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55420"/>
            <a:ext cx="8037195" cy="3790950"/>
          </a:xfrm>
          <a:prstGeom prst="rect">
            <a:avLst/>
          </a:prstGeom>
        </p:spPr>
        <p:txBody>
          <a:bodyPr vert="horz" wrap="square" lIns="0" tIns="76835" rIns="0" bIns="0" rtlCol="0">
            <a:spAutoFit/>
          </a:bodyPr>
          <a:lstStyle/>
          <a:p>
            <a:pPr marL="184150" marR="118745" indent="-171450">
              <a:lnSpc>
                <a:spcPct val="80000"/>
              </a:lnSpc>
              <a:spcBef>
                <a:spcPts val="605"/>
              </a:spcBef>
              <a:buFont typeface="Arial"/>
              <a:buChar char="•"/>
              <a:tabLst>
                <a:tab pos="184150" algn="l"/>
              </a:tabLst>
            </a:pPr>
            <a:r>
              <a:rPr sz="2100" spc="-5" dirty="0">
                <a:latin typeface="微软雅黑"/>
                <a:cs typeface="微软雅黑"/>
              </a:rPr>
              <a:t>Wr</a:t>
            </a:r>
            <a:r>
              <a:rPr sz="2100" dirty="0">
                <a:latin typeface="微软雅黑"/>
                <a:cs typeface="微软雅黑"/>
              </a:rPr>
              <a:t>i</a:t>
            </a:r>
            <a:r>
              <a:rPr sz="2100" spc="-25" dirty="0">
                <a:latin typeface="微软雅黑"/>
                <a:cs typeface="微软雅黑"/>
              </a:rPr>
              <a:t>t</a:t>
            </a:r>
            <a:r>
              <a:rPr sz="2100" spc="-5" dirty="0">
                <a:latin typeface="微软雅黑"/>
                <a:cs typeface="微软雅黑"/>
              </a:rPr>
              <a:t>er</a:t>
            </a:r>
            <a:r>
              <a:rPr sz="2100" dirty="0">
                <a:latin typeface="微软雅黑"/>
                <a:cs typeface="微软雅黑"/>
              </a:rPr>
              <a:t>类中定义的向输出流写出数据的方法既包括写出字符、字符 数组的，同时也包括写出字符串的，如下：</a:t>
            </a:r>
            <a:endParaRPr sz="2100">
              <a:latin typeface="微软雅黑"/>
              <a:cs typeface="微软雅黑"/>
            </a:endParaRPr>
          </a:p>
          <a:p>
            <a:pPr>
              <a:lnSpc>
                <a:spcPct val="100000"/>
              </a:lnSpc>
              <a:spcBef>
                <a:spcPts val="30"/>
              </a:spcBef>
              <a:buFont typeface="Arial"/>
              <a:buChar char="•"/>
            </a:pPr>
            <a:endParaRPr sz="1450">
              <a:latin typeface="微软雅黑"/>
              <a:cs typeface="微软雅黑"/>
            </a:endParaRPr>
          </a:p>
          <a:p>
            <a:pPr marL="527050" lvl="1" indent="-171450">
              <a:lnSpc>
                <a:spcPct val="100000"/>
              </a:lnSpc>
              <a:buFont typeface="Arial"/>
              <a:buChar char="•"/>
              <a:tabLst>
                <a:tab pos="527050" algn="l"/>
              </a:tabLst>
            </a:pPr>
            <a:r>
              <a:rPr sz="1800" spc="-5" dirty="0">
                <a:latin typeface="微软雅黑"/>
                <a:cs typeface="微软雅黑"/>
              </a:rPr>
              <a:t>void write(int</a:t>
            </a:r>
            <a:r>
              <a:rPr sz="1800" dirty="0">
                <a:latin typeface="微软雅黑"/>
                <a:cs typeface="微软雅黑"/>
              </a:rPr>
              <a:t> </a:t>
            </a:r>
            <a:r>
              <a:rPr sz="1800" spc="-5" dirty="0">
                <a:latin typeface="微软雅黑"/>
                <a:cs typeface="微软雅黑"/>
              </a:rPr>
              <a:t>c)：</a:t>
            </a:r>
            <a:r>
              <a:rPr sz="1800" dirty="0">
                <a:latin typeface="微软雅黑"/>
                <a:cs typeface="微软雅黑"/>
              </a:rPr>
              <a:t>将指定的字符输出到输出流。</a:t>
            </a:r>
            <a:endParaRPr sz="1800">
              <a:latin typeface="微软雅黑"/>
              <a:cs typeface="微软雅黑"/>
            </a:endParaRPr>
          </a:p>
          <a:p>
            <a:pPr marL="527050" lvl="1" indent="-171450">
              <a:lnSpc>
                <a:spcPts val="2130"/>
              </a:lnSpc>
              <a:spcBef>
                <a:spcPts val="2039"/>
              </a:spcBef>
              <a:buFont typeface="Arial"/>
              <a:buChar char="•"/>
              <a:tabLst>
                <a:tab pos="527050" algn="l"/>
              </a:tabLst>
            </a:pPr>
            <a:r>
              <a:rPr sz="1800" spc="-5" dirty="0">
                <a:latin typeface="微软雅黑"/>
                <a:cs typeface="微软雅黑"/>
              </a:rPr>
              <a:t>void</a:t>
            </a:r>
            <a:r>
              <a:rPr sz="1800" spc="-10" dirty="0">
                <a:latin typeface="微软雅黑"/>
                <a:cs typeface="微软雅黑"/>
              </a:rPr>
              <a:t> </a:t>
            </a:r>
            <a:r>
              <a:rPr sz="1800" spc="-5" dirty="0">
                <a:latin typeface="微软雅黑"/>
                <a:cs typeface="微软雅黑"/>
              </a:rPr>
              <a:t>write(char[] cbuf)：</a:t>
            </a:r>
            <a:r>
              <a:rPr sz="1800" dirty="0">
                <a:latin typeface="微软雅黑"/>
                <a:cs typeface="微软雅黑"/>
              </a:rPr>
              <a:t>将字符数组cbuf中的数据输出到指定输出流</a:t>
            </a:r>
            <a:endParaRPr sz="1800">
              <a:latin typeface="微软雅黑"/>
              <a:cs typeface="微软雅黑"/>
            </a:endParaRPr>
          </a:p>
          <a:p>
            <a:pPr marL="527050" lvl="1" indent="-171450">
              <a:lnSpc>
                <a:spcPts val="2100"/>
              </a:lnSpc>
              <a:buFont typeface="Arial"/>
              <a:buChar char="•"/>
              <a:tabLst>
                <a:tab pos="527050" algn="l"/>
              </a:tabLst>
            </a:pPr>
            <a:r>
              <a:rPr sz="1800" dirty="0">
                <a:latin typeface="微软雅黑"/>
                <a:cs typeface="微软雅黑"/>
              </a:rPr>
              <a:t>。</a:t>
            </a:r>
            <a:endParaRPr sz="1800">
              <a:latin typeface="微软雅黑"/>
              <a:cs typeface="微软雅黑"/>
            </a:endParaRPr>
          </a:p>
          <a:p>
            <a:pPr marL="527050" marR="5080" lvl="1" indent="-171450">
              <a:lnSpc>
                <a:spcPct val="79900"/>
              </a:lnSpc>
              <a:spcBef>
                <a:spcPts val="405"/>
              </a:spcBef>
              <a:buFont typeface="Arial"/>
              <a:buChar char="•"/>
              <a:tabLst>
                <a:tab pos="527050" algn="l"/>
              </a:tabLst>
            </a:pPr>
            <a:r>
              <a:rPr sz="1800" spc="-5" dirty="0">
                <a:latin typeface="微软雅黑"/>
                <a:cs typeface="微软雅黑"/>
              </a:rPr>
              <a:t>void</a:t>
            </a:r>
            <a:r>
              <a:rPr sz="1800" spc="-10" dirty="0">
                <a:latin typeface="微软雅黑"/>
                <a:cs typeface="微软雅黑"/>
              </a:rPr>
              <a:t> </a:t>
            </a:r>
            <a:r>
              <a:rPr sz="1800" spc="-5" dirty="0">
                <a:latin typeface="微软雅黑"/>
                <a:cs typeface="微软雅黑"/>
              </a:rPr>
              <a:t>write(char[]</a:t>
            </a:r>
            <a:r>
              <a:rPr sz="1800" spc="-10" dirty="0">
                <a:latin typeface="微软雅黑"/>
                <a:cs typeface="微软雅黑"/>
              </a:rPr>
              <a:t> </a:t>
            </a:r>
            <a:r>
              <a:rPr sz="1800" dirty="0">
                <a:latin typeface="微软雅黑"/>
                <a:cs typeface="微软雅黑"/>
              </a:rPr>
              <a:t>cbuf,</a:t>
            </a:r>
            <a:r>
              <a:rPr sz="1800" spc="-5" dirty="0">
                <a:latin typeface="微软雅黑"/>
                <a:cs typeface="微软雅黑"/>
              </a:rPr>
              <a:t> </a:t>
            </a:r>
            <a:r>
              <a:rPr sz="1800" dirty="0">
                <a:latin typeface="微软雅黑"/>
                <a:cs typeface="微软雅黑"/>
              </a:rPr>
              <a:t>int</a:t>
            </a:r>
            <a:r>
              <a:rPr sz="1800" spc="-10" dirty="0">
                <a:latin typeface="微软雅黑"/>
                <a:cs typeface="微软雅黑"/>
              </a:rPr>
              <a:t> </a:t>
            </a:r>
            <a:r>
              <a:rPr sz="1800" spc="-45" dirty="0">
                <a:latin typeface="微软雅黑"/>
                <a:cs typeface="微软雅黑"/>
              </a:rPr>
              <a:t>off,</a:t>
            </a:r>
            <a:r>
              <a:rPr sz="1800" spc="-10" dirty="0">
                <a:latin typeface="微软雅黑"/>
                <a:cs typeface="微软雅黑"/>
              </a:rPr>
              <a:t> </a:t>
            </a:r>
            <a:r>
              <a:rPr sz="1800" dirty="0">
                <a:latin typeface="微软雅黑"/>
                <a:cs typeface="微软雅黑"/>
              </a:rPr>
              <a:t>int</a:t>
            </a:r>
            <a:r>
              <a:rPr sz="1800" spc="-5" dirty="0">
                <a:latin typeface="微软雅黑"/>
                <a:cs typeface="微软雅黑"/>
              </a:rPr>
              <a:t> len)：</a:t>
            </a:r>
            <a:r>
              <a:rPr sz="1800" dirty="0">
                <a:latin typeface="微软雅黑"/>
                <a:cs typeface="微软雅黑"/>
              </a:rPr>
              <a:t>将字符数组cbuf从</a:t>
            </a:r>
            <a:r>
              <a:rPr sz="1800" spc="-15" dirty="0">
                <a:latin typeface="微软雅黑"/>
                <a:cs typeface="微软雅黑"/>
              </a:rPr>
              <a:t>off</a:t>
            </a:r>
            <a:r>
              <a:rPr sz="1800" dirty="0">
                <a:latin typeface="微软雅黑"/>
                <a:cs typeface="微软雅黑"/>
              </a:rPr>
              <a:t>位置开始的 </a:t>
            </a:r>
            <a:r>
              <a:rPr sz="1800" spc="-5" dirty="0">
                <a:latin typeface="微软雅黑"/>
                <a:cs typeface="微软雅黑"/>
              </a:rPr>
              <a:t>len</a:t>
            </a:r>
            <a:r>
              <a:rPr sz="1800" dirty="0">
                <a:latin typeface="微软雅黑"/>
                <a:cs typeface="微软雅黑"/>
              </a:rPr>
              <a:t>个字符输出到指定输出流。</a:t>
            </a:r>
            <a:endParaRPr sz="1800">
              <a:latin typeface="微软雅黑"/>
              <a:cs typeface="微软雅黑"/>
            </a:endParaRPr>
          </a:p>
          <a:p>
            <a:pPr marL="527050" lvl="1" indent="-171450">
              <a:lnSpc>
                <a:spcPct val="100000"/>
              </a:lnSpc>
              <a:spcBef>
                <a:spcPts val="2039"/>
              </a:spcBef>
              <a:buFont typeface="Arial"/>
              <a:buChar char="•"/>
              <a:tabLst>
                <a:tab pos="527050" algn="l"/>
              </a:tabLst>
            </a:pPr>
            <a:r>
              <a:rPr sz="1800" spc="-5" dirty="0">
                <a:latin typeface="微软雅黑"/>
                <a:cs typeface="微软雅黑"/>
              </a:rPr>
              <a:t>void </a:t>
            </a:r>
            <a:r>
              <a:rPr sz="1800" spc="-10" dirty="0">
                <a:latin typeface="微软雅黑"/>
                <a:cs typeface="微软雅黑"/>
              </a:rPr>
              <a:t>write(String</a:t>
            </a:r>
            <a:r>
              <a:rPr sz="1800" spc="-5" dirty="0">
                <a:latin typeface="微软雅黑"/>
                <a:cs typeface="微软雅黑"/>
              </a:rPr>
              <a:t> str)：</a:t>
            </a:r>
            <a:r>
              <a:rPr sz="1800" dirty="0">
                <a:latin typeface="微软雅黑"/>
                <a:cs typeface="微软雅黑"/>
              </a:rPr>
              <a:t>将</a:t>
            </a:r>
            <a:r>
              <a:rPr sz="1800" spc="-5" dirty="0">
                <a:latin typeface="微软雅黑"/>
                <a:cs typeface="微软雅黑"/>
              </a:rPr>
              <a:t>str</a:t>
            </a:r>
            <a:r>
              <a:rPr sz="1800" dirty="0">
                <a:latin typeface="微软雅黑"/>
                <a:cs typeface="微软雅黑"/>
              </a:rPr>
              <a:t>字符串中的字符输出到指定输出流。</a:t>
            </a:r>
            <a:endParaRPr sz="1800">
              <a:latin typeface="微软雅黑"/>
              <a:cs typeface="微软雅黑"/>
            </a:endParaRPr>
          </a:p>
          <a:p>
            <a:pPr lvl="1">
              <a:lnSpc>
                <a:spcPct val="100000"/>
              </a:lnSpc>
              <a:spcBef>
                <a:spcPts val="75"/>
              </a:spcBef>
              <a:buFont typeface="Arial"/>
              <a:buChar char="•"/>
            </a:pPr>
            <a:endParaRPr sz="1300">
              <a:latin typeface="微软雅黑"/>
              <a:cs typeface="微软雅黑"/>
            </a:endParaRPr>
          </a:p>
          <a:p>
            <a:pPr marL="527050" marR="57785" lvl="1" indent="-171450">
              <a:lnSpc>
                <a:spcPct val="79900"/>
              </a:lnSpc>
              <a:buFont typeface="Arial"/>
              <a:buChar char="•"/>
              <a:tabLst>
                <a:tab pos="527050" algn="l"/>
              </a:tabLst>
            </a:pPr>
            <a:r>
              <a:rPr sz="1800" spc="-5" dirty="0">
                <a:latin typeface="微软雅黑"/>
                <a:cs typeface="微软雅黑"/>
              </a:rPr>
              <a:t>void </a:t>
            </a:r>
            <a:r>
              <a:rPr sz="1800" spc="-10" dirty="0">
                <a:latin typeface="微软雅黑"/>
                <a:cs typeface="微软雅黑"/>
              </a:rPr>
              <a:t>write(String</a:t>
            </a:r>
            <a:r>
              <a:rPr sz="1800" spc="-5" dirty="0">
                <a:latin typeface="微软雅黑"/>
                <a:cs typeface="微软雅黑"/>
              </a:rPr>
              <a:t> str, </a:t>
            </a:r>
            <a:r>
              <a:rPr sz="1800" dirty="0">
                <a:latin typeface="微软雅黑"/>
                <a:cs typeface="微软雅黑"/>
              </a:rPr>
              <a:t>int</a:t>
            </a:r>
            <a:r>
              <a:rPr sz="1800" spc="-5" dirty="0">
                <a:latin typeface="微软雅黑"/>
                <a:cs typeface="微软雅黑"/>
              </a:rPr>
              <a:t> </a:t>
            </a:r>
            <a:r>
              <a:rPr sz="1800" spc="-45" dirty="0">
                <a:latin typeface="微软雅黑"/>
                <a:cs typeface="微软雅黑"/>
              </a:rPr>
              <a:t>off,</a:t>
            </a:r>
            <a:r>
              <a:rPr sz="1800" spc="-5" dirty="0">
                <a:latin typeface="微软雅黑"/>
                <a:cs typeface="微软雅黑"/>
              </a:rPr>
              <a:t> </a:t>
            </a:r>
            <a:r>
              <a:rPr sz="1800" dirty="0">
                <a:latin typeface="微软雅黑"/>
                <a:cs typeface="微软雅黑"/>
              </a:rPr>
              <a:t>int</a:t>
            </a:r>
            <a:r>
              <a:rPr sz="1800" spc="-5" dirty="0">
                <a:latin typeface="微软雅黑"/>
                <a:cs typeface="微软雅黑"/>
              </a:rPr>
              <a:t> len)：</a:t>
            </a:r>
            <a:r>
              <a:rPr sz="1800" dirty="0">
                <a:latin typeface="微软雅黑"/>
                <a:cs typeface="微软雅黑"/>
              </a:rPr>
              <a:t>将</a:t>
            </a:r>
            <a:r>
              <a:rPr sz="1800" spc="-5" dirty="0">
                <a:latin typeface="微软雅黑"/>
                <a:cs typeface="微软雅黑"/>
              </a:rPr>
              <a:t>str</a:t>
            </a:r>
            <a:r>
              <a:rPr sz="1800" dirty="0">
                <a:latin typeface="微软雅黑"/>
                <a:cs typeface="微软雅黑"/>
              </a:rPr>
              <a:t>字符串中从</a:t>
            </a:r>
            <a:r>
              <a:rPr sz="1800" spc="-15" dirty="0">
                <a:latin typeface="微软雅黑"/>
                <a:cs typeface="微软雅黑"/>
              </a:rPr>
              <a:t>off</a:t>
            </a:r>
            <a:r>
              <a:rPr sz="1800" dirty="0">
                <a:latin typeface="微软雅黑"/>
                <a:cs typeface="微软雅黑"/>
              </a:rPr>
              <a:t>位置开始的</a:t>
            </a:r>
            <a:r>
              <a:rPr sz="1800" spc="-5" dirty="0">
                <a:latin typeface="微软雅黑"/>
                <a:cs typeface="微软雅黑"/>
              </a:rPr>
              <a:t>len  </a:t>
            </a:r>
            <a:r>
              <a:rPr sz="1800" dirty="0">
                <a:latin typeface="微软雅黑"/>
                <a:cs typeface="微软雅黑"/>
              </a:rPr>
              <a:t>个字符输出到指定输出流。</a:t>
            </a:r>
            <a:endParaRPr sz="18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42</a:t>
            </a:fld>
            <a:endParaRPr dirty="0"/>
          </a:p>
        </p:txBody>
      </p:sp>
      <p:sp>
        <p:nvSpPr>
          <p:cNvPr id="3" name="object 3"/>
          <p:cNvSpPr txBox="1">
            <a:spLocks noGrp="1"/>
          </p:cNvSpPr>
          <p:nvPr>
            <p:ph type="title"/>
          </p:nvPr>
        </p:nvSpPr>
        <p:spPr>
          <a:xfrm>
            <a:off x="1283652" y="0"/>
            <a:ext cx="5115560" cy="1067435"/>
          </a:xfrm>
          <a:prstGeom prst="rect">
            <a:avLst/>
          </a:prstGeom>
        </p:spPr>
        <p:txBody>
          <a:bodyPr vert="horz" wrap="square" lIns="0" tIns="74295" rIns="0" bIns="0" rtlCol="0">
            <a:spAutoFit/>
          </a:bodyPr>
          <a:lstStyle/>
          <a:p>
            <a:pPr marL="12700" marR="5080">
              <a:lnSpc>
                <a:spcPts val="3890"/>
              </a:lnSpc>
              <a:spcBef>
                <a:spcPts val="585"/>
              </a:spcBef>
              <a:tabLst>
                <a:tab pos="1673225" algn="l"/>
              </a:tabLst>
            </a:pPr>
            <a:r>
              <a:rPr sz="3600" spc="-5" dirty="0"/>
              <a:t>12</a:t>
            </a:r>
            <a:r>
              <a:rPr sz="3600" dirty="0"/>
              <a:t>.</a:t>
            </a:r>
            <a:r>
              <a:rPr sz="3600" spc="-5" dirty="0"/>
              <a:t>3</a:t>
            </a:r>
            <a:r>
              <a:rPr sz="3600" dirty="0"/>
              <a:t>.1	抽象类</a:t>
            </a:r>
            <a:r>
              <a:rPr sz="3600" spc="-100" dirty="0"/>
              <a:t>R</a:t>
            </a:r>
            <a:r>
              <a:rPr sz="3600" spc="-5" dirty="0"/>
              <a:t>e</a:t>
            </a:r>
            <a:r>
              <a:rPr sz="3600" dirty="0"/>
              <a:t>a</a:t>
            </a:r>
            <a:r>
              <a:rPr sz="3600" spc="-5" dirty="0"/>
              <a:t>der</a:t>
            </a:r>
            <a:r>
              <a:rPr sz="3600" dirty="0"/>
              <a:t>和  </a:t>
            </a:r>
            <a:r>
              <a:rPr sz="3600" spc="-5" dirty="0"/>
              <a:t>Writer</a:t>
            </a:r>
            <a:endParaRPr sz="36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24255" y="176682"/>
            <a:ext cx="7890509" cy="4045585"/>
          </a:xfrm>
          <a:prstGeom prst="rect">
            <a:avLst/>
          </a:prstGeom>
        </p:spPr>
        <p:txBody>
          <a:bodyPr vert="horz" wrap="square" lIns="0" tIns="12700" rIns="0" bIns="0" rtlCol="0">
            <a:spAutoFit/>
          </a:bodyPr>
          <a:lstStyle/>
          <a:p>
            <a:pPr marL="271780">
              <a:lnSpc>
                <a:spcPts val="2735"/>
              </a:lnSpc>
              <a:spcBef>
                <a:spcPts val="100"/>
              </a:spcBef>
              <a:tabLst>
                <a:tab pos="1379220" algn="l"/>
              </a:tabLst>
            </a:pPr>
            <a:r>
              <a:rPr sz="2400" b="1" spc="-5" dirty="0">
                <a:latin typeface="微软雅黑"/>
                <a:cs typeface="微软雅黑"/>
              </a:rPr>
              <a:t>12.3.2	</a:t>
            </a:r>
            <a:r>
              <a:rPr sz="2400" b="1" dirty="0">
                <a:latin typeface="微软雅黑"/>
                <a:cs typeface="微软雅黑"/>
              </a:rPr>
              <a:t>转换流</a:t>
            </a:r>
            <a:r>
              <a:rPr sz="2400" b="1" spc="-15" dirty="0">
                <a:latin typeface="微软雅黑"/>
                <a:cs typeface="微软雅黑"/>
              </a:rPr>
              <a:t>InputStreamReader</a:t>
            </a:r>
            <a:r>
              <a:rPr sz="2400" b="1" dirty="0">
                <a:latin typeface="微软雅黑"/>
                <a:cs typeface="微软雅黑"/>
              </a:rPr>
              <a:t>和</a:t>
            </a:r>
            <a:endParaRPr sz="2400">
              <a:latin typeface="微软雅黑"/>
              <a:cs typeface="微软雅黑"/>
            </a:endParaRPr>
          </a:p>
          <a:p>
            <a:pPr marL="137795">
              <a:lnSpc>
                <a:spcPts val="2735"/>
              </a:lnSpc>
              <a:tabLst>
                <a:tab pos="7877175"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OutputStreamWriter	</a:t>
            </a:r>
            <a:endParaRPr sz="2400">
              <a:latin typeface="微软雅黑"/>
              <a:cs typeface="微软雅黑"/>
            </a:endParaRPr>
          </a:p>
          <a:p>
            <a:pPr>
              <a:lnSpc>
                <a:spcPct val="100000"/>
              </a:lnSpc>
              <a:spcBef>
                <a:spcPts val="60"/>
              </a:spcBef>
            </a:pPr>
            <a:endParaRPr sz="2550">
              <a:latin typeface="微软雅黑"/>
              <a:cs typeface="微软雅黑"/>
            </a:endParaRPr>
          </a:p>
          <a:p>
            <a:pPr marL="184150" indent="-171450">
              <a:lnSpc>
                <a:spcPct val="100000"/>
              </a:lnSpc>
              <a:buFont typeface="Arial"/>
              <a:buChar char="•"/>
              <a:tabLst>
                <a:tab pos="184150" algn="l"/>
              </a:tabLst>
            </a:pPr>
            <a:r>
              <a:rPr sz="2400" dirty="0">
                <a:latin typeface="微软雅黑"/>
                <a:cs typeface="微软雅黑"/>
              </a:rPr>
              <a:t>字节流和字符流的桥梁</a:t>
            </a:r>
            <a:endParaRPr sz="2400">
              <a:latin typeface="微软雅黑"/>
              <a:cs typeface="微软雅黑"/>
            </a:endParaRPr>
          </a:p>
          <a:p>
            <a:pPr>
              <a:lnSpc>
                <a:spcPct val="100000"/>
              </a:lnSpc>
              <a:spcBef>
                <a:spcPts val="75"/>
              </a:spcBef>
              <a:buFont typeface="Arial"/>
              <a:buChar char="•"/>
            </a:pPr>
            <a:endParaRPr sz="2200">
              <a:latin typeface="微软雅黑"/>
              <a:cs typeface="微软雅黑"/>
            </a:endParaRPr>
          </a:p>
          <a:p>
            <a:pPr marL="184150" marR="1882139" indent="-171450">
              <a:lnSpc>
                <a:spcPts val="2590"/>
              </a:lnSpc>
              <a:buFont typeface="Arial"/>
              <a:buChar char="•"/>
              <a:tabLst>
                <a:tab pos="184150" algn="l"/>
              </a:tabLst>
            </a:pPr>
            <a:r>
              <a:rPr sz="2400" spc="-5" dirty="0">
                <a:latin typeface="微软雅黑"/>
                <a:cs typeface="微软雅黑"/>
              </a:rPr>
              <a:t>I</a:t>
            </a:r>
            <a:r>
              <a:rPr sz="2400" dirty="0">
                <a:latin typeface="微软雅黑"/>
                <a:cs typeface="微软雅黑"/>
              </a:rPr>
              <a:t>nput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a:t>
            </a:r>
            <a:r>
              <a:rPr sz="2400" spc="-80" dirty="0">
                <a:latin typeface="微软雅黑"/>
                <a:cs typeface="微软雅黑"/>
              </a:rPr>
              <a:t>R</a:t>
            </a:r>
            <a:r>
              <a:rPr sz="2400" spc="-5" dirty="0">
                <a:latin typeface="微软雅黑"/>
                <a:cs typeface="微软雅黑"/>
              </a:rPr>
              <a:t>eader</a:t>
            </a:r>
            <a:r>
              <a:rPr sz="2400" dirty="0">
                <a:latin typeface="微软雅黑"/>
                <a:cs typeface="微软雅黑"/>
              </a:rPr>
              <a:t>把</a:t>
            </a:r>
            <a:r>
              <a:rPr sz="2400" spc="-5" dirty="0">
                <a:latin typeface="微软雅黑"/>
                <a:cs typeface="微软雅黑"/>
              </a:rPr>
              <a:t>I</a:t>
            </a:r>
            <a:r>
              <a:rPr sz="2400" dirty="0">
                <a:latin typeface="微软雅黑"/>
                <a:cs typeface="微软雅黑"/>
              </a:rPr>
              <a:t>nput</a:t>
            </a:r>
            <a:r>
              <a:rPr sz="2400" spc="-90" dirty="0">
                <a:latin typeface="微软雅黑"/>
                <a:cs typeface="微软雅黑"/>
              </a:rPr>
              <a:t>S</a:t>
            </a:r>
            <a:r>
              <a:rPr sz="2400" dirty="0">
                <a:latin typeface="微软雅黑"/>
                <a:cs typeface="微软雅黑"/>
              </a:rPr>
              <a:t>t</a:t>
            </a:r>
            <a:r>
              <a:rPr sz="2400" spc="-40" dirty="0">
                <a:latin typeface="微软雅黑"/>
                <a:cs typeface="微软雅黑"/>
              </a:rPr>
              <a:t>r</a:t>
            </a:r>
            <a:r>
              <a:rPr sz="2400" spc="-5" dirty="0">
                <a:latin typeface="微软雅黑"/>
                <a:cs typeface="微软雅黑"/>
              </a:rPr>
              <a:t>ea</a:t>
            </a:r>
            <a:r>
              <a:rPr sz="2400" dirty="0">
                <a:latin typeface="微软雅黑"/>
                <a:cs typeface="微软雅黑"/>
              </a:rPr>
              <a:t>m转换为  </a:t>
            </a:r>
            <a:r>
              <a:rPr sz="2400" spc="-20" dirty="0">
                <a:latin typeface="微软雅黑"/>
                <a:cs typeface="微软雅黑"/>
              </a:rPr>
              <a:t>Reader</a:t>
            </a:r>
            <a:endParaRPr sz="2400">
              <a:latin typeface="微软雅黑"/>
              <a:cs typeface="微软雅黑"/>
            </a:endParaRPr>
          </a:p>
          <a:p>
            <a:pPr>
              <a:lnSpc>
                <a:spcPct val="100000"/>
              </a:lnSpc>
              <a:spcBef>
                <a:spcPts val="35"/>
              </a:spcBef>
              <a:buFont typeface="Arial"/>
              <a:buChar char="•"/>
            </a:pPr>
            <a:endParaRPr sz="2200">
              <a:latin typeface="微软雅黑"/>
              <a:cs typeface="微软雅黑"/>
            </a:endParaRPr>
          </a:p>
          <a:p>
            <a:pPr marL="184150" marR="1557655" indent="-171450">
              <a:lnSpc>
                <a:spcPts val="2590"/>
              </a:lnSpc>
              <a:buFont typeface="Arial"/>
              <a:buChar char="•"/>
              <a:tabLst>
                <a:tab pos="184150" algn="l"/>
              </a:tabLst>
            </a:pPr>
            <a:r>
              <a:rPr sz="2400" spc="-15" dirty="0">
                <a:latin typeface="微软雅黑"/>
                <a:cs typeface="微软雅黑"/>
              </a:rPr>
              <a:t>OuputStreamWriter</a:t>
            </a:r>
            <a:r>
              <a:rPr sz="2400" dirty="0">
                <a:latin typeface="微软雅黑"/>
                <a:cs typeface="微软雅黑"/>
              </a:rPr>
              <a:t>将</a:t>
            </a:r>
            <a:r>
              <a:rPr sz="2400" spc="-15" dirty="0">
                <a:latin typeface="微软雅黑"/>
                <a:cs typeface="微软雅黑"/>
              </a:rPr>
              <a:t>OutputStream</a:t>
            </a:r>
            <a:r>
              <a:rPr sz="2400" dirty="0">
                <a:latin typeface="微软雅黑"/>
                <a:cs typeface="微软雅黑"/>
              </a:rPr>
              <a:t>转换为 </a:t>
            </a:r>
            <a:r>
              <a:rPr sz="2400" spc="-10" dirty="0">
                <a:latin typeface="微软雅黑"/>
                <a:cs typeface="微软雅黑"/>
              </a:rPr>
              <a:t>Writer</a:t>
            </a:r>
            <a:r>
              <a:rPr sz="2400" dirty="0">
                <a:latin typeface="微软雅黑"/>
                <a:cs typeface="微软雅黑"/>
              </a:rPr>
              <a:t>。</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43</a:t>
            </a:fld>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9870" y="176682"/>
            <a:ext cx="7764780" cy="720090"/>
          </a:xfrm>
          <a:prstGeom prst="rect">
            <a:avLst/>
          </a:prstGeom>
        </p:spPr>
        <p:txBody>
          <a:bodyPr vert="horz" wrap="square" lIns="0" tIns="12700" rIns="0" bIns="0" rtlCol="0">
            <a:spAutoFit/>
          </a:bodyPr>
          <a:lstStyle/>
          <a:p>
            <a:pPr marL="146050">
              <a:lnSpc>
                <a:spcPts val="2735"/>
              </a:lnSpc>
              <a:spcBef>
                <a:spcPts val="100"/>
              </a:spcBef>
              <a:tabLst>
                <a:tab pos="1253490" algn="l"/>
              </a:tabLst>
            </a:pPr>
            <a:r>
              <a:rPr sz="2400" b="1" spc="-5" dirty="0">
                <a:latin typeface="微软雅黑"/>
                <a:cs typeface="微软雅黑"/>
              </a:rPr>
              <a:t>12.3.2	</a:t>
            </a:r>
            <a:r>
              <a:rPr sz="2400" b="1" dirty="0">
                <a:latin typeface="微软雅黑"/>
                <a:cs typeface="微软雅黑"/>
              </a:rPr>
              <a:t>转换流</a:t>
            </a:r>
            <a:r>
              <a:rPr sz="2400" b="1" spc="-15" dirty="0">
                <a:latin typeface="微软雅黑"/>
                <a:cs typeface="微软雅黑"/>
              </a:rPr>
              <a:t>InputStreamReader</a:t>
            </a:r>
            <a:r>
              <a:rPr sz="2400" b="1" dirty="0">
                <a:latin typeface="微软雅黑"/>
                <a:cs typeface="微软雅黑"/>
              </a:rPr>
              <a:t>和</a:t>
            </a:r>
            <a:endParaRPr sz="2400">
              <a:latin typeface="微软雅黑"/>
              <a:cs typeface="微软雅黑"/>
            </a:endParaRPr>
          </a:p>
          <a:p>
            <a:pPr marL="12700">
              <a:lnSpc>
                <a:spcPts val="2735"/>
              </a:lnSpc>
              <a:tabLst>
                <a:tab pos="7751445"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OutputStreamWriter	</a:t>
            </a:r>
            <a:endParaRPr sz="2400">
              <a:latin typeface="微软雅黑"/>
              <a:cs typeface="微软雅黑"/>
            </a:endParaRPr>
          </a:p>
        </p:txBody>
      </p:sp>
      <p:sp>
        <p:nvSpPr>
          <p:cNvPr id="3" name="object 3"/>
          <p:cNvSpPr/>
          <p:nvPr/>
        </p:nvSpPr>
        <p:spPr>
          <a:xfrm>
            <a:off x="552875" y="1804077"/>
            <a:ext cx="7845398" cy="2487506"/>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14756" y="4606531"/>
            <a:ext cx="7645400" cy="75692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微软雅黑"/>
                <a:cs typeface="微软雅黑"/>
              </a:rPr>
              <a:t>结论：</a:t>
            </a:r>
            <a:r>
              <a:rPr sz="2400" dirty="0">
                <a:solidFill>
                  <a:srgbClr val="FF0000"/>
                </a:solidFill>
                <a:latin typeface="微软雅黑"/>
                <a:cs typeface="微软雅黑"/>
              </a:rPr>
              <a:t>处理文本数据的时候，为防止乱码出现，需要指定 字符编码或者进行编码转换。</a:t>
            </a:r>
            <a:endParaRPr sz="24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44</a:t>
            </a:fld>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p:nvPr/>
        </p:nvSpPr>
        <p:spPr>
          <a:xfrm>
            <a:off x="490219" y="1476375"/>
            <a:ext cx="7639684" cy="3475354"/>
          </a:xfrm>
          <a:prstGeom prst="rect">
            <a:avLst/>
          </a:prstGeom>
        </p:spPr>
        <p:txBody>
          <a:bodyPr vert="horz" wrap="square" lIns="0" tIns="12700" rIns="0" bIns="0" rtlCol="0">
            <a:spAutoFit/>
          </a:bodyPr>
          <a:lstStyle/>
          <a:p>
            <a:pPr marL="184150" indent="-171450">
              <a:lnSpc>
                <a:spcPct val="100000"/>
              </a:lnSpc>
              <a:spcBef>
                <a:spcPts val="100"/>
              </a:spcBef>
              <a:buFont typeface="Arial"/>
              <a:buChar char="•"/>
              <a:tabLst>
                <a:tab pos="184150" algn="l"/>
              </a:tabLst>
            </a:pPr>
            <a:r>
              <a:rPr sz="2400" spc="-5" dirty="0">
                <a:latin typeface="微软雅黑"/>
                <a:cs typeface="微软雅黑"/>
              </a:rPr>
              <a:t>2．</a:t>
            </a:r>
            <a:r>
              <a:rPr sz="2400" dirty="0">
                <a:latin typeface="微软雅黑"/>
                <a:cs typeface="微软雅黑"/>
              </a:rPr>
              <a:t>利用转换流设置字符编码</a:t>
            </a:r>
            <a:endParaRPr sz="2400">
              <a:latin typeface="微软雅黑"/>
              <a:cs typeface="微软雅黑"/>
            </a:endParaRPr>
          </a:p>
          <a:p>
            <a:pPr>
              <a:lnSpc>
                <a:spcPct val="100000"/>
              </a:lnSpc>
              <a:spcBef>
                <a:spcPts val="60"/>
              </a:spcBef>
              <a:buFont typeface="Arial"/>
              <a:buChar char="•"/>
            </a:pPr>
            <a:endParaRPr sz="2000">
              <a:latin typeface="微软雅黑"/>
              <a:cs typeface="微软雅黑"/>
            </a:endParaRPr>
          </a:p>
          <a:p>
            <a:pPr marL="526415" marR="671195" lvl="1" indent="-171450">
              <a:lnSpc>
                <a:spcPts val="2160"/>
              </a:lnSpc>
              <a:buFont typeface="Arial"/>
              <a:buChar char="•"/>
              <a:tabLst>
                <a:tab pos="527050" algn="l"/>
              </a:tabLst>
            </a:pPr>
            <a:r>
              <a:rPr sz="2000" spc="-70" dirty="0">
                <a:latin typeface="微软雅黑"/>
                <a:cs typeface="微软雅黑"/>
              </a:rPr>
              <a:t>R</a:t>
            </a:r>
            <a:r>
              <a:rPr sz="2000" spc="-5" dirty="0">
                <a:latin typeface="微软雅黑"/>
                <a:cs typeface="微软雅黑"/>
              </a:rPr>
              <a:t>eader类能将输入流中采用其他编码方式的字节流转换</a:t>
            </a:r>
            <a:r>
              <a:rPr sz="2000" dirty="0">
                <a:latin typeface="微软雅黑"/>
                <a:cs typeface="微软雅黑"/>
              </a:rPr>
              <a:t>为  </a:t>
            </a:r>
            <a:r>
              <a:rPr sz="2000" spc="-5" dirty="0">
                <a:latin typeface="微软雅黑"/>
                <a:cs typeface="微软雅黑"/>
              </a:rPr>
              <a:t>Unicode</a:t>
            </a:r>
            <a:r>
              <a:rPr sz="2000" dirty="0">
                <a:latin typeface="微软雅黑"/>
                <a:cs typeface="微软雅黑"/>
              </a:rPr>
              <a:t>字符</a:t>
            </a:r>
            <a:r>
              <a:rPr sz="2000" spc="5" dirty="0">
                <a:latin typeface="微软雅黑"/>
                <a:cs typeface="微软雅黑"/>
              </a:rPr>
              <a:t>。</a:t>
            </a:r>
            <a:endParaRPr sz="2000">
              <a:latin typeface="微软雅黑"/>
              <a:cs typeface="微软雅黑"/>
            </a:endParaRPr>
          </a:p>
          <a:p>
            <a:pPr marL="526415" marR="5080" lvl="1" indent="-171450">
              <a:lnSpc>
                <a:spcPts val="2160"/>
              </a:lnSpc>
              <a:spcBef>
                <a:spcPts val="375"/>
              </a:spcBef>
              <a:buFont typeface="Arial"/>
              <a:buChar char="•"/>
              <a:tabLst>
                <a:tab pos="527050" algn="l"/>
              </a:tabLst>
            </a:pPr>
            <a:r>
              <a:rPr sz="2000" spc="-5" dirty="0">
                <a:latin typeface="微软雅黑"/>
                <a:cs typeface="微软雅黑"/>
              </a:rPr>
              <a:t>Wri</a:t>
            </a:r>
            <a:r>
              <a:rPr sz="2000" spc="-25" dirty="0">
                <a:latin typeface="微软雅黑"/>
                <a:cs typeface="微软雅黑"/>
              </a:rPr>
              <a:t>t</a:t>
            </a:r>
            <a:r>
              <a:rPr sz="2000" spc="-5" dirty="0">
                <a:latin typeface="微软雅黑"/>
                <a:cs typeface="微软雅黑"/>
              </a:rPr>
              <a:t>er类能将内存中的U</a:t>
            </a:r>
            <a:r>
              <a:rPr sz="2000" spc="-10" dirty="0">
                <a:latin typeface="微软雅黑"/>
                <a:cs typeface="微软雅黑"/>
              </a:rPr>
              <a:t>n</a:t>
            </a:r>
            <a:r>
              <a:rPr sz="2000" spc="-5" dirty="0">
                <a:latin typeface="微软雅黑"/>
                <a:cs typeface="微软雅黑"/>
              </a:rPr>
              <a:t>icode字符转换为其他的编码方式的</a:t>
            </a:r>
            <a:r>
              <a:rPr sz="2000" dirty="0">
                <a:latin typeface="微软雅黑"/>
                <a:cs typeface="微软雅黑"/>
              </a:rPr>
              <a:t>字 节流，再写到输出流</a:t>
            </a:r>
            <a:r>
              <a:rPr sz="2000" spc="5" dirty="0">
                <a:latin typeface="微软雅黑"/>
                <a:cs typeface="微软雅黑"/>
              </a:rPr>
              <a:t>。</a:t>
            </a:r>
            <a:endParaRPr sz="2000">
              <a:latin typeface="微软雅黑"/>
              <a:cs typeface="微软雅黑"/>
            </a:endParaRPr>
          </a:p>
          <a:p>
            <a:pPr marL="526415" marR="168275" lvl="1" indent="-171450">
              <a:lnSpc>
                <a:spcPts val="2160"/>
              </a:lnSpc>
              <a:spcBef>
                <a:spcPts val="375"/>
              </a:spcBef>
              <a:buFont typeface="Arial"/>
              <a:buChar char="•"/>
              <a:tabLst>
                <a:tab pos="527050" algn="l"/>
              </a:tabLst>
            </a:pPr>
            <a:r>
              <a:rPr sz="2000" dirty="0">
                <a:latin typeface="微软雅黑"/>
                <a:cs typeface="微软雅黑"/>
              </a:rPr>
              <a:t>在默认的情况下，</a:t>
            </a:r>
            <a:r>
              <a:rPr sz="2000" spc="-70" dirty="0">
                <a:latin typeface="微软雅黑"/>
                <a:cs typeface="微软雅黑"/>
              </a:rPr>
              <a:t>R</a:t>
            </a:r>
            <a:r>
              <a:rPr sz="2000" spc="-5" dirty="0">
                <a:latin typeface="微软雅黑"/>
                <a:cs typeface="微软雅黑"/>
              </a:rPr>
              <a:t>eader和Wri</a:t>
            </a:r>
            <a:r>
              <a:rPr sz="2000" spc="-25" dirty="0">
                <a:latin typeface="微软雅黑"/>
                <a:cs typeface="微软雅黑"/>
              </a:rPr>
              <a:t>t</a:t>
            </a:r>
            <a:r>
              <a:rPr sz="2000" spc="-5" dirty="0">
                <a:latin typeface="微软雅黑"/>
                <a:cs typeface="微软雅黑"/>
              </a:rPr>
              <a:t>er会在本地平台默认字符编</a:t>
            </a:r>
            <a:r>
              <a:rPr sz="2000" dirty="0">
                <a:latin typeface="微软雅黑"/>
                <a:cs typeface="微软雅黑"/>
              </a:rPr>
              <a:t>码 和</a:t>
            </a:r>
            <a:r>
              <a:rPr sz="2000" spc="-5" dirty="0">
                <a:latin typeface="微软雅黑"/>
                <a:cs typeface="微软雅黑"/>
              </a:rPr>
              <a:t>Unicode</a:t>
            </a:r>
            <a:r>
              <a:rPr sz="2000" dirty="0">
                <a:latin typeface="微软雅黑"/>
                <a:cs typeface="微软雅黑"/>
              </a:rPr>
              <a:t>编码间进行转换。</a:t>
            </a:r>
            <a:r>
              <a:rPr sz="2000" spc="5" dirty="0">
                <a:latin typeface="微软雅黑"/>
                <a:cs typeface="微软雅黑"/>
              </a:rPr>
              <a:t>。</a:t>
            </a:r>
            <a:endParaRPr sz="2000">
              <a:latin typeface="微软雅黑"/>
              <a:cs typeface="微软雅黑"/>
            </a:endParaRPr>
          </a:p>
          <a:p>
            <a:pPr marL="526415" marR="5080" lvl="1" indent="-171450">
              <a:lnSpc>
                <a:spcPts val="2160"/>
              </a:lnSpc>
              <a:spcBef>
                <a:spcPts val="375"/>
              </a:spcBef>
              <a:buFont typeface="Arial"/>
              <a:buChar char="•"/>
              <a:tabLst>
                <a:tab pos="527050" algn="l"/>
              </a:tabLst>
            </a:pPr>
            <a:r>
              <a:rPr sz="2000" dirty="0">
                <a:latin typeface="微软雅黑"/>
                <a:cs typeface="微软雅黑"/>
              </a:rPr>
              <a:t>如果需要输入、输出流采用特定编码方案，可以使</a:t>
            </a:r>
            <a:r>
              <a:rPr sz="2000" spc="5" dirty="0">
                <a:latin typeface="微软雅黑"/>
                <a:cs typeface="微软雅黑"/>
              </a:rPr>
              <a:t>用 </a:t>
            </a:r>
            <a:r>
              <a:rPr sz="2000" spc="-15" dirty="0">
                <a:latin typeface="微软雅黑"/>
                <a:cs typeface="微软雅黑"/>
              </a:rPr>
              <a:t>InputStreamReader</a:t>
            </a:r>
            <a:r>
              <a:rPr sz="2000" dirty="0">
                <a:latin typeface="微软雅黑"/>
                <a:cs typeface="微软雅黑"/>
              </a:rPr>
              <a:t>和</a:t>
            </a:r>
            <a:r>
              <a:rPr sz="2000" spc="-15" dirty="0">
                <a:latin typeface="微软雅黑"/>
                <a:cs typeface="微软雅黑"/>
              </a:rPr>
              <a:t>OutputStreamWriter</a:t>
            </a:r>
            <a:r>
              <a:rPr sz="2000" dirty="0">
                <a:latin typeface="微软雅黑"/>
                <a:cs typeface="微软雅黑"/>
              </a:rPr>
              <a:t>类，它们在将字</a:t>
            </a:r>
            <a:r>
              <a:rPr sz="2000" spc="5" dirty="0">
                <a:latin typeface="微软雅黑"/>
                <a:cs typeface="微软雅黑"/>
              </a:rPr>
              <a:t>节 </a:t>
            </a:r>
            <a:r>
              <a:rPr sz="2000" dirty="0">
                <a:latin typeface="微软雅黑"/>
                <a:cs typeface="微软雅黑"/>
              </a:rPr>
              <a:t>流转换为字符流的同时指定字符编码方式</a:t>
            </a:r>
            <a:r>
              <a:rPr sz="2000" spc="5" dirty="0">
                <a:latin typeface="微软雅黑"/>
                <a:cs typeface="微软雅黑"/>
              </a:rPr>
              <a:t>。</a:t>
            </a:r>
            <a:endParaRPr sz="2000">
              <a:latin typeface="微软雅黑"/>
              <a:cs typeface="微软雅黑"/>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45</a:t>
            </a:fld>
            <a:endParaRPr dirty="0"/>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12.3.2	</a:t>
            </a:r>
            <a:r>
              <a:rPr dirty="0"/>
              <a:t>转换流</a:t>
            </a:r>
            <a:r>
              <a:rPr spc="-15" dirty="0"/>
              <a:t>InputStreamReader</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OutputStreamWriter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76682"/>
            <a:ext cx="8836025" cy="3478529"/>
          </a:xfrm>
          <a:prstGeom prst="rect">
            <a:avLst/>
          </a:prstGeom>
        </p:spPr>
        <p:txBody>
          <a:bodyPr vert="horz" wrap="square" lIns="0" tIns="12700" rIns="0" bIns="0" rtlCol="0">
            <a:spAutoFit/>
          </a:bodyPr>
          <a:lstStyle/>
          <a:p>
            <a:pPr marL="1217295">
              <a:lnSpc>
                <a:spcPts val="2735"/>
              </a:lnSpc>
              <a:spcBef>
                <a:spcPts val="100"/>
              </a:spcBef>
              <a:tabLst>
                <a:tab pos="2324735" algn="l"/>
              </a:tabLst>
            </a:pPr>
            <a:r>
              <a:rPr sz="2400" b="1" spc="-5" dirty="0">
                <a:latin typeface="微软雅黑"/>
                <a:cs typeface="微软雅黑"/>
              </a:rPr>
              <a:t>12.3.2	</a:t>
            </a:r>
            <a:r>
              <a:rPr sz="2400" b="1" dirty="0">
                <a:latin typeface="微软雅黑"/>
                <a:cs typeface="微软雅黑"/>
              </a:rPr>
              <a:t>转换流</a:t>
            </a:r>
            <a:r>
              <a:rPr sz="2400" b="1" spc="-15" dirty="0">
                <a:latin typeface="微软雅黑"/>
                <a:cs typeface="微软雅黑"/>
              </a:rPr>
              <a:t>InputStreamReader</a:t>
            </a:r>
            <a:r>
              <a:rPr sz="2400" b="1" dirty="0">
                <a:latin typeface="微软雅黑"/>
                <a:cs typeface="微软雅黑"/>
              </a:rPr>
              <a:t>和</a:t>
            </a:r>
            <a:endParaRPr sz="2400">
              <a:latin typeface="微软雅黑"/>
              <a:cs typeface="微软雅黑"/>
            </a:endParaRPr>
          </a:p>
          <a:p>
            <a:pPr marL="1083310">
              <a:lnSpc>
                <a:spcPts val="2735"/>
              </a:lnSpc>
              <a:tabLst>
                <a:tab pos="8822690"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OutputStreamWriter	</a:t>
            </a:r>
            <a:endParaRPr sz="2400">
              <a:latin typeface="微软雅黑"/>
              <a:cs typeface="微软雅黑"/>
            </a:endParaRPr>
          </a:p>
          <a:p>
            <a:pPr>
              <a:lnSpc>
                <a:spcPct val="100000"/>
              </a:lnSpc>
              <a:spcBef>
                <a:spcPts val="60"/>
              </a:spcBef>
            </a:pPr>
            <a:endParaRPr sz="2550">
              <a:latin typeface="微软雅黑"/>
              <a:cs typeface="微软雅黑"/>
            </a:endParaRPr>
          </a:p>
          <a:p>
            <a:pPr marL="184150" indent="-171450">
              <a:lnSpc>
                <a:spcPct val="100000"/>
              </a:lnSpc>
              <a:buFont typeface="Arial"/>
              <a:buChar char="•"/>
              <a:tabLst>
                <a:tab pos="184150" algn="l"/>
              </a:tabLst>
            </a:pPr>
            <a:r>
              <a:rPr sz="2400" spc="-5" dirty="0">
                <a:latin typeface="微软雅黑"/>
                <a:cs typeface="微软雅黑"/>
              </a:rPr>
              <a:t>2．</a:t>
            </a:r>
            <a:r>
              <a:rPr sz="2400" dirty="0">
                <a:latin typeface="微软雅黑"/>
                <a:cs typeface="微软雅黑"/>
              </a:rPr>
              <a:t>利用转换流设置字符编码</a:t>
            </a:r>
            <a:endParaRPr sz="2400">
              <a:latin typeface="微软雅黑"/>
              <a:cs typeface="微软雅黑"/>
            </a:endParaRPr>
          </a:p>
          <a:p>
            <a:pPr>
              <a:lnSpc>
                <a:spcPct val="100000"/>
              </a:lnSpc>
              <a:spcBef>
                <a:spcPts val="70"/>
              </a:spcBef>
              <a:buFont typeface="Arial"/>
              <a:buChar char="•"/>
            </a:pPr>
            <a:endParaRPr sz="2000">
              <a:latin typeface="微软雅黑"/>
              <a:cs typeface="微软雅黑"/>
            </a:endParaRPr>
          </a:p>
          <a:p>
            <a:pPr marL="527050" marR="985519" lvl="1" indent="-171450">
              <a:lnSpc>
                <a:spcPts val="2590"/>
              </a:lnSpc>
              <a:buFont typeface="Arial"/>
              <a:buChar char="•"/>
              <a:tabLst>
                <a:tab pos="527050" algn="l"/>
              </a:tabLst>
            </a:pPr>
            <a:r>
              <a:rPr sz="2400" dirty="0">
                <a:latin typeface="微软雅黑"/>
                <a:cs typeface="微软雅黑"/>
              </a:rPr>
              <a:t>如果需要输入、输出流采用特定编码方案，可以使用 </a:t>
            </a:r>
            <a:r>
              <a:rPr sz="2400" spc="-15" dirty="0">
                <a:latin typeface="微软雅黑"/>
                <a:cs typeface="微软雅黑"/>
              </a:rPr>
              <a:t>InputStreamReader</a:t>
            </a:r>
            <a:r>
              <a:rPr sz="2400" dirty="0">
                <a:latin typeface="微软雅黑"/>
                <a:cs typeface="微软雅黑"/>
              </a:rPr>
              <a:t>和</a:t>
            </a:r>
            <a:r>
              <a:rPr sz="2400" spc="-15" dirty="0">
                <a:latin typeface="微软雅黑"/>
                <a:cs typeface="微软雅黑"/>
              </a:rPr>
              <a:t>OutputStreamWriter</a:t>
            </a:r>
            <a:r>
              <a:rPr sz="2400" dirty="0">
                <a:latin typeface="微软雅黑"/>
                <a:cs typeface="微软雅黑"/>
              </a:rPr>
              <a:t>类，它们 在将字节流转换为字符流的同时，可以指定字符编码方 式。</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46</a:t>
            </a:fld>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3" name="object 3"/>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4" name="object 4"/>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5" name="object 5"/>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6" name="object 6"/>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7" name="object 7"/>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8" name="object 8"/>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4" name="object 14"/>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5" name="object 15"/>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19" name="object 19"/>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0" name="object 20"/>
          <p:cNvSpPr txBox="1"/>
          <p:nvPr/>
        </p:nvSpPr>
        <p:spPr>
          <a:xfrm>
            <a:off x="696594" y="1456612"/>
            <a:ext cx="7423784" cy="3070860"/>
          </a:xfrm>
          <a:prstGeom prst="rect">
            <a:avLst/>
          </a:prstGeom>
        </p:spPr>
        <p:txBody>
          <a:bodyPr vert="horz" wrap="square" lIns="0" tIns="32384" rIns="0" bIns="0" rtlCol="0">
            <a:spAutoFit/>
          </a:bodyPr>
          <a:lstStyle/>
          <a:p>
            <a:pPr marL="184150" indent="-171450">
              <a:lnSpc>
                <a:spcPct val="100000"/>
              </a:lnSpc>
              <a:spcBef>
                <a:spcPts val="254"/>
              </a:spcBef>
              <a:buFont typeface="Arial"/>
              <a:buChar char="•"/>
              <a:tabLst>
                <a:tab pos="184150" algn="l"/>
              </a:tabLst>
            </a:pPr>
            <a:r>
              <a:rPr sz="2400" dirty="0">
                <a:latin typeface="微软雅黑"/>
                <a:cs typeface="微软雅黑"/>
              </a:rPr>
              <a:t>常用的构造方法如下：</a:t>
            </a:r>
            <a:endParaRPr sz="2400">
              <a:latin typeface="微软雅黑"/>
              <a:cs typeface="微软雅黑"/>
            </a:endParaRPr>
          </a:p>
          <a:p>
            <a:pPr marL="526415" marR="49530" lvl="1" indent="-171450">
              <a:lnSpc>
                <a:spcPts val="2160"/>
              </a:lnSpc>
              <a:spcBef>
                <a:spcPts val="405"/>
              </a:spcBef>
              <a:buFont typeface="Arial"/>
              <a:buChar char="•"/>
              <a:tabLst>
                <a:tab pos="527050" algn="l"/>
              </a:tabLst>
            </a:pPr>
            <a:r>
              <a:rPr sz="2000" spc="-15" dirty="0">
                <a:latin typeface="微软雅黑"/>
                <a:cs typeface="微软雅黑"/>
              </a:rPr>
              <a:t>InputStreamReader(InputStream</a:t>
            </a:r>
            <a:r>
              <a:rPr sz="2000" spc="-10" dirty="0">
                <a:latin typeface="微软雅黑"/>
                <a:cs typeface="微软雅黑"/>
              </a:rPr>
              <a:t> </a:t>
            </a:r>
            <a:r>
              <a:rPr sz="2000" spc="-5" dirty="0">
                <a:latin typeface="微软雅黑"/>
                <a:cs typeface="微软雅黑"/>
              </a:rPr>
              <a:t>in)：</a:t>
            </a:r>
            <a:r>
              <a:rPr sz="2000" dirty="0">
                <a:latin typeface="微软雅黑"/>
                <a:cs typeface="微软雅黑"/>
              </a:rPr>
              <a:t>创建一个使用默认</a:t>
            </a:r>
            <a:r>
              <a:rPr sz="2000" spc="5" dirty="0">
                <a:latin typeface="微软雅黑"/>
                <a:cs typeface="微软雅黑"/>
              </a:rPr>
              <a:t>字 </a:t>
            </a:r>
            <a:r>
              <a:rPr sz="2000" dirty="0">
                <a:latin typeface="微软雅黑"/>
                <a:cs typeface="微软雅黑"/>
              </a:rPr>
              <a:t>符集</a:t>
            </a:r>
            <a:r>
              <a:rPr sz="2000" spc="5" dirty="0">
                <a:latin typeface="微软雅黑"/>
                <a:cs typeface="微软雅黑"/>
              </a:rPr>
              <a:t>的</a:t>
            </a:r>
            <a:r>
              <a:rPr sz="2000" spc="-15" dirty="0">
                <a:latin typeface="微软雅黑"/>
                <a:cs typeface="微软雅黑"/>
              </a:rPr>
              <a:t> InputStreamReader</a:t>
            </a:r>
            <a:r>
              <a:rPr sz="2000" spc="5" dirty="0">
                <a:latin typeface="微软雅黑"/>
                <a:cs typeface="微软雅黑"/>
              </a:rPr>
              <a:t>。</a:t>
            </a:r>
            <a:endParaRPr sz="2000">
              <a:latin typeface="微软雅黑"/>
              <a:cs typeface="微软雅黑"/>
            </a:endParaRPr>
          </a:p>
          <a:p>
            <a:pPr marL="527050" lvl="1" indent="-172085">
              <a:lnSpc>
                <a:spcPts val="2280"/>
              </a:lnSpc>
              <a:spcBef>
                <a:spcPts val="105"/>
              </a:spcBef>
              <a:buFont typeface="Arial"/>
              <a:buChar char="•"/>
              <a:tabLst>
                <a:tab pos="527050" algn="l"/>
              </a:tabLst>
            </a:pPr>
            <a:r>
              <a:rPr sz="2000" spc="-15" dirty="0">
                <a:latin typeface="微软雅黑"/>
                <a:cs typeface="微软雅黑"/>
              </a:rPr>
              <a:t>InputStreamReader(InputStream in,</a:t>
            </a:r>
            <a:r>
              <a:rPr sz="2000" spc="-15" dirty="0">
                <a:solidFill>
                  <a:srgbClr val="FF0000"/>
                </a:solidFill>
                <a:latin typeface="微软雅黑"/>
                <a:cs typeface="微软雅黑"/>
              </a:rPr>
              <a:t>String</a:t>
            </a:r>
            <a:r>
              <a:rPr sz="2000" spc="35" dirty="0">
                <a:solidFill>
                  <a:srgbClr val="FF0000"/>
                </a:solidFill>
                <a:latin typeface="微软雅黑"/>
                <a:cs typeface="微软雅黑"/>
              </a:rPr>
              <a:t> </a:t>
            </a:r>
            <a:r>
              <a:rPr sz="2000" spc="-5" dirty="0">
                <a:solidFill>
                  <a:srgbClr val="FF0000"/>
                </a:solidFill>
                <a:latin typeface="微软雅黑"/>
                <a:cs typeface="微软雅黑"/>
              </a:rPr>
              <a:t>charsetName</a:t>
            </a:r>
            <a:r>
              <a:rPr sz="2000" spc="-5" dirty="0">
                <a:latin typeface="微软雅黑"/>
                <a:cs typeface="微软雅黑"/>
              </a:rPr>
              <a:t>)</a:t>
            </a:r>
            <a:endParaRPr sz="2000">
              <a:latin typeface="微软雅黑"/>
              <a:cs typeface="微软雅黑"/>
            </a:endParaRPr>
          </a:p>
          <a:p>
            <a:pPr marL="526415">
              <a:lnSpc>
                <a:spcPts val="2280"/>
              </a:lnSpc>
            </a:pPr>
            <a:r>
              <a:rPr sz="2000" dirty="0">
                <a:latin typeface="微软雅黑"/>
                <a:cs typeface="微软雅黑"/>
              </a:rPr>
              <a:t>：创建使用指定字符集</a:t>
            </a:r>
            <a:r>
              <a:rPr sz="2000" spc="5" dirty="0">
                <a:latin typeface="微软雅黑"/>
                <a:cs typeface="微软雅黑"/>
              </a:rPr>
              <a:t>的</a:t>
            </a:r>
            <a:r>
              <a:rPr sz="2000" spc="-15" dirty="0">
                <a:latin typeface="微软雅黑"/>
                <a:cs typeface="微软雅黑"/>
              </a:rPr>
              <a:t> InputStreamReader</a:t>
            </a:r>
            <a:r>
              <a:rPr sz="2000" spc="5" dirty="0">
                <a:latin typeface="微软雅黑"/>
                <a:cs typeface="微软雅黑"/>
              </a:rPr>
              <a:t>。</a:t>
            </a:r>
            <a:endParaRPr sz="2000">
              <a:latin typeface="微软雅黑"/>
              <a:cs typeface="微软雅黑"/>
            </a:endParaRPr>
          </a:p>
          <a:p>
            <a:pPr marL="526415" marR="5080" lvl="1" indent="-171450">
              <a:lnSpc>
                <a:spcPts val="2160"/>
              </a:lnSpc>
              <a:spcBef>
                <a:spcPts val="405"/>
              </a:spcBef>
              <a:buFont typeface="Arial"/>
              <a:buChar char="•"/>
              <a:tabLst>
                <a:tab pos="527050" algn="l"/>
              </a:tabLst>
            </a:pPr>
            <a:r>
              <a:rPr sz="2000" spc="-15" dirty="0">
                <a:latin typeface="微软雅黑"/>
                <a:cs typeface="微软雅黑"/>
              </a:rPr>
              <a:t>OutputStreamWriter(OutputStream</a:t>
            </a:r>
            <a:r>
              <a:rPr sz="2000" spc="40" dirty="0">
                <a:latin typeface="微软雅黑"/>
                <a:cs typeface="微软雅黑"/>
              </a:rPr>
              <a:t> </a:t>
            </a:r>
            <a:r>
              <a:rPr sz="2000" spc="-5" dirty="0">
                <a:latin typeface="微软雅黑"/>
                <a:cs typeface="微软雅黑"/>
              </a:rPr>
              <a:t>out)：</a:t>
            </a:r>
            <a:r>
              <a:rPr sz="2000" dirty="0">
                <a:latin typeface="微软雅黑"/>
                <a:cs typeface="微软雅黑"/>
              </a:rPr>
              <a:t>创建使用默认</a:t>
            </a:r>
            <a:r>
              <a:rPr sz="2000" spc="5" dirty="0">
                <a:latin typeface="微软雅黑"/>
                <a:cs typeface="微软雅黑"/>
              </a:rPr>
              <a:t>字 </a:t>
            </a:r>
            <a:r>
              <a:rPr sz="2000" dirty="0">
                <a:latin typeface="微软雅黑"/>
                <a:cs typeface="微软雅黑"/>
              </a:rPr>
              <a:t>符编码</a:t>
            </a:r>
            <a:r>
              <a:rPr sz="2000" spc="5" dirty="0">
                <a:latin typeface="微软雅黑"/>
                <a:cs typeface="微软雅黑"/>
              </a:rPr>
              <a:t>的</a:t>
            </a:r>
            <a:r>
              <a:rPr sz="2000" spc="-15" dirty="0">
                <a:latin typeface="微软雅黑"/>
                <a:cs typeface="微软雅黑"/>
              </a:rPr>
              <a:t> OutputStreamWriter</a:t>
            </a:r>
            <a:r>
              <a:rPr sz="2000" spc="5" dirty="0">
                <a:latin typeface="微软雅黑"/>
                <a:cs typeface="微软雅黑"/>
              </a:rPr>
              <a:t>。</a:t>
            </a:r>
            <a:endParaRPr sz="2000">
              <a:latin typeface="微软雅黑"/>
              <a:cs typeface="微软雅黑"/>
            </a:endParaRPr>
          </a:p>
          <a:p>
            <a:pPr marL="526415" marR="58419" lvl="1" indent="-171450">
              <a:lnSpc>
                <a:spcPts val="2160"/>
              </a:lnSpc>
              <a:spcBef>
                <a:spcPts val="375"/>
              </a:spcBef>
              <a:buFont typeface="Arial"/>
              <a:buChar char="•"/>
              <a:tabLst>
                <a:tab pos="527050" algn="l"/>
              </a:tabLst>
            </a:pPr>
            <a:r>
              <a:rPr sz="2000" spc="-15" dirty="0">
                <a:latin typeface="微软雅黑"/>
                <a:cs typeface="微软雅黑"/>
              </a:rPr>
              <a:t>OutputStreamWriter(OutputStream out,</a:t>
            </a:r>
            <a:r>
              <a:rPr sz="2000" spc="-15" dirty="0">
                <a:solidFill>
                  <a:srgbClr val="FF0000"/>
                </a:solidFill>
                <a:latin typeface="微软雅黑"/>
                <a:cs typeface="微软雅黑"/>
              </a:rPr>
              <a:t>String  </a:t>
            </a:r>
            <a:r>
              <a:rPr sz="2000" spc="-5" dirty="0">
                <a:solidFill>
                  <a:srgbClr val="FF0000"/>
                </a:solidFill>
                <a:latin typeface="微软雅黑"/>
                <a:cs typeface="微软雅黑"/>
              </a:rPr>
              <a:t>charsetName</a:t>
            </a:r>
            <a:r>
              <a:rPr sz="2000" spc="-5" dirty="0">
                <a:latin typeface="微软雅黑"/>
                <a:cs typeface="微软雅黑"/>
              </a:rPr>
              <a:t>)：</a:t>
            </a:r>
            <a:r>
              <a:rPr sz="2000" dirty="0">
                <a:latin typeface="微软雅黑"/>
                <a:cs typeface="微软雅黑"/>
              </a:rPr>
              <a:t>创建使用指定字符集</a:t>
            </a:r>
            <a:r>
              <a:rPr sz="2000" spc="5" dirty="0">
                <a:latin typeface="微软雅黑"/>
                <a:cs typeface="微软雅黑"/>
              </a:rPr>
              <a:t>的</a:t>
            </a:r>
            <a:r>
              <a:rPr sz="2000" spc="15" dirty="0">
                <a:latin typeface="微软雅黑"/>
                <a:cs typeface="微软雅黑"/>
              </a:rPr>
              <a:t> </a:t>
            </a:r>
            <a:r>
              <a:rPr sz="2000" spc="-15" dirty="0">
                <a:latin typeface="微软雅黑"/>
                <a:cs typeface="微软雅黑"/>
              </a:rPr>
              <a:t>utputStreamWriter</a:t>
            </a:r>
            <a:endParaRPr sz="2000">
              <a:latin typeface="微软雅黑"/>
              <a:cs typeface="微软雅黑"/>
            </a:endParaRPr>
          </a:p>
          <a:p>
            <a:pPr marL="526415">
              <a:lnSpc>
                <a:spcPts val="2130"/>
              </a:lnSpc>
            </a:pPr>
            <a:r>
              <a:rPr sz="2000" spc="5" dirty="0">
                <a:latin typeface="微软雅黑"/>
                <a:cs typeface="微软雅黑"/>
              </a:rPr>
              <a:t>。</a:t>
            </a:r>
            <a:endParaRPr sz="2000">
              <a:latin typeface="微软雅黑"/>
              <a:cs typeface="微软雅黑"/>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47</a:t>
            </a:fld>
            <a:endParaRPr dirty="0"/>
          </a:p>
        </p:txBody>
      </p:sp>
      <p:sp>
        <p:nvSpPr>
          <p:cNvPr id="21" name="object 21"/>
          <p:cNvSpPr txBox="1">
            <a:spLocks noGrp="1"/>
          </p:cNvSpPr>
          <p:nvPr>
            <p:ph type="title"/>
          </p:nvPr>
        </p:nvSpPr>
        <p:spPr>
          <a:prstGeom prst="rect">
            <a:avLst/>
          </a:prstGeom>
        </p:spPr>
        <p:txBody>
          <a:bodyPr vert="horz" wrap="square" lIns="0" tIns="12700" rIns="0" bIns="0" rtlCol="0">
            <a:spAutoFit/>
          </a:bodyPr>
          <a:lstStyle/>
          <a:p>
            <a:pPr marL="1066165">
              <a:lnSpc>
                <a:spcPts val="2735"/>
              </a:lnSpc>
              <a:spcBef>
                <a:spcPts val="100"/>
              </a:spcBef>
              <a:tabLst>
                <a:tab pos="2174240" algn="l"/>
              </a:tabLst>
            </a:pPr>
            <a:r>
              <a:rPr spc="-5" dirty="0"/>
              <a:t>12.3.2	</a:t>
            </a:r>
            <a:r>
              <a:rPr dirty="0"/>
              <a:t>转换流</a:t>
            </a:r>
            <a:r>
              <a:rPr spc="-15" dirty="0"/>
              <a:t>InputStreamReader</a:t>
            </a:r>
            <a:r>
              <a:rPr dirty="0"/>
              <a:t>和</a:t>
            </a:r>
          </a:p>
          <a:p>
            <a:pPr marL="932815">
              <a:lnSpc>
                <a:spcPts val="2735"/>
              </a:lnSpc>
              <a:tabLst>
                <a:tab pos="8672195" algn="l"/>
              </a:tabLst>
            </a:pPr>
            <a:r>
              <a:rPr b="0" u="heavy" dirty="0">
                <a:uFill>
                  <a:solidFill>
                    <a:srgbClr val="A1A1A1"/>
                  </a:solidFill>
                </a:uFill>
                <a:latin typeface="Times New Roman"/>
                <a:cs typeface="Times New Roman"/>
              </a:rPr>
              <a:t> </a:t>
            </a:r>
            <a:r>
              <a:rPr b="0" u="heavy" spc="-150" dirty="0">
                <a:uFill>
                  <a:solidFill>
                    <a:srgbClr val="A1A1A1"/>
                  </a:solidFill>
                </a:uFill>
                <a:latin typeface="Times New Roman"/>
                <a:cs typeface="Times New Roman"/>
              </a:rPr>
              <a:t> </a:t>
            </a:r>
            <a:r>
              <a:rPr u="heavy" spc="-10" dirty="0">
                <a:uFill>
                  <a:solidFill>
                    <a:srgbClr val="A1A1A1"/>
                  </a:solidFill>
                </a:uFill>
              </a:rPr>
              <a:t>OutputStreamWriter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3285" y="176682"/>
            <a:ext cx="8031480" cy="3855085"/>
          </a:xfrm>
          <a:prstGeom prst="rect">
            <a:avLst/>
          </a:prstGeom>
        </p:spPr>
        <p:txBody>
          <a:bodyPr vert="horz" wrap="square" lIns="0" tIns="12700" rIns="0" bIns="0" rtlCol="0">
            <a:spAutoFit/>
          </a:bodyPr>
          <a:lstStyle/>
          <a:p>
            <a:pPr marL="412750">
              <a:lnSpc>
                <a:spcPts val="2735"/>
              </a:lnSpc>
              <a:spcBef>
                <a:spcPts val="100"/>
              </a:spcBef>
              <a:tabLst>
                <a:tab pos="1520190" algn="l"/>
              </a:tabLst>
            </a:pPr>
            <a:r>
              <a:rPr sz="2400" b="1" spc="-5" dirty="0">
                <a:latin typeface="微软雅黑"/>
                <a:cs typeface="微软雅黑"/>
              </a:rPr>
              <a:t>12.3.2	</a:t>
            </a:r>
            <a:r>
              <a:rPr sz="2400" b="1" dirty="0">
                <a:latin typeface="微软雅黑"/>
                <a:cs typeface="微软雅黑"/>
              </a:rPr>
              <a:t>转换流</a:t>
            </a:r>
            <a:r>
              <a:rPr sz="2400" b="1" spc="-15" dirty="0">
                <a:latin typeface="微软雅黑"/>
                <a:cs typeface="微软雅黑"/>
              </a:rPr>
              <a:t>InputStreamReader</a:t>
            </a:r>
            <a:r>
              <a:rPr sz="2400" b="1" dirty="0">
                <a:latin typeface="微软雅黑"/>
                <a:cs typeface="微软雅黑"/>
              </a:rPr>
              <a:t>和</a:t>
            </a:r>
            <a:endParaRPr sz="2400">
              <a:latin typeface="微软雅黑"/>
              <a:cs typeface="微软雅黑"/>
            </a:endParaRPr>
          </a:p>
          <a:p>
            <a:pPr marL="278765">
              <a:lnSpc>
                <a:spcPts val="2735"/>
              </a:lnSpc>
              <a:tabLst>
                <a:tab pos="8018145" algn="l"/>
              </a:tabLst>
            </a:pPr>
            <a:r>
              <a:rPr sz="2400" u="heavy" dirty="0">
                <a:uFill>
                  <a:solidFill>
                    <a:srgbClr val="A1A1A1"/>
                  </a:solidFill>
                </a:uFill>
                <a:latin typeface="Times New Roman"/>
                <a:cs typeface="Times New Roman"/>
              </a:rPr>
              <a:t> </a:t>
            </a:r>
            <a:r>
              <a:rPr sz="2400" u="heavy" spc="-150" dirty="0">
                <a:uFill>
                  <a:solidFill>
                    <a:srgbClr val="A1A1A1"/>
                  </a:solidFill>
                </a:uFill>
                <a:latin typeface="Times New Roman"/>
                <a:cs typeface="Times New Roman"/>
              </a:rPr>
              <a:t> </a:t>
            </a:r>
            <a:r>
              <a:rPr sz="2400" b="1" u="heavy" spc="-10" dirty="0">
                <a:uFill>
                  <a:solidFill>
                    <a:srgbClr val="A1A1A1"/>
                  </a:solidFill>
                </a:uFill>
                <a:latin typeface="微软雅黑"/>
                <a:cs typeface="微软雅黑"/>
              </a:rPr>
              <a:t>OutputStreamWriter	</a:t>
            </a:r>
            <a:endParaRPr sz="2400">
              <a:latin typeface="微软雅黑"/>
              <a:cs typeface="微软雅黑"/>
            </a:endParaRPr>
          </a:p>
          <a:p>
            <a:pPr>
              <a:lnSpc>
                <a:spcPct val="100000"/>
              </a:lnSpc>
              <a:spcBef>
                <a:spcPts val="20"/>
              </a:spcBef>
            </a:pPr>
            <a:endParaRPr sz="2750">
              <a:latin typeface="微软雅黑"/>
              <a:cs typeface="微软雅黑"/>
            </a:endParaRPr>
          </a:p>
          <a:p>
            <a:pPr marL="122555" marR="832485">
              <a:lnSpc>
                <a:spcPts val="2590"/>
              </a:lnSpc>
            </a:pPr>
            <a:r>
              <a:rPr sz="2400" dirty="0">
                <a:latin typeface="微软雅黑"/>
                <a:cs typeface="微软雅黑"/>
              </a:rPr>
              <a:t>【例</a:t>
            </a:r>
            <a:r>
              <a:rPr sz="2400" spc="-5" dirty="0">
                <a:latin typeface="微软雅黑"/>
                <a:cs typeface="微软雅黑"/>
              </a:rPr>
              <a:t>12</a:t>
            </a:r>
            <a:r>
              <a:rPr sz="2400" dirty="0">
                <a:latin typeface="微软雅黑"/>
                <a:cs typeface="微软雅黑"/>
              </a:rPr>
              <a:t>-</a:t>
            </a:r>
            <a:r>
              <a:rPr sz="2400" spc="-5" dirty="0">
                <a:latin typeface="微软雅黑"/>
                <a:cs typeface="微软雅黑"/>
              </a:rPr>
              <a:t>7</a:t>
            </a:r>
            <a:r>
              <a:rPr sz="2400" dirty="0">
                <a:latin typeface="微软雅黑"/>
                <a:cs typeface="微软雅黑"/>
              </a:rPr>
              <a:t>】向文件中写入一个中文字符串，再将其从 文件读出。</a:t>
            </a:r>
            <a:endParaRPr sz="2400">
              <a:latin typeface="微软雅黑"/>
              <a:cs typeface="微软雅黑"/>
            </a:endParaRPr>
          </a:p>
          <a:p>
            <a:pPr>
              <a:lnSpc>
                <a:spcPct val="100000"/>
              </a:lnSpc>
              <a:spcBef>
                <a:spcPts val="35"/>
              </a:spcBef>
            </a:pPr>
            <a:endParaRPr sz="2200">
              <a:latin typeface="微软雅黑"/>
              <a:cs typeface="微软雅黑"/>
            </a:endParaRPr>
          </a:p>
          <a:p>
            <a:pPr marL="184150" marR="828675" indent="-171450" algn="just">
              <a:lnSpc>
                <a:spcPts val="2590"/>
              </a:lnSpc>
              <a:buFont typeface="Arial"/>
              <a:buChar char="•"/>
              <a:tabLst>
                <a:tab pos="184150" algn="l"/>
              </a:tabLst>
            </a:pPr>
            <a:r>
              <a:rPr sz="2400" dirty="0">
                <a:latin typeface="微软雅黑"/>
                <a:cs typeface="微软雅黑"/>
              </a:rPr>
              <a:t>说明：为了演示汉字编码的使用，本例利用两种编码 向输出流写入字符串“北京”，一次使用默认的本地 编码方案</a:t>
            </a:r>
            <a:r>
              <a:rPr sz="2400" spc="-5" dirty="0">
                <a:latin typeface="微软雅黑"/>
                <a:cs typeface="微软雅黑"/>
              </a:rPr>
              <a:t>GBK，</a:t>
            </a:r>
            <a:r>
              <a:rPr sz="2400" dirty="0">
                <a:latin typeface="微软雅黑"/>
                <a:cs typeface="微软雅黑"/>
              </a:rPr>
              <a:t>一次指定编码方式</a:t>
            </a:r>
            <a:r>
              <a:rPr sz="2400" spc="-5" dirty="0">
                <a:latin typeface="微软雅黑"/>
                <a:cs typeface="微软雅黑"/>
              </a:rPr>
              <a:t>UTF-8</a:t>
            </a:r>
            <a:r>
              <a:rPr sz="2400" dirty="0">
                <a:latin typeface="微软雅黑"/>
                <a:cs typeface="微软雅黑"/>
              </a:rPr>
              <a:t>。从输入流 读取数据时使用</a:t>
            </a:r>
            <a:r>
              <a:rPr sz="2400" spc="-5" dirty="0">
                <a:latin typeface="微软雅黑"/>
                <a:cs typeface="微软雅黑"/>
              </a:rPr>
              <a:t>UTF-8</a:t>
            </a:r>
            <a:r>
              <a:rPr sz="2400" dirty="0">
                <a:latin typeface="微软雅黑"/>
                <a:cs typeface="微软雅黑"/>
              </a:rPr>
              <a:t>编码。</a:t>
            </a:r>
            <a:endParaRPr sz="2400">
              <a:latin typeface="微软雅黑"/>
              <a:cs typeface="微软雅黑"/>
            </a:endParaRPr>
          </a:p>
        </p:txBody>
      </p:sp>
      <p:sp>
        <p:nvSpPr>
          <p:cNvPr id="3" name="object 3"/>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48</a:t>
            </a:fld>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90131" y="3842359"/>
            <a:ext cx="2240280" cy="800100"/>
          </a:xfrm>
          <a:custGeom>
            <a:avLst/>
            <a:gdLst/>
            <a:ahLst/>
            <a:cxnLst/>
            <a:rect l="l" t="t" r="r" b="b"/>
            <a:pathLst>
              <a:path w="2240280" h="800100">
                <a:moveTo>
                  <a:pt x="2239873" y="799706"/>
                </a:moveTo>
                <a:lnTo>
                  <a:pt x="0" y="799706"/>
                </a:lnTo>
                <a:lnTo>
                  <a:pt x="0" y="0"/>
                </a:lnTo>
                <a:lnTo>
                  <a:pt x="2239873" y="0"/>
                </a:lnTo>
                <a:lnTo>
                  <a:pt x="2239873" y="3810"/>
                </a:lnTo>
                <a:lnTo>
                  <a:pt x="7619" y="3810"/>
                </a:lnTo>
                <a:lnTo>
                  <a:pt x="3809" y="7620"/>
                </a:lnTo>
                <a:lnTo>
                  <a:pt x="7619" y="7620"/>
                </a:lnTo>
                <a:lnTo>
                  <a:pt x="7619" y="792086"/>
                </a:lnTo>
                <a:lnTo>
                  <a:pt x="3809" y="792086"/>
                </a:lnTo>
                <a:lnTo>
                  <a:pt x="7619" y="795896"/>
                </a:lnTo>
                <a:lnTo>
                  <a:pt x="2239873" y="795896"/>
                </a:lnTo>
                <a:lnTo>
                  <a:pt x="2239873" y="799706"/>
                </a:lnTo>
                <a:close/>
              </a:path>
              <a:path w="2240280" h="800100">
                <a:moveTo>
                  <a:pt x="7619" y="7620"/>
                </a:moveTo>
                <a:lnTo>
                  <a:pt x="3809" y="7620"/>
                </a:lnTo>
                <a:lnTo>
                  <a:pt x="7619" y="3810"/>
                </a:lnTo>
                <a:lnTo>
                  <a:pt x="7619" y="7620"/>
                </a:lnTo>
                <a:close/>
              </a:path>
              <a:path w="2240280" h="800100">
                <a:moveTo>
                  <a:pt x="2232253" y="7620"/>
                </a:moveTo>
                <a:lnTo>
                  <a:pt x="7619" y="7620"/>
                </a:lnTo>
                <a:lnTo>
                  <a:pt x="7619" y="3810"/>
                </a:lnTo>
                <a:lnTo>
                  <a:pt x="2232253" y="3810"/>
                </a:lnTo>
                <a:lnTo>
                  <a:pt x="2232253" y="7620"/>
                </a:lnTo>
                <a:close/>
              </a:path>
              <a:path w="2240280" h="800100">
                <a:moveTo>
                  <a:pt x="2232253" y="795896"/>
                </a:moveTo>
                <a:lnTo>
                  <a:pt x="2232253" y="3810"/>
                </a:lnTo>
                <a:lnTo>
                  <a:pt x="2236063" y="7620"/>
                </a:lnTo>
                <a:lnTo>
                  <a:pt x="2239873" y="7620"/>
                </a:lnTo>
                <a:lnTo>
                  <a:pt x="2239873" y="792086"/>
                </a:lnTo>
                <a:lnTo>
                  <a:pt x="2236063" y="792086"/>
                </a:lnTo>
                <a:lnTo>
                  <a:pt x="2232253" y="795896"/>
                </a:lnTo>
                <a:close/>
              </a:path>
              <a:path w="2240280" h="800100">
                <a:moveTo>
                  <a:pt x="2239873" y="7620"/>
                </a:moveTo>
                <a:lnTo>
                  <a:pt x="2236063" y="7620"/>
                </a:lnTo>
                <a:lnTo>
                  <a:pt x="2232253" y="3810"/>
                </a:lnTo>
                <a:lnTo>
                  <a:pt x="2239873" y="3810"/>
                </a:lnTo>
                <a:lnTo>
                  <a:pt x="2239873" y="7620"/>
                </a:lnTo>
                <a:close/>
              </a:path>
              <a:path w="2240280" h="800100">
                <a:moveTo>
                  <a:pt x="7619" y="795896"/>
                </a:moveTo>
                <a:lnTo>
                  <a:pt x="3809" y="792086"/>
                </a:lnTo>
                <a:lnTo>
                  <a:pt x="7619" y="792086"/>
                </a:lnTo>
                <a:lnTo>
                  <a:pt x="7619" y="795896"/>
                </a:lnTo>
                <a:close/>
              </a:path>
              <a:path w="2240280" h="800100">
                <a:moveTo>
                  <a:pt x="2232253" y="795896"/>
                </a:moveTo>
                <a:lnTo>
                  <a:pt x="7619" y="795896"/>
                </a:lnTo>
                <a:lnTo>
                  <a:pt x="7619" y="792086"/>
                </a:lnTo>
                <a:lnTo>
                  <a:pt x="2232253" y="792086"/>
                </a:lnTo>
                <a:lnTo>
                  <a:pt x="2232253" y="795896"/>
                </a:lnTo>
                <a:close/>
              </a:path>
              <a:path w="2240280" h="800100">
                <a:moveTo>
                  <a:pt x="2239873" y="795896"/>
                </a:moveTo>
                <a:lnTo>
                  <a:pt x="2232253" y="795896"/>
                </a:lnTo>
                <a:lnTo>
                  <a:pt x="2236063" y="792086"/>
                </a:lnTo>
                <a:lnTo>
                  <a:pt x="2239873" y="792086"/>
                </a:lnTo>
                <a:lnTo>
                  <a:pt x="2239873" y="795896"/>
                </a:lnTo>
                <a:close/>
              </a:path>
            </a:pathLst>
          </a:custGeom>
          <a:solidFill>
            <a:srgbClr val="000000"/>
          </a:solidFill>
        </p:spPr>
        <p:txBody>
          <a:bodyPr wrap="square" lIns="0" tIns="0" rIns="0" bIns="0" rtlCol="0"/>
          <a:lstStyle/>
          <a:p>
            <a:endParaRPr/>
          </a:p>
        </p:txBody>
      </p:sp>
      <p:sp>
        <p:nvSpPr>
          <p:cNvPr id="3" name="object 3"/>
          <p:cNvSpPr txBox="1"/>
          <p:nvPr/>
        </p:nvSpPr>
        <p:spPr>
          <a:xfrm>
            <a:off x="837806" y="3898239"/>
            <a:ext cx="1344930" cy="666750"/>
          </a:xfrm>
          <a:prstGeom prst="rect">
            <a:avLst/>
          </a:prstGeom>
        </p:spPr>
        <p:txBody>
          <a:bodyPr vert="horz" wrap="square" lIns="0" tIns="13335" rIns="0" bIns="0" rtlCol="0">
            <a:spAutoFit/>
          </a:bodyPr>
          <a:lstStyle/>
          <a:p>
            <a:pPr marL="12700" marR="5080" algn="ctr">
              <a:lnSpc>
                <a:spcPct val="100000"/>
              </a:lnSpc>
              <a:spcBef>
                <a:spcPts val="105"/>
              </a:spcBef>
            </a:pPr>
            <a:r>
              <a:rPr sz="1400" spc="-5" dirty="0">
                <a:latin typeface="Times New Roman"/>
                <a:cs typeface="Times New Roman"/>
              </a:rPr>
              <a:t>FileOutputStream  </a:t>
            </a:r>
            <a:r>
              <a:rPr sz="1400" dirty="0">
                <a:latin typeface="微软雅黑"/>
                <a:cs typeface="微软雅黑"/>
              </a:rPr>
              <a:t>二进制字</a:t>
            </a:r>
            <a:r>
              <a:rPr sz="1400" spc="5" dirty="0">
                <a:latin typeface="微软雅黑"/>
                <a:cs typeface="微软雅黑"/>
              </a:rPr>
              <a:t>节 </a:t>
            </a:r>
            <a:r>
              <a:rPr sz="1400" spc="-5" dirty="0">
                <a:latin typeface="Times New Roman"/>
                <a:cs typeface="Times New Roman"/>
              </a:rPr>
              <a:t>E58C97</a:t>
            </a:r>
            <a:r>
              <a:rPr sz="1400" spc="-60" dirty="0">
                <a:latin typeface="Times New Roman"/>
                <a:cs typeface="Times New Roman"/>
              </a:rPr>
              <a:t> </a:t>
            </a:r>
            <a:r>
              <a:rPr sz="1400" spc="-5" dirty="0">
                <a:latin typeface="Times New Roman"/>
                <a:cs typeface="Times New Roman"/>
              </a:rPr>
              <a:t>E4BAAC</a:t>
            </a:r>
            <a:endParaRPr sz="1400">
              <a:latin typeface="Times New Roman"/>
              <a:cs typeface="Times New Roman"/>
            </a:endParaRPr>
          </a:p>
        </p:txBody>
      </p:sp>
      <p:sp>
        <p:nvSpPr>
          <p:cNvPr id="4" name="object 4"/>
          <p:cNvSpPr/>
          <p:nvPr/>
        </p:nvSpPr>
        <p:spPr>
          <a:xfrm>
            <a:off x="390131" y="5729439"/>
            <a:ext cx="7826375" cy="459105"/>
          </a:xfrm>
          <a:custGeom>
            <a:avLst/>
            <a:gdLst/>
            <a:ahLst/>
            <a:cxnLst/>
            <a:rect l="l" t="t" r="r" b="b"/>
            <a:pathLst>
              <a:path w="7826375" h="459104">
                <a:moveTo>
                  <a:pt x="7826006" y="459066"/>
                </a:moveTo>
                <a:lnTo>
                  <a:pt x="0" y="459066"/>
                </a:lnTo>
                <a:lnTo>
                  <a:pt x="0" y="0"/>
                </a:lnTo>
                <a:lnTo>
                  <a:pt x="7826006" y="0"/>
                </a:lnTo>
                <a:lnTo>
                  <a:pt x="7826006" y="3810"/>
                </a:lnTo>
                <a:lnTo>
                  <a:pt x="7619" y="3810"/>
                </a:lnTo>
                <a:lnTo>
                  <a:pt x="3809" y="7620"/>
                </a:lnTo>
                <a:lnTo>
                  <a:pt x="7619" y="7620"/>
                </a:lnTo>
                <a:lnTo>
                  <a:pt x="7619" y="451446"/>
                </a:lnTo>
                <a:lnTo>
                  <a:pt x="3809" y="451446"/>
                </a:lnTo>
                <a:lnTo>
                  <a:pt x="7619" y="455256"/>
                </a:lnTo>
                <a:lnTo>
                  <a:pt x="7826006" y="455256"/>
                </a:lnTo>
                <a:lnTo>
                  <a:pt x="7826006" y="459066"/>
                </a:lnTo>
                <a:close/>
              </a:path>
              <a:path w="7826375" h="459104">
                <a:moveTo>
                  <a:pt x="7619" y="7620"/>
                </a:moveTo>
                <a:lnTo>
                  <a:pt x="3809" y="7620"/>
                </a:lnTo>
                <a:lnTo>
                  <a:pt x="7619" y="3810"/>
                </a:lnTo>
                <a:lnTo>
                  <a:pt x="7619" y="7620"/>
                </a:lnTo>
                <a:close/>
              </a:path>
              <a:path w="7826375" h="459104">
                <a:moveTo>
                  <a:pt x="7818386" y="7620"/>
                </a:moveTo>
                <a:lnTo>
                  <a:pt x="7619" y="7620"/>
                </a:lnTo>
                <a:lnTo>
                  <a:pt x="7619" y="3810"/>
                </a:lnTo>
                <a:lnTo>
                  <a:pt x="7818386" y="3810"/>
                </a:lnTo>
                <a:lnTo>
                  <a:pt x="7818386" y="7620"/>
                </a:lnTo>
                <a:close/>
              </a:path>
              <a:path w="7826375" h="459104">
                <a:moveTo>
                  <a:pt x="7818386" y="455256"/>
                </a:moveTo>
                <a:lnTo>
                  <a:pt x="7818386" y="3810"/>
                </a:lnTo>
                <a:lnTo>
                  <a:pt x="7822196" y="7620"/>
                </a:lnTo>
                <a:lnTo>
                  <a:pt x="7826006" y="7620"/>
                </a:lnTo>
                <a:lnTo>
                  <a:pt x="7826006" y="451446"/>
                </a:lnTo>
                <a:lnTo>
                  <a:pt x="7822196" y="451446"/>
                </a:lnTo>
                <a:lnTo>
                  <a:pt x="7818386" y="455256"/>
                </a:lnTo>
                <a:close/>
              </a:path>
              <a:path w="7826375" h="459104">
                <a:moveTo>
                  <a:pt x="7826006" y="7620"/>
                </a:moveTo>
                <a:lnTo>
                  <a:pt x="7822196" y="7620"/>
                </a:lnTo>
                <a:lnTo>
                  <a:pt x="7818386" y="3810"/>
                </a:lnTo>
                <a:lnTo>
                  <a:pt x="7826006" y="3810"/>
                </a:lnTo>
                <a:lnTo>
                  <a:pt x="7826006" y="7620"/>
                </a:lnTo>
                <a:close/>
              </a:path>
              <a:path w="7826375" h="459104">
                <a:moveTo>
                  <a:pt x="7619" y="455256"/>
                </a:moveTo>
                <a:lnTo>
                  <a:pt x="3809" y="451446"/>
                </a:lnTo>
                <a:lnTo>
                  <a:pt x="7619" y="451446"/>
                </a:lnTo>
                <a:lnTo>
                  <a:pt x="7619" y="455256"/>
                </a:lnTo>
                <a:close/>
              </a:path>
              <a:path w="7826375" h="459104">
                <a:moveTo>
                  <a:pt x="7818386" y="455256"/>
                </a:moveTo>
                <a:lnTo>
                  <a:pt x="7619" y="455256"/>
                </a:lnTo>
                <a:lnTo>
                  <a:pt x="7619" y="451446"/>
                </a:lnTo>
                <a:lnTo>
                  <a:pt x="7818386" y="451446"/>
                </a:lnTo>
                <a:lnTo>
                  <a:pt x="7818386" y="455256"/>
                </a:lnTo>
                <a:close/>
              </a:path>
              <a:path w="7826375" h="459104">
                <a:moveTo>
                  <a:pt x="7826006" y="455256"/>
                </a:moveTo>
                <a:lnTo>
                  <a:pt x="7818386" y="455256"/>
                </a:lnTo>
                <a:lnTo>
                  <a:pt x="7822196" y="451446"/>
                </a:lnTo>
                <a:lnTo>
                  <a:pt x="7826006" y="451446"/>
                </a:lnTo>
                <a:lnTo>
                  <a:pt x="7826006" y="455256"/>
                </a:lnTo>
                <a:close/>
              </a:path>
            </a:pathLst>
          </a:custGeom>
          <a:solidFill>
            <a:srgbClr val="000000"/>
          </a:solidFill>
        </p:spPr>
        <p:txBody>
          <a:bodyPr wrap="square" lIns="0" tIns="0" rIns="0" bIns="0" rtlCol="0"/>
          <a:lstStyle/>
          <a:p>
            <a:endParaRPr/>
          </a:p>
        </p:txBody>
      </p:sp>
      <p:sp>
        <p:nvSpPr>
          <p:cNvPr id="5" name="object 5"/>
          <p:cNvSpPr txBox="1"/>
          <p:nvPr/>
        </p:nvSpPr>
        <p:spPr>
          <a:xfrm>
            <a:off x="2630411" y="5827229"/>
            <a:ext cx="3345179"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E4BAAC</a:t>
            </a:r>
            <a:r>
              <a:rPr sz="1400" spc="-10" dirty="0">
                <a:latin typeface="Times New Roman"/>
                <a:cs typeface="Times New Roman"/>
              </a:rPr>
              <a:t> </a:t>
            </a:r>
            <a:r>
              <a:rPr sz="1400" spc="-5" dirty="0">
                <a:latin typeface="Times New Roman"/>
                <a:cs typeface="Times New Roman"/>
              </a:rPr>
              <a:t>E58C97</a:t>
            </a:r>
            <a:r>
              <a:rPr sz="1400" spc="-10" dirty="0">
                <a:latin typeface="Times New Roman"/>
                <a:cs typeface="Times New Roman"/>
              </a:rPr>
              <a:t> </a:t>
            </a:r>
            <a:r>
              <a:rPr sz="1400" spc="-5" dirty="0">
                <a:latin typeface="Times New Roman"/>
                <a:cs typeface="Times New Roman"/>
              </a:rPr>
              <a:t>BEA9</a:t>
            </a:r>
            <a:r>
              <a:rPr sz="1400" spc="-10" dirty="0">
                <a:latin typeface="Times New Roman"/>
                <a:cs typeface="Times New Roman"/>
              </a:rPr>
              <a:t> </a:t>
            </a:r>
            <a:r>
              <a:rPr sz="1400" spc="-5" dirty="0">
                <a:latin typeface="Times New Roman"/>
                <a:cs typeface="Times New Roman"/>
              </a:rPr>
              <a:t>B1B1</a:t>
            </a:r>
            <a:r>
              <a:rPr sz="1400" spc="-10" dirty="0">
                <a:latin typeface="Times New Roman"/>
                <a:cs typeface="Times New Roman"/>
              </a:rPr>
              <a:t> </a:t>
            </a:r>
            <a:r>
              <a:rPr sz="1400" spc="-5" dirty="0">
                <a:latin typeface="Times New Roman"/>
                <a:cs typeface="Times New Roman"/>
              </a:rPr>
              <a:t>(</a:t>
            </a:r>
            <a:r>
              <a:rPr sz="1400" dirty="0">
                <a:latin typeface="微软雅黑"/>
                <a:cs typeface="微软雅黑"/>
              </a:rPr>
              <a:t>二进制序列</a:t>
            </a:r>
            <a:r>
              <a:rPr sz="1400" dirty="0">
                <a:latin typeface="Times New Roman"/>
                <a:cs typeface="Times New Roman"/>
              </a:rPr>
              <a:t>)</a:t>
            </a:r>
            <a:endParaRPr sz="1400">
              <a:latin typeface="Times New Roman"/>
              <a:cs typeface="Times New Roman"/>
            </a:endParaRPr>
          </a:p>
        </p:txBody>
      </p:sp>
      <p:sp>
        <p:nvSpPr>
          <p:cNvPr id="6" name="object 6"/>
          <p:cNvSpPr/>
          <p:nvPr/>
        </p:nvSpPr>
        <p:spPr>
          <a:xfrm>
            <a:off x="3406978" y="3857231"/>
            <a:ext cx="2240280" cy="800100"/>
          </a:xfrm>
          <a:custGeom>
            <a:avLst/>
            <a:gdLst/>
            <a:ahLst/>
            <a:cxnLst/>
            <a:rect l="l" t="t" r="r" b="b"/>
            <a:pathLst>
              <a:path w="2240279" h="800100">
                <a:moveTo>
                  <a:pt x="2239860" y="799807"/>
                </a:moveTo>
                <a:lnTo>
                  <a:pt x="0" y="799807"/>
                </a:lnTo>
                <a:lnTo>
                  <a:pt x="0" y="0"/>
                </a:lnTo>
                <a:lnTo>
                  <a:pt x="2239860" y="0"/>
                </a:lnTo>
                <a:lnTo>
                  <a:pt x="2239860" y="3810"/>
                </a:lnTo>
                <a:lnTo>
                  <a:pt x="7619" y="3810"/>
                </a:lnTo>
                <a:lnTo>
                  <a:pt x="3809" y="7620"/>
                </a:lnTo>
                <a:lnTo>
                  <a:pt x="7619" y="7620"/>
                </a:lnTo>
                <a:lnTo>
                  <a:pt x="7619" y="792187"/>
                </a:lnTo>
                <a:lnTo>
                  <a:pt x="3809" y="792187"/>
                </a:lnTo>
                <a:lnTo>
                  <a:pt x="7619" y="795997"/>
                </a:lnTo>
                <a:lnTo>
                  <a:pt x="2239860" y="795997"/>
                </a:lnTo>
                <a:lnTo>
                  <a:pt x="2239860" y="799807"/>
                </a:lnTo>
                <a:close/>
              </a:path>
              <a:path w="2240279" h="800100">
                <a:moveTo>
                  <a:pt x="7619" y="7620"/>
                </a:moveTo>
                <a:lnTo>
                  <a:pt x="3809" y="7620"/>
                </a:lnTo>
                <a:lnTo>
                  <a:pt x="7619" y="3810"/>
                </a:lnTo>
                <a:lnTo>
                  <a:pt x="7619" y="7620"/>
                </a:lnTo>
                <a:close/>
              </a:path>
              <a:path w="2240279" h="800100">
                <a:moveTo>
                  <a:pt x="2232240" y="7620"/>
                </a:moveTo>
                <a:lnTo>
                  <a:pt x="7619" y="7620"/>
                </a:lnTo>
                <a:lnTo>
                  <a:pt x="7619" y="3810"/>
                </a:lnTo>
                <a:lnTo>
                  <a:pt x="2232240" y="3810"/>
                </a:lnTo>
                <a:lnTo>
                  <a:pt x="2232240" y="7620"/>
                </a:lnTo>
                <a:close/>
              </a:path>
              <a:path w="2240279" h="800100">
                <a:moveTo>
                  <a:pt x="2232240" y="795997"/>
                </a:moveTo>
                <a:lnTo>
                  <a:pt x="2232240" y="3810"/>
                </a:lnTo>
                <a:lnTo>
                  <a:pt x="2236050" y="7620"/>
                </a:lnTo>
                <a:lnTo>
                  <a:pt x="2239860" y="7620"/>
                </a:lnTo>
                <a:lnTo>
                  <a:pt x="2239860" y="792187"/>
                </a:lnTo>
                <a:lnTo>
                  <a:pt x="2236050" y="792187"/>
                </a:lnTo>
                <a:lnTo>
                  <a:pt x="2232240" y="795997"/>
                </a:lnTo>
                <a:close/>
              </a:path>
              <a:path w="2240279" h="800100">
                <a:moveTo>
                  <a:pt x="2239860" y="7620"/>
                </a:moveTo>
                <a:lnTo>
                  <a:pt x="2236050" y="7620"/>
                </a:lnTo>
                <a:lnTo>
                  <a:pt x="2232240" y="3810"/>
                </a:lnTo>
                <a:lnTo>
                  <a:pt x="2239860" y="3810"/>
                </a:lnTo>
                <a:lnTo>
                  <a:pt x="2239860" y="7620"/>
                </a:lnTo>
                <a:close/>
              </a:path>
              <a:path w="2240279" h="800100">
                <a:moveTo>
                  <a:pt x="7619" y="795997"/>
                </a:moveTo>
                <a:lnTo>
                  <a:pt x="3809" y="792187"/>
                </a:lnTo>
                <a:lnTo>
                  <a:pt x="7619" y="792187"/>
                </a:lnTo>
                <a:lnTo>
                  <a:pt x="7619" y="795997"/>
                </a:lnTo>
                <a:close/>
              </a:path>
              <a:path w="2240279" h="800100">
                <a:moveTo>
                  <a:pt x="2232240" y="795997"/>
                </a:moveTo>
                <a:lnTo>
                  <a:pt x="7619" y="795997"/>
                </a:lnTo>
                <a:lnTo>
                  <a:pt x="7619" y="792187"/>
                </a:lnTo>
                <a:lnTo>
                  <a:pt x="2232240" y="792187"/>
                </a:lnTo>
                <a:lnTo>
                  <a:pt x="2232240" y="795997"/>
                </a:lnTo>
                <a:close/>
              </a:path>
              <a:path w="2240279" h="800100">
                <a:moveTo>
                  <a:pt x="2239860" y="795997"/>
                </a:moveTo>
                <a:lnTo>
                  <a:pt x="2232240" y="795997"/>
                </a:lnTo>
                <a:lnTo>
                  <a:pt x="2236050" y="792187"/>
                </a:lnTo>
                <a:lnTo>
                  <a:pt x="2239860" y="792187"/>
                </a:lnTo>
                <a:lnTo>
                  <a:pt x="2239860" y="795997"/>
                </a:lnTo>
                <a:close/>
              </a:path>
            </a:pathLst>
          </a:custGeom>
          <a:solidFill>
            <a:srgbClr val="000000"/>
          </a:solidFill>
        </p:spPr>
        <p:txBody>
          <a:bodyPr wrap="square" lIns="0" tIns="0" rIns="0" bIns="0" rtlCol="0"/>
          <a:lstStyle/>
          <a:p>
            <a:endParaRPr/>
          </a:p>
        </p:txBody>
      </p:sp>
      <p:sp>
        <p:nvSpPr>
          <p:cNvPr id="7" name="object 7"/>
          <p:cNvSpPr txBox="1"/>
          <p:nvPr/>
        </p:nvSpPr>
        <p:spPr>
          <a:xfrm>
            <a:off x="3785438" y="3897236"/>
            <a:ext cx="1482090" cy="697865"/>
          </a:xfrm>
          <a:prstGeom prst="rect">
            <a:avLst/>
          </a:prstGeom>
        </p:spPr>
        <p:txBody>
          <a:bodyPr vert="horz" wrap="square" lIns="0" tIns="11430" rIns="0" bIns="0" rtlCol="0">
            <a:spAutoFit/>
          </a:bodyPr>
          <a:lstStyle/>
          <a:p>
            <a:pPr marL="288925" marR="5080" indent="-276225">
              <a:lnSpc>
                <a:spcPct val="100200"/>
              </a:lnSpc>
              <a:spcBef>
                <a:spcPts val="90"/>
              </a:spcBef>
            </a:pPr>
            <a:r>
              <a:rPr sz="1600" spc="-5" dirty="0">
                <a:latin typeface="Times New Roman"/>
                <a:cs typeface="Times New Roman"/>
              </a:rPr>
              <a:t>FileOutputStream </a:t>
            </a:r>
            <a:r>
              <a:rPr sz="1400" spc="-5" dirty="0">
                <a:latin typeface="微软雅黑"/>
                <a:cs typeface="微软雅黑"/>
              </a:rPr>
              <a:t>二进制字</a:t>
            </a:r>
            <a:r>
              <a:rPr sz="1400" spc="5" dirty="0">
                <a:latin typeface="微软雅黑"/>
                <a:cs typeface="微软雅黑"/>
              </a:rPr>
              <a:t>节 </a:t>
            </a:r>
            <a:r>
              <a:rPr sz="1400" spc="-5" dirty="0">
                <a:latin typeface="Times New Roman"/>
                <a:cs typeface="Times New Roman"/>
              </a:rPr>
              <a:t>B1B1</a:t>
            </a:r>
            <a:r>
              <a:rPr sz="1400" spc="-15" dirty="0">
                <a:latin typeface="Times New Roman"/>
                <a:cs typeface="Times New Roman"/>
              </a:rPr>
              <a:t> </a:t>
            </a:r>
            <a:r>
              <a:rPr sz="1400" spc="-5" dirty="0">
                <a:latin typeface="Times New Roman"/>
                <a:cs typeface="Times New Roman"/>
              </a:rPr>
              <a:t>BEA9</a:t>
            </a:r>
            <a:endParaRPr sz="1400">
              <a:latin typeface="Times New Roman"/>
              <a:cs typeface="Times New Roman"/>
            </a:endParaRPr>
          </a:p>
        </p:txBody>
      </p:sp>
      <p:sp>
        <p:nvSpPr>
          <p:cNvPr id="8" name="object 8"/>
          <p:cNvSpPr/>
          <p:nvPr/>
        </p:nvSpPr>
        <p:spPr>
          <a:xfrm>
            <a:off x="1363954" y="2964853"/>
            <a:ext cx="76200" cy="881380"/>
          </a:xfrm>
          <a:custGeom>
            <a:avLst/>
            <a:gdLst/>
            <a:ahLst/>
            <a:cxnLst/>
            <a:rect l="l" t="t" r="r" b="b"/>
            <a:pathLst>
              <a:path w="76200" h="881379">
                <a:moveTo>
                  <a:pt x="38100" y="843216"/>
                </a:moveTo>
                <a:lnTo>
                  <a:pt x="31750" y="836866"/>
                </a:lnTo>
                <a:lnTo>
                  <a:pt x="31750" y="0"/>
                </a:lnTo>
                <a:lnTo>
                  <a:pt x="44450" y="0"/>
                </a:lnTo>
                <a:lnTo>
                  <a:pt x="44450" y="836866"/>
                </a:lnTo>
                <a:lnTo>
                  <a:pt x="38100" y="843216"/>
                </a:lnTo>
                <a:close/>
              </a:path>
              <a:path w="76200" h="881379">
                <a:moveTo>
                  <a:pt x="38100" y="881316"/>
                </a:moveTo>
                <a:lnTo>
                  <a:pt x="0" y="805116"/>
                </a:lnTo>
                <a:lnTo>
                  <a:pt x="31750" y="836866"/>
                </a:lnTo>
                <a:lnTo>
                  <a:pt x="31750" y="852741"/>
                </a:lnTo>
                <a:lnTo>
                  <a:pt x="52387" y="852741"/>
                </a:lnTo>
                <a:lnTo>
                  <a:pt x="38100" y="881316"/>
                </a:lnTo>
                <a:close/>
              </a:path>
              <a:path w="76200" h="881379">
                <a:moveTo>
                  <a:pt x="52387" y="852741"/>
                </a:moveTo>
                <a:lnTo>
                  <a:pt x="44450" y="852741"/>
                </a:lnTo>
                <a:lnTo>
                  <a:pt x="44450" y="836866"/>
                </a:lnTo>
                <a:lnTo>
                  <a:pt x="76200" y="805116"/>
                </a:lnTo>
                <a:lnTo>
                  <a:pt x="52387" y="852741"/>
                </a:lnTo>
                <a:close/>
              </a:path>
              <a:path w="76200" h="881379">
                <a:moveTo>
                  <a:pt x="44450" y="852741"/>
                </a:moveTo>
                <a:lnTo>
                  <a:pt x="31750" y="852741"/>
                </a:lnTo>
                <a:lnTo>
                  <a:pt x="31750" y="836866"/>
                </a:lnTo>
                <a:lnTo>
                  <a:pt x="38100" y="843216"/>
                </a:lnTo>
                <a:lnTo>
                  <a:pt x="44450" y="843216"/>
                </a:lnTo>
                <a:lnTo>
                  <a:pt x="44450" y="852741"/>
                </a:lnTo>
                <a:close/>
              </a:path>
              <a:path w="76200" h="881379">
                <a:moveTo>
                  <a:pt x="44450" y="843216"/>
                </a:moveTo>
                <a:lnTo>
                  <a:pt x="38100" y="843216"/>
                </a:lnTo>
                <a:lnTo>
                  <a:pt x="44450" y="836866"/>
                </a:lnTo>
                <a:lnTo>
                  <a:pt x="44450" y="843216"/>
                </a:lnTo>
                <a:close/>
              </a:path>
            </a:pathLst>
          </a:custGeom>
          <a:solidFill>
            <a:srgbClr val="006C39"/>
          </a:solidFill>
        </p:spPr>
        <p:txBody>
          <a:bodyPr wrap="square" lIns="0" tIns="0" rIns="0" bIns="0" rtlCol="0"/>
          <a:lstStyle/>
          <a:p>
            <a:endParaRPr/>
          </a:p>
        </p:txBody>
      </p:sp>
      <p:sp>
        <p:nvSpPr>
          <p:cNvPr id="9" name="object 9"/>
          <p:cNvSpPr txBox="1"/>
          <p:nvPr/>
        </p:nvSpPr>
        <p:spPr>
          <a:xfrm>
            <a:off x="4492256" y="3280625"/>
            <a:ext cx="1496060" cy="268605"/>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2A00FF"/>
                </a:solidFill>
                <a:latin typeface="Times New Roman"/>
                <a:cs typeface="Times New Roman"/>
              </a:rPr>
              <a:t>"</a:t>
            </a:r>
            <a:r>
              <a:rPr sz="1600" dirty="0">
                <a:solidFill>
                  <a:srgbClr val="2A00FF"/>
                </a:solidFill>
                <a:latin typeface="微软雅黑"/>
                <a:cs typeface="微软雅黑"/>
              </a:rPr>
              <a:t>北京</a:t>
            </a:r>
            <a:r>
              <a:rPr sz="1600" spc="-5" dirty="0">
                <a:solidFill>
                  <a:srgbClr val="2A00FF"/>
                </a:solidFill>
                <a:latin typeface="Times New Roman"/>
                <a:cs typeface="Times New Roman"/>
              </a:rPr>
              <a:t>"</a:t>
            </a:r>
            <a:r>
              <a:rPr sz="1600" spc="-5" dirty="0">
                <a:latin typeface="Times New Roman"/>
                <a:cs typeface="Times New Roman"/>
              </a:rPr>
              <a:t>.getBytes()</a:t>
            </a:r>
            <a:endParaRPr sz="1600">
              <a:latin typeface="Times New Roman"/>
              <a:cs typeface="Times New Roman"/>
            </a:endParaRPr>
          </a:p>
        </p:txBody>
      </p:sp>
      <p:sp>
        <p:nvSpPr>
          <p:cNvPr id="10" name="object 10"/>
          <p:cNvSpPr/>
          <p:nvPr/>
        </p:nvSpPr>
        <p:spPr>
          <a:xfrm>
            <a:off x="4366539" y="2965500"/>
            <a:ext cx="76200" cy="880744"/>
          </a:xfrm>
          <a:custGeom>
            <a:avLst/>
            <a:gdLst/>
            <a:ahLst/>
            <a:cxnLst/>
            <a:rect l="l" t="t" r="r" b="b"/>
            <a:pathLst>
              <a:path w="76200" h="880745">
                <a:moveTo>
                  <a:pt x="38100" y="842568"/>
                </a:moveTo>
                <a:lnTo>
                  <a:pt x="31750" y="836218"/>
                </a:lnTo>
                <a:lnTo>
                  <a:pt x="31750" y="0"/>
                </a:lnTo>
                <a:lnTo>
                  <a:pt x="44450" y="0"/>
                </a:lnTo>
                <a:lnTo>
                  <a:pt x="44450" y="836218"/>
                </a:lnTo>
                <a:lnTo>
                  <a:pt x="38100" y="842568"/>
                </a:lnTo>
                <a:close/>
              </a:path>
              <a:path w="76200" h="880745">
                <a:moveTo>
                  <a:pt x="38100" y="880668"/>
                </a:moveTo>
                <a:lnTo>
                  <a:pt x="0" y="804468"/>
                </a:lnTo>
                <a:lnTo>
                  <a:pt x="31750" y="836218"/>
                </a:lnTo>
                <a:lnTo>
                  <a:pt x="31750" y="852093"/>
                </a:lnTo>
                <a:lnTo>
                  <a:pt x="52387" y="852093"/>
                </a:lnTo>
                <a:lnTo>
                  <a:pt x="38100" y="880668"/>
                </a:lnTo>
                <a:close/>
              </a:path>
              <a:path w="76200" h="880745">
                <a:moveTo>
                  <a:pt x="52387" y="852093"/>
                </a:moveTo>
                <a:lnTo>
                  <a:pt x="44450" y="852093"/>
                </a:lnTo>
                <a:lnTo>
                  <a:pt x="44450" y="836218"/>
                </a:lnTo>
                <a:lnTo>
                  <a:pt x="76200" y="804468"/>
                </a:lnTo>
                <a:lnTo>
                  <a:pt x="52387" y="852093"/>
                </a:lnTo>
                <a:close/>
              </a:path>
              <a:path w="76200" h="880745">
                <a:moveTo>
                  <a:pt x="44450" y="852093"/>
                </a:moveTo>
                <a:lnTo>
                  <a:pt x="31750" y="852093"/>
                </a:lnTo>
                <a:lnTo>
                  <a:pt x="31750" y="836218"/>
                </a:lnTo>
                <a:lnTo>
                  <a:pt x="38100" y="842568"/>
                </a:lnTo>
                <a:lnTo>
                  <a:pt x="44450" y="842568"/>
                </a:lnTo>
                <a:lnTo>
                  <a:pt x="44450" y="852093"/>
                </a:lnTo>
                <a:close/>
              </a:path>
              <a:path w="76200" h="880745">
                <a:moveTo>
                  <a:pt x="44450" y="842568"/>
                </a:moveTo>
                <a:lnTo>
                  <a:pt x="38100" y="842568"/>
                </a:lnTo>
                <a:lnTo>
                  <a:pt x="44450" y="836218"/>
                </a:lnTo>
                <a:lnTo>
                  <a:pt x="44450" y="842568"/>
                </a:lnTo>
                <a:close/>
              </a:path>
            </a:pathLst>
          </a:custGeom>
          <a:solidFill>
            <a:srgbClr val="006C39"/>
          </a:solidFill>
        </p:spPr>
        <p:txBody>
          <a:bodyPr wrap="square" lIns="0" tIns="0" rIns="0" bIns="0" rtlCol="0"/>
          <a:lstStyle/>
          <a:p>
            <a:endParaRPr/>
          </a:p>
        </p:txBody>
      </p:sp>
      <p:sp>
        <p:nvSpPr>
          <p:cNvPr id="11" name="object 11"/>
          <p:cNvSpPr txBox="1"/>
          <p:nvPr/>
        </p:nvSpPr>
        <p:spPr>
          <a:xfrm>
            <a:off x="1467942" y="3295599"/>
            <a:ext cx="2215515" cy="268605"/>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2A00FF"/>
                </a:solidFill>
                <a:latin typeface="Times New Roman"/>
                <a:cs typeface="Times New Roman"/>
              </a:rPr>
              <a:t>"</a:t>
            </a:r>
            <a:r>
              <a:rPr sz="1600" dirty="0">
                <a:solidFill>
                  <a:srgbClr val="2A00FF"/>
                </a:solidFill>
                <a:latin typeface="微软雅黑"/>
                <a:cs typeface="微软雅黑"/>
              </a:rPr>
              <a:t>北京</a:t>
            </a:r>
            <a:r>
              <a:rPr sz="1600" spc="-5" dirty="0">
                <a:solidFill>
                  <a:srgbClr val="2A00FF"/>
                </a:solidFill>
                <a:latin typeface="Times New Roman"/>
                <a:cs typeface="Times New Roman"/>
              </a:rPr>
              <a:t>"</a:t>
            </a:r>
            <a:r>
              <a:rPr sz="1600" spc="-5" dirty="0">
                <a:latin typeface="Times New Roman"/>
                <a:cs typeface="Times New Roman"/>
              </a:rPr>
              <a:t>.getBytes(</a:t>
            </a:r>
            <a:r>
              <a:rPr sz="1600" spc="-5" dirty="0">
                <a:solidFill>
                  <a:srgbClr val="2A00FF"/>
                </a:solidFill>
                <a:latin typeface="Times New Roman"/>
                <a:cs typeface="Times New Roman"/>
              </a:rPr>
              <a:t>"UTF-8"</a:t>
            </a:r>
            <a:r>
              <a:rPr sz="1600" spc="-5" dirty="0">
                <a:latin typeface="Times New Roman"/>
                <a:cs typeface="Times New Roman"/>
              </a:rPr>
              <a:t>)</a:t>
            </a:r>
            <a:endParaRPr sz="1600">
              <a:latin typeface="Times New Roman"/>
              <a:cs typeface="Times New Roman"/>
            </a:endParaRPr>
          </a:p>
        </p:txBody>
      </p:sp>
      <p:sp>
        <p:nvSpPr>
          <p:cNvPr id="12" name="object 12"/>
          <p:cNvSpPr/>
          <p:nvPr/>
        </p:nvSpPr>
        <p:spPr>
          <a:xfrm>
            <a:off x="1309116" y="4661915"/>
            <a:ext cx="216535" cy="1056640"/>
          </a:xfrm>
          <a:custGeom>
            <a:avLst/>
            <a:gdLst/>
            <a:ahLst/>
            <a:cxnLst/>
            <a:rect l="l" t="t" r="r" b="b"/>
            <a:pathLst>
              <a:path w="216534" h="1056639">
                <a:moveTo>
                  <a:pt x="161544" y="947928"/>
                </a:moveTo>
                <a:lnTo>
                  <a:pt x="53340" y="947928"/>
                </a:lnTo>
                <a:lnTo>
                  <a:pt x="53340" y="0"/>
                </a:lnTo>
                <a:lnTo>
                  <a:pt x="161544" y="0"/>
                </a:lnTo>
                <a:lnTo>
                  <a:pt x="161544" y="947928"/>
                </a:lnTo>
                <a:close/>
              </a:path>
              <a:path w="216534" h="1056639">
                <a:moveTo>
                  <a:pt x="108203" y="1056132"/>
                </a:moveTo>
                <a:lnTo>
                  <a:pt x="0" y="947928"/>
                </a:lnTo>
                <a:lnTo>
                  <a:pt x="216408" y="947928"/>
                </a:lnTo>
                <a:lnTo>
                  <a:pt x="108203" y="1056132"/>
                </a:lnTo>
                <a:close/>
              </a:path>
            </a:pathLst>
          </a:custGeom>
          <a:solidFill>
            <a:srgbClr val="006C39"/>
          </a:solidFill>
        </p:spPr>
        <p:txBody>
          <a:bodyPr wrap="square" lIns="0" tIns="0" rIns="0" bIns="0" rtlCol="0"/>
          <a:lstStyle/>
          <a:p>
            <a:endParaRPr/>
          </a:p>
        </p:txBody>
      </p:sp>
      <p:sp>
        <p:nvSpPr>
          <p:cNvPr id="13" name="object 13"/>
          <p:cNvSpPr/>
          <p:nvPr/>
        </p:nvSpPr>
        <p:spPr>
          <a:xfrm>
            <a:off x="4303776" y="4675632"/>
            <a:ext cx="216535" cy="1054735"/>
          </a:xfrm>
          <a:custGeom>
            <a:avLst/>
            <a:gdLst/>
            <a:ahLst/>
            <a:cxnLst/>
            <a:rect l="l" t="t" r="r" b="b"/>
            <a:pathLst>
              <a:path w="216535" h="1054735">
                <a:moveTo>
                  <a:pt x="161544" y="946403"/>
                </a:moveTo>
                <a:lnTo>
                  <a:pt x="54863" y="946403"/>
                </a:lnTo>
                <a:lnTo>
                  <a:pt x="54863" y="0"/>
                </a:lnTo>
                <a:lnTo>
                  <a:pt x="161544" y="0"/>
                </a:lnTo>
                <a:lnTo>
                  <a:pt x="161544" y="946403"/>
                </a:lnTo>
                <a:close/>
              </a:path>
              <a:path w="216535" h="1054735">
                <a:moveTo>
                  <a:pt x="108203" y="1054607"/>
                </a:moveTo>
                <a:lnTo>
                  <a:pt x="0" y="946403"/>
                </a:lnTo>
                <a:lnTo>
                  <a:pt x="216408" y="946403"/>
                </a:lnTo>
                <a:lnTo>
                  <a:pt x="108203" y="1054607"/>
                </a:lnTo>
                <a:close/>
              </a:path>
            </a:pathLst>
          </a:custGeom>
          <a:solidFill>
            <a:srgbClr val="006C39"/>
          </a:solidFill>
        </p:spPr>
        <p:txBody>
          <a:bodyPr wrap="square" lIns="0" tIns="0" rIns="0" bIns="0" rtlCol="0"/>
          <a:lstStyle/>
          <a:p>
            <a:endParaRPr/>
          </a:p>
        </p:txBody>
      </p:sp>
      <p:sp>
        <p:nvSpPr>
          <p:cNvPr id="14" name="object 14"/>
          <p:cNvSpPr txBox="1"/>
          <p:nvPr/>
        </p:nvSpPr>
        <p:spPr>
          <a:xfrm>
            <a:off x="1073226" y="2615971"/>
            <a:ext cx="6692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r>
              <a:rPr sz="1800" dirty="0">
                <a:latin typeface="微软雅黑"/>
                <a:cs typeface="微软雅黑"/>
              </a:rPr>
              <a:t>北京</a:t>
            </a:r>
            <a:r>
              <a:rPr sz="1800" dirty="0">
                <a:latin typeface="Times New Roman"/>
                <a:cs typeface="Times New Roman"/>
              </a:rPr>
              <a:t>"</a:t>
            </a:r>
            <a:endParaRPr sz="1800">
              <a:latin typeface="Times New Roman"/>
              <a:cs typeface="Times New Roman"/>
            </a:endParaRPr>
          </a:p>
        </p:txBody>
      </p:sp>
      <p:sp>
        <p:nvSpPr>
          <p:cNvPr id="18" name="object 18"/>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49</a:t>
            </a:fld>
            <a:endParaRPr dirty="0"/>
          </a:p>
        </p:txBody>
      </p:sp>
      <p:sp>
        <p:nvSpPr>
          <p:cNvPr id="15" name="object 15"/>
          <p:cNvSpPr txBox="1"/>
          <p:nvPr/>
        </p:nvSpPr>
        <p:spPr>
          <a:xfrm>
            <a:off x="4068038" y="2592933"/>
            <a:ext cx="6692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r>
              <a:rPr sz="1800" dirty="0">
                <a:latin typeface="微软雅黑"/>
                <a:cs typeface="微软雅黑"/>
              </a:rPr>
              <a:t>北京</a:t>
            </a:r>
            <a:r>
              <a:rPr sz="1800" dirty="0">
                <a:latin typeface="Times New Roman"/>
                <a:cs typeface="Times New Roman"/>
              </a:rPr>
              <a:t>"</a:t>
            </a:r>
            <a:endParaRPr sz="1800">
              <a:latin typeface="Times New Roman"/>
              <a:cs typeface="Times New Roman"/>
            </a:endParaRPr>
          </a:p>
        </p:txBody>
      </p:sp>
      <p:sp>
        <p:nvSpPr>
          <p:cNvPr id="16" name="object 16"/>
          <p:cNvSpPr txBox="1">
            <a:spLocks noGrp="1"/>
          </p:cNvSpPr>
          <p:nvPr>
            <p:ph type="title"/>
          </p:nvPr>
        </p:nvSpPr>
        <p:spPr>
          <a:xfrm>
            <a:off x="472681" y="459587"/>
            <a:ext cx="52832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7E0054"/>
                </a:solidFill>
                <a:latin typeface="Consolas"/>
                <a:cs typeface="Consolas"/>
              </a:rPr>
              <a:t>try</a:t>
            </a:r>
            <a:r>
              <a:rPr sz="1800" dirty="0">
                <a:latin typeface="Consolas"/>
                <a:cs typeface="Consolas"/>
              </a:rPr>
              <a:t>(</a:t>
            </a:r>
            <a:endParaRPr sz="1800">
              <a:latin typeface="Consolas"/>
              <a:cs typeface="Consolas"/>
            </a:endParaRPr>
          </a:p>
        </p:txBody>
      </p:sp>
      <p:sp>
        <p:nvSpPr>
          <p:cNvPr id="17" name="object 17"/>
          <p:cNvSpPr txBox="1"/>
          <p:nvPr/>
        </p:nvSpPr>
        <p:spPr>
          <a:xfrm>
            <a:off x="472681" y="733907"/>
            <a:ext cx="7729220" cy="1397000"/>
          </a:xfrm>
          <a:prstGeom prst="rect">
            <a:avLst/>
          </a:prstGeom>
        </p:spPr>
        <p:txBody>
          <a:bodyPr vert="horz" wrap="square" lIns="0" tIns="12700" rIns="0" bIns="0" rtlCol="0">
            <a:spAutoFit/>
          </a:bodyPr>
          <a:lstStyle/>
          <a:p>
            <a:pPr marL="927100">
              <a:lnSpc>
                <a:spcPct val="100000"/>
              </a:lnSpc>
              <a:spcBef>
                <a:spcPts val="100"/>
              </a:spcBef>
            </a:pPr>
            <a:r>
              <a:rPr sz="1800" dirty="0">
                <a:latin typeface="Consolas"/>
                <a:cs typeface="Consolas"/>
              </a:rPr>
              <a:t>FileOutputStream </a:t>
            </a:r>
            <a:r>
              <a:rPr sz="1800" dirty="0">
                <a:solidFill>
                  <a:srgbClr val="6A3D3D"/>
                </a:solidFill>
                <a:latin typeface="Consolas"/>
                <a:cs typeface="Consolas"/>
              </a:rPr>
              <a:t>fos </a:t>
            </a:r>
            <a:r>
              <a:rPr sz="1800" dirty="0">
                <a:latin typeface="Consolas"/>
                <a:cs typeface="Consolas"/>
              </a:rPr>
              <a:t>= </a:t>
            </a:r>
            <a:r>
              <a:rPr sz="1800" b="1" dirty="0">
                <a:solidFill>
                  <a:srgbClr val="7E0054"/>
                </a:solidFill>
                <a:latin typeface="Consolas"/>
                <a:cs typeface="Consolas"/>
              </a:rPr>
              <a:t>new</a:t>
            </a:r>
            <a:r>
              <a:rPr sz="1800" b="1" spc="-100" dirty="0">
                <a:solidFill>
                  <a:srgbClr val="7E0054"/>
                </a:solidFill>
                <a:latin typeface="Consolas"/>
                <a:cs typeface="Consolas"/>
              </a:rPr>
              <a:t> </a:t>
            </a:r>
            <a:r>
              <a:rPr sz="1800" b="1" dirty="0">
                <a:latin typeface="Consolas"/>
                <a:cs typeface="Consolas"/>
              </a:rPr>
              <a:t>FileOutputStream(</a:t>
            </a:r>
            <a:r>
              <a:rPr sz="1800" b="1" dirty="0">
                <a:solidFill>
                  <a:srgbClr val="6A3D3D"/>
                </a:solidFill>
                <a:latin typeface="Consolas"/>
                <a:cs typeface="Consolas"/>
              </a:rPr>
              <a:t>filename</a:t>
            </a:r>
            <a:r>
              <a:rPr sz="1800" b="1" dirty="0">
                <a:latin typeface="Consolas"/>
                <a:cs typeface="Consolas"/>
              </a:rPr>
              <a:t>);</a:t>
            </a:r>
            <a:endParaRPr sz="1800">
              <a:latin typeface="Consolas"/>
              <a:cs typeface="Consolas"/>
            </a:endParaRPr>
          </a:p>
          <a:p>
            <a:pPr marL="12700">
              <a:lnSpc>
                <a:spcPct val="100000"/>
              </a:lnSpc>
            </a:pPr>
            <a:r>
              <a:rPr sz="1800" dirty="0">
                <a:latin typeface="Consolas"/>
                <a:cs typeface="Consolas"/>
              </a:rPr>
              <a:t>){</a:t>
            </a:r>
            <a:endParaRPr sz="1800">
              <a:latin typeface="Consolas"/>
              <a:cs typeface="Consolas"/>
            </a:endParaRPr>
          </a:p>
          <a:p>
            <a:pPr marL="469265">
              <a:lnSpc>
                <a:spcPct val="100000"/>
              </a:lnSpc>
              <a:spcBef>
                <a:spcPts val="70"/>
              </a:spcBef>
            </a:pPr>
            <a:r>
              <a:rPr sz="1800" dirty="0">
                <a:solidFill>
                  <a:srgbClr val="6A3D3D"/>
                </a:solidFill>
                <a:latin typeface="Consolas"/>
                <a:cs typeface="Consolas"/>
              </a:rPr>
              <a:t>fos</a:t>
            </a:r>
            <a:r>
              <a:rPr sz="1800" dirty="0">
                <a:latin typeface="Consolas"/>
                <a:cs typeface="Consolas"/>
              </a:rPr>
              <a:t>.write(</a:t>
            </a:r>
            <a:r>
              <a:rPr sz="1800" dirty="0">
                <a:solidFill>
                  <a:srgbClr val="2A00FF"/>
                </a:solidFill>
                <a:latin typeface="Consolas"/>
                <a:cs typeface="Consolas"/>
              </a:rPr>
              <a:t>"</a:t>
            </a:r>
            <a:r>
              <a:rPr sz="1800" dirty="0">
                <a:solidFill>
                  <a:srgbClr val="2A00FF"/>
                </a:solidFill>
                <a:latin typeface="微软雅黑"/>
                <a:cs typeface="微软雅黑"/>
              </a:rPr>
              <a:t>北京</a:t>
            </a:r>
            <a:r>
              <a:rPr sz="1800" dirty="0">
                <a:solidFill>
                  <a:srgbClr val="2A00FF"/>
                </a:solidFill>
                <a:latin typeface="Consolas"/>
                <a:cs typeface="Consolas"/>
              </a:rPr>
              <a:t>"</a:t>
            </a:r>
            <a:r>
              <a:rPr sz="1800" dirty="0">
                <a:latin typeface="Consolas"/>
                <a:cs typeface="Consolas"/>
              </a:rPr>
              <a:t>.getBytes());</a:t>
            </a:r>
            <a:endParaRPr sz="1800">
              <a:latin typeface="Consolas"/>
              <a:cs typeface="Consolas"/>
            </a:endParaRPr>
          </a:p>
          <a:p>
            <a:pPr marL="469265">
              <a:lnSpc>
                <a:spcPts val="2125"/>
              </a:lnSpc>
            </a:pPr>
            <a:r>
              <a:rPr sz="1800" dirty="0">
                <a:solidFill>
                  <a:srgbClr val="6A3D3D"/>
                </a:solidFill>
                <a:latin typeface="Consolas"/>
                <a:cs typeface="Consolas"/>
              </a:rPr>
              <a:t>fos</a:t>
            </a:r>
            <a:r>
              <a:rPr sz="1800" dirty="0">
                <a:latin typeface="Consolas"/>
                <a:cs typeface="Consolas"/>
              </a:rPr>
              <a:t>.write(</a:t>
            </a:r>
            <a:r>
              <a:rPr sz="1800" dirty="0">
                <a:solidFill>
                  <a:srgbClr val="2A00FF"/>
                </a:solidFill>
                <a:latin typeface="Consolas"/>
                <a:cs typeface="Consolas"/>
              </a:rPr>
              <a:t>"</a:t>
            </a:r>
            <a:r>
              <a:rPr sz="1800" dirty="0">
                <a:solidFill>
                  <a:srgbClr val="2A00FF"/>
                </a:solidFill>
                <a:latin typeface="微软雅黑"/>
                <a:cs typeface="微软雅黑"/>
              </a:rPr>
              <a:t>北京</a:t>
            </a:r>
            <a:r>
              <a:rPr sz="1800" dirty="0">
                <a:solidFill>
                  <a:srgbClr val="2A00FF"/>
                </a:solidFill>
                <a:latin typeface="Consolas"/>
                <a:cs typeface="Consolas"/>
              </a:rPr>
              <a:t>"</a:t>
            </a:r>
            <a:r>
              <a:rPr sz="1800" dirty="0">
                <a:latin typeface="Consolas"/>
                <a:cs typeface="Consolas"/>
              </a:rPr>
              <a:t>.getBytes(</a:t>
            </a:r>
            <a:r>
              <a:rPr sz="1800" dirty="0">
                <a:solidFill>
                  <a:srgbClr val="2A00FF"/>
                </a:solidFill>
                <a:latin typeface="Consolas"/>
                <a:cs typeface="Consolas"/>
              </a:rPr>
              <a:t>"UTF-8"</a:t>
            </a:r>
            <a:r>
              <a:rPr sz="1800" dirty="0">
                <a:latin typeface="Consolas"/>
                <a:cs typeface="Consolas"/>
              </a:rPr>
              <a:t>));</a:t>
            </a:r>
            <a:endParaRPr sz="1800">
              <a:latin typeface="Consolas"/>
              <a:cs typeface="Consolas"/>
            </a:endParaRPr>
          </a:p>
          <a:p>
            <a:pPr marL="12700">
              <a:lnSpc>
                <a:spcPts val="2125"/>
              </a:lnSpc>
            </a:pPr>
            <a:r>
              <a:rPr sz="1800" dirty="0">
                <a:latin typeface="Consolas"/>
                <a:cs typeface="Consolas"/>
              </a:rPr>
              <a:t>}</a:t>
            </a:r>
            <a:endParaRPr sz="1800">
              <a:latin typeface="Consolas"/>
              <a:cs typeface="Consola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65759" y="5777484"/>
            <a:ext cx="7084059" cy="452755"/>
          </a:xfrm>
          <a:custGeom>
            <a:avLst/>
            <a:gdLst/>
            <a:ahLst/>
            <a:cxnLst/>
            <a:rect l="l" t="t" r="r" b="b"/>
            <a:pathLst>
              <a:path w="7084059" h="452754">
                <a:moveTo>
                  <a:pt x="0" y="0"/>
                </a:moveTo>
                <a:lnTo>
                  <a:pt x="7083552" y="0"/>
                </a:lnTo>
                <a:lnTo>
                  <a:pt x="7083552" y="452627"/>
                </a:lnTo>
                <a:lnTo>
                  <a:pt x="0" y="452627"/>
                </a:lnTo>
                <a:lnTo>
                  <a:pt x="0" y="0"/>
                </a:lnTo>
                <a:close/>
              </a:path>
            </a:pathLst>
          </a:custGeom>
          <a:solidFill>
            <a:srgbClr val="FFFFFF"/>
          </a:solidFill>
        </p:spPr>
        <p:txBody>
          <a:bodyPr wrap="square" lIns="0" tIns="0" rIns="0" bIns="0" rtlCol="0"/>
          <a:lstStyle/>
          <a:p>
            <a:endParaRPr/>
          </a:p>
        </p:txBody>
      </p:sp>
      <p:sp>
        <p:nvSpPr>
          <p:cNvPr id="3" name="object 3"/>
          <p:cNvSpPr/>
          <p:nvPr/>
        </p:nvSpPr>
        <p:spPr>
          <a:xfrm>
            <a:off x="361251" y="5774245"/>
            <a:ext cx="7092950" cy="459105"/>
          </a:xfrm>
          <a:custGeom>
            <a:avLst/>
            <a:gdLst/>
            <a:ahLst/>
            <a:cxnLst/>
            <a:rect l="l" t="t" r="r" b="b"/>
            <a:pathLst>
              <a:path w="7092950" h="459104">
                <a:moveTo>
                  <a:pt x="7092378" y="459066"/>
                </a:moveTo>
                <a:lnTo>
                  <a:pt x="0" y="459066"/>
                </a:lnTo>
                <a:lnTo>
                  <a:pt x="0" y="0"/>
                </a:lnTo>
                <a:lnTo>
                  <a:pt x="7092378" y="0"/>
                </a:lnTo>
                <a:lnTo>
                  <a:pt x="7092378" y="3809"/>
                </a:lnTo>
                <a:lnTo>
                  <a:pt x="7620" y="3809"/>
                </a:lnTo>
                <a:lnTo>
                  <a:pt x="3810" y="7619"/>
                </a:lnTo>
                <a:lnTo>
                  <a:pt x="7620" y="7619"/>
                </a:lnTo>
                <a:lnTo>
                  <a:pt x="7620" y="451446"/>
                </a:lnTo>
                <a:lnTo>
                  <a:pt x="3810" y="451446"/>
                </a:lnTo>
                <a:lnTo>
                  <a:pt x="7620" y="455256"/>
                </a:lnTo>
                <a:lnTo>
                  <a:pt x="7092378" y="455256"/>
                </a:lnTo>
                <a:lnTo>
                  <a:pt x="7092378" y="459066"/>
                </a:lnTo>
                <a:close/>
              </a:path>
              <a:path w="7092950" h="459104">
                <a:moveTo>
                  <a:pt x="7620" y="7619"/>
                </a:moveTo>
                <a:lnTo>
                  <a:pt x="3810" y="7619"/>
                </a:lnTo>
                <a:lnTo>
                  <a:pt x="7620" y="3809"/>
                </a:lnTo>
                <a:lnTo>
                  <a:pt x="7620" y="7619"/>
                </a:lnTo>
                <a:close/>
              </a:path>
              <a:path w="7092950" h="459104">
                <a:moveTo>
                  <a:pt x="7084758" y="7619"/>
                </a:moveTo>
                <a:lnTo>
                  <a:pt x="7620" y="7619"/>
                </a:lnTo>
                <a:lnTo>
                  <a:pt x="7620" y="3809"/>
                </a:lnTo>
                <a:lnTo>
                  <a:pt x="7084758" y="3809"/>
                </a:lnTo>
                <a:lnTo>
                  <a:pt x="7084758" y="7619"/>
                </a:lnTo>
                <a:close/>
              </a:path>
              <a:path w="7092950" h="459104">
                <a:moveTo>
                  <a:pt x="7084758" y="455256"/>
                </a:moveTo>
                <a:lnTo>
                  <a:pt x="7084758" y="3809"/>
                </a:lnTo>
                <a:lnTo>
                  <a:pt x="7088568" y="7619"/>
                </a:lnTo>
                <a:lnTo>
                  <a:pt x="7092378" y="7619"/>
                </a:lnTo>
                <a:lnTo>
                  <a:pt x="7092378" y="451446"/>
                </a:lnTo>
                <a:lnTo>
                  <a:pt x="7088568" y="451446"/>
                </a:lnTo>
                <a:lnTo>
                  <a:pt x="7084758" y="455256"/>
                </a:lnTo>
                <a:close/>
              </a:path>
              <a:path w="7092950" h="459104">
                <a:moveTo>
                  <a:pt x="7092378" y="7619"/>
                </a:moveTo>
                <a:lnTo>
                  <a:pt x="7088568" y="7619"/>
                </a:lnTo>
                <a:lnTo>
                  <a:pt x="7084758" y="3809"/>
                </a:lnTo>
                <a:lnTo>
                  <a:pt x="7092378" y="3809"/>
                </a:lnTo>
                <a:lnTo>
                  <a:pt x="7092378" y="7619"/>
                </a:lnTo>
                <a:close/>
              </a:path>
              <a:path w="7092950" h="459104">
                <a:moveTo>
                  <a:pt x="7620" y="455256"/>
                </a:moveTo>
                <a:lnTo>
                  <a:pt x="3810" y="451446"/>
                </a:lnTo>
                <a:lnTo>
                  <a:pt x="7620" y="451446"/>
                </a:lnTo>
                <a:lnTo>
                  <a:pt x="7620" y="455256"/>
                </a:lnTo>
                <a:close/>
              </a:path>
              <a:path w="7092950" h="459104">
                <a:moveTo>
                  <a:pt x="7084758" y="455256"/>
                </a:moveTo>
                <a:lnTo>
                  <a:pt x="7620" y="455256"/>
                </a:lnTo>
                <a:lnTo>
                  <a:pt x="7620" y="451446"/>
                </a:lnTo>
                <a:lnTo>
                  <a:pt x="7084758" y="451446"/>
                </a:lnTo>
                <a:lnTo>
                  <a:pt x="7084758" y="455256"/>
                </a:lnTo>
                <a:close/>
              </a:path>
              <a:path w="7092950" h="459104">
                <a:moveTo>
                  <a:pt x="7092378" y="455256"/>
                </a:moveTo>
                <a:lnTo>
                  <a:pt x="7084758" y="455256"/>
                </a:lnTo>
                <a:lnTo>
                  <a:pt x="7088568" y="451446"/>
                </a:lnTo>
                <a:lnTo>
                  <a:pt x="7092378" y="451446"/>
                </a:lnTo>
                <a:lnTo>
                  <a:pt x="7092378" y="455256"/>
                </a:lnTo>
                <a:close/>
              </a:path>
            </a:pathLst>
          </a:custGeom>
          <a:solidFill>
            <a:srgbClr val="000000"/>
          </a:solidFill>
        </p:spPr>
        <p:txBody>
          <a:bodyPr wrap="square" lIns="0" tIns="0" rIns="0" bIns="0" rtlCol="0"/>
          <a:lstStyle/>
          <a:p>
            <a:endParaRPr/>
          </a:p>
        </p:txBody>
      </p:sp>
      <p:sp>
        <p:nvSpPr>
          <p:cNvPr id="4" name="object 4"/>
          <p:cNvSpPr txBox="1"/>
          <p:nvPr/>
        </p:nvSpPr>
        <p:spPr>
          <a:xfrm>
            <a:off x="2235136" y="5872035"/>
            <a:ext cx="3345179"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E4BAAC</a:t>
            </a:r>
            <a:r>
              <a:rPr sz="1400" spc="-10" dirty="0">
                <a:latin typeface="Times New Roman"/>
                <a:cs typeface="Times New Roman"/>
              </a:rPr>
              <a:t> </a:t>
            </a:r>
            <a:r>
              <a:rPr sz="1400" spc="-5" dirty="0">
                <a:latin typeface="Times New Roman"/>
                <a:cs typeface="Times New Roman"/>
              </a:rPr>
              <a:t>E58C97</a:t>
            </a:r>
            <a:r>
              <a:rPr sz="1400" spc="-10" dirty="0">
                <a:latin typeface="Times New Roman"/>
                <a:cs typeface="Times New Roman"/>
              </a:rPr>
              <a:t> </a:t>
            </a:r>
            <a:r>
              <a:rPr sz="1400" spc="-5" dirty="0">
                <a:latin typeface="Times New Roman"/>
                <a:cs typeface="Times New Roman"/>
              </a:rPr>
              <a:t>BEA9</a:t>
            </a:r>
            <a:r>
              <a:rPr sz="1400" spc="-10" dirty="0">
                <a:latin typeface="Times New Roman"/>
                <a:cs typeface="Times New Roman"/>
              </a:rPr>
              <a:t> </a:t>
            </a:r>
            <a:r>
              <a:rPr sz="1400" spc="-5" dirty="0">
                <a:latin typeface="Times New Roman"/>
                <a:cs typeface="Times New Roman"/>
              </a:rPr>
              <a:t>B1B1</a:t>
            </a:r>
            <a:r>
              <a:rPr sz="1400" spc="-10" dirty="0">
                <a:latin typeface="Times New Roman"/>
                <a:cs typeface="Times New Roman"/>
              </a:rPr>
              <a:t> </a:t>
            </a:r>
            <a:r>
              <a:rPr sz="1400" spc="-5" dirty="0">
                <a:latin typeface="Times New Roman"/>
                <a:cs typeface="Times New Roman"/>
              </a:rPr>
              <a:t>(</a:t>
            </a:r>
            <a:r>
              <a:rPr sz="1400" dirty="0">
                <a:latin typeface="微软雅黑"/>
                <a:cs typeface="微软雅黑"/>
              </a:rPr>
              <a:t>二进制序列</a:t>
            </a:r>
            <a:r>
              <a:rPr sz="1400" dirty="0">
                <a:latin typeface="Times New Roman"/>
                <a:cs typeface="Times New Roman"/>
              </a:rPr>
              <a:t>)</a:t>
            </a:r>
            <a:endParaRPr sz="1400">
              <a:latin typeface="Times New Roman"/>
              <a:cs typeface="Times New Roman"/>
            </a:endParaRPr>
          </a:p>
        </p:txBody>
      </p:sp>
      <p:sp>
        <p:nvSpPr>
          <p:cNvPr id="5" name="object 5"/>
          <p:cNvSpPr/>
          <p:nvPr/>
        </p:nvSpPr>
        <p:spPr>
          <a:xfrm>
            <a:off x="4712208" y="3281171"/>
            <a:ext cx="2466975" cy="774065"/>
          </a:xfrm>
          <a:custGeom>
            <a:avLst/>
            <a:gdLst/>
            <a:ahLst/>
            <a:cxnLst/>
            <a:rect l="l" t="t" r="r" b="b"/>
            <a:pathLst>
              <a:path w="2466975" h="774064">
                <a:moveTo>
                  <a:pt x="2466949" y="773874"/>
                </a:moveTo>
                <a:lnTo>
                  <a:pt x="0" y="773874"/>
                </a:lnTo>
                <a:lnTo>
                  <a:pt x="0" y="0"/>
                </a:lnTo>
                <a:lnTo>
                  <a:pt x="2466949" y="0"/>
                </a:lnTo>
                <a:lnTo>
                  <a:pt x="2466949" y="3810"/>
                </a:lnTo>
                <a:lnTo>
                  <a:pt x="7619" y="3810"/>
                </a:lnTo>
                <a:lnTo>
                  <a:pt x="3809" y="7619"/>
                </a:lnTo>
                <a:lnTo>
                  <a:pt x="7619" y="7619"/>
                </a:lnTo>
                <a:lnTo>
                  <a:pt x="7619" y="766254"/>
                </a:lnTo>
                <a:lnTo>
                  <a:pt x="3809" y="766254"/>
                </a:lnTo>
                <a:lnTo>
                  <a:pt x="7619" y="770064"/>
                </a:lnTo>
                <a:lnTo>
                  <a:pt x="2466949" y="770064"/>
                </a:lnTo>
                <a:lnTo>
                  <a:pt x="2466949" y="773874"/>
                </a:lnTo>
                <a:close/>
              </a:path>
              <a:path w="2466975" h="774064">
                <a:moveTo>
                  <a:pt x="7619" y="7619"/>
                </a:moveTo>
                <a:lnTo>
                  <a:pt x="3809" y="7619"/>
                </a:lnTo>
                <a:lnTo>
                  <a:pt x="7619" y="3810"/>
                </a:lnTo>
                <a:lnTo>
                  <a:pt x="7619" y="7619"/>
                </a:lnTo>
                <a:close/>
              </a:path>
              <a:path w="2466975" h="774064">
                <a:moveTo>
                  <a:pt x="2459329" y="7619"/>
                </a:moveTo>
                <a:lnTo>
                  <a:pt x="7619" y="7619"/>
                </a:lnTo>
                <a:lnTo>
                  <a:pt x="7619" y="3810"/>
                </a:lnTo>
                <a:lnTo>
                  <a:pt x="2459329" y="3810"/>
                </a:lnTo>
                <a:lnTo>
                  <a:pt x="2459329" y="7619"/>
                </a:lnTo>
                <a:close/>
              </a:path>
              <a:path w="2466975" h="774064">
                <a:moveTo>
                  <a:pt x="2459329" y="770064"/>
                </a:moveTo>
                <a:lnTo>
                  <a:pt x="2459329" y="3810"/>
                </a:lnTo>
                <a:lnTo>
                  <a:pt x="2463139" y="7619"/>
                </a:lnTo>
                <a:lnTo>
                  <a:pt x="2466949" y="7619"/>
                </a:lnTo>
                <a:lnTo>
                  <a:pt x="2466949" y="766254"/>
                </a:lnTo>
                <a:lnTo>
                  <a:pt x="2463139" y="766254"/>
                </a:lnTo>
                <a:lnTo>
                  <a:pt x="2459329" y="770064"/>
                </a:lnTo>
                <a:close/>
              </a:path>
              <a:path w="2466975" h="774064">
                <a:moveTo>
                  <a:pt x="2466949" y="7619"/>
                </a:moveTo>
                <a:lnTo>
                  <a:pt x="2463139" y="7619"/>
                </a:lnTo>
                <a:lnTo>
                  <a:pt x="2459329" y="3810"/>
                </a:lnTo>
                <a:lnTo>
                  <a:pt x="2466949" y="3810"/>
                </a:lnTo>
                <a:lnTo>
                  <a:pt x="2466949" y="7619"/>
                </a:lnTo>
                <a:close/>
              </a:path>
              <a:path w="2466975" h="774064">
                <a:moveTo>
                  <a:pt x="7619" y="770064"/>
                </a:moveTo>
                <a:lnTo>
                  <a:pt x="3809" y="766254"/>
                </a:lnTo>
                <a:lnTo>
                  <a:pt x="7619" y="766254"/>
                </a:lnTo>
                <a:lnTo>
                  <a:pt x="7619" y="770064"/>
                </a:lnTo>
                <a:close/>
              </a:path>
              <a:path w="2466975" h="774064">
                <a:moveTo>
                  <a:pt x="2459329" y="770064"/>
                </a:moveTo>
                <a:lnTo>
                  <a:pt x="7619" y="770064"/>
                </a:lnTo>
                <a:lnTo>
                  <a:pt x="7619" y="766254"/>
                </a:lnTo>
                <a:lnTo>
                  <a:pt x="2459329" y="766254"/>
                </a:lnTo>
                <a:lnTo>
                  <a:pt x="2459329" y="770064"/>
                </a:lnTo>
                <a:close/>
              </a:path>
              <a:path w="2466975" h="774064">
                <a:moveTo>
                  <a:pt x="2466949" y="770064"/>
                </a:moveTo>
                <a:lnTo>
                  <a:pt x="2459329" y="770064"/>
                </a:lnTo>
                <a:lnTo>
                  <a:pt x="2463139" y="766254"/>
                </a:lnTo>
                <a:lnTo>
                  <a:pt x="2466949" y="766254"/>
                </a:lnTo>
                <a:lnTo>
                  <a:pt x="2466949" y="770064"/>
                </a:lnTo>
                <a:close/>
              </a:path>
            </a:pathLst>
          </a:custGeom>
          <a:solidFill>
            <a:srgbClr val="000000"/>
          </a:solidFill>
        </p:spPr>
        <p:txBody>
          <a:bodyPr wrap="square" lIns="0" tIns="0" rIns="0" bIns="0" rtlCol="0"/>
          <a:lstStyle/>
          <a:p>
            <a:endParaRPr/>
          </a:p>
        </p:txBody>
      </p:sp>
      <p:sp>
        <p:nvSpPr>
          <p:cNvPr id="6" name="object 6"/>
          <p:cNvSpPr txBox="1"/>
          <p:nvPr/>
        </p:nvSpPr>
        <p:spPr>
          <a:xfrm>
            <a:off x="5142103" y="3415157"/>
            <a:ext cx="1605915" cy="490855"/>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InputStreamReader</a:t>
            </a:r>
            <a:endParaRPr sz="1600">
              <a:latin typeface="Times New Roman"/>
              <a:cs typeface="Times New Roman"/>
            </a:endParaRPr>
          </a:p>
          <a:p>
            <a:pPr marL="27305">
              <a:lnSpc>
                <a:spcPct val="100000"/>
              </a:lnSpc>
              <a:spcBef>
                <a:spcPts val="65"/>
              </a:spcBef>
            </a:pPr>
            <a:r>
              <a:rPr sz="1400" dirty="0">
                <a:latin typeface="微软雅黑"/>
                <a:cs typeface="微软雅黑"/>
              </a:rPr>
              <a:t>指定编码（</a:t>
            </a:r>
            <a:r>
              <a:rPr sz="1400" spc="-5" dirty="0">
                <a:latin typeface="Times New Roman"/>
                <a:cs typeface="Times New Roman"/>
              </a:rPr>
              <a:t>UTF-8</a:t>
            </a:r>
            <a:r>
              <a:rPr sz="1400" spc="5" dirty="0">
                <a:latin typeface="微软雅黑"/>
                <a:cs typeface="微软雅黑"/>
              </a:rPr>
              <a:t>）</a:t>
            </a:r>
            <a:endParaRPr sz="1400">
              <a:latin typeface="微软雅黑"/>
              <a:cs typeface="微软雅黑"/>
            </a:endParaRPr>
          </a:p>
        </p:txBody>
      </p:sp>
      <p:sp>
        <p:nvSpPr>
          <p:cNvPr id="7" name="object 7"/>
          <p:cNvSpPr/>
          <p:nvPr/>
        </p:nvSpPr>
        <p:spPr>
          <a:xfrm>
            <a:off x="4717745" y="4515091"/>
            <a:ext cx="2461895" cy="810895"/>
          </a:xfrm>
          <a:custGeom>
            <a:avLst/>
            <a:gdLst/>
            <a:ahLst/>
            <a:cxnLst/>
            <a:rect l="l" t="t" r="r" b="b"/>
            <a:pathLst>
              <a:path w="2461895" h="810895">
                <a:moveTo>
                  <a:pt x="2461399" y="810501"/>
                </a:moveTo>
                <a:lnTo>
                  <a:pt x="0" y="810501"/>
                </a:lnTo>
                <a:lnTo>
                  <a:pt x="0" y="0"/>
                </a:lnTo>
                <a:lnTo>
                  <a:pt x="2461399" y="0"/>
                </a:lnTo>
                <a:lnTo>
                  <a:pt x="2461399" y="3810"/>
                </a:lnTo>
                <a:lnTo>
                  <a:pt x="7620" y="3810"/>
                </a:lnTo>
                <a:lnTo>
                  <a:pt x="3810" y="7620"/>
                </a:lnTo>
                <a:lnTo>
                  <a:pt x="7620" y="7620"/>
                </a:lnTo>
                <a:lnTo>
                  <a:pt x="7620" y="802881"/>
                </a:lnTo>
                <a:lnTo>
                  <a:pt x="3810" y="802881"/>
                </a:lnTo>
                <a:lnTo>
                  <a:pt x="7620" y="806691"/>
                </a:lnTo>
                <a:lnTo>
                  <a:pt x="2461399" y="806691"/>
                </a:lnTo>
                <a:lnTo>
                  <a:pt x="2461399" y="810501"/>
                </a:lnTo>
                <a:close/>
              </a:path>
              <a:path w="2461895" h="810895">
                <a:moveTo>
                  <a:pt x="7620" y="7620"/>
                </a:moveTo>
                <a:lnTo>
                  <a:pt x="3810" y="7620"/>
                </a:lnTo>
                <a:lnTo>
                  <a:pt x="7620" y="3810"/>
                </a:lnTo>
                <a:lnTo>
                  <a:pt x="7620" y="7620"/>
                </a:lnTo>
                <a:close/>
              </a:path>
              <a:path w="2461895" h="810895">
                <a:moveTo>
                  <a:pt x="2453792" y="7620"/>
                </a:moveTo>
                <a:lnTo>
                  <a:pt x="7620" y="7620"/>
                </a:lnTo>
                <a:lnTo>
                  <a:pt x="7620" y="3810"/>
                </a:lnTo>
                <a:lnTo>
                  <a:pt x="2453792" y="3810"/>
                </a:lnTo>
                <a:lnTo>
                  <a:pt x="2453792" y="7620"/>
                </a:lnTo>
                <a:close/>
              </a:path>
              <a:path w="2461895" h="810895">
                <a:moveTo>
                  <a:pt x="2453792" y="806691"/>
                </a:moveTo>
                <a:lnTo>
                  <a:pt x="2453792" y="3810"/>
                </a:lnTo>
                <a:lnTo>
                  <a:pt x="2457589" y="7620"/>
                </a:lnTo>
                <a:lnTo>
                  <a:pt x="2461399" y="7620"/>
                </a:lnTo>
                <a:lnTo>
                  <a:pt x="2461399" y="802881"/>
                </a:lnTo>
                <a:lnTo>
                  <a:pt x="2457589" y="802881"/>
                </a:lnTo>
                <a:lnTo>
                  <a:pt x="2453792" y="806691"/>
                </a:lnTo>
                <a:close/>
              </a:path>
              <a:path w="2461895" h="810895">
                <a:moveTo>
                  <a:pt x="2461399" y="7620"/>
                </a:moveTo>
                <a:lnTo>
                  <a:pt x="2457589" y="7620"/>
                </a:lnTo>
                <a:lnTo>
                  <a:pt x="2453792" y="3810"/>
                </a:lnTo>
                <a:lnTo>
                  <a:pt x="2461399" y="3810"/>
                </a:lnTo>
                <a:lnTo>
                  <a:pt x="2461399" y="7620"/>
                </a:lnTo>
                <a:close/>
              </a:path>
              <a:path w="2461895" h="810895">
                <a:moveTo>
                  <a:pt x="7620" y="806691"/>
                </a:moveTo>
                <a:lnTo>
                  <a:pt x="3810" y="802881"/>
                </a:lnTo>
                <a:lnTo>
                  <a:pt x="7620" y="802881"/>
                </a:lnTo>
                <a:lnTo>
                  <a:pt x="7620" y="806691"/>
                </a:lnTo>
                <a:close/>
              </a:path>
              <a:path w="2461895" h="810895">
                <a:moveTo>
                  <a:pt x="2453792" y="806691"/>
                </a:moveTo>
                <a:lnTo>
                  <a:pt x="7620" y="806691"/>
                </a:lnTo>
                <a:lnTo>
                  <a:pt x="7620" y="802881"/>
                </a:lnTo>
                <a:lnTo>
                  <a:pt x="2453792" y="802881"/>
                </a:lnTo>
                <a:lnTo>
                  <a:pt x="2453792" y="806691"/>
                </a:lnTo>
                <a:close/>
              </a:path>
              <a:path w="2461895" h="810895">
                <a:moveTo>
                  <a:pt x="2461399" y="806691"/>
                </a:moveTo>
                <a:lnTo>
                  <a:pt x="2453792" y="806691"/>
                </a:lnTo>
                <a:lnTo>
                  <a:pt x="2457589" y="802881"/>
                </a:lnTo>
                <a:lnTo>
                  <a:pt x="2461399" y="802881"/>
                </a:lnTo>
                <a:lnTo>
                  <a:pt x="2461399" y="806691"/>
                </a:lnTo>
                <a:close/>
              </a:path>
            </a:pathLst>
          </a:custGeom>
          <a:solidFill>
            <a:srgbClr val="000000"/>
          </a:solidFill>
        </p:spPr>
        <p:txBody>
          <a:bodyPr wrap="square" lIns="0" tIns="0" rIns="0" bIns="0" rtlCol="0"/>
          <a:lstStyle/>
          <a:p>
            <a:endParaRPr/>
          </a:p>
        </p:txBody>
      </p:sp>
      <p:sp>
        <p:nvSpPr>
          <p:cNvPr id="8" name="object 8"/>
          <p:cNvSpPr txBox="1"/>
          <p:nvPr/>
        </p:nvSpPr>
        <p:spPr>
          <a:xfrm>
            <a:off x="5274640" y="4667491"/>
            <a:ext cx="1346835" cy="490855"/>
          </a:xfrm>
          <a:prstGeom prst="rect">
            <a:avLst/>
          </a:prstGeom>
        </p:spPr>
        <p:txBody>
          <a:bodyPr vert="horz" wrap="square" lIns="0" tIns="12065" rIns="0" bIns="0" rtlCol="0">
            <a:spAutoFit/>
          </a:bodyPr>
          <a:lstStyle/>
          <a:p>
            <a:pPr algn="ctr">
              <a:lnSpc>
                <a:spcPct val="100000"/>
              </a:lnSpc>
              <a:spcBef>
                <a:spcPts val="95"/>
              </a:spcBef>
            </a:pPr>
            <a:r>
              <a:rPr sz="1600" spc="-5" dirty="0">
                <a:latin typeface="Times New Roman"/>
                <a:cs typeface="Times New Roman"/>
              </a:rPr>
              <a:t>FileInputStream</a:t>
            </a:r>
            <a:endParaRPr sz="1600">
              <a:latin typeface="Times New Roman"/>
              <a:cs typeface="Times New Roman"/>
            </a:endParaRPr>
          </a:p>
          <a:p>
            <a:pPr marL="1270" algn="ctr">
              <a:lnSpc>
                <a:spcPct val="100000"/>
              </a:lnSpc>
              <a:spcBef>
                <a:spcPts val="65"/>
              </a:spcBef>
            </a:pPr>
            <a:r>
              <a:rPr sz="1400" dirty="0">
                <a:latin typeface="微软雅黑"/>
                <a:cs typeface="微软雅黑"/>
              </a:rPr>
              <a:t>二进制字</a:t>
            </a:r>
            <a:r>
              <a:rPr sz="1400" spc="5" dirty="0">
                <a:latin typeface="微软雅黑"/>
                <a:cs typeface="微软雅黑"/>
              </a:rPr>
              <a:t>节</a:t>
            </a:r>
            <a:endParaRPr sz="1400">
              <a:latin typeface="微软雅黑"/>
              <a:cs typeface="微软雅黑"/>
            </a:endParaRPr>
          </a:p>
        </p:txBody>
      </p:sp>
      <p:sp>
        <p:nvSpPr>
          <p:cNvPr id="9" name="object 9"/>
          <p:cNvSpPr/>
          <p:nvPr/>
        </p:nvSpPr>
        <p:spPr>
          <a:xfrm>
            <a:off x="5836920" y="5343144"/>
            <a:ext cx="216535" cy="433070"/>
          </a:xfrm>
          <a:custGeom>
            <a:avLst/>
            <a:gdLst/>
            <a:ahLst/>
            <a:cxnLst/>
            <a:rect l="l" t="t" r="r" b="b"/>
            <a:pathLst>
              <a:path w="216535" h="433070">
                <a:moveTo>
                  <a:pt x="216407" y="108203"/>
                </a:moveTo>
                <a:lnTo>
                  <a:pt x="0" y="108203"/>
                </a:lnTo>
                <a:lnTo>
                  <a:pt x="108203" y="0"/>
                </a:lnTo>
                <a:lnTo>
                  <a:pt x="216407" y="108203"/>
                </a:lnTo>
                <a:close/>
              </a:path>
              <a:path w="216535" h="433070">
                <a:moveTo>
                  <a:pt x="163067" y="432815"/>
                </a:moveTo>
                <a:lnTo>
                  <a:pt x="54863" y="432815"/>
                </a:lnTo>
                <a:lnTo>
                  <a:pt x="54863" y="108203"/>
                </a:lnTo>
                <a:lnTo>
                  <a:pt x="163067" y="108203"/>
                </a:lnTo>
                <a:lnTo>
                  <a:pt x="163067" y="432815"/>
                </a:lnTo>
                <a:close/>
              </a:path>
            </a:pathLst>
          </a:custGeom>
          <a:solidFill>
            <a:srgbClr val="006C39"/>
          </a:solidFill>
        </p:spPr>
        <p:txBody>
          <a:bodyPr wrap="square" lIns="0" tIns="0" rIns="0" bIns="0" rtlCol="0"/>
          <a:lstStyle/>
          <a:p>
            <a:endParaRPr/>
          </a:p>
        </p:txBody>
      </p:sp>
      <p:sp>
        <p:nvSpPr>
          <p:cNvPr id="10" name="object 10"/>
          <p:cNvSpPr/>
          <p:nvPr/>
        </p:nvSpPr>
        <p:spPr>
          <a:xfrm>
            <a:off x="5887059" y="2624353"/>
            <a:ext cx="76200" cy="648335"/>
          </a:xfrm>
          <a:custGeom>
            <a:avLst/>
            <a:gdLst/>
            <a:ahLst/>
            <a:cxnLst/>
            <a:rect l="l" t="t" r="r" b="b"/>
            <a:pathLst>
              <a:path w="76200" h="648335">
                <a:moveTo>
                  <a:pt x="0" y="76200"/>
                </a:moveTo>
                <a:lnTo>
                  <a:pt x="38100" y="0"/>
                </a:lnTo>
                <a:lnTo>
                  <a:pt x="52387" y="28575"/>
                </a:lnTo>
                <a:lnTo>
                  <a:pt x="31750" y="28575"/>
                </a:lnTo>
                <a:lnTo>
                  <a:pt x="31750" y="44450"/>
                </a:lnTo>
                <a:lnTo>
                  <a:pt x="0" y="76200"/>
                </a:lnTo>
                <a:close/>
              </a:path>
              <a:path w="76200" h="648335">
                <a:moveTo>
                  <a:pt x="31750" y="44450"/>
                </a:moveTo>
                <a:lnTo>
                  <a:pt x="31750" y="28575"/>
                </a:lnTo>
                <a:lnTo>
                  <a:pt x="44450" y="28575"/>
                </a:lnTo>
                <a:lnTo>
                  <a:pt x="44450" y="38100"/>
                </a:lnTo>
                <a:lnTo>
                  <a:pt x="38100" y="38100"/>
                </a:lnTo>
                <a:lnTo>
                  <a:pt x="31750" y="44450"/>
                </a:lnTo>
                <a:close/>
              </a:path>
              <a:path w="76200" h="648335">
                <a:moveTo>
                  <a:pt x="76200" y="76200"/>
                </a:moveTo>
                <a:lnTo>
                  <a:pt x="44450" y="44450"/>
                </a:lnTo>
                <a:lnTo>
                  <a:pt x="44450" y="28575"/>
                </a:lnTo>
                <a:lnTo>
                  <a:pt x="52387" y="28575"/>
                </a:lnTo>
                <a:lnTo>
                  <a:pt x="76200" y="76200"/>
                </a:lnTo>
                <a:close/>
              </a:path>
              <a:path w="76200" h="648335">
                <a:moveTo>
                  <a:pt x="44450" y="648004"/>
                </a:moveTo>
                <a:lnTo>
                  <a:pt x="31750" y="648004"/>
                </a:lnTo>
                <a:lnTo>
                  <a:pt x="31750" y="44450"/>
                </a:lnTo>
                <a:lnTo>
                  <a:pt x="38100" y="38100"/>
                </a:lnTo>
                <a:lnTo>
                  <a:pt x="44450" y="44450"/>
                </a:lnTo>
                <a:lnTo>
                  <a:pt x="44450" y="648004"/>
                </a:lnTo>
                <a:close/>
              </a:path>
              <a:path w="76200" h="648335">
                <a:moveTo>
                  <a:pt x="44450" y="44450"/>
                </a:moveTo>
                <a:lnTo>
                  <a:pt x="38100" y="38100"/>
                </a:lnTo>
                <a:lnTo>
                  <a:pt x="44450" y="38100"/>
                </a:lnTo>
                <a:lnTo>
                  <a:pt x="44450" y="44450"/>
                </a:lnTo>
                <a:close/>
              </a:path>
            </a:pathLst>
          </a:custGeom>
          <a:solidFill>
            <a:srgbClr val="006C39"/>
          </a:solidFill>
        </p:spPr>
        <p:txBody>
          <a:bodyPr wrap="square" lIns="0" tIns="0" rIns="0" bIns="0" rtlCol="0"/>
          <a:lstStyle/>
          <a:p>
            <a:endParaRPr/>
          </a:p>
        </p:txBody>
      </p:sp>
      <p:sp>
        <p:nvSpPr>
          <p:cNvPr id="11" name="object 11"/>
          <p:cNvSpPr txBox="1"/>
          <p:nvPr/>
        </p:nvSpPr>
        <p:spPr>
          <a:xfrm>
            <a:off x="5996419" y="2837319"/>
            <a:ext cx="1376045" cy="268605"/>
          </a:xfrm>
          <a:prstGeom prst="rect">
            <a:avLst/>
          </a:prstGeom>
        </p:spPr>
        <p:txBody>
          <a:bodyPr vert="horz" wrap="square" lIns="0" tIns="12065" rIns="0" bIns="0" rtlCol="0">
            <a:spAutoFit/>
          </a:bodyPr>
          <a:lstStyle/>
          <a:p>
            <a:pPr marL="12700">
              <a:lnSpc>
                <a:spcPct val="100000"/>
              </a:lnSpc>
              <a:spcBef>
                <a:spcPts val="95"/>
              </a:spcBef>
            </a:pPr>
            <a:r>
              <a:rPr sz="1600" spc="-10" dirty="0">
                <a:latin typeface="Times New Roman"/>
                <a:cs typeface="Times New Roman"/>
              </a:rPr>
              <a:t>(char)(isr.read())</a:t>
            </a:r>
            <a:endParaRPr sz="1600">
              <a:latin typeface="Times New Roman"/>
              <a:cs typeface="Times New Roman"/>
            </a:endParaRPr>
          </a:p>
        </p:txBody>
      </p:sp>
      <p:sp>
        <p:nvSpPr>
          <p:cNvPr id="12" name="object 12"/>
          <p:cNvSpPr txBox="1"/>
          <p:nvPr/>
        </p:nvSpPr>
        <p:spPr>
          <a:xfrm>
            <a:off x="7277798" y="3294240"/>
            <a:ext cx="1576705" cy="696595"/>
          </a:xfrm>
          <a:prstGeom prst="rect">
            <a:avLst/>
          </a:prstGeom>
        </p:spPr>
        <p:txBody>
          <a:bodyPr vert="horz" wrap="square" lIns="0" tIns="12065" rIns="0" bIns="0" rtlCol="0">
            <a:spAutoFit/>
          </a:bodyPr>
          <a:lstStyle/>
          <a:p>
            <a:pPr marL="12700">
              <a:lnSpc>
                <a:spcPct val="100000"/>
              </a:lnSpc>
              <a:spcBef>
                <a:spcPts val="95"/>
              </a:spcBef>
            </a:pPr>
            <a:r>
              <a:rPr sz="1600" dirty="0">
                <a:latin typeface="微软雅黑"/>
                <a:cs typeface="微软雅黑"/>
              </a:rPr>
              <a:t>转换</a:t>
            </a:r>
            <a:r>
              <a:rPr sz="1600" spc="-5" dirty="0">
                <a:latin typeface="微软雅黑"/>
                <a:cs typeface="微软雅黑"/>
              </a:rPr>
              <a:t>流</a:t>
            </a:r>
            <a:endParaRPr sz="1600">
              <a:latin typeface="微软雅黑"/>
              <a:cs typeface="微软雅黑"/>
            </a:endParaRPr>
          </a:p>
          <a:p>
            <a:pPr marL="12700" marR="5080">
              <a:lnSpc>
                <a:spcPct val="100000"/>
              </a:lnSpc>
              <a:spcBef>
                <a:spcPts val="5"/>
              </a:spcBef>
            </a:pPr>
            <a:r>
              <a:rPr sz="1400" dirty="0">
                <a:latin typeface="微软雅黑"/>
                <a:cs typeface="微软雅黑"/>
              </a:rPr>
              <a:t>将字节序列按</a:t>
            </a:r>
            <a:r>
              <a:rPr sz="1400" spc="-5" dirty="0">
                <a:latin typeface="Times New Roman"/>
                <a:cs typeface="Times New Roman"/>
              </a:rPr>
              <a:t>UTF-</a:t>
            </a:r>
            <a:r>
              <a:rPr sz="1400" dirty="0">
                <a:latin typeface="Times New Roman"/>
                <a:cs typeface="Times New Roman"/>
              </a:rPr>
              <a:t>8 </a:t>
            </a:r>
            <a:r>
              <a:rPr sz="1400" dirty="0">
                <a:latin typeface="微软雅黑"/>
                <a:cs typeface="微软雅黑"/>
              </a:rPr>
              <a:t>转换为字</a:t>
            </a:r>
            <a:r>
              <a:rPr sz="1400" spc="5" dirty="0">
                <a:latin typeface="微软雅黑"/>
                <a:cs typeface="微软雅黑"/>
              </a:rPr>
              <a:t>符</a:t>
            </a:r>
            <a:endParaRPr sz="1400">
              <a:latin typeface="微软雅黑"/>
              <a:cs typeface="微软雅黑"/>
            </a:endParaRPr>
          </a:p>
        </p:txBody>
      </p:sp>
      <p:sp>
        <p:nvSpPr>
          <p:cNvPr id="13" name="object 13"/>
          <p:cNvSpPr txBox="1"/>
          <p:nvPr/>
        </p:nvSpPr>
        <p:spPr>
          <a:xfrm>
            <a:off x="7254075" y="4724463"/>
            <a:ext cx="634365" cy="268605"/>
          </a:xfrm>
          <a:prstGeom prst="rect">
            <a:avLst/>
          </a:prstGeom>
        </p:spPr>
        <p:txBody>
          <a:bodyPr vert="horz" wrap="square" lIns="0" tIns="12065" rIns="0" bIns="0" rtlCol="0">
            <a:spAutoFit/>
          </a:bodyPr>
          <a:lstStyle/>
          <a:p>
            <a:pPr marL="12700">
              <a:lnSpc>
                <a:spcPct val="100000"/>
              </a:lnSpc>
              <a:spcBef>
                <a:spcPts val="95"/>
              </a:spcBef>
            </a:pPr>
            <a:r>
              <a:rPr sz="1600" dirty="0">
                <a:latin typeface="微软雅黑"/>
                <a:cs typeface="微软雅黑"/>
              </a:rPr>
              <a:t>字节</a:t>
            </a:r>
            <a:r>
              <a:rPr sz="1600" spc="-5" dirty="0">
                <a:latin typeface="微软雅黑"/>
                <a:cs typeface="微软雅黑"/>
              </a:rPr>
              <a:t>流</a:t>
            </a:r>
            <a:endParaRPr sz="1600">
              <a:latin typeface="微软雅黑"/>
              <a:cs typeface="微软雅黑"/>
            </a:endParaRPr>
          </a:p>
        </p:txBody>
      </p:sp>
      <p:sp>
        <p:nvSpPr>
          <p:cNvPr id="14" name="object 14"/>
          <p:cNvSpPr txBox="1"/>
          <p:nvPr/>
        </p:nvSpPr>
        <p:spPr>
          <a:xfrm>
            <a:off x="5484367" y="2311666"/>
            <a:ext cx="10756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a:t>
            </a:r>
            <a:r>
              <a:rPr sz="1800" dirty="0">
                <a:latin typeface="微软雅黑"/>
                <a:cs typeface="微软雅黑"/>
              </a:rPr>
              <a:t>北京</a:t>
            </a:r>
            <a:r>
              <a:rPr sz="1800" dirty="0">
                <a:latin typeface="Times New Roman"/>
                <a:cs typeface="Times New Roman"/>
              </a:rPr>
              <a:t>"</a:t>
            </a:r>
            <a:endParaRPr sz="1800">
              <a:latin typeface="Times New Roman"/>
              <a:cs typeface="Times New Roman"/>
            </a:endParaRPr>
          </a:p>
        </p:txBody>
      </p:sp>
      <p:sp>
        <p:nvSpPr>
          <p:cNvPr id="15" name="object 15"/>
          <p:cNvSpPr/>
          <p:nvPr/>
        </p:nvSpPr>
        <p:spPr>
          <a:xfrm>
            <a:off x="5794247" y="4066032"/>
            <a:ext cx="216535" cy="431800"/>
          </a:xfrm>
          <a:custGeom>
            <a:avLst/>
            <a:gdLst/>
            <a:ahLst/>
            <a:cxnLst/>
            <a:rect l="l" t="t" r="r" b="b"/>
            <a:pathLst>
              <a:path w="216535" h="431800">
                <a:moveTo>
                  <a:pt x="216407" y="108203"/>
                </a:moveTo>
                <a:lnTo>
                  <a:pt x="0" y="108203"/>
                </a:lnTo>
                <a:lnTo>
                  <a:pt x="108203" y="0"/>
                </a:lnTo>
                <a:lnTo>
                  <a:pt x="216407" y="108203"/>
                </a:lnTo>
                <a:close/>
              </a:path>
              <a:path w="216535" h="431800">
                <a:moveTo>
                  <a:pt x="161543" y="431291"/>
                </a:moveTo>
                <a:lnTo>
                  <a:pt x="54863" y="431291"/>
                </a:lnTo>
                <a:lnTo>
                  <a:pt x="54863" y="108203"/>
                </a:lnTo>
                <a:lnTo>
                  <a:pt x="161543" y="108203"/>
                </a:lnTo>
                <a:lnTo>
                  <a:pt x="161543" y="431291"/>
                </a:lnTo>
                <a:close/>
              </a:path>
            </a:pathLst>
          </a:custGeom>
          <a:solidFill>
            <a:srgbClr val="006C39"/>
          </a:solidFill>
        </p:spPr>
        <p:txBody>
          <a:bodyPr wrap="square" lIns="0" tIns="0" rIns="0" bIns="0" rtlCol="0"/>
          <a:lstStyle/>
          <a:p>
            <a:endParaRPr/>
          </a:p>
        </p:txBody>
      </p:sp>
      <p:sp>
        <p:nvSpPr>
          <p:cNvPr id="16" name="object 16"/>
          <p:cNvSpPr txBox="1"/>
          <p:nvPr/>
        </p:nvSpPr>
        <p:spPr>
          <a:xfrm>
            <a:off x="7518362" y="2682201"/>
            <a:ext cx="1221105" cy="453390"/>
          </a:xfrm>
          <a:prstGeom prst="rect">
            <a:avLst/>
          </a:prstGeom>
        </p:spPr>
        <p:txBody>
          <a:bodyPr vert="horz" wrap="square" lIns="0" tIns="13335" rIns="0" bIns="0" rtlCol="0">
            <a:spAutoFit/>
          </a:bodyPr>
          <a:lstStyle/>
          <a:p>
            <a:pPr marL="12700" marR="5080">
              <a:lnSpc>
                <a:spcPct val="100000"/>
              </a:lnSpc>
              <a:spcBef>
                <a:spcPts val="105"/>
              </a:spcBef>
            </a:pPr>
            <a:r>
              <a:rPr sz="1400" dirty="0">
                <a:latin typeface="微软雅黑"/>
                <a:cs typeface="微软雅黑"/>
              </a:rPr>
              <a:t>以</a:t>
            </a:r>
            <a:r>
              <a:rPr sz="1400" spc="-5" dirty="0">
                <a:latin typeface="Times New Roman"/>
                <a:cs typeface="Times New Roman"/>
              </a:rPr>
              <a:t>UTF-8</a:t>
            </a:r>
            <a:r>
              <a:rPr sz="1400" dirty="0">
                <a:latin typeface="微软雅黑"/>
                <a:cs typeface="微软雅黑"/>
              </a:rPr>
              <a:t>的方式 读取字</a:t>
            </a:r>
            <a:r>
              <a:rPr sz="1400" spc="5" dirty="0">
                <a:latin typeface="微软雅黑"/>
                <a:cs typeface="微软雅黑"/>
              </a:rPr>
              <a:t>符</a:t>
            </a:r>
            <a:endParaRPr sz="1400">
              <a:latin typeface="微软雅黑"/>
              <a:cs typeface="微软雅黑"/>
            </a:endParaRPr>
          </a:p>
        </p:txBody>
      </p:sp>
      <p:sp>
        <p:nvSpPr>
          <p:cNvPr id="17" name="object 17"/>
          <p:cNvSpPr txBox="1">
            <a:spLocks noGrp="1"/>
          </p:cNvSpPr>
          <p:nvPr>
            <p:ph type="title"/>
          </p:nvPr>
        </p:nvSpPr>
        <p:spPr>
          <a:xfrm>
            <a:off x="344170" y="1237615"/>
            <a:ext cx="7020559" cy="57404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7E0054"/>
                </a:solidFill>
                <a:latin typeface="Consolas"/>
                <a:cs typeface="Consolas"/>
              </a:rPr>
              <a:t>try</a:t>
            </a:r>
            <a:r>
              <a:rPr sz="1800" dirty="0">
                <a:latin typeface="Consolas"/>
                <a:cs typeface="Consolas"/>
              </a:rPr>
              <a:t>(</a:t>
            </a:r>
            <a:endParaRPr sz="1800">
              <a:latin typeface="Consolas"/>
              <a:cs typeface="Consolas"/>
            </a:endParaRPr>
          </a:p>
          <a:p>
            <a:pPr marL="469265">
              <a:lnSpc>
                <a:spcPct val="100000"/>
              </a:lnSpc>
            </a:pPr>
            <a:r>
              <a:rPr sz="1800" b="0" dirty="0">
                <a:latin typeface="Consolas"/>
                <a:cs typeface="Consolas"/>
              </a:rPr>
              <a:t>FileInputStream </a:t>
            </a:r>
            <a:r>
              <a:rPr sz="1800" b="0" dirty="0">
                <a:solidFill>
                  <a:srgbClr val="6A3D3D"/>
                </a:solidFill>
                <a:latin typeface="Consolas"/>
                <a:cs typeface="Consolas"/>
              </a:rPr>
              <a:t>fis </a:t>
            </a:r>
            <a:r>
              <a:rPr sz="1800" b="0" dirty="0">
                <a:latin typeface="Consolas"/>
                <a:cs typeface="Consolas"/>
              </a:rPr>
              <a:t>= </a:t>
            </a:r>
            <a:r>
              <a:rPr sz="1800" dirty="0">
                <a:solidFill>
                  <a:srgbClr val="7E0054"/>
                </a:solidFill>
                <a:latin typeface="Consolas"/>
                <a:cs typeface="Consolas"/>
              </a:rPr>
              <a:t>new</a:t>
            </a:r>
            <a:r>
              <a:rPr sz="1800" spc="-100" dirty="0">
                <a:solidFill>
                  <a:srgbClr val="7E0054"/>
                </a:solidFill>
                <a:latin typeface="Consolas"/>
                <a:cs typeface="Consolas"/>
              </a:rPr>
              <a:t> </a:t>
            </a:r>
            <a:r>
              <a:rPr sz="1800" dirty="0">
                <a:latin typeface="Consolas"/>
                <a:cs typeface="Consolas"/>
              </a:rPr>
              <a:t>FileInputStream(</a:t>
            </a:r>
            <a:r>
              <a:rPr sz="1800" dirty="0">
                <a:solidFill>
                  <a:srgbClr val="6A3D3D"/>
                </a:solidFill>
                <a:latin typeface="Consolas"/>
                <a:cs typeface="Consolas"/>
              </a:rPr>
              <a:t>filename</a:t>
            </a:r>
            <a:r>
              <a:rPr sz="1800" dirty="0">
                <a:latin typeface="Consolas"/>
                <a:cs typeface="Consolas"/>
              </a:rPr>
              <a:t>);</a:t>
            </a:r>
            <a:endParaRPr sz="1800">
              <a:latin typeface="Consolas"/>
              <a:cs typeface="Consolas"/>
            </a:endParaRPr>
          </a:p>
        </p:txBody>
      </p:sp>
      <p:sp>
        <p:nvSpPr>
          <p:cNvPr id="18" name="object 18"/>
          <p:cNvSpPr txBox="1"/>
          <p:nvPr/>
        </p:nvSpPr>
        <p:spPr>
          <a:xfrm>
            <a:off x="344170" y="1786254"/>
            <a:ext cx="8026400" cy="574040"/>
          </a:xfrm>
          <a:prstGeom prst="rect">
            <a:avLst/>
          </a:prstGeom>
        </p:spPr>
        <p:txBody>
          <a:bodyPr vert="horz" wrap="square" lIns="0" tIns="12700" rIns="0" bIns="0" rtlCol="0">
            <a:spAutoFit/>
          </a:bodyPr>
          <a:lstStyle/>
          <a:p>
            <a:pPr marL="469265">
              <a:lnSpc>
                <a:spcPct val="100000"/>
              </a:lnSpc>
              <a:spcBef>
                <a:spcPts val="100"/>
              </a:spcBef>
            </a:pPr>
            <a:r>
              <a:rPr sz="1800" dirty="0">
                <a:latin typeface="Consolas"/>
                <a:cs typeface="Consolas"/>
              </a:rPr>
              <a:t>InputStreamReader </a:t>
            </a:r>
            <a:r>
              <a:rPr sz="1800" dirty="0">
                <a:solidFill>
                  <a:srgbClr val="6A3D3D"/>
                </a:solidFill>
                <a:latin typeface="Consolas"/>
                <a:cs typeface="Consolas"/>
              </a:rPr>
              <a:t>isr </a:t>
            </a:r>
            <a:r>
              <a:rPr sz="1800" dirty="0">
                <a:latin typeface="Consolas"/>
                <a:cs typeface="Consolas"/>
              </a:rPr>
              <a:t>= </a:t>
            </a:r>
            <a:r>
              <a:rPr sz="1800" b="1" dirty="0">
                <a:solidFill>
                  <a:srgbClr val="7E0054"/>
                </a:solidFill>
                <a:latin typeface="Consolas"/>
                <a:cs typeface="Consolas"/>
              </a:rPr>
              <a:t>new </a:t>
            </a:r>
            <a:r>
              <a:rPr sz="1800" b="1" dirty="0">
                <a:latin typeface="Consolas"/>
                <a:cs typeface="Consolas"/>
              </a:rPr>
              <a:t>InputStreamReader(</a:t>
            </a:r>
            <a:r>
              <a:rPr sz="1800" b="1" dirty="0">
                <a:solidFill>
                  <a:srgbClr val="6A3D3D"/>
                </a:solidFill>
                <a:latin typeface="Consolas"/>
                <a:cs typeface="Consolas"/>
              </a:rPr>
              <a:t>fis</a:t>
            </a:r>
            <a:r>
              <a:rPr sz="1800" b="1" dirty="0">
                <a:latin typeface="Consolas"/>
                <a:cs typeface="Consolas"/>
              </a:rPr>
              <a:t>,</a:t>
            </a:r>
            <a:r>
              <a:rPr sz="1800" b="1" spc="-100" dirty="0">
                <a:latin typeface="Consolas"/>
                <a:cs typeface="Consolas"/>
              </a:rPr>
              <a:t> </a:t>
            </a:r>
            <a:r>
              <a:rPr sz="1800" b="1" dirty="0">
                <a:solidFill>
                  <a:srgbClr val="2A00FF"/>
                </a:solidFill>
                <a:latin typeface="Consolas"/>
                <a:cs typeface="Consolas"/>
              </a:rPr>
              <a:t>"UTF-8"</a:t>
            </a:r>
            <a:r>
              <a:rPr sz="1800" b="1" dirty="0">
                <a:latin typeface="Consolas"/>
                <a:cs typeface="Consolas"/>
              </a:rPr>
              <a:t>);</a:t>
            </a:r>
            <a:endParaRPr sz="1800">
              <a:latin typeface="Consolas"/>
              <a:cs typeface="Consolas"/>
            </a:endParaRPr>
          </a:p>
          <a:p>
            <a:pPr marL="12700">
              <a:lnSpc>
                <a:spcPct val="100000"/>
              </a:lnSpc>
            </a:pPr>
            <a:r>
              <a:rPr sz="1800" dirty="0">
                <a:latin typeface="Consolas"/>
                <a:cs typeface="Consolas"/>
              </a:rPr>
              <a:t>)</a:t>
            </a:r>
            <a:r>
              <a:rPr sz="1800" spc="-5" dirty="0">
                <a:latin typeface="Consolas"/>
                <a:cs typeface="Consolas"/>
              </a:rPr>
              <a:t> </a:t>
            </a:r>
            <a:r>
              <a:rPr sz="1800" dirty="0">
                <a:latin typeface="Consolas"/>
                <a:cs typeface="Consolas"/>
              </a:rPr>
              <a:t>{</a:t>
            </a:r>
            <a:endParaRPr sz="1800">
              <a:latin typeface="Consolas"/>
              <a:cs typeface="Consolas"/>
            </a:endParaRPr>
          </a:p>
        </p:txBody>
      </p:sp>
      <p:sp>
        <p:nvSpPr>
          <p:cNvPr id="19" name="object 19"/>
          <p:cNvSpPr txBox="1"/>
          <p:nvPr/>
        </p:nvSpPr>
        <p:spPr>
          <a:xfrm>
            <a:off x="801369" y="2334895"/>
            <a:ext cx="3877310" cy="84836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7E0054"/>
                </a:solidFill>
                <a:latin typeface="Consolas"/>
                <a:cs typeface="Consolas"/>
              </a:rPr>
              <a:t>while</a:t>
            </a:r>
            <a:r>
              <a:rPr sz="1800" b="1" dirty="0">
                <a:latin typeface="Consolas"/>
                <a:cs typeface="Consolas"/>
              </a:rPr>
              <a:t>((</a:t>
            </a:r>
            <a:r>
              <a:rPr sz="1800" b="1" dirty="0">
                <a:solidFill>
                  <a:srgbClr val="6A3D3D"/>
                </a:solidFill>
                <a:latin typeface="Consolas"/>
                <a:cs typeface="Consolas"/>
              </a:rPr>
              <a:t>ch</a:t>
            </a:r>
            <a:r>
              <a:rPr sz="1800" b="1" dirty="0">
                <a:latin typeface="Consolas"/>
                <a:cs typeface="Consolas"/>
              </a:rPr>
              <a:t>=</a:t>
            </a:r>
            <a:r>
              <a:rPr sz="1800" b="1" dirty="0">
                <a:solidFill>
                  <a:srgbClr val="6A3D3D"/>
                </a:solidFill>
                <a:latin typeface="Consolas"/>
                <a:cs typeface="Consolas"/>
              </a:rPr>
              <a:t>isr</a:t>
            </a:r>
            <a:r>
              <a:rPr sz="1800" b="1" dirty="0">
                <a:latin typeface="Consolas"/>
                <a:cs typeface="Consolas"/>
              </a:rPr>
              <a:t>.read())!=-1){</a:t>
            </a:r>
            <a:endParaRPr sz="1800">
              <a:latin typeface="Consolas"/>
              <a:cs typeface="Consolas"/>
            </a:endParaRPr>
          </a:p>
          <a:p>
            <a:pPr marL="469900">
              <a:lnSpc>
                <a:spcPct val="100000"/>
              </a:lnSpc>
            </a:pPr>
            <a:r>
              <a:rPr sz="1800" dirty="0">
                <a:latin typeface="Consolas"/>
                <a:cs typeface="Consolas"/>
              </a:rPr>
              <a:t>System.</a:t>
            </a:r>
            <a:r>
              <a:rPr sz="1800" b="1" dirty="0">
                <a:solidFill>
                  <a:srgbClr val="0000C0"/>
                </a:solidFill>
                <a:latin typeface="Consolas"/>
                <a:cs typeface="Consolas"/>
              </a:rPr>
              <a:t>out</a:t>
            </a:r>
            <a:r>
              <a:rPr sz="1800" b="1" dirty="0">
                <a:latin typeface="Consolas"/>
                <a:cs typeface="Consolas"/>
              </a:rPr>
              <a:t>.print((</a:t>
            </a:r>
            <a:r>
              <a:rPr sz="1800" b="1" dirty="0">
                <a:solidFill>
                  <a:srgbClr val="7E0054"/>
                </a:solidFill>
                <a:latin typeface="Consolas"/>
                <a:cs typeface="Consolas"/>
              </a:rPr>
              <a:t>char</a:t>
            </a:r>
            <a:r>
              <a:rPr sz="1800" b="1" dirty="0">
                <a:latin typeface="Consolas"/>
                <a:cs typeface="Consolas"/>
              </a:rPr>
              <a:t>)</a:t>
            </a:r>
            <a:r>
              <a:rPr sz="1800" b="1" dirty="0">
                <a:solidFill>
                  <a:srgbClr val="6A3D3D"/>
                </a:solidFill>
                <a:latin typeface="Consolas"/>
                <a:cs typeface="Consolas"/>
              </a:rPr>
              <a:t>ch</a:t>
            </a:r>
            <a:r>
              <a:rPr sz="1800" b="1" dirty="0">
                <a:latin typeface="Consolas"/>
                <a:cs typeface="Consolas"/>
              </a:rPr>
              <a:t>);</a:t>
            </a:r>
            <a:endParaRPr sz="1800">
              <a:latin typeface="Consolas"/>
              <a:cs typeface="Consolas"/>
            </a:endParaRPr>
          </a:p>
          <a:p>
            <a:pPr marL="12700">
              <a:lnSpc>
                <a:spcPct val="100000"/>
              </a:lnSpc>
            </a:pPr>
            <a:r>
              <a:rPr sz="1800" dirty="0">
                <a:latin typeface="Consolas"/>
                <a:cs typeface="Consolas"/>
              </a:rPr>
              <a:t>}</a:t>
            </a:r>
            <a:endParaRPr sz="1800">
              <a:latin typeface="Consolas"/>
              <a:cs typeface="Consolas"/>
            </a:endParaRPr>
          </a:p>
        </p:txBody>
      </p:sp>
      <p:sp>
        <p:nvSpPr>
          <p:cNvPr id="20" name="object 20"/>
          <p:cNvSpPr txBox="1"/>
          <p:nvPr/>
        </p:nvSpPr>
        <p:spPr>
          <a:xfrm>
            <a:off x="356870" y="3229379"/>
            <a:ext cx="125730" cy="228600"/>
          </a:xfrm>
          <a:prstGeom prst="rect">
            <a:avLst/>
          </a:prstGeom>
        </p:spPr>
        <p:txBody>
          <a:bodyPr vert="horz" wrap="square" lIns="0" tIns="0" rIns="0" bIns="0" rtlCol="0">
            <a:spAutoFit/>
          </a:bodyPr>
          <a:lstStyle/>
          <a:p>
            <a:pPr>
              <a:lnSpc>
                <a:spcPts val="1695"/>
              </a:lnSpc>
            </a:pPr>
            <a:r>
              <a:rPr sz="1800" dirty="0">
                <a:latin typeface="Consolas"/>
                <a:cs typeface="Consolas"/>
              </a:rPr>
              <a:t>}</a:t>
            </a:r>
            <a:endParaRPr sz="1800">
              <a:latin typeface="Consolas"/>
              <a:cs typeface="Consolas"/>
            </a:endParaRPr>
          </a:p>
        </p:txBody>
      </p:sp>
      <p:sp>
        <p:nvSpPr>
          <p:cNvPr id="21" name="object 21"/>
          <p:cNvSpPr/>
          <p:nvPr/>
        </p:nvSpPr>
        <p:spPr>
          <a:xfrm>
            <a:off x="318515" y="3261359"/>
            <a:ext cx="4192524" cy="2042160"/>
          </a:xfrm>
          <a:prstGeom prst="rect">
            <a:avLst/>
          </a:prstGeom>
          <a:blipFill>
            <a:blip r:embed="rId2" cstate="print"/>
            <a:stretch>
              <a:fillRect/>
            </a:stretch>
          </a:blipFill>
        </p:spPr>
        <p:txBody>
          <a:bodyPr wrap="square" lIns="0" tIns="0" rIns="0" bIns="0" rtlCol="0"/>
          <a:lstStyle/>
          <a:p>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50</a:t>
            </a:fld>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50264" y="1481454"/>
            <a:ext cx="7298055" cy="3664585"/>
          </a:xfrm>
          <a:prstGeom prst="rect">
            <a:avLst/>
          </a:prstGeom>
        </p:spPr>
        <p:txBody>
          <a:bodyPr vert="horz" wrap="square" lIns="0" tIns="48260" rIns="0" bIns="0" rtlCol="0">
            <a:spAutoFit/>
          </a:bodyPr>
          <a:lstStyle/>
          <a:p>
            <a:pPr marL="184150" marR="450215" indent="-171450">
              <a:lnSpc>
                <a:spcPts val="2270"/>
              </a:lnSpc>
              <a:spcBef>
                <a:spcPts val="380"/>
              </a:spcBef>
              <a:buFont typeface="Arial"/>
              <a:buChar char="•"/>
              <a:tabLst>
                <a:tab pos="184150" algn="l"/>
              </a:tabLst>
            </a:pPr>
            <a:r>
              <a:rPr sz="2100" dirty="0">
                <a:latin typeface="微软雅黑"/>
                <a:cs typeface="微软雅黑"/>
              </a:rPr>
              <a:t>如果存取的是一个文本文件，可以直接使用</a:t>
            </a:r>
            <a:r>
              <a:rPr sz="2100" spc="-5" dirty="0">
                <a:latin typeface="微软雅黑"/>
                <a:cs typeface="微软雅黑"/>
              </a:rPr>
              <a:t>F</a:t>
            </a:r>
            <a:r>
              <a:rPr sz="2100" dirty="0">
                <a:latin typeface="微软雅黑"/>
                <a:cs typeface="微软雅黑"/>
              </a:rPr>
              <a:t>il</a:t>
            </a:r>
            <a:r>
              <a:rPr sz="2100" spc="-5" dirty="0">
                <a:latin typeface="微软雅黑"/>
                <a:cs typeface="微软雅黑"/>
              </a:rPr>
              <a:t>e</a:t>
            </a:r>
            <a:r>
              <a:rPr sz="2100" spc="-70" dirty="0">
                <a:latin typeface="微软雅黑"/>
                <a:cs typeface="微软雅黑"/>
              </a:rPr>
              <a:t>R</a:t>
            </a:r>
            <a:r>
              <a:rPr sz="2100" spc="-5" dirty="0">
                <a:latin typeface="微软雅黑"/>
                <a:cs typeface="微软雅黑"/>
              </a:rPr>
              <a:t>ea</a:t>
            </a:r>
            <a:r>
              <a:rPr sz="2100" dirty="0">
                <a:latin typeface="微软雅黑"/>
                <a:cs typeface="微软雅黑"/>
              </a:rPr>
              <a:t>d</a:t>
            </a:r>
            <a:r>
              <a:rPr sz="2100" spc="-5" dirty="0">
                <a:latin typeface="微软雅黑"/>
                <a:cs typeface="微软雅黑"/>
              </a:rPr>
              <a:t>er</a:t>
            </a:r>
            <a:r>
              <a:rPr sz="2100" dirty="0">
                <a:latin typeface="微软雅黑"/>
                <a:cs typeface="微软雅黑"/>
              </a:rPr>
              <a:t>和  </a:t>
            </a:r>
            <a:r>
              <a:rPr sz="2100" spc="-10" dirty="0">
                <a:latin typeface="微软雅黑"/>
                <a:cs typeface="微软雅黑"/>
              </a:rPr>
              <a:t>FileWriter</a:t>
            </a:r>
            <a:r>
              <a:rPr sz="2100" dirty="0">
                <a:latin typeface="微软雅黑"/>
                <a:cs typeface="微软雅黑"/>
              </a:rPr>
              <a:t>类，它们分别继承自</a:t>
            </a:r>
            <a:r>
              <a:rPr sz="2100" spc="-15" dirty="0">
                <a:latin typeface="微软雅黑"/>
                <a:cs typeface="微软雅黑"/>
              </a:rPr>
              <a:t>InputStreamReader</a:t>
            </a:r>
            <a:r>
              <a:rPr sz="2100" dirty="0">
                <a:latin typeface="微软雅黑"/>
                <a:cs typeface="微软雅黑"/>
              </a:rPr>
              <a:t>和 </a:t>
            </a:r>
            <a:r>
              <a:rPr sz="2100" spc="-15" dirty="0">
                <a:latin typeface="微软雅黑"/>
                <a:cs typeface="微软雅黑"/>
              </a:rPr>
              <a:t>OutputStreamWriter</a:t>
            </a:r>
            <a:r>
              <a:rPr sz="2100" dirty="0">
                <a:latin typeface="微软雅黑"/>
                <a:cs typeface="微软雅黑"/>
              </a:rPr>
              <a:t>。</a:t>
            </a:r>
            <a:endParaRPr sz="2100">
              <a:latin typeface="微软雅黑"/>
              <a:cs typeface="微软雅黑"/>
            </a:endParaRPr>
          </a:p>
          <a:p>
            <a:pPr>
              <a:lnSpc>
                <a:spcPct val="100000"/>
              </a:lnSpc>
              <a:spcBef>
                <a:spcPts val="65"/>
              </a:spcBef>
              <a:buFont typeface="Arial"/>
              <a:buChar char="•"/>
            </a:pPr>
            <a:endParaRPr sz="1800">
              <a:latin typeface="微软雅黑"/>
              <a:cs typeface="微软雅黑"/>
            </a:endParaRPr>
          </a:p>
          <a:p>
            <a:pPr marL="527050" marR="144145" lvl="1" indent="-171450">
              <a:lnSpc>
                <a:spcPts val="1939"/>
              </a:lnSpc>
              <a:buFont typeface="Arial"/>
              <a:buChar char="•"/>
              <a:tabLst>
                <a:tab pos="527050" algn="l"/>
              </a:tabLst>
            </a:pPr>
            <a:r>
              <a:rPr sz="1800" spc="-5" dirty="0">
                <a:latin typeface="微软雅黑"/>
                <a:cs typeface="微软雅黑"/>
              </a:rPr>
              <a:t>F</a:t>
            </a:r>
            <a:r>
              <a:rPr sz="1800" dirty="0">
                <a:latin typeface="微软雅黑"/>
                <a:cs typeface="微软雅黑"/>
              </a:rPr>
              <a:t>il</a:t>
            </a:r>
            <a:r>
              <a:rPr sz="1800" spc="-5" dirty="0">
                <a:latin typeface="微软雅黑"/>
                <a:cs typeface="微软雅黑"/>
              </a:rPr>
              <a:t>e</a:t>
            </a:r>
            <a:r>
              <a:rPr sz="1800" spc="-60" dirty="0">
                <a:latin typeface="微软雅黑"/>
                <a:cs typeface="微软雅黑"/>
              </a:rPr>
              <a:t>R</a:t>
            </a:r>
            <a:r>
              <a:rPr sz="1800" spc="-5" dirty="0">
                <a:latin typeface="微软雅黑"/>
                <a:cs typeface="微软雅黑"/>
              </a:rPr>
              <a:t>e</a:t>
            </a:r>
            <a:r>
              <a:rPr sz="1800" dirty="0">
                <a:latin typeface="微软雅黑"/>
                <a:cs typeface="微软雅黑"/>
              </a:rPr>
              <a:t>a</a:t>
            </a:r>
            <a:r>
              <a:rPr sz="1800" spc="-5" dirty="0">
                <a:latin typeface="微软雅黑"/>
                <a:cs typeface="微软雅黑"/>
              </a:rPr>
              <a:t>der</a:t>
            </a:r>
            <a:r>
              <a:rPr sz="1800" dirty="0">
                <a:latin typeface="微软雅黑"/>
                <a:cs typeface="微软雅黑"/>
              </a:rPr>
              <a:t>类用于文本文件的读，每次读取一个字符或一个字符数 组。</a:t>
            </a:r>
            <a:r>
              <a:rPr sz="1800" spc="-5" dirty="0">
                <a:latin typeface="微软雅黑"/>
                <a:cs typeface="微软雅黑"/>
              </a:rPr>
              <a:t>FileWriter</a:t>
            </a:r>
            <a:r>
              <a:rPr sz="1800" dirty="0">
                <a:latin typeface="微软雅黑"/>
                <a:cs typeface="微软雅黑"/>
              </a:rPr>
              <a:t>类用于文本文件的写，每次写入一个字符、一个数 组或一个字符串。</a:t>
            </a:r>
            <a:endParaRPr sz="1800">
              <a:latin typeface="微软雅黑"/>
              <a:cs typeface="微软雅黑"/>
            </a:endParaRPr>
          </a:p>
          <a:p>
            <a:pPr marL="527050" marR="144145" lvl="1" indent="-171450">
              <a:lnSpc>
                <a:spcPts val="1939"/>
              </a:lnSpc>
              <a:spcBef>
                <a:spcPts val="375"/>
              </a:spcBef>
              <a:buFont typeface="Arial"/>
              <a:buChar char="•"/>
              <a:tabLst>
                <a:tab pos="527050" algn="l"/>
              </a:tabLst>
            </a:pPr>
            <a:r>
              <a:rPr sz="1800" dirty="0">
                <a:latin typeface="微软雅黑"/>
                <a:cs typeface="微软雅黑"/>
              </a:rPr>
              <a:t>通常可以将</a:t>
            </a:r>
            <a:r>
              <a:rPr sz="1800" spc="-5" dirty="0">
                <a:latin typeface="微软雅黑"/>
                <a:cs typeface="微软雅黑"/>
              </a:rPr>
              <a:t>F</a:t>
            </a:r>
            <a:r>
              <a:rPr sz="1800" dirty="0">
                <a:latin typeface="微软雅黑"/>
                <a:cs typeface="微软雅黑"/>
              </a:rPr>
              <a:t>il</a:t>
            </a:r>
            <a:r>
              <a:rPr sz="1800" spc="-5" dirty="0">
                <a:latin typeface="微软雅黑"/>
                <a:cs typeface="微软雅黑"/>
              </a:rPr>
              <a:t>e</a:t>
            </a:r>
            <a:r>
              <a:rPr sz="1800" spc="-60" dirty="0">
                <a:latin typeface="微软雅黑"/>
                <a:cs typeface="微软雅黑"/>
              </a:rPr>
              <a:t>R</a:t>
            </a:r>
            <a:r>
              <a:rPr sz="1800" spc="-5" dirty="0">
                <a:latin typeface="微软雅黑"/>
                <a:cs typeface="微软雅黑"/>
              </a:rPr>
              <a:t>e</a:t>
            </a:r>
            <a:r>
              <a:rPr sz="1800" dirty="0">
                <a:latin typeface="微软雅黑"/>
                <a:cs typeface="微软雅黑"/>
              </a:rPr>
              <a:t>a</a:t>
            </a:r>
            <a:r>
              <a:rPr sz="1800" spc="-5" dirty="0">
                <a:latin typeface="微软雅黑"/>
                <a:cs typeface="微软雅黑"/>
              </a:rPr>
              <a:t>der</a:t>
            </a:r>
            <a:r>
              <a:rPr sz="1800" dirty="0">
                <a:latin typeface="微软雅黑"/>
                <a:cs typeface="微软雅黑"/>
              </a:rPr>
              <a:t>对象看作一个以字符为单位的无格式的字符 输入流，将</a:t>
            </a:r>
            <a:r>
              <a:rPr sz="1800" spc="-5" dirty="0">
                <a:latin typeface="微软雅黑"/>
                <a:cs typeface="微软雅黑"/>
              </a:rPr>
              <a:t>FileWriter</a:t>
            </a:r>
            <a:r>
              <a:rPr sz="1800" dirty="0">
                <a:latin typeface="微软雅黑"/>
                <a:cs typeface="微软雅黑"/>
              </a:rPr>
              <a:t>对象看作是以字符为单位的无格式的字符输 出流。</a:t>
            </a:r>
            <a:endParaRPr sz="1800">
              <a:latin typeface="微软雅黑"/>
              <a:cs typeface="微软雅黑"/>
            </a:endParaRPr>
          </a:p>
          <a:p>
            <a:pPr marL="527050" marR="5080" lvl="1" indent="-171450">
              <a:lnSpc>
                <a:spcPts val="1939"/>
              </a:lnSpc>
              <a:spcBef>
                <a:spcPts val="375"/>
              </a:spcBef>
              <a:buFont typeface="Arial"/>
              <a:buChar char="•"/>
              <a:tabLst>
                <a:tab pos="527050" algn="l"/>
              </a:tabLst>
            </a:pPr>
            <a:r>
              <a:rPr sz="1800" spc="-5" dirty="0">
                <a:latin typeface="微软雅黑"/>
                <a:cs typeface="微软雅黑"/>
              </a:rPr>
              <a:t>F</a:t>
            </a:r>
            <a:r>
              <a:rPr sz="1800" dirty="0">
                <a:latin typeface="微软雅黑"/>
                <a:cs typeface="微软雅黑"/>
              </a:rPr>
              <a:t>il</a:t>
            </a:r>
            <a:r>
              <a:rPr sz="1800" spc="-5" dirty="0">
                <a:latin typeface="微软雅黑"/>
                <a:cs typeface="微软雅黑"/>
              </a:rPr>
              <a:t>e</a:t>
            </a:r>
            <a:r>
              <a:rPr sz="1800" spc="-60" dirty="0">
                <a:latin typeface="微软雅黑"/>
                <a:cs typeface="微软雅黑"/>
              </a:rPr>
              <a:t>R</a:t>
            </a:r>
            <a:r>
              <a:rPr sz="1800" spc="-5" dirty="0">
                <a:latin typeface="微软雅黑"/>
                <a:cs typeface="微软雅黑"/>
              </a:rPr>
              <a:t>e</a:t>
            </a:r>
            <a:r>
              <a:rPr sz="1800" dirty="0">
                <a:latin typeface="微软雅黑"/>
                <a:cs typeface="微软雅黑"/>
              </a:rPr>
              <a:t>a</a:t>
            </a:r>
            <a:r>
              <a:rPr sz="1800" spc="-5" dirty="0">
                <a:latin typeface="微软雅黑"/>
                <a:cs typeface="微软雅黑"/>
              </a:rPr>
              <a:t>der</a:t>
            </a:r>
            <a:r>
              <a:rPr sz="1800" dirty="0">
                <a:latin typeface="微软雅黑"/>
                <a:cs typeface="微软雅黑"/>
              </a:rPr>
              <a:t>和</a:t>
            </a:r>
            <a:r>
              <a:rPr sz="1800" spc="-5" dirty="0">
                <a:latin typeface="微软雅黑"/>
                <a:cs typeface="微软雅黑"/>
              </a:rPr>
              <a:t>F</a:t>
            </a:r>
            <a:r>
              <a:rPr sz="1800" dirty="0">
                <a:latin typeface="微软雅黑"/>
                <a:cs typeface="微软雅黑"/>
              </a:rPr>
              <a:t>il</a:t>
            </a:r>
            <a:r>
              <a:rPr sz="1800" spc="-5" dirty="0">
                <a:latin typeface="微软雅黑"/>
                <a:cs typeface="微软雅黑"/>
              </a:rPr>
              <a:t>eWr</a:t>
            </a:r>
            <a:r>
              <a:rPr sz="1800" dirty="0">
                <a:latin typeface="微软雅黑"/>
                <a:cs typeface="微软雅黑"/>
              </a:rPr>
              <a:t>i</a:t>
            </a:r>
            <a:r>
              <a:rPr sz="1800" spc="-20" dirty="0">
                <a:latin typeface="微软雅黑"/>
                <a:cs typeface="微软雅黑"/>
              </a:rPr>
              <a:t>t</a:t>
            </a:r>
            <a:r>
              <a:rPr sz="1800" spc="-5" dirty="0">
                <a:latin typeface="微软雅黑"/>
                <a:cs typeface="微软雅黑"/>
              </a:rPr>
              <a:t>er</a:t>
            </a:r>
            <a:r>
              <a:rPr sz="1800" dirty="0">
                <a:latin typeface="微软雅黑"/>
                <a:cs typeface="微软雅黑"/>
              </a:rPr>
              <a:t>类只能按照平台默认的字符编码进行字符的 读写，若要指定编码，则还是使用</a:t>
            </a:r>
            <a:r>
              <a:rPr sz="1800" spc="-15" dirty="0">
                <a:latin typeface="微软雅黑"/>
                <a:cs typeface="微软雅黑"/>
              </a:rPr>
              <a:t>InputStreamReader</a:t>
            </a:r>
            <a:r>
              <a:rPr sz="1800" dirty="0">
                <a:latin typeface="微软雅黑"/>
                <a:cs typeface="微软雅黑"/>
              </a:rPr>
              <a:t>和 </a:t>
            </a:r>
            <a:r>
              <a:rPr sz="1800" spc="-10" dirty="0">
                <a:latin typeface="微软雅黑"/>
                <a:cs typeface="微软雅黑"/>
              </a:rPr>
              <a:t>OutputStreamWriter</a:t>
            </a:r>
            <a:r>
              <a:rPr sz="1800" dirty="0">
                <a:latin typeface="微软雅黑"/>
                <a:cs typeface="微软雅黑"/>
              </a:rPr>
              <a:t>。</a:t>
            </a:r>
            <a:endParaRPr sz="18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51</a:t>
            </a:fld>
            <a:endParaRPr dirty="0"/>
          </a:p>
        </p:txBody>
      </p:sp>
      <p:sp>
        <p:nvSpPr>
          <p:cNvPr id="3" name="object 3"/>
          <p:cNvSpPr txBox="1">
            <a:spLocks noGrp="1"/>
          </p:cNvSpPr>
          <p:nvPr>
            <p:ph type="title"/>
          </p:nvPr>
        </p:nvSpPr>
        <p:spPr>
          <a:xfrm>
            <a:off x="1283652" y="370700"/>
            <a:ext cx="3972560" cy="345440"/>
          </a:xfrm>
          <a:prstGeom prst="rect">
            <a:avLst/>
          </a:prstGeom>
        </p:spPr>
        <p:txBody>
          <a:bodyPr vert="horz" wrap="square" lIns="0" tIns="12700" rIns="0" bIns="0" rtlCol="0">
            <a:spAutoFit/>
          </a:bodyPr>
          <a:lstStyle/>
          <a:p>
            <a:pPr marL="12700">
              <a:lnSpc>
                <a:spcPct val="100000"/>
              </a:lnSpc>
              <a:spcBef>
                <a:spcPts val="100"/>
              </a:spcBef>
              <a:tabLst>
                <a:tab pos="981075" algn="l"/>
              </a:tabLst>
            </a:pPr>
            <a:r>
              <a:rPr sz="2100" spc="-5" dirty="0"/>
              <a:t>12.3.3	</a:t>
            </a:r>
            <a:r>
              <a:rPr sz="2100" spc="-10" dirty="0"/>
              <a:t>FileReader</a:t>
            </a:r>
            <a:r>
              <a:rPr sz="2100" dirty="0"/>
              <a:t>和</a:t>
            </a:r>
            <a:r>
              <a:rPr sz="2100" spc="-5" dirty="0"/>
              <a:t>FileWriter</a:t>
            </a:r>
            <a:endParaRPr sz="2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81454"/>
            <a:ext cx="5410200" cy="345440"/>
          </a:xfrm>
          <a:prstGeom prst="rect">
            <a:avLst/>
          </a:prstGeom>
        </p:spPr>
        <p:txBody>
          <a:bodyPr vert="horz" wrap="square" lIns="0" tIns="12700" rIns="0" bIns="0" rtlCol="0">
            <a:spAutoFit/>
          </a:bodyPr>
          <a:lstStyle/>
          <a:p>
            <a:pPr marL="12700">
              <a:lnSpc>
                <a:spcPct val="100000"/>
              </a:lnSpc>
              <a:spcBef>
                <a:spcPts val="100"/>
              </a:spcBef>
            </a:pPr>
            <a:r>
              <a:rPr sz="2100" dirty="0">
                <a:latin typeface="微软雅黑"/>
                <a:cs typeface="微软雅黑"/>
              </a:rPr>
              <a:t>【例</a:t>
            </a:r>
            <a:r>
              <a:rPr sz="2100" spc="-5" dirty="0">
                <a:latin typeface="微软雅黑"/>
                <a:cs typeface="微软雅黑"/>
              </a:rPr>
              <a:t>12</a:t>
            </a:r>
            <a:r>
              <a:rPr sz="2100" dirty="0">
                <a:latin typeface="微软雅黑"/>
                <a:cs typeface="微软雅黑"/>
              </a:rPr>
              <a:t>-</a:t>
            </a:r>
            <a:r>
              <a:rPr sz="2100" spc="-5" dirty="0">
                <a:latin typeface="微软雅黑"/>
                <a:cs typeface="微软雅黑"/>
              </a:rPr>
              <a:t>8</a:t>
            </a:r>
            <a:r>
              <a:rPr sz="2100" dirty="0">
                <a:latin typeface="微软雅黑"/>
                <a:cs typeface="微软雅黑"/>
              </a:rPr>
              <a:t>】将九九乘法表保存在文本文件中。</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52</a:t>
            </a:fld>
            <a:endParaRPr dirty="0"/>
          </a:p>
        </p:txBody>
      </p:sp>
      <p:sp>
        <p:nvSpPr>
          <p:cNvPr id="3" name="object 3"/>
          <p:cNvSpPr txBox="1">
            <a:spLocks noGrp="1"/>
          </p:cNvSpPr>
          <p:nvPr>
            <p:ph type="title"/>
          </p:nvPr>
        </p:nvSpPr>
        <p:spPr>
          <a:xfrm>
            <a:off x="1283652" y="370700"/>
            <a:ext cx="3972560" cy="345440"/>
          </a:xfrm>
          <a:prstGeom prst="rect">
            <a:avLst/>
          </a:prstGeom>
        </p:spPr>
        <p:txBody>
          <a:bodyPr vert="horz" wrap="square" lIns="0" tIns="12700" rIns="0" bIns="0" rtlCol="0">
            <a:spAutoFit/>
          </a:bodyPr>
          <a:lstStyle/>
          <a:p>
            <a:pPr marL="12700">
              <a:lnSpc>
                <a:spcPct val="100000"/>
              </a:lnSpc>
              <a:spcBef>
                <a:spcPts val="100"/>
              </a:spcBef>
              <a:tabLst>
                <a:tab pos="981075" algn="l"/>
              </a:tabLst>
            </a:pPr>
            <a:r>
              <a:rPr sz="2100" spc="-5" dirty="0"/>
              <a:t>12.3.3	</a:t>
            </a:r>
            <a:r>
              <a:rPr sz="2100" spc="-10" dirty="0"/>
              <a:t>FileReader</a:t>
            </a:r>
            <a:r>
              <a:rPr sz="2100" dirty="0"/>
              <a:t>和</a:t>
            </a:r>
            <a:r>
              <a:rPr sz="2100" spc="-5" dirty="0"/>
              <a:t>FileWriter</a:t>
            </a:r>
            <a:endParaRPr sz="2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0357"/>
            <a:ext cx="3362960" cy="345440"/>
          </a:xfrm>
          <a:prstGeom prst="rect">
            <a:avLst/>
          </a:prstGeom>
        </p:spPr>
        <p:txBody>
          <a:bodyPr vert="horz" wrap="square" lIns="0" tIns="12700" rIns="0" bIns="0" rtlCol="0">
            <a:spAutoFit/>
          </a:bodyPr>
          <a:lstStyle/>
          <a:p>
            <a:pPr marL="12700">
              <a:lnSpc>
                <a:spcPct val="100000"/>
              </a:lnSpc>
              <a:spcBef>
                <a:spcPts val="100"/>
              </a:spcBef>
              <a:tabLst>
                <a:tab pos="981075" algn="l"/>
              </a:tabLst>
            </a:pPr>
            <a:r>
              <a:rPr sz="2100" spc="-5" dirty="0"/>
              <a:t>12.3.4	</a:t>
            </a:r>
            <a:r>
              <a:rPr sz="2100" spc="-10" dirty="0"/>
              <a:t>BufferedReader</a:t>
            </a:r>
            <a:r>
              <a:rPr sz="2100" dirty="0"/>
              <a:t>类</a:t>
            </a: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53</a:t>
            </a:fld>
            <a:endParaRPr dirty="0"/>
          </a:p>
        </p:txBody>
      </p:sp>
      <p:sp>
        <p:nvSpPr>
          <p:cNvPr id="3" name="object 3"/>
          <p:cNvSpPr txBox="1"/>
          <p:nvPr/>
        </p:nvSpPr>
        <p:spPr>
          <a:xfrm>
            <a:off x="1284605" y="1481454"/>
            <a:ext cx="6812915" cy="3534410"/>
          </a:xfrm>
          <a:prstGeom prst="rect">
            <a:avLst/>
          </a:prstGeom>
        </p:spPr>
        <p:txBody>
          <a:bodyPr vert="horz" wrap="square" lIns="0" tIns="48260" rIns="0" bIns="0" rtlCol="0">
            <a:spAutoFit/>
          </a:bodyPr>
          <a:lstStyle/>
          <a:p>
            <a:pPr marL="184150" marR="5080" indent="-171450">
              <a:lnSpc>
                <a:spcPts val="2270"/>
              </a:lnSpc>
              <a:spcBef>
                <a:spcPts val="380"/>
              </a:spcBef>
              <a:buFont typeface="Arial"/>
              <a:buChar char="•"/>
              <a:tabLst>
                <a:tab pos="184150" algn="l"/>
              </a:tabLst>
            </a:pPr>
            <a:r>
              <a:rPr sz="2100" spc="-10" dirty="0">
                <a:latin typeface="微软雅黑"/>
                <a:cs typeface="微软雅黑"/>
              </a:rPr>
              <a:t>BufferedReader</a:t>
            </a:r>
            <a:r>
              <a:rPr sz="2100" dirty="0">
                <a:latin typeface="微软雅黑"/>
                <a:cs typeface="微软雅黑"/>
              </a:rPr>
              <a:t>和</a:t>
            </a:r>
            <a:r>
              <a:rPr sz="2100" spc="-10" dirty="0">
                <a:latin typeface="微软雅黑"/>
                <a:cs typeface="微软雅黑"/>
              </a:rPr>
              <a:t>BufferedWriter</a:t>
            </a:r>
            <a:r>
              <a:rPr sz="2100" dirty="0">
                <a:latin typeface="微软雅黑"/>
                <a:cs typeface="微软雅黑"/>
              </a:rPr>
              <a:t>类都带有</a:t>
            </a:r>
            <a:r>
              <a:rPr sz="2100" spc="-5" dirty="0">
                <a:latin typeface="微软雅黑"/>
                <a:cs typeface="微软雅黑"/>
              </a:rPr>
              <a:t>8192</a:t>
            </a:r>
            <a:r>
              <a:rPr sz="2100" dirty="0">
                <a:latin typeface="微软雅黑"/>
                <a:cs typeface="微软雅黑"/>
              </a:rPr>
              <a:t>个字符 的缓冲区，缓冲区的作用与</a:t>
            </a:r>
            <a:r>
              <a:rPr sz="2100" spc="-10" dirty="0">
                <a:latin typeface="微软雅黑"/>
                <a:cs typeface="微软雅黑"/>
              </a:rPr>
              <a:t>BufferedInputStream</a:t>
            </a:r>
            <a:r>
              <a:rPr sz="2100" dirty="0">
                <a:latin typeface="微软雅黑"/>
                <a:cs typeface="微软雅黑"/>
              </a:rPr>
              <a:t>和 </a:t>
            </a:r>
            <a:r>
              <a:rPr sz="2100" spc="-10" dirty="0">
                <a:latin typeface="微软雅黑"/>
                <a:cs typeface="微软雅黑"/>
              </a:rPr>
              <a:t>BufferedOutputStream</a:t>
            </a:r>
            <a:r>
              <a:rPr sz="2100" dirty="0">
                <a:latin typeface="微软雅黑"/>
                <a:cs typeface="微软雅黑"/>
              </a:rPr>
              <a:t>类相同。</a:t>
            </a:r>
            <a:endParaRPr sz="2100">
              <a:latin typeface="微软雅黑"/>
              <a:cs typeface="微软雅黑"/>
            </a:endParaRPr>
          </a:p>
          <a:p>
            <a:pPr>
              <a:lnSpc>
                <a:spcPct val="100000"/>
              </a:lnSpc>
              <a:spcBef>
                <a:spcPts val="65"/>
              </a:spcBef>
              <a:buFont typeface="Arial"/>
              <a:buChar char="•"/>
            </a:pPr>
            <a:endParaRPr sz="1800">
              <a:latin typeface="微软雅黑"/>
              <a:cs typeface="微软雅黑"/>
            </a:endParaRPr>
          </a:p>
          <a:p>
            <a:pPr marL="527050" marR="13970" lvl="1" indent="-171450">
              <a:lnSpc>
                <a:spcPts val="1939"/>
              </a:lnSpc>
              <a:buFont typeface="Arial"/>
              <a:buChar char="•"/>
              <a:tabLst>
                <a:tab pos="527050" algn="l"/>
              </a:tabLst>
            </a:pPr>
            <a:r>
              <a:rPr sz="1800" dirty="0">
                <a:latin typeface="微软雅黑"/>
                <a:cs typeface="微软雅黑"/>
              </a:rPr>
              <a:t>Buff</a:t>
            </a:r>
            <a:r>
              <a:rPr sz="1800" spc="-5" dirty="0">
                <a:latin typeface="微软雅黑"/>
                <a:cs typeface="微软雅黑"/>
              </a:rPr>
              <a:t>e</a:t>
            </a:r>
            <a:r>
              <a:rPr sz="1800" spc="-35" dirty="0">
                <a:latin typeface="微软雅黑"/>
                <a:cs typeface="微软雅黑"/>
              </a:rPr>
              <a:t>r</a:t>
            </a:r>
            <a:r>
              <a:rPr sz="1800" spc="-5" dirty="0">
                <a:latin typeface="微软雅黑"/>
                <a:cs typeface="微软雅黑"/>
              </a:rPr>
              <a:t>ed</a:t>
            </a:r>
            <a:r>
              <a:rPr sz="1800" spc="-60" dirty="0">
                <a:latin typeface="微软雅黑"/>
                <a:cs typeface="微软雅黑"/>
              </a:rPr>
              <a:t>R</a:t>
            </a:r>
            <a:r>
              <a:rPr sz="1800" spc="-5" dirty="0">
                <a:latin typeface="微软雅黑"/>
                <a:cs typeface="微软雅黑"/>
              </a:rPr>
              <a:t>e</a:t>
            </a:r>
            <a:r>
              <a:rPr sz="1800" dirty="0">
                <a:latin typeface="微软雅黑"/>
                <a:cs typeface="微软雅黑"/>
              </a:rPr>
              <a:t>a</a:t>
            </a:r>
            <a:r>
              <a:rPr sz="1800" spc="-5" dirty="0">
                <a:latin typeface="微软雅黑"/>
                <a:cs typeface="微软雅黑"/>
              </a:rPr>
              <a:t>der</a:t>
            </a:r>
            <a:r>
              <a:rPr sz="1800" dirty="0">
                <a:latin typeface="微软雅黑"/>
                <a:cs typeface="微软雅黑"/>
              </a:rPr>
              <a:t>类还可以“文本行”为基本单位读取数据，文 本行是以回车换行结束的字符序列。</a:t>
            </a:r>
            <a:endParaRPr sz="1800">
              <a:latin typeface="微软雅黑"/>
              <a:cs typeface="微软雅黑"/>
            </a:endParaRPr>
          </a:p>
          <a:p>
            <a:pPr marL="527050" marR="136525" lvl="1" indent="-171450">
              <a:lnSpc>
                <a:spcPts val="1939"/>
              </a:lnSpc>
              <a:spcBef>
                <a:spcPts val="375"/>
              </a:spcBef>
              <a:buFont typeface="Arial"/>
              <a:buChar char="•"/>
              <a:tabLst>
                <a:tab pos="527050" algn="l"/>
              </a:tabLst>
            </a:pPr>
            <a:r>
              <a:rPr sz="1800" spc="-15" dirty="0">
                <a:latin typeface="微软雅黑"/>
                <a:cs typeface="微软雅黑"/>
              </a:rPr>
              <a:t>String</a:t>
            </a:r>
            <a:r>
              <a:rPr sz="1800" spc="-35" dirty="0">
                <a:latin typeface="微软雅黑"/>
                <a:cs typeface="微软雅黑"/>
              </a:rPr>
              <a:t> </a:t>
            </a:r>
            <a:r>
              <a:rPr sz="1800" spc="-10" dirty="0">
                <a:latin typeface="微软雅黑"/>
                <a:cs typeface="微软雅黑"/>
              </a:rPr>
              <a:t>readLine()：</a:t>
            </a:r>
            <a:r>
              <a:rPr sz="1800" dirty="0">
                <a:latin typeface="微软雅黑"/>
                <a:cs typeface="微软雅黑"/>
              </a:rPr>
              <a:t>从输入流中读取一行字符，如果读遇到流 结束，则返回null。</a:t>
            </a:r>
            <a:endParaRPr sz="1800">
              <a:latin typeface="微软雅黑"/>
              <a:cs typeface="微软雅黑"/>
            </a:endParaRPr>
          </a:p>
          <a:p>
            <a:pPr>
              <a:lnSpc>
                <a:spcPct val="100000"/>
              </a:lnSpc>
              <a:spcBef>
                <a:spcPts val="90"/>
              </a:spcBef>
            </a:pPr>
            <a:endParaRPr sz="1200">
              <a:latin typeface="微软雅黑"/>
              <a:cs typeface="微软雅黑"/>
            </a:endParaRPr>
          </a:p>
          <a:p>
            <a:pPr marL="714375" marR="3484245">
              <a:lnSpc>
                <a:spcPct val="100000"/>
              </a:lnSpc>
            </a:pPr>
            <a:r>
              <a:rPr sz="2800" spc="-5" dirty="0">
                <a:solidFill>
                  <a:srgbClr val="006C39"/>
                </a:solidFill>
                <a:latin typeface="等线"/>
                <a:cs typeface="等线"/>
              </a:rPr>
              <a:t>Bufferwriting  BufferRea</a:t>
            </a:r>
            <a:r>
              <a:rPr sz="2800" dirty="0">
                <a:solidFill>
                  <a:srgbClr val="006C39"/>
                </a:solidFill>
                <a:latin typeface="等线"/>
                <a:cs typeface="等线"/>
              </a:rPr>
              <a:t>d</a:t>
            </a:r>
            <a:r>
              <a:rPr sz="2800" spc="-5" dirty="0">
                <a:solidFill>
                  <a:srgbClr val="006C39"/>
                </a:solidFill>
                <a:latin typeface="等线"/>
                <a:cs typeface="等线"/>
              </a:rPr>
              <a:t>erTest</a:t>
            </a:r>
            <a:endParaRPr sz="2800">
              <a:latin typeface="等线"/>
              <a:cs typeface="等线"/>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7105" y="1481454"/>
            <a:ext cx="7045959" cy="2103755"/>
          </a:xfrm>
          <a:prstGeom prst="rect">
            <a:avLst/>
          </a:prstGeom>
        </p:spPr>
        <p:txBody>
          <a:bodyPr vert="horz" wrap="square" lIns="0" tIns="12700" rIns="0" bIns="0" rtlCol="0">
            <a:spAutoFit/>
          </a:bodyPr>
          <a:lstStyle/>
          <a:p>
            <a:pPr marL="63500">
              <a:lnSpc>
                <a:spcPct val="100000"/>
              </a:lnSpc>
              <a:spcBef>
                <a:spcPts val="100"/>
              </a:spcBef>
            </a:pPr>
            <a:r>
              <a:rPr sz="2100" spc="-5" dirty="0">
                <a:latin typeface="微软雅黑"/>
                <a:cs typeface="微软雅黑"/>
              </a:rPr>
              <a:t>PrintWriter</a:t>
            </a:r>
            <a:r>
              <a:rPr sz="2100" dirty="0">
                <a:latin typeface="微软雅黑"/>
                <a:cs typeface="微软雅黑"/>
              </a:rPr>
              <a:t>提供了各种</a:t>
            </a:r>
            <a:r>
              <a:rPr sz="2100" spc="-5" dirty="0">
                <a:latin typeface="微软雅黑"/>
                <a:cs typeface="微软雅黑"/>
              </a:rPr>
              <a:t>print</a:t>
            </a:r>
            <a:r>
              <a:rPr sz="2100" dirty="0">
                <a:latin typeface="微软雅黑"/>
                <a:cs typeface="微软雅黑"/>
              </a:rPr>
              <a:t>方法和国际化支持</a:t>
            </a:r>
            <a:endParaRPr sz="2100">
              <a:latin typeface="微软雅黑"/>
              <a:cs typeface="微软雅黑"/>
            </a:endParaRPr>
          </a:p>
          <a:p>
            <a:pPr>
              <a:lnSpc>
                <a:spcPct val="100000"/>
              </a:lnSpc>
              <a:spcBef>
                <a:spcPts val="10"/>
              </a:spcBef>
            </a:pPr>
            <a:endParaRPr sz="1850">
              <a:latin typeface="微软雅黑"/>
              <a:cs typeface="微软雅黑"/>
            </a:endParaRPr>
          </a:p>
          <a:p>
            <a:pPr marL="184150" marR="5080" indent="-171450">
              <a:lnSpc>
                <a:spcPts val="1939"/>
              </a:lnSpc>
              <a:buFont typeface="Arial"/>
              <a:buChar char="•"/>
              <a:tabLst>
                <a:tab pos="184150" algn="l"/>
              </a:tabLst>
            </a:pPr>
            <a:r>
              <a:rPr sz="1800" spc="-5" dirty="0">
                <a:latin typeface="微软雅黑"/>
                <a:cs typeface="微软雅黑"/>
              </a:rPr>
              <a:t>PrintWriter</a:t>
            </a:r>
            <a:r>
              <a:rPr sz="1800" dirty="0">
                <a:latin typeface="微软雅黑"/>
                <a:cs typeface="微软雅黑"/>
              </a:rPr>
              <a:t>提供了既能接收</a:t>
            </a:r>
            <a:r>
              <a:rPr sz="1800" spc="-10" dirty="0">
                <a:latin typeface="微软雅黑"/>
                <a:cs typeface="微软雅黑"/>
              </a:rPr>
              <a:t>Writer</a:t>
            </a:r>
            <a:r>
              <a:rPr sz="1800" dirty="0">
                <a:latin typeface="微软雅黑"/>
                <a:cs typeface="微软雅黑"/>
              </a:rPr>
              <a:t>对象又能接收</a:t>
            </a:r>
            <a:r>
              <a:rPr sz="1800" spc="-15" dirty="0">
                <a:latin typeface="微软雅黑"/>
                <a:cs typeface="微软雅黑"/>
              </a:rPr>
              <a:t>OutputStream</a:t>
            </a:r>
            <a:r>
              <a:rPr sz="1800" dirty="0">
                <a:latin typeface="微软雅黑"/>
                <a:cs typeface="微软雅黑"/>
              </a:rPr>
              <a:t>对象 的构造方法，简化了输出流对象的创建过程。</a:t>
            </a:r>
            <a:endParaRPr sz="1800">
              <a:latin typeface="微软雅黑"/>
              <a:cs typeface="微软雅黑"/>
            </a:endParaRPr>
          </a:p>
          <a:p>
            <a:pPr>
              <a:lnSpc>
                <a:spcPct val="100000"/>
              </a:lnSpc>
              <a:spcBef>
                <a:spcPts val="20"/>
              </a:spcBef>
              <a:buFont typeface="Arial"/>
              <a:buChar char="•"/>
            </a:pPr>
            <a:endParaRPr sz="1450">
              <a:latin typeface="微软雅黑"/>
              <a:cs typeface="微软雅黑"/>
            </a:endParaRPr>
          </a:p>
          <a:p>
            <a:pPr marL="184150" marR="351790" indent="-171450">
              <a:lnSpc>
                <a:spcPts val="1939"/>
              </a:lnSpc>
              <a:buFont typeface="Arial"/>
              <a:buChar char="•"/>
              <a:tabLst>
                <a:tab pos="184150" algn="l"/>
              </a:tabLst>
            </a:pPr>
            <a:r>
              <a:rPr sz="1800" spc="-5" dirty="0">
                <a:latin typeface="微软雅黑"/>
                <a:cs typeface="微软雅黑"/>
              </a:rPr>
              <a:t>Pr</a:t>
            </a:r>
            <a:r>
              <a:rPr sz="1800" dirty="0">
                <a:latin typeface="微软雅黑"/>
                <a:cs typeface="微软雅黑"/>
              </a:rPr>
              <a:t>in</a:t>
            </a:r>
            <a:r>
              <a:rPr sz="1800" spc="-5" dirty="0">
                <a:latin typeface="微软雅黑"/>
                <a:cs typeface="微软雅黑"/>
              </a:rPr>
              <a:t>tWr</a:t>
            </a:r>
            <a:r>
              <a:rPr sz="1800" dirty="0">
                <a:latin typeface="微软雅黑"/>
                <a:cs typeface="微软雅黑"/>
              </a:rPr>
              <a:t>i</a:t>
            </a:r>
            <a:r>
              <a:rPr sz="1800" spc="-20" dirty="0">
                <a:latin typeface="微软雅黑"/>
                <a:cs typeface="微软雅黑"/>
              </a:rPr>
              <a:t>t</a:t>
            </a:r>
            <a:r>
              <a:rPr sz="1800" spc="-5" dirty="0">
                <a:latin typeface="微软雅黑"/>
                <a:cs typeface="微软雅黑"/>
              </a:rPr>
              <a:t>er</a:t>
            </a:r>
            <a:r>
              <a:rPr sz="1800" dirty="0">
                <a:latin typeface="微软雅黑"/>
                <a:cs typeface="微软雅黑"/>
              </a:rPr>
              <a:t>也可以设置缓冲区的自动刷新。</a:t>
            </a:r>
            <a:r>
              <a:rPr sz="1800" spc="-5" dirty="0">
                <a:latin typeface="微软雅黑"/>
                <a:cs typeface="微软雅黑"/>
              </a:rPr>
              <a:t>Pr</a:t>
            </a:r>
            <a:r>
              <a:rPr sz="1800" dirty="0">
                <a:latin typeface="微软雅黑"/>
                <a:cs typeface="微软雅黑"/>
              </a:rPr>
              <a:t>in</a:t>
            </a:r>
            <a:r>
              <a:rPr sz="1800" spc="-5" dirty="0">
                <a:latin typeface="微软雅黑"/>
                <a:cs typeface="微软雅黑"/>
              </a:rPr>
              <a:t>tWr</a:t>
            </a:r>
            <a:r>
              <a:rPr sz="1800" dirty="0">
                <a:latin typeface="微软雅黑"/>
                <a:cs typeface="微软雅黑"/>
              </a:rPr>
              <a:t>i</a:t>
            </a:r>
            <a:r>
              <a:rPr sz="1800" spc="-20" dirty="0">
                <a:latin typeface="微软雅黑"/>
                <a:cs typeface="微软雅黑"/>
              </a:rPr>
              <a:t>t</a:t>
            </a:r>
            <a:r>
              <a:rPr sz="1800" spc="-5" dirty="0">
                <a:latin typeface="微软雅黑"/>
                <a:cs typeface="微软雅黑"/>
              </a:rPr>
              <a:t>er</a:t>
            </a:r>
            <a:r>
              <a:rPr sz="1800" dirty="0">
                <a:latin typeface="微软雅黑"/>
                <a:cs typeface="微软雅黑"/>
              </a:rPr>
              <a:t>仅在调用  </a:t>
            </a:r>
            <a:r>
              <a:rPr sz="1800" spc="-5" dirty="0">
                <a:latin typeface="微软雅黑"/>
                <a:cs typeface="微软雅黑"/>
              </a:rPr>
              <a:t>println()</a:t>
            </a:r>
            <a:r>
              <a:rPr sz="1800" dirty="0">
                <a:latin typeface="微软雅黑"/>
                <a:cs typeface="微软雅黑"/>
              </a:rPr>
              <a:t>方法时自动刷新；</a:t>
            </a:r>
            <a:endParaRPr sz="18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54</a:t>
            </a:fld>
            <a:endParaRPr dirty="0"/>
          </a:p>
        </p:txBody>
      </p:sp>
      <p:sp>
        <p:nvSpPr>
          <p:cNvPr id="3" name="object 3"/>
          <p:cNvSpPr txBox="1">
            <a:spLocks noGrp="1"/>
          </p:cNvSpPr>
          <p:nvPr>
            <p:ph type="title"/>
          </p:nvPr>
        </p:nvSpPr>
        <p:spPr>
          <a:xfrm>
            <a:off x="1283652" y="370700"/>
            <a:ext cx="2768600" cy="345440"/>
          </a:xfrm>
          <a:prstGeom prst="rect">
            <a:avLst/>
          </a:prstGeom>
        </p:spPr>
        <p:txBody>
          <a:bodyPr vert="horz" wrap="square" lIns="0" tIns="12700" rIns="0" bIns="0" rtlCol="0">
            <a:spAutoFit/>
          </a:bodyPr>
          <a:lstStyle/>
          <a:p>
            <a:pPr marL="12700">
              <a:lnSpc>
                <a:spcPct val="100000"/>
              </a:lnSpc>
              <a:spcBef>
                <a:spcPts val="100"/>
              </a:spcBef>
              <a:tabLst>
                <a:tab pos="981075" algn="l"/>
              </a:tabLst>
            </a:pPr>
            <a:r>
              <a:rPr sz="2100" spc="-5" dirty="0"/>
              <a:t>12.3.5	PrintWriter</a:t>
            </a:r>
            <a:r>
              <a:rPr sz="2100" dirty="0"/>
              <a:t>类</a:t>
            </a:r>
            <a:endParaRPr sz="21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81454"/>
            <a:ext cx="7810500" cy="633095"/>
          </a:xfrm>
          <a:prstGeom prst="rect">
            <a:avLst/>
          </a:prstGeom>
        </p:spPr>
        <p:txBody>
          <a:bodyPr vert="horz" wrap="square" lIns="0" tIns="49530" rIns="0" bIns="0" rtlCol="0">
            <a:spAutoFit/>
          </a:bodyPr>
          <a:lstStyle/>
          <a:p>
            <a:pPr marL="12700" marR="5080">
              <a:lnSpc>
                <a:spcPts val="2260"/>
              </a:lnSpc>
              <a:spcBef>
                <a:spcPts val="390"/>
              </a:spcBef>
            </a:pPr>
            <a:r>
              <a:rPr sz="2100" dirty="0">
                <a:latin typeface="微软雅黑"/>
                <a:cs typeface="微软雅黑"/>
              </a:rPr>
              <a:t>【例</a:t>
            </a:r>
            <a:r>
              <a:rPr sz="2100" spc="-5" dirty="0">
                <a:latin typeface="微软雅黑"/>
                <a:cs typeface="微软雅黑"/>
              </a:rPr>
              <a:t>12</a:t>
            </a:r>
            <a:r>
              <a:rPr sz="2100" dirty="0">
                <a:latin typeface="微软雅黑"/>
                <a:cs typeface="微软雅黑"/>
              </a:rPr>
              <a:t>-</a:t>
            </a:r>
            <a:r>
              <a:rPr sz="2100" spc="-5" dirty="0">
                <a:latin typeface="微软雅黑"/>
                <a:cs typeface="微软雅黑"/>
              </a:rPr>
              <a:t>9</a:t>
            </a:r>
            <a:r>
              <a:rPr sz="2100" dirty="0">
                <a:latin typeface="微软雅黑"/>
                <a:cs typeface="微软雅黑"/>
              </a:rPr>
              <a:t>】将计算得到的几个圆的面积写入一个文件；再将文件中 的信息读取出来在控制台打印。</a:t>
            </a:r>
            <a:endParaRPr sz="2100">
              <a:latin typeface="微软雅黑"/>
              <a:cs typeface="微软雅黑"/>
            </a:endParaRPr>
          </a:p>
        </p:txBody>
      </p:sp>
      <p:sp>
        <p:nvSpPr>
          <p:cNvPr id="3" name="object 3"/>
          <p:cNvSpPr txBox="1">
            <a:spLocks noGrp="1"/>
          </p:cNvSpPr>
          <p:nvPr>
            <p:ph type="title"/>
          </p:nvPr>
        </p:nvSpPr>
        <p:spPr>
          <a:xfrm>
            <a:off x="1283652" y="370700"/>
            <a:ext cx="2768600" cy="345440"/>
          </a:xfrm>
          <a:prstGeom prst="rect">
            <a:avLst/>
          </a:prstGeom>
        </p:spPr>
        <p:txBody>
          <a:bodyPr vert="horz" wrap="square" lIns="0" tIns="12700" rIns="0" bIns="0" rtlCol="0">
            <a:spAutoFit/>
          </a:bodyPr>
          <a:lstStyle/>
          <a:p>
            <a:pPr marL="12700">
              <a:lnSpc>
                <a:spcPct val="100000"/>
              </a:lnSpc>
              <a:spcBef>
                <a:spcPts val="100"/>
              </a:spcBef>
              <a:tabLst>
                <a:tab pos="981075" algn="l"/>
              </a:tabLst>
            </a:pPr>
            <a:r>
              <a:rPr sz="2100" spc="-5" dirty="0"/>
              <a:t>12.3.5	PrintWriter</a:t>
            </a:r>
            <a:r>
              <a:rPr sz="2100" dirty="0"/>
              <a:t>类</a:t>
            </a:r>
            <a:endParaRPr sz="2100"/>
          </a:p>
        </p:txBody>
      </p:sp>
      <p:sp>
        <p:nvSpPr>
          <p:cNvPr id="4" name="object 4"/>
          <p:cNvSpPr/>
          <p:nvPr/>
        </p:nvSpPr>
        <p:spPr>
          <a:xfrm>
            <a:off x="1979676" y="2564892"/>
            <a:ext cx="4536948" cy="2260091"/>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55</a:t>
            </a:fld>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0700"/>
            <a:ext cx="2087245"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a:t>
            </a:r>
            <a:r>
              <a:rPr sz="2100" dirty="0"/>
              <a:t>.4	装饰器模式</a:t>
            </a:r>
            <a:endParaRPr sz="2100"/>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56</a:t>
            </a:fld>
            <a:endParaRPr dirty="0"/>
          </a:p>
        </p:txBody>
      </p:sp>
      <p:sp>
        <p:nvSpPr>
          <p:cNvPr id="3" name="object 3"/>
          <p:cNvSpPr txBox="1"/>
          <p:nvPr/>
        </p:nvSpPr>
        <p:spPr>
          <a:xfrm>
            <a:off x="330200" y="1574800"/>
            <a:ext cx="8580120" cy="1118870"/>
          </a:xfrm>
          <a:prstGeom prst="rect">
            <a:avLst/>
          </a:prstGeom>
        </p:spPr>
        <p:txBody>
          <a:bodyPr vert="horz" wrap="square" lIns="0" tIns="14605" rIns="0" bIns="0" rtlCol="0">
            <a:spAutoFit/>
          </a:bodyPr>
          <a:lstStyle/>
          <a:p>
            <a:pPr marL="12700" marR="5080" indent="294640">
              <a:lnSpc>
                <a:spcPct val="99500"/>
              </a:lnSpc>
              <a:spcBef>
                <a:spcPts val="115"/>
              </a:spcBef>
            </a:pPr>
            <a:r>
              <a:rPr sz="2400" spc="-5" dirty="0">
                <a:latin typeface="Times New Roman"/>
                <a:cs typeface="Times New Roman"/>
              </a:rPr>
              <a:t>The</a:t>
            </a:r>
            <a:r>
              <a:rPr sz="2400" spc="-10" dirty="0">
                <a:latin typeface="Times New Roman"/>
                <a:cs typeface="Times New Roman"/>
              </a:rPr>
              <a:t> </a:t>
            </a:r>
            <a:r>
              <a:rPr sz="2400" dirty="0">
                <a:latin typeface="Times New Roman"/>
                <a:cs typeface="Times New Roman"/>
              </a:rPr>
              <a:t>use</a:t>
            </a:r>
            <a:r>
              <a:rPr sz="2400" spc="-5" dirty="0">
                <a:latin typeface="Times New Roman"/>
                <a:cs typeface="Times New Roman"/>
              </a:rPr>
              <a:t> </a:t>
            </a:r>
            <a:r>
              <a:rPr sz="2400" dirty="0">
                <a:latin typeface="Times New Roman"/>
                <a:cs typeface="Times New Roman"/>
              </a:rPr>
              <a:t>of </a:t>
            </a:r>
            <a:r>
              <a:rPr sz="2400" spc="-5" dirty="0">
                <a:solidFill>
                  <a:srgbClr val="FF0000"/>
                </a:solidFill>
                <a:latin typeface="Times New Roman"/>
                <a:cs typeface="Times New Roman"/>
              </a:rPr>
              <a:t>layered</a:t>
            </a:r>
            <a:r>
              <a:rPr sz="2400" dirty="0">
                <a:solidFill>
                  <a:srgbClr val="FF0000"/>
                </a:solidFill>
                <a:latin typeface="Times New Roman"/>
                <a:cs typeface="Times New Roman"/>
              </a:rPr>
              <a:t> </a:t>
            </a:r>
            <a:r>
              <a:rPr sz="2400" spc="-5" dirty="0">
                <a:solidFill>
                  <a:srgbClr val="FF0000"/>
                </a:solidFill>
                <a:latin typeface="Times New Roman"/>
                <a:cs typeface="Times New Roman"/>
              </a:rPr>
              <a:t>objects</a:t>
            </a:r>
            <a:r>
              <a:rPr sz="2400" spc="-5" dirty="0">
                <a:solidFill>
                  <a:srgbClr val="FF0000"/>
                </a:solidFill>
                <a:latin typeface="宋体"/>
                <a:cs typeface="宋体"/>
              </a:rPr>
              <a:t>（</a:t>
            </a:r>
            <a:r>
              <a:rPr sz="2400" dirty="0">
                <a:solidFill>
                  <a:srgbClr val="FF0000"/>
                </a:solidFill>
                <a:latin typeface="宋体"/>
                <a:cs typeface="宋体"/>
              </a:rPr>
              <a:t>叠加对象）</a:t>
            </a:r>
            <a:r>
              <a:rPr sz="2400" spc="-605" dirty="0">
                <a:solidFill>
                  <a:srgbClr val="FF0000"/>
                </a:solidFill>
                <a:latin typeface="宋体"/>
                <a:cs typeface="宋体"/>
              </a:rPr>
              <a:t> </a:t>
            </a:r>
            <a:r>
              <a:rPr sz="2400" spc="-5" dirty="0">
                <a:latin typeface="Times New Roman"/>
                <a:cs typeface="Times New Roman"/>
              </a:rPr>
              <a:t>to</a:t>
            </a:r>
            <a:r>
              <a:rPr sz="2400" dirty="0">
                <a:latin typeface="Times New Roman"/>
                <a:cs typeface="Times New Roman"/>
              </a:rPr>
              <a:t> </a:t>
            </a:r>
            <a:r>
              <a:rPr sz="2400" spc="-5" dirty="0">
                <a:solidFill>
                  <a:srgbClr val="FF0000"/>
                </a:solidFill>
                <a:latin typeface="Times New Roman"/>
                <a:cs typeface="Times New Roman"/>
              </a:rPr>
              <a:t>dynamically</a:t>
            </a:r>
            <a:r>
              <a:rPr sz="2400" dirty="0">
                <a:solidFill>
                  <a:srgbClr val="FF0000"/>
                </a:solidFill>
                <a:latin typeface="Times New Roman"/>
                <a:cs typeface="Times New Roman"/>
              </a:rPr>
              <a:t> </a:t>
            </a:r>
            <a:r>
              <a:rPr sz="2400" spc="-5" dirty="0">
                <a:solidFill>
                  <a:srgbClr val="FF0000"/>
                </a:solidFill>
                <a:latin typeface="Times New Roman"/>
                <a:cs typeface="Times New Roman"/>
              </a:rPr>
              <a:t>and  transparently </a:t>
            </a:r>
            <a:r>
              <a:rPr sz="2400" spc="-5" dirty="0">
                <a:latin typeface="Times New Roman"/>
                <a:cs typeface="Times New Roman"/>
              </a:rPr>
              <a:t>add responsibilities to </a:t>
            </a:r>
            <a:r>
              <a:rPr sz="2400" spc="-5" dirty="0">
                <a:solidFill>
                  <a:srgbClr val="FF0000"/>
                </a:solidFill>
                <a:latin typeface="Times New Roman"/>
                <a:cs typeface="Times New Roman"/>
              </a:rPr>
              <a:t>individual objects </a:t>
            </a:r>
            <a:r>
              <a:rPr sz="2400" spc="-5" dirty="0">
                <a:latin typeface="Times New Roman"/>
                <a:cs typeface="Times New Roman"/>
              </a:rPr>
              <a:t>is referred to as  the</a:t>
            </a:r>
            <a:r>
              <a:rPr sz="2400" spc="-10" dirty="0">
                <a:latin typeface="Times New Roman"/>
                <a:cs typeface="Times New Roman"/>
              </a:rPr>
              <a:t> </a:t>
            </a:r>
            <a:r>
              <a:rPr sz="2400" i="1" spc="-5" dirty="0">
                <a:solidFill>
                  <a:srgbClr val="FF0000"/>
                </a:solidFill>
                <a:latin typeface="Times New Roman"/>
                <a:cs typeface="Times New Roman"/>
              </a:rPr>
              <a:t>Decorator</a:t>
            </a:r>
            <a:r>
              <a:rPr sz="2400" i="1" dirty="0">
                <a:solidFill>
                  <a:srgbClr val="FF0000"/>
                </a:solidFill>
                <a:latin typeface="Times New Roman"/>
                <a:cs typeface="Times New Roman"/>
              </a:rPr>
              <a:t> </a:t>
            </a:r>
            <a:r>
              <a:rPr sz="2400" spc="-5" dirty="0">
                <a:solidFill>
                  <a:srgbClr val="FF0000"/>
                </a:solidFill>
                <a:latin typeface="Times New Roman"/>
                <a:cs typeface="Times New Roman"/>
              </a:rPr>
              <a:t>pattern(</a:t>
            </a:r>
            <a:r>
              <a:rPr sz="2400" dirty="0">
                <a:solidFill>
                  <a:srgbClr val="FF0000"/>
                </a:solidFill>
                <a:latin typeface="宋体"/>
                <a:cs typeface="宋体"/>
              </a:rPr>
              <a:t>装饰器模式</a:t>
            </a:r>
            <a:r>
              <a:rPr sz="2400" dirty="0">
                <a:solidFill>
                  <a:srgbClr val="FF0000"/>
                </a:solidFill>
                <a:latin typeface="Times New Roman"/>
                <a:cs typeface="Times New Roman"/>
              </a:rPr>
              <a:t>).</a:t>
            </a:r>
            <a:endParaRPr sz="2400">
              <a:latin typeface="Times New Roman"/>
              <a:cs typeface="Times New Roman"/>
            </a:endParaRPr>
          </a:p>
        </p:txBody>
      </p:sp>
      <p:sp>
        <p:nvSpPr>
          <p:cNvPr id="4" name="object 4"/>
          <p:cNvSpPr txBox="1"/>
          <p:nvPr/>
        </p:nvSpPr>
        <p:spPr>
          <a:xfrm>
            <a:off x="643255" y="3860165"/>
            <a:ext cx="6490970" cy="1122680"/>
          </a:xfrm>
          <a:prstGeom prst="rect">
            <a:avLst/>
          </a:prstGeom>
        </p:spPr>
        <p:txBody>
          <a:bodyPr vert="horz" wrap="square" lIns="0" tIns="12700" rIns="0" bIns="0" rtlCol="0">
            <a:spAutoFit/>
          </a:bodyPr>
          <a:lstStyle/>
          <a:p>
            <a:pPr marL="12700" marR="5080" indent="294640">
              <a:lnSpc>
                <a:spcPct val="100000"/>
              </a:lnSpc>
              <a:spcBef>
                <a:spcPts val="100"/>
              </a:spcBef>
            </a:pPr>
            <a:r>
              <a:rPr sz="2400" spc="-5" dirty="0">
                <a:latin typeface="Times New Roman"/>
                <a:cs typeface="Times New Roman"/>
              </a:rPr>
              <a:t>The Java I/O library requires many </a:t>
            </a:r>
            <a:r>
              <a:rPr sz="2400" spc="-10" dirty="0">
                <a:latin typeface="Times New Roman"/>
                <a:cs typeface="Times New Roman"/>
              </a:rPr>
              <a:t>different  </a:t>
            </a:r>
            <a:r>
              <a:rPr sz="2400" spc="-5" dirty="0">
                <a:latin typeface="Times New Roman"/>
                <a:cs typeface="Times New Roman"/>
              </a:rPr>
              <a:t>combinations </a:t>
            </a:r>
            <a:r>
              <a:rPr sz="2400" dirty="0">
                <a:latin typeface="Times New Roman"/>
                <a:cs typeface="Times New Roman"/>
              </a:rPr>
              <a:t>of </a:t>
            </a:r>
            <a:r>
              <a:rPr sz="2400" spc="-5" dirty="0">
                <a:latin typeface="Times New Roman"/>
                <a:cs typeface="Times New Roman"/>
              </a:rPr>
              <a:t>features, which is </a:t>
            </a:r>
            <a:r>
              <a:rPr sz="2400" dirty="0">
                <a:solidFill>
                  <a:srgbClr val="FF0000"/>
                </a:solidFill>
                <a:latin typeface="Times New Roman"/>
                <a:cs typeface="Times New Roman"/>
              </a:rPr>
              <a:t>why </a:t>
            </a:r>
            <a:r>
              <a:rPr sz="2400" spc="-5" dirty="0">
                <a:latin typeface="Times New Roman"/>
                <a:cs typeface="Times New Roman"/>
              </a:rPr>
              <a:t>the decorator  pattern is</a:t>
            </a:r>
            <a:r>
              <a:rPr sz="2400" dirty="0">
                <a:latin typeface="Times New Roman"/>
                <a:cs typeface="Times New Roman"/>
              </a:rPr>
              <a:t> </a:t>
            </a:r>
            <a:r>
              <a:rPr sz="2400" spc="-5" dirty="0">
                <a:latin typeface="Times New Roman"/>
                <a:cs typeface="Times New Roman"/>
              </a:rPr>
              <a:t>used.</a:t>
            </a:r>
            <a:endParaRPr sz="2400">
              <a:latin typeface="Times New Roman"/>
              <a:cs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7390" y="1762760"/>
            <a:ext cx="7535545" cy="2515235"/>
          </a:xfrm>
          <a:prstGeom prst="rect">
            <a:avLst/>
          </a:prstGeom>
        </p:spPr>
        <p:txBody>
          <a:bodyPr vert="horz" wrap="square" lIns="0" tIns="75565" rIns="0" bIns="0" rtlCol="0">
            <a:spAutoFit/>
          </a:bodyPr>
          <a:lstStyle/>
          <a:p>
            <a:pPr marL="184150" indent="-171450">
              <a:lnSpc>
                <a:spcPct val="100000"/>
              </a:lnSpc>
              <a:spcBef>
                <a:spcPts val="595"/>
              </a:spcBef>
              <a:buFont typeface="Arial"/>
              <a:buChar char="•"/>
              <a:tabLst>
                <a:tab pos="184150" algn="l"/>
              </a:tabLst>
            </a:pPr>
            <a:r>
              <a:rPr sz="2100" dirty="0">
                <a:latin typeface="微软雅黑"/>
                <a:cs typeface="微软雅黑"/>
              </a:rPr>
              <a:t>装饰器模式：</a:t>
            </a:r>
            <a:endParaRPr sz="2100">
              <a:latin typeface="微软雅黑"/>
              <a:cs typeface="微软雅黑"/>
            </a:endParaRPr>
          </a:p>
          <a:p>
            <a:pPr marL="12700" marR="48260">
              <a:lnSpc>
                <a:spcPts val="2260"/>
              </a:lnSpc>
              <a:spcBef>
                <a:spcPts val="785"/>
              </a:spcBef>
            </a:pPr>
            <a:r>
              <a:rPr sz="2100" dirty="0">
                <a:latin typeface="微软雅黑"/>
                <a:cs typeface="微软雅黑"/>
              </a:rPr>
              <a:t>创建了一个装饰类，用来包装原有的类，并在保持类方法签名完 整性的前提下，提供了额外的功能。</a:t>
            </a:r>
            <a:endParaRPr sz="2100">
              <a:latin typeface="微软雅黑"/>
              <a:cs typeface="微软雅黑"/>
            </a:endParaRPr>
          </a:p>
          <a:p>
            <a:pPr marL="12700">
              <a:lnSpc>
                <a:spcPct val="100000"/>
              </a:lnSpc>
              <a:spcBef>
                <a:spcPts val="470"/>
              </a:spcBef>
            </a:pPr>
            <a:r>
              <a:rPr sz="2100" dirty="0">
                <a:latin typeface="微软雅黑"/>
                <a:cs typeface="微软雅黑"/>
              </a:rPr>
              <a:t>实现：</a:t>
            </a:r>
            <a:endParaRPr sz="2100">
              <a:latin typeface="微软雅黑"/>
              <a:cs typeface="微软雅黑"/>
            </a:endParaRPr>
          </a:p>
          <a:p>
            <a:pPr marL="90805">
              <a:lnSpc>
                <a:spcPct val="100000"/>
              </a:lnSpc>
              <a:spcBef>
                <a:spcPts val="495"/>
              </a:spcBef>
            </a:pPr>
            <a:r>
              <a:rPr sz="2100" spc="-5" dirty="0">
                <a:latin typeface="微软雅黑"/>
                <a:cs typeface="微软雅黑"/>
              </a:rPr>
              <a:t>1</a:t>
            </a:r>
            <a:r>
              <a:rPr sz="2100" dirty="0">
                <a:latin typeface="微软雅黑"/>
                <a:cs typeface="微软雅黑"/>
              </a:rPr>
              <a:t>、</a:t>
            </a:r>
            <a:r>
              <a:rPr sz="2100" spc="-5" dirty="0">
                <a:latin typeface="微软雅黑"/>
                <a:cs typeface="微软雅黑"/>
              </a:rPr>
              <a:t>Component</a:t>
            </a:r>
            <a:r>
              <a:rPr sz="2100" spc="-10" dirty="0">
                <a:latin typeface="微软雅黑"/>
                <a:cs typeface="微软雅黑"/>
              </a:rPr>
              <a:t> </a:t>
            </a:r>
            <a:r>
              <a:rPr sz="2100" dirty="0">
                <a:latin typeface="微软雅黑"/>
                <a:cs typeface="微软雅黑"/>
              </a:rPr>
              <a:t>类充当抽象角色，不应该具体实现。</a:t>
            </a:r>
            <a:endParaRPr sz="2100">
              <a:latin typeface="微软雅黑"/>
              <a:cs typeface="微软雅黑"/>
            </a:endParaRPr>
          </a:p>
          <a:p>
            <a:pPr marL="12700" marR="5080" indent="78740">
              <a:lnSpc>
                <a:spcPts val="2260"/>
              </a:lnSpc>
              <a:spcBef>
                <a:spcPts val="785"/>
              </a:spcBef>
            </a:pPr>
            <a:r>
              <a:rPr sz="2100" spc="-5" dirty="0">
                <a:latin typeface="微软雅黑"/>
                <a:cs typeface="微软雅黑"/>
              </a:rPr>
              <a:t>2</a:t>
            </a:r>
            <a:r>
              <a:rPr sz="2100" dirty="0">
                <a:latin typeface="微软雅黑"/>
                <a:cs typeface="微软雅黑"/>
              </a:rPr>
              <a:t>、修饰类引用和继承</a:t>
            </a:r>
            <a:r>
              <a:rPr sz="2100" spc="-45" dirty="0">
                <a:latin typeface="微软雅黑"/>
                <a:cs typeface="微软雅黑"/>
              </a:rPr>
              <a:t> </a:t>
            </a:r>
            <a:r>
              <a:rPr sz="2100" spc="-5" dirty="0">
                <a:latin typeface="微软雅黑"/>
                <a:cs typeface="微软雅黑"/>
              </a:rPr>
              <a:t>Component</a:t>
            </a:r>
            <a:r>
              <a:rPr sz="2100" spc="-40" dirty="0">
                <a:latin typeface="微软雅黑"/>
                <a:cs typeface="微软雅黑"/>
              </a:rPr>
              <a:t> </a:t>
            </a:r>
            <a:r>
              <a:rPr sz="2100" dirty="0">
                <a:latin typeface="微软雅黑"/>
                <a:cs typeface="微软雅黑"/>
              </a:rPr>
              <a:t>类，具体扩展类重写父类方 法。</a:t>
            </a:r>
            <a:endParaRPr sz="2100">
              <a:latin typeface="微软雅黑"/>
              <a:cs typeface="微软雅黑"/>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16963" y="1624583"/>
            <a:ext cx="6280403" cy="351835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7390" y="1131099"/>
            <a:ext cx="5714365" cy="2581275"/>
          </a:xfrm>
          <a:prstGeom prst="rect">
            <a:avLst/>
          </a:prstGeom>
        </p:spPr>
        <p:txBody>
          <a:bodyPr vert="horz" wrap="square" lIns="0" tIns="12700" rIns="0" bIns="0" rtlCol="0">
            <a:spAutoFit/>
          </a:bodyPr>
          <a:lstStyle/>
          <a:p>
            <a:pPr marL="12700">
              <a:lnSpc>
                <a:spcPct val="100000"/>
              </a:lnSpc>
              <a:spcBef>
                <a:spcPts val="100"/>
              </a:spcBef>
            </a:pPr>
            <a:r>
              <a:rPr sz="2400" dirty="0">
                <a:latin typeface="微软雅黑"/>
                <a:cs typeface="微软雅黑"/>
              </a:rPr>
              <a:t>步骤</a:t>
            </a:r>
            <a:endParaRPr sz="2400">
              <a:latin typeface="微软雅黑"/>
              <a:cs typeface="微软雅黑"/>
            </a:endParaRPr>
          </a:p>
          <a:p>
            <a:pPr marL="184150" indent="-171450">
              <a:lnSpc>
                <a:spcPct val="100000"/>
              </a:lnSpc>
              <a:spcBef>
                <a:spcPts val="2640"/>
              </a:spcBef>
              <a:buFont typeface="Arial"/>
              <a:buChar char="•"/>
              <a:tabLst>
                <a:tab pos="184150" algn="l"/>
              </a:tabLst>
            </a:pPr>
            <a:r>
              <a:rPr sz="2100" dirty="0">
                <a:latin typeface="微软雅黑"/>
                <a:cs typeface="微软雅黑"/>
              </a:rPr>
              <a:t>创建一个接口</a:t>
            </a:r>
            <a:endParaRPr sz="2100">
              <a:latin typeface="微软雅黑"/>
              <a:cs typeface="微软雅黑"/>
            </a:endParaRPr>
          </a:p>
          <a:p>
            <a:pPr marL="184150" indent="-171450">
              <a:lnSpc>
                <a:spcPct val="100000"/>
              </a:lnSpc>
              <a:spcBef>
                <a:spcPts val="495"/>
              </a:spcBef>
              <a:buFont typeface="Arial"/>
              <a:buChar char="•"/>
              <a:tabLst>
                <a:tab pos="184150" algn="l"/>
              </a:tabLst>
            </a:pPr>
            <a:r>
              <a:rPr sz="2100" dirty="0">
                <a:latin typeface="微软雅黑"/>
                <a:cs typeface="微软雅黑"/>
              </a:rPr>
              <a:t>创建实现接口的实体类</a:t>
            </a:r>
            <a:endParaRPr sz="2100">
              <a:latin typeface="微软雅黑"/>
              <a:cs typeface="微软雅黑"/>
            </a:endParaRPr>
          </a:p>
          <a:p>
            <a:pPr marL="184150" indent="-171450">
              <a:lnSpc>
                <a:spcPct val="100000"/>
              </a:lnSpc>
              <a:spcBef>
                <a:spcPts val="395"/>
              </a:spcBef>
              <a:buFont typeface="Arial"/>
              <a:buChar char="•"/>
              <a:tabLst>
                <a:tab pos="184150" algn="l"/>
              </a:tabLst>
            </a:pPr>
            <a:r>
              <a:rPr sz="2100" dirty="0">
                <a:latin typeface="微软雅黑"/>
                <a:cs typeface="微软雅黑"/>
              </a:rPr>
              <a:t>创建实现</a:t>
            </a:r>
            <a:r>
              <a:rPr sz="2100" spc="265" dirty="0">
                <a:latin typeface="微软雅黑"/>
                <a:cs typeface="微软雅黑"/>
              </a:rPr>
              <a:t>了</a:t>
            </a:r>
            <a:r>
              <a:rPr sz="2200" i="1" spc="-775" dirty="0">
                <a:latin typeface="微软雅黑"/>
                <a:cs typeface="微软雅黑"/>
              </a:rPr>
              <a:t>S</a:t>
            </a:r>
            <a:r>
              <a:rPr sz="2200" i="1" spc="-950" dirty="0">
                <a:latin typeface="微软雅黑"/>
                <a:cs typeface="微软雅黑"/>
              </a:rPr>
              <a:t>hap</a:t>
            </a:r>
            <a:r>
              <a:rPr sz="2200" i="1" spc="-155" dirty="0">
                <a:latin typeface="微软雅黑"/>
                <a:cs typeface="微软雅黑"/>
              </a:rPr>
              <a:t>e</a:t>
            </a:r>
            <a:r>
              <a:rPr sz="2100" dirty="0">
                <a:latin typeface="微软雅黑"/>
                <a:cs typeface="微软雅黑"/>
              </a:rPr>
              <a:t>接口的抽象装饰类</a:t>
            </a:r>
            <a:endParaRPr sz="2100">
              <a:latin typeface="微软雅黑"/>
              <a:cs typeface="微软雅黑"/>
            </a:endParaRPr>
          </a:p>
          <a:p>
            <a:pPr marL="184150" indent="-171450">
              <a:lnSpc>
                <a:spcPct val="100000"/>
              </a:lnSpc>
              <a:spcBef>
                <a:spcPts val="375"/>
              </a:spcBef>
              <a:buFont typeface="Arial"/>
              <a:buChar char="•"/>
              <a:tabLst>
                <a:tab pos="184150" algn="l"/>
              </a:tabLst>
            </a:pPr>
            <a:r>
              <a:rPr sz="2100" dirty="0">
                <a:latin typeface="微软雅黑"/>
                <a:cs typeface="微软雅黑"/>
              </a:rPr>
              <a:t>创建扩展</a:t>
            </a:r>
            <a:r>
              <a:rPr sz="2100" spc="265" dirty="0">
                <a:latin typeface="微软雅黑"/>
                <a:cs typeface="微软雅黑"/>
              </a:rPr>
              <a:t>了</a:t>
            </a:r>
            <a:r>
              <a:rPr sz="2200" i="1" spc="-775" dirty="0">
                <a:latin typeface="微软雅黑"/>
                <a:cs typeface="微软雅黑"/>
              </a:rPr>
              <a:t>S</a:t>
            </a:r>
            <a:r>
              <a:rPr sz="2200" i="1" spc="-950" dirty="0">
                <a:latin typeface="微软雅黑"/>
                <a:cs typeface="微软雅黑"/>
              </a:rPr>
              <a:t>h</a:t>
            </a:r>
            <a:r>
              <a:rPr sz="2200" i="1" spc="-955" dirty="0">
                <a:latin typeface="微软雅黑"/>
                <a:cs typeface="微软雅黑"/>
              </a:rPr>
              <a:t>apeDe</a:t>
            </a:r>
            <a:r>
              <a:rPr sz="2200" i="1" spc="-940" dirty="0">
                <a:latin typeface="微软雅黑"/>
                <a:cs typeface="微软雅黑"/>
              </a:rPr>
              <a:t>c</a:t>
            </a:r>
            <a:r>
              <a:rPr sz="2200" i="1" spc="-944" dirty="0">
                <a:latin typeface="微软雅黑"/>
                <a:cs typeface="微软雅黑"/>
              </a:rPr>
              <a:t>ora</a:t>
            </a:r>
            <a:r>
              <a:rPr sz="2200" i="1" spc="-950" dirty="0">
                <a:latin typeface="微软雅黑"/>
                <a:cs typeface="微软雅黑"/>
              </a:rPr>
              <a:t>t</a:t>
            </a:r>
            <a:r>
              <a:rPr sz="2200" i="1" spc="-955" dirty="0">
                <a:latin typeface="微软雅黑"/>
                <a:cs typeface="微软雅黑"/>
              </a:rPr>
              <a:t>o</a:t>
            </a:r>
            <a:r>
              <a:rPr sz="2200" i="1" spc="-135" dirty="0">
                <a:latin typeface="微软雅黑"/>
                <a:cs typeface="微软雅黑"/>
              </a:rPr>
              <a:t>r</a:t>
            </a:r>
            <a:r>
              <a:rPr sz="2100" dirty="0">
                <a:latin typeface="微软雅黑"/>
                <a:cs typeface="微软雅黑"/>
              </a:rPr>
              <a:t>类的实体装饰类</a:t>
            </a:r>
            <a:endParaRPr sz="2100">
              <a:latin typeface="微软雅黑"/>
              <a:cs typeface="微软雅黑"/>
            </a:endParaRPr>
          </a:p>
          <a:p>
            <a:pPr marL="184150" indent="-171450">
              <a:lnSpc>
                <a:spcPct val="100000"/>
              </a:lnSpc>
              <a:spcBef>
                <a:spcPts val="375"/>
              </a:spcBef>
              <a:buFont typeface="Arial"/>
              <a:buChar char="•"/>
              <a:tabLst>
                <a:tab pos="184150" algn="l"/>
              </a:tabLst>
            </a:pPr>
            <a:r>
              <a:rPr sz="2100" dirty="0">
                <a:latin typeface="微软雅黑"/>
                <a:cs typeface="微软雅黑"/>
              </a:rPr>
              <a:t>使</a:t>
            </a:r>
            <a:r>
              <a:rPr sz="2100" spc="265" dirty="0">
                <a:latin typeface="微软雅黑"/>
                <a:cs typeface="微软雅黑"/>
              </a:rPr>
              <a:t>用</a:t>
            </a:r>
            <a:r>
              <a:rPr sz="2200" i="1" spc="-885" dirty="0">
                <a:latin typeface="微软雅黑"/>
                <a:cs typeface="微软雅黑"/>
              </a:rPr>
              <a:t>RedShapeDecorator</a:t>
            </a:r>
            <a:r>
              <a:rPr sz="2100" dirty="0">
                <a:latin typeface="微软雅黑"/>
                <a:cs typeface="微软雅黑"/>
              </a:rPr>
              <a:t>来装饰</a:t>
            </a:r>
            <a:r>
              <a:rPr sz="2100" spc="-185" dirty="0">
                <a:latin typeface="微软雅黑"/>
                <a:cs typeface="微软雅黑"/>
              </a:rPr>
              <a:t> </a:t>
            </a:r>
            <a:r>
              <a:rPr sz="2200" i="1" spc="-790" dirty="0">
                <a:latin typeface="微软雅黑"/>
                <a:cs typeface="微软雅黑"/>
              </a:rPr>
              <a:t>Shape</a:t>
            </a:r>
            <a:r>
              <a:rPr sz="2100" dirty="0">
                <a:latin typeface="微软雅黑"/>
                <a:cs typeface="微软雅黑"/>
              </a:rPr>
              <a:t>对象</a:t>
            </a:r>
            <a:endParaRPr sz="2100">
              <a:latin typeface="微软雅黑"/>
              <a:cs typeface="微软雅黑"/>
            </a:endParaRPr>
          </a:p>
        </p:txBody>
      </p:sp>
      <p:sp>
        <p:nvSpPr>
          <p:cNvPr id="3" name="object 3"/>
          <p:cNvSpPr txBox="1"/>
          <p:nvPr/>
        </p:nvSpPr>
        <p:spPr>
          <a:xfrm>
            <a:off x="1986279" y="4465320"/>
            <a:ext cx="303085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微软雅黑"/>
                <a:cs typeface="微软雅黑"/>
              </a:rPr>
              <a:t>Example：decoratorpattern</a:t>
            </a:r>
            <a:endParaRPr sz="1800">
              <a:latin typeface="微软雅黑"/>
              <a:cs typeface="微软雅黑"/>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3652" y="370700"/>
            <a:ext cx="350266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12.5	RandomAccessFile</a:t>
            </a:r>
            <a:r>
              <a:rPr sz="2100" dirty="0"/>
              <a:t>类</a:t>
            </a:r>
            <a:endParaRPr sz="2100"/>
          </a:p>
        </p:txBody>
      </p:sp>
      <p:sp>
        <p:nvSpPr>
          <p:cNvPr id="3" name="object 3"/>
          <p:cNvSpPr/>
          <p:nvPr/>
        </p:nvSpPr>
        <p:spPr>
          <a:xfrm>
            <a:off x="1007363" y="1417319"/>
            <a:ext cx="7129272" cy="4968240"/>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60</a:t>
            </a:fld>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57747"/>
            <a:ext cx="7910830" cy="2423795"/>
          </a:xfrm>
          <a:prstGeom prst="rect">
            <a:avLst/>
          </a:prstGeom>
        </p:spPr>
        <p:txBody>
          <a:bodyPr vert="horz" wrap="square" lIns="0" tIns="36195" rIns="0" bIns="0" rtlCol="0">
            <a:spAutoFit/>
          </a:bodyPr>
          <a:lstStyle/>
          <a:p>
            <a:pPr marL="436245" indent="-423545">
              <a:lnSpc>
                <a:spcPct val="100000"/>
              </a:lnSpc>
              <a:spcBef>
                <a:spcPts val="285"/>
              </a:spcBef>
              <a:buSzPct val="95238"/>
              <a:buAutoNum type="arabicPeriod"/>
              <a:tabLst>
                <a:tab pos="436245" algn="l"/>
              </a:tabLst>
            </a:pPr>
            <a:r>
              <a:rPr sz="2100" spc="-5" dirty="0">
                <a:latin typeface="微软雅黑"/>
                <a:cs typeface="微软雅黑"/>
              </a:rPr>
              <a:t>RandomAccessFile</a:t>
            </a:r>
            <a:r>
              <a:rPr sz="2100" dirty="0">
                <a:latin typeface="微软雅黑"/>
                <a:cs typeface="微软雅黑"/>
              </a:rPr>
              <a:t>的特点</a:t>
            </a:r>
            <a:endParaRPr sz="2100">
              <a:latin typeface="微软雅黑"/>
              <a:cs typeface="微软雅黑"/>
            </a:endParaRPr>
          </a:p>
          <a:p>
            <a:pPr marL="417195" lvl="1" indent="-171450">
              <a:lnSpc>
                <a:spcPct val="100000"/>
              </a:lnSpc>
              <a:spcBef>
                <a:spcPts val="160"/>
              </a:spcBef>
              <a:buFont typeface="Arial"/>
              <a:buChar char="•"/>
              <a:tabLst>
                <a:tab pos="417195" algn="l"/>
              </a:tabLst>
            </a:pPr>
            <a:r>
              <a:rPr sz="1800" spc="-5" dirty="0">
                <a:latin typeface="微软雅黑"/>
                <a:cs typeface="微软雅黑"/>
              </a:rPr>
              <a:t>RandomAccessFile</a:t>
            </a:r>
            <a:r>
              <a:rPr sz="1800" dirty="0">
                <a:latin typeface="微软雅黑"/>
                <a:cs typeface="微软雅黑"/>
              </a:rPr>
              <a:t>类以字节为单位进行文件内容的存取。</a:t>
            </a:r>
            <a:endParaRPr sz="1800">
              <a:latin typeface="微软雅黑"/>
              <a:cs typeface="微软雅黑"/>
            </a:endParaRPr>
          </a:p>
          <a:p>
            <a:pPr lvl="1">
              <a:lnSpc>
                <a:spcPct val="100000"/>
              </a:lnSpc>
              <a:spcBef>
                <a:spcPts val="40"/>
              </a:spcBef>
              <a:buChar char="•"/>
            </a:pPr>
            <a:endParaRPr sz="1450">
              <a:latin typeface="微软雅黑"/>
              <a:cs typeface="微软雅黑"/>
            </a:endParaRPr>
          </a:p>
          <a:p>
            <a:pPr marL="417195" marR="154305" lvl="1" indent="-171450">
              <a:lnSpc>
                <a:spcPts val="2160"/>
              </a:lnSpc>
              <a:buFont typeface="Arial"/>
              <a:buChar char="•"/>
              <a:tabLst>
                <a:tab pos="417195" algn="l"/>
              </a:tabLst>
            </a:pPr>
            <a:r>
              <a:rPr sz="2000" spc="-5" dirty="0">
                <a:latin typeface="微软雅黑"/>
                <a:cs typeface="微软雅黑"/>
              </a:rPr>
              <a:t>（1）</a:t>
            </a:r>
            <a:r>
              <a:rPr sz="2000" spc="-5" dirty="0">
                <a:solidFill>
                  <a:srgbClr val="FF0000"/>
                </a:solidFill>
                <a:latin typeface="微软雅黑"/>
                <a:cs typeface="微软雅黑"/>
              </a:rPr>
              <a:t>RandomAccessFile</a:t>
            </a:r>
            <a:r>
              <a:rPr sz="2000" dirty="0">
                <a:solidFill>
                  <a:srgbClr val="FF0000"/>
                </a:solidFill>
                <a:latin typeface="微软雅黑"/>
                <a:cs typeface="微软雅黑"/>
              </a:rPr>
              <a:t>提供了文件的“随机访问”方式，</a:t>
            </a:r>
            <a:r>
              <a:rPr sz="2000" spc="5" dirty="0">
                <a:solidFill>
                  <a:srgbClr val="FF0000"/>
                </a:solidFill>
                <a:latin typeface="微软雅黑"/>
                <a:cs typeface="微软雅黑"/>
              </a:rPr>
              <a:t>在 </a:t>
            </a:r>
            <a:r>
              <a:rPr sz="2000" spc="-5" dirty="0">
                <a:solidFill>
                  <a:srgbClr val="FF0000"/>
                </a:solidFill>
                <a:latin typeface="微软雅黑"/>
                <a:cs typeface="微软雅黑"/>
              </a:rPr>
              <a:t>Ra</a:t>
            </a:r>
            <a:r>
              <a:rPr sz="2000" spc="-10" dirty="0">
                <a:solidFill>
                  <a:srgbClr val="FF0000"/>
                </a:solidFill>
                <a:latin typeface="微软雅黑"/>
                <a:cs typeface="微软雅黑"/>
              </a:rPr>
              <a:t>n</a:t>
            </a:r>
            <a:r>
              <a:rPr sz="2000" spc="-5" dirty="0">
                <a:solidFill>
                  <a:srgbClr val="FF0000"/>
                </a:solidFill>
                <a:latin typeface="微软雅黑"/>
                <a:cs typeface="微软雅黑"/>
              </a:rPr>
              <a:t>dom</a:t>
            </a:r>
            <a:r>
              <a:rPr sz="2000" spc="-10" dirty="0">
                <a:solidFill>
                  <a:srgbClr val="FF0000"/>
                </a:solidFill>
                <a:latin typeface="微软雅黑"/>
                <a:cs typeface="微软雅黑"/>
              </a:rPr>
              <a:t>A</a:t>
            </a:r>
            <a:r>
              <a:rPr sz="2000" spc="-5" dirty="0">
                <a:solidFill>
                  <a:srgbClr val="FF0000"/>
                </a:solidFill>
                <a:latin typeface="微软雅黑"/>
                <a:cs typeface="微软雅黑"/>
              </a:rPr>
              <a:t>ccessFile类中定义了文件记录指针，标识当前正在读</a:t>
            </a:r>
            <a:r>
              <a:rPr sz="2000" dirty="0">
                <a:solidFill>
                  <a:srgbClr val="FF0000"/>
                </a:solidFill>
                <a:latin typeface="微软雅黑"/>
                <a:cs typeface="微软雅黑"/>
              </a:rPr>
              <a:t>写 的位置，它可以指向文件中的任意位置</a:t>
            </a:r>
            <a:r>
              <a:rPr sz="2000" spc="5" dirty="0">
                <a:solidFill>
                  <a:srgbClr val="FF0000"/>
                </a:solidFill>
                <a:latin typeface="微软雅黑"/>
                <a:cs typeface="微软雅黑"/>
              </a:rPr>
              <a:t>。</a:t>
            </a:r>
            <a:endParaRPr sz="2000">
              <a:latin typeface="微软雅黑"/>
              <a:cs typeface="微软雅黑"/>
            </a:endParaRPr>
          </a:p>
          <a:p>
            <a:pPr marL="417195" marR="5080" lvl="1" indent="-171450">
              <a:lnSpc>
                <a:spcPts val="2160"/>
              </a:lnSpc>
              <a:spcBef>
                <a:spcPts val="375"/>
              </a:spcBef>
              <a:buFont typeface="Arial"/>
              <a:buChar char="•"/>
              <a:tabLst>
                <a:tab pos="417195" algn="l"/>
              </a:tabLst>
            </a:pPr>
            <a:r>
              <a:rPr sz="2000" spc="-5" dirty="0">
                <a:latin typeface="微软雅黑"/>
                <a:cs typeface="微软雅黑"/>
              </a:rPr>
              <a:t>（2）Ra</a:t>
            </a:r>
            <a:r>
              <a:rPr sz="2000" spc="-10" dirty="0">
                <a:latin typeface="微软雅黑"/>
                <a:cs typeface="微软雅黑"/>
              </a:rPr>
              <a:t>n</a:t>
            </a:r>
            <a:r>
              <a:rPr sz="2000" spc="-5" dirty="0">
                <a:latin typeface="微软雅黑"/>
                <a:cs typeface="微软雅黑"/>
              </a:rPr>
              <a:t>dom</a:t>
            </a:r>
            <a:r>
              <a:rPr sz="2000" spc="-10" dirty="0">
                <a:latin typeface="微软雅黑"/>
                <a:cs typeface="微软雅黑"/>
              </a:rPr>
              <a:t>A</a:t>
            </a:r>
            <a:r>
              <a:rPr sz="2000" spc="-5" dirty="0">
                <a:latin typeface="微软雅黑"/>
                <a:cs typeface="微软雅黑"/>
              </a:rPr>
              <a:t>ccessFile既可以读取文件的内容，也可以向文件</a:t>
            </a:r>
            <a:r>
              <a:rPr sz="2000" dirty="0">
                <a:latin typeface="微软雅黑"/>
                <a:cs typeface="微软雅黑"/>
              </a:rPr>
              <a:t>输 出数据，集读、写功能于一身</a:t>
            </a:r>
            <a:r>
              <a:rPr sz="2000" spc="5" dirty="0">
                <a:latin typeface="微软雅黑"/>
                <a:cs typeface="微软雅黑"/>
              </a:rPr>
              <a:t>。</a:t>
            </a:r>
            <a:endParaRPr sz="20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61</a:t>
            </a:fld>
            <a:endParaRPr dirty="0"/>
          </a:p>
        </p:txBody>
      </p:sp>
      <p:sp>
        <p:nvSpPr>
          <p:cNvPr id="3" name="object 3"/>
          <p:cNvSpPr txBox="1">
            <a:spLocks noGrp="1"/>
          </p:cNvSpPr>
          <p:nvPr>
            <p:ph type="title"/>
          </p:nvPr>
        </p:nvSpPr>
        <p:spPr>
          <a:xfrm>
            <a:off x="1283652" y="370700"/>
            <a:ext cx="350266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12.5	RandomAccessFile</a:t>
            </a:r>
            <a:r>
              <a:rPr sz="2100" dirty="0"/>
              <a:t>类</a:t>
            </a:r>
            <a:endParaRPr sz="2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81454"/>
            <a:ext cx="4413250" cy="721360"/>
          </a:xfrm>
          <a:prstGeom prst="rect">
            <a:avLst/>
          </a:prstGeom>
        </p:spPr>
        <p:txBody>
          <a:bodyPr vert="horz" wrap="square" lIns="0" tIns="12700" rIns="0" bIns="0" rtlCol="0">
            <a:spAutoFit/>
          </a:bodyPr>
          <a:lstStyle/>
          <a:p>
            <a:pPr marL="436245" indent="-423545">
              <a:lnSpc>
                <a:spcPct val="100000"/>
              </a:lnSpc>
              <a:spcBef>
                <a:spcPts val="100"/>
              </a:spcBef>
              <a:buSzPct val="95238"/>
              <a:buAutoNum type="arabicPeriod" startAt="2"/>
              <a:tabLst>
                <a:tab pos="436245" algn="l"/>
              </a:tabLst>
            </a:pPr>
            <a:r>
              <a:rPr sz="2100" spc="-5" dirty="0">
                <a:latin typeface="微软雅黑"/>
                <a:cs typeface="微软雅黑"/>
              </a:rPr>
              <a:t>RandomAccessFile</a:t>
            </a:r>
            <a:r>
              <a:rPr sz="2100" dirty="0">
                <a:latin typeface="微软雅黑"/>
                <a:cs typeface="微软雅黑"/>
              </a:rPr>
              <a:t>中的读写方法</a:t>
            </a:r>
            <a:endParaRPr sz="2100">
              <a:latin typeface="微软雅黑"/>
              <a:cs typeface="微软雅黑"/>
            </a:endParaRPr>
          </a:p>
          <a:p>
            <a:pPr marL="417195" lvl="1" indent="-171450">
              <a:lnSpc>
                <a:spcPct val="100000"/>
              </a:lnSpc>
              <a:spcBef>
                <a:spcPts val="80"/>
              </a:spcBef>
              <a:buFont typeface="Arial"/>
              <a:buChar char="•"/>
              <a:tabLst>
                <a:tab pos="417195" algn="l"/>
              </a:tabLst>
            </a:pPr>
            <a:r>
              <a:rPr sz="2400" dirty="0">
                <a:latin typeface="微软雅黑"/>
                <a:cs typeface="微软雅黑"/>
              </a:rPr>
              <a:t>查看</a:t>
            </a:r>
            <a:r>
              <a:rPr sz="2400" spc="-5" dirty="0">
                <a:latin typeface="微软雅黑"/>
                <a:cs typeface="微软雅黑"/>
              </a:rPr>
              <a:t>API</a:t>
            </a:r>
            <a:r>
              <a:rPr sz="2400" dirty="0">
                <a:latin typeface="微软雅黑"/>
                <a:cs typeface="微软雅黑"/>
              </a:rPr>
              <a:t>文档</a:t>
            </a:r>
            <a:endParaRPr sz="24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62</a:t>
            </a:fld>
            <a:endParaRPr dirty="0"/>
          </a:p>
        </p:txBody>
      </p:sp>
      <p:sp>
        <p:nvSpPr>
          <p:cNvPr id="3" name="object 3"/>
          <p:cNvSpPr txBox="1"/>
          <p:nvPr/>
        </p:nvSpPr>
        <p:spPr>
          <a:xfrm>
            <a:off x="78739" y="2990097"/>
            <a:ext cx="7871459" cy="1924050"/>
          </a:xfrm>
          <a:prstGeom prst="rect">
            <a:avLst/>
          </a:prstGeom>
        </p:spPr>
        <p:txBody>
          <a:bodyPr vert="horz" wrap="square" lIns="0" tIns="29209" rIns="0" bIns="0" rtlCol="0">
            <a:spAutoFit/>
          </a:bodyPr>
          <a:lstStyle/>
          <a:p>
            <a:pPr marL="184150" indent="-171450">
              <a:lnSpc>
                <a:spcPct val="100000"/>
              </a:lnSpc>
              <a:spcBef>
                <a:spcPts val="229"/>
              </a:spcBef>
              <a:buFont typeface="Arial"/>
              <a:buChar char="•"/>
              <a:tabLst>
                <a:tab pos="184150" algn="l"/>
              </a:tabLst>
            </a:pPr>
            <a:r>
              <a:rPr sz="2100" spc="-5" dirty="0">
                <a:latin typeface="微软雅黑"/>
                <a:cs typeface="微软雅黑"/>
              </a:rPr>
              <a:t>3</a:t>
            </a:r>
            <a:r>
              <a:rPr sz="2100" dirty="0">
                <a:latin typeface="微软雅黑"/>
                <a:cs typeface="微软雅黑"/>
              </a:rPr>
              <a:t>、</a:t>
            </a:r>
            <a:r>
              <a:rPr sz="2100" spc="-5" dirty="0">
                <a:latin typeface="微软雅黑"/>
                <a:cs typeface="微软雅黑"/>
              </a:rPr>
              <a:t>RandomAccessFile</a:t>
            </a:r>
            <a:r>
              <a:rPr sz="2100" dirty="0">
                <a:latin typeface="微软雅黑"/>
                <a:cs typeface="微软雅黑"/>
              </a:rPr>
              <a:t>中的其他方法</a:t>
            </a:r>
            <a:endParaRPr sz="2100">
              <a:latin typeface="微软雅黑"/>
              <a:cs typeface="微软雅黑"/>
            </a:endParaRPr>
          </a:p>
          <a:p>
            <a:pPr marL="527050" lvl="1" indent="-171450">
              <a:lnSpc>
                <a:spcPct val="100000"/>
              </a:lnSpc>
              <a:spcBef>
                <a:spcPts val="130"/>
              </a:spcBef>
              <a:buFont typeface="Arial"/>
              <a:buChar char="•"/>
              <a:tabLst>
                <a:tab pos="527050" algn="l"/>
              </a:tabLst>
            </a:pPr>
            <a:r>
              <a:rPr sz="2000" spc="-5" dirty="0">
                <a:latin typeface="微软雅黑"/>
                <a:cs typeface="微软雅黑"/>
              </a:rPr>
              <a:t>long</a:t>
            </a:r>
            <a:r>
              <a:rPr sz="2000" spc="-10" dirty="0">
                <a:latin typeface="微软雅黑"/>
                <a:cs typeface="微软雅黑"/>
              </a:rPr>
              <a:t> getFilePointer()：</a:t>
            </a:r>
            <a:r>
              <a:rPr sz="2000" dirty="0">
                <a:latin typeface="微软雅黑"/>
                <a:cs typeface="微软雅黑"/>
              </a:rPr>
              <a:t>返回文件记录指针的当前位置</a:t>
            </a:r>
            <a:r>
              <a:rPr sz="2000" spc="5" dirty="0">
                <a:latin typeface="微软雅黑"/>
                <a:cs typeface="微软雅黑"/>
              </a:rPr>
              <a:t>。</a:t>
            </a:r>
            <a:endParaRPr sz="2000">
              <a:latin typeface="微软雅黑"/>
              <a:cs typeface="微软雅黑"/>
            </a:endParaRPr>
          </a:p>
          <a:p>
            <a:pPr marL="527050" lvl="1" indent="-171450">
              <a:lnSpc>
                <a:spcPct val="100000"/>
              </a:lnSpc>
              <a:spcBef>
                <a:spcPts val="135"/>
              </a:spcBef>
              <a:buFont typeface="Arial"/>
              <a:buChar char="•"/>
              <a:tabLst>
                <a:tab pos="527050" algn="l"/>
              </a:tabLst>
            </a:pPr>
            <a:r>
              <a:rPr sz="2000" spc="-5" dirty="0">
                <a:latin typeface="微软雅黑"/>
                <a:cs typeface="微软雅黑"/>
              </a:rPr>
              <a:t>void</a:t>
            </a:r>
            <a:r>
              <a:rPr sz="2000" spc="-10" dirty="0">
                <a:latin typeface="微软雅黑"/>
                <a:cs typeface="微软雅黑"/>
              </a:rPr>
              <a:t> </a:t>
            </a:r>
            <a:r>
              <a:rPr sz="2000" spc="-5" dirty="0">
                <a:latin typeface="微软雅黑"/>
                <a:cs typeface="微软雅黑"/>
              </a:rPr>
              <a:t>seek(long</a:t>
            </a:r>
            <a:r>
              <a:rPr sz="2000" spc="-10" dirty="0">
                <a:latin typeface="微软雅黑"/>
                <a:cs typeface="微软雅黑"/>
              </a:rPr>
              <a:t> </a:t>
            </a:r>
            <a:r>
              <a:rPr sz="2000" spc="-5" dirty="0">
                <a:latin typeface="微软雅黑"/>
                <a:cs typeface="微软雅黑"/>
              </a:rPr>
              <a:t>pos)：</a:t>
            </a:r>
            <a:r>
              <a:rPr sz="2000" dirty="0">
                <a:latin typeface="微软雅黑"/>
                <a:cs typeface="微软雅黑"/>
              </a:rPr>
              <a:t>将文件记录指针定位在</a:t>
            </a:r>
            <a:r>
              <a:rPr sz="2000" spc="-5" dirty="0">
                <a:latin typeface="微软雅黑"/>
                <a:cs typeface="微软雅黑"/>
              </a:rPr>
              <a:t>pos</a:t>
            </a:r>
            <a:r>
              <a:rPr sz="2000" dirty="0">
                <a:latin typeface="微软雅黑"/>
                <a:cs typeface="微软雅黑"/>
              </a:rPr>
              <a:t>位置</a:t>
            </a:r>
            <a:r>
              <a:rPr sz="2000" spc="5" dirty="0">
                <a:latin typeface="微软雅黑"/>
                <a:cs typeface="微软雅黑"/>
              </a:rPr>
              <a:t>。</a:t>
            </a:r>
            <a:endParaRPr sz="2000">
              <a:latin typeface="微软雅黑"/>
              <a:cs typeface="微软雅黑"/>
            </a:endParaRPr>
          </a:p>
          <a:p>
            <a:pPr lvl="1">
              <a:lnSpc>
                <a:spcPct val="100000"/>
              </a:lnSpc>
              <a:spcBef>
                <a:spcPts val="85"/>
              </a:spcBef>
              <a:buFont typeface="Arial"/>
              <a:buChar char="•"/>
            </a:pPr>
            <a:endParaRPr sz="1550">
              <a:latin typeface="微软雅黑"/>
              <a:cs typeface="微软雅黑"/>
            </a:endParaRPr>
          </a:p>
          <a:p>
            <a:pPr marL="527050" marR="5080" lvl="1" indent="-171450">
              <a:lnSpc>
                <a:spcPts val="2160"/>
              </a:lnSpc>
              <a:buFont typeface="Arial"/>
              <a:buChar char="•"/>
              <a:tabLst>
                <a:tab pos="527050" algn="l"/>
              </a:tabLst>
            </a:pPr>
            <a:r>
              <a:rPr sz="2000" spc="-5" dirty="0">
                <a:latin typeface="微软雅黑"/>
                <a:cs typeface="微软雅黑"/>
              </a:rPr>
              <a:t>通过它们可以获取和操作文件记录指针，实现Ra</a:t>
            </a:r>
            <a:r>
              <a:rPr sz="2000" spc="-10" dirty="0">
                <a:latin typeface="微软雅黑"/>
                <a:cs typeface="微软雅黑"/>
              </a:rPr>
              <a:t>n</a:t>
            </a:r>
            <a:r>
              <a:rPr sz="2000" spc="-5" dirty="0">
                <a:latin typeface="微软雅黑"/>
                <a:cs typeface="微软雅黑"/>
              </a:rPr>
              <a:t>dom</a:t>
            </a:r>
            <a:r>
              <a:rPr sz="2000" spc="-10" dirty="0">
                <a:latin typeface="微软雅黑"/>
                <a:cs typeface="微软雅黑"/>
              </a:rPr>
              <a:t>A</a:t>
            </a:r>
            <a:r>
              <a:rPr sz="2000" spc="-5" dirty="0">
                <a:latin typeface="微软雅黑"/>
                <a:cs typeface="微软雅黑"/>
              </a:rPr>
              <a:t>ccessFil</a:t>
            </a:r>
            <a:r>
              <a:rPr sz="2000" dirty="0">
                <a:latin typeface="微软雅黑"/>
                <a:cs typeface="微软雅黑"/>
              </a:rPr>
              <a:t>e 与众不同的定位随机访问</a:t>
            </a:r>
            <a:r>
              <a:rPr sz="2000" spc="5" dirty="0">
                <a:latin typeface="微软雅黑"/>
                <a:cs typeface="微软雅黑"/>
              </a:rPr>
              <a:t>。</a:t>
            </a:r>
            <a:endParaRPr sz="2000">
              <a:latin typeface="微软雅黑"/>
              <a:cs typeface="微软雅黑"/>
            </a:endParaRPr>
          </a:p>
        </p:txBody>
      </p:sp>
      <p:sp>
        <p:nvSpPr>
          <p:cNvPr id="4" name="object 4"/>
          <p:cNvSpPr txBox="1">
            <a:spLocks noGrp="1"/>
          </p:cNvSpPr>
          <p:nvPr>
            <p:ph type="title"/>
          </p:nvPr>
        </p:nvSpPr>
        <p:spPr>
          <a:xfrm>
            <a:off x="1283652" y="370700"/>
            <a:ext cx="350266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12.5	RandomAccessFile</a:t>
            </a:r>
            <a:r>
              <a:rPr sz="2100" dirty="0"/>
              <a:t>类</a:t>
            </a:r>
            <a:endParaRPr sz="21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57747"/>
            <a:ext cx="7943215" cy="1744980"/>
          </a:xfrm>
          <a:prstGeom prst="rect">
            <a:avLst/>
          </a:prstGeom>
        </p:spPr>
        <p:txBody>
          <a:bodyPr vert="horz" wrap="square" lIns="0" tIns="36195" rIns="0" bIns="0" rtlCol="0">
            <a:spAutoFit/>
          </a:bodyPr>
          <a:lstStyle/>
          <a:p>
            <a:pPr marL="436245" indent="-423545">
              <a:lnSpc>
                <a:spcPct val="100000"/>
              </a:lnSpc>
              <a:spcBef>
                <a:spcPts val="285"/>
              </a:spcBef>
              <a:buSzPct val="95238"/>
              <a:buAutoNum type="arabicPeriod" startAt="4"/>
              <a:tabLst>
                <a:tab pos="436245" algn="l"/>
              </a:tabLst>
            </a:pPr>
            <a:r>
              <a:rPr sz="2100" spc="-5" dirty="0">
                <a:latin typeface="微软雅黑"/>
                <a:cs typeface="微软雅黑"/>
              </a:rPr>
              <a:t>RandomAccessFile</a:t>
            </a:r>
            <a:r>
              <a:rPr sz="2100" dirty="0">
                <a:latin typeface="微软雅黑"/>
                <a:cs typeface="微软雅黑"/>
              </a:rPr>
              <a:t>的常用访问方式</a:t>
            </a:r>
            <a:endParaRPr sz="2100">
              <a:latin typeface="微软雅黑"/>
              <a:cs typeface="微软雅黑"/>
            </a:endParaRPr>
          </a:p>
          <a:p>
            <a:pPr marL="417195" marR="5080" lvl="1" indent="-171450">
              <a:lnSpc>
                <a:spcPts val="1939"/>
              </a:lnSpc>
              <a:spcBef>
                <a:spcPts val="409"/>
              </a:spcBef>
              <a:buFont typeface="Arial"/>
              <a:buChar char="•"/>
              <a:tabLst>
                <a:tab pos="417195" algn="l"/>
              </a:tabLst>
            </a:pPr>
            <a:r>
              <a:rPr sz="1800" dirty="0">
                <a:latin typeface="微软雅黑"/>
                <a:cs typeface="微软雅黑"/>
              </a:rPr>
              <a:t>创建</a:t>
            </a:r>
            <a:r>
              <a:rPr sz="1800" spc="-5" dirty="0">
                <a:latin typeface="微软雅黑"/>
                <a:cs typeface="微软雅黑"/>
              </a:rPr>
              <a:t>R</a:t>
            </a:r>
            <a:r>
              <a:rPr sz="1800" dirty="0">
                <a:latin typeface="微软雅黑"/>
                <a:cs typeface="微软雅黑"/>
              </a:rPr>
              <a:t>an</a:t>
            </a:r>
            <a:r>
              <a:rPr sz="1800" spc="-5" dirty="0">
                <a:latin typeface="微软雅黑"/>
                <a:cs typeface="微软雅黑"/>
              </a:rPr>
              <a:t>d</a:t>
            </a:r>
            <a:r>
              <a:rPr sz="1800" dirty="0">
                <a:latin typeface="微软雅黑"/>
                <a:cs typeface="微软雅黑"/>
              </a:rPr>
              <a:t>o</a:t>
            </a:r>
            <a:r>
              <a:rPr sz="1800" spc="-5" dirty="0">
                <a:latin typeface="微软雅黑"/>
                <a:cs typeface="微软雅黑"/>
              </a:rPr>
              <a:t>mA</a:t>
            </a:r>
            <a:r>
              <a:rPr sz="1800" dirty="0">
                <a:latin typeface="微软雅黑"/>
                <a:cs typeface="微软雅黑"/>
              </a:rPr>
              <a:t>cc</a:t>
            </a:r>
            <a:r>
              <a:rPr sz="1800" spc="-5" dirty="0">
                <a:latin typeface="微软雅黑"/>
                <a:cs typeface="微软雅黑"/>
              </a:rPr>
              <a:t>e</a:t>
            </a:r>
            <a:r>
              <a:rPr sz="1800" dirty="0">
                <a:latin typeface="微软雅黑"/>
                <a:cs typeface="微软雅黑"/>
              </a:rPr>
              <a:t>ss</a:t>
            </a:r>
            <a:r>
              <a:rPr sz="1800" spc="-5" dirty="0">
                <a:latin typeface="微软雅黑"/>
                <a:cs typeface="微软雅黑"/>
              </a:rPr>
              <a:t>F</a:t>
            </a:r>
            <a:r>
              <a:rPr sz="1800" dirty="0">
                <a:latin typeface="微软雅黑"/>
                <a:cs typeface="微软雅黑"/>
              </a:rPr>
              <a:t>il</a:t>
            </a:r>
            <a:r>
              <a:rPr sz="1800" spc="-5" dirty="0">
                <a:latin typeface="微软雅黑"/>
                <a:cs typeface="微软雅黑"/>
              </a:rPr>
              <a:t>e</a:t>
            </a:r>
            <a:r>
              <a:rPr sz="1800" dirty="0">
                <a:latin typeface="微软雅黑"/>
                <a:cs typeface="微软雅黑"/>
              </a:rPr>
              <a:t>对象时，需要指定文件的访问方式，常用的包括下 面两种：</a:t>
            </a:r>
            <a:endParaRPr sz="1800">
              <a:latin typeface="微软雅黑"/>
              <a:cs typeface="微软雅黑"/>
            </a:endParaRPr>
          </a:p>
          <a:p>
            <a:pPr marL="417195" lvl="1" indent="-171450">
              <a:lnSpc>
                <a:spcPct val="100000"/>
              </a:lnSpc>
              <a:spcBef>
                <a:spcPts val="125"/>
              </a:spcBef>
              <a:buFont typeface="Arial"/>
              <a:buChar char="•"/>
              <a:tabLst>
                <a:tab pos="417195" algn="l"/>
              </a:tabLst>
            </a:pPr>
            <a:r>
              <a:rPr sz="1800" spc="-5" dirty="0">
                <a:latin typeface="微软雅黑"/>
                <a:cs typeface="微软雅黑"/>
              </a:rPr>
              <a:t>“r”：</a:t>
            </a:r>
            <a:r>
              <a:rPr sz="1800" dirty="0">
                <a:latin typeface="微软雅黑"/>
                <a:cs typeface="微软雅黑"/>
              </a:rPr>
              <a:t>以只读方式打开指定文件。</a:t>
            </a:r>
            <a:endParaRPr sz="1800">
              <a:latin typeface="微软雅黑"/>
              <a:cs typeface="微软雅黑"/>
            </a:endParaRPr>
          </a:p>
          <a:p>
            <a:pPr marL="417195" lvl="1" indent="-171450">
              <a:lnSpc>
                <a:spcPts val="2050"/>
              </a:lnSpc>
              <a:spcBef>
                <a:spcPts val="155"/>
              </a:spcBef>
              <a:buFont typeface="Arial"/>
              <a:buChar char="•"/>
              <a:tabLst>
                <a:tab pos="417195" algn="l"/>
              </a:tabLst>
            </a:pPr>
            <a:r>
              <a:rPr sz="1800" spc="10" dirty="0">
                <a:latin typeface="微软雅黑"/>
                <a:cs typeface="微软雅黑"/>
              </a:rPr>
              <a:t>“rw”：</a:t>
            </a:r>
            <a:r>
              <a:rPr sz="1800" dirty="0">
                <a:latin typeface="微软雅黑"/>
                <a:cs typeface="微软雅黑"/>
              </a:rPr>
              <a:t>以读、写方式打开指定文件，如果文件不存在则尝试创建该文件</a:t>
            </a:r>
            <a:endParaRPr sz="1800">
              <a:latin typeface="微软雅黑"/>
              <a:cs typeface="微软雅黑"/>
            </a:endParaRPr>
          </a:p>
          <a:p>
            <a:pPr marL="417195">
              <a:lnSpc>
                <a:spcPts val="2050"/>
              </a:lnSpc>
            </a:pPr>
            <a:r>
              <a:rPr sz="1800" dirty="0">
                <a:latin typeface="微软雅黑"/>
                <a:cs typeface="微软雅黑"/>
              </a:rPr>
              <a:t>。</a:t>
            </a:r>
            <a:endParaRPr sz="1800">
              <a:latin typeface="微软雅黑"/>
              <a:cs typeface="微软雅黑"/>
            </a:endParaRPr>
          </a:p>
        </p:txBody>
      </p:sp>
      <p:sp>
        <p:nvSpPr>
          <p:cNvPr id="3" name="object 3"/>
          <p:cNvSpPr txBox="1">
            <a:spLocks noGrp="1"/>
          </p:cNvSpPr>
          <p:nvPr>
            <p:ph type="title"/>
          </p:nvPr>
        </p:nvSpPr>
        <p:spPr>
          <a:xfrm>
            <a:off x="1283652" y="370700"/>
            <a:ext cx="350266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12.5	RandomAccessFile</a:t>
            </a:r>
            <a:r>
              <a:rPr sz="2100" dirty="0"/>
              <a:t>类</a:t>
            </a:r>
            <a:endParaRPr sz="2100"/>
          </a:p>
        </p:txBody>
      </p:sp>
      <p:sp>
        <p:nvSpPr>
          <p:cNvPr id="4" name="object 4"/>
          <p:cNvSpPr txBox="1"/>
          <p:nvPr/>
        </p:nvSpPr>
        <p:spPr>
          <a:xfrm>
            <a:off x="3210585" y="4031094"/>
            <a:ext cx="5102860" cy="331470"/>
          </a:xfrm>
          <a:prstGeom prst="rect">
            <a:avLst/>
          </a:prstGeom>
        </p:spPr>
        <p:txBody>
          <a:bodyPr vert="horz" wrap="square" lIns="0" tIns="13335" rIns="0" bIns="0" rtlCol="0">
            <a:spAutoFit/>
          </a:bodyPr>
          <a:lstStyle/>
          <a:p>
            <a:pPr marL="298450" indent="-285750">
              <a:lnSpc>
                <a:spcPct val="100000"/>
              </a:lnSpc>
              <a:spcBef>
                <a:spcPts val="105"/>
              </a:spcBef>
              <a:buFont typeface="Arial"/>
              <a:buChar char="•"/>
              <a:tabLst>
                <a:tab pos="297815" algn="l"/>
                <a:tab pos="298450" algn="l"/>
              </a:tabLst>
            </a:pPr>
            <a:r>
              <a:rPr sz="2000" spc="-5" dirty="0">
                <a:latin typeface="微软雅黑"/>
                <a:cs typeface="微软雅黑"/>
              </a:rPr>
              <a:t>RandomAccessFile</a:t>
            </a:r>
            <a:r>
              <a:rPr sz="2000" dirty="0">
                <a:latin typeface="微软雅黑"/>
                <a:cs typeface="微软雅黑"/>
              </a:rPr>
              <a:t>没有只写的访问方式</a:t>
            </a:r>
            <a:r>
              <a:rPr sz="2000" spc="5" dirty="0">
                <a:latin typeface="微软雅黑"/>
                <a:cs typeface="微软雅黑"/>
              </a:rPr>
              <a:t>。</a:t>
            </a:r>
            <a:endParaRPr sz="2000">
              <a:latin typeface="微软雅黑"/>
              <a:cs typeface="微软雅黑"/>
            </a:endParaRPr>
          </a:p>
        </p:txBody>
      </p:sp>
      <p:sp>
        <p:nvSpPr>
          <p:cNvPr id="5" name="object 5"/>
          <p:cNvSpPr/>
          <p:nvPr/>
        </p:nvSpPr>
        <p:spPr>
          <a:xfrm>
            <a:off x="1187196" y="4005071"/>
            <a:ext cx="1595628" cy="1749552"/>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63</a:t>
            </a:fld>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8595" y="1481454"/>
            <a:ext cx="7792720" cy="633095"/>
          </a:xfrm>
          <a:prstGeom prst="rect">
            <a:avLst/>
          </a:prstGeom>
        </p:spPr>
        <p:txBody>
          <a:bodyPr vert="horz" wrap="square" lIns="0" tIns="49530" rIns="0" bIns="0" rtlCol="0">
            <a:spAutoFit/>
          </a:bodyPr>
          <a:lstStyle/>
          <a:p>
            <a:pPr marL="12700" marR="5080">
              <a:lnSpc>
                <a:spcPts val="2260"/>
              </a:lnSpc>
              <a:spcBef>
                <a:spcPts val="390"/>
              </a:spcBef>
            </a:pPr>
            <a:r>
              <a:rPr sz="2100" dirty="0">
                <a:latin typeface="微软雅黑"/>
                <a:cs typeface="微软雅黑"/>
              </a:rPr>
              <a:t>【例</a:t>
            </a:r>
            <a:r>
              <a:rPr sz="2100" spc="-5" dirty="0">
                <a:latin typeface="微软雅黑"/>
                <a:cs typeface="微软雅黑"/>
              </a:rPr>
              <a:t>12</a:t>
            </a:r>
            <a:r>
              <a:rPr sz="2100" dirty="0">
                <a:latin typeface="微软雅黑"/>
                <a:cs typeface="微软雅黑"/>
              </a:rPr>
              <a:t>-</a:t>
            </a:r>
            <a:r>
              <a:rPr sz="2100" spc="-5" dirty="0">
                <a:latin typeface="微软雅黑"/>
                <a:cs typeface="微软雅黑"/>
              </a:rPr>
              <a:t>10</a:t>
            </a:r>
            <a:r>
              <a:rPr sz="2100" dirty="0">
                <a:latin typeface="微软雅黑"/>
                <a:cs typeface="微软雅黑"/>
              </a:rPr>
              <a:t>】向d</a:t>
            </a:r>
            <a:r>
              <a:rPr sz="2100" spc="-5" dirty="0">
                <a:latin typeface="微软雅黑"/>
                <a:cs typeface="微软雅黑"/>
              </a:rPr>
              <a:t>ata.</a:t>
            </a:r>
            <a:r>
              <a:rPr sz="2100" dirty="0">
                <a:latin typeface="微软雅黑"/>
                <a:cs typeface="微软雅黑"/>
              </a:rPr>
              <a:t>d</a:t>
            </a:r>
            <a:r>
              <a:rPr sz="2100" spc="-5" dirty="0">
                <a:latin typeface="微软雅黑"/>
                <a:cs typeface="微软雅黑"/>
              </a:rPr>
              <a:t>at</a:t>
            </a:r>
            <a:r>
              <a:rPr sz="2100" dirty="0">
                <a:latin typeface="微软雅黑"/>
                <a:cs typeface="微软雅黑"/>
              </a:rPr>
              <a:t>文件中写入</a:t>
            </a:r>
            <a:r>
              <a:rPr sz="2100" spc="-5" dirty="0">
                <a:latin typeface="微软雅黑"/>
                <a:cs typeface="微软雅黑"/>
              </a:rPr>
              <a:t>10</a:t>
            </a:r>
            <a:r>
              <a:rPr sz="2100" dirty="0">
                <a:latin typeface="微软雅黑"/>
                <a:cs typeface="微软雅黑"/>
              </a:rPr>
              <a:t>个in</a:t>
            </a:r>
            <a:r>
              <a:rPr sz="2100" spc="-5" dirty="0">
                <a:latin typeface="微软雅黑"/>
                <a:cs typeface="微软雅黑"/>
              </a:rPr>
              <a:t>t</a:t>
            </a:r>
            <a:r>
              <a:rPr sz="2100" dirty="0">
                <a:latin typeface="微软雅黑"/>
                <a:cs typeface="微软雅黑"/>
              </a:rPr>
              <a:t>型随机整数；从键盘上 输入</a:t>
            </a:r>
            <a:r>
              <a:rPr sz="2100" spc="-5" dirty="0">
                <a:latin typeface="微软雅黑"/>
                <a:cs typeface="微软雅黑"/>
              </a:rPr>
              <a:t>1~10</a:t>
            </a:r>
            <a:r>
              <a:rPr sz="2100" dirty="0">
                <a:latin typeface="微软雅黑"/>
                <a:cs typeface="微软雅黑"/>
              </a:rPr>
              <a:t>这些序号，在控制台打印出对应数字。</a:t>
            </a:r>
            <a:endParaRPr sz="2100">
              <a:latin typeface="微软雅黑"/>
              <a:cs typeface="微软雅黑"/>
            </a:endParaRPr>
          </a:p>
        </p:txBody>
      </p:sp>
      <p:sp>
        <p:nvSpPr>
          <p:cNvPr id="3" name="object 3"/>
          <p:cNvSpPr txBox="1">
            <a:spLocks noGrp="1"/>
          </p:cNvSpPr>
          <p:nvPr>
            <p:ph type="title"/>
          </p:nvPr>
        </p:nvSpPr>
        <p:spPr>
          <a:xfrm>
            <a:off x="1283652" y="370700"/>
            <a:ext cx="350266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12.5	RandomAccessFile</a:t>
            </a:r>
            <a:r>
              <a:rPr sz="2100" dirty="0"/>
              <a:t>类</a:t>
            </a:r>
            <a:endParaRPr sz="2100"/>
          </a:p>
        </p:txBody>
      </p:sp>
      <p:sp>
        <p:nvSpPr>
          <p:cNvPr id="4" name="object 4"/>
          <p:cNvSpPr/>
          <p:nvPr/>
        </p:nvSpPr>
        <p:spPr>
          <a:xfrm>
            <a:off x="972311" y="3777996"/>
            <a:ext cx="719455" cy="499745"/>
          </a:xfrm>
          <a:custGeom>
            <a:avLst/>
            <a:gdLst/>
            <a:ahLst/>
            <a:cxnLst/>
            <a:rect l="l" t="t" r="r" b="b"/>
            <a:pathLst>
              <a:path w="719455" h="499745">
                <a:moveTo>
                  <a:pt x="0" y="499579"/>
                </a:moveTo>
                <a:lnTo>
                  <a:pt x="719327" y="499579"/>
                </a:lnTo>
                <a:lnTo>
                  <a:pt x="719327" y="0"/>
                </a:lnTo>
                <a:lnTo>
                  <a:pt x="0" y="0"/>
                </a:lnTo>
                <a:lnTo>
                  <a:pt x="0" y="499579"/>
                </a:lnTo>
                <a:close/>
              </a:path>
            </a:pathLst>
          </a:custGeom>
          <a:solidFill>
            <a:srgbClr val="006C39"/>
          </a:solidFill>
        </p:spPr>
        <p:txBody>
          <a:bodyPr wrap="square" lIns="0" tIns="0" rIns="0" bIns="0" rtlCol="0"/>
          <a:lstStyle/>
          <a:p>
            <a:endParaRPr/>
          </a:p>
        </p:txBody>
      </p:sp>
      <p:sp>
        <p:nvSpPr>
          <p:cNvPr id="5" name="object 5"/>
          <p:cNvSpPr/>
          <p:nvPr/>
        </p:nvSpPr>
        <p:spPr>
          <a:xfrm>
            <a:off x="1691639" y="3777996"/>
            <a:ext cx="721360" cy="499745"/>
          </a:xfrm>
          <a:custGeom>
            <a:avLst/>
            <a:gdLst/>
            <a:ahLst/>
            <a:cxnLst/>
            <a:rect l="l" t="t" r="r" b="b"/>
            <a:pathLst>
              <a:path w="721360" h="499745">
                <a:moveTo>
                  <a:pt x="0" y="499579"/>
                </a:moveTo>
                <a:lnTo>
                  <a:pt x="720851" y="499579"/>
                </a:lnTo>
                <a:lnTo>
                  <a:pt x="720851" y="0"/>
                </a:lnTo>
                <a:lnTo>
                  <a:pt x="0" y="0"/>
                </a:lnTo>
                <a:lnTo>
                  <a:pt x="0" y="499579"/>
                </a:lnTo>
                <a:close/>
              </a:path>
            </a:pathLst>
          </a:custGeom>
          <a:solidFill>
            <a:srgbClr val="006C39"/>
          </a:solidFill>
        </p:spPr>
        <p:txBody>
          <a:bodyPr wrap="square" lIns="0" tIns="0" rIns="0" bIns="0" rtlCol="0"/>
          <a:lstStyle/>
          <a:p>
            <a:endParaRPr/>
          </a:p>
        </p:txBody>
      </p:sp>
      <p:sp>
        <p:nvSpPr>
          <p:cNvPr id="6" name="object 6"/>
          <p:cNvSpPr/>
          <p:nvPr/>
        </p:nvSpPr>
        <p:spPr>
          <a:xfrm>
            <a:off x="2412492" y="3777996"/>
            <a:ext cx="719455" cy="499745"/>
          </a:xfrm>
          <a:custGeom>
            <a:avLst/>
            <a:gdLst/>
            <a:ahLst/>
            <a:cxnLst/>
            <a:rect l="l" t="t" r="r" b="b"/>
            <a:pathLst>
              <a:path w="719455" h="499745">
                <a:moveTo>
                  <a:pt x="0" y="499579"/>
                </a:moveTo>
                <a:lnTo>
                  <a:pt x="719328" y="499579"/>
                </a:lnTo>
                <a:lnTo>
                  <a:pt x="719328" y="0"/>
                </a:lnTo>
                <a:lnTo>
                  <a:pt x="0" y="0"/>
                </a:lnTo>
                <a:lnTo>
                  <a:pt x="0" y="499579"/>
                </a:lnTo>
                <a:close/>
              </a:path>
            </a:pathLst>
          </a:custGeom>
          <a:solidFill>
            <a:srgbClr val="006C39"/>
          </a:solidFill>
        </p:spPr>
        <p:txBody>
          <a:bodyPr wrap="square" lIns="0" tIns="0" rIns="0" bIns="0" rtlCol="0"/>
          <a:lstStyle/>
          <a:p>
            <a:endParaRPr/>
          </a:p>
        </p:txBody>
      </p:sp>
      <p:sp>
        <p:nvSpPr>
          <p:cNvPr id="7" name="object 7"/>
          <p:cNvSpPr/>
          <p:nvPr/>
        </p:nvSpPr>
        <p:spPr>
          <a:xfrm>
            <a:off x="3131820" y="3777996"/>
            <a:ext cx="721360" cy="499745"/>
          </a:xfrm>
          <a:custGeom>
            <a:avLst/>
            <a:gdLst/>
            <a:ahLst/>
            <a:cxnLst/>
            <a:rect l="l" t="t" r="r" b="b"/>
            <a:pathLst>
              <a:path w="721360" h="499745">
                <a:moveTo>
                  <a:pt x="0" y="499579"/>
                </a:moveTo>
                <a:lnTo>
                  <a:pt x="720852" y="499579"/>
                </a:lnTo>
                <a:lnTo>
                  <a:pt x="720852" y="0"/>
                </a:lnTo>
                <a:lnTo>
                  <a:pt x="0" y="0"/>
                </a:lnTo>
                <a:lnTo>
                  <a:pt x="0" y="499579"/>
                </a:lnTo>
                <a:close/>
              </a:path>
            </a:pathLst>
          </a:custGeom>
          <a:solidFill>
            <a:srgbClr val="006C39"/>
          </a:solidFill>
        </p:spPr>
        <p:txBody>
          <a:bodyPr wrap="square" lIns="0" tIns="0" rIns="0" bIns="0" rtlCol="0"/>
          <a:lstStyle/>
          <a:p>
            <a:endParaRPr/>
          </a:p>
        </p:txBody>
      </p:sp>
      <p:sp>
        <p:nvSpPr>
          <p:cNvPr id="8" name="object 8"/>
          <p:cNvSpPr/>
          <p:nvPr/>
        </p:nvSpPr>
        <p:spPr>
          <a:xfrm>
            <a:off x="3852671" y="3777996"/>
            <a:ext cx="719455" cy="499745"/>
          </a:xfrm>
          <a:custGeom>
            <a:avLst/>
            <a:gdLst/>
            <a:ahLst/>
            <a:cxnLst/>
            <a:rect l="l" t="t" r="r" b="b"/>
            <a:pathLst>
              <a:path w="719454" h="499745">
                <a:moveTo>
                  <a:pt x="0" y="499579"/>
                </a:moveTo>
                <a:lnTo>
                  <a:pt x="719327" y="499579"/>
                </a:lnTo>
                <a:lnTo>
                  <a:pt x="719327" y="0"/>
                </a:lnTo>
                <a:lnTo>
                  <a:pt x="0" y="0"/>
                </a:lnTo>
                <a:lnTo>
                  <a:pt x="0" y="499579"/>
                </a:lnTo>
                <a:close/>
              </a:path>
            </a:pathLst>
          </a:custGeom>
          <a:solidFill>
            <a:srgbClr val="006C39"/>
          </a:solidFill>
        </p:spPr>
        <p:txBody>
          <a:bodyPr wrap="square" lIns="0" tIns="0" rIns="0" bIns="0" rtlCol="0"/>
          <a:lstStyle/>
          <a:p>
            <a:endParaRPr/>
          </a:p>
        </p:txBody>
      </p:sp>
      <p:sp>
        <p:nvSpPr>
          <p:cNvPr id="9" name="object 9"/>
          <p:cNvSpPr/>
          <p:nvPr/>
        </p:nvSpPr>
        <p:spPr>
          <a:xfrm>
            <a:off x="4572000" y="3777996"/>
            <a:ext cx="721360" cy="499745"/>
          </a:xfrm>
          <a:custGeom>
            <a:avLst/>
            <a:gdLst/>
            <a:ahLst/>
            <a:cxnLst/>
            <a:rect l="l" t="t" r="r" b="b"/>
            <a:pathLst>
              <a:path w="721360" h="499745">
                <a:moveTo>
                  <a:pt x="0" y="499579"/>
                </a:moveTo>
                <a:lnTo>
                  <a:pt x="720851" y="499579"/>
                </a:lnTo>
                <a:lnTo>
                  <a:pt x="720851" y="0"/>
                </a:lnTo>
                <a:lnTo>
                  <a:pt x="0" y="0"/>
                </a:lnTo>
                <a:lnTo>
                  <a:pt x="0" y="499579"/>
                </a:lnTo>
                <a:close/>
              </a:path>
            </a:pathLst>
          </a:custGeom>
          <a:solidFill>
            <a:srgbClr val="006C39"/>
          </a:solidFill>
        </p:spPr>
        <p:txBody>
          <a:bodyPr wrap="square" lIns="0" tIns="0" rIns="0" bIns="0" rtlCol="0"/>
          <a:lstStyle/>
          <a:p>
            <a:endParaRPr/>
          </a:p>
        </p:txBody>
      </p:sp>
      <p:sp>
        <p:nvSpPr>
          <p:cNvPr id="10" name="object 10"/>
          <p:cNvSpPr/>
          <p:nvPr/>
        </p:nvSpPr>
        <p:spPr>
          <a:xfrm>
            <a:off x="5292852" y="3777996"/>
            <a:ext cx="719455" cy="499745"/>
          </a:xfrm>
          <a:custGeom>
            <a:avLst/>
            <a:gdLst/>
            <a:ahLst/>
            <a:cxnLst/>
            <a:rect l="l" t="t" r="r" b="b"/>
            <a:pathLst>
              <a:path w="719454" h="499745">
                <a:moveTo>
                  <a:pt x="0" y="499579"/>
                </a:moveTo>
                <a:lnTo>
                  <a:pt x="719327" y="499579"/>
                </a:lnTo>
                <a:lnTo>
                  <a:pt x="719327" y="0"/>
                </a:lnTo>
                <a:lnTo>
                  <a:pt x="0" y="0"/>
                </a:lnTo>
                <a:lnTo>
                  <a:pt x="0" y="499579"/>
                </a:lnTo>
                <a:close/>
              </a:path>
            </a:pathLst>
          </a:custGeom>
          <a:solidFill>
            <a:srgbClr val="006C39"/>
          </a:solidFill>
        </p:spPr>
        <p:txBody>
          <a:bodyPr wrap="square" lIns="0" tIns="0" rIns="0" bIns="0" rtlCol="0"/>
          <a:lstStyle/>
          <a:p>
            <a:endParaRPr/>
          </a:p>
        </p:txBody>
      </p:sp>
      <p:sp>
        <p:nvSpPr>
          <p:cNvPr id="11" name="object 11"/>
          <p:cNvSpPr/>
          <p:nvPr/>
        </p:nvSpPr>
        <p:spPr>
          <a:xfrm>
            <a:off x="6012179" y="3777996"/>
            <a:ext cx="721360" cy="499745"/>
          </a:xfrm>
          <a:custGeom>
            <a:avLst/>
            <a:gdLst/>
            <a:ahLst/>
            <a:cxnLst/>
            <a:rect l="l" t="t" r="r" b="b"/>
            <a:pathLst>
              <a:path w="721359" h="499745">
                <a:moveTo>
                  <a:pt x="0" y="499579"/>
                </a:moveTo>
                <a:lnTo>
                  <a:pt x="720851" y="499579"/>
                </a:lnTo>
                <a:lnTo>
                  <a:pt x="720851" y="0"/>
                </a:lnTo>
                <a:lnTo>
                  <a:pt x="0" y="0"/>
                </a:lnTo>
                <a:lnTo>
                  <a:pt x="0" y="499579"/>
                </a:lnTo>
                <a:close/>
              </a:path>
            </a:pathLst>
          </a:custGeom>
          <a:solidFill>
            <a:srgbClr val="006C39"/>
          </a:solidFill>
        </p:spPr>
        <p:txBody>
          <a:bodyPr wrap="square" lIns="0" tIns="0" rIns="0" bIns="0" rtlCol="0"/>
          <a:lstStyle/>
          <a:p>
            <a:endParaRPr/>
          </a:p>
        </p:txBody>
      </p:sp>
      <p:sp>
        <p:nvSpPr>
          <p:cNvPr id="12" name="object 12"/>
          <p:cNvSpPr/>
          <p:nvPr/>
        </p:nvSpPr>
        <p:spPr>
          <a:xfrm>
            <a:off x="6733031" y="3777996"/>
            <a:ext cx="719455" cy="499745"/>
          </a:xfrm>
          <a:custGeom>
            <a:avLst/>
            <a:gdLst/>
            <a:ahLst/>
            <a:cxnLst/>
            <a:rect l="l" t="t" r="r" b="b"/>
            <a:pathLst>
              <a:path w="719454" h="499745">
                <a:moveTo>
                  <a:pt x="0" y="499579"/>
                </a:moveTo>
                <a:lnTo>
                  <a:pt x="719327" y="499579"/>
                </a:lnTo>
                <a:lnTo>
                  <a:pt x="719327" y="0"/>
                </a:lnTo>
                <a:lnTo>
                  <a:pt x="0" y="0"/>
                </a:lnTo>
                <a:lnTo>
                  <a:pt x="0" y="499579"/>
                </a:lnTo>
                <a:close/>
              </a:path>
            </a:pathLst>
          </a:custGeom>
          <a:solidFill>
            <a:srgbClr val="006C39"/>
          </a:solidFill>
        </p:spPr>
        <p:txBody>
          <a:bodyPr wrap="square" lIns="0" tIns="0" rIns="0" bIns="0" rtlCol="0"/>
          <a:lstStyle/>
          <a:p>
            <a:endParaRPr/>
          </a:p>
        </p:txBody>
      </p:sp>
      <p:sp>
        <p:nvSpPr>
          <p:cNvPr id="13" name="object 13"/>
          <p:cNvSpPr/>
          <p:nvPr/>
        </p:nvSpPr>
        <p:spPr>
          <a:xfrm>
            <a:off x="7452359" y="3777996"/>
            <a:ext cx="721360" cy="499745"/>
          </a:xfrm>
          <a:custGeom>
            <a:avLst/>
            <a:gdLst/>
            <a:ahLst/>
            <a:cxnLst/>
            <a:rect l="l" t="t" r="r" b="b"/>
            <a:pathLst>
              <a:path w="721359" h="499745">
                <a:moveTo>
                  <a:pt x="0" y="499579"/>
                </a:moveTo>
                <a:lnTo>
                  <a:pt x="720851" y="499579"/>
                </a:lnTo>
                <a:lnTo>
                  <a:pt x="720851" y="0"/>
                </a:lnTo>
                <a:lnTo>
                  <a:pt x="0" y="0"/>
                </a:lnTo>
                <a:lnTo>
                  <a:pt x="0" y="499579"/>
                </a:lnTo>
                <a:close/>
              </a:path>
            </a:pathLst>
          </a:custGeom>
          <a:solidFill>
            <a:srgbClr val="006C39"/>
          </a:solidFill>
        </p:spPr>
        <p:txBody>
          <a:bodyPr wrap="square" lIns="0" tIns="0" rIns="0" bIns="0" rtlCol="0"/>
          <a:lstStyle/>
          <a:p>
            <a:endParaRPr/>
          </a:p>
        </p:txBody>
      </p:sp>
      <p:sp>
        <p:nvSpPr>
          <p:cNvPr id="14" name="object 14"/>
          <p:cNvSpPr/>
          <p:nvPr/>
        </p:nvSpPr>
        <p:spPr>
          <a:xfrm>
            <a:off x="971600" y="3778465"/>
            <a:ext cx="7200900" cy="0"/>
          </a:xfrm>
          <a:custGeom>
            <a:avLst/>
            <a:gdLst/>
            <a:ahLst/>
            <a:cxnLst/>
            <a:rect l="l" t="t" r="r" b="b"/>
            <a:pathLst>
              <a:path w="7200900">
                <a:moveTo>
                  <a:pt x="0" y="0"/>
                </a:moveTo>
                <a:lnTo>
                  <a:pt x="7200900" y="0"/>
                </a:lnTo>
              </a:path>
            </a:pathLst>
          </a:custGeom>
          <a:ln w="12700">
            <a:solidFill>
              <a:srgbClr val="FFFFFF"/>
            </a:solidFill>
          </a:ln>
        </p:spPr>
        <p:txBody>
          <a:bodyPr wrap="square" lIns="0" tIns="0" rIns="0" bIns="0" rtlCol="0"/>
          <a:lstStyle/>
          <a:p>
            <a:endParaRPr/>
          </a:p>
        </p:txBody>
      </p:sp>
      <p:sp>
        <p:nvSpPr>
          <p:cNvPr id="15" name="object 15"/>
          <p:cNvSpPr/>
          <p:nvPr/>
        </p:nvSpPr>
        <p:spPr>
          <a:xfrm>
            <a:off x="97160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16" name="object 16"/>
          <p:cNvSpPr/>
          <p:nvPr/>
        </p:nvSpPr>
        <p:spPr>
          <a:xfrm>
            <a:off x="169169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17" name="object 17"/>
          <p:cNvSpPr/>
          <p:nvPr/>
        </p:nvSpPr>
        <p:spPr>
          <a:xfrm>
            <a:off x="241178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18" name="object 18"/>
          <p:cNvSpPr/>
          <p:nvPr/>
        </p:nvSpPr>
        <p:spPr>
          <a:xfrm>
            <a:off x="313187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19" name="object 19"/>
          <p:cNvSpPr/>
          <p:nvPr/>
        </p:nvSpPr>
        <p:spPr>
          <a:xfrm>
            <a:off x="385196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0" name="object 20"/>
          <p:cNvSpPr/>
          <p:nvPr/>
        </p:nvSpPr>
        <p:spPr>
          <a:xfrm>
            <a:off x="457205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1" name="object 21"/>
          <p:cNvSpPr/>
          <p:nvPr/>
        </p:nvSpPr>
        <p:spPr>
          <a:xfrm>
            <a:off x="529214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2" name="object 22"/>
          <p:cNvSpPr/>
          <p:nvPr/>
        </p:nvSpPr>
        <p:spPr>
          <a:xfrm>
            <a:off x="601223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3" name="object 23"/>
          <p:cNvSpPr/>
          <p:nvPr/>
        </p:nvSpPr>
        <p:spPr>
          <a:xfrm>
            <a:off x="6732320"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4" name="object 24"/>
          <p:cNvSpPr/>
          <p:nvPr/>
        </p:nvSpPr>
        <p:spPr>
          <a:xfrm>
            <a:off x="7452411"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5" name="object 25"/>
          <p:cNvSpPr/>
          <p:nvPr/>
        </p:nvSpPr>
        <p:spPr>
          <a:xfrm>
            <a:off x="8172501" y="3778465"/>
            <a:ext cx="0" cy="518159"/>
          </a:xfrm>
          <a:custGeom>
            <a:avLst/>
            <a:gdLst/>
            <a:ahLst/>
            <a:cxnLst/>
            <a:rect l="l" t="t" r="r" b="b"/>
            <a:pathLst>
              <a:path h="518160">
                <a:moveTo>
                  <a:pt x="0" y="0"/>
                </a:moveTo>
                <a:lnTo>
                  <a:pt x="0" y="518160"/>
                </a:lnTo>
              </a:path>
            </a:pathLst>
          </a:custGeom>
          <a:ln w="12700">
            <a:solidFill>
              <a:srgbClr val="FFFFFF"/>
            </a:solidFill>
          </a:ln>
        </p:spPr>
        <p:txBody>
          <a:bodyPr wrap="square" lIns="0" tIns="0" rIns="0" bIns="0" rtlCol="0"/>
          <a:lstStyle/>
          <a:p>
            <a:endParaRPr/>
          </a:p>
        </p:txBody>
      </p:sp>
      <p:sp>
        <p:nvSpPr>
          <p:cNvPr id="26" name="object 26"/>
          <p:cNvSpPr/>
          <p:nvPr/>
        </p:nvSpPr>
        <p:spPr>
          <a:xfrm>
            <a:off x="986459" y="3212973"/>
            <a:ext cx="114300" cy="531495"/>
          </a:xfrm>
          <a:custGeom>
            <a:avLst/>
            <a:gdLst/>
            <a:ahLst/>
            <a:cxnLst/>
            <a:rect l="l" t="t" r="r" b="b"/>
            <a:pathLst>
              <a:path w="114300" h="531495">
                <a:moveTo>
                  <a:pt x="76200" y="445604"/>
                </a:moveTo>
                <a:lnTo>
                  <a:pt x="38100" y="445604"/>
                </a:lnTo>
                <a:lnTo>
                  <a:pt x="38100" y="0"/>
                </a:lnTo>
                <a:lnTo>
                  <a:pt x="76200" y="0"/>
                </a:lnTo>
                <a:lnTo>
                  <a:pt x="76200" y="445604"/>
                </a:lnTo>
                <a:close/>
              </a:path>
              <a:path w="114300" h="531495">
                <a:moveTo>
                  <a:pt x="57150" y="531329"/>
                </a:moveTo>
                <a:lnTo>
                  <a:pt x="0" y="417029"/>
                </a:lnTo>
                <a:lnTo>
                  <a:pt x="38100" y="417029"/>
                </a:lnTo>
                <a:lnTo>
                  <a:pt x="38100" y="445604"/>
                </a:lnTo>
                <a:lnTo>
                  <a:pt x="100012" y="445604"/>
                </a:lnTo>
                <a:lnTo>
                  <a:pt x="57150" y="531329"/>
                </a:lnTo>
                <a:close/>
              </a:path>
              <a:path w="114300" h="531495">
                <a:moveTo>
                  <a:pt x="100012" y="445604"/>
                </a:moveTo>
                <a:lnTo>
                  <a:pt x="76200" y="445604"/>
                </a:lnTo>
                <a:lnTo>
                  <a:pt x="76200" y="417029"/>
                </a:lnTo>
                <a:lnTo>
                  <a:pt x="114300" y="417029"/>
                </a:lnTo>
                <a:lnTo>
                  <a:pt x="100012" y="445604"/>
                </a:lnTo>
                <a:close/>
              </a:path>
            </a:pathLst>
          </a:custGeom>
          <a:solidFill>
            <a:srgbClr val="006C39"/>
          </a:solidFill>
        </p:spPr>
        <p:txBody>
          <a:bodyPr wrap="square" lIns="0" tIns="0" rIns="0" bIns="0" rtlCol="0"/>
          <a:lstStyle/>
          <a:p>
            <a:endParaRPr/>
          </a:p>
        </p:txBody>
      </p:sp>
      <p:sp>
        <p:nvSpPr>
          <p:cNvPr id="27" name="object 27"/>
          <p:cNvSpPr/>
          <p:nvPr/>
        </p:nvSpPr>
        <p:spPr>
          <a:xfrm>
            <a:off x="3794772" y="4296625"/>
            <a:ext cx="114300" cy="572770"/>
          </a:xfrm>
          <a:custGeom>
            <a:avLst/>
            <a:gdLst/>
            <a:ahLst/>
            <a:cxnLst/>
            <a:rect l="l" t="t" r="r" b="b"/>
            <a:pathLst>
              <a:path w="114300" h="572770">
                <a:moveTo>
                  <a:pt x="38100" y="114300"/>
                </a:moveTo>
                <a:lnTo>
                  <a:pt x="0" y="114300"/>
                </a:lnTo>
                <a:lnTo>
                  <a:pt x="57150" y="0"/>
                </a:lnTo>
                <a:lnTo>
                  <a:pt x="100012" y="85725"/>
                </a:lnTo>
                <a:lnTo>
                  <a:pt x="38100" y="85725"/>
                </a:lnTo>
                <a:lnTo>
                  <a:pt x="38100" y="114300"/>
                </a:lnTo>
                <a:close/>
              </a:path>
              <a:path w="114300" h="572770">
                <a:moveTo>
                  <a:pt x="76200" y="572528"/>
                </a:moveTo>
                <a:lnTo>
                  <a:pt x="38100" y="572528"/>
                </a:lnTo>
                <a:lnTo>
                  <a:pt x="38100" y="85725"/>
                </a:lnTo>
                <a:lnTo>
                  <a:pt x="76200" y="85725"/>
                </a:lnTo>
                <a:lnTo>
                  <a:pt x="76200" y="572528"/>
                </a:lnTo>
                <a:close/>
              </a:path>
              <a:path w="114300" h="572770">
                <a:moveTo>
                  <a:pt x="114300" y="114300"/>
                </a:moveTo>
                <a:lnTo>
                  <a:pt x="76200" y="114300"/>
                </a:lnTo>
                <a:lnTo>
                  <a:pt x="76200" y="85725"/>
                </a:lnTo>
                <a:lnTo>
                  <a:pt x="100012" y="85725"/>
                </a:lnTo>
                <a:lnTo>
                  <a:pt x="114300" y="114300"/>
                </a:lnTo>
                <a:close/>
              </a:path>
            </a:pathLst>
          </a:custGeom>
          <a:solidFill>
            <a:srgbClr val="006C39"/>
          </a:solidFill>
        </p:spPr>
        <p:txBody>
          <a:bodyPr wrap="square" lIns="0" tIns="0" rIns="0" bIns="0" rtlCol="0"/>
          <a:lstStyle/>
          <a:p>
            <a:endParaRPr/>
          </a:p>
        </p:txBody>
      </p:sp>
      <p:sp>
        <p:nvSpPr>
          <p:cNvPr id="28" name="object 28"/>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64</a:t>
            </a:fld>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18589"/>
            <a:ext cx="7931150" cy="1078865"/>
          </a:xfrm>
          <a:prstGeom prst="rect">
            <a:avLst/>
          </a:prstGeom>
        </p:spPr>
        <p:txBody>
          <a:bodyPr vert="horz" wrap="square" lIns="0" tIns="75565" rIns="0" bIns="0" rtlCol="0">
            <a:spAutoFit/>
          </a:bodyPr>
          <a:lstStyle/>
          <a:p>
            <a:pPr marL="184150" indent="-171450">
              <a:lnSpc>
                <a:spcPct val="100000"/>
              </a:lnSpc>
              <a:spcBef>
                <a:spcPts val="595"/>
              </a:spcBef>
              <a:buFont typeface="Arial"/>
              <a:buChar char="•"/>
              <a:tabLst>
                <a:tab pos="184150" algn="l"/>
              </a:tabLst>
            </a:pPr>
            <a:r>
              <a:rPr sz="2100" dirty="0">
                <a:latin typeface="微软雅黑"/>
                <a:cs typeface="微软雅黑"/>
              </a:rPr>
              <a:t>节点流：直接与不同的物理存储打交道。</a:t>
            </a:r>
            <a:endParaRPr sz="2100">
              <a:latin typeface="微软雅黑"/>
              <a:cs typeface="微软雅黑"/>
            </a:endParaRPr>
          </a:p>
          <a:p>
            <a:pPr marL="184150" marR="5080" indent="-171450">
              <a:lnSpc>
                <a:spcPts val="2270"/>
              </a:lnSpc>
              <a:spcBef>
                <a:spcPts val="775"/>
              </a:spcBef>
              <a:buFont typeface="Arial"/>
              <a:buChar char="•"/>
              <a:tabLst>
                <a:tab pos="184150" algn="l"/>
              </a:tabLst>
            </a:pPr>
            <a:r>
              <a:rPr sz="2100" dirty="0">
                <a:latin typeface="微软雅黑"/>
                <a:cs typeface="微软雅黑"/>
              </a:rPr>
              <a:t>处理流：对节点流进行包装，或提供缓存、或提供数据的格式化读 写、打印，总之使输入输出更简单便捷，执行效率更高。</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65</a:t>
            </a:fld>
            <a:endParaRPr dirty="0"/>
          </a:p>
        </p:txBody>
      </p:sp>
      <p:sp>
        <p:nvSpPr>
          <p:cNvPr id="3" name="object 3"/>
          <p:cNvSpPr txBox="1">
            <a:spLocks noGrp="1"/>
          </p:cNvSpPr>
          <p:nvPr>
            <p:ph type="title"/>
          </p:nvPr>
        </p:nvSpPr>
        <p:spPr>
          <a:xfrm>
            <a:off x="1283652" y="370700"/>
            <a:ext cx="346710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a:t>
            </a:r>
            <a:r>
              <a:rPr sz="2100" dirty="0"/>
              <a:t>.6	</a:t>
            </a:r>
            <a:r>
              <a:rPr sz="2100" spc="-30" dirty="0"/>
              <a:t>J</a:t>
            </a:r>
            <a:r>
              <a:rPr sz="2100" dirty="0"/>
              <a:t>a</a:t>
            </a:r>
            <a:r>
              <a:rPr sz="2100" spc="-40" dirty="0"/>
              <a:t>v</a:t>
            </a:r>
            <a:r>
              <a:rPr sz="2100" dirty="0"/>
              <a:t>a输入流输出流汇总</a:t>
            </a:r>
            <a:endParaRPr sz="21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054" y="923396"/>
            <a:ext cx="7412990" cy="1787525"/>
          </a:xfrm>
          <a:prstGeom prst="rect">
            <a:avLst/>
          </a:prstGeom>
        </p:spPr>
        <p:txBody>
          <a:bodyPr vert="horz" wrap="square" lIns="0" tIns="69850" rIns="0" bIns="0" rtlCol="0">
            <a:spAutoFit/>
          </a:bodyPr>
          <a:lstStyle/>
          <a:p>
            <a:pPr marL="184150" indent="-171450">
              <a:lnSpc>
                <a:spcPct val="100000"/>
              </a:lnSpc>
              <a:spcBef>
                <a:spcPts val="550"/>
              </a:spcBef>
              <a:buFont typeface="Arial"/>
              <a:buChar char="•"/>
              <a:tabLst>
                <a:tab pos="184150" algn="l"/>
              </a:tabLst>
            </a:pPr>
            <a:r>
              <a:rPr sz="2100" dirty="0">
                <a:latin typeface="微软雅黑"/>
                <a:cs typeface="微软雅黑"/>
              </a:rPr>
              <a:t>节点流</a:t>
            </a:r>
            <a:endParaRPr sz="2100">
              <a:latin typeface="微软雅黑"/>
              <a:cs typeface="微软雅黑"/>
            </a:endParaRPr>
          </a:p>
          <a:p>
            <a:pPr marL="527050" marR="169545" lvl="1" indent="-171450">
              <a:lnSpc>
                <a:spcPts val="1939"/>
              </a:lnSpc>
              <a:spcBef>
                <a:spcPts val="630"/>
              </a:spcBef>
              <a:buFont typeface="Arial"/>
              <a:buChar char="•"/>
              <a:tabLst>
                <a:tab pos="527050" algn="l"/>
              </a:tabLst>
            </a:pPr>
            <a:r>
              <a:rPr sz="1800" dirty="0">
                <a:latin typeface="微软雅黑"/>
                <a:cs typeface="微软雅黑"/>
              </a:rPr>
              <a:t>对内存进行读写的类（包括字符数组、字节数组、字符串）：  </a:t>
            </a:r>
            <a:r>
              <a:rPr sz="1800" spc="-10" dirty="0">
                <a:latin typeface="微软雅黑"/>
                <a:cs typeface="微软雅黑"/>
              </a:rPr>
              <a:t>CharArrayReader</a:t>
            </a:r>
            <a:r>
              <a:rPr sz="1800" dirty="0">
                <a:latin typeface="微软雅黑"/>
                <a:cs typeface="微软雅黑"/>
              </a:rPr>
              <a:t>、</a:t>
            </a:r>
            <a:r>
              <a:rPr sz="1800" spc="-5" dirty="0">
                <a:latin typeface="微软雅黑"/>
                <a:cs typeface="微软雅黑"/>
              </a:rPr>
              <a:t>CharArrayWriter</a:t>
            </a:r>
            <a:r>
              <a:rPr sz="1800" dirty="0">
                <a:latin typeface="微软雅黑"/>
                <a:cs typeface="微软雅黑"/>
              </a:rPr>
              <a:t>、</a:t>
            </a:r>
            <a:r>
              <a:rPr sz="1800" spc="-10" dirty="0">
                <a:latin typeface="微软雅黑"/>
                <a:cs typeface="微软雅黑"/>
              </a:rPr>
              <a:t>ByteArrayInputStream</a:t>
            </a:r>
            <a:r>
              <a:rPr sz="1800" dirty="0">
                <a:latin typeface="微软雅黑"/>
                <a:cs typeface="微软雅黑"/>
              </a:rPr>
              <a:t>、 </a:t>
            </a:r>
            <a:r>
              <a:rPr sz="1800" spc="-10" dirty="0">
                <a:latin typeface="微软雅黑"/>
                <a:cs typeface="微软雅黑"/>
              </a:rPr>
              <a:t>ByteArrayOutputStream</a:t>
            </a:r>
            <a:r>
              <a:rPr sz="1800" dirty="0">
                <a:latin typeface="微软雅黑"/>
                <a:cs typeface="微软雅黑"/>
              </a:rPr>
              <a:t>、</a:t>
            </a:r>
            <a:r>
              <a:rPr sz="1800" spc="-15" dirty="0">
                <a:latin typeface="微软雅黑"/>
                <a:cs typeface="微软雅黑"/>
              </a:rPr>
              <a:t>StringReader</a:t>
            </a:r>
            <a:r>
              <a:rPr sz="1800" dirty="0">
                <a:latin typeface="微软雅黑"/>
                <a:cs typeface="微软雅黑"/>
              </a:rPr>
              <a:t>、</a:t>
            </a:r>
            <a:r>
              <a:rPr sz="1800" spc="-10" dirty="0">
                <a:latin typeface="微软雅黑"/>
                <a:cs typeface="微软雅黑"/>
              </a:rPr>
              <a:t>StringWriter</a:t>
            </a:r>
            <a:r>
              <a:rPr sz="1800" dirty="0">
                <a:latin typeface="微软雅黑"/>
                <a:cs typeface="微软雅黑"/>
              </a:rPr>
              <a:t>。</a:t>
            </a:r>
            <a:endParaRPr sz="1800">
              <a:latin typeface="微软雅黑"/>
              <a:cs typeface="微软雅黑"/>
            </a:endParaRPr>
          </a:p>
          <a:p>
            <a:pPr marL="527050" marR="5080" lvl="1" indent="-171450">
              <a:lnSpc>
                <a:spcPts val="1939"/>
              </a:lnSpc>
              <a:spcBef>
                <a:spcPts val="600"/>
              </a:spcBef>
              <a:buFont typeface="Arial"/>
              <a:buChar char="•"/>
              <a:tabLst>
                <a:tab pos="527050" algn="l"/>
              </a:tabLst>
            </a:pPr>
            <a:r>
              <a:rPr sz="1800" dirty="0">
                <a:latin typeface="微软雅黑"/>
                <a:cs typeface="微软雅黑"/>
              </a:rPr>
              <a:t>对文件进行读写的类</a:t>
            </a:r>
            <a:r>
              <a:rPr sz="1800" spc="-10" dirty="0">
                <a:latin typeface="微软雅黑"/>
                <a:cs typeface="微软雅黑"/>
              </a:rPr>
              <a:t>：FileReader</a:t>
            </a:r>
            <a:r>
              <a:rPr sz="1800" dirty="0">
                <a:latin typeface="微软雅黑"/>
                <a:cs typeface="微软雅黑"/>
              </a:rPr>
              <a:t>、</a:t>
            </a:r>
            <a:r>
              <a:rPr sz="1800" spc="-5" dirty="0">
                <a:latin typeface="微软雅黑"/>
                <a:cs typeface="微软雅黑"/>
              </a:rPr>
              <a:t>FileWriter</a:t>
            </a:r>
            <a:r>
              <a:rPr sz="1800" dirty="0">
                <a:latin typeface="微软雅黑"/>
                <a:cs typeface="微软雅黑"/>
              </a:rPr>
              <a:t>、</a:t>
            </a:r>
            <a:r>
              <a:rPr sz="1800" spc="-10" dirty="0">
                <a:latin typeface="微软雅黑"/>
                <a:cs typeface="微软雅黑"/>
              </a:rPr>
              <a:t>FileInputStream</a:t>
            </a:r>
            <a:r>
              <a:rPr sz="1800" dirty="0">
                <a:latin typeface="微软雅黑"/>
                <a:cs typeface="微软雅黑"/>
              </a:rPr>
              <a:t>、 </a:t>
            </a:r>
            <a:r>
              <a:rPr sz="1800" spc="-10" dirty="0">
                <a:latin typeface="微软雅黑"/>
                <a:cs typeface="微软雅黑"/>
              </a:rPr>
              <a:t>FileOutputStream</a:t>
            </a:r>
            <a:r>
              <a:rPr sz="1800" dirty="0">
                <a:latin typeface="微软雅黑"/>
                <a:cs typeface="微软雅黑"/>
              </a:rPr>
              <a:t>。</a:t>
            </a:r>
            <a:endParaRPr sz="1800">
              <a:latin typeface="微软雅黑"/>
              <a:cs typeface="微软雅黑"/>
            </a:endParaRPr>
          </a:p>
        </p:txBody>
      </p:sp>
      <p:sp>
        <p:nvSpPr>
          <p:cNvPr id="3" name="object 3"/>
          <p:cNvSpPr txBox="1">
            <a:spLocks noGrp="1"/>
          </p:cNvSpPr>
          <p:nvPr>
            <p:ph type="title"/>
          </p:nvPr>
        </p:nvSpPr>
        <p:spPr>
          <a:xfrm>
            <a:off x="1283652" y="370700"/>
            <a:ext cx="346710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a:t>
            </a:r>
            <a:r>
              <a:rPr sz="2100" dirty="0"/>
              <a:t>.6	</a:t>
            </a:r>
            <a:r>
              <a:rPr sz="2100" spc="-30" dirty="0"/>
              <a:t>J</a:t>
            </a:r>
            <a:r>
              <a:rPr sz="2100" dirty="0"/>
              <a:t>a</a:t>
            </a:r>
            <a:r>
              <a:rPr sz="2100" spc="-40" dirty="0"/>
              <a:t>v</a:t>
            </a:r>
            <a:r>
              <a:rPr sz="2100" dirty="0"/>
              <a:t>a输入流输出流汇总</a:t>
            </a:r>
            <a:endParaRPr sz="2100"/>
          </a:p>
        </p:txBody>
      </p:sp>
      <p:sp>
        <p:nvSpPr>
          <p:cNvPr id="4" name="object 4"/>
          <p:cNvSpPr/>
          <p:nvPr/>
        </p:nvSpPr>
        <p:spPr>
          <a:xfrm>
            <a:off x="1475232" y="2924555"/>
            <a:ext cx="5599176" cy="298704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66</a:t>
            </a:fld>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90244" y="1029122"/>
            <a:ext cx="8107045" cy="2332990"/>
          </a:xfrm>
          <a:prstGeom prst="rect">
            <a:avLst/>
          </a:prstGeom>
        </p:spPr>
        <p:txBody>
          <a:bodyPr vert="horz" wrap="square" lIns="0" tIns="36195" rIns="0" bIns="0" rtlCol="0">
            <a:spAutoFit/>
          </a:bodyPr>
          <a:lstStyle/>
          <a:p>
            <a:pPr marL="184150" indent="-171450">
              <a:lnSpc>
                <a:spcPct val="100000"/>
              </a:lnSpc>
              <a:spcBef>
                <a:spcPts val="285"/>
              </a:spcBef>
              <a:buFont typeface="Arial"/>
              <a:buChar char="•"/>
              <a:tabLst>
                <a:tab pos="184150" algn="l"/>
              </a:tabLst>
            </a:pPr>
            <a:r>
              <a:rPr sz="2100" dirty="0">
                <a:latin typeface="微软雅黑"/>
                <a:cs typeface="微软雅黑"/>
              </a:rPr>
              <a:t>处理流</a:t>
            </a:r>
          </a:p>
          <a:p>
            <a:pPr marL="527050" lvl="1" indent="-172085">
              <a:lnSpc>
                <a:spcPct val="100000"/>
              </a:lnSpc>
              <a:spcBef>
                <a:spcPts val="160"/>
              </a:spcBef>
              <a:buFont typeface="Arial"/>
              <a:buChar char="•"/>
              <a:tabLst>
                <a:tab pos="527050" algn="l"/>
              </a:tabLst>
            </a:pPr>
            <a:r>
              <a:rPr sz="1800" dirty="0">
                <a:latin typeface="微软雅黑"/>
                <a:cs typeface="微软雅黑"/>
              </a:rPr>
              <a:t>对对象进行读写的类</a:t>
            </a:r>
            <a:r>
              <a:rPr sz="1800" spc="-10" dirty="0">
                <a:latin typeface="微软雅黑"/>
                <a:cs typeface="微软雅黑"/>
              </a:rPr>
              <a:t>：ObjectInputStream</a:t>
            </a:r>
            <a:r>
              <a:rPr sz="1800" dirty="0">
                <a:latin typeface="微软雅黑"/>
                <a:cs typeface="微软雅黑"/>
              </a:rPr>
              <a:t>、</a:t>
            </a:r>
            <a:r>
              <a:rPr sz="1800" spc="-10" dirty="0">
                <a:latin typeface="微软雅黑"/>
                <a:cs typeface="微软雅黑"/>
              </a:rPr>
              <a:t>ObjectOutputStream</a:t>
            </a:r>
            <a:r>
              <a:rPr sz="1800" dirty="0">
                <a:latin typeface="微软雅黑"/>
                <a:cs typeface="微软雅黑"/>
              </a:rPr>
              <a:t>。</a:t>
            </a:r>
          </a:p>
          <a:p>
            <a:pPr marL="527050" lvl="1" indent="-172085">
              <a:lnSpc>
                <a:spcPct val="100000"/>
              </a:lnSpc>
              <a:spcBef>
                <a:spcPts val="155"/>
              </a:spcBef>
              <a:buFont typeface="Arial"/>
              <a:buChar char="•"/>
              <a:tabLst>
                <a:tab pos="527050" algn="l"/>
              </a:tabLst>
            </a:pPr>
            <a:r>
              <a:rPr sz="1800" dirty="0">
                <a:latin typeface="微软雅黑"/>
                <a:cs typeface="微软雅黑"/>
              </a:rPr>
              <a:t>按</a:t>
            </a:r>
            <a:r>
              <a:rPr sz="1800" spc="-20" dirty="0">
                <a:latin typeface="微软雅黑"/>
                <a:cs typeface="微软雅黑"/>
              </a:rPr>
              <a:t>Java</a:t>
            </a:r>
            <a:r>
              <a:rPr sz="1800" dirty="0">
                <a:latin typeface="微软雅黑"/>
                <a:cs typeface="微软雅黑"/>
              </a:rPr>
              <a:t>基本数据类型读写的类</a:t>
            </a:r>
            <a:r>
              <a:rPr sz="1800" spc="-10" dirty="0">
                <a:latin typeface="微软雅黑"/>
                <a:cs typeface="微软雅黑"/>
              </a:rPr>
              <a:t>：DataInputStream</a:t>
            </a:r>
            <a:r>
              <a:rPr sz="1800" dirty="0">
                <a:latin typeface="微软雅黑"/>
                <a:cs typeface="微软雅黑"/>
              </a:rPr>
              <a:t>、</a:t>
            </a:r>
            <a:r>
              <a:rPr sz="1800" spc="-10" dirty="0">
                <a:latin typeface="微软雅黑"/>
                <a:cs typeface="微软雅黑"/>
              </a:rPr>
              <a:t>DataOutputStream</a:t>
            </a:r>
            <a:r>
              <a:rPr sz="1800" dirty="0">
                <a:latin typeface="微软雅黑"/>
                <a:cs typeface="微软雅黑"/>
              </a:rPr>
              <a:t>。</a:t>
            </a:r>
          </a:p>
          <a:p>
            <a:pPr marL="527050" lvl="1" indent="-172085">
              <a:lnSpc>
                <a:spcPct val="100000"/>
              </a:lnSpc>
              <a:spcBef>
                <a:spcPts val="155"/>
              </a:spcBef>
              <a:buFont typeface="Arial"/>
              <a:buChar char="•"/>
              <a:tabLst>
                <a:tab pos="527050" algn="l"/>
              </a:tabLst>
            </a:pPr>
            <a:r>
              <a:rPr sz="1800" dirty="0">
                <a:latin typeface="微软雅黑"/>
                <a:cs typeface="微软雅黑"/>
              </a:rPr>
              <a:t>格式化打印输出的类：</a:t>
            </a:r>
            <a:r>
              <a:rPr sz="1800" spc="-5" dirty="0">
                <a:latin typeface="微软雅黑"/>
                <a:cs typeface="微软雅黑"/>
              </a:rPr>
              <a:t> PrintWriter</a:t>
            </a:r>
            <a:r>
              <a:rPr sz="1800" dirty="0">
                <a:latin typeface="微软雅黑"/>
                <a:cs typeface="微软雅黑"/>
              </a:rPr>
              <a:t>、</a:t>
            </a:r>
            <a:r>
              <a:rPr sz="1800" spc="-15" dirty="0">
                <a:latin typeface="微软雅黑"/>
                <a:cs typeface="微软雅黑"/>
              </a:rPr>
              <a:t>PrintStream</a:t>
            </a:r>
            <a:r>
              <a:rPr sz="1800" dirty="0">
                <a:latin typeface="微软雅黑"/>
                <a:cs typeface="微软雅黑"/>
              </a:rPr>
              <a:t>。</a:t>
            </a:r>
          </a:p>
          <a:p>
            <a:pPr marL="526415" marR="839469" lvl="1" indent="-171450">
              <a:lnSpc>
                <a:spcPts val="1939"/>
              </a:lnSpc>
              <a:spcBef>
                <a:spcPts val="405"/>
              </a:spcBef>
              <a:buFont typeface="Arial"/>
              <a:buChar char="•"/>
              <a:tabLst>
                <a:tab pos="527050" algn="l"/>
              </a:tabLst>
            </a:pPr>
            <a:r>
              <a:rPr sz="1800" dirty="0">
                <a:latin typeface="微软雅黑"/>
                <a:cs typeface="微软雅黑"/>
              </a:rPr>
              <a:t>读写时对数据进行缓存的类</a:t>
            </a:r>
            <a:r>
              <a:rPr sz="1800" spc="-10" dirty="0">
                <a:latin typeface="微软雅黑"/>
                <a:cs typeface="微软雅黑"/>
              </a:rPr>
              <a:t>：BufferedReader</a:t>
            </a:r>
            <a:r>
              <a:rPr sz="1800" dirty="0">
                <a:latin typeface="微软雅黑"/>
                <a:cs typeface="微软雅黑"/>
              </a:rPr>
              <a:t>、</a:t>
            </a:r>
            <a:r>
              <a:rPr sz="1800" spc="-10" dirty="0">
                <a:latin typeface="微软雅黑"/>
                <a:cs typeface="微软雅黑"/>
              </a:rPr>
              <a:t>BufferedWriter</a:t>
            </a:r>
            <a:r>
              <a:rPr sz="1800" dirty="0">
                <a:latin typeface="微软雅黑"/>
                <a:cs typeface="微软雅黑"/>
              </a:rPr>
              <a:t>、 </a:t>
            </a:r>
            <a:r>
              <a:rPr sz="1800" spc="-10" dirty="0">
                <a:latin typeface="微软雅黑"/>
                <a:cs typeface="微软雅黑"/>
              </a:rPr>
              <a:t>BufferedInputStream</a:t>
            </a:r>
            <a:r>
              <a:rPr sz="1800" dirty="0">
                <a:latin typeface="微软雅黑"/>
                <a:cs typeface="微软雅黑"/>
              </a:rPr>
              <a:t>、</a:t>
            </a:r>
            <a:r>
              <a:rPr sz="1800" spc="-10" dirty="0">
                <a:latin typeface="微软雅黑"/>
                <a:cs typeface="微软雅黑"/>
              </a:rPr>
              <a:t>BufferedOutputStream</a:t>
            </a:r>
            <a:r>
              <a:rPr sz="1800" dirty="0">
                <a:latin typeface="微软雅黑"/>
                <a:cs typeface="微软雅黑"/>
              </a:rPr>
              <a:t>。</a:t>
            </a:r>
          </a:p>
          <a:p>
            <a:pPr marL="526415" marR="211454" lvl="1" indent="-171450">
              <a:lnSpc>
                <a:spcPts val="1939"/>
              </a:lnSpc>
              <a:spcBef>
                <a:spcPts val="375"/>
              </a:spcBef>
              <a:buFont typeface="Arial"/>
              <a:buChar char="•"/>
              <a:tabLst>
                <a:tab pos="527050" algn="l"/>
              </a:tabLst>
            </a:pPr>
            <a:r>
              <a:rPr sz="1800" dirty="0">
                <a:latin typeface="微软雅黑"/>
                <a:cs typeface="微软雅黑"/>
              </a:rPr>
              <a:t>按照一定的编码标准将字节流转换为字符流的类</a:t>
            </a:r>
            <a:r>
              <a:rPr sz="1800" spc="-15" dirty="0">
                <a:latin typeface="微软雅黑"/>
                <a:cs typeface="微软雅黑"/>
              </a:rPr>
              <a:t>：InputStreamReader</a:t>
            </a:r>
            <a:r>
              <a:rPr sz="1800" dirty="0">
                <a:latin typeface="微软雅黑"/>
                <a:cs typeface="微软雅黑"/>
              </a:rPr>
              <a:t>、 </a:t>
            </a:r>
            <a:r>
              <a:rPr sz="1800" spc="-10" dirty="0">
                <a:latin typeface="微软雅黑"/>
                <a:cs typeface="微软雅黑"/>
              </a:rPr>
              <a:t>OutputStreamWriter</a:t>
            </a:r>
            <a:r>
              <a:rPr sz="1800" dirty="0">
                <a:latin typeface="微软雅黑"/>
                <a:cs typeface="微软雅黑"/>
              </a:rPr>
              <a:t>。</a:t>
            </a:r>
          </a:p>
        </p:txBody>
      </p:sp>
      <p:sp>
        <p:nvSpPr>
          <p:cNvPr id="3" name="object 3"/>
          <p:cNvSpPr txBox="1">
            <a:spLocks noGrp="1"/>
          </p:cNvSpPr>
          <p:nvPr>
            <p:ph type="title"/>
          </p:nvPr>
        </p:nvSpPr>
        <p:spPr>
          <a:xfrm>
            <a:off x="1283652" y="370700"/>
            <a:ext cx="3467100"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a:t>
            </a:r>
            <a:r>
              <a:rPr sz="2100" dirty="0"/>
              <a:t>.6	</a:t>
            </a:r>
            <a:r>
              <a:rPr sz="2100" spc="-30" dirty="0"/>
              <a:t>J</a:t>
            </a:r>
            <a:r>
              <a:rPr sz="2100" dirty="0"/>
              <a:t>a</a:t>
            </a:r>
            <a:r>
              <a:rPr sz="2100" spc="-40" dirty="0"/>
              <a:t>v</a:t>
            </a:r>
            <a:r>
              <a:rPr sz="2100" dirty="0"/>
              <a:t>a输入流输出流汇总</a:t>
            </a:r>
            <a:endParaRPr sz="2100"/>
          </a:p>
        </p:txBody>
      </p:sp>
      <p:sp>
        <p:nvSpPr>
          <p:cNvPr id="4" name="object 4"/>
          <p:cNvSpPr/>
          <p:nvPr/>
        </p:nvSpPr>
        <p:spPr>
          <a:xfrm>
            <a:off x="1304544" y="3444240"/>
            <a:ext cx="6723888" cy="2467355"/>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67</a:t>
            </a:fld>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400" y="1481454"/>
            <a:ext cx="8197850" cy="633095"/>
          </a:xfrm>
          <a:prstGeom prst="rect">
            <a:avLst/>
          </a:prstGeom>
        </p:spPr>
        <p:txBody>
          <a:bodyPr vert="horz" wrap="square" lIns="0" tIns="49530" rIns="0" bIns="0" rtlCol="0">
            <a:spAutoFit/>
          </a:bodyPr>
          <a:lstStyle/>
          <a:p>
            <a:pPr marL="184150" marR="5080" indent="-171450">
              <a:lnSpc>
                <a:spcPts val="2260"/>
              </a:lnSpc>
              <a:spcBef>
                <a:spcPts val="390"/>
              </a:spcBef>
              <a:buFont typeface="Arial"/>
              <a:buChar char="•"/>
              <a:tabLst>
                <a:tab pos="184150" algn="l"/>
              </a:tabLst>
            </a:pPr>
            <a:r>
              <a:rPr sz="2100" dirty="0">
                <a:latin typeface="微软雅黑"/>
                <a:cs typeface="微软雅黑"/>
              </a:rPr>
              <a:t>转换流：工作在字节流和字符流间，提供加入编码方式的字节数据与 字符数据间的转换。</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68</a:t>
            </a:fld>
            <a:endParaRPr dirty="0"/>
          </a:p>
        </p:txBody>
      </p:sp>
      <p:sp>
        <p:nvSpPr>
          <p:cNvPr id="3" name="object 3"/>
          <p:cNvSpPr txBox="1">
            <a:spLocks noGrp="1"/>
          </p:cNvSpPr>
          <p:nvPr>
            <p:ph type="title"/>
          </p:nvPr>
        </p:nvSpPr>
        <p:spPr>
          <a:xfrm>
            <a:off x="1283652" y="370700"/>
            <a:ext cx="3387725" cy="345440"/>
          </a:xfrm>
          <a:prstGeom prst="rect">
            <a:avLst/>
          </a:prstGeom>
        </p:spPr>
        <p:txBody>
          <a:bodyPr vert="horz" wrap="square" lIns="0" tIns="12700" rIns="0" bIns="0" rtlCol="0">
            <a:spAutoFit/>
          </a:bodyPr>
          <a:lstStyle/>
          <a:p>
            <a:pPr marL="12700">
              <a:lnSpc>
                <a:spcPct val="100000"/>
              </a:lnSpc>
              <a:spcBef>
                <a:spcPts val="100"/>
              </a:spcBef>
            </a:pPr>
            <a:r>
              <a:rPr sz="2100" spc="-5" dirty="0"/>
              <a:t>12.6</a:t>
            </a:r>
            <a:r>
              <a:rPr sz="2100" spc="-75" dirty="0"/>
              <a:t> </a:t>
            </a:r>
            <a:r>
              <a:rPr sz="2100" spc="-20" dirty="0"/>
              <a:t>Java</a:t>
            </a:r>
            <a:r>
              <a:rPr sz="2100" dirty="0"/>
              <a:t>输入流输出流汇总</a:t>
            </a:r>
            <a:endParaRPr sz="21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9391" y="1264628"/>
            <a:ext cx="2737485" cy="268605"/>
          </a:xfrm>
          <a:prstGeom prst="rect">
            <a:avLst/>
          </a:prstGeom>
        </p:spPr>
        <p:txBody>
          <a:bodyPr vert="horz" wrap="square" lIns="0" tIns="12065" rIns="0" bIns="0" rtlCol="0">
            <a:spAutoFit/>
          </a:bodyPr>
          <a:lstStyle/>
          <a:p>
            <a:pPr marL="393065">
              <a:lnSpc>
                <a:spcPct val="100000"/>
              </a:lnSpc>
              <a:spcBef>
                <a:spcPts val="95"/>
              </a:spcBef>
            </a:pPr>
            <a:r>
              <a:rPr sz="1600" spc="-5" dirty="0">
                <a:latin typeface="Times New Roman"/>
                <a:cs typeface="Times New Roman"/>
              </a:rPr>
              <a:t>System.in(InputStream)</a:t>
            </a:r>
            <a:endParaRPr sz="1600">
              <a:latin typeface="Times New Roman"/>
              <a:cs typeface="Times New Roman"/>
            </a:endParaRPr>
          </a:p>
        </p:txBody>
      </p:sp>
      <p:sp>
        <p:nvSpPr>
          <p:cNvPr id="3" name="object 3"/>
          <p:cNvSpPr/>
          <p:nvPr/>
        </p:nvSpPr>
        <p:spPr>
          <a:xfrm>
            <a:off x="469391" y="2087879"/>
            <a:ext cx="2737485" cy="338455"/>
          </a:xfrm>
          <a:custGeom>
            <a:avLst/>
            <a:gdLst/>
            <a:ahLst/>
            <a:cxnLst/>
            <a:rect l="l" t="t" r="r" b="b"/>
            <a:pathLst>
              <a:path w="2737485" h="338455">
                <a:moveTo>
                  <a:pt x="0" y="0"/>
                </a:moveTo>
                <a:lnTo>
                  <a:pt x="2737104" y="0"/>
                </a:lnTo>
                <a:lnTo>
                  <a:pt x="2737104" y="338328"/>
                </a:lnTo>
                <a:lnTo>
                  <a:pt x="0" y="338328"/>
                </a:lnTo>
                <a:lnTo>
                  <a:pt x="0" y="0"/>
                </a:lnTo>
                <a:close/>
              </a:path>
            </a:pathLst>
          </a:custGeom>
          <a:solidFill>
            <a:srgbClr val="FFFFFF"/>
          </a:solidFill>
        </p:spPr>
        <p:txBody>
          <a:bodyPr wrap="square" lIns="0" tIns="0" rIns="0" bIns="0" rtlCol="0"/>
          <a:lstStyle/>
          <a:p>
            <a:endParaRPr/>
          </a:p>
        </p:txBody>
      </p:sp>
      <p:sp>
        <p:nvSpPr>
          <p:cNvPr id="4" name="object 4"/>
          <p:cNvSpPr/>
          <p:nvPr/>
        </p:nvSpPr>
        <p:spPr>
          <a:xfrm>
            <a:off x="462546" y="2080780"/>
            <a:ext cx="2749550" cy="351155"/>
          </a:xfrm>
          <a:custGeom>
            <a:avLst/>
            <a:gdLst/>
            <a:ahLst/>
            <a:cxnLst/>
            <a:rect l="l" t="t" r="r" b="b"/>
            <a:pathLst>
              <a:path w="2749550" h="351155">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5">
                <a:moveTo>
                  <a:pt x="12700" y="12700"/>
                </a:moveTo>
                <a:lnTo>
                  <a:pt x="6350" y="12700"/>
                </a:lnTo>
                <a:lnTo>
                  <a:pt x="12700" y="6350"/>
                </a:lnTo>
                <a:lnTo>
                  <a:pt x="12700" y="12700"/>
                </a:lnTo>
                <a:close/>
              </a:path>
              <a:path w="2749550" h="351155">
                <a:moveTo>
                  <a:pt x="2736850" y="12700"/>
                </a:moveTo>
                <a:lnTo>
                  <a:pt x="12700" y="12700"/>
                </a:lnTo>
                <a:lnTo>
                  <a:pt x="12700" y="6350"/>
                </a:lnTo>
                <a:lnTo>
                  <a:pt x="2736850" y="6350"/>
                </a:lnTo>
                <a:lnTo>
                  <a:pt x="2736850" y="12700"/>
                </a:lnTo>
                <a:close/>
              </a:path>
              <a:path w="2749550" h="351155">
                <a:moveTo>
                  <a:pt x="2736850" y="344805"/>
                </a:moveTo>
                <a:lnTo>
                  <a:pt x="2736850" y="6350"/>
                </a:lnTo>
                <a:lnTo>
                  <a:pt x="2743200" y="12700"/>
                </a:lnTo>
                <a:lnTo>
                  <a:pt x="2749550" y="12700"/>
                </a:lnTo>
                <a:lnTo>
                  <a:pt x="2749550" y="338455"/>
                </a:lnTo>
                <a:lnTo>
                  <a:pt x="2743200" y="338455"/>
                </a:lnTo>
                <a:lnTo>
                  <a:pt x="2736850" y="344805"/>
                </a:lnTo>
                <a:close/>
              </a:path>
              <a:path w="2749550" h="351155">
                <a:moveTo>
                  <a:pt x="2749550" y="12700"/>
                </a:moveTo>
                <a:lnTo>
                  <a:pt x="2743200" y="12700"/>
                </a:lnTo>
                <a:lnTo>
                  <a:pt x="2736850" y="6350"/>
                </a:lnTo>
                <a:lnTo>
                  <a:pt x="2749550" y="6350"/>
                </a:lnTo>
                <a:lnTo>
                  <a:pt x="2749550" y="12700"/>
                </a:lnTo>
                <a:close/>
              </a:path>
              <a:path w="2749550" h="351155">
                <a:moveTo>
                  <a:pt x="12700" y="344805"/>
                </a:moveTo>
                <a:lnTo>
                  <a:pt x="6350" y="338455"/>
                </a:lnTo>
                <a:lnTo>
                  <a:pt x="12700" y="338455"/>
                </a:lnTo>
                <a:lnTo>
                  <a:pt x="12700" y="344805"/>
                </a:lnTo>
                <a:close/>
              </a:path>
              <a:path w="2749550" h="351155">
                <a:moveTo>
                  <a:pt x="2736850" y="344805"/>
                </a:moveTo>
                <a:lnTo>
                  <a:pt x="12700" y="344805"/>
                </a:lnTo>
                <a:lnTo>
                  <a:pt x="12700" y="338455"/>
                </a:lnTo>
                <a:lnTo>
                  <a:pt x="2736850" y="338455"/>
                </a:lnTo>
                <a:lnTo>
                  <a:pt x="2736850" y="344805"/>
                </a:lnTo>
                <a:close/>
              </a:path>
              <a:path w="2749550" h="351155">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5" name="object 5"/>
          <p:cNvSpPr/>
          <p:nvPr/>
        </p:nvSpPr>
        <p:spPr>
          <a:xfrm>
            <a:off x="469391" y="2519172"/>
            <a:ext cx="2737485" cy="338455"/>
          </a:xfrm>
          <a:custGeom>
            <a:avLst/>
            <a:gdLst/>
            <a:ahLst/>
            <a:cxnLst/>
            <a:rect l="l" t="t" r="r" b="b"/>
            <a:pathLst>
              <a:path w="2737485" h="338455">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6" name="object 6"/>
          <p:cNvSpPr/>
          <p:nvPr/>
        </p:nvSpPr>
        <p:spPr>
          <a:xfrm>
            <a:off x="462546" y="2512834"/>
            <a:ext cx="2749550" cy="351155"/>
          </a:xfrm>
          <a:custGeom>
            <a:avLst/>
            <a:gdLst/>
            <a:ahLst/>
            <a:cxnLst/>
            <a:rect l="l" t="t" r="r" b="b"/>
            <a:pathLst>
              <a:path w="2749550" h="351155">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5">
                <a:moveTo>
                  <a:pt x="12700" y="12700"/>
                </a:moveTo>
                <a:lnTo>
                  <a:pt x="6350" y="12700"/>
                </a:lnTo>
                <a:lnTo>
                  <a:pt x="12700" y="6350"/>
                </a:lnTo>
                <a:lnTo>
                  <a:pt x="12700" y="12700"/>
                </a:lnTo>
                <a:close/>
              </a:path>
              <a:path w="2749550" h="351155">
                <a:moveTo>
                  <a:pt x="2736850" y="12700"/>
                </a:moveTo>
                <a:lnTo>
                  <a:pt x="12700" y="12700"/>
                </a:lnTo>
                <a:lnTo>
                  <a:pt x="12700" y="6350"/>
                </a:lnTo>
                <a:lnTo>
                  <a:pt x="2736850" y="6350"/>
                </a:lnTo>
                <a:lnTo>
                  <a:pt x="2736850" y="12700"/>
                </a:lnTo>
                <a:close/>
              </a:path>
              <a:path w="2749550" h="351155">
                <a:moveTo>
                  <a:pt x="2736850" y="344805"/>
                </a:moveTo>
                <a:lnTo>
                  <a:pt x="2736850" y="6350"/>
                </a:lnTo>
                <a:lnTo>
                  <a:pt x="2743200" y="12700"/>
                </a:lnTo>
                <a:lnTo>
                  <a:pt x="2749550" y="12700"/>
                </a:lnTo>
                <a:lnTo>
                  <a:pt x="2749550" y="338455"/>
                </a:lnTo>
                <a:lnTo>
                  <a:pt x="2743200" y="338455"/>
                </a:lnTo>
                <a:lnTo>
                  <a:pt x="2736850" y="344805"/>
                </a:lnTo>
                <a:close/>
              </a:path>
              <a:path w="2749550" h="351155">
                <a:moveTo>
                  <a:pt x="2749550" y="12700"/>
                </a:moveTo>
                <a:lnTo>
                  <a:pt x="2743200" y="12700"/>
                </a:lnTo>
                <a:lnTo>
                  <a:pt x="2736850" y="6350"/>
                </a:lnTo>
                <a:lnTo>
                  <a:pt x="2749550" y="6350"/>
                </a:lnTo>
                <a:lnTo>
                  <a:pt x="2749550" y="12700"/>
                </a:lnTo>
                <a:close/>
              </a:path>
              <a:path w="2749550" h="351155">
                <a:moveTo>
                  <a:pt x="12700" y="344805"/>
                </a:moveTo>
                <a:lnTo>
                  <a:pt x="6350" y="338455"/>
                </a:lnTo>
                <a:lnTo>
                  <a:pt x="12700" y="338455"/>
                </a:lnTo>
                <a:lnTo>
                  <a:pt x="12700" y="344805"/>
                </a:lnTo>
                <a:close/>
              </a:path>
              <a:path w="2749550" h="351155">
                <a:moveTo>
                  <a:pt x="2736850" y="344805"/>
                </a:moveTo>
                <a:lnTo>
                  <a:pt x="12700" y="344805"/>
                </a:lnTo>
                <a:lnTo>
                  <a:pt x="12700" y="338455"/>
                </a:lnTo>
                <a:lnTo>
                  <a:pt x="2736850" y="338455"/>
                </a:lnTo>
                <a:lnTo>
                  <a:pt x="2736850" y="344805"/>
                </a:lnTo>
                <a:close/>
              </a:path>
              <a:path w="2749550" h="351155">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7" name="object 7"/>
          <p:cNvSpPr txBox="1"/>
          <p:nvPr/>
        </p:nvSpPr>
        <p:spPr>
          <a:xfrm>
            <a:off x="469391" y="2541409"/>
            <a:ext cx="2737485" cy="268605"/>
          </a:xfrm>
          <a:prstGeom prst="rect">
            <a:avLst/>
          </a:prstGeom>
        </p:spPr>
        <p:txBody>
          <a:bodyPr vert="horz" wrap="square" lIns="0" tIns="12065" rIns="0" bIns="0" rtlCol="0">
            <a:spAutoFit/>
          </a:bodyPr>
          <a:lstStyle/>
          <a:p>
            <a:pPr marL="370840">
              <a:lnSpc>
                <a:spcPct val="100000"/>
              </a:lnSpc>
              <a:spcBef>
                <a:spcPts val="95"/>
              </a:spcBef>
            </a:pPr>
            <a:r>
              <a:rPr sz="1600" spc="-5" dirty="0">
                <a:latin typeface="Times New Roman"/>
                <a:cs typeface="Times New Roman"/>
              </a:rPr>
              <a:t>Socket.getInputStream()</a:t>
            </a:r>
            <a:endParaRPr sz="1600">
              <a:latin typeface="Times New Roman"/>
              <a:cs typeface="Times New Roman"/>
            </a:endParaRPr>
          </a:p>
        </p:txBody>
      </p:sp>
      <p:sp>
        <p:nvSpPr>
          <p:cNvPr id="8" name="object 8"/>
          <p:cNvSpPr/>
          <p:nvPr/>
        </p:nvSpPr>
        <p:spPr>
          <a:xfrm>
            <a:off x="3421646" y="984542"/>
            <a:ext cx="1220787" cy="368744"/>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3636009" y="1022400"/>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0" name="object 10"/>
          <p:cNvSpPr txBox="1"/>
          <p:nvPr/>
        </p:nvSpPr>
        <p:spPr>
          <a:xfrm>
            <a:off x="4067441" y="1022400"/>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1" name="object 11"/>
          <p:cNvSpPr/>
          <p:nvPr/>
        </p:nvSpPr>
        <p:spPr>
          <a:xfrm>
            <a:off x="3421646" y="1694853"/>
            <a:ext cx="1223962" cy="341375"/>
          </a:xfrm>
          <a:prstGeom prst="rect">
            <a:avLst/>
          </a:prstGeom>
          <a:blipFill>
            <a:blip r:embed="rId3" cstate="print"/>
            <a:stretch>
              <a:fillRect/>
            </a:stretch>
          </a:blipFill>
        </p:spPr>
        <p:txBody>
          <a:bodyPr wrap="square" lIns="0" tIns="0" rIns="0" bIns="0" rtlCol="0"/>
          <a:lstStyle/>
          <a:p>
            <a:endParaRPr/>
          </a:p>
        </p:txBody>
      </p:sp>
      <p:sp>
        <p:nvSpPr>
          <p:cNvPr id="12" name="object 12"/>
          <p:cNvSpPr txBox="1"/>
          <p:nvPr/>
        </p:nvSpPr>
        <p:spPr>
          <a:xfrm>
            <a:off x="3636009" y="1732711"/>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3" name="object 13"/>
          <p:cNvSpPr txBox="1"/>
          <p:nvPr/>
        </p:nvSpPr>
        <p:spPr>
          <a:xfrm>
            <a:off x="4067441" y="1732711"/>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4" name="object 14"/>
          <p:cNvSpPr/>
          <p:nvPr/>
        </p:nvSpPr>
        <p:spPr>
          <a:xfrm>
            <a:off x="4645152" y="1098803"/>
            <a:ext cx="2159507" cy="313944"/>
          </a:xfrm>
          <a:prstGeom prst="rect">
            <a:avLst/>
          </a:prstGeom>
          <a:blipFill>
            <a:blip r:embed="rId4" cstate="print"/>
            <a:stretch>
              <a:fillRect/>
            </a:stretch>
          </a:blipFill>
        </p:spPr>
        <p:txBody>
          <a:bodyPr wrap="square" lIns="0" tIns="0" rIns="0" bIns="0" rtlCol="0"/>
          <a:lstStyle/>
          <a:p>
            <a:endParaRPr/>
          </a:p>
        </p:txBody>
      </p:sp>
      <p:sp>
        <p:nvSpPr>
          <p:cNvPr id="15" name="object 15"/>
          <p:cNvSpPr/>
          <p:nvPr/>
        </p:nvSpPr>
        <p:spPr>
          <a:xfrm>
            <a:off x="4641799" y="1095476"/>
            <a:ext cx="2166620" cy="321310"/>
          </a:xfrm>
          <a:custGeom>
            <a:avLst/>
            <a:gdLst/>
            <a:ahLst/>
            <a:cxnLst/>
            <a:rect l="l" t="t" r="r" b="b"/>
            <a:pathLst>
              <a:path w="2166620" h="321309">
                <a:moveTo>
                  <a:pt x="2166620" y="321310"/>
                </a:moveTo>
                <a:lnTo>
                  <a:pt x="0" y="321310"/>
                </a:lnTo>
                <a:lnTo>
                  <a:pt x="0" y="0"/>
                </a:lnTo>
                <a:lnTo>
                  <a:pt x="2166620" y="0"/>
                </a:lnTo>
                <a:lnTo>
                  <a:pt x="2166620" y="3810"/>
                </a:lnTo>
                <a:lnTo>
                  <a:pt x="7620" y="3810"/>
                </a:lnTo>
                <a:lnTo>
                  <a:pt x="3810" y="7620"/>
                </a:lnTo>
                <a:lnTo>
                  <a:pt x="7620" y="7620"/>
                </a:lnTo>
                <a:lnTo>
                  <a:pt x="7620" y="313690"/>
                </a:lnTo>
                <a:lnTo>
                  <a:pt x="3810" y="313690"/>
                </a:lnTo>
                <a:lnTo>
                  <a:pt x="7620" y="317500"/>
                </a:lnTo>
                <a:lnTo>
                  <a:pt x="2166620" y="317500"/>
                </a:lnTo>
                <a:lnTo>
                  <a:pt x="2166620" y="321310"/>
                </a:lnTo>
                <a:close/>
              </a:path>
              <a:path w="2166620" h="321309">
                <a:moveTo>
                  <a:pt x="7620" y="7620"/>
                </a:moveTo>
                <a:lnTo>
                  <a:pt x="3810" y="7620"/>
                </a:lnTo>
                <a:lnTo>
                  <a:pt x="7620" y="3810"/>
                </a:lnTo>
                <a:lnTo>
                  <a:pt x="7620" y="7620"/>
                </a:lnTo>
                <a:close/>
              </a:path>
              <a:path w="2166620" h="321309">
                <a:moveTo>
                  <a:pt x="2159000" y="7620"/>
                </a:moveTo>
                <a:lnTo>
                  <a:pt x="7620" y="7620"/>
                </a:lnTo>
                <a:lnTo>
                  <a:pt x="7620" y="3810"/>
                </a:lnTo>
                <a:lnTo>
                  <a:pt x="2159000" y="3810"/>
                </a:lnTo>
                <a:lnTo>
                  <a:pt x="2159000" y="7620"/>
                </a:lnTo>
                <a:close/>
              </a:path>
              <a:path w="2166620" h="321309">
                <a:moveTo>
                  <a:pt x="2159000" y="317500"/>
                </a:moveTo>
                <a:lnTo>
                  <a:pt x="2159000" y="3810"/>
                </a:lnTo>
                <a:lnTo>
                  <a:pt x="2162810" y="7620"/>
                </a:lnTo>
                <a:lnTo>
                  <a:pt x="2166620" y="7620"/>
                </a:lnTo>
                <a:lnTo>
                  <a:pt x="2166620" y="313690"/>
                </a:lnTo>
                <a:lnTo>
                  <a:pt x="2162810" y="313690"/>
                </a:lnTo>
                <a:lnTo>
                  <a:pt x="2159000" y="317500"/>
                </a:lnTo>
                <a:close/>
              </a:path>
              <a:path w="2166620" h="321309">
                <a:moveTo>
                  <a:pt x="2166620" y="7620"/>
                </a:moveTo>
                <a:lnTo>
                  <a:pt x="2162810" y="7620"/>
                </a:lnTo>
                <a:lnTo>
                  <a:pt x="2159000" y="3810"/>
                </a:lnTo>
                <a:lnTo>
                  <a:pt x="2166620" y="3810"/>
                </a:lnTo>
                <a:lnTo>
                  <a:pt x="2166620" y="7620"/>
                </a:lnTo>
                <a:close/>
              </a:path>
              <a:path w="2166620" h="321309">
                <a:moveTo>
                  <a:pt x="7620" y="317500"/>
                </a:moveTo>
                <a:lnTo>
                  <a:pt x="3810" y="313690"/>
                </a:lnTo>
                <a:lnTo>
                  <a:pt x="7620" y="313690"/>
                </a:lnTo>
                <a:lnTo>
                  <a:pt x="7620" y="317500"/>
                </a:lnTo>
                <a:close/>
              </a:path>
              <a:path w="2166620" h="321309">
                <a:moveTo>
                  <a:pt x="2159000" y="317500"/>
                </a:moveTo>
                <a:lnTo>
                  <a:pt x="7620" y="317500"/>
                </a:lnTo>
                <a:lnTo>
                  <a:pt x="7620" y="313690"/>
                </a:lnTo>
                <a:lnTo>
                  <a:pt x="2159000" y="313690"/>
                </a:lnTo>
                <a:lnTo>
                  <a:pt x="2159000" y="317500"/>
                </a:lnTo>
                <a:close/>
              </a:path>
              <a:path w="2166620" h="321309">
                <a:moveTo>
                  <a:pt x="2166620" y="317500"/>
                </a:moveTo>
                <a:lnTo>
                  <a:pt x="2159000" y="317500"/>
                </a:lnTo>
                <a:lnTo>
                  <a:pt x="2162810" y="313690"/>
                </a:lnTo>
                <a:lnTo>
                  <a:pt x="2166620" y="313690"/>
                </a:lnTo>
                <a:lnTo>
                  <a:pt x="2166620" y="317500"/>
                </a:lnTo>
                <a:close/>
              </a:path>
            </a:pathLst>
          </a:custGeom>
          <a:solidFill>
            <a:srgbClr val="A1A1A1"/>
          </a:solidFill>
        </p:spPr>
        <p:txBody>
          <a:bodyPr wrap="square" lIns="0" tIns="0" rIns="0" bIns="0" rtlCol="0"/>
          <a:lstStyle/>
          <a:p>
            <a:endParaRPr/>
          </a:p>
        </p:txBody>
      </p:sp>
      <p:sp>
        <p:nvSpPr>
          <p:cNvPr id="16" name="object 16"/>
          <p:cNvSpPr txBox="1"/>
          <p:nvPr/>
        </p:nvSpPr>
        <p:spPr>
          <a:xfrm>
            <a:off x="4645152" y="1101191"/>
            <a:ext cx="2159635" cy="268605"/>
          </a:xfrm>
          <a:prstGeom prst="rect">
            <a:avLst/>
          </a:prstGeom>
        </p:spPr>
        <p:txBody>
          <a:bodyPr vert="horz" wrap="square" lIns="0" tIns="12065" rIns="0" bIns="0" rtlCol="0">
            <a:spAutoFit/>
          </a:bodyPr>
          <a:lstStyle/>
          <a:p>
            <a:pPr marL="306070">
              <a:lnSpc>
                <a:spcPct val="100000"/>
              </a:lnSpc>
              <a:spcBef>
                <a:spcPts val="95"/>
              </a:spcBef>
            </a:pPr>
            <a:r>
              <a:rPr sz="1600" spc="-5" dirty="0">
                <a:latin typeface="Times New Roman"/>
                <a:cs typeface="Times New Roman"/>
              </a:rPr>
              <a:t>ObjectInputStream</a:t>
            </a:r>
            <a:endParaRPr sz="1600">
              <a:latin typeface="Times New Roman"/>
              <a:cs typeface="Times New Roman"/>
            </a:endParaRPr>
          </a:p>
        </p:txBody>
      </p:sp>
      <p:sp>
        <p:nvSpPr>
          <p:cNvPr id="17" name="object 17"/>
          <p:cNvSpPr/>
          <p:nvPr/>
        </p:nvSpPr>
        <p:spPr>
          <a:xfrm>
            <a:off x="4645152" y="1793748"/>
            <a:ext cx="2159507" cy="312420"/>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4641799" y="1789341"/>
            <a:ext cx="2166620" cy="321310"/>
          </a:xfrm>
          <a:custGeom>
            <a:avLst/>
            <a:gdLst/>
            <a:ahLst/>
            <a:cxnLst/>
            <a:rect l="l" t="t" r="r" b="b"/>
            <a:pathLst>
              <a:path w="2166620" h="321310">
                <a:moveTo>
                  <a:pt x="2166620" y="321309"/>
                </a:moveTo>
                <a:lnTo>
                  <a:pt x="0" y="321309"/>
                </a:lnTo>
                <a:lnTo>
                  <a:pt x="0" y="0"/>
                </a:lnTo>
                <a:lnTo>
                  <a:pt x="2166620" y="0"/>
                </a:lnTo>
                <a:lnTo>
                  <a:pt x="2166620" y="3809"/>
                </a:lnTo>
                <a:lnTo>
                  <a:pt x="7620" y="3809"/>
                </a:lnTo>
                <a:lnTo>
                  <a:pt x="3810" y="7619"/>
                </a:lnTo>
                <a:lnTo>
                  <a:pt x="7620" y="7619"/>
                </a:lnTo>
                <a:lnTo>
                  <a:pt x="7620" y="313689"/>
                </a:lnTo>
                <a:lnTo>
                  <a:pt x="3810" y="313689"/>
                </a:lnTo>
                <a:lnTo>
                  <a:pt x="7620" y="317499"/>
                </a:lnTo>
                <a:lnTo>
                  <a:pt x="2166620" y="317499"/>
                </a:lnTo>
                <a:lnTo>
                  <a:pt x="2166620" y="321309"/>
                </a:lnTo>
                <a:close/>
              </a:path>
              <a:path w="2166620" h="321310">
                <a:moveTo>
                  <a:pt x="7620" y="7619"/>
                </a:moveTo>
                <a:lnTo>
                  <a:pt x="3810" y="7619"/>
                </a:lnTo>
                <a:lnTo>
                  <a:pt x="7620" y="3809"/>
                </a:lnTo>
                <a:lnTo>
                  <a:pt x="7620" y="7619"/>
                </a:lnTo>
                <a:close/>
              </a:path>
              <a:path w="2166620" h="321310">
                <a:moveTo>
                  <a:pt x="2159000" y="7619"/>
                </a:moveTo>
                <a:lnTo>
                  <a:pt x="7620" y="7619"/>
                </a:lnTo>
                <a:lnTo>
                  <a:pt x="7620" y="3809"/>
                </a:lnTo>
                <a:lnTo>
                  <a:pt x="2159000" y="3809"/>
                </a:lnTo>
                <a:lnTo>
                  <a:pt x="2159000" y="7619"/>
                </a:lnTo>
                <a:close/>
              </a:path>
              <a:path w="2166620" h="321310">
                <a:moveTo>
                  <a:pt x="2159000" y="317499"/>
                </a:moveTo>
                <a:lnTo>
                  <a:pt x="2159000" y="3809"/>
                </a:lnTo>
                <a:lnTo>
                  <a:pt x="2162810" y="7619"/>
                </a:lnTo>
                <a:lnTo>
                  <a:pt x="2166620" y="7619"/>
                </a:lnTo>
                <a:lnTo>
                  <a:pt x="2166620" y="313689"/>
                </a:lnTo>
                <a:lnTo>
                  <a:pt x="2162810" y="313689"/>
                </a:lnTo>
                <a:lnTo>
                  <a:pt x="2159000" y="317499"/>
                </a:lnTo>
                <a:close/>
              </a:path>
              <a:path w="2166620" h="321310">
                <a:moveTo>
                  <a:pt x="2166620" y="7619"/>
                </a:moveTo>
                <a:lnTo>
                  <a:pt x="2162810" y="7619"/>
                </a:lnTo>
                <a:lnTo>
                  <a:pt x="2159000" y="3809"/>
                </a:lnTo>
                <a:lnTo>
                  <a:pt x="2166620" y="3809"/>
                </a:lnTo>
                <a:lnTo>
                  <a:pt x="2166620" y="7619"/>
                </a:lnTo>
                <a:close/>
              </a:path>
              <a:path w="2166620" h="321310">
                <a:moveTo>
                  <a:pt x="7620" y="317499"/>
                </a:moveTo>
                <a:lnTo>
                  <a:pt x="3810" y="313689"/>
                </a:lnTo>
                <a:lnTo>
                  <a:pt x="7620" y="313689"/>
                </a:lnTo>
                <a:lnTo>
                  <a:pt x="7620" y="317499"/>
                </a:lnTo>
                <a:close/>
              </a:path>
              <a:path w="2166620" h="321310">
                <a:moveTo>
                  <a:pt x="2159000" y="317499"/>
                </a:moveTo>
                <a:lnTo>
                  <a:pt x="7620" y="317499"/>
                </a:lnTo>
                <a:lnTo>
                  <a:pt x="7620" y="313689"/>
                </a:lnTo>
                <a:lnTo>
                  <a:pt x="2159000" y="313689"/>
                </a:lnTo>
                <a:lnTo>
                  <a:pt x="2159000" y="317499"/>
                </a:lnTo>
                <a:close/>
              </a:path>
              <a:path w="2166620" h="321310">
                <a:moveTo>
                  <a:pt x="2166620" y="317499"/>
                </a:moveTo>
                <a:lnTo>
                  <a:pt x="2159000" y="317499"/>
                </a:lnTo>
                <a:lnTo>
                  <a:pt x="2162810" y="313689"/>
                </a:lnTo>
                <a:lnTo>
                  <a:pt x="2166620" y="313689"/>
                </a:lnTo>
                <a:lnTo>
                  <a:pt x="2166620" y="317499"/>
                </a:lnTo>
                <a:close/>
              </a:path>
            </a:pathLst>
          </a:custGeom>
          <a:solidFill>
            <a:srgbClr val="A1A1A1"/>
          </a:solidFill>
        </p:spPr>
        <p:txBody>
          <a:bodyPr wrap="square" lIns="0" tIns="0" rIns="0" bIns="0" rtlCol="0"/>
          <a:lstStyle/>
          <a:p>
            <a:endParaRPr/>
          </a:p>
        </p:txBody>
      </p:sp>
      <p:sp>
        <p:nvSpPr>
          <p:cNvPr id="19" name="object 19"/>
          <p:cNvSpPr txBox="1"/>
          <p:nvPr/>
        </p:nvSpPr>
        <p:spPr>
          <a:xfrm>
            <a:off x="4645152" y="1795056"/>
            <a:ext cx="2159635" cy="268605"/>
          </a:xfrm>
          <a:prstGeom prst="rect">
            <a:avLst/>
          </a:prstGeom>
        </p:spPr>
        <p:txBody>
          <a:bodyPr vert="horz" wrap="square" lIns="0" tIns="12065" rIns="0" bIns="0" rtlCol="0">
            <a:spAutoFit/>
          </a:bodyPr>
          <a:lstStyle/>
          <a:p>
            <a:pPr marL="384810">
              <a:lnSpc>
                <a:spcPct val="100000"/>
              </a:lnSpc>
              <a:spcBef>
                <a:spcPts val="95"/>
              </a:spcBef>
            </a:pPr>
            <a:r>
              <a:rPr sz="1600" spc="-5" dirty="0">
                <a:latin typeface="Times New Roman"/>
                <a:cs typeface="Times New Roman"/>
              </a:rPr>
              <a:t>DataInputStream</a:t>
            </a:r>
            <a:endParaRPr sz="1600" dirty="0">
              <a:latin typeface="Times New Roman"/>
              <a:cs typeface="Times New Roman"/>
            </a:endParaRPr>
          </a:p>
        </p:txBody>
      </p:sp>
      <p:sp>
        <p:nvSpPr>
          <p:cNvPr id="20" name="object 20"/>
          <p:cNvSpPr/>
          <p:nvPr/>
        </p:nvSpPr>
        <p:spPr>
          <a:xfrm>
            <a:off x="6806196" y="1204061"/>
            <a:ext cx="1151255" cy="76200"/>
          </a:xfrm>
          <a:custGeom>
            <a:avLst/>
            <a:gdLst/>
            <a:ahLst/>
            <a:cxnLst/>
            <a:rect l="l" t="t" r="r" b="b"/>
            <a:pathLst>
              <a:path w="1151254" h="76200">
                <a:moveTo>
                  <a:pt x="1074737" y="76200"/>
                </a:moveTo>
                <a:lnTo>
                  <a:pt x="1074737" y="0"/>
                </a:lnTo>
                <a:lnTo>
                  <a:pt x="1138237" y="31750"/>
                </a:lnTo>
                <a:lnTo>
                  <a:pt x="1093787" y="31750"/>
                </a:lnTo>
                <a:lnTo>
                  <a:pt x="1093787" y="44450"/>
                </a:lnTo>
                <a:lnTo>
                  <a:pt x="1138237" y="44450"/>
                </a:lnTo>
                <a:lnTo>
                  <a:pt x="1074737" y="76200"/>
                </a:lnTo>
                <a:close/>
              </a:path>
              <a:path w="1151254" h="76200">
                <a:moveTo>
                  <a:pt x="1074737" y="44450"/>
                </a:moveTo>
                <a:lnTo>
                  <a:pt x="0" y="44450"/>
                </a:lnTo>
                <a:lnTo>
                  <a:pt x="0" y="31750"/>
                </a:lnTo>
                <a:lnTo>
                  <a:pt x="1074737" y="31750"/>
                </a:lnTo>
                <a:lnTo>
                  <a:pt x="1074737" y="44450"/>
                </a:lnTo>
                <a:close/>
              </a:path>
              <a:path w="1151254" h="76200">
                <a:moveTo>
                  <a:pt x="1138237" y="44450"/>
                </a:moveTo>
                <a:lnTo>
                  <a:pt x="1093787" y="44450"/>
                </a:lnTo>
                <a:lnTo>
                  <a:pt x="1093787" y="31750"/>
                </a:lnTo>
                <a:lnTo>
                  <a:pt x="1138237" y="31750"/>
                </a:lnTo>
                <a:lnTo>
                  <a:pt x="1150937" y="38100"/>
                </a:lnTo>
                <a:lnTo>
                  <a:pt x="1138237" y="44450"/>
                </a:lnTo>
                <a:close/>
              </a:path>
            </a:pathLst>
          </a:custGeom>
          <a:solidFill>
            <a:srgbClr val="967A2C"/>
          </a:solidFill>
        </p:spPr>
        <p:txBody>
          <a:bodyPr wrap="square" lIns="0" tIns="0" rIns="0" bIns="0" rtlCol="0"/>
          <a:lstStyle/>
          <a:p>
            <a:endParaRPr/>
          </a:p>
        </p:txBody>
      </p:sp>
      <p:sp>
        <p:nvSpPr>
          <p:cNvPr id="21" name="object 21"/>
          <p:cNvSpPr/>
          <p:nvPr/>
        </p:nvSpPr>
        <p:spPr>
          <a:xfrm>
            <a:off x="7014971" y="948474"/>
            <a:ext cx="589280" cy="300990"/>
          </a:xfrm>
          <a:custGeom>
            <a:avLst/>
            <a:gdLst/>
            <a:ahLst/>
            <a:cxnLst/>
            <a:rect l="l" t="t" r="r" b="b"/>
            <a:pathLst>
              <a:path w="589279" h="300990">
                <a:moveTo>
                  <a:pt x="28727" y="104140"/>
                </a:moveTo>
                <a:lnTo>
                  <a:pt x="13944" y="104140"/>
                </a:lnTo>
                <a:lnTo>
                  <a:pt x="18478" y="96520"/>
                </a:lnTo>
                <a:lnTo>
                  <a:pt x="18745" y="96520"/>
                </a:lnTo>
                <a:lnTo>
                  <a:pt x="24180" y="90170"/>
                </a:lnTo>
                <a:lnTo>
                  <a:pt x="30225" y="82550"/>
                </a:lnTo>
                <a:lnTo>
                  <a:pt x="36855" y="76200"/>
                </a:lnTo>
                <a:lnTo>
                  <a:pt x="44056" y="69850"/>
                </a:lnTo>
                <a:lnTo>
                  <a:pt x="51803" y="64770"/>
                </a:lnTo>
                <a:lnTo>
                  <a:pt x="60083" y="58420"/>
                </a:lnTo>
                <a:lnTo>
                  <a:pt x="68872" y="53340"/>
                </a:lnTo>
                <a:lnTo>
                  <a:pt x="78155" y="46990"/>
                </a:lnTo>
                <a:lnTo>
                  <a:pt x="87909" y="41910"/>
                </a:lnTo>
                <a:lnTo>
                  <a:pt x="98132" y="36830"/>
                </a:lnTo>
                <a:lnTo>
                  <a:pt x="108788" y="33020"/>
                </a:lnTo>
                <a:lnTo>
                  <a:pt x="119862" y="27940"/>
                </a:lnTo>
                <a:lnTo>
                  <a:pt x="131343" y="24130"/>
                </a:lnTo>
                <a:lnTo>
                  <a:pt x="155473" y="16510"/>
                </a:lnTo>
                <a:lnTo>
                  <a:pt x="181000" y="11430"/>
                </a:lnTo>
                <a:lnTo>
                  <a:pt x="194259" y="7620"/>
                </a:lnTo>
                <a:lnTo>
                  <a:pt x="207810" y="6350"/>
                </a:lnTo>
                <a:lnTo>
                  <a:pt x="221653" y="3810"/>
                </a:lnTo>
                <a:lnTo>
                  <a:pt x="264693" y="0"/>
                </a:lnTo>
                <a:lnTo>
                  <a:pt x="324256" y="0"/>
                </a:lnTo>
                <a:lnTo>
                  <a:pt x="367296" y="3810"/>
                </a:lnTo>
                <a:lnTo>
                  <a:pt x="381126" y="6350"/>
                </a:lnTo>
                <a:lnTo>
                  <a:pt x="394690" y="7620"/>
                </a:lnTo>
                <a:lnTo>
                  <a:pt x="407949" y="11430"/>
                </a:lnTo>
                <a:lnTo>
                  <a:pt x="414420" y="12700"/>
                </a:lnTo>
                <a:lnTo>
                  <a:pt x="265328" y="12700"/>
                </a:lnTo>
                <a:lnTo>
                  <a:pt x="250913" y="13970"/>
                </a:lnTo>
                <a:lnTo>
                  <a:pt x="251078" y="13970"/>
                </a:lnTo>
                <a:lnTo>
                  <a:pt x="236893" y="15240"/>
                </a:lnTo>
                <a:lnTo>
                  <a:pt x="237045" y="15240"/>
                </a:lnTo>
                <a:lnTo>
                  <a:pt x="223113" y="16510"/>
                </a:lnTo>
                <a:lnTo>
                  <a:pt x="223278" y="16510"/>
                </a:lnTo>
                <a:lnTo>
                  <a:pt x="209600" y="19050"/>
                </a:lnTo>
                <a:lnTo>
                  <a:pt x="209765" y="19050"/>
                </a:lnTo>
                <a:lnTo>
                  <a:pt x="196380" y="20320"/>
                </a:lnTo>
                <a:lnTo>
                  <a:pt x="196545" y="20320"/>
                </a:lnTo>
                <a:lnTo>
                  <a:pt x="183464" y="22860"/>
                </a:lnTo>
                <a:lnTo>
                  <a:pt x="183642" y="22860"/>
                </a:lnTo>
                <a:lnTo>
                  <a:pt x="170878" y="26670"/>
                </a:lnTo>
                <a:lnTo>
                  <a:pt x="171056" y="26670"/>
                </a:lnTo>
                <a:lnTo>
                  <a:pt x="158623" y="29210"/>
                </a:lnTo>
                <a:lnTo>
                  <a:pt x="158813" y="29210"/>
                </a:lnTo>
                <a:lnTo>
                  <a:pt x="146735" y="33020"/>
                </a:lnTo>
                <a:lnTo>
                  <a:pt x="146926" y="33020"/>
                </a:lnTo>
                <a:lnTo>
                  <a:pt x="135229" y="36830"/>
                </a:lnTo>
                <a:lnTo>
                  <a:pt x="135420" y="36830"/>
                </a:lnTo>
                <a:lnTo>
                  <a:pt x="124129" y="40640"/>
                </a:lnTo>
                <a:lnTo>
                  <a:pt x="124320" y="40640"/>
                </a:lnTo>
                <a:lnTo>
                  <a:pt x="113436" y="44450"/>
                </a:lnTo>
                <a:lnTo>
                  <a:pt x="113639" y="44450"/>
                </a:lnTo>
                <a:lnTo>
                  <a:pt x="103187" y="49530"/>
                </a:lnTo>
                <a:lnTo>
                  <a:pt x="103390" y="49530"/>
                </a:lnTo>
                <a:lnTo>
                  <a:pt x="93383" y="53340"/>
                </a:lnTo>
                <a:lnTo>
                  <a:pt x="93611" y="53340"/>
                </a:lnTo>
                <a:lnTo>
                  <a:pt x="84061" y="58420"/>
                </a:lnTo>
                <a:lnTo>
                  <a:pt x="84289" y="58420"/>
                </a:lnTo>
                <a:lnTo>
                  <a:pt x="75234" y="63500"/>
                </a:lnTo>
                <a:lnTo>
                  <a:pt x="75463" y="63500"/>
                </a:lnTo>
                <a:lnTo>
                  <a:pt x="66916" y="68580"/>
                </a:lnTo>
                <a:lnTo>
                  <a:pt x="67157" y="68580"/>
                </a:lnTo>
                <a:lnTo>
                  <a:pt x="59131" y="74930"/>
                </a:lnTo>
                <a:lnTo>
                  <a:pt x="59372" y="74930"/>
                </a:lnTo>
                <a:lnTo>
                  <a:pt x="51879" y="80010"/>
                </a:lnTo>
                <a:lnTo>
                  <a:pt x="52146" y="80010"/>
                </a:lnTo>
                <a:lnTo>
                  <a:pt x="45211" y="86360"/>
                </a:lnTo>
                <a:lnTo>
                  <a:pt x="45478" y="86360"/>
                </a:lnTo>
                <a:lnTo>
                  <a:pt x="40388" y="91440"/>
                </a:lnTo>
                <a:lnTo>
                  <a:pt x="39382" y="91440"/>
                </a:lnTo>
                <a:lnTo>
                  <a:pt x="33616" y="97790"/>
                </a:lnTo>
                <a:lnTo>
                  <a:pt x="33896" y="97790"/>
                </a:lnTo>
                <a:lnTo>
                  <a:pt x="28727" y="104140"/>
                </a:lnTo>
                <a:close/>
              </a:path>
              <a:path w="589279" h="300990">
                <a:moveTo>
                  <a:pt x="549668" y="92710"/>
                </a:moveTo>
                <a:lnTo>
                  <a:pt x="543305" y="86360"/>
                </a:lnTo>
                <a:lnTo>
                  <a:pt x="543572" y="86360"/>
                </a:lnTo>
                <a:lnTo>
                  <a:pt x="536638" y="80010"/>
                </a:lnTo>
                <a:lnTo>
                  <a:pt x="536892" y="80010"/>
                </a:lnTo>
                <a:lnTo>
                  <a:pt x="529399" y="74930"/>
                </a:lnTo>
                <a:lnTo>
                  <a:pt x="529653" y="74930"/>
                </a:lnTo>
                <a:lnTo>
                  <a:pt x="521614" y="68580"/>
                </a:lnTo>
                <a:lnTo>
                  <a:pt x="521868" y="68580"/>
                </a:lnTo>
                <a:lnTo>
                  <a:pt x="513308" y="63500"/>
                </a:lnTo>
                <a:lnTo>
                  <a:pt x="513549" y="63500"/>
                </a:lnTo>
                <a:lnTo>
                  <a:pt x="504482" y="58420"/>
                </a:lnTo>
                <a:lnTo>
                  <a:pt x="504710" y="58420"/>
                </a:lnTo>
                <a:lnTo>
                  <a:pt x="495173" y="53340"/>
                </a:lnTo>
                <a:lnTo>
                  <a:pt x="495388" y="53340"/>
                </a:lnTo>
                <a:lnTo>
                  <a:pt x="485381" y="49530"/>
                </a:lnTo>
                <a:lnTo>
                  <a:pt x="485597" y="49530"/>
                </a:lnTo>
                <a:lnTo>
                  <a:pt x="475132" y="44450"/>
                </a:lnTo>
                <a:lnTo>
                  <a:pt x="475335" y="44450"/>
                </a:lnTo>
                <a:lnTo>
                  <a:pt x="464451" y="40640"/>
                </a:lnTo>
                <a:lnTo>
                  <a:pt x="464654" y="40640"/>
                </a:lnTo>
                <a:lnTo>
                  <a:pt x="453351" y="36830"/>
                </a:lnTo>
                <a:lnTo>
                  <a:pt x="453542" y="36830"/>
                </a:lnTo>
                <a:lnTo>
                  <a:pt x="441858" y="33020"/>
                </a:lnTo>
                <a:lnTo>
                  <a:pt x="442036" y="33020"/>
                </a:lnTo>
                <a:lnTo>
                  <a:pt x="429971" y="29210"/>
                </a:lnTo>
                <a:lnTo>
                  <a:pt x="430149" y="29210"/>
                </a:lnTo>
                <a:lnTo>
                  <a:pt x="417728" y="26670"/>
                </a:lnTo>
                <a:lnTo>
                  <a:pt x="417906" y="26670"/>
                </a:lnTo>
                <a:lnTo>
                  <a:pt x="405142" y="22860"/>
                </a:lnTo>
                <a:lnTo>
                  <a:pt x="405307" y="22860"/>
                </a:lnTo>
                <a:lnTo>
                  <a:pt x="392226" y="20320"/>
                </a:lnTo>
                <a:lnTo>
                  <a:pt x="392391" y="20320"/>
                </a:lnTo>
                <a:lnTo>
                  <a:pt x="379006" y="19050"/>
                </a:lnTo>
                <a:lnTo>
                  <a:pt x="379171" y="19050"/>
                </a:lnTo>
                <a:lnTo>
                  <a:pt x="365505" y="16510"/>
                </a:lnTo>
                <a:lnTo>
                  <a:pt x="365671" y="16510"/>
                </a:lnTo>
                <a:lnTo>
                  <a:pt x="351726" y="15240"/>
                </a:lnTo>
                <a:lnTo>
                  <a:pt x="351891" y="15240"/>
                </a:lnTo>
                <a:lnTo>
                  <a:pt x="337705" y="13970"/>
                </a:lnTo>
                <a:lnTo>
                  <a:pt x="337870" y="13970"/>
                </a:lnTo>
                <a:lnTo>
                  <a:pt x="323443" y="12700"/>
                </a:lnTo>
                <a:lnTo>
                  <a:pt x="414420" y="12700"/>
                </a:lnTo>
                <a:lnTo>
                  <a:pt x="457619" y="24130"/>
                </a:lnTo>
                <a:lnTo>
                  <a:pt x="490854" y="38100"/>
                </a:lnTo>
                <a:lnTo>
                  <a:pt x="501078" y="41910"/>
                </a:lnTo>
                <a:lnTo>
                  <a:pt x="510844" y="46990"/>
                </a:lnTo>
                <a:lnTo>
                  <a:pt x="520141" y="53340"/>
                </a:lnTo>
                <a:lnTo>
                  <a:pt x="528942" y="58420"/>
                </a:lnTo>
                <a:lnTo>
                  <a:pt x="537222" y="64770"/>
                </a:lnTo>
                <a:lnTo>
                  <a:pt x="544982" y="69850"/>
                </a:lnTo>
                <a:lnTo>
                  <a:pt x="551916" y="76200"/>
                </a:lnTo>
                <a:lnTo>
                  <a:pt x="558546" y="82550"/>
                </a:lnTo>
                <a:lnTo>
                  <a:pt x="564591" y="90170"/>
                </a:lnTo>
                <a:lnTo>
                  <a:pt x="564870" y="90170"/>
                </a:lnTo>
                <a:lnTo>
                  <a:pt x="565957" y="91440"/>
                </a:lnTo>
                <a:lnTo>
                  <a:pt x="549389" y="91440"/>
                </a:lnTo>
                <a:lnTo>
                  <a:pt x="549668" y="92710"/>
                </a:lnTo>
                <a:close/>
              </a:path>
              <a:path w="589279" h="300990">
                <a:moveTo>
                  <a:pt x="39116" y="92710"/>
                </a:moveTo>
                <a:lnTo>
                  <a:pt x="39382" y="91440"/>
                </a:lnTo>
                <a:lnTo>
                  <a:pt x="40388" y="91440"/>
                </a:lnTo>
                <a:lnTo>
                  <a:pt x="39116" y="92710"/>
                </a:lnTo>
                <a:close/>
              </a:path>
              <a:path w="589279" h="300990">
                <a:moveTo>
                  <a:pt x="574840" y="137160"/>
                </a:moveTo>
                <a:lnTo>
                  <a:pt x="574014" y="133350"/>
                </a:lnTo>
                <a:lnTo>
                  <a:pt x="573087" y="129540"/>
                </a:lnTo>
                <a:lnTo>
                  <a:pt x="571995" y="127000"/>
                </a:lnTo>
                <a:lnTo>
                  <a:pt x="570737" y="123190"/>
                </a:lnTo>
                <a:lnTo>
                  <a:pt x="569315" y="120650"/>
                </a:lnTo>
                <a:lnTo>
                  <a:pt x="567740" y="116840"/>
                </a:lnTo>
                <a:lnTo>
                  <a:pt x="567918" y="116840"/>
                </a:lnTo>
                <a:lnTo>
                  <a:pt x="564045" y="110490"/>
                </a:lnTo>
                <a:lnTo>
                  <a:pt x="564299" y="110490"/>
                </a:lnTo>
                <a:lnTo>
                  <a:pt x="559777" y="104140"/>
                </a:lnTo>
                <a:lnTo>
                  <a:pt x="560044" y="104140"/>
                </a:lnTo>
                <a:lnTo>
                  <a:pt x="554888" y="97790"/>
                </a:lnTo>
                <a:lnTo>
                  <a:pt x="555155" y="97790"/>
                </a:lnTo>
                <a:lnTo>
                  <a:pt x="549389" y="91440"/>
                </a:lnTo>
                <a:lnTo>
                  <a:pt x="565957" y="91440"/>
                </a:lnTo>
                <a:lnTo>
                  <a:pt x="570306" y="96520"/>
                </a:lnTo>
                <a:lnTo>
                  <a:pt x="575094" y="104140"/>
                </a:lnTo>
                <a:lnTo>
                  <a:pt x="578980" y="110490"/>
                </a:lnTo>
                <a:lnTo>
                  <a:pt x="580961" y="115570"/>
                </a:lnTo>
                <a:lnTo>
                  <a:pt x="582599" y="119380"/>
                </a:lnTo>
                <a:lnTo>
                  <a:pt x="587518" y="135890"/>
                </a:lnTo>
                <a:lnTo>
                  <a:pt x="574776" y="135890"/>
                </a:lnTo>
                <a:lnTo>
                  <a:pt x="574840" y="137160"/>
                </a:lnTo>
                <a:close/>
              </a:path>
              <a:path w="589279" h="300990">
                <a:moveTo>
                  <a:pt x="29006" y="196850"/>
                </a:moveTo>
                <a:lnTo>
                  <a:pt x="13690" y="196850"/>
                </a:lnTo>
                <a:lnTo>
                  <a:pt x="9613" y="189230"/>
                </a:lnTo>
                <a:lnTo>
                  <a:pt x="0" y="146050"/>
                </a:lnTo>
                <a:lnTo>
                  <a:pt x="330" y="142240"/>
                </a:lnTo>
                <a:lnTo>
                  <a:pt x="9613" y="111760"/>
                </a:lnTo>
                <a:lnTo>
                  <a:pt x="13690" y="104140"/>
                </a:lnTo>
                <a:lnTo>
                  <a:pt x="29006" y="104140"/>
                </a:lnTo>
                <a:lnTo>
                  <a:pt x="24472" y="110490"/>
                </a:lnTo>
                <a:lnTo>
                  <a:pt x="24739" y="110490"/>
                </a:lnTo>
                <a:lnTo>
                  <a:pt x="20853" y="116840"/>
                </a:lnTo>
                <a:lnTo>
                  <a:pt x="21043" y="116840"/>
                </a:lnTo>
                <a:lnTo>
                  <a:pt x="19342" y="120650"/>
                </a:lnTo>
                <a:lnTo>
                  <a:pt x="17932" y="123190"/>
                </a:lnTo>
                <a:lnTo>
                  <a:pt x="16687" y="127000"/>
                </a:lnTo>
                <a:lnTo>
                  <a:pt x="15608" y="129540"/>
                </a:lnTo>
                <a:lnTo>
                  <a:pt x="14693" y="133350"/>
                </a:lnTo>
                <a:lnTo>
                  <a:pt x="14211" y="135890"/>
                </a:lnTo>
                <a:lnTo>
                  <a:pt x="13995" y="135890"/>
                </a:lnTo>
                <a:lnTo>
                  <a:pt x="13347" y="139700"/>
                </a:lnTo>
                <a:lnTo>
                  <a:pt x="12928" y="143510"/>
                </a:lnTo>
                <a:lnTo>
                  <a:pt x="12780" y="146050"/>
                </a:lnTo>
                <a:lnTo>
                  <a:pt x="12687" y="153670"/>
                </a:lnTo>
                <a:lnTo>
                  <a:pt x="12966" y="157480"/>
                </a:lnTo>
                <a:lnTo>
                  <a:pt x="13398" y="160020"/>
                </a:lnTo>
                <a:lnTo>
                  <a:pt x="13995" y="163830"/>
                </a:lnTo>
                <a:lnTo>
                  <a:pt x="14770" y="167640"/>
                </a:lnTo>
                <a:lnTo>
                  <a:pt x="15028" y="167640"/>
                </a:lnTo>
                <a:lnTo>
                  <a:pt x="15697" y="170180"/>
                </a:lnTo>
                <a:lnTo>
                  <a:pt x="16789" y="173990"/>
                </a:lnTo>
                <a:lnTo>
                  <a:pt x="18046" y="176530"/>
                </a:lnTo>
                <a:lnTo>
                  <a:pt x="19456" y="180340"/>
                </a:lnTo>
                <a:lnTo>
                  <a:pt x="21043" y="182880"/>
                </a:lnTo>
                <a:lnTo>
                  <a:pt x="20853" y="182880"/>
                </a:lnTo>
                <a:lnTo>
                  <a:pt x="24739" y="190500"/>
                </a:lnTo>
                <a:lnTo>
                  <a:pt x="25228" y="190500"/>
                </a:lnTo>
                <a:lnTo>
                  <a:pt x="29006" y="196850"/>
                </a:lnTo>
                <a:close/>
              </a:path>
              <a:path w="589279" h="300990">
                <a:moveTo>
                  <a:pt x="13931" y="137160"/>
                </a:moveTo>
                <a:lnTo>
                  <a:pt x="13995" y="135890"/>
                </a:lnTo>
                <a:lnTo>
                  <a:pt x="14211" y="135890"/>
                </a:lnTo>
                <a:lnTo>
                  <a:pt x="13931" y="137160"/>
                </a:lnTo>
                <a:close/>
              </a:path>
              <a:path w="589279" h="300990">
                <a:moveTo>
                  <a:pt x="588484" y="157480"/>
                </a:moveTo>
                <a:lnTo>
                  <a:pt x="575818" y="157480"/>
                </a:lnTo>
                <a:lnTo>
                  <a:pt x="576097" y="153670"/>
                </a:lnTo>
                <a:lnTo>
                  <a:pt x="576084" y="146050"/>
                </a:lnTo>
                <a:lnTo>
                  <a:pt x="575818" y="143510"/>
                </a:lnTo>
                <a:lnTo>
                  <a:pt x="575386" y="139700"/>
                </a:lnTo>
                <a:lnTo>
                  <a:pt x="574776" y="135890"/>
                </a:lnTo>
                <a:lnTo>
                  <a:pt x="587518" y="135890"/>
                </a:lnTo>
                <a:lnTo>
                  <a:pt x="587984" y="138430"/>
                </a:lnTo>
                <a:lnTo>
                  <a:pt x="588479" y="142240"/>
                </a:lnTo>
                <a:lnTo>
                  <a:pt x="588772" y="146050"/>
                </a:lnTo>
                <a:lnTo>
                  <a:pt x="588759" y="154940"/>
                </a:lnTo>
                <a:lnTo>
                  <a:pt x="588484" y="157480"/>
                </a:lnTo>
                <a:close/>
              </a:path>
              <a:path w="589279" h="300990">
                <a:moveTo>
                  <a:pt x="12687" y="147320"/>
                </a:moveTo>
                <a:lnTo>
                  <a:pt x="12700" y="146050"/>
                </a:lnTo>
                <a:lnTo>
                  <a:pt x="12687" y="147320"/>
                </a:lnTo>
                <a:close/>
              </a:path>
              <a:path w="589279" h="300990">
                <a:moveTo>
                  <a:pt x="576097" y="147320"/>
                </a:moveTo>
                <a:lnTo>
                  <a:pt x="576004" y="146050"/>
                </a:lnTo>
                <a:lnTo>
                  <a:pt x="576097" y="147320"/>
                </a:lnTo>
                <a:close/>
              </a:path>
              <a:path w="589279" h="300990">
                <a:moveTo>
                  <a:pt x="13085" y="157480"/>
                </a:moveTo>
                <a:lnTo>
                  <a:pt x="12928" y="156210"/>
                </a:lnTo>
                <a:lnTo>
                  <a:pt x="13085" y="157480"/>
                </a:lnTo>
                <a:close/>
              </a:path>
              <a:path w="589279" h="300990">
                <a:moveTo>
                  <a:pt x="586922" y="167640"/>
                </a:moveTo>
                <a:lnTo>
                  <a:pt x="574014" y="167640"/>
                </a:lnTo>
                <a:lnTo>
                  <a:pt x="574840" y="163830"/>
                </a:lnTo>
                <a:lnTo>
                  <a:pt x="575424" y="160020"/>
                </a:lnTo>
                <a:lnTo>
                  <a:pt x="575843" y="156210"/>
                </a:lnTo>
                <a:lnTo>
                  <a:pt x="575818" y="157480"/>
                </a:lnTo>
                <a:lnTo>
                  <a:pt x="588484" y="157480"/>
                </a:lnTo>
                <a:lnTo>
                  <a:pt x="587933" y="162560"/>
                </a:lnTo>
                <a:lnTo>
                  <a:pt x="587222" y="166370"/>
                </a:lnTo>
                <a:lnTo>
                  <a:pt x="586922" y="167640"/>
                </a:lnTo>
                <a:close/>
              </a:path>
              <a:path w="589279" h="300990">
                <a:moveTo>
                  <a:pt x="15028" y="167640"/>
                </a:moveTo>
                <a:lnTo>
                  <a:pt x="14770" y="167640"/>
                </a:lnTo>
                <a:lnTo>
                  <a:pt x="14693" y="166370"/>
                </a:lnTo>
                <a:lnTo>
                  <a:pt x="15028" y="167640"/>
                </a:lnTo>
                <a:close/>
              </a:path>
              <a:path w="589279" h="300990">
                <a:moveTo>
                  <a:pt x="578332" y="190500"/>
                </a:moveTo>
                <a:lnTo>
                  <a:pt x="564045" y="190500"/>
                </a:lnTo>
                <a:lnTo>
                  <a:pt x="567918" y="182880"/>
                </a:lnTo>
                <a:lnTo>
                  <a:pt x="567740" y="182880"/>
                </a:lnTo>
                <a:lnTo>
                  <a:pt x="569429" y="180340"/>
                </a:lnTo>
                <a:lnTo>
                  <a:pt x="570839" y="176530"/>
                </a:lnTo>
                <a:lnTo>
                  <a:pt x="572084" y="173990"/>
                </a:lnTo>
                <a:lnTo>
                  <a:pt x="573176" y="170180"/>
                </a:lnTo>
                <a:lnTo>
                  <a:pt x="574090" y="166370"/>
                </a:lnTo>
                <a:lnTo>
                  <a:pt x="574014" y="167640"/>
                </a:lnTo>
                <a:lnTo>
                  <a:pt x="586922" y="167640"/>
                </a:lnTo>
                <a:lnTo>
                  <a:pt x="586320" y="170180"/>
                </a:lnTo>
                <a:lnTo>
                  <a:pt x="578980" y="189230"/>
                </a:lnTo>
                <a:lnTo>
                  <a:pt x="578332" y="190500"/>
                </a:lnTo>
                <a:close/>
              </a:path>
              <a:path w="589279" h="300990">
                <a:moveTo>
                  <a:pt x="25228" y="190500"/>
                </a:moveTo>
                <a:lnTo>
                  <a:pt x="24739" y="190500"/>
                </a:lnTo>
                <a:lnTo>
                  <a:pt x="24472" y="189230"/>
                </a:lnTo>
                <a:lnTo>
                  <a:pt x="25228" y="190500"/>
                </a:lnTo>
                <a:close/>
              </a:path>
              <a:path w="589279" h="300990">
                <a:moveTo>
                  <a:pt x="575094" y="196850"/>
                </a:moveTo>
                <a:lnTo>
                  <a:pt x="559777" y="196850"/>
                </a:lnTo>
                <a:lnTo>
                  <a:pt x="564299" y="189230"/>
                </a:lnTo>
                <a:lnTo>
                  <a:pt x="564045" y="190500"/>
                </a:lnTo>
                <a:lnTo>
                  <a:pt x="578332" y="190500"/>
                </a:lnTo>
                <a:lnTo>
                  <a:pt x="575094" y="196850"/>
                </a:lnTo>
                <a:close/>
              </a:path>
              <a:path w="589279" h="300990">
                <a:moveTo>
                  <a:pt x="338670" y="299720"/>
                </a:moveTo>
                <a:lnTo>
                  <a:pt x="249948" y="299720"/>
                </a:lnTo>
                <a:lnTo>
                  <a:pt x="235584" y="298450"/>
                </a:lnTo>
                <a:lnTo>
                  <a:pt x="221487" y="295910"/>
                </a:lnTo>
                <a:lnTo>
                  <a:pt x="207645" y="294640"/>
                </a:lnTo>
                <a:lnTo>
                  <a:pt x="167894" y="287020"/>
                </a:lnTo>
                <a:lnTo>
                  <a:pt x="131165" y="275590"/>
                </a:lnTo>
                <a:lnTo>
                  <a:pt x="87693" y="257810"/>
                </a:lnTo>
                <a:lnTo>
                  <a:pt x="59842" y="241300"/>
                </a:lnTo>
                <a:lnTo>
                  <a:pt x="51549" y="236220"/>
                </a:lnTo>
                <a:lnTo>
                  <a:pt x="18745" y="203200"/>
                </a:lnTo>
                <a:lnTo>
                  <a:pt x="18478" y="203200"/>
                </a:lnTo>
                <a:lnTo>
                  <a:pt x="13944" y="196850"/>
                </a:lnTo>
                <a:lnTo>
                  <a:pt x="29006" y="196850"/>
                </a:lnTo>
                <a:lnTo>
                  <a:pt x="28727" y="195580"/>
                </a:lnTo>
                <a:lnTo>
                  <a:pt x="33896" y="201930"/>
                </a:lnTo>
                <a:lnTo>
                  <a:pt x="33616" y="201930"/>
                </a:lnTo>
                <a:lnTo>
                  <a:pt x="39382" y="208280"/>
                </a:lnTo>
                <a:lnTo>
                  <a:pt x="39116" y="208280"/>
                </a:lnTo>
                <a:lnTo>
                  <a:pt x="45478" y="214630"/>
                </a:lnTo>
                <a:lnTo>
                  <a:pt x="45211" y="214630"/>
                </a:lnTo>
                <a:lnTo>
                  <a:pt x="52146" y="219710"/>
                </a:lnTo>
                <a:lnTo>
                  <a:pt x="51879" y="219710"/>
                </a:lnTo>
                <a:lnTo>
                  <a:pt x="59372" y="226060"/>
                </a:lnTo>
                <a:lnTo>
                  <a:pt x="59131" y="226060"/>
                </a:lnTo>
                <a:lnTo>
                  <a:pt x="67157" y="231140"/>
                </a:lnTo>
                <a:lnTo>
                  <a:pt x="66916" y="231140"/>
                </a:lnTo>
                <a:lnTo>
                  <a:pt x="75463" y="236220"/>
                </a:lnTo>
                <a:lnTo>
                  <a:pt x="75234" y="236220"/>
                </a:lnTo>
                <a:lnTo>
                  <a:pt x="84289" y="241300"/>
                </a:lnTo>
                <a:lnTo>
                  <a:pt x="84061" y="241300"/>
                </a:lnTo>
                <a:lnTo>
                  <a:pt x="93611" y="246380"/>
                </a:lnTo>
                <a:lnTo>
                  <a:pt x="93383" y="246380"/>
                </a:lnTo>
                <a:lnTo>
                  <a:pt x="103390" y="251460"/>
                </a:lnTo>
                <a:lnTo>
                  <a:pt x="103187" y="251460"/>
                </a:lnTo>
                <a:lnTo>
                  <a:pt x="113639" y="255270"/>
                </a:lnTo>
                <a:lnTo>
                  <a:pt x="113436" y="255270"/>
                </a:lnTo>
                <a:lnTo>
                  <a:pt x="124320" y="260350"/>
                </a:lnTo>
                <a:lnTo>
                  <a:pt x="124129" y="260350"/>
                </a:lnTo>
                <a:lnTo>
                  <a:pt x="135420" y="264160"/>
                </a:lnTo>
                <a:lnTo>
                  <a:pt x="135229" y="264160"/>
                </a:lnTo>
                <a:lnTo>
                  <a:pt x="146926" y="267970"/>
                </a:lnTo>
                <a:lnTo>
                  <a:pt x="146735" y="267970"/>
                </a:lnTo>
                <a:lnTo>
                  <a:pt x="158813" y="270510"/>
                </a:lnTo>
                <a:lnTo>
                  <a:pt x="158623" y="270510"/>
                </a:lnTo>
                <a:lnTo>
                  <a:pt x="171056" y="274320"/>
                </a:lnTo>
                <a:lnTo>
                  <a:pt x="170878" y="274320"/>
                </a:lnTo>
                <a:lnTo>
                  <a:pt x="183642" y="276860"/>
                </a:lnTo>
                <a:lnTo>
                  <a:pt x="183464" y="276860"/>
                </a:lnTo>
                <a:lnTo>
                  <a:pt x="196545" y="279400"/>
                </a:lnTo>
                <a:lnTo>
                  <a:pt x="196380" y="279400"/>
                </a:lnTo>
                <a:lnTo>
                  <a:pt x="209765" y="281940"/>
                </a:lnTo>
                <a:lnTo>
                  <a:pt x="209600" y="281940"/>
                </a:lnTo>
                <a:lnTo>
                  <a:pt x="223278" y="283210"/>
                </a:lnTo>
                <a:lnTo>
                  <a:pt x="223113" y="283210"/>
                </a:lnTo>
                <a:lnTo>
                  <a:pt x="237045" y="285750"/>
                </a:lnTo>
                <a:lnTo>
                  <a:pt x="236893" y="285750"/>
                </a:lnTo>
                <a:lnTo>
                  <a:pt x="251078" y="287020"/>
                </a:lnTo>
                <a:lnTo>
                  <a:pt x="265175" y="287020"/>
                </a:lnTo>
                <a:lnTo>
                  <a:pt x="279806" y="288290"/>
                </a:lnTo>
                <a:lnTo>
                  <a:pt x="414242" y="288290"/>
                </a:lnTo>
                <a:lnTo>
                  <a:pt x="380961" y="294640"/>
                </a:lnTo>
                <a:lnTo>
                  <a:pt x="367131" y="295910"/>
                </a:lnTo>
                <a:lnTo>
                  <a:pt x="353021" y="298450"/>
                </a:lnTo>
                <a:lnTo>
                  <a:pt x="338670" y="299720"/>
                </a:lnTo>
                <a:close/>
              </a:path>
              <a:path w="589279" h="300990">
                <a:moveTo>
                  <a:pt x="414242" y="288290"/>
                </a:moveTo>
                <a:lnTo>
                  <a:pt x="308978" y="288290"/>
                </a:lnTo>
                <a:lnTo>
                  <a:pt x="323608" y="287020"/>
                </a:lnTo>
                <a:lnTo>
                  <a:pt x="337705" y="287020"/>
                </a:lnTo>
                <a:lnTo>
                  <a:pt x="351891" y="285750"/>
                </a:lnTo>
                <a:lnTo>
                  <a:pt x="351726" y="285750"/>
                </a:lnTo>
                <a:lnTo>
                  <a:pt x="365671" y="283210"/>
                </a:lnTo>
                <a:lnTo>
                  <a:pt x="365505" y="283210"/>
                </a:lnTo>
                <a:lnTo>
                  <a:pt x="379171" y="281940"/>
                </a:lnTo>
                <a:lnTo>
                  <a:pt x="379006" y="281940"/>
                </a:lnTo>
                <a:lnTo>
                  <a:pt x="392391" y="279400"/>
                </a:lnTo>
                <a:lnTo>
                  <a:pt x="392226" y="279400"/>
                </a:lnTo>
                <a:lnTo>
                  <a:pt x="405307" y="276860"/>
                </a:lnTo>
                <a:lnTo>
                  <a:pt x="405142" y="276860"/>
                </a:lnTo>
                <a:lnTo>
                  <a:pt x="417906" y="274320"/>
                </a:lnTo>
                <a:lnTo>
                  <a:pt x="417728" y="274320"/>
                </a:lnTo>
                <a:lnTo>
                  <a:pt x="430149" y="270510"/>
                </a:lnTo>
                <a:lnTo>
                  <a:pt x="429971" y="270510"/>
                </a:lnTo>
                <a:lnTo>
                  <a:pt x="442036" y="267970"/>
                </a:lnTo>
                <a:lnTo>
                  <a:pt x="441858" y="267970"/>
                </a:lnTo>
                <a:lnTo>
                  <a:pt x="453542" y="264160"/>
                </a:lnTo>
                <a:lnTo>
                  <a:pt x="453351" y="264160"/>
                </a:lnTo>
                <a:lnTo>
                  <a:pt x="464654" y="260350"/>
                </a:lnTo>
                <a:lnTo>
                  <a:pt x="464451" y="260350"/>
                </a:lnTo>
                <a:lnTo>
                  <a:pt x="475335" y="255270"/>
                </a:lnTo>
                <a:lnTo>
                  <a:pt x="475132" y="255270"/>
                </a:lnTo>
                <a:lnTo>
                  <a:pt x="485597" y="251460"/>
                </a:lnTo>
                <a:lnTo>
                  <a:pt x="485381" y="251460"/>
                </a:lnTo>
                <a:lnTo>
                  <a:pt x="495388" y="246380"/>
                </a:lnTo>
                <a:lnTo>
                  <a:pt x="495173" y="246380"/>
                </a:lnTo>
                <a:lnTo>
                  <a:pt x="504710" y="241300"/>
                </a:lnTo>
                <a:lnTo>
                  <a:pt x="504482" y="241300"/>
                </a:lnTo>
                <a:lnTo>
                  <a:pt x="513549" y="236220"/>
                </a:lnTo>
                <a:lnTo>
                  <a:pt x="513308" y="236220"/>
                </a:lnTo>
                <a:lnTo>
                  <a:pt x="521868" y="231140"/>
                </a:lnTo>
                <a:lnTo>
                  <a:pt x="521614" y="231140"/>
                </a:lnTo>
                <a:lnTo>
                  <a:pt x="529653" y="226060"/>
                </a:lnTo>
                <a:lnTo>
                  <a:pt x="529399" y="226060"/>
                </a:lnTo>
                <a:lnTo>
                  <a:pt x="536892" y="219710"/>
                </a:lnTo>
                <a:lnTo>
                  <a:pt x="536638" y="219710"/>
                </a:lnTo>
                <a:lnTo>
                  <a:pt x="543572" y="214630"/>
                </a:lnTo>
                <a:lnTo>
                  <a:pt x="543305" y="214630"/>
                </a:lnTo>
                <a:lnTo>
                  <a:pt x="549668" y="208280"/>
                </a:lnTo>
                <a:lnTo>
                  <a:pt x="549389" y="208280"/>
                </a:lnTo>
                <a:lnTo>
                  <a:pt x="555155" y="201930"/>
                </a:lnTo>
                <a:lnTo>
                  <a:pt x="554888" y="201930"/>
                </a:lnTo>
                <a:lnTo>
                  <a:pt x="560044" y="195580"/>
                </a:lnTo>
                <a:lnTo>
                  <a:pt x="559777" y="196850"/>
                </a:lnTo>
                <a:lnTo>
                  <a:pt x="575094" y="196850"/>
                </a:lnTo>
                <a:lnTo>
                  <a:pt x="570306" y="203200"/>
                </a:lnTo>
                <a:lnTo>
                  <a:pt x="537222" y="236220"/>
                </a:lnTo>
                <a:lnTo>
                  <a:pt x="500862" y="257810"/>
                </a:lnTo>
                <a:lnTo>
                  <a:pt x="457428" y="275590"/>
                </a:lnTo>
                <a:lnTo>
                  <a:pt x="420712" y="287020"/>
                </a:lnTo>
                <a:lnTo>
                  <a:pt x="414242" y="288290"/>
                </a:lnTo>
                <a:close/>
              </a:path>
              <a:path w="589279" h="300990">
                <a:moveTo>
                  <a:pt x="309460" y="300990"/>
                </a:moveTo>
                <a:lnTo>
                  <a:pt x="279476" y="300990"/>
                </a:lnTo>
                <a:lnTo>
                  <a:pt x="264528" y="299720"/>
                </a:lnTo>
                <a:lnTo>
                  <a:pt x="324091" y="299720"/>
                </a:lnTo>
                <a:lnTo>
                  <a:pt x="309460" y="300990"/>
                </a:lnTo>
                <a:close/>
              </a:path>
            </a:pathLst>
          </a:custGeom>
          <a:solidFill>
            <a:srgbClr val="006C39"/>
          </a:solidFill>
        </p:spPr>
        <p:txBody>
          <a:bodyPr wrap="square" lIns="0" tIns="0" rIns="0" bIns="0" rtlCol="0"/>
          <a:lstStyle/>
          <a:p>
            <a:endParaRPr/>
          </a:p>
        </p:txBody>
      </p:sp>
      <p:sp>
        <p:nvSpPr>
          <p:cNvPr id="22" name="object 22"/>
          <p:cNvSpPr txBox="1"/>
          <p:nvPr/>
        </p:nvSpPr>
        <p:spPr>
          <a:xfrm>
            <a:off x="7109434" y="986345"/>
            <a:ext cx="39878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object</a:t>
            </a:r>
            <a:endParaRPr sz="1200">
              <a:latin typeface="Times New Roman"/>
              <a:cs typeface="Times New Roman"/>
            </a:endParaRPr>
          </a:p>
        </p:txBody>
      </p:sp>
      <p:sp>
        <p:nvSpPr>
          <p:cNvPr id="23" name="object 23"/>
          <p:cNvSpPr/>
          <p:nvPr/>
        </p:nvSpPr>
        <p:spPr>
          <a:xfrm>
            <a:off x="6806196" y="1631226"/>
            <a:ext cx="1150937" cy="589915"/>
          </a:xfrm>
          <a:prstGeom prst="rect">
            <a:avLst/>
          </a:prstGeom>
          <a:blipFill>
            <a:blip r:embed="rId6" cstate="print"/>
            <a:stretch>
              <a:fillRect/>
            </a:stretch>
          </a:blipFill>
        </p:spPr>
        <p:txBody>
          <a:bodyPr wrap="square" lIns="0" tIns="0" rIns="0" bIns="0" rtlCol="0"/>
          <a:lstStyle/>
          <a:p>
            <a:endParaRPr/>
          </a:p>
        </p:txBody>
      </p:sp>
      <p:sp>
        <p:nvSpPr>
          <p:cNvPr id="24" name="object 24"/>
          <p:cNvSpPr txBox="1"/>
          <p:nvPr/>
        </p:nvSpPr>
        <p:spPr>
          <a:xfrm>
            <a:off x="6998678" y="1563039"/>
            <a:ext cx="747395" cy="603250"/>
          </a:xfrm>
          <a:prstGeom prst="rect">
            <a:avLst/>
          </a:prstGeom>
        </p:spPr>
        <p:txBody>
          <a:bodyPr vert="horz" wrap="square" lIns="0" tIns="12700" rIns="0" bIns="0" rtlCol="0">
            <a:spAutoFit/>
          </a:bodyPr>
          <a:lstStyle/>
          <a:p>
            <a:pPr marL="124460" marR="5080" indent="-112395">
              <a:lnSpc>
                <a:spcPct val="158000"/>
              </a:lnSpc>
              <a:spcBef>
                <a:spcPts val="100"/>
              </a:spcBef>
              <a:tabLst>
                <a:tab pos="318770" algn="l"/>
              </a:tabLst>
            </a:pPr>
            <a:r>
              <a:rPr sz="1200" dirty="0">
                <a:latin typeface="Times New Roman"/>
                <a:cs typeface="Times New Roman"/>
              </a:rPr>
              <a:t>int	double  </a:t>
            </a:r>
            <a:r>
              <a:rPr sz="1200" spc="-5" dirty="0">
                <a:latin typeface="Times New Roman"/>
                <a:cs typeface="Times New Roman"/>
              </a:rPr>
              <a:t>String</a:t>
            </a:r>
            <a:endParaRPr sz="1200">
              <a:latin typeface="Times New Roman"/>
              <a:cs typeface="Times New Roman"/>
            </a:endParaRPr>
          </a:p>
        </p:txBody>
      </p:sp>
      <p:sp>
        <p:nvSpPr>
          <p:cNvPr id="25" name="object 25"/>
          <p:cNvSpPr/>
          <p:nvPr/>
        </p:nvSpPr>
        <p:spPr>
          <a:xfrm>
            <a:off x="7950784" y="897508"/>
            <a:ext cx="878205" cy="4491990"/>
          </a:xfrm>
          <a:custGeom>
            <a:avLst/>
            <a:gdLst/>
            <a:ahLst/>
            <a:cxnLst/>
            <a:rect l="l" t="t" r="r" b="b"/>
            <a:pathLst>
              <a:path w="878204" h="4491990">
                <a:moveTo>
                  <a:pt x="877887" y="4491456"/>
                </a:moveTo>
                <a:lnTo>
                  <a:pt x="0" y="4491456"/>
                </a:lnTo>
                <a:lnTo>
                  <a:pt x="0" y="0"/>
                </a:lnTo>
                <a:lnTo>
                  <a:pt x="877887" y="0"/>
                </a:lnTo>
                <a:lnTo>
                  <a:pt x="877887" y="6349"/>
                </a:lnTo>
                <a:lnTo>
                  <a:pt x="12700" y="6349"/>
                </a:lnTo>
                <a:lnTo>
                  <a:pt x="6350" y="12699"/>
                </a:lnTo>
                <a:lnTo>
                  <a:pt x="12700" y="12699"/>
                </a:lnTo>
                <a:lnTo>
                  <a:pt x="12700" y="4478756"/>
                </a:lnTo>
                <a:lnTo>
                  <a:pt x="6350" y="4478756"/>
                </a:lnTo>
                <a:lnTo>
                  <a:pt x="12700" y="4485106"/>
                </a:lnTo>
                <a:lnTo>
                  <a:pt x="877887" y="4485106"/>
                </a:lnTo>
                <a:lnTo>
                  <a:pt x="877887" y="4491456"/>
                </a:lnTo>
                <a:close/>
              </a:path>
              <a:path w="878204" h="4491990">
                <a:moveTo>
                  <a:pt x="12700" y="12699"/>
                </a:moveTo>
                <a:lnTo>
                  <a:pt x="6350" y="12699"/>
                </a:lnTo>
                <a:lnTo>
                  <a:pt x="12700" y="6349"/>
                </a:lnTo>
                <a:lnTo>
                  <a:pt x="12700" y="12699"/>
                </a:lnTo>
                <a:close/>
              </a:path>
              <a:path w="878204" h="4491990">
                <a:moveTo>
                  <a:pt x="865187" y="12699"/>
                </a:moveTo>
                <a:lnTo>
                  <a:pt x="12700" y="12699"/>
                </a:lnTo>
                <a:lnTo>
                  <a:pt x="12700" y="6349"/>
                </a:lnTo>
                <a:lnTo>
                  <a:pt x="865187" y="6349"/>
                </a:lnTo>
                <a:lnTo>
                  <a:pt x="865187" y="12699"/>
                </a:lnTo>
                <a:close/>
              </a:path>
              <a:path w="878204" h="4491990">
                <a:moveTo>
                  <a:pt x="865187" y="4485106"/>
                </a:moveTo>
                <a:lnTo>
                  <a:pt x="865187" y="6349"/>
                </a:lnTo>
                <a:lnTo>
                  <a:pt x="871537" y="12699"/>
                </a:lnTo>
                <a:lnTo>
                  <a:pt x="877887" y="12699"/>
                </a:lnTo>
                <a:lnTo>
                  <a:pt x="877887" y="4478756"/>
                </a:lnTo>
                <a:lnTo>
                  <a:pt x="871537" y="4478756"/>
                </a:lnTo>
                <a:lnTo>
                  <a:pt x="865187" y="4485106"/>
                </a:lnTo>
                <a:close/>
              </a:path>
              <a:path w="878204" h="4491990">
                <a:moveTo>
                  <a:pt x="877887" y="12699"/>
                </a:moveTo>
                <a:lnTo>
                  <a:pt x="871537" y="12699"/>
                </a:lnTo>
                <a:lnTo>
                  <a:pt x="865187" y="6349"/>
                </a:lnTo>
                <a:lnTo>
                  <a:pt x="877887" y="6349"/>
                </a:lnTo>
                <a:lnTo>
                  <a:pt x="877887" y="12699"/>
                </a:lnTo>
                <a:close/>
              </a:path>
              <a:path w="878204" h="4491990">
                <a:moveTo>
                  <a:pt x="12700" y="4485106"/>
                </a:moveTo>
                <a:lnTo>
                  <a:pt x="6350" y="4478756"/>
                </a:lnTo>
                <a:lnTo>
                  <a:pt x="12700" y="4478756"/>
                </a:lnTo>
                <a:lnTo>
                  <a:pt x="12700" y="4485106"/>
                </a:lnTo>
                <a:close/>
              </a:path>
              <a:path w="878204" h="4491990">
                <a:moveTo>
                  <a:pt x="865187" y="4485106"/>
                </a:moveTo>
                <a:lnTo>
                  <a:pt x="12700" y="4485106"/>
                </a:lnTo>
                <a:lnTo>
                  <a:pt x="12700" y="4478756"/>
                </a:lnTo>
                <a:lnTo>
                  <a:pt x="865187" y="4478756"/>
                </a:lnTo>
                <a:lnTo>
                  <a:pt x="865187" y="4485106"/>
                </a:lnTo>
                <a:close/>
              </a:path>
              <a:path w="878204" h="4491990">
                <a:moveTo>
                  <a:pt x="877887" y="4485106"/>
                </a:moveTo>
                <a:lnTo>
                  <a:pt x="865187" y="4485106"/>
                </a:lnTo>
                <a:lnTo>
                  <a:pt x="871537" y="4478756"/>
                </a:lnTo>
                <a:lnTo>
                  <a:pt x="877887" y="4478756"/>
                </a:lnTo>
                <a:lnTo>
                  <a:pt x="877887" y="4485106"/>
                </a:lnTo>
                <a:close/>
              </a:path>
            </a:pathLst>
          </a:custGeom>
          <a:solidFill>
            <a:srgbClr val="967A2C"/>
          </a:solidFill>
        </p:spPr>
        <p:txBody>
          <a:bodyPr wrap="square" lIns="0" tIns="0" rIns="0" bIns="0" rtlCol="0"/>
          <a:lstStyle/>
          <a:p>
            <a:endParaRPr/>
          </a:p>
        </p:txBody>
      </p:sp>
      <p:sp>
        <p:nvSpPr>
          <p:cNvPr id="26" name="object 26"/>
          <p:cNvSpPr txBox="1"/>
          <p:nvPr/>
        </p:nvSpPr>
        <p:spPr>
          <a:xfrm>
            <a:off x="8262569" y="2566923"/>
            <a:ext cx="254000" cy="1122680"/>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微软雅黑"/>
                <a:cs typeface="微软雅黑"/>
              </a:rPr>
              <a:t>应 用 程 序</a:t>
            </a:r>
            <a:endParaRPr sz="1800">
              <a:latin typeface="微软雅黑"/>
              <a:cs typeface="微软雅黑"/>
            </a:endParaRPr>
          </a:p>
        </p:txBody>
      </p:sp>
      <p:sp>
        <p:nvSpPr>
          <p:cNvPr id="27" name="object 27"/>
          <p:cNvSpPr/>
          <p:nvPr/>
        </p:nvSpPr>
        <p:spPr>
          <a:xfrm>
            <a:off x="3419017" y="2568536"/>
            <a:ext cx="1513205" cy="694690"/>
          </a:xfrm>
          <a:custGeom>
            <a:avLst/>
            <a:gdLst/>
            <a:ahLst/>
            <a:cxnLst/>
            <a:rect l="l" t="t" r="r" b="b"/>
            <a:pathLst>
              <a:path w="1513204" h="694689">
                <a:moveTo>
                  <a:pt x="1440751" y="665430"/>
                </a:moveTo>
                <a:lnTo>
                  <a:pt x="0" y="11569"/>
                </a:lnTo>
                <a:lnTo>
                  <a:pt x="5257" y="0"/>
                </a:lnTo>
                <a:lnTo>
                  <a:pt x="1445995" y="653872"/>
                </a:lnTo>
                <a:lnTo>
                  <a:pt x="1440751" y="665430"/>
                </a:lnTo>
                <a:close/>
              </a:path>
              <a:path w="1513204" h="694689">
                <a:moveTo>
                  <a:pt x="1498299" y="673303"/>
                </a:moveTo>
                <a:lnTo>
                  <a:pt x="1458099" y="673303"/>
                </a:lnTo>
                <a:lnTo>
                  <a:pt x="1463344" y="661746"/>
                </a:lnTo>
                <a:lnTo>
                  <a:pt x="1445995" y="653872"/>
                </a:lnTo>
                <a:lnTo>
                  <a:pt x="1459115" y="624954"/>
                </a:lnTo>
                <a:lnTo>
                  <a:pt x="1498299" y="673303"/>
                </a:lnTo>
                <a:close/>
              </a:path>
              <a:path w="1513204" h="694689">
                <a:moveTo>
                  <a:pt x="1458099" y="673303"/>
                </a:moveTo>
                <a:lnTo>
                  <a:pt x="1440751" y="665430"/>
                </a:lnTo>
                <a:lnTo>
                  <a:pt x="1445995" y="653872"/>
                </a:lnTo>
                <a:lnTo>
                  <a:pt x="1463344" y="661746"/>
                </a:lnTo>
                <a:lnTo>
                  <a:pt x="1458099" y="673303"/>
                </a:lnTo>
                <a:close/>
              </a:path>
              <a:path w="1513204" h="694689">
                <a:moveTo>
                  <a:pt x="1427632" y="694347"/>
                </a:moveTo>
                <a:lnTo>
                  <a:pt x="1440751" y="665430"/>
                </a:lnTo>
                <a:lnTo>
                  <a:pt x="1458099" y="673303"/>
                </a:lnTo>
                <a:lnTo>
                  <a:pt x="1498299" y="673303"/>
                </a:lnTo>
                <a:lnTo>
                  <a:pt x="1512760" y="691146"/>
                </a:lnTo>
                <a:lnTo>
                  <a:pt x="1427632" y="694347"/>
                </a:lnTo>
                <a:close/>
              </a:path>
            </a:pathLst>
          </a:custGeom>
          <a:solidFill>
            <a:srgbClr val="967A2C"/>
          </a:solidFill>
        </p:spPr>
        <p:txBody>
          <a:bodyPr wrap="square" lIns="0" tIns="0" rIns="0" bIns="0" rtlCol="0"/>
          <a:lstStyle/>
          <a:p>
            <a:endParaRPr/>
          </a:p>
        </p:txBody>
      </p:sp>
      <p:sp>
        <p:nvSpPr>
          <p:cNvPr id="28" name="object 28"/>
          <p:cNvSpPr/>
          <p:nvPr/>
        </p:nvSpPr>
        <p:spPr>
          <a:xfrm>
            <a:off x="3845902" y="2531313"/>
            <a:ext cx="444500" cy="300990"/>
          </a:xfrm>
          <a:custGeom>
            <a:avLst/>
            <a:gdLst/>
            <a:ahLst/>
            <a:cxnLst/>
            <a:rect l="l" t="t" r="r" b="b"/>
            <a:pathLst>
              <a:path w="444500" h="300989">
                <a:moveTo>
                  <a:pt x="255600" y="299719"/>
                </a:moveTo>
                <a:lnTo>
                  <a:pt x="188544" y="299719"/>
                </a:lnTo>
                <a:lnTo>
                  <a:pt x="177698" y="298449"/>
                </a:lnTo>
                <a:lnTo>
                  <a:pt x="167043" y="295909"/>
                </a:lnTo>
                <a:lnTo>
                  <a:pt x="156578" y="294639"/>
                </a:lnTo>
                <a:lnTo>
                  <a:pt x="116992" y="283209"/>
                </a:lnTo>
                <a:lnTo>
                  <a:pt x="81661" y="266699"/>
                </a:lnTo>
                <a:lnTo>
                  <a:pt x="73596" y="262889"/>
                </a:lnTo>
                <a:lnTo>
                  <a:pt x="65862" y="257809"/>
                </a:lnTo>
                <a:lnTo>
                  <a:pt x="58483" y="252729"/>
                </a:lnTo>
                <a:lnTo>
                  <a:pt x="51460" y="246379"/>
                </a:lnTo>
                <a:lnTo>
                  <a:pt x="44818" y="241299"/>
                </a:lnTo>
                <a:lnTo>
                  <a:pt x="38569" y="234949"/>
                </a:lnTo>
                <a:lnTo>
                  <a:pt x="32715" y="228599"/>
                </a:lnTo>
                <a:lnTo>
                  <a:pt x="27292" y="223519"/>
                </a:lnTo>
                <a:lnTo>
                  <a:pt x="22529" y="217169"/>
                </a:lnTo>
                <a:lnTo>
                  <a:pt x="17983" y="209549"/>
                </a:lnTo>
                <a:lnTo>
                  <a:pt x="13906" y="203199"/>
                </a:lnTo>
                <a:lnTo>
                  <a:pt x="10325" y="195579"/>
                </a:lnTo>
                <a:lnTo>
                  <a:pt x="10147" y="195579"/>
                </a:lnTo>
                <a:lnTo>
                  <a:pt x="7226" y="189229"/>
                </a:lnTo>
                <a:lnTo>
                  <a:pt x="4660" y="181609"/>
                </a:lnTo>
                <a:lnTo>
                  <a:pt x="2628" y="173989"/>
                </a:lnTo>
                <a:lnTo>
                  <a:pt x="2527" y="172719"/>
                </a:lnTo>
                <a:lnTo>
                  <a:pt x="1155" y="166369"/>
                </a:lnTo>
                <a:lnTo>
                  <a:pt x="584" y="161289"/>
                </a:lnTo>
                <a:lnTo>
                  <a:pt x="215" y="157479"/>
                </a:lnTo>
                <a:lnTo>
                  <a:pt x="0" y="153669"/>
                </a:lnTo>
                <a:lnTo>
                  <a:pt x="0" y="146049"/>
                </a:lnTo>
                <a:lnTo>
                  <a:pt x="241" y="142239"/>
                </a:lnTo>
                <a:lnTo>
                  <a:pt x="609" y="138429"/>
                </a:lnTo>
                <a:lnTo>
                  <a:pt x="1155" y="134619"/>
                </a:lnTo>
                <a:lnTo>
                  <a:pt x="2527" y="126999"/>
                </a:lnTo>
                <a:lnTo>
                  <a:pt x="4660" y="119379"/>
                </a:lnTo>
                <a:lnTo>
                  <a:pt x="7226" y="111759"/>
                </a:lnTo>
                <a:lnTo>
                  <a:pt x="10147" y="104139"/>
                </a:lnTo>
                <a:lnTo>
                  <a:pt x="13906" y="97789"/>
                </a:lnTo>
                <a:lnTo>
                  <a:pt x="17983" y="90169"/>
                </a:lnTo>
                <a:lnTo>
                  <a:pt x="45059" y="58419"/>
                </a:lnTo>
                <a:lnTo>
                  <a:pt x="81889" y="33019"/>
                </a:lnTo>
                <a:lnTo>
                  <a:pt x="90271" y="29209"/>
                </a:lnTo>
                <a:lnTo>
                  <a:pt x="98971" y="24129"/>
                </a:lnTo>
                <a:lnTo>
                  <a:pt x="107950" y="20319"/>
                </a:lnTo>
                <a:lnTo>
                  <a:pt x="117208" y="17779"/>
                </a:lnTo>
                <a:lnTo>
                  <a:pt x="126517" y="13969"/>
                </a:lnTo>
                <a:lnTo>
                  <a:pt x="167259" y="3809"/>
                </a:lnTo>
                <a:lnTo>
                  <a:pt x="199783" y="0"/>
                </a:lnTo>
                <a:lnTo>
                  <a:pt x="244792" y="0"/>
                </a:lnTo>
                <a:lnTo>
                  <a:pt x="277317" y="3809"/>
                </a:lnTo>
                <a:lnTo>
                  <a:pt x="287782" y="6349"/>
                </a:lnTo>
                <a:lnTo>
                  <a:pt x="312947" y="12699"/>
                </a:lnTo>
                <a:lnTo>
                  <a:pt x="200647" y="12699"/>
                </a:lnTo>
                <a:lnTo>
                  <a:pt x="189839" y="13969"/>
                </a:lnTo>
                <a:lnTo>
                  <a:pt x="190055" y="13969"/>
                </a:lnTo>
                <a:lnTo>
                  <a:pt x="179425" y="15239"/>
                </a:lnTo>
                <a:lnTo>
                  <a:pt x="179641" y="15239"/>
                </a:lnTo>
                <a:lnTo>
                  <a:pt x="169189" y="16509"/>
                </a:lnTo>
                <a:lnTo>
                  <a:pt x="169405" y="16509"/>
                </a:lnTo>
                <a:lnTo>
                  <a:pt x="164287" y="17779"/>
                </a:lnTo>
                <a:lnTo>
                  <a:pt x="159385" y="17779"/>
                </a:lnTo>
                <a:lnTo>
                  <a:pt x="149351" y="20319"/>
                </a:lnTo>
                <a:lnTo>
                  <a:pt x="149567" y="20319"/>
                </a:lnTo>
                <a:lnTo>
                  <a:pt x="139763" y="22859"/>
                </a:lnTo>
                <a:lnTo>
                  <a:pt x="139979" y="22859"/>
                </a:lnTo>
                <a:lnTo>
                  <a:pt x="130416" y="25399"/>
                </a:lnTo>
                <a:lnTo>
                  <a:pt x="130632" y="25399"/>
                </a:lnTo>
                <a:lnTo>
                  <a:pt x="121323" y="29209"/>
                </a:lnTo>
                <a:lnTo>
                  <a:pt x="121551" y="29209"/>
                </a:lnTo>
                <a:lnTo>
                  <a:pt x="112509" y="33019"/>
                </a:lnTo>
                <a:lnTo>
                  <a:pt x="112725" y="33019"/>
                </a:lnTo>
                <a:lnTo>
                  <a:pt x="106891" y="35559"/>
                </a:lnTo>
                <a:lnTo>
                  <a:pt x="104190" y="35559"/>
                </a:lnTo>
                <a:lnTo>
                  <a:pt x="95732" y="40639"/>
                </a:lnTo>
                <a:lnTo>
                  <a:pt x="95961" y="40639"/>
                </a:lnTo>
                <a:lnTo>
                  <a:pt x="87807" y="44449"/>
                </a:lnTo>
                <a:lnTo>
                  <a:pt x="88036" y="44449"/>
                </a:lnTo>
                <a:lnTo>
                  <a:pt x="80200" y="48259"/>
                </a:lnTo>
                <a:lnTo>
                  <a:pt x="80429" y="48259"/>
                </a:lnTo>
                <a:lnTo>
                  <a:pt x="72936" y="53339"/>
                </a:lnTo>
                <a:lnTo>
                  <a:pt x="73164" y="53339"/>
                </a:lnTo>
                <a:lnTo>
                  <a:pt x="66014" y="58419"/>
                </a:lnTo>
                <a:lnTo>
                  <a:pt x="66243" y="58419"/>
                </a:lnTo>
                <a:lnTo>
                  <a:pt x="59461" y="63499"/>
                </a:lnTo>
                <a:lnTo>
                  <a:pt x="59702" y="63499"/>
                </a:lnTo>
                <a:lnTo>
                  <a:pt x="53289" y="68579"/>
                </a:lnTo>
                <a:lnTo>
                  <a:pt x="53517" y="68579"/>
                </a:lnTo>
                <a:lnTo>
                  <a:pt x="47498" y="73659"/>
                </a:lnTo>
                <a:lnTo>
                  <a:pt x="47739" y="73659"/>
                </a:lnTo>
                <a:lnTo>
                  <a:pt x="42125" y="80009"/>
                </a:lnTo>
                <a:lnTo>
                  <a:pt x="42354" y="80009"/>
                </a:lnTo>
                <a:lnTo>
                  <a:pt x="37160" y="85089"/>
                </a:lnTo>
                <a:lnTo>
                  <a:pt x="37376" y="85089"/>
                </a:lnTo>
                <a:lnTo>
                  <a:pt x="32613" y="91439"/>
                </a:lnTo>
                <a:lnTo>
                  <a:pt x="32829" y="91439"/>
                </a:lnTo>
                <a:lnTo>
                  <a:pt x="28511" y="97789"/>
                </a:lnTo>
                <a:lnTo>
                  <a:pt x="28714" y="97789"/>
                </a:lnTo>
                <a:lnTo>
                  <a:pt x="25626" y="102869"/>
                </a:lnTo>
                <a:lnTo>
                  <a:pt x="25044" y="102869"/>
                </a:lnTo>
                <a:lnTo>
                  <a:pt x="22218" y="109219"/>
                </a:lnTo>
                <a:lnTo>
                  <a:pt x="21831" y="109219"/>
                </a:lnTo>
                <a:lnTo>
                  <a:pt x="19407" y="115569"/>
                </a:lnTo>
                <a:lnTo>
                  <a:pt x="19075" y="115569"/>
                </a:lnTo>
                <a:lnTo>
                  <a:pt x="16675" y="123189"/>
                </a:lnTo>
                <a:lnTo>
                  <a:pt x="14897" y="129539"/>
                </a:lnTo>
                <a:lnTo>
                  <a:pt x="13857" y="135889"/>
                </a:lnTo>
                <a:lnTo>
                  <a:pt x="13690" y="135889"/>
                </a:lnTo>
                <a:lnTo>
                  <a:pt x="13208" y="139699"/>
                </a:lnTo>
                <a:lnTo>
                  <a:pt x="12996" y="142239"/>
                </a:lnTo>
                <a:lnTo>
                  <a:pt x="12903" y="143509"/>
                </a:lnTo>
                <a:lnTo>
                  <a:pt x="12759" y="146049"/>
                </a:lnTo>
                <a:lnTo>
                  <a:pt x="12687" y="153669"/>
                </a:lnTo>
                <a:lnTo>
                  <a:pt x="12903" y="157479"/>
                </a:lnTo>
                <a:lnTo>
                  <a:pt x="13233" y="161289"/>
                </a:lnTo>
                <a:lnTo>
                  <a:pt x="13368" y="161289"/>
                </a:lnTo>
                <a:lnTo>
                  <a:pt x="13690" y="163829"/>
                </a:lnTo>
                <a:lnTo>
                  <a:pt x="15011" y="171449"/>
                </a:lnTo>
                <a:lnTo>
                  <a:pt x="15214" y="171449"/>
                </a:lnTo>
                <a:lnTo>
                  <a:pt x="16802" y="177799"/>
                </a:lnTo>
                <a:lnTo>
                  <a:pt x="19075" y="184149"/>
                </a:lnTo>
                <a:lnTo>
                  <a:pt x="18923" y="184149"/>
                </a:lnTo>
                <a:lnTo>
                  <a:pt x="21831" y="190499"/>
                </a:lnTo>
                <a:lnTo>
                  <a:pt x="21653" y="190499"/>
                </a:lnTo>
                <a:lnTo>
                  <a:pt x="25044" y="196849"/>
                </a:lnTo>
                <a:lnTo>
                  <a:pt x="24853" y="196849"/>
                </a:lnTo>
                <a:lnTo>
                  <a:pt x="28714" y="203199"/>
                </a:lnTo>
                <a:lnTo>
                  <a:pt x="28511" y="203199"/>
                </a:lnTo>
                <a:lnTo>
                  <a:pt x="32829" y="209549"/>
                </a:lnTo>
                <a:lnTo>
                  <a:pt x="32613" y="209549"/>
                </a:lnTo>
                <a:lnTo>
                  <a:pt x="37376" y="214629"/>
                </a:lnTo>
                <a:lnTo>
                  <a:pt x="37160" y="214629"/>
                </a:lnTo>
                <a:lnTo>
                  <a:pt x="42354" y="220979"/>
                </a:lnTo>
                <a:lnTo>
                  <a:pt x="42125" y="220979"/>
                </a:lnTo>
                <a:lnTo>
                  <a:pt x="47739" y="226059"/>
                </a:lnTo>
                <a:lnTo>
                  <a:pt x="47498" y="226059"/>
                </a:lnTo>
                <a:lnTo>
                  <a:pt x="53517" y="232409"/>
                </a:lnTo>
                <a:lnTo>
                  <a:pt x="53289" y="232409"/>
                </a:lnTo>
                <a:lnTo>
                  <a:pt x="59702" y="237489"/>
                </a:lnTo>
                <a:lnTo>
                  <a:pt x="59461" y="237489"/>
                </a:lnTo>
                <a:lnTo>
                  <a:pt x="66243" y="242569"/>
                </a:lnTo>
                <a:lnTo>
                  <a:pt x="66014" y="242569"/>
                </a:lnTo>
                <a:lnTo>
                  <a:pt x="73164" y="247649"/>
                </a:lnTo>
                <a:lnTo>
                  <a:pt x="74809" y="247649"/>
                </a:lnTo>
                <a:lnTo>
                  <a:pt x="80429" y="251459"/>
                </a:lnTo>
                <a:lnTo>
                  <a:pt x="80200" y="251459"/>
                </a:lnTo>
                <a:lnTo>
                  <a:pt x="88036" y="256539"/>
                </a:lnTo>
                <a:lnTo>
                  <a:pt x="87807" y="256539"/>
                </a:lnTo>
                <a:lnTo>
                  <a:pt x="95961" y="260349"/>
                </a:lnTo>
                <a:lnTo>
                  <a:pt x="95732" y="260349"/>
                </a:lnTo>
                <a:lnTo>
                  <a:pt x="104190" y="264159"/>
                </a:lnTo>
                <a:lnTo>
                  <a:pt x="103974" y="264159"/>
                </a:lnTo>
                <a:lnTo>
                  <a:pt x="112725" y="267969"/>
                </a:lnTo>
                <a:lnTo>
                  <a:pt x="112509" y="267969"/>
                </a:lnTo>
                <a:lnTo>
                  <a:pt x="121551" y="271779"/>
                </a:lnTo>
                <a:lnTo>
                  <a:pt x="121323" y="271779"/>
                </a:lnTo>
                <a:lnTo>
                  <a:pt x="130632" y="274319"/>
                </a:lnTo>
                <a:lnTo>
                  <a:pt x="130416" y="274319"/>
                </a:lnTo>
                <a:lnTo>
                  <a:pt x="139979" y="276859"/>
                </a:lnTo>
                <a:lnTo>
                  <a:pt x="139763" y="276859"/>
                </a:lnTo>
                <a:lnTo>
                  <a:pt x="149567" y="279399"/>
                </a:lnTo>
                <a:lnTo>
                  <a:pt x="149351" y="279399"/>
                </a:lnTo>
                <a:lnTo>
                  <a:pt x="159385" y="281939"/>
                </a:lnTo>
                <a:lnTo>
                  <a:pt x="159169" y="281939"/>
                </a:lnTo>
                <a:lnTo>
                  <a:pt x="169405" y="284479"/>
                </a:lnTo>
                <a:lnTo>
                  <a:pt x="174415" y="284479"/>
                </a:lnTo>
                <a:lnTo>
                  <a:pt x="179641" y="285749"/>
                </a:lnTo>
                <a:lnTo>
                  <a:pt x="179425" y="285749"/>
                </a:lnTo>
                <a:lnTo>
                  <a:pt x="190055" y="287019"/>
                </a:lnTo>
                <a:lnTo>
                  <a:pt x="200431" y="287019"/>
                </a:lnTo>
                <a:lnTo>
                  <a:pt x="211391" y="288289"/>
                </a:lnTo>
                <a:lnTo>
                  <a:pt x="312724" y="288289"/>
                </a:lnTo>
                <a:lnTo>
                  <a:pt x="287566" y="294639"/>
                </a:lnTo>
                <a:lnTo>
                  <a:pt x="277101" y="295909"/>
                </a:lnTo>
                <a:lnTo>
                  <a:pt x="266446" y="298449"/>
                </a:lnTo>
                <a:lnTo>
                  <a:pt x="255600" y="299719"/>
                </a:lnTo>
                <a:close/>
              </a:path>
              <a:path w="444500" h="300989">
                <a:moveTo>
                  <a:pt x="285191" y="19049"/>
                </a:moveTo>
                <a:lnTo>
                  <a:pt x="274954" y="16509"/>
                </a:lnTo>
                <a:lnTo>
                  <a:pt x="275170" y="16509"/>
                </a:lnTo>
                <a:lnTo>
                  <a:pt x="264718" y="15239"/>
                </a:lnTo>
                <a:lnTo>
                  <a:pt x="264934" y="15239"/>
                </a:lnTo>
                <a:lnTo>
                  <a:pt x="254304" y="13969"/>
                </a:lnTo>
                <a:lnTo>
                  <a:pt x="254520" y="13969"/>
                </a:lnTo>
                <a:lnTo>
                  <a:pt x="243712" y="12699"/>
                </a:lnTo>
                <a:lnTo>
                  <a:pt x="312947" y="12699"/>
                </a:lnTo>
                <a:lnTo>
                  <a:pt x="317842" y="13969"/>
                </a:lnTo>
                <a:lnTo>
                  <a:pt x="327367" y="17779"/>
                </a:lnTo>
                <a:lnTo>
                  <a:pt x="284975" y="17779"/>
                </a:lnTo>
                <a:lnTo>
                  <a:pt x="285191" y="19049"/>
                </a:lnTo>
                <a:close/>
              </a:path>
              <a:path w="444500" h="300989">
                <a:moveTo>
                  <a:pt x="159169" y="19049"/>
                </a:moveTo>
                <a:lnTo>
                  <a:pt x="159385" y="17779"/>
                </a:lnTo>
                <a:lnTo>
                  <a:pt x="164287" y="17779"/>
                </a:lnTo>
                <a:lnTo>
                  <a:pt x="159169" y="19049"/>
                </a:lnTo>
                <a:close/>
              </a:path>
              <a:path w="444500" h="300989">
                <a:moveTo>
                  <a:pt x="340385" y="36829"/>
                </a:moveTo>
                <a:lnTo>
                  <a:pt x="331635" y="33019"/>
                </a:lnTo>
                <a:lnTo>
                  <a:pt x="331850" y="33019"/>
                </a:lnTo>
                <a:lnTo>
                  <a:pt x="322808" y="29209"/>
                </a:lnTo>
                <a:lnTo>
                  <a:pt x="323037" y="29209"/>
                </a:lnTo>
                <a:lnTo>
                  <a:pt x="313728" y="25399"/>
                </a:lnTo>
                <a:lnTo>
                  <a:pt x="313944" y="25399"/>
                </a:lnTo>
                <a:lnTo>
                  <a:pt x="304380" y="22859"/>
                </a:lnTo>
                <a:lnTo>
                  <a:pt x="304596" y="22859"/>
                </a:lnTo>
                <a:lnTo>
                  <a:pt x="294792" y="20319"/>
                </a:lnTo>
                <a:lnTo>
                  <a:pt x="295008" y="20319"/>
                </a:lnTo>
                <a:lnTo>
                  <a:pt x="284975" y="17779"/>
                </a:lnTo>
                <a:lnTo>
                  <a:pt x="327367" y="17779"/>
                </a:lnTo>
                <a:lnTo>
                  <a:pt x="336638" y="20319"/>
                </a:lnTo>
                <a:lnTo>
                  <a:pt x="345617" y="24129"/>
                </a:lnTo>
                <a:lnTo>
                  <a:pt x="354317" y="29209"/>
                </a:lnTo>
                <a:lnTo>
                  <a:pt x="362699" y="33019"/>
                </a:lnTo>
                <a:lnTo>
                  <a:pt x="366731" y="35559"/>
                </a:lnTo>
                <a:lnTo>
                  <a:pt x="340169" y="35559"/>
                </a:lnTo>
                <a:lnTo>
                  <a:pt x="340385" y="36829"/>
                </a:lnTo>
                <a:close/>
              </a:path>
              <a:path w="444500" h="300989">
                <a:moveTo>
                  <a:pt x="103974" y="36829"/>
                </a:moveTo>
                <a:lnTo>
                  <a:pt x="104190" y="35559"/>
                </a:lnTo>
                <a:lnTo>
                  <a:pt x="106891" y="35559"/>
                </a:lnTo>
                <a:lnTo>
                  <a:pt x="103974" y="36829"/>
                </a:lnTo>
                <a:close/>
              </a:path>
              <a:path w="444500" h="300989">
                <a:moveTo>
                  <a:pt x="419506" y="104139"/>
                </a:moveTo>
                <a:lnTo>
                  <a:pt x="415645" y="97789"/>
                </a:lnTo>
                <a:lnTo>
                  <a:pt x="415848" y="97789"/>
                </a:lnTo>
                <a:lnTo>
                  <a:pt x="411530" y="91439"/>
                </a:lnTo>
                <a:lnTo>
                  <a:pt x="411746" y="91439"/>
                </a:lnTo>
                <a:lnTo>
                  <a:pt x="406984" y="85089"/>
                </a:lnTo>
                <a:lnTo>
                  <a:pt x="407200" y="85089"/>
                </a:lnTo>
                <a:lnTo>
                  <a:pt x="402005" y="80009"/>
                </a:lnTo>
                <a:lnTo>
                  <a:pt x="402234" y="80009"/>
                </a:lnTo>
                <a:lnTo>
                  <a:pt x="396621" y="73659"/>
                </a:lnTo>
                <a:lnTo>
                  <a:pt x="396862" y="73659"/>
                </a:lnTo>
                <a:lnTo>
                  <a:pt x="390842" y="68579"/>
                </a:lnTo>
                <a:lnTo>
                  <a:pt x="391071" y="68579"/>
                </a:lnTo>
                <a:lnTo>
                  <a:pt x="384657" y="63499"/>
                </a:lnTo>
                <a:lnTo>
                  <a:pt x="384898" y="63499"/>
                </a:lnTo>
                <a:lnTo>
                  <a:pt x="378117" y="58419"/>
                </a:lnTo>
                <a:lnTo>
                  <a:pt x="378345" y="58419"/>
                </a:lnTo>
                <a:lnTo>
                  <a:pt x="371195" y="53339"/>
                </a:lnTo>
                <a:lnTo>
                  <a:pt x="371424" y="53339"/>
                </a:lnTo>
                <a:lnTo>
                  <a:pt x="363931" y="48259"/>
                </a:lnTo>
                <a:lnTo>
                  <a:pt x="364159" y="48259"/>
                </a:lnTo>
                <a:lnTo>
                  <a:pt x="356323" y="44449"/>
                </a:lnTo>
                <a:lnTo>
                  <a:pt x="356552" y="44449"/>
                </a:lnTo>
                <a:lnTo>
                  <a:pt x="348399" y="40639"/>
                </a:lnTo>
                <a:lnTo>
                  <a:pt x="348627" y="40639"/>
                </a:lnTo>
                <a:lnTo>
                  <a:pt x="340169" y="35559"/>
                </a:lnTo>
                <a:lnTo>
                  <a:pt x="366731" y="35559"/>
                </a:lnTo>
                <a:lnTo>
                  <a:pt x="399541" y="59689"/>
                </a:lnTo>
                <a:lnTo>
                  <a:pt x="405790" y="64769"/>
                </a:lnTo>
                <a:lnTo>
                  <a:pt x="430453" y="97789"/>
                </a:lnTo>
                <a:lnTo>
                  <a:pt x="433318" y="102869"/>
                </a:lnTo>
                <a:lnTo>
                  <a:pt x="419315" y="102869"/>
                </a:lnTo>
                <a:lnTo>
                  <a:pt x="419506" y="104139"/>
                </a:lnTo>
                <a:close/>
              </a:path>
              <a:path w="444500" h="300989">
                <a:moveTo>
                  <a:pt x="24853" y="104139"/>
                </a:moveTo>
                <a:lnTo>
                  <a:pt x="25044" y="102869"/>
                </a:lnTo>
                <a:lnTo>
                  <a:pt x="25626" y="102869"/>
                </a:lnTo>
                <a:lnTo>
                  <a:pt x="24853" y="104139"/>
                </a:lnTo>
                <a:close/>
              </a:path>
              <a:path w="444500" h="300989">
                <a:moveTo>
                  <a:pt x="422706" y="110489"/>
                </a:moveTo>
                <a:lnTo>
                  <a:pt x="419315" y="102869"/>
                </a:lnTo>
                <a:lnTo>
                  <a:pt x="433318" y="102869"/>
                </a:lnTo>
                <a:lnTo>
                  <a:pt x="434035" y="104139"/>
                </a:lnTo>
                <a:lnTo>
                  <a:pt x="434213" y="104139"/>
                </a:lnTo>
                <a:lnTo>
                  <a:pt x="436160" y="109219"/>
                </a:lnTo>
                <a:lnTo>
                  <a:pt x="422528" y="109219"/>
                </a:lnTo>
                <a:lnTo>
                  <a:pt x="422706" y="110489"/>
                </a:lnTo>
                <a:close/>
              </a:path>
              <a:path w="444500" h="300989">
                <a:moveTo>
                  <a:pt x="21653" y="110489"/>
                </a:moveTo>
                <a:lnTo>
                  <a:pt x="21831" y="109219"/>
                </a:lnTo>
                <a:lnTo>
                  <a:pt x="22218" y="109219"/>
                </a:lnTo>
                <a:lnTo>
                  <a:pt x="21653" y="110489"/>
                </a:lnTo>
                <a:close/>
              </a:path>
              <a:path w="444500" h="300989">
                <a:moveTo>
                  <a:pt x="425437" y="116839"/>
                </a:moveTo>
                <a:lnTo>
                  <a:pt x="422528" y="109219"/>
                </a:lnTo>
                <a:lnTo>
                  <a:pt x="436160" y="109219"/>
                </a:lnTo>
                <a:lnTo>
                  <a:pt x="437134" y="111759"/>
                </a:lnTo>
                <a:lnTo>
                  <a:pt x="438416" y="115569"/>
                </a:lnTo>
                <a:lnTo>
                  <a:pt x="425284" y="115569"/>
                </a:lnTo>
                <a:lnTo>
                  <a:pt x="425437" y="116839"/>
                </a:lnTo>
                <a:close/>
              </a:path>
              <a:path w="444500" h="300989">
                <a:moveTo>
                  <a:pt x="18923" y="116839"/>
                </a:moveTo>
                <a:lnTo>
                  <a:pt x="19075" y="115569"/>
                </a:lnTo>
                <a:lnTo>
                  <a:pt x="19407" y="115569"/>
                </a:lnTo>
                <a:lnTo>
                  <a:pt x="18923" y="116839"/>
                </a:lnTo>
                <a:close/>
              </a:path>
              <a:path w="444500" h="300989">
                <a:moveTo>
                  <a:pt x="430733" y="137159"/>
                </a:moveTo>
                <a:lnTo>
                  <a:pt x="429348" y="129539"/>
                </a:lnTo>
                <a:lnTo>
                  <a:pt x="427558" y="123189"/>
                </a:lnTo>
                <a:lnTo>
                  <a:pt x="425284" y="115569"/>
                </a:lnTo>
                <a:lnTo>
                  <a:pt x="438416" y="115569"/>
                </a:lnTo>
                <a:lnTo>
                  <a:pt x="439699" y="119379"/>
                </a:lnTo>
                <a:lnTo>
                  <a:pt x="441731" y="126999"/>
                </a:lnTo>
                <a:lnTo>
                  <a:pt x="443204" y="134619"/>
                </a:lnTo>
                <a:lnTo>
                  <a:pt x="443395" y="135889"/>
                </a:lnTo>
                <a:lnTo>
                  <a:pt x="430669" y="135889"/>
                </a:lnTo>
                <a:lnTo>
                  <a:pt x="430733" y="137159"/>
                </a:lnTo>
                <a:close/>
              </a:path>
              <a:path w="444500" h="300989">
                <a:moveTo>
                  <a:pt x="13627" y="137159"/>
                </a:moveTo>
                <a:lnTo>
                  <a:pt x="13690" y="135889"/>
                </a:lnTo>
                <a:lnTo>
                  <a:pt x="13857" y="135889"/>
                </a:lnTo>
                <a:lnTo>
                  <a:pt x="13627" y="137159"/>
                </a:lnTo>
                <a:close/>
              </a:path>
              <a:path w="444500" h="300989">
                <a:moveTo>
                  <a:pt x="443873" y="161289"/>
                </a:moveTo>
                <a:lnTo>
                  <a:pt x="431126" y="161289"/>
                </a:lnTo>
                <a:lnTo>
                  <a:pt x="431482" y="157479"/>
                </a:lnTo>
                <a:lnTo>
                  <a:pt x="431673" y="153669"/>
                </a:lnTo>
                <a:lnTo>
                  <a:pt x="431660" y="146049"/>
                </a:lnTo>
                <a:lnTo>
                  <a:pt x="431457" y="143509"/>
                </a:lnTo>
                <a:lnTo>
                  <a:pt x="431363" y="142239"/>
                </a:lnTo>
                <a:lnTo>
                  <a:pt x="431126" y="139699"/>
                </a:lnTo>
                <a:lnTo>
                  <a:pt x="430669" y="135889"/>
                </a:lnTo>
                <a:lnTo>
                  <a:pt x="443395" y="135889"/>
                </a:lnTo>
                <a:lnTo>
                  <a:pt x="443776" y="138429"/>
                </a:lnTo>
                <a:lnTo>
                  <a:pt x="444144" y="142239"/>
                </a:lnTo>
                <a:lnTo>
                  <a:pt x="444360" y="146049"/>
                </a:lnTo>
                <a:lnTo>
                  <a:pt x="444347" y="153669"/>
                </a:lnTo>
                <a:lnTo>
                  <a:pt x="444119" y="158749"/>
                </a:lnTo>
                <a:lnTo>
                  <a:pt x="443873" y="161289"/>
                </a:lnTo>
                <a:close/>
              </a:path>
              <a:path w="444500" h="300989">
                <a:moveTo>
                  <a:pt x="12687" y="147319"/>
                </a:moveTo>
                <a:lnTo>
                  <a:pt x="12700" y="146049"/>
                </a:lnTo>
                <a:lnTo>
                  <a:pt x="12687" y="147319"/>
                </a:lnTo>
                <a:close/>
              </a:path>
              <a:path w="444500" h="300989">
                <a:moveTo>
                  <a:pt x="431673" y="147319"/>
                </a:moveTo>
                <a:lnTo>
                  <a:pt x="431601" y="146049"/>
                </a:lnTo>
                <a:lnTo>
                  <a:pt x="431673" y="147319"/>
                </a:lnTo>
                <a:close/>
              </a:path>
              <a:path w="444500" h="300989">
                <a:moveTo>
                  <a:pt x="13368" y="161289"/>
                </a:moveTo>
                <a:lnTo>
                  <a:pt x="13233" y="161289"/>
                </a:lnTo>
                <a:lnTo>
                  <a:pt x="13208" y="160019"/>
                </a:lnTo>
                <a:lnTo>
                  <a:pt x="13368" y="161289"/>
                </a:lnTo>
                <a:close/>
              </a:path>
              <a:path w="444500" h="300989">
                <a:moveTo>
                  <a:pt x="442107" y="171449"/>
                </a:moveTo>
                <a:lnTo>
                  <a:pt x="429348" y="171449"/>
                </a:lnTo>
                <a:lnTo>
                  <a:pt x="430733" y="163829"/>
                </a:lnTo>
                <a:lnTo>
                  <a:pt x="431152" y="160019"/>
                </a:lnTo>
                <a:lnTo>
                  <a:pt x="431126" y="161289"/>
                </a:lnTo>
                <a:lnTo>
                  <a:pt x="443873" y="161289"/>
                </a:lnTo>
                <a:lnTo>
                  <a:pt x="443750" y="162559"/>
                </a:lnTo>
                <a:lnTo>
                  <a:pt x="443204" y="166369"/>
                </a:lnTo>
                <a:lnTo>
                  <a:pt x="442107" y="171449"/>
                </a:lnTo>
                <a:close/>
              </a:path>
              <a:path w="444500" h="300989">
                <a:moveTo>
                  <a:pt x="15214" y="171449"/>
                </a:moveTo>
                <a:lnTo>
                  <a:pt x="15011" y="171449"/>
                </a:lnTo>
                <a:lnTo>
                  <a:pt x="14897" y="170179"/>
                </a:lnTo>
                <a:lnTo>
                  <a:pt x="15214" y="171449"/>
                </a:lnTo>
                <a:close/>
              </a:path>
              <a:path w="444500" h="300989">
                <a:moveTo>
                  <a:pt x="392658" y="247649"/>
                </a:moveTo>
                <a:lnTo>
                  <a:pt x="371195" y="247649"/>
                </a:lnTo>
                <a:lnTo>
                  <a:pt x="378345" y="242569"/>
                </a:lnTo>
                <a:lnTo>
                  <a:pt x="378117" y="242569"/>
                </a:lnTo>
                <a:lnTo>
                  <a:pt x="384898" y="237489"/>
                </a:lnTo>
                <a:lnTo>
                  <a:pt x="384657" y="237489"/>
                </a:lnTo>
                <a:lnTo>
                  <a:pt x="391071" y="232409"/>
                </a:lnTo>
                <a:lnTo>
                  <a:pt x="390842" y="232409"/>
                </a:lnTo>
                <a:lnTo>
                  <a:pt x="396862" y="226059"/>
                </a:lnTo>
                <a:lnTo>
                  <a:pt x="396621" y="226059"/>
                </a:lnTo>
                <a:lnTo>
                  <a:pt x="402234" y="220979"/>
                </a:lnTo>
                <a:lnTo>
                  <a:pt x="402005" y="220979"/>
                </a:lnTo>
                <a:lnTo>
                  <a:pt x="407200" y="214629"/>
                </a:lnTo>
                <a:lnTo>
                  <a:pt x="406984" y="214629"/>
                </a:lnTo>
                <a:lnTo>
                  <a:pt x="411746" y="209549"/>
                </a:lnTo>
                <a:lnTo>
                  <a:pt x="411530" y="209549"/>
                </a:lnTo>
                <a:lnTo>
                  <a:pt x="415848" y="203199"/>
                </a:lnTo>
                <a:lnTo>
                  <a:pt x="415645" y="203199"/>
                </a:lnTo>
                <a:lnTo>
                  <a:pt x="419506" y="196849"/>
                </a:lnTo>
                <a:lnTo>
                  <a:pt x="419315" y="196849"/>
                </a:lnTo>
                <a:lnTo>
                  <a:pt x="422706" y="190499"/>
                </a:lnTo>
                <a:lnTo>
                  <a:pt x="422528" y="190499"/>
                </a:lnTo>
                <a:lnTo>
                  <a:pt x="425437" y="184149"/>
                </a:lnTo>
                <a:lnTo>
                  <a:pt x="425284" y="184149"/>
                </a:lnTo>
                <a:lnTo>
                  <a:pt x="427685" y="177799"/>
                </a:lnTo>
                <a:lnTo>
                  <a:pt x="429463" y="170179"/>
                </a:lnTo>
                <a:lnTo>
                  <a:pt x="429348" y="171449"/>
                </a:lnTo>
                <a:lnTo>
                  <a:pt x="442107" y="171449"/>
                </a:lnTo>
                <a:lnTo>
                  <a:pt x="441833" y="172719"/>
                </a:lnTo>
                <a:lnTo>
                  <a:pt x="441731" y="173989"/>
                </a:lnTo>
                <a:lnTo>
                  <a:pt x="439699" y="181609"/>
                </a:lnTo>
                <a:lnTo>
                  <a:pt x="437134" y="189229"/>
                </a:lnTo>
                <a:lnTo>
                  <a:pt x="434213" y="195579"/>
                </a:lnTo>
                <a:lnTo>
                  <a:pt x="430453" y="203199"/>
                </a:lnTo>
                <a:lnTo>
                  <a:pt x="426377" y="209549"/>
                </a:lnTo>
                <a:lnTo>
                  <a:pt x="421830" y="217169"/>
                </a:lnTo>
                <a:lnTo>
                  <a:pt x="416839" y="223519"/>
                </a:lnTo>
                <a:lnTo>
                  <a:pt x="411645" y="228599"/>
                </a:lnTo>
                <a:lnTo>
                  <a:pt x="405561" y="234949"/>
                </a:lnTo>
                <a:lnTo>
                  <a:pt x="399541" y="241299"/>
                </a:lnTo>
                <a:lnTo>
                  <a:pt x="392658" y="247649"/>
                </a:lnTo>
                <a:close/>
              </a:path>
              <a:path w="444500" h="300989">
                <a:moveTo>
                  <a:pt x="74809" y="247649"/>
                </a:moveTo>
                <a:lnTo>
                  <a:pt x="73164" y="247649"/>
                </a:lnTo>
                <a:lnTo>
                  <a:pt x="72936" y="246379"/>
                </a:lnTo>
                <a:lnTo>
                  <a:pt x="74809" y="247649"/>
                </a:lnTo>
                <a:close/>
              </a:path>
              <a:path w="444500" h="300989">
                <a:moveTo>
                  <a:pt x="323972" y="284479"/>
                </a:moveTo>
                <a:lnTo>
                  <a:pt x="274954" y="284479"/>
                </a:lnTo>
                <a:lnTo>
                  <a:pt x="285191" y="281939"/>
                </a:lnTo>
                <a:lnTo>
                  <a:pt x="284975" y="281939"/>
                </a:lnTo>
                <a:lnTo>
                  <a:pt x="295008" y="279399"/>
                </a:lnTo>
                <a:lnTo>
                  <a:pt x="294792" y="279399"/>
                </a:lnTo>
                <a:lnTo>
                  <a:pt x="304596" y="276859"/>
                </a:lnTo>
                <a:lnTo>
                  <a:pt x="304380" y="276859"/>
                </a:lnTo>
                <a:lnTo>
                  <a:pt x="313944" y="274319"/>
                </a:lnTo>
                <a:lnTo>
                  <a:pt x="313728" y="274319"/>
                </a:lnTo>
                <a:lnTo>
                  <a:pt x="323037" y="271779"/>
                </a:lnTo>
                <a:lnTo>
                  <a:pt x="322808" y="271779"/>
                </a:lnTo>
                <a:lnTo>
                  <a:pt x="331850" y="267969"/>
                </a:lnTo>
                <a:lnTo>
                  <a:pt x="331635" y="267969"/>
                </a:lnTo>
                <a:lnTo>
                  <a:pt x="340385" y="264159"/>
                </a:lnTo>
                <a:lnTo>
                  <a:pt x="340169" y="264159"/>
                </a:lnTo>
                <a:lnTo>
                  <a:pt x="348627" y="260349"/>
                </a:lnTo>
                <a:lnTo>
                  <a:pt x="348399" y="260349"/>
                </a:lnTo>
                <a:lnTo>
                  <a:pt x="356552" y="256539"/>
                </a:lnTo>
                <a:lnTo>
                  <a:pt x="356323" y="256539"/>
                </a:lnTo>
                <a:lnTo>
                  <a:pt x="364159" y="251459"/>
                </a:lnTo>
                <a:lnTo>
                  <a:pt x="363931" y="251459"/>
                </a:lnTo>
                <a:lnTo>
                  <a:pt x="371424" y="246379"/>
                </a:lnTo>
                <a:lnTo>
                  <a:pt x="371195" y="247649"/>
                </a:lnTo>
                <a:lnTo>
                  <a:pt x="392658" y="247649"/>
                </a:lnTo>
                <a:lnTo>
                  <a:pt x="385876" y="252729"/>
                </a:lnTo>
                <a:lnTo>
                  <a:pt x="370535" y="262889"/>
                </a:lnTo>
                <a:lnTo>
                  <a:pt x="362470" y="266699"/>
                </a:lnTo>
                <a:lnTo>
                  <a:pt x="354088" y="271779"/>
                </a:lnTo>
                <a:lnTo>
                  <a:pt x="345389" y="275589"/>
                </a:lnTo>
                <a:lnTo>
                  <a:pt x="336410" y="279399"/>
                </a:lnTo>
                <a:lnTo>
                  <a:pt x="327151" y="283209"/>
                </a:lnTo>
                <a:lnTo>
                  <a:pt x="323972" y="284479"/>
                </a:lnTo>
                <a:close/>
              </a:path>
              <a:path w="444500" h="300989">
                <a:moveTo>
                  <a:pt x="174415" y="284479"/>
                </a:moveTo>
                <a:lnTo>
                  <a:pt x="169405" y="284479"/>
                </a:lnTo>
                <a:lnTo>
                  <a:pt x="169189" y="283209"/>
                </a:lnTo>
                <a:lnTo>
                  <a:pt x="174415" y="284479"/>
                </a:lnTo>
                <a:close/>
              </a:path>
              <a:path w="444500" h="300989">
                <a:moveTo>
                  <a:pt x="312724" y="288289"/>
                </a:moveTo>
                <a:lnTo>
                  <a:pt x="232968" y="288289"/>
                </a:lnTo>
                <a:lnTo>
                  <a:pt x="243928" y="287019"/>
                </a:lnTo>
                <a:lnTo>
                  <a:pt x="254304" y="287019"/>
                </a:lnTo>
                <a:lnTo>
                  <a:pt x="264934" y="285749"/>
                </a:lnTo>
                <a:lnTo>
                  <a:pt x="264718" y="285749"/>
                </a:lnTo>
                <a:lnTo>
                  <a:pt x="275170" y="283209"/>
                </a:lnTo>
                <a:lnTo>
                  <a:pt x="274954" y="284479"/>
                </a:lnTo>
                <a:lnTo>
                  <a:pt x="323972" y="284479"/>
                </a:lnTo>
                <a:lnTo>
                  <a:pt x="317614" y="287019"/>
                </a:lnTo>
                <a:lnTo>
                  <a:pt x="312724" y="288289"/>
                </a:lnTo>
                <a:close/>
              </a:path>
              <a:path w="444500" h="300989">
                <a:moveTo>
                  <a:pt x="233400" y="300989"/>
                </a:moveTo>
                <a:lnTo>
                  <a:pt x="210743" y="300989"/>
                </a:lnTo>
                <a:lnTo>
                  <a:pt x="199567" y="299719"/>
                </a:lnTo>
                <a:lnTo>
                  <a:pt x="244576" y="299719"/>
                </a:lnTo>
                <a:lnTo>
                  <a:pt x="233400" y="300989"/>
                </a:lnTo>
                <a:close/>
              </a:path>
            </a:pathLst>
          </a:custGeom>
          <a:solidFill>
            <a:srgbClr val="006C39"/>
          </a:solidFill>
        </p:spPr>
        <p:txBody>
          <a:bodyPr wrap="square" lIns="0" tIns="0" rIns="0" bIns="0" rtlCol="0"/>
          <a:lstStyle/>
          <a:p>
            <a:endParaRPr/>
          </a:p>
        </p:txBody>
      </p:sp>
      <p:sp>
        <p:nvSpPr>
          <p:cNvPr id="29" name="object 29"/>
          <p:cNvSpPr txBox="1"/>
          <p:nvPr/>
        </p:nvSpPr>
        <p:spPr>
          <a:xfrm>
            <a:off x="3923677" y="2569171"/>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30" name="object 30"/>
          <p:cNvSpPr/>
          <p:nvPr/>
        </p:nvSpPr>
        <p:spPr>
          <a:xfrm>
            <a:off x="4642358" y="3648862"/>
            <a:ext cx="1225550" cy="734695"/>
          </a:xfrm>
          <a:custGeom>
            <a:avLst/>
            <a:gdLst/>
            <a:ahLst/>
            <a:cxnLst/>
            <a:rect l="l" t="t" r="r" b="b"/>
            <a:pathLst>
              <a:path w="1225550" h="734695">
                <a:moveTo>
                  <a:pt x="1156847" y="700730"/>
                </a:moveTo>
                <a:lnTo>
                  <a:pt x="0" y="10909"/>
                </a:lnTo>
                <a:lnTo>
                  <a:pt x="6502" y="0"/>
                </a:lnTo>
                <a:lnTo>
                  <a:pt x="1163351" y="689821"/>
                </a:lnTo>
                <a:lnTo>
                  <a:pt x="1156847" y="700730"/>
                </a:lnTo>
                <a:close/>
              </a:path>
              <a:path w="1225550" h="734695">
                <a:moveTo>
                  <a:pt x="1210305" y="710488"/>
                </a:moveTo>
                <a:lnTo>
                  <a:pt x="1173213" y="710488"/>
                </a:lnTo>
                <a:lnTo>
                  <a:pt x="1179715" y="699579"/>
                </a:lnTo>
                <a:lnTo>
                  <a:pt x="1163351" y="689821"/>
                </a:lnTo>
                <a:lnTo>
                  <a:pt x="1179614" y="662546"/>
                </a:lnTo>
                <a:lnTo>
                  <a:pt x="1210305" y="710488"/>
                </a:lnTo>
                <a:close/>
              </a:path>
              <a:path w="1225550" h="734695">
                <a:moveTo>
                  <a:pt x="1173213" y="710488"/>
                </a:moveTo>
                <a:lnTo>
                  <a:pt x="1156847" y="700730"/>
                </a:lnTo>
                <a:lnTo>
                  <a:pt x="1163351" y="689821"/>
                </a:lnTo>
                <a:lnTo>
                  <a:pt x="1179715" y="699579"/>
                </a:lnTo>
                <a:lnTo>
                  <a:pt x="1173213" y="710488"/>
                </a:lnTo>
                <a:close/>
              </a:path>
              <a:path w="1225550" h="734695">
                <a:moveTo>
                  <a:pt x="1225550" y="734301"/>
                </a:moveTo>
                <a:lnTo>
                  <a:pt x="1140587" y="728002"/>
                </a:lnTo>
                <a:lnTo>
                  <a:pt x="1156847" y="700730"/>
                </a:lnTo>
                <a:lnTo>
                  <a:pt x="1173213" y="710488"/>
                </a:lnTo>
                <a:lnTo>
                  <a:pt x="1210305" y="710488"/>
                </a:lnTo>
                <a:lnTo>
                  <a:pt x="1225550" y="734301"/>
                </a:lnTo>
                <a:close/>
              </a:path>
            </a:pathLst>
          </a:custGeom>
          <a:solidFill>
            <a:srgbClr val="967A2C"/>
          </a:solidFill>
        </p:spPr>
        <p:txBody>
          <a:bodyPr wrap="square" lIns="0" tIns="0" rIns="0" bIns="0" rtlCol="0"/>
          <a:lstStyle/>
          <a:p>
            <a:endParaRPr/>
          </a:p>
        </p:txBody>
      </p:sp>
      <p:sp>
        <p:nvSpPr>
          <p:cNvPr id="31" name="object 31"/>
          <p:cNvSpPr/>
          <p:nvPr/>
        </p:nvSpPr>
        <p:spPr>
          <a:xfrm>
            <a:off x="5429834" y="3684333"/>
            <a:ext cx="444500" cy="300990"/>
          </a:xfrm>
          <a:custGeom>
            <a:avLst/>
            <a:gdLst/>
            <a:ahLst/>
            <a:cxnLst/>
            <a:rect l="l" t="t" r="r" b="b"/>
            <a:pathLst>
              <a:path w="444500" h="300989">
                <a:moveTo>
                  <a:pt x="255600" y="299720"/>
                </a:moveTo>
                <a:lnTo>
                  <a:pt x="188544" y="299720"/>
                </a:lnTo>
                <a:lnTo>
                  <a:pt x="177698" y="298450"/>
                </a:lnTo>
                <a:lnTo>
                  <a:pt x="167030" y="295910"/>
                </a:lnTo>
                <a:lnTo>
                  <a:pt x="156578" y="294639"/>
                </a:lnTo>
                <a:lnTo>
                  <a:pt x="116979" y="283210"/>
                </a:lnTo>
                <a:lnTo>
                  <a:pt x="81661" y="266700"/>
                </a:lnTo>
                <a:lnTo>
                  <a:pt x="73596" y="262889"/>
                </a:lnTo>
                <a:lnTo>
                  <a:pt x="58483" y="252729"/>
                </a:lnTo>
                <a:lnTo>
                  <a:pt x="51460" y="246379"/>
                </a:lnTo>
                <a:lnTo>
                  <a:pt x="44818" y="241300"/>
                </a:lnTo>
                <a:lnTo>
                  <a:pt x="38569" y="234950"/>
                </a:lnTo>
                <a:lnTo>
                  <a:pt x="32715" y="228600"/>
                </a:lnTo>
                <a:lnTo>
                  <a:pt x="27292" y="223520"/>
                </a:lnTo>
                <a:lnTo>
                  <a:pt x="22301" y="215900"/>
                </a:lnTo>
                <a:lnTo>
                  <a:pt x="17767" y="209550"/>
                </a:lnTo>
                <a:lnTo>
                  <a:pt x="13906" y="203200"/>
                </a:lnTo>
                <a:lnTo>
                  <a:pt x="10312" y="195579"/>
                </a:lnTo>
                <a:lnTo>
                  <a:pt x="10134" y="195579"/>
                </a:lnTo>
                <a:lnTo>
                  <a:pt x="7226" y="189229"/>
                </a:lnTo>
                <a:lnTo>
                  <a:pt x="4521" y="180339"/>
                </a:lnTo>
                <a:lnTo>
                  <a:pt x="2628" y="173989"/>
                </a:lnTo>
                <a:lnTo>
                  <a:pt x="2527" y="172720"/>
                </a:lnTo>
                <a:lnTo>
                  <a:pt x="1092" y="166370"/>
                </a:lnTo>
                <a:lnTo>
                  <a:pt x="215" y="157479"/>
                </a:lnTo>
                <a:lnTo>
                  <a:pt x="0" y="153670"/>
                </a:lnTo>
                <a:lnTo>
                  <a:pt x="0" y="146050"/>
                </a:lnTo>
                <a:lnTo>
                  <a:pt x="241" y="142239"/>
                </a:lnTo>
                <a:lnTo>
                  <a:pt x="609" y="138429"/>
                </a:lnTo>
                <a:lnTo>
                  <a:pt x="1092" y="134620"/>
                </a:lnTo>
                <a:lnTo>
                  <a:pt x="2527" y="127000"/>
                </a:lnTo>
                <a:lnTo>
                  <a:pt x="4521" y="119379"/>
                </a:lnTo>
                <a:lnTo>
                  <a:pt x="7226" y="111760"/>
                </a:lnTo>
                <a:lnTo>
                  <a:pt x="10134" y="104139"/>
                </a:lnTo>
                <a:lnTo>
                  <a:pt x="10312" y="104139"/>
                </a:lnTo>
                <a:lnTo>
                  <a:pt x="13906" y="97789"/>
                </a:lnTo>
                <a:lnTo>
                  <a:pt x="38798" y="64770"/>
                </a:lnTo>
                <a:lnTo>
                  <a:pt x="73825" y="38100"/>
                </a:lnTo>
                <a:lnTo>
                  <a:pt x="90271" y="29210"/>
                </a:lnTo>
                <a:lnTo>
                  <a:pt x="98958" y="24129"/>
                </a:lnTo>
                <a:lnTo>
                  <a:pt x="136525" y="11429"/>
                </a:lnTo>
                <a:lnTo>
                  <a:pt x="199783" y="0"/>
                </a:lnTo>
                <a:lnTo>
                  <a:pt x="244792" y="0"/>
                </a:lnTo>
                <a:lnTo>
                  <a:pt x="277317" y="3810"/>
                </a:lnTo>
                <a:lnTo>
                  <a:pt x="287782" y="6350"/>
                </a:lnTo>
                <a:lnTo>
                  <a:pt x="312947" y="12700"/>
                </a:lnTo>
                <a:lnTo>
                  <a:pt x="200634" y="12700"/>
                </a:lnTo>
                <a:lnTo>
                  <a:pt x="189839" y="13970"/>
                </a:lnTo>
                <a:lnTo>
                  <a:pt x="190055" y="13970"/>
                </a:lnTo>
                <a:lnTo>
                  <a:pt x="179412" y="15239"/>
                </a:lnTo>
                <a:lnTo>
                  <a:pt x="179628" y="15239"/>
                </a:lnTo>
                <a:lnTo>
                  <a:pt x="169189" y="16510"/>
                </a:lnTo>
                <a:lnTo>
                  <a:pt x="169405" y="16510"/>
                </a:lnTo>
                <a:lnTo>
                  <a:pt x="164280" y="17779"/>
                </a:lnTo>
                <a:lnTo>
                  <a:pt x="159372" y="17779"/>
                </a:lnTo>
                <a:lnTo>
                  <a:pt x="149339" y="20320"/>
                </a:lnTo>
                <a:lnTo>
                  <a:pt x="149567" y="20320"/>
                </a:lnTo>
                <a:lnTo>
                  <a:pt x="139763" y="22860"/>
                </a:lnTo>
                <a:lnTo>
                  <a:pt x="139979" y="22860"/>
                </a:lnTo>
                <a:lnTo>
                  <a:pt x="130416" y="25400"/>
                </a:lnTo>
                <a:lnTo>
                  <a:pt x="130632" y="25400"/>
                </a:lnTo>
                <a:lnTo>
                  <a:pt x="121323" y="29210"/>
                </a:lnTo>
                <a:lnTo>
                  <a:pt x="121551" y="29210"/>
                </a:lnTo>
                <a:lnTo>
                  <a:pt x="112509" y="33020"/>
                </a:lnTo>
                <a:lnTo>
                  <a:pt x="112725" y="33020"/>
                </a:lnTo>
                <a:lnTo>
                  <a:pt x="106883" y="35560"/>
                </a:lnTo>
                <a:lnTo>
                  <a:pt x="104190" y="35560"/>
                </a:lnTo>
                <a:lnTo>
                  <a:pt x="95732" y="40639"/>
                </a:lnTo>
                <a:lnTo>
                  <a:pt x="95961" y="40639"/>
                </a:lnTo>
                <a:lnTo>
                  <a:pt x="87795" y="44450"/>
                </a:lnTo>
                <a:lnTo>
                  <a:pt x="88023" y="44450"/>
                </a:lnTo>
                <a:lnTo>
                  <a:pt x="80200" y="48260"/>
                </a:lnTo>
                <a:lnTo>
                  <a:pt x="80429" y="48260"/>
                </a:lnTo>
                <a:lnTo>
                  <a:pt x="72923" y="53339"/>
                </a:lnTo>
                <a:lnTo>
                  <a:pt x="73164" y="53339"/>
                </a:lnTo>
                <a:lnTo>
                  <a:pt x="66014" y="58420"/>
                </a:lnTo>
                <a:lnTo>
                  <a:pt x="66243" y="58420"/>
                </a:lnTo>
                <a:lnTo>
                  <a:pt x="59461" y="63500"/>
                </a:lnTo>
                <a:lnTo>
                  <a:pt x="59689" y="63500"/>
                </a:lnTo>
                <a:lnTo>
                  <a:pt x="53289" y="68579"/>
                </a:lnTo>
                <a:lnTo>
                  <a:pt x="53517" y="68579"/>
                </a:lnTo>
                <a:lnTo>
                  <a:pt x="47498" y="73660"/>
                </a:lnTo>
                <a:lnTo>
                  <a:pt x="47739" y="73660"/>
                </a:lnTo>
                <a:lnTo>
                  <a:pt x="42113" y="80010"/>
                </a:lnTo>
                <a:lnTo>
                  <a:pt x="42354" y="80010"/>
                </a:lnTo>
                <a:lnTo>
                  <a:pt x="37147" y="85089"/>
                </a:lnTo>
                <a:lnTo>
                  <a:pt x="37376" y="85089"/>
                </a:lnTo>
                <a:lnTo>
                  <a:pt x="32613" y="91439"/>
                </a:lnTo>
                <a:lnTo>
                  <a:pt x="32829" y="91439"/>
                </a:lnTo>
                <a:lnTo>
                  <a:pt x="28498" y="97789"/>
                </a:lnTo>
                <a:lnTo>
                  <a:pt x="28714" y="97789"/>
                </a:lnTo>
                <a:lnTo>
                  <a:pt x="25626" y="102870"/>
                </a:lnTo>
                <a:lnTo>
                  <a:pt x="25044" y="102870"/>
                </a:lnTo>
                <a:lnTo>
                  <a:pt x="22218" y="109220"/>
                </a:lnTo>
                <a:lnTo>
                  <a:pt x="21831" y="109220"/>
                </a:lnTo>
                <a:lnTo>
                  <a:pt x="19407" y="115570"/>
                </a:lnTo>
                <a:lnTo>
                  <a:pt x="19075" y="115570"/>
                </a:lnTo>
                <a:lnTo>
                  <a:pt x="16662" y="123189"/>
                </a:lnTo>
                <a:lnTo>
                  <a:pt x="16802" y="123189"/>
                </a:lnTo>
                <a:lnTo>
                  <a:pt x="14897" y="129539"/>
                </a:lnTo>
                <a:lnTo>
                  <a:pt x="13855" y="135889"/>
                </a:lnTo>
                <a:lnTo>
                  <a:pt x="13690" y="135889"/>
                </a:lnTo>
                <a:lnTo>
                  <a:pt x="13195" y="139700"/>
                </a:lnTo>
                <a:lnTo>
                  <a:pt x="12996" y="142239"/>
                </a:lnTo>
                <a:lnTo>
                  <a:pt x="12903" y="143510"/>
                </a:lnTo>
                <a:lnTo>
                  <a:pt x="12759" y="146050"/>
                </a:lnTo>
                <a:lnTo>
                  <a:pt x="12687" y="153670"/>
                </a:lnTo>
                <a:lnTo>
                  <a:pt x="12903" y="157479"/>
                </a:lnTo>
                <a:lnTo>
                  <a:pt x="13233" y="161289"/>
                </a:lnTo>
                <a:lnTo>
                  <a:pt x="13690" y="163829"/>
                </a:lnTo>
                <a:lnTo>
                  <a:pt x="14998" y="171450"/>
                </a:lnTo>
                <a:lnTo>
                  <a:pt x="15214" y="171450"/>
                </a:lnTo>
                <a:lnTo>
                  <a:pt x="16802" y="177800"/>
                </a:lnTo>
                <a:lnTo>
                  <a:pt x="16662" y="177800"/>
                </a:lnTo>
                <a:lnTo>
                  <a:pt x="19075" y="184150"/>
                </a:lnTo>
                <a:lnTo>
                  <a:pt x="18923" y="184150"/>
                </a:lnTo>
                <a:lnTo>
                  <a:pt x="21831" y="190500"/>
                </a:lnTo>
                <a:lnTo>
                  <a:pt x="21653" y="190500"/>
                </a:lnTo>
                <a:lnTo>
                  <a:pt x="25044" y="196850"/>
                </a:lnTo>
                <a:lnTo>
                  <a:pt x="24853" y="196850"/>
                </a:lnTo>
                <a:lnTo>
                  <a:pt x="28714" y="203200"/>
                </a:lnTo>
                <a:lnTo>
                  <a:pt x="28498" y="203200"/>
                </a:lnTo>
                <a:lnTo>
                  <a:pt x="32829" y="209550"/>
                </a:lnTo>
                <a:lnTo>
                  <a:pt x="32613" y="209550"/>
                </a:lnTo>
                <a:lnTo>
                  <a:pt x="37376" y="214629"/>
                </a:lnTo>
                <a:lnTo>
                  <a:pt x="37147" y="214629"/>
                </a:lnTo>
                <a:lnTo>
                  <a:pt x="42354" y="220979"/>
                </a:lnTo>
                <a:lnTo>
                  <a:pt x="42113" y="220979"/>
                </a:lnTo>
                <a:lnTo>
                  <a:pt x="47739" y="226060"/>
                </a:lnTo>
                <a:lnTo>
                  <a:pt x="47498" y="226060"/>
                </a:lnTo>
                <a:lnTo>
                  <a:pt x="53517" y="232410"/>
                </a:lnTo>
                <a:lnTo>
                  <a:pt x="54569" y="232410"/>
                </a:lnTo>
                <a:lnTo>
                  <a:pt x="59689" y="237489"/>
                </a:lnTo>
                <a:lnTo>
                  <a:pt x="59461" y="237489"/>
                </a:lnTo>
                <a:lnTo>
                  <a:pt x="66243" y="242570"/>
                </a:lnTo>
                <a:lnTo>
                  <a:pt x="66014" y="242570"/>
                </a:lnTo>
                <a:lnTo>
                  <a:pt x="73164" y="247650"/>
                </a:lnTo>
                <a:lnTo>
                  <a:pt x="74799" y="247650"/>
                </a:lnTo>
                <a:lnTo>
                  <a:pt x="80429" y="251460"/>
                </a:lnTo>
                <a:lnTo>
                  <a:pt x="80200" y="251460"/>
                </a:lnTo>
                <a:lnTo>
                  <a:pt x="88023" y="256539"/>
                </a:lnTo>
                <a:lnTo>
                  <a:pt x="87795" y="256539"/>
                </a:lnTo>
                <a:lnTo>
                  <a:pt x="95961" y="260350"/>
                </a:lnTo>
                <a:lnTo>
                  <a:pt x="95732" y="260350"/>
                </a:lnTo>
                <a:lnTo>
                  <a:pt x="104190" y="264160"/>
                </a:lnTo>
                <a:lnTo>
                  <a:pt x="103962" y="264160"/>
                </a:lnTo>
                <a:lnTo>
                  <a:pt x="112725" y="267970"/>
                </a:lnTo>
                <a:lnTo>
                  <a:pt x="112509" y="267970"/>
                </a:lnTo>
                <a:lnTo>
                  <a:pt x="121551" y="271779"/>
                </a:lnTo>
                <a:lnTo>
                  <a:pt x="121323" y="271779"/>
                </a:lnTo>
                <a:lnTo>
                  <a:pt x="130632" y="274320"/>
                </a:lnTo>
                <a:lnTo>
                  <a:pt x="130416" y="274320"/>
                </a:lnTo>
                <a:lnTo>
                  <a:pt x="139979" y="276860"/>
                </a:lnTo>
                <a:lnTo>
                  <a:pt x="139763" y="276860"/>
                </a:lnTo>
                <a:lnTo>
                  <a:pt x="149567" y="279400"/>
                </a:lnTo>
                <a:lnTo>
                  <a:pt x="149339" y="279400"/>
                </a:lnTo>
                <a:lnTo>
                  <a:pt x="159372" y="281939"/>
                </a:lnTo>
                <a:lnTo>
                  <a:pt x="159156" y="281939"/>
                </a:lnTo>
                <a:lnTo>
                  <a:pt x="169405" y="283210"/>
                </a:lnTo>
                <a:lnTo>
                  <a:pt x="169189" y="283210"/>
                </a:lnTo>
                <a:lnTo>
                  <a:pt x="179628" y="285750"/>
                </a:lnTo>
                <a:lnTo>
                  <a:pt x="179412" y="285750"/>
                </a:lnTo>
                <a:lnTo>
                  <a:pt x="190055" y="287020"/>
                </a:lnTo>
                <a:lnTo>
                  <a:pt x="200418" y="287020"/>
                </a:lnTo>
                <a:lnTo>
                  <a:pt x="211391" y="288289"/>
                </a:lnTo>
                <a:lnTo>
                  <a:pt x="312724" y="288289"/>
                </a:lnTo>
                <a:lnTo>
                  <a:pt x="287566" y="294639"/>
                </a:lnTo>
                <a:lnTo>
                  <a:pt x="277101" y="295910"/>
                </a:lnTo>
                <a:lnTo>
                  <a:pt x="266446" y="298450"/>
                </a:lnTo>
                <a:lnTo>
                  <a:pt x="255600" y="299720"/>
                </a:lnTo>
                <a:close/>
              </a:path>
              <a:path w="444500" h="300989">
                <a:moveTo>
                  <a:pt x="285191" y="19050"/>
                </a:moveTo>
                <a:lnTo>
                  <a:pt x="274942" y="16510"/>
                </a:lnTo>
                <a:lnTo>
                  <a:pt x="275158" y="16510"/>
                </a:lnTo>
                <a:lnTo>
                  <a:pt x="264718" y="15239"/>
                </a:lnTo>
                <a:lnTo>
                  <a:pt x="264934" y="15239"/>
                </a:lnTo>
                <a:lnTo>
                  <a:pt x="254304" y="13970"/>
                </a:lnTo>
                <a:lnTo>
                  <a:pt x="254520" y="13970"/>
                </a:lnTo>
                <a:lnTo>
                  <a:pt x="243712" y="12700"/>
                </a:lnTo>
                <a:lnTo>
                  <a:pt x="312947" y="12700"/>
                </a:lnTo>
                <a:lnTo>
                  <a:pt x="317842" y="13970"/>
                </a:lnTo>
                <a:lnTo>
                  <a:pt x="327367" y="17779"/>
                </a:lnTo>
                <a:lnTo>
                  <a:pt x="284975" y="17779"/>
                </a:lnTo>
                <a:lnTo>
                  <a:pt x="285191" y="19050"/>
                </a:lnTo>
                <a:close/>
              </a:path>
              <a:path w="444500" h="300989">
                <a:moveTo>
                  <a:pt x="159156" y="19050"/>
                </a:moveTo>
                <a:lnTo>
                  <a:pt x="159372" y="17779"/>
                </a:lnTo>
                <a:lnTo>
                  <a:pt x="164280" y="17779"/>
                </a:lnTo>
                <a:lnTo>
                  <a:pt x="159156" y="19050"/>
                </a:lnTo>
                <a:close/>
              </a:path>
              <a:path w="444500" h="300989">
                <a:moveTo>
                  <a:pt x="340385" y="36829"/>
                </a:moveTo>
                <a:lnTo>
                  <a:pt x="331622" y="33020"/>
                </a:lnTo>
                <a:lnTo>
                  <a:pt x="331850" y="33020"/>
                </a:lnTo>
                <a:lnTo>
                  <a:pt x="322808" y="29210"/>
                </a:lnTo>
                <a:lnTo>
                  <a:pt x="323024" y="29210"/>
                </a:lnTo>
                <a:lnTo>
                  <a:pt x="313715" y="25400"/>
                </a:lnTo>
                <a:lnTo>
                  <a:pt x="313944" y="25400"/>
                </a:lnTo>
                <a:lnTo>
                  <a:pt x="304380" y="22860"/>
                </a:lnTo>
                <a:lnTo>
                  <a:pt x="304596" y="22860"/>
                </a:lnTo>
                <a:lnTo>
                  <a:pt x="294792" y="20320"/>
                </a:lnTo>
                <a:lnTo>
                  <a:pt x="295008" y="20320"/>
                </a:lnTo>
                <a:lnTo>
                  <a:pt x="284975" y="17779"/>
                </a:lnTo>
                <a:lnTo>
                  <a:pt x="327367" y="17779"/>
                </a:lnTo>
                <a:lnTo>
                  <a:pt x="336626" y="20320"/>
                </a:lnTo>
                <a:lnTo>
                  <a:pt x="345617" y="24129"/>
                </a:lnTo>
                <a:lnTo>
                  <a:pt x="354304" y="29210"/>
                </a:lnTo>
                <a:lnTo>
                  <a:pt x="362699" y="33020"/>
                </a:lnTo>
                <a:lnTo>
                  <a:pt x="366731" y="35560"/>
                </a:lnTo>
                <a:lnTo>
                  <a:pt x="340156" y="35560"/>
                </a:lnTo>
                <a:lnTo>
                  <a:pt x="340385" y="36829"/>
                </a:lnTo>
                <a:close/>
              </a:path>
              <a:path w="444500" h="300989">
                <a:moveTo>
                  <a:pt x="103962" y="36829"/>
                </a:moveTo>
                <a:lnTo>
                  <a:pt x="104190" y="35560"/>
                </a:lnTo>
                <a:lnTo>
                  <a:pt x="106883" y="35560"/>
                </a:lnTo>
                <a:lnTo>
                  <a:pt x="103962" y="36829"/>
                </a:lnTo>
                <a:close/>
              </a:path>
              <a:path w="444500" h="300989">
                <a:moveTo>
                  <a:pt x="419506" y="104139"/>
                </a:moveTo>
                <a:lnTo>
                  <a:pt x="415632" y="97789"/>
                </a:lnTo>
                <a:lnTo>
                  <a:pt x="415848" y="97789"/>
                </a:lnTo>
                <a:lnTo>
                  <a:pt x="411530" y="91439"/>
                </a:lnTo>
                <a:lnTo>
                  <a:pt x="411746" y="91439"/>
                </a:lnTo>
                <a:lnTo>
                  <a:pt x="406971" y="85089"/>
                </a:lnTo>
                <a:lnTo>
                  <a:pt x="407200" y="85089"/>
                </a:lnTo>
                <a:lnTo>
                  <a:pt x="402005" y="80010"/>
                </a:lnTo>
                <a:lnTo>
                  <a:pt x="402234" y="80010"/>
                </a:lnTo>
                <a:lnTo>
                  <a:pt x="396621" y="73660"/>
                </a:lnTo>
                <a:lnTo>
                  <a:pt x="396849" y="73660"/>
                </a:lnTo>
                <a:lnTo>
                  <a:pt x="390829" y="68579"/>
                </a:lnTo>
                <a:lnTo>
                  <a:pt x="391071" y="68579"/>
                </a:lnTo>
                <a:lnTo>
                  <a:pt x="384657" y="63500"/>
                </a:lnTo>
                <a:lnTo>
                  <a:pt x="384898" y="63500"/>
                </a:lnTo>
                <a:lnTo>
                  <a:pt x="378104" y="58420"/>
                </a:lnTo>
                <a:lnTo>
                  <a:pt x="378345" y="58420"/>
                </a:lnTo>
                <a:lnTo>
                  <a:pt x="371195" y="53339"/>
                </a:lnTo>
                <a:lnTo>
                  <a:pt x="371424" y="53339"/>
                </a:lnTo>
                <a:lnTo>
                  <a:pt x="363931" y="48260"/>
                </a:lnTo>
                <a:lnTo>
                  <a:pt x="364159" y="48260"/>
                </a:lnTo>
                <a:lnTo>
                  <a:pt x="356323" y="44450"/>
                </a:lnTo>
                <a:lnTo>
                  <a:pt x="356552" y="44450"/>
                </a:lnTo>
                <a:lnTo>
                  <a:pt x="348399" y="40639"/>
                </a:lnTo>
                <a:lnTo>
                  <a:pt x="348627" y="40639"/>
                </a:lnTo>
                <a:lnTo>
                  <a:pt x="340156" y="35560"/>
                </a:lnTo>
                <a:lnTo>
                  <a:pt x="366731" y="35560"/>
                </a:lnTo>
                <a:lnTo>
                  <a:pt x="399541" y="59689"/>
                </a:lnTo>
                <a:lnTo>
                  <a:pt x="405790" y="64770"/>
                </a:lnTo>
                <a:lnTo>
                  <a:pt x="433500" y="102870"/>
                </a:lnTo>
                <a:lnTo>
                  <a:pt x="419303" y="102870"/>
                </a:lnTo>
                <a:lnTo>
                  <a:pt x="419506" y="104139"/>
                </a:lnTo>
                <a:close/>
              </a:path>
              <a:path w="444500" h="300989">
                <a:moveTo>
                  <a:pt x="24853" y="104139"/>
                </a:moveTo>
                <a:lnTo>
                  <a:pt x="25044" y="102870"/>
                </a:lnTo>
                <a:lnTo>
                  <a:pt x="25626" y="102870"/>
                </a:lnTo>
                <a:lnTo>
                  <a:pt x="24853" y="104139"/>
                </a:lnTo>
                <a:close/>
              </a:path>
              <a:path w="444500" h="300989">
                <a:moveTo>
                  <a:pt x="422706" y="110489"/>
                </a:moveTo>
                <a:lnTo>
                  <a:pt x="419303" y="102870"/>
                </a:lnTo>
                <a:lnTo>
                  <a:pt x="433500" y="102870"/>
                </a:lnTo>
                <a:lnTo>
                  <a:pt x="434213" y="104139"/>
                </a:lnTo>
                <a:lnTo>
                  <a:pt x="436261" y="109220"/>
                </a:lnTo>
                <a:lnTo>
                  <a:pt x="422528" y="109220"/>
                </a:lnTo>
                <a:lnTo>
                  <a:pt x="422706" y="110489"/>
                </a:lnTo>
                <a:close/>
              </a:path>
              <a:path w="444500" h="300989">
                <a:moveTo>
                  <a:pt x="21653" y="110489"/>
                </a:moveTo>
                <a:lnTo>
                  <a:pt x="21831" y="109220"/>
                </a:lnTo>
                <a:lnTo>
                  <a:pt x="22218" y="109220"/>
                </a:lnTo>
                <a:lnTo>
                  <a:pt x="21653" y="110489"/>
                </a:lnTo>
                <a:close/>
              </a:path>
              <a:path w="444500" h="300989">
                <a:moveTo>
                  <a:pt x="425437" y="116839"/>
                </a:moveTo>
                <a:lnTo>
                  <a:pt x="422528" y="109220"/>
                </a:lnTo>
                <a:lnTo>
                  <a:pt x="436261" y="109220"/>
                </a:lnTo>
                <a:lnTo>
                  <a:pt x="437286" y="111760"/>
                </a:lnTo>
                <a:lnTo>
                  <a:pt x="438492" y="115570"/>
                </a:lnTo>
                <a:lnTo>
                  <a:pt x="425272" y="115570"/>
                </a:lnTo>
                <a:lnTo>
                  <a:pt x="425437" y="116839"/>
                </a:lnTo>
                <a:close/>
              </a:path>
              <a:path w="444500" h="300989">
                <a:moveTo>
                  <a:pt x="18923" y="116839"/>
                </a:moveTo>
                <a:lnTo>
                  <a:pt x="19075" y="115570"/>
                </a:lnTo>
                <a:lnTo>
                  <a:pt x="19407" y="115570"/>
                </a:lnTo>
                <a:lnTo>
                  <a:pt x="18923" y="116839"/>
                </a:lnTo>
                <a:close/>
              </a:path>
              <a:path w="444500" h="300989">
                <a:moveTo>
                  <a:pt x="430720" y="137160"/>
                </a:moveTo>
                <a:lnTo>
                  <a:pt x="429348" y="129539"/>
                </a:lnTo>
                <a:lnTo>
                  <a:pt x="427558" y="123189"/>
                </a:lnTo>
                <a:lnTo>
                  <a:pt x="425272" y="115570"/>
                </a:lnTo>
                <a:lnTo>
                  <a:pt x="438492" y="115570"/>
                </a:lnTo>
                <a:lnTo>
                  <a:pt x="439699" y="119379"/>
                </a:lnTo>
                <a:lnTo>
                  <a:pt x="441833" y="127000"/>
                </a:lnTo>
                <a:lnTo>
                  <a:pt x="443204" y="134620"/>
                </a:lnTo>
                <a:lnTo>
                  <a:pt x="443390" y="135889"/>
                </a:lnTo>
                <a:lnTo>
                  <a:pt x="430669" y="135889"/>
                </a:lnTo>
                <a:lnTo>
                  <a:pt x="430720" y="137160"/>
                </a:lnTo>
                <a:close/>
              </a:path>
              <a:path w="444500" h="300989">
                <a:moveTo>
                  <a:pt x="13627" y="137160"/>
                </a:moveTo>
                <a:lnTo>
                  <a:pt x="13690" y="135889"/>
                </a:lnTo>
                <a:lnTo>
                  <a:pt x="13855" y="135889"/>
                </a:lnTo>
                <a:lnTo>
                  <a:pt x="13627" y="137160"/>
                </a:lnTo>
                <a:close/>
              </a:path>
              <a:path w="444500" h="300989">
                <a:moveTo>
                  <a:pt x="443864" y="161289"/>
                </a:moveTo>
                <a:lnTo>
                  <a:pt x="431126" y="161289"/>
                </a:lnTo>
                <a:lnTo>
                  <a:pt x="431469" y="157479"/>
                </a:lnTo>
                <a:lnTo>
                  <a:pt x="431660" y="153670"/>
                </a:lnTo>
                <a:lnTo>
                  <a:pt x="431660" y="146050"/>
                </a:lnTo>
                <a:lnTo>
                  <a:pt x="431457" y="143510"/>
                </a:lnTo>
                <a:lnTo>
                  <a:pt x="431126" y="139700"/>
                </a:lnTo>
                <a:lnTo>
                  <a:pt x="430669" y="135889"/>
                </a:lnTo>
                <a:lnTo>
                  <a:pt x="443390" y="135889"/>
                </a:lnTo>
                <a:lnTo>
                  <a:pt x="443763" y="138429"/>
                </a:lnTo>
                <a:lnTo>
                  <a:pt x="444131" y="142239"/>
                </a:lnTo>
                <a:lnTo>
                  <a:pt x="444360" y="146050"/>
                </a:lnTo>
                <a:lnTo>
                  <a:pt x="444347" y="153670"/>
                </a:lnTo>
                <a:lnTo>
                  <a:pt x="444119" y="158750"/>
                </a:lnTo>
                <a:lnTo>
                  <a:pt x="443864" y="161289"/>
                </a:lnTo>
                <a:close/>
              </a:path>
              <a:path w="444500" h="300989">
                <a:moveTo>
                  <a:pt x="12687" y="147320"/>
                </a:moveTo>
                <a:lnTo>
                  <a:pt x="12700" y="146050"/>
                </a:lnTo>
                <a:lnTo>
                  <a:pt x="12687" y="147320"/>
                </a:lnTo>
                <a:close/>
              </a:path>
              <a:path w="444500" h="300989">
                <a:moveTo>
                  <a:pt x="431660" y="147320"/>
                </a:moveTo>
                <a:lnTo>
                  <a:pt x="431592" y="146050"/>
                </a:lnTo>
                <a:lnTo>
                  <a:pt x="431660" y="147320"/>
                </a:lnTo>
                <a:close/>
              </a:path>
              <a:path w="444500" h="300989">
                <a:moveTo>
                  <a:pt x="13360" y="161289"/>
                </a:moveTo>
                <a:lnTo>
                  <a:pt x="13195" y="160020"/>
                </a:lnTo>
                <a:lnTo>
                  <a:pt x="13360" y="161289"/>
                </a:lnTo>
                <a:close/>
              </a:path>
              <a:path w="444500" h="300989">
                <a:moveTo>
                  <a:pt x="442107" y="171450"/>
                </a:moveTo>
                <a:lnTo>
                  <a:pt x="429348" y="171450"/>
                </a:lnTo>
                <a:lnTo>
                  <a:pt x="430720" y="163829"/>
                </a:lnTo>
                <a:lnTo>
                  <a:pt x="431152" y="160020"/>
                </a:lnTo>
                <a:lnTo>
                  <a:pt x="431126" y="161289"/>
                </a:lnTo>
                <a:lnTo>
                  <a:pt x="443864" y="161289"/>
                </a:lnTo>
                <a:lnTo>
                  <a:pt x="443738" y="162560"/>
                </a:lnTo>
                <a:lnTo>
                  <a:pt x="443204" y="166370"/>
                </a:lnTo>
                <a:lnTo>
                  <a:pt x="442107" y="171450"/>
                </a:lnTo>
                <a:close/>
              </a:path>
              <a:path w="444500" h="300989">
                <a:moveTo>
                  <a:pt x="15214" y="171450"/>
                </a:moveTo>
                <a:lnTo>
                  <a:pt x="14998" y="171450"/>
                </a:lnTo>
                <a:lnTo>
                  <a:pt x="14897" y="170179"/>
                </a:lnTo>
                <a:lnTo>
                  <a:pt x="15214" y="171450"/>
                </a:lnTo>
                <a:close/>
              </a:path>
              <a:path w="444500" h="300989">
                <a:moveTo>
                  <a:pt x="408482" y="232410"/>
                </a:moveTo>
                <a:lnTo>
                  <a:pt x="390829" y="232410"/>
                </a:lnTo>
                <a:lnTo>
                  <a:pt x="396849" y="226060"/>
                </a:lnTo>
                <a:lnTo>
                  <a:pt x="396621" y="226060"/>
                </a:lnTo>
                <a:lnTo>
                  <a:pt x="402234" y="220979"/>
                </a:lnTo>
                <a:lnTo>
                  <a:pt x="402005" y="220979"/>
                </a:lnTo>
                <a:lnTo>
                  <a:pt x="407200" y="214629"/>
                </a:lnTo>
                <a:lnTo>
                  <a:pt x="406971" y="214629"/>
                </a:lnTo>
                <a:lnTo>
                  <a:pt x="411746" y="209550"/>
                </a:lnTo>
                <a:lnTo>
                  <a:pt x="411530" y="209550"/>
                </a:lnTo>
                <a:lnTo>
                  <a:pt x="415848" y="203200"/>
                </a:lnTo>
                <a:lnTo>
                  <a:pt x="415632" y="203200"/>
                </a:lnTo>
                <a:lnTo>
                  <a:pt x="419506" y="196850"/>
                </a:lnTo>
                <a:lnTo>
                  <a:pt x="419303" y="196850"/>
                </a:lnTo>
                <a:lnTo>
                  <a:pt x="422706" y="190500"/>
                </a:lnTo>
                <a:lnTo>
                  <a:pt x="422528" y="190500"/>
                </a:lnTo>
                <a:lnTo>
                  <a:pt x="425437" y="184150"/>
                </a:lnTo>
                <a:lnTo>
                  <a:pt x="425272" y="184150"/>
                </a:lnTo>
                <a:lnTo>
                  <a:pt x="427685" y="177800"/>
                </a:lnTo>
                <a:lnTo>
                  <a:pt x="429450" y="170179"/>
                </a:lnTo>
                <a:lnTo>
                  <a:pt x="429348" y="171450"/>
                </a:lnTo>
                <a:lnTo>
                  <a:pt x="442107" y="171450"/>
                </a:lnTo>
                <a:lnTo>
                  <a:pt x="426377" y="209550"/>
                </a:lnTo>
                <a:lnTo>
                  <a:pt x="421830" y="217170"/>
                </a:lnTo>
                <a:lnTo>
                  <a:pt x="416839" y="223520"/>
                </a:lnTo>
                <a:lnTo>
                  <a:pt x="411403" y="229870"/>
                </a:lnTo>
                <a:lnTo>
                  <a:pt x="408482" y="232410"/>
                </a:lnTo>
                <a:close/>
              </a:path>
              <a:path w="444500" h="300989">
                <a:moveTo>
                  <a:pt x="54569" y="232410"/>
                </a:moveTo>
                <a:lnTo>
                  <a:pt x="53517" y="232410"/>
                </a:lnTo>
                <a:lnTo>
                  <a:pt x="53289" y="231139"/>
                </a:lnTo>
                <a:lnTo>
                  <a:pt x="54569" y="232410"/>
                </a:lnTo>
                <a:close/>
              </a:path>
              <a:path w="444500" h="300989">
                <a:moveTo>
                  <a:pt x="392658" y="247650"/>
                </a:moveTo>
                <a:lnTo>
                  <a:pt x="371195" y="247650"/>
                </a:lnTo>
                <a:lnTo>
                  <a:pt x="378345" y="242570"/>
                </a:lnTo>
                <a:lnTo>
                  <a:pt x="378104" y="242570"/>
                </a:lnTo>
                <a:lnTo>
                  <a:pt x="384898" y="237489"/>
                </a:lnTo>
                <a:lnTo>
                  <a:pt x="384657" y="237489"/>
                </a:lnTo>
                <a:lnTo>
                  <a:pt x="391071" y="231139"/>
                </a:lnTo>
                <a:lnTo>
                  <a:pt x="390829" y="232410"/>
                </a:lnTo>
                <a:lnTo>
                  <a:pt x="408482" y="232410"/>
                </a:lnTo>
                <a:lnTo>
                  <a:pt x="405561" y="234950"/>
                </a:lnTo>
                <a:lnTo>
                  <a:pt x="399541" y="241300"/>
                </a:lnTo>
                <a:lnTo>
                  <a:pt x="392658" y="247650"/>
                </a:lnTo>
                <a:close/>
              </a:path>
              <a:path w="444500" h="300989">
                <a:moveTo>
                  <a:pt x="74799" y="247650"/>
                </a:moveTo>
                <a:lnTo>
                  <a:pt x="73164" y="247650"/>
                </a:lnTo>
                <a:lnTo>
                  <a:pt x="72923" y="246379"/>
                </a:lnTo>
                <a:lnTo>
                  <a:pt x="74799" y="247650"/>
                </a:lnTo>
                <a:close/>
              </a:path>
              <a:path w="444500" h="300989">
                <a:moveTo>
                  <a:pt x="312724" y="288289"/>
                </a:moveTo>
                <a:lnTo>
                  <a:pt x="232968" y="288289"/>
                </a:lnTo>
                <a:lnTo>
                  <a:pt x="243928" y="287020"/>
                </a:lnTo>
                <a:lnTo>
                  <a:pt x="254304" y="287020"/>
                </a:lnTo>
                <a:lnTo>
                  <a:pt x="264934" y="285750"/>
                </a:lnTo>
                <a:lnTo>
                  <a:pt x="264718" y="285750"/>
                </a:lnTo>
                <a:lnTo>
                  <a:pt x="275158" y="283210"/>
                </a:lnTo>
                <a:lnTo>
                  <a:pt x="274942" y="283210"/>
                </a:lnTo>
                <a:lnTo>
                  <a:pt x="285191" y="281939"/>
                </a:lnTo>
                <a:lnTo>
                  <a:pt x="284975" y="281939"/>
                </a:lnTo>
                <a:lnTo>
                  <a:pt x="295008" y="279400"/>
                </a:lnTo>
                <a:lnTo>
                  <a:pt x="294792" y="279400"/>
                </a:lnTo>
                <a:lnTo>
                  <a:pt x="304596" y="276860"/>
                </a:lnTo>
                <a:lnTo>
                  <a:pt x="304380" y="276860"/>
                </a:lnTo>
                <a:lnTo>
                  <a:pt x="313944" y="274320"/>
                </a:lnTo>
                <a:lnTo>
                  <a:pt x="313715" y="274320"/>
                </a:lnTo>
                <a:lnTo>
                  <a:pt x="323024" y="271779"/>
                </a:lnTo>
                <a:lnTo>
                  <a:pt x="322808" y="271779"/>
                </a:lnTo>
                <a:lnTo>
                  <a:pt x="331850" y="267970"/>
                </a:lnTo>
                <a:lnTo>
                  <a:pt x="331622" y="267970"/>
                </a:lnTo>
                <a:lnTo>
                  <a:pt x="340385" y="264160"/>
                </a:lnTo>
                <a:lnTo>
                  <a:pt x="340156" y="264160"/>
                </a:lnTo>
                <a:lnTo>
                  <a:pt x="348627" y="260350"/>
                </a:lnTo>
                <a:lnTo>
                  <a:pt x="348399" y="260350"/>
                </a:lnTo>
                <a:lnTo>
                  <a:pt x="356552" y="256539"/>
                </a:lnTo>
                <a:lnTo>
                  <a:pt x="356323" y="256539"/>
                </a:lnTo>
                <a:lnTo>
                  <a:pt x="364159" y="251460"/>
                </a:lnTo>
                <a:lnTo>
                  <a:pt x="363931" y="251460"/>
                </a:lnTo>
                <a:lnTo>
                  <a:pt x="371424" y="246379"/>
                </a:lnTo>
                <a:lnTo>
                  <a:pt x="371195" y="247650"/>
                </a:lnTo>
                <a:lnTo>
                  <a:pt x="392658" y="247650"/>
                </a:lnTo>
                <a:lnTo>
                  <a:pt x="385876" y="252729"/>
                </a:lnTo>
                <a:lnTo>
                  <a:pt x="370522" y="262889"/>
                </a:lnTo>
                <a:lnTo>
                  <a:pt x="362458" y="266700"/>
                </a:lnTo>
                <a:lnTo>
                  <a:pt x="354304" y="271779"/>
                </a:lnTo>
                <a:lnTo>
                  <a:pt x="336410" y="279400"/>
                </a:lnTo>
                <a:lnTo>
                  <a:pt x="327151" y="283210"/>
                </a:lnTo>
                <a:lnTo>
                  <a:pt x="317614" y="287020"/>
                </a:lnTo>
                <a:lnTo>
                  <a:pt x="312724" y="288289"/>
                </a:lnTo>
                <a:close/>
              </a:path>
              <a:path w="444500" h="300989">
                <a:moveTo>
                  <a:pt x="233387" y="300989"/>
                </a:moveTo>
                <a:lnTo>
                  <a:pt x="210743" y="300989"/>
                </a:lnTo>
                <a:lnTo>
                  <a:pt x="199567" y="299720"/>
                </a:lnTo>
                <a:lnTo>
                  <a:pt x="244576" y="299720"/>
                </a:lnTo>
                <a:lnTo>
                  <a:pt x="233387" y="300989"/>
                </a:lnTo>
                <a:close/>
              </a:path>
            </a:pathLst>
          </a:custGeom>
          <a:solidFill>
            <a:srgbClr val="006C39"/>
          </a:solidFill>
        </p:spPr>
        <p:txBody>
          <a:bodyPr wrap="square" lIns="0" tIns="0" rIns="0" bIns="0" rtlCol="0"/>
          <a:lstStyle/>
          <a:p>
            <a:endParaRPr/>
          </a:p>
        </p:txBody>
      </p:sp>
      <p:sp>
        <p:nvSpPr>
          <p:cNvPr id="32" name="object 32"/>
          <p:cNvSpPr txBox="1"/>
          <p:nvPr/>
        </p:nvSpPr>
        <p:spPr>
          <a:xfrm>
            <a:off x="5507596" y="3722192"/>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33" name="object 33"/>
          <p:cNvSpPr/>
          <p:nvPr/>
        </p:nvSpPr>
        <p:spPr>
          <a:xfrm>
            <a:off x="72021" y="3510305"/>
            <a:ext cx="7885430" cy="0"/>
          </a:xfrm>
          <a:custGeom>
            <a:avLst/>
            <a:gdLst/>
            <a:ahLst/>
            <a:cxnLst/>
            <a:rect l="l" t="t" r="r" b="b"/>
            <a:pathLst>
              <a:path w="7885430">
                <a:moveTo>
                  <a:pt x="0" y="0"/>
                </a:moveTo>
                <a:lnTo>
                  <a:pt x="7885112" y="0"/>
                </a:lnTo>
              </a:path>
            </a:pathLst>
          </a:custGeom>
          <a:ln w="12700">
            <a:solidFill>
              <a:srgbClr val="006C39"/>
            </a:solidFill>
          </a:ln>
        </p:spPr>
        <p:txBody>
          <a:bodyPr wrap="square" lIns="0" tIns="0" rIns="0" bIns="0" rtlCol="0"/>
          <a:lstStyle/>
          <a:p>
            <a:endParaRPr/>
          </a:p>
        </p:txBody>
      </p:sp>
      <p:sp>
        <p:nvSpPr>
          <p:cNvPr id="34" name="object 34"/>
          <p:cNvSpPr/>
          <p:nvPr/>
        </p:nvSpPr>
        <p:spPr>
          <a:xfrm>
            <a:off x="252984" y="3761232"/>
            <a:ext cx="3168395" cy="1566672"/>
          </a:xfrm>
          <a:prstGeom prst="rect">
            <a:avLst/>
          </a:prstGeom>
          <a:blipFill>
            <a:blip r:embed="rId7" cstate="print"/>
            <a:stretch>
              <a:fillRect/>
            </a:stretch>
          </a:blipFill>
        </p:spPr>
        <p:txBody>
          <a:bodyPr wrap="square" lIns="0" tIns="0" rIns="0" bIns="0" rtlCol="0"/>
          <a:lstStyle/>
          <a:p>
            <a:endParaRPr/>
          </a:p>
        </p:txBody>
      </p:sp>
      <p:sp>
        <p:nvSpPr>
          <p:cNvPr id="35" name="object 35"/>
          <p:cNvSpPr/>
          <p:nvPr/>
        </p:nvSpPr>
        <p:spPr>
          <a:xfrm>
            <a:off x="249186" y="3757980"/>
            <a:ext cx="3176270" cy="1573530"/>
          </a:xfrm>
          <a:custGeom>
            <a:avLst/>
            <a:gdLst/>
            <a:ahLst/>
            <a:cxnLst/>
            <a:rect l="l" t="t" r="r" b="b"/>
            <a:pathLst>
              <a:path w="3176270" h="1573529">
                <a:moveTo>
                  <a:pt x="3176270" y="1573390"/>
                </a:moveTo>
                <a:lnTo>
                  <a:pt x="0" y="1573390"/>
                </a:lnTo>
                <a:lnTo>
                  <a:pt x="0" y="0"/>
                </a:lnTo>
                <a:lnTo>
                  <a:pt x="3176270" y="0"/>
                </a:lnTo>
                <a:lnTo>
                  <a:pt x="3176270" y="3810"/>
                </a:lnTo>
                <a:lnTo>
                  <a:pt x="7620" y="3810"/>
                </a:lnTo>
                <a:lnTo>
                  <a:pt x="3810" y="7620"/>
                </a:lnTo>
                <a:lnTo>
                  <a:pt x="7620" y="7620"/>
                </a:lnTo>
                <a:lnTo>
                  <a:pt x="7620" y="1565770"/>
                </a:lnTo>
                <a:lnTo>
                  <a:pt x="3810" y="1565770"/>
                </a:lnTo>
                <a:lnTo>
                  <a:pt x="7620" y="1569580"/>
                </a:lnTo>
                <a:lnTo>
                  <a:pt x="3176270" y="1569580"/>
                </a:lnTo>
                <a:lnTo>
                  <a:pt x="3176270" y="1573390"/>
                </a:lnTo>
                <a:close/>
              </a:path>
              <a:path w="3176270" h="1573529">
                <a:moveTo>
                  <a:pt x="7620" y="7620"/>
                </a:moveTo>
                <a:lnTo>
                  <a:pt x="3810" y="7620"/>
                </a:lnTo>
                <a:lnTo>
                  <a:pt x="7620" y="3810"/>
                </a:lnTo>
                <a:lnTo>
                  <a:pt x="7620" y="7620"/>
                </a:lnTo>
                <a:close/>
              </a:path>
              <a:path w="3176270" h="1573529">
                <a:moveTo>
                  <a:pt x="3168649" y="7620"/>
                </a:moveTo>
                <a:lnTo>
                  <a:pt x="7620" y="7620"/>
                </a:lnTo>
                <a:lnTo>
                  <a:pt x="7620" y="3810"/>
                </a:lnTo>
                <a:lnTo>
                  <a:pt x="3168649" y="3810"/>
                </a:lnTo>
                <a:lnTo>
                  <a:pt x="3168649" y="7620"/>
                </a:lnTo>
                <a:close/>
              </a:path>
              <a:path w="3176270" h="1573529">
                <a:moveTo>
                  <a:pt x="3168649" y="1569580"/>
                </a:moveTo>
                <a:lnTo>
                  <a:pt x="3168649" y="3810"/>
                </a:lnTo>
                <a:lnTo>
                  <a:pt x="3172460" y="7620"/>
                </a:lnTo>
                <a:lnTo>
                  <a:pt x="3176270" y="7620"/>
                </a:lnTo>
                <a:lnTo>
                  <a:pt x="3176270" y="1565770"/>
                </a:lnTo>
                <a:lnTo>
                  <a:pt x="3172460" y="1565770"/>
                </a:lnTo>
                <a:lnTo>
                  <a:pt x="3168649" y="1569580"/>
                </a:lnTo>
                <a:close/>
              </a:path>
              <a:path w="3176270" h="1573529">
                <a:moveTo>
                  <a:pt x="3176270" y="7620"/>
                </a:moveTo>
                <a:lnTo>
                  <a:pt x="3172460" y="7620"/>
                </a:lnTo>
                <a:lnTo>
                  <a:pt x="3168649" y="3810"/>
                </a:lnTo>
                <a:lnTo>
                  <a:pt x="3176270" y="3810"/>
                </a:lnTo>
                <a:lnTo>
                  <a:pt x="3176270" y="7620"/>
                </a:lnTo>
                <a:close/>
              </a:path>
              <a:path w="3176270" h="1573529">
                <a:moveTo>
                  <a:pt x="7620" y="1569580"/>
                </a:moveTo>
                <a:lnTo>
                  <a:pt x="3810" y="1565770"/>
                </a:lnTo>
                <a:lnTo>
                  <a:pt x="7620" y="1565770"/>
                </a:lnTo>
                <a:lnTo>
                  <a:pt x="7620" y="1569580"/>
                </a:lnTo>
                <a:close/>
              </a:path>
              <a:path w="3176270" h="1573529">
                <a:moveTo>
                  <a:pt x="3168649" y="1569580"/>
                </a:moveTo>
                <a:lnTo>
                  <a:pt x="7620" y="1569580"/>
                </a:lnTo>
                <a:lnTo>
                  <a:pt x="7620" y="1565770"/>
                </a:lnTo>
                <a:lnTo>
                  <a:pt x="3168649" y="1565770"/>
                </a:lnTo>
                <a:lnTo>
                  <a:pt x="3168649" y="1569580"/>
                </a:lnTo>
                <a:close/>
              </a:path>
              <a:path w="3176270" h="1573529">
                <a:moveTo>
                  <a:pt x="3176270" y="1569580"/>
                </a:moveTo>
                <a:lnTo>
                  <a:pt x="3168649" y="1569580"/>
                </a:lnTo>
                <a:lnTo>
                  <a:pt x="3172460" y="1565770"/>
                </a:lnTo>
                <a:lnTo>
                  <a:pt x="3176270" y="1565770"/>
                </a:lnTo>
                <a:lnTo>
                  <a:pt x="3176270" y="1569580"/>
                </a:lnTo>
                <a:close/>
              </a:path>
            </a:pathLst>
          </a:custGeom>
          <a:solidFill>
            <a:srgbClr val="A03E0A"/>
          </a:solidFill>
        </p:spPr>
        <p:txBody>
          <a:bodyPr wrap="square" lIns="0" tIns="0" rIns="0" bIns="0" rtlCol="0"/>
          <a:lstStyle/>
          <a:p>
            <a:endParaRPr/>
          </a:p>
        </p:txBody>
      </p:sp>
      <p:sp>
        <p:nvSpPr>
          <p:cNvPr id="36" name="object 36"/>
          <p:cNvSpPr/>
          <p:nvPr/>
        </p:nvSpPr>
        <p:spPr>
          <a:xfrm>
            <a:off x="469391" y="4070603"/>
            <a:ext cx="2737485" cy="338455"/>
          </a:xfrm>
          <a:custGeom>
            <a:avLst/>
            <a:gdLst/>
            <a:ahLst/>
            <a:cxnLst/>
            <a:rect l="l" t="t" r="r" b="b"/>
            <a:pathLst>
              <a:path w="2737485" h="338454">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37" name="object 37"/>
          <p:cNvSpPr/>
          <p:nvPr/>
        </p:nvSpPr>
        <p:spPr>
          <a:xfrm>
            <a:off x="462546" y="4063669"/>
            <a:ext cx="2749550" cy="351155"/>
          </a:xfrm>
          <a:custGeom>
            <a:avLst/>
            <a:gdLst/>
            <a:ahLst/>
            <a:cxnLst/>
            <a:rect l="l" t="t" r="r" b="b"/>
            <a:pathLst>
              <a:path w="2749550" h="351154">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4">
                <a:moveTo>
                  <a:pt x="12700" y="12700"/>
                </a:moveTo>
                <a:lnTo>
                  <a:pt x="6350" y="12700"/>
                </a:lnTo>
                <a:lnTo>
                  <a:pt x="12700" y="6350"/>
                </a:lnTo>
                <a:lnTo>
                  <a:pt x="12700" y="12700"/>
                </a:lnTo>
                <a:close/>
              </a:path>
              <a:path w="2749550" h="351154">
                <a:moveTo>
                  <a:pt x="2736850" y="12700"/>
                </a:moveTo>
                <a:lnTo>
                  <a:pt x="12700" y="12700"/>
                </a:lnTo>
                <a:lnTo>
                  <a:pt x="12700" y="6350"/>
                </a:lnTo>
                <a:lnTo>
                  <a:pt x="2736850" y="6350"/>
                </a:lnTo>
                <a:lnTo>
                  <a:pt x="2736850" y="12700"/>
                </a:lnTo>
                <a:close/>
              </a:path>
              <a:path w="2749550" h="351154">
                <a:moveTo>
                  <a:pt x="2736850" y="344805"/>
                </a:moveTo>
                <a:lnTo>
                  <a:pt x="2736850" y="6350"/>
                </a:lnTo>
                <a:lnTo>
                  <a:pt x="2743200" y="12700"/>
                </a:lnTo>
                <a:lnTo>
                  <a:pt x="2749550" y="12700"/>
                </a:lnTo>
                <a:lnTo>
                  <a:pt x="2749550" y="338455"/>
                </a:lnTo>
                <a:lnTo>
                  <a:pt x="2743200" y="338455"/>
                </a:lnTo>
                <a:lnTo>
                  <a:pt x="2736850" y="344805"/>
                </a:lnTo>
                <a:close/>
              </a:path>
              <a:path w="2749550" h="351154">
                <a:moveTo>
                  <a:pt x="2749550" y="12700"/>
                </a:moveTo>
                <a:lnTo>
                  <a:pt x="2743200" y="12700"/>
                </a:lnTo>
                <a:lnTo>
                  <a:pt x="2736850" y="6350"/>
                </a:lnTo>
                <a:lnTo>
                  <a:pt x="2749550" y="6350"/>
                </a:lnTo>
                <a:lnTo>
                  <a:pt x="2749550" y="12700"/>
                </a:lnTo>
                <a:close/>
              </a:path>
              <a:path w="2749550" h="351154">
                <a:moveTo>
                  <a:pt x="12700" y="344805"/>
                </a:moveTo>
                <a:lnTo>
                  <a:pt x="6350" y="338455"/>
                </a:lnTo>
                <a:lnTo>
                  <a:pt x="12700" y="338455"/>
                </a:lnTo>
                <a:lnTo>
                  <a:pt x="12700" y="344805"/>
                </a:lnTo>
                <a:close/>
              </a:path>
              <a:path w="2749550" h="351154">
                <a:moveTo>
                  <a:pt x="2736850" y="344805"/>
                </a:moveTo>
                <a:lnTo>
                  <a:pt x="12700" y="344805"/>
                </a:lnTo>
                <a:lnTo>
                  <a:pt x="12700" y="338455"/>
                </a:lnTo>
                <a:lnTo>
                  <a:pt x="2736850" y="338455"/>
                </a:lnTo>
                <a:lnTo>
                  <a:pt x="2736850" y="344805"/>
                </a:lnTo>
                <a:close/>
              </a:path>
              <a:path w="2749550" h="351154">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38" name="object 38"/>
          <p:cNvSpPr txBox="1"/>
          <p:nvPr/>
        </p:nvSpPr>
        <p:spPr>
          <a:xfrm>
            <a:off x="469391" y="4092244"/>
            <a:ext cx="2737485" cy="268605"/>
          </a:xfrm>
          <a:prstGeom prst="rect">
            <a:avLst/>
          </a:prstGeom>
        </p:spPr>
        <p:txBody>
          <a:bodyPr vert="horz" wrap="square" lIns="0" tIns="12065" rIns="0" bIns="0" rtlCol="0">
            <a:spAutoFit/>
          </a:bodyPr>
          <a:lstStyle/>
          <a:p>
            <a:pPr marL="645160">
              <a:lnSpc>
                <a:spcPct val="100000"/>
              </a:lnSpc>
              <a:spcBef>
                <a:spcPts val="95"/>
              </a:spcBef>
            </a:pPr>
            <a:r>
              <a:rPr sz="1600" spc="-5" dirty="0">
                <a:latin typeface="Times New Roman"/>
                <a:cs typeface="Times New Roman"/>
              </a:rPr>
              <a:t>CharArrayReader</a:t>
            </a:r>
            <a:endParaRPr sz="1600">
              <a:latin typeface="Times New Roman"/>
              <a:cs typeface="Times New Roman"/>
            </a:endParaRPr>
          </a:p>
        </p:txBody>
      </p:sp>
      <p:sp>
        <p:nvSpPr>
          <p:cNvPr id="39" name="object 39"/>
          <p:cNvSpPr/>
          <p:nvPr/>
        </p:nvSpPr>
        <p:spPr>
          <a:xfrm>
            <a:off x="3419843" y="4517059"/>
            <a:ext cx="1223010" cy="76200"/>
          </a:xfrm>
          <a:custGeom>
            <a:avLst/>
            <a:gdLst/>
            <a:ahLst/>
            <a:cxnLst/>
            <a:rect l="l" t="t" r="r" b="b"/>
            <a:pathLst>
              <a:path w="1223010" h="76200">
                <a:moveTo>
                  <a:pt x="1210451" y="44577"/>
                </a:moveTo>
                <a:lnTo>
                  <a:pt x="1165402" y="44577"/>
                </a:lnTo>
                <a:lnTo>
                  <a:pt x="1165491" y="31877"/>
                </a:lnTo>
                <a:lnTo>
                  <a:pt x="1146433" y="31749"/>
                </a:lnTo>
                <a:lnTo>
                  <a:pt x="1146644" y="0"/>
                </a:lnTo>
                <a:lnTo>
                  <a:pt x="1222590" y="38608"/>
                </a:lnTo>
                <a:lnTo>
                  <a:pt x="1210451" y="44577"/>
                </a:lnTo>
                <a:close/>
              </a:path>
              <a:path w="1223010" h="76200">
                <a:moveTo>
                  <a:pt x="1146348" y="44449"/>
                </a:moveTo>
                <a:lnTo>
                  <a:pt x="0" y="36753"/>
                </a:lnTo>
                <a:lnTo>
                  <a:pt x="88" y="24053"/>
                </a:lnTo>
                <a:lnTo>
                  <a:pt x="1146433" y="31749"/>
                </a:lnTo>
                <a:lnTo>
                  <a:pt x="1146348" y="44449"/>
                </a:lnTo>
                <a:close/>
              </a:path>
              <a:path w="1223010" h="76200">
                <a:moveTo>
                  <a:pt x="1165402" y="44577"/>
                </a:moveTo>
                <a:lnTo>
                  <a:pt x="1146348" y="44449"/>
                </a:lnTo>
                <a:lnTo>
                  <a:pt x="1146433" y="31749"/>
                </a:lnTo>
                <a:lnTo>
                  <a:pt x="1165491" y="31877"/>
                </a:lnTo>
                <a:lnTo>
                  <a:pt x="1165402" y="44577"/>
                </a:lnTo>
                <a:close/>
              </a:path>
              <a:path w="1223010" h="76200">
                <a:moveTo>
                  <a:pt x="1146136" y="76200"/>
                </a:moveTo>
                <a:lnTo>
                  <a:pt x="1146348" y="44449"/>
                </a:lnTo>
                <a:lnTo>
                  <a:pt x="1210451" y="44577"/>
                </a:lnTo>
                <a:lnTo>
                  <a:pt x="1146136" y="76200"/>
                </a:lnTo>
                <a:close/>
              </a:path>
            </a:pathLst>
          </a:custGeom>
          <a:solidFill>
            <a:srgbClr val="967A2C"/>
          </a:solidFill>
        </p:spPr>
        <p:txBody>
          <a:bodyPr wrap="square" lIns="0" tIns="0" rIns="0" bIns="0" rtlCol="0"/>
          <a:lstStyle/>
          <a:p>
            <a:endParaRPr/>
          </a:p>
        </p:txBody>
      </p:sp>
      <p:sp>
        <p:nvSpPr>
          <p:cNvPr id="40" name="object 40"/>
          <p:cNvSpPr/>
          <p:nvPr/>
        </p:nvSpPr>
        <p:spPr>
          <a:xfrm>
            <a:off x="3557866" y="4260392"/>
            <a:ext cx="444500" cy="300990"/>
          </a:xfrm>
          <a:custGeom>
            <a:avLst/>
            <a:gdLst/>
            <a:ahLst/>
            <a:cxnLst/>
            <a:rect l="l" t="t" r="r" b="b"/>
            <a:pathLst>
              <a:path w="444500" h="300989">
                <a:moveTo>
                  <a:pt x="255816" y="299720"/>
                </a:moveTo>
                <a:lnTo>
                  <a:pt x="188556" y="299720"/>
                </a:lnTo>
                <a:lnTo>
                  <a:pt x="177698" y="298450"/>
                </a:lnTo>
                <a:lnTo>
                  <a:pt x="167043" y="295910"/>
                </a:lnTo>
                <a:lnTo>
                  <a:pt x="156578" y="294639"/>
                </a:lnTo>
                <a:lnTo>
                  <a:pt x="116992" y="283210"/>
                </a:lnTo>
                <a:lnTo>
                  <a:pt x="81661" y="266700"/>
                </a:lnTo>
                <a:lnTo>
                  <a:pt x="73596" y="262889"/>
                </a:lnTo>
                <a:lnTo>
                  <a:pt x="65874" y="257810"/>
                </a:lnTo>
                <a:lnTo>
                  <a:pt x="58483" y="252729"/>
                </a:lnTo>
                <a:lnTo>
                  <a:pt x="51473" y="246379"/>
                </a:lnTo>
                <a:lnTo>
                  <a:pt x="44818" y="241300"/>
                </a:lnTo>
                <a:lnTo>
                  <a:pt x="38569" y="234950"/>
                </a:lnTo>
                <a:lnTo>
                  <a:pt x="32727" y="228600"/>
                </a:lnTo>
                <a:lnTo>
                  <a:pt x="27520" y="223520"/>
                </a:lnTo>
                <a:lnTo>
                  <a:pt x="22529" y="217170"/>
                </a:lnTo>
                <a:lnTo>
                  <a:pt x="17983" y="209550"/>
                </a:lnTo>
                <a:lnTo>
                  <a:pt x="13715" y="203200"/>
                </a:lnTo>
                <a:lnTo>
                  <a:pt x="1155" y="166370"/>
                </a:lnTo>
                <a:lnTo>
                  <a:pt x="0" y="153670"/>
                </a:lnTo>
                <a:lnTo>
                  <a:pt x="0" y="146050"/>
                </a:lnTo>
                <a:lnTo>
                  <a:pt x="10147" y="104139"/>
                </a:lnTo>
                <a:lnTo>
                  <a:pt x="32956" y="71120"/>
                </a:lnTo>
                <a:lnTo>
                  <a:pt x="44818" y="59689"/>
                </a:lnTo>
                <a:lnTo>
                  <a:pt x="51701" y="53339"/>
                </a:lnTo>
                <a:lnTo>
                  <a:pt x="58483" y="48260"/>
                </a:lnTo>
                <a:lnTo>
                  <a:pt x="73837" y="38100"/>
                </a:lnTo>
                <a:lnTo>
                  <a:pt x="81889" y="33020"/>
                </a:lnTo>
                <a:lnTo>
                  <a:pt x="90284" y="29210"/>
                </a:lnTo>
                <a:lnTo>
                  <a:pt x="98971" y="24129"/>
                </a:lnTo>
                <a:lnTo>
                  <a:pt x="136309" y="11429"/>
                </a:lnTo>
                <a:lnTo>
                  <a:pt x="199783" y="0"/>
                </a:lnTo>
                <a:lnTo>
                  <a:pt x="244792" y="0"/>
                </a:lnTo>
                <a:lnTo>
                  <a:pt x="277329" y="3810"/>
                </a:lnTo>
                <a:lnTo>
                  <a:pt x="308063" y="11429"/>
                </a:lnTo>
                <a:lnTo>
                  <a:pt x="312953" y="12700"/>
                </a:lnTo>
                <a:lnTo>
                  <a:pt x="200647" y="12700"/>
                </a:lnTo>
                <a:lnTo>
                  <a:pt x="189839" y="13970"/>
                </a:lnTo>
                <a:lnTo>
                  <a:pt x="190055" y="13970"/>
                </a:lnTo>
                <a:lnTo>
                  <a:pt x="179425" y="15239"/>
                </a:lnTo>
                <a:lnTo>
                  <a:pt x="179641" y="15239"/>
                </a:lnTo>
                <a:lnTo>
                  <a:pt x="169202" y="16510"/>
                </a:lnTo>
                <a:lnTo>
                  <a:pt x="169418" y="16510"/>
                </a:lnTo>
                <a:lnTo>
                  <a:pt x="164293" y="17779"/>
                </a:lnTo>
                <a:lnTo>
                  <a:pt x="159385" y="17779"/>
                </a:lnTo>
                <a:lnTo>
                  <a:pt x="149351" y="20320"/>
                </a:lnTo>
                <a:lnTo>
                  <a:pt x="149567" y="20320"/>
                </a:lnTo>
                <a:lnTo>
                  <a:pt x="139763" y="22860"/>
                </a:lnTo>
                <a:lnTo>
                  <a:pt x="139979" y="22860"/>
                </a:lnTo>
                <a:lnTo>
                  <a:pt x="133604" y="25400"/>
                </a:lnTo>
                <a:lnTo>
                  <a:pt x="130644" y="25400"/>
                </a:lnTo>
                <a:lnTo>
                  <a:pt x="121335" y="29210"/>
                </a:lnTo>
                <a:lnTo>
                  <a:pt x="121551" y="29210"/>
                </a:lnTo>
                <a:lnTo>
                  <a:pt x="112509" y="33020"/>
                </a:lnTo>
                <a:lnTo>
                  <a:pt x="112737" y="33020"/>
                </a:lnTo>
                <a:lnTo>
                  <a:pt x="106895" y="35560"/>
                </a:lnTo>
                <a:lnTo>
                  <a:pt x="104203" y="35560"/>
                </a:lnTo>
                <a:lnTo>
                  <a:pt x="95732" y="40639"/>
                </a:lnTo>
                <a:lnTo>
                  <a:pt x="95961" y="40639"/>
                </a:lnTo>
                <a:lnTo>
                  <a:pt x="87807" y="44450"/>
                </a:lnTo>
                <a:lnTo>
                  <a:pt x="88036" y="44450"/>
                </a:lnTo>
                <a:lnTo>
                  <a:pt x="80200" y="48260"/>
                </a:lnTo>
                <a:lnTo>
                  <a:pt x="80429" y="48260"/>
                </a:lnTo>
                <a:lnTo>
                  <a:pt x="72936" y="53339"/>
                </a:lnTo>
                <a:lnTo>
                  <a:pt x="73164" y="53339"/>
                </a:lnTo>
                <a:lnTo>
                  <a:pt x="66014" y="58420"/>
                </a:lnTo>
                <a:lnTo>
                  <a:pt x="66255" y="58420"/>
                </a:lnTo>
                <a:lnTo>
                  <a:pt x="59461" y="63500"/>
                </a:lnTo>
                <a:lnTo>
                  <a:pt x="59702" y="63500"/>
                </a:lnTo>
                <a:lnTo>
                  <a:pt x="53289" y="68579"/>
                </a:lnTo>
                <a:lnTo>
                  <a:pt x="53530" y="68579"/>
                </a:lnTo>
                <a:lnTo>
                  <a:pt x="47510" y="73660"/>
                </a:lnTo>
                <a:lnTo>
                  <a:pt x="47739" y="73660"/>
                </a:lnTo>
                <a:lnTo>
                  <a:pt x="42125" y="80010"/>
                </a:lnTo>
                <a:lnTo>
                  <a:pt x="42354" y="80010"/>
                </a:lnTo>
                <a:lnTo>
                  <a:pt x="37160" y="85089"/>
                </a:lnTo>
                <a:lnTo>
                  <a:pt x="37388" y="85089"/>
                </a:lnTo>
                <a:lnTo>
                  <a:pt x="32613" y="91439"/>
                </a:lnTo>
                <a:lnTo>
                  <a:pt x="32829" y="91439"/>
                </a:lnTo>
                <a:lnTo>
                  <a:pt x="28511" y="97789"/>
                </a:lnTo>
                <a:lnTo>
                  <a:pt x="28727" y="97789"/>
                </a:lnTo>
                <a:lnTo>
                  <a:pt x="25628" y="102870"/>
                </a:lnTo>
                <a:lnTo>
                  <a:pt x="25057" y="102870"/>
                </a:lnTo>
                <a:lnTo>
                  <a:pt x="22220" y="109220"/>
                </a:lnTo>
                <a:lnTo>
                  <a:pt x="21831" y="109220"/>
                </a:lnTo>
                <a:lnTo>
                  <a:pt x="19407" y="115570"/>
                </a:lnTo>
                <a:lnTo>
                  <a:pt x="19088" y="115570"/>
                </a:lnTo>
                <a:lnTo>
                  <a:pt x="16675" y="123189"/>
                </a:lnTo>
                <a:lnTo>
                  <a:pt x="16802" y="123189"/>
                </a:lnTo>
                <a:lnTo>
                  <a:pt x="14909" y="129539"/>
                </a:lnTo>
                <a:lnTo>
                  <a:pt x="13868" y="135889"/>
                </a:lnTo>
                <a:lnTo>
                  <a:pt x="13690" y="135889"/>
                </a:lnTo>
                <a:lnTo>
                  <a:pt x="13208" y="139700"/>
                </a:lnTo>
                <a:lnTo>
                  <a:pt x="12903" y="143510"/>
                </a:lnTo>
                <a:lnTo>
                  <a:pt x="12767" y="146050"/>
                </a:lnTo>
                <a:lnTo>
                  <a:pt x="12700" y="153670"/>
                </a:lnTo>
                <a:lnTo>
                  <a:pt x="12903" y="157479"/>
                </a:lnTo>
                <a:lnTo>
                  <a:pt x="13233" y="161289"/>
                </a:lnTo>
                <a:lnTo>
                  <a:pt x="13368" y="161289"/>
                </a:lnTo>
                <a:lnTo>
                  <a:pt x="13690" y="163829"/>
                </a:lnTo>
                <a:lnTo>
                  <a:pt x="15011" y="171450"/>
                </a:lnTo>
                <a:lnTo>
                  <a:pt x="15225" y="171450"/>
                </a:lnTo>
                <a:lnTo>
                  <a:pt x="16802" y="177800"/>
                </a:lnTo>
                <a:lnTo>
                  <a:pt x="16675" y="177800"/>
                </a:lnTo>
                <a:lnTo>
                  <a:pt x="19088" y="184150"/>
                </a:lnTo>
                <a:lnTo>
                  <a:pt x="18923" y="184150"/>
                </a:lnTo>
                <a:lnTo>
                  <a:pt x="21831" y="190500"/>
                </a:lnTo>
                <a:lnTo>
                  <a:pt x="21653" y="190500"/>
                </a:lnTo>
                <a:lnTo>
                  <a:pt x="25057" y="196850"/>
                </a:lnTo>
                <a:lnTo>
                  <a:pt x="24853" y="196850"/>
                </a:lnTo>
                <a:lnTo>
                  <a:pt x="28727" y="203200"/>
                </a:lnTo>
                <a:lnTo>
                  <a:pt x="28511" y="203200"/>
                </a:lnTo>
                <a:lnTo>
                  <a:pt x="32829" y="209550"/>
                </a:lnTo>
                <a:lnTo>
                  <a:pt x="32613" y="209550"/>
                </a:lnTo>
                <a:lnTo>
                  <a:pt x="37388" y="214629"/>
                </a:lnTo>
                <a:lnTo>
                  <a:pt x="37160" y="214629"/>
                </a:lnTo>
                <a:lnTo>
                  <a:pt x="42354" y="220979"/>
                </a:lnTo>
                <a:lnTo>
                  <a:pt x="42125" y="220979"/>
                </a:lnTo>
                <a:lnTo>
                  <a:pt x="47739" y="226060"/>
                </a:lnTo>
                <a:lnTo>
                  <a:pt x="47510" y="226060"/>
                </a:lnTo>
                <a:lnTo>
                  <a:pt x="53530" y="232410"/>
                </a:lnTo>
                <a:lnTo>
                  <a:pt x="53289" y="232410"/>
                </a:lnTo>
                <a:lnTo>
                  <a:pt x="59702" y="237489"/>
                </a:lnTo>
                <a:lnTo>
                  <a:pt x="59461" y="237489"/>
                </a:lnTo>
                <a:lnTo>
                  <a:pt x="66255" y="242570"/>
                </a:lnTo>
                <a:lnTo>
                  <a:pt x="66014" y="242570"/>
                </a:lnTo>
                <a:lnTo>
                  <a:pt x="73164" y="247650"/>
                </a:lnTo>
                <a:lnTo>
                  <a:pt x="74809" y="247650"/>
                </a:lnTo>
                <a:lnTo>
                  <a:pt x="80429" y="251460"/>
                </a:lnTo>
                <a:lnTo>
                  <a:pt x="80200" y="251460"/>
                </a:lnTo>
                <a:lnTo>
                  <a:pt x="88036" y="256539"/>
                </a:lnTo>
                <a:lnTo>
                  <a:pt x="87807" y="256539"/>
                </a:lnTo>
                <a:lnTo>
                  <a:pt x="95961" y="260350"/>
                </a:lnTo>
                <a:lnTo>
                  <a:pt x="95732" y="260350"/>
                </a:lnTo>
                <a:lnTo>
                  <a:pt x="104203" y="264160"/>
                </a:lnTo>
                <a:lnTo>
                  <a:pt x="103974" y="264160"/>
                </a:lnTo>
                <a:lnTo>
                  <a:pt x="112737" y="267970"/>
                </a:lnTo>
                <a:lnTo>
                  <a:pt x="112509" y="267970"/>
                </a:lnTo>
                <a:lnTo>
                  <a:pt x="121551" y="271779"/>
                </a:lnTo>
                <a:lnTo>
                  <a:pt x="121335" y="271779"/>
                </a:lnTo>
                <a:lnTo>
                  <a:pt x="130644" y="274320"/>
                </a:lnTo>
                <a:lnTo>
                  <a:pt x="130416" y="274320"/>
                </a:lnTo>
                <a:lnTo>
                  <a:pt x="139979" y="276860"/>
                </a:lnTo>
                <a:lnTo>
                  <a:pt x="139763" y="276860"/>
                </a:lnTo>
                <a:lnTo>
                  <a:pt x="149567" y="279400"/>
                </a:lnTo>
                <a:lnTo>
                  <a:pt x="149351" y="279400"/>
                </a:lnTo>
                <a:lnTo>
                  <a:pt x="159385" y="281939"/>
                </a:lnTo>
                <a:lnTo>
                  <a:pt x="159169" y="281939"/>
                </a:lnTo>
                <a:lnTo>
                  <a:pt x="169418" y="284479"/>
                </a:lnTo>
                <a:lnTo>
                  <a:pt x="174421" y="284479"/>
                </a:lnTo>
                <a:lnTo>
                  <a:pt x="179641" y="285750"/>
                </a:lnTo>
                <a:lnTo>
                  <a:pt x="179425" y="285750"/>
                </a:lnTo>
                <a:lnTo>
                  <a:pt x="190055" y="287020"/>
                </a:lnTo>
                <a:lnTo>
                  <a:pt x="200431" y="287020"/>
                </a:lnTo>
                <a:lnTo>
                  <a:pt x="211391" y="288289"/>
                </a:lnTo>
                <a:lnTo>
                  <a:pt x="312737" y="288289"/>
                </a:lnTo>
                <a:lnTo>
                  <a:pt x="287566" y="294639"/>
                </a:lnTo>
                <a:lnTo>
                  <a:pt x="277113" y="295910"/>
                </a:lnTo>
                <a:lnTo>
                  <a:pt x="266446" y="298450"/>
                </a:lnTo>
                <a:lnTo>
                  <a:pt x="255816" y="299720"/>
                </a:lnTo>
                <a:close/>
              </a:path>
              <a:path w="444500" h="300989">
                <a:moveTo>
                  <a:pt x="285203" y="19050"/>
                </a:moveTo>
                <a:lnTo>
                  <a:pt x="274955" y="16510"/>
                </a:lnTo>
                <a:lnTo>
                  <a:pt x="275170" y="16510"/>
                </a:lnTo>
                <a:lnTo>
                  <a:pt x="264731" y="15239"/>
                </a:lnTo>
                <a:lnTo>
                  <a:pt x="264947" y="15239"/>
                </a:lnTo>
                <a:lnTo>
                  <a:pt x="254304" y="13970"/>
                </a:lnTo>
                <a:lnTo>
                  <a:pt x="254520" y="13970"/>
                </a:lnTo>
                <a:lnTo>
                  <a:pt x="243725" y="12700"/>
                </a:lnTo>
                <a:lnTo>
                  <a:pt x="312953" y="12700"/>
                </a:lnTo>
                <a:lnTo>
                  <a:pt x="317842" y="13970"/>
                </a:lnTo>
                <a:lnTo>
                  <a:pt x="327380" y="17779"/>
                </a:lnTo>
                <a:lnTo>
                  <a:pt x="284988" y="17779"/>
                </a:lnTo>
                <a:lnTo>
                  <a:pt x="285203" y="19050"/>
                </a:lnTo>
                <a:close/>
              </a:path>
              <a:path w="444500" h="300989">
                <a:moveTo>
                  <a:pt x="159169" y="19050"/>
                </a:moveTo>
                <a:lnTo>
                  <a:pt x="159385" y="17779"/>
                </a:lnTo>
                <a:lnTo>
                  <a:pt x="164293" y="17779"/>
                </a:lnTo>
                <a:lnTo>
                  <a:pt x="159169" y="19050"/>
                </a:lnTo>
                <a:close/>
              </a:path>
              <a:path w="444500" h="300989">
                <a:moveTo>
                  <a:pt x="313944" y="26670"/>
                </a:moveTo>
                <a:lnTo>
                  <a:pt x="304380" y="22860"/>
                </a:lnTo>
                <a:lnTo>
                  <a:pt x="304596" y="22860"/>
                </a:lnTo>
                <a:lnTo>
                  <a:pt x="294792" y="20320"/>
                </a:lnTo>
                <a:lnTo>
                  <a:pt x="295021" y="20320"/>
                </a:lnTo>
                <a:lnTo>
                  <a:pt x="284988" y="17779"/>
                </a:lnTo>
                <a:lnTo>
                  <a:pt x="327380" y="17779"/>
                </a:lnTo>
                <a:lnTo>
                  <a:pt x="336638" y="20320"/>
                </a:lnTo>
                <a:lnTo>
                  <a:pt x="345617" y="24129"/>
                </a:lnTo>
                <a:lnTo>
                  <a:pt x="347792" y="25400"/>
                </a:lnTo>
                <a:lnTo>
                  <a:pt x="313728" y="25400"/>
                </a:lnTo>
                <a:lnTo>
                  <a:pt x="313944" y="26670"/>
                </a:lnTo>
                <a:close/>
              </a:path>
              <a:path w="444500" h="300989">
                <a:moveTo>
                  <a:pt x="130416" y="26670"/>
                </a:moveTo>
                <a:lnTo>
                  <a:pt x="130644" y="25400"/>
                </a:lnTo>
                <a:lnTo>
                  <a:pt x="133604" y="25400"/>
                </a:lnTo>
                <a:lnTo>
                  <a:pt x="130416" y="26670"/>
                </a:lnTo>
                <a:close/>
              </a:path>
              <a:path w="444500" h="300989">
                <a:moveTo>
                  <a:pt x="340398" y="36829"/>
                </a:moveTo>
                <a:lnTo>
                  <a:pt x="331635" y="33020"/>
                </a:lnTo>
                <a:lnTo>
                  <a:pt x="331850" y="33020"/>
                </a:lnTo>
                <a:lnTo>
                  <a:pt x="322808" y="29210"/>
                </a:lnTo>
                <a:lnTo>
                  <a:pt x="323037" y="29210"/>
                </a:lnTo>
                <a:lnTo>
                  <a:pt x="313728" y="25400"/>
                </a:lnTo>
                <a:lnTo>
                  <a:pt x="347792" y="25400"/>
                </a:lnTo>
                <a:lnTo>
                  <a:pt x="354317" y="29210"/>
                </a:lnTo>
                <a:lnTo>
                  <a:pt x="362699" y="33020"/>
                </a:lnTo>
                <a:lnTo>
                  <a:pt x="366731" y="35560"/>
                </a:lnTo>
                <a:lnTo>
                  <a:pt x="340169" y="35560"/>
                </a:lnTo>
                <a:lnTo>
                  <a:pt x="340398" y="36829"/>
                </a:lnTo>
                <a:close/>
              </a:path>
              <a:path w="444500" h="300989">
                <a:moveTo>
                  <a:pt x="103974" y="36829"/>
                </a:moveTo>
                <a:lnTo>
                  <a:pt x="104203" y="35560"/>
                </a:lnTo>
                <a:lnTo>
                  <a:pt x="106895" y="35560"/>
                </a:lnTo>
                <a:lnTo>
                  <a:pt x="103974" y="36829"/>
                </a:lnTo>
                <a:close/>
              </a:path>
              <a:path w="444500" h="300989">
                <a:moveTo>
                  <a:pt x="419506" y="104139"/>
                </a:moveTo>
                <a:lnTo>
                  <a:pt x="415645" y="97789"/>
                </a:lnTo>
                <a:lnTo>
                  <a:pt x="415861" y="97789"/>
                </a:lnTo>
                <a:lnTo>
                  <a:pt x="411530" y="91439"/>
                </a:lnTo>
                <a:lnTo>
                  <a:pt x="411746" y="91439"/>
                </a:lnTo>
                <a:lnTo>
                  <a:pt x="406984" y="85089"/>
                </a:lnTo>
                <a:lnTo>
                  <a:pt x="407212" y="85089"/>
                </a:lnTo>
                <a:lnTo>
                  <a:pt x="402005" y="80010"/>
                </a:lnTo>
                <a:lnTo>
                  <a:pt x="402247" y="80010"/>
                </a:lnTo>
                <a:lnTo>
                  <a:pt x="396621" y="73660"/>
                </a:lnTo>
                <a:lnTo>
                  <a:pt x="396862" y="73660"/>
                </a:lnTo>
                <a:lnTo>
                  <a:pt x="390842" y="68579"/>
                </a:lnTo>
                <a:lnTo>
                  <a:pt x="391071" y="68579"/>
                </a:lnTo>
                <a:lnTo>
                  <a:pt x="384670" y="63500"/>
                </a:lnTo>
                <a:lnTo>
                  <a:pt x="384898" y="63500"/>
                </a:lnTo>
                <a:lnTo>
                  <a:pt x="378117" y="58420"/>
                </a:lnTo>
                <a:lnTo>
                  <a:pt x="378345" y="58420"/>
                </a:lnTo>
                <a:lnTo>
                  <a:pt x="371195" y="53339"/>
                </a:lnTo>
                <a:lnTo>
                  <a:pt x="371436" y="53339"/>
                </a:lnTo>
                <a:lnTo>
                  <a:pt x="363931" y="48260"/>
                </a:lnTo>
                <a:lnTo>
                  <a:pt x="364159" y="48260"/>
                </a:lnTo>
                <a:lnTo>
                  <a:pt x="356336" y="44450"/>
                </a:lnTo>
                <a:lnTo>
                  <a:pt x="356565" y="44450"/>
                </a:lnTo>
                <a:lnTo>
                  <a:pt x="348399" y="40639"/>
                </a:lnTo>
                <a:lnTo>
                  <a:pt x="348627" y="40639"/>
                </a:lnTo>
                <a:lnTo>
                  <a:pt x="340169" y="35560"/>
                </a:lnTo>
                <a:lnTo>
                  <a:pt x="366731" y="35560"/>
                </a:lnTo>
                <a:lnTo>
                  <a:pt x="370763" y="38100"/>
                </a:lnTo>
                <a:lnTo>
                  <a:pt x="385876" y="48260"/>
                </a:lnTo>
                <a:lnTo>
                  <a:pt x="392899" y="53339"/>
                </a:lnTo>
                <a:lnTo>
                  <a:pt x="399542" y="59689"/>
                </a:lnTo>
                <a:lnTo>
                  <a:pt x="405790" y="64770"/>
                </a:lnTo>
                <a:lnTo>
                  <a:pt x="430453" y="97789"/>
                </a:lnTo>
                <a:lnTo>
                  <a:pt x="433329" y="102870"/>
                </a:lnTo>
                <a:lnTo>
                  <a:pt x="419315" y="102870"/>
                </a:lnTo>
                <a:lnTo>
                  <a:pt x="419506" y="104139"/>
                </a:lnTo>
                <a:close/>
              </a:path>
              <a:path w="444500" h="300989">
                <a:moveTo>
                  <a:pt x="24853" y="104139"/>
                </a:moveTo>
                <a:lnTo>
                  <a:pt x="25057" y="102870"/>
                </a:lnTo>
                <a:lnTo>
                  <a:pt x="25628" y="102870"/>
                </a:lnTo>
                <a:lnTo>
                  <a:pt x="24853" y="104139"/>
                </a:lnTo>
                <a:close/>
              </a:path>
              <a:path w="444500" h="300989">
                <a:moveTo>
                  <a:pt x="422706" y="110489"/>
                </a:moveTo>
                <a:lnTo>
                  <a:pt x="419315" y="102870"/>
                </a:lnTo>
                <a:lnTo>
                  <a:pt x="433329" y="102870"/>
                </a:lnTo>
                <a:lnTo>
                  <a:pt x="434047" y="104139"/>
                </a:lnTo>
                <a:lnTo>
                  <a:pt x="434225" y="104139"/>
                </a:lnTo>
                <a:lnTo>
                  <a:pt x="436164" y="109220"/>
                </a:lnTo>
                <a:lnTo>
                  <a:pt x="422528" y="109220"/>
                </a:lnTo>
                <a:lnTo>
                  <a:pt x="422706" y="110489"/>
                </a:lnTo>
                <a:close/>
              </a:path>
              <a:path w="444500" h="300989">
                <a:moveTo>
                  <a:pt x="21653" y="110489"/>
                </a:moveTo>
                <a:lnTo>
                  <a:pt x="21831" y="109220"/>
                </a:lnTo>
                <a:lnTo>
                  <a:pt x="22220" y="109220"/>
                </a:lnTo>
                <a:lnTo>
                  <a:pt x="21653" y="110489"/>
                </a:lnTo>
                <a:close/>
              </a:path>
              <a:path w="444500" h="300989">
                <a:moveTo>
                  <a:pt x="425437" y="116839"/>
                </a:moveTo>
                <a:lnTo>
                  <a:pt x="422528" y="109220"/>
                </a:lnTo>
                <a:lnTo>
                  <a:pt x="436164" y="109220"/>
                </a:lnTo>
                <a:lnTo>
                  <a:pt x="437134" y="111760"/>
                </a:lnTo>
                <a:lnTo>
                  <a:pt x="438416" y="115570"/>
                </a:lnTo>
                <a:lnTo>
                  <a:pt x="425284" y="115570"/>
                </a:lnTo>
                <a:lnTo>
                  <a:pt x="425437" y="116839"/>
                </a:lnTo>
                <a:close/>
              </a:path>
              <a:path w="444500" h="300989">
                <a:moveTo>
                  <a:pt x="18923" y="116839"/>
                </a:moveTo>
                <a:lnTo>
                  <a:pt x="19088" y="115570"/>
                </a:lnTo>
                <a:lnTo>
                  <a:pt x="19407" y="115570"/>
                </a:lnTo>
                <a:lnTo>
                  <a:pt x="18923" y="116839"/>
                </a:lnTo>
                <a:close/>
              </a:path>
              <a:path w="444500" h="300989">
                <a:moveTo>
                  <a:pt x="430733" y="137160"/>
                </a:moveTo>
                <a:lnTo>
                  <a:pt x="429361" y="129539"/>
                </a:lnTo>
                <a:lnTo>
                  <a:pt x="427558" y="123189"/>
                </a:lnTo>
                <a:lnTo>
                  <a:pt x="427697" y="123189"/>
                </a:lnTo>
                <a:lnTo>
                  <a:pt x="425284" y="115570"/>
                </a:lnTo>
                <a:lnTo>
                  <a:pt x="438416" y="115570"/>
                </a:lnTo>
                <a:lnTo>
                  <a:pt x="439699" y="119379"/>
                </a:lnTo>
                <a:lnTo>
                  <a:pt x="441731" y="127000"/>
                </a:lnTo>
                <a:lnTo>
                  <a:pt x="443268" y="134620"/>
                </a:lnTo>
                <a:lnTo>
                  <a:pt x="443437" y="135889"/>
                </a:lnTo>
                <a:lnTo>
                  <a:pt x="430669" y="135889"/>
                </a:lnTo>
                <a:lnTo>
                  <a:pt x="430733" y="137160"/>
                </a:lnTo>
                <a:close/>
              </a:path>
              <a:path w="444500" h="300989">
                <a:moveTo>
                  <a:pt x="13639" y="137160"/>
                </a:moveTo>
                <a:lnTo>
                  <a:pt x="13690" y="135889"/>
                </a:lnTo>
                <a:lnTo>
                  <a:pt x="13868" y="135889"/>
                </a:lnTo>
                <a:lnTo>
                  <a:pt x="13639" y="137160"/>
                </a:lnTo>
                <a:close/>
              </a:path>
              <a:path w="444500" h="300989">
                <a:moveTo>
                  <a:pt x="443873" y="161289"/>
                </a:moveTo>
                <a:lnTo>
                  <a:pt x="431126" y="161289"/>
                </a:lnTo>
                <a:lnTo>
                  <a:pt x="431482" y="157479"/>
                </a:lnTo>
                <a:lnTo>
                  <a:pt x="431673" y="153670"/>
                </a:lnTo>
                <a:lnTo>
                  <a:pt x="431660" y="146050"/>
                </a:lnTo>
                <a:lnTo>
                  <a:pt x="431457" y="143510"/>
                </a:lnTo>
                <a:lnTo>
                  <a:pt x="431363" y="142239"/>
                </a:lnTo>
                <a:lnTo>
                  <a:pt x="431126" y="139700"/>
                </a:lnTo>
                <a:lnTo>
                  <a:pt x="430669" y="135889"/>
                </a:lnTo>
                <a:lnTo>
                  <a:pt x="443437" y="135889"/>
                </a:lnTo>
                <a:lnTo>
                  <a:pt x="443776" y="138429"/>
                </a:lnTo>
                <a:lnTo>
                  <a:pt x="444144" y="142239"/>
                </a:lnTo>
                <a:lnTo>
                  <a:pt x="444360" y="146050"/>
                </a:lnTo>
                <a:lnTo>
                  <a:pt x="444347" y="153670"/>
                </a:lnTo>
                <a:lnTo>
                  <a:pt x="444119" y="158750"/>
                </a:lnTo>
                <a:lnTo>
                  <a:pt x="443873" y="161289"/>
                </a:lnTo>
                <a:close/>
              </a:path>
              <a:path w="444500" h="300989">
                <a:moveTo>
                  <a:pt x="12700" y="147320"/>
                </a:moveTo>
                <a:lnTo>
                  <a:pt x="12700" y="146050"/>
                </a:lnTo>
                <a:lnTo>
                  <a:pt x="12700" y="147320"/>
                </a:lnTo>
                <a:close/>
              </a:path>
              <a:path w="444500" h="300989">
                <a:moveTo>
                  <a:pt x="431673" y="147320"/>
                </a:moveTo>
                <a:lnTo>
                  <a:pt x="431601" y="146050"/>
                </a:lnTo>
                <a:lnTo>
                  <a:pt x="431673" y="147320"/>
                </a:lnTo>
                <a:close/>
              </a:path>
              <a:path w="444500" h="300989">
                <a:moveTo>
                  <a:pt x="13368" y="161289"/>
                </a:moveTo>
                <a:lnTo>
                  <a:pt x="13233" y="161289"/>
                </a:lnTo>
                <a:lnTo>
                  <a:pt x="13208" y="160020"/>
                </a:lnTo>
                <a:lnTo>
                  <a:pt x="13368" y="161289"/>
                </a:lnTo>
                <a:close/>
              </a:path>
              <a:path w="444500" h="300989">
                <a:moveTo>
                  <a:pt x="442311" y="171450"/>
                </a:moveTo>
                <a:lnTo>
                  <a:pt x="429361" y="171450"/>
                </a:lnTo>
                <a:lnTo>
                  <a:pt x="430733" y="163829"/>
                </a:lnTo>
                <a:lnTo>
                  <a:pt x="431164" y="160020"/>
                </a:lnTo>
                <a:lnTo>
                  <a:pt x="431126" y="161289"/>
                </a:lnTo>
                <a:lnTo>
                  <a:pt x="443873" y="161289"/>
                </a:lnTo>
                <a:lnTo>
                  <a:pt x="443750" y="162560"/>
                </a:lnTo>
                <a:lnTo>
                  <a:pt x="443268" y="166370"/>
                </a:lnTo>
                <a:lnTo>
                  <a:pt x="442311" y="171450"/>
                </a:lnTo>
                <a:close/>
              </a:path>
              <a:path w="444500" h="300989">
                <a:moveTo>
                  <a:pt x="15225" y="171450"/>
                </a:moveTo>
                <a:lnTo>
                  <a:pt x="15011" y="171450"/>
                </a:lnTo>
                <a:lnTo>
                  <a:pt x="14909" y="170179"/>
                </a:lnTo>
                <a:lnTo>
                  <a:pt x="15225" y="171450"/>
                </a:lnTo>
                <a:close/>
              </a:path>
              <a:path w="444500" h="300989">
                <a:moveTo>
                  <a:pt x="392658" y="247650"/>
                </a:moveTo>
                <a:lnTo>
                  <a:pt x="371195" y="247650"/>
                </a:lnTo>
                <a:lnTo>
                  <a:pt x="378345" y="242570"/>
                </a:lnTo>
                <a:lnTo>
                  <a:pt x="378117" y="242570"/>
                </a:lnTo>
                <a:lnTo>
                  <a:pt x="384898" y="237489"/>
                </a:lnTo>
                <a:lnTo>
                  <a:pt x="384670" y="237489"/>
                </a:lnTo>
                <a:lnTo>
                  <a:pt x="391071" y="232410"/>
                </a:lnTo>
                <a:lnTo>
                  <a:pt x="390842" y="232410"/>
                </a:lnTo>
                <a:lnTo>
                  <a:pt x="396862" y="226060"/>
                </a:lnTo>
                <a:lnTo>
                  <a:pt x="396621" y="226060"/>
                </a:lnTo>
                <a:lnTo>
                  <a:pt x="402247" y="220979"/>
                </a:lnTo>
                <a:lnTo>
                  <a:pt x="402005" y="220979"/>
                </a:lnTo>
                <a:lnTo>
                  <a:pt x="407212" y="214629"/>
                </a:lnTo>
                <a:lnTo>
                  <a:pt x="406984" y="214629"/>
                </a:lnTo>
                <a:lnTo>
                  <a:pt x="411746" y="209550"/>
                </a:lnTo>
                <a:lnTo>
                  <a:pt x="411530" y="209550"/>
                </a:lnTo>
                <a:lnTo>
                  <a:pt x="415861" y="203200"/>
                </a:lnTo>
                <a:lnTo>
                  <a:pt x="415645" y="203200"/>
                </a:lnTo>
                <a:lnTo>
                  <a:pt x="419506" y="196850"/>
                </a:lnTo>
                <a:lnTo>
                  <a:pt x="419315" y="196850"/>
                </a:lnTo>
                <a:lnTo>
                  <a:pt x="422706" y="190500"/>
                </a:lnTo>
                <a:lnTo>
                  <a:pt x="422528" y="190500"/>
                </a:lnTo>
                <a:lnTo>
                  <a:pt x="425437" y="184150"/>
                </a:lnTo>
                <a:lnTo>
                  <a:pt x="425284" y="184150"/>
                </a:lnTo>
                <a:lnTo>
                  <a:pt x="427697" y="177800"/>
                </a:lnTo>
                <a:lnTo>
                  <a:pt x="427558" y="177800"/>
                </a:lnTo>
                <a:lnTo>
                  <a:pt x="429463" y="170179"/>
                </a:lnTo>
                <a:lnTo>
                  <a:pt x="429361" y="171450"/>
                </a:lnTo>
                <a:lnTo>
                  <a:pt x="442311" y="171450"/>
                </a:lnTo>
                <a:lnTo>
                  <a:pt x="441833" y="173989"/>
                </a:lnTo>
                <a:lnTo>
                  <a:pt x="439699" y="181610"/>
                </a:lnTo>
                <a:lnTo>
                  <a:pt x="437134" y="189229"/>
                </a:lnTo>
                <a:lnTo>
                  <a:pt x="434225" y="195579"/>
                </a:lnTo>
                <a:lnTo>
                  <a:pt x="434047" y="195579"/>
                </a:lnTo>
                <a:lnTo>
                  <a:pt x="430453" y="203200"/>
                </a:lnTo>
                <a:lnTo>
                  <a:pt x="426593" y="209550"/>
                </a:lnTo>
                <a:lnTo>
                  <a:pt x="422059" y="215900"/>
                </a:lnTo>
                <a:lnTo>
                  <a:pt x="416839" y="223520"/>
                </a:lnTo>
                <a:lnTo>
                  <a:pt x="411416" y="229870"/>
                </a:lnTo>
                <a:lnTo>
                  <a:pt x="405561" y="234950"/>
                </a:lnTo>
                <a:lnTo>
                  <a:pt x="399313" y="241300"/>
                </a:lnTo>
                <a:lnTo>
                  <a:pt x="392658" y="247650"/>
                </a:lnTo>
                <a:close/>
              </a:path>
              <a:path w="444500" h="300989">
                <a:moveTo>
                  <a:pt x="74809" y="247650"/>
                </a:moveTo>
                <a:lnTo>
                  <a:pt x="73164" y="247650"/>
                </a:lnTo>
                <a:lnTo>
                  <a:pt x="72936" y="246379"/>
                </a:lnTo>
                <a:lnTo>
                  <a:pt x="74809" y="247650"/>
                </a:lnTo>
                <a:close/>
              </a:path>
              <a:path w="444500" h="300989">
                <a:moveTo>
                  <a:pt x="323977" y="284479"/>
                </a:moveTo>
                <a:lnTo>
                  <a:pt x="274955" y="284479"/>
                </a:lnTo>
                <a:lnTo>
                  <a:pt x="285203" y="281939"/>
                </a:lnTo>
                <a:lnTo>
                  <a:pt x="284988" y="281939"/>
                </a:lnTo>
                <a:lnTo>
                  <a:pt x="295021" y="279400"/>
                </a:lnTo>
                <a:lnTo>
                  <a:pt x="294792" y="279400"/>
                </a:lnTo>
                <a:lnTo>
                  <a:pt x="304596" y="276860"/>
                </a:lnTo>
                <a:lnTo>
                  <a:pt x="304380" y="276860"/>
                </a:lnTo>
                <a:lnTo>
                  <a:pt x="313944" y="274320"/>
                </a:lnTo>
                <a:lnTo>
                  <a:pt x="313728" y="274320"/>
                </a:lnTo>
                <a:lnTo>
                  <a:pt x="323037" y="271779"/>
                </a:lnTo>
                <a:lnTo>
                  <a:pt x="322808" y="271779"/>
                </a:lnTo>
                <a:lnTo>
                  <a:pt x="331850" y="267970"/>
                </a:lnTo>
                <a:lnTo>
                  <a:pt x="331635" y="267970"/>
                </a:lnTo>
                <a:lnTo>
                  <a:pt x="340398" y="264160"/>
                </a:lnTo>
                <a:lnTo>
                  <a:pt x="340169" y="264160"/>
                </a:lnTo>
                <a:lnTo>
                  <a:pt x="348627" y="260350"/>
                </a:lnTo>
                <a:lnTo>
                  <a:pt x="348399" y="260350"/>
                </a:lnTo>
                <a:lnTo>
                  <a:pt x="356565" y="256539"/>
                </a:lnTo>
                <a:lnTo>
                  <a:pt x="356336" y="256539"/>
                </a:lnTo>
                <a:lnTo>
                  <a:pt x="364159" y="251460"/>
                </a:lnTo>
                <a:lnTo>
                  <a:pt x="363931" y="251460"/>
                </a:lnTo>
                <a:lnTo>
                  <a:pt x="371436" y="246379"/>
                </a:lnTo>
                <a:lnTo>
                  <a:pt x="371195" y="247650"/>
                </a:lnTo>
                <a:lnTo>
                  <a:pt x="392658" y="247650"/>
                </a:lnTo>
                <a:lnTo>
                  <a:pt x="385648" y="252729"/>
                </a:lnTo>
                <a:lnTo>
                  <a:pt x="378269" y="257810"/>
                </a:lnTo>
                <a:lnTo>
                  <a:pt x="370535" y="262889"/>
                </a:lnTo>
                <a:lnTo>
                  <a:pt x="362470" y="266700"/>
                </a:lnTo>
                <a:lnTo>
                  <a:pt x="354088" y="271779"/>
                </a:lnTo>
                <a:lnTo>
                  <a:pt x="345401" y="275589"/>
                </a:lnTo>
                <a:lnTo>
                  <a:pt x="336410" y="279400"/>
                </a:lnTo>
                <a:lnTo>
                  <a:pt x="327151" y="283210"/>
                </a:lnTo>
                <a:lnTo>
                  <a:pt x="323977" y="284479"/>
                </a:lnTo>
                <a:close/>
              </a:path>
              <a:path w="444500" h="300989">
                <a:moveTo>
                  <a:pt x="174421" y="284479"/>
                </a:moveTo>
                <a:lnTo>
                  <a:pt x="169418" y="284479"/>
                </a:lnTo>
                <a:lnTo>
                  <a:pt x="169202" y="283210"/>
                </a:lnTo>
                <a:lnTo>
                  <a:pt x="174421" y="284479"/>
                </a:lnTo>
                <a:close/>
              </a:path>
              <a:path w="444500" h="300989">
                <a:moveTo>
                  <a:pt x="312737" y="288289"/>
                </a:moveTo>
                <a:lnTo>
                  <a:pt x="232968" y="288289"/>
                </a:lnTo>
                <a:lnTo>
                  <a:pt x="243941" y="287020"/>
                </a:lnTo>
                <a:lnTo>
                  <a:pt x="254304" y="287020"/>
                </a:lnTo>
                <a:lnTo>
                  <a:pt x="264947" y="285750"/>
                </a:lnTo>
                <a:lnTo>
                  <a:pt x="264731" y="285750"/>
                </a:lnTo>
                <a:lnTo>
                  <a:pt x="275170" y="283210"/>
                </a:lnTo>
                <a:lnTo>
                  <a:pt x="274955" y="284479"/>
                </a:lnTo>
                <a:lnTo>
                  <a:pt x="323977" y="284479"/>
                </a:lnTo>
                <a:lnTo>
                  <a:pt x="317626" y="287020"/>
                </a:lnTo>
                <a:lnTo>
                  <a:pt x="312737" y="288289"/>
                </a:lnTo>
                <a:close/>
              </a:path>
              <a:path w="444500" h="300989">
                <a:moveTo>
                  <a:pt x="233616" y="300989"/>
                </a:moveTo>
                <a:lnTo>
                  <a:pt x="210972" y="300989"/>
                </a:lnTo>
                <a:lnTo>
                  <a:pt x="199567" y="299720"/>
                </a:lnTo>
                <a:lnTo>
                  <a:pt x="244576" y="299720"/>
                </a:lnTo>
                <a:lnTo>
                  <a:pt x="233616" y="300989"/>
                </a:lnTo>
                <a:close/>
              </a:path>
            </a:pathLst>
          </a:custGeom>
          <a:solidFill>
            <a:srgbClr val="006C39"/>
          </a:solidFill>
        </p:spPr>
        <p:txBody>
          <a:bodyPr wrap="square" lIns="0" tIns="0" rIns="0" bIns="0" rtlCol="0"/>
          <a:lstStyle/>
          <a:p>
            <a:endParaRPr/>
          </a:p>
        </p:txBody>
      </p:sp>
      <p:sp>
        <p:nvSpPr>
          <p:cNvPr id="41" name="object 41"/>
          <p:cNvSpPr txBox="1"/>
          <p:nvPr/>
        </p:nvSpPr>
        <p:spPr>
          <a:xfrm>
            <a:off x="3635641" y="4298263"/>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42" name="object 42"/>
          <p:cNvSpPr/>
          <p:nvPr/>
        </p:nvSpPr>
        <p:spPr>
          <a:xfrm>
            <a:off x="4642103" y="4383023"/>
            <a:ext cx="2162555" cy="313944"/>
          </a:xfrm>
          <a:prstGeom prst="rect">
            <a:avLst/>
          </a:prstGeom>
          <a:blipFill>
            <a:blip r:embed="rId8" cstate="print"/>
            <a:stretch>
              <a:fillRect/>
            </a:stretch>
          </a:blipFill>
        </p:spPr>
        <p:txBody>
          <a:bodyPr wrap="square" lIns="0" tIns="0" rIns="0" bIns="0" rtlCol="0"/>
          <a:lstStyle/>
          <a:p>
            <a:endParaRPr/>
          </a:p>
        </p:txBody>
      </p:sp>
      <p:sp>
        <p:nvSpPr>
          <p:cNvPr id="43" name="object 43"/>
          <p:cNvSpPr/>
          <p:nvPr/>
        </p:nvSpPr>
        <p:spPr>
          <a:xfrm>
            <a:off x="4638624" y="4379353"/>
            <a:ext cx="2169795" cy="321310"/>
          </a:xfrm>
          <a:custGeom>
            <a:avLst/>
            <a:gdLst/>
            <a:ahLst/>
            <a:cxnLst/>
            <a:rect l="l" t="t" r="r" b="b"/>
            <a:pathLst>
              <a:path w="2169795" h="321310">
                <a:moveTo>
                  <a:pt x="2169795" y="321309"/>
                </a:moveTo>
                <a:lnTo>
                  <a:pt x="0" y="321309"/>
                </a:lnTo>
                <a:lnTo>
                  <a:pt x="0" y="0"/>
                </a:lnTo>
                <a:lnTo>
                  <a:pt x="2169795" y="0"/>
                </a:lnTo>
                <a:lnTo>
                  <a:pt x="2169795" y="3809"/>
                </a:lnTo>
                <a:lnTo>
                  <a:pt x="7620" y="3809"/>
                </a:lnTo>
                <a:lnTo>
                  <a:pt x="3810" y="7619"/>
                </a:lnTo>
                <a:lnTo>
                  <a:pt x="7620" y="7619"/>
                </a:lnTo>
                <a:lnTo>
                  <a:pt x="7620" y="313689"/>
                </a:lnTo>
                <a:lnTo>
                  <a:pt x="3810" y="313689"/>
                </a:lnTo>
                <a:lnTo>
                  <a:pt x="7620" y="317500"/>
                </a:lnTo>
                <a:lnTo>
                  <a:pt x="2169795" y="317500"/>
                </a:lnTo>
                <a:lnTo>
                  <a:pt x="2169795" y="321309"/>
                </a:lnTo>
                <a:close/>
              </a:path>
              <a:path w="2169795" h="321310">
                <a:moveTo>
                  <a:pt x="7620" y="7619"/>
                </a:moveTo>
                <a:lnTo>
                  <a:pt x="3810" y="7619"/>
                </a:lnTo>
                <a:lnTo>
                  <a:pt x="7620" y="3809"/>
                </a:lnTo>
                <a:lnTo>
                  <a:pt x="7620" y="7619"/>
                </a:lnTo>
                <a:close/>
              </a:path>
              <a:path w="2169795" h="321310">
                <a:moveTo>
                  <a:pt x="2162175" y="7619"/>
                </a:moveTo>
                <a:lnTo>
                  <a:pt x="7620" y="7619"/>
                </a:lnTo>
                <a:lnTo>
                  <a:pt x="7620" y="3809"/>
                </a:lnTo>
                <a:lnTo>
                  <a:pt x="2162175" y="3809"/>
                </a:lnTo>
                <a:lnTo>
                  <a:pt x="2162175" y="7619"/>
                </a:lnTo>
                <a:close/>
              </a:path>
              <a:path w="2169795" h="321310">
                <a:moveTo>
                  <a:pt x="2162175" y="317500"/>
                </a:moveTo>
                <a:lnTo>
                  <a:pt x="2162175" y="3809"/>
                </a:lnTo>
                <a:lnTo>
                  <a:pt x="2165985" y="7619"/>
                </a:lnTo>
                <a:lnTo>
                  <a:pt x="2169795" y="7619"/>
                </a:lnTo>
                <a:lnTo>
                  <a:pt x="2169795" y="313689"/>
                </a:lnTo>
                <a:lnTo>
                  <a:pt x="2165985" y="313689"/>
                </a:lnTo>
                <a:lnTo>
                  <a:pt x="2162175" y="317500"/>
                </a:lnTo>
                <a:close/>
              </a:path>
              <a:path w="2169795" h="321310">
                <a:moveTo>
                  <a:pt x="2169795" y="7619"/>
                </a:moveTo>
                <a:lnTo>
                  <a:pt x="2165985" y="7619"/>
                </a:lnTo>
                <a:lnTo>
                  <a:pt x="2162175" y="3809"/>
                </a:lnTo>
                <a:lnTo>
                  <a:pt x="2169795" y="3809"/>
                </a:lnTo>
                <a:lnTo>
                  <a:pt x="2169795" y="7619"/>
                </a:lnTo>
                <a:close/>
              </a:path>
              <a:path w="2169795" h="321310">
                <a:moveTo>
                  <a:pt x="7620" y="317500"/>
                </a:moveTo>
                <a:lnTo>
                  <a:pt x="3810" y="313689"/>
                </a:lnTo>
                <a:lnTo>
                  <a:pt x="7620" y="313689"/>
                </a:lnTo>
                <a:lnTo>
                  <a:pt x="7620" y="317500"/>
                </a:lnTo>
                <a:close/>
              </a:path>
              <a:path w="2169795" h="321310">
                <a:moveTo>
                  <a:pt x="2162175" y="317500"/>
                </a:moveTo>
                <a:lnTo>
                  <a:pt x="7620" y="317500"/>
                </a:lnTo>
                <a:lnTo>
                  <a:pt x="7620" y="313689"/>
                </a:lnTo>
                <a:lnTo>
                  <a:pt x="2162175" y="313689"/>
                </a:lnTo>
                <a:lnTo>
                  <a:pt x="2162175" y="317500"/>
                </a:lnTo>
                <a:close/>
              </a:path>
              <a:path w="2169795" h="321310">
                <a:moveTo>
                  <a:pt x="2169795" y="317500"/>
                </a:moveTo>
                <a:lnTo>
                  <a:pt x="2162175" y="317500"/>
                </a:lnTo>
                <a:lnTo>
                  <a:pt x="2165985" y="313689"/>
                </a:lnTo>
                <a:lnTo>
                  <a:pt x="2169795" y="313689"/>
                </a:lnTo>
                <a:lnTo>
                  <a:pt x="2169795" y="317500"/>
                </a:lnTo>
                <a:close/>
              </a:path>
            </a:pathLst>
          </a:custGeom>
          <a:solidFill>
            <a:srgbClr val="A1A1A1"/>
          </a:solidFill>
        </p:spPr>
        <p:txBody>
          <a:bodyPr wrap="square" lIns="0" tIns="0" rIns="0" bIns="0" rtlCol="0"/>
          <a:lstStyle/>
          <a:p>
            <a:endParaRPr/>
          </a:p>
        </p:txBody>
      </p:sp>
      <p:sp>
        <p:nvSpPr>
          <p:cNvPr id="44" name="object 44"/>
          <p:cNvSpPr txBox="1"/>
          <p:nvPr/>
        </p:nvSpPr>
        <p:spPr>
          <a:xfrm>
            <a:off x="4642103" y="4385068"/>
            <a:ext cx="2162810" cy="268605"/>
          </a:xfrm>
          <a:prstGeom prst="rect">
            <a:avLst/>
          </a:prstGeom>
        </p:spPr>
        <p:txBody>
          <a:bodyPr vert="horz" wrap="square" lIns="0" tIns="12065" rIns="0" bIns="0" rtlCol="0">
            <a:spAutoFit/>
          </a:bodyPr>
          <a:lstStyle/>
          <a:p>
            <a:pPr marL="433705">
              <a:lnSpc>
                <a:spcPct val="100000"/>
              </a:lnSpc>
              <a:spcBef>
                <a:spcPts val="95"/>
              </a:spcBef>
            </a:pPr>
            <a:r>
              <a:rPr sz="1600" spc="-5" dirty="0">
                <a:latin typeface="Times New Roman"/>
                <a:cs typeface="Times New Roman"/>
              </a:rPr>
              <a:t>BufferedReader</a:t>
            </a:r>
            <a:endParaRPr sz="1600">
              <a:latin typeface="Times New Roman"/>
              <a:cs typeface="Times New Roman"/>
            </a:endParaRPr>
          </a:p>
        </p:txBody>
      </p:sp>
      <p:sp>
        <p:nvSpPr>
          <p:cNvPr id="45" name="object 45"/>
          <p:cNvSpPr/>
          <p:nvPr/>
        </p:nvSpPr>
        <p:spPr>
          <a:xfrm>
            <a:off x="6804609" y="4507776"/>
            <a:ext cx="1152525" cy="76200"/>
          </a:xfrm>
          <a:custGeom>
            <a:avLst/>
            <a:gdLst/>
            <a:ahLst/>
            <a:cxnLst/>
            <a:rect l="l" t="t" r="r" b="b"/>
            <a:pathLst>
              <a:path w="1152525" h="76200">
                <a:moveTo>
                  <a:pt x="1076325" y="76200"/>
                </a:moveTo>
                <a:lnTo>
                  <a:pt x="1076325" y="0"/>
                </a:lnTo>
                <a:lnTo>
                  <a:pt x="1139825" y="31750"/>
                </a:lnTo>
                <a:lnTo>
                  <a:pt x="1095375" y="31750"/>
                </a:lnTo>
                <a:lnTo>
                  <a:pt x="1095375" y="44450"/>
                </a:lnTo>
                <a:lnTo>
                  <a:pt x="1139825" y="44450"/>
                </a:lnTo>
                <a:lnTo>
                  <a:pt x="1076325" y="76200"/>
                </a:lnTo>
                <a:close/>
              </a:path>
              <a:path w="1152525" h="76200">
                <a:moveTo>
                  <a:pt x="1076325" y="44450"/>
                </a:moveTo>
                <a:lnTo>
                  <a:pt x="0" y="44450"/>
                </a:lnTo>
                <a:lnTo>
                  <a:pt x="0" y="31750"/>
                </a:lnTo>
                <a:lnTo>
                  <a:pt x="1076325" y="31750"/>
                </a:lnTo>
                <a:lnTo>
                  <a:pt x="1076325" y="44450"/>
                </a:lnTo>
                <a:close/>
              </a:path>
              <a:path w="1152525" h="76200">
                <a:moveTo>
                  <a:pt x="1139825" y="44450"/>
                </a:moveTo>
                <a:lnTo>
                  <a:pt x="1095375" y="44450"/>
                </a:lnTo>
                <a:lnTo>
                  <a:pt x="1095375" y="31750"/>
                </a:lnTo>
                <a:lnTo>
                  <a:pt x="1139825" y="31750"/>
                </a:lnTo>
                <a:lnTo>
                  <a:pt x="1152525" y="38100"/>
                </a:lnTo>
                <a:lnTo>
                  <a:pt x="1139825" y="44450"/>
                </a:lnTo>
                <a:close/>
              </a:path>
            </a:pathLst>
          </a:custGeom>
          <a:solidFill>
            <a:srgbClr val="967A2C"/>
          </a:solidFill>
        </p:spPr>
        <p:txBody>
          <a:bodyPr wrap="square" lIns="0" tIns="0" rIns="0" bIns="0" rtlCol="0"/>
          <a:lstStyle/>
          <a:p>
            <a:endParaRPr/>
          </a:p>
        </p:txBody>
      </p:sp>
      <p:sp>
        <p:nvSpPr>
          <p:cNvPr id="46" name="object 46"/>
          <p:cNvSpPr/>
          <p:nvPr/>
        </p:nvSpPr>
        <p:spPr>
          <a:xfrm>
            <a:off x="7013257" y="4260392"/>
            <a:ext cx="517525" cy="300990"/>
          </a:xfrm>
          <a:custGeom>
            <a:avLst/>
            <a:gdLst/>
            <a:ahLst/>
            <a:cxnLst/>
            <a:rect l="l" t="t" r="r" b="b"/>
            <a:pathLst>
              <a:path w="517525" h="300989">
                <a:moveTo>
                  <a:pt x="297573" y="299720"/>
                </a:moveTo>
                <a:lnTo>
                  <a:pt x="219582" y="299720"/>
                </a:lnTo>
                <a:lnTo>
                  <a:pt x="206971" y="298450"/>
                </a:lnTo>
                <a:lnTo>
                  <a:pt x="194576" y="295910"/>
                </a:lnTo>
                <a:lnTo>
                  <a:pt x="182410" y="294639"/>
                </a:lnTo>
                <a:lnTo>
                  <a:pt x="136372" y="283210"/>
                </a:lnTo>
                <a:lnTo>
                  <a:pt x="95300" y="267970"/>
                </a:lnTo>
                <a:lnTo>
                  <a:pt x="60159" y="247650"/>
                </a:lnTo>
                <a:lnTo>
                  <a:pt x="52425" y="241300"/>
                </a:lnTo>
                <a:lnTo>
                  <a:pt x="45135" y="236220"/>
                </a:lnTo>
                <a:lnTo>
                  <a:pt x="31991" y="223520"/>
                </a:lnTo>
                <a:lnTo>
                  <a:pt x="26161" y="217170"/>
                </a:lnTo>
                <a:lnTo>
                  <a:pt x="21107" y="210820"/>
                </a:lnTo>
                <a:lnTo>
                  <a:pt x="16344" y="203200"/>
                </a:lnTo>
                <a:lnTo>
                  <a:pt x="12141" y="196850"/>
                </a:lnTo>
                <a:lnTo>
                  <a:pt x="8521" y="189229"/>
                </a:lnTo>
                <a:lnTo>
                  <a:pt x="8318" y="189229"/>
                </a:lnTo>
                <a:lnTo>
                  <a:pt x="4102" y="177800"/>
                </a:lnTo>
                <a:lnTo>
                  <a:pt x="0" y="146050"/>
                </a:lnTo>
                <a:lnTo>
                  <a:pt x="279" y="142239"/>
                </a:lnTo>
                <a:lnTo>
                  <a:pt x="4178" y="123189"/>
                </a:lnTo>
                <a:lnTo>
                  <a:pt x="5499" y="118110"/>
                </a:lnTo>
                <a:lnTo>
                  <a:pt x="8318" y="111760"/>
                </a:lnTo>
                <a:lnTo>
                  <a:pt x="8521" y="111760"/>
                </a:lnTo>
                <a:lnTo>
                  <a:pt x="12141" y="104139"/>
                </a:lnTo>
                <a:lnTo>
                  <a:pt x="16344" y="96520"/>
                </a:lnTo>
                <a:lnTo>
                  <a:pt x="21107" y="90170"/>
                </a:lnTo>
                <a:lnTo>
                  <a:pt x="26415" y="83820"/>
                </a:lnTo>
                <a:lnTo>
                  <a:pt x="32245" y="76200"/>
                </a:lnTo>
                <a:lnTo>
                  <a:pt x="38569" y="71120"/>
                </a:lnTo>
                <a:lnTo>
                  <a:pt x="45135" y="64770"/>
                </a:lnTo>
                <a:lnTo>
                  <a:pt x="52666" y="58420"/>
                </a:lnTo>
                <a:lnTo>
                  <a:pt x="60401" y="53339"/>
                </a:lnTo>
                <a:lnTo>
                  <a:pt x="68567" y="46989"/>
                </a:lnTo>
                <a:lnTo>
                  <a:pt x="77152" y="41910"/>
                </a:lnTo>
                <a:lnTo>
                  <a:pt x="86131" y="38100"/>
                </a:lnTo>
                <a:lnTo>
                  <a:pt x="95516" y="33020"/>
                </a:lnTo>
                <a:lnTo>
                  <a:pt x="105257" y="27939"/>
                </a:lnTo>
                <a:lnTo>
                  <a:pt x="115354" y="24129"/>
                </a:lnTo>
                <a:lnTo>
                  <a:pt x="125806" y="20320"/>
                </a:lnTo>
                <a:lnTo>
                  <a:pt x="136575" y="16510"/>
                </a:lnTo>
                <a:lnTo>
                  <a:pt x="159029" y="11429"/>
                </a:lnTo>
                <a:lnTo>
                  <a:pt x="170675" y="7620"/>
                </a:lnTo>
                <a:lnTo>
                  <a:pt x="182600" y="6350"/>
                </a:lnTo>
                <a:lnTo>
                  <a:pt x="194754" y="3810"/>
                </a:lnTo>
                <a:lnTo>
                  <a:pt x="232587" y="0"/>
                </a:lnTo>
                <a:lnTo>
                  <a:pt x="284937" y="0"/>
                </a:lnTo>
                <a:lnTo>
                  <a:pt x="322770" y="3810"/>
                </a:lnTo>
                <a:lnTo>
                  <a:pt x="364197" y="12700"/>
                </a:lnTo>
                <a:lnTo>
                  <a:pt x="233324" y="12700"/>
                </a:lnTo>
                <a:lnTo>
                  <a:pt x="220687" y="13970"/>
                </a:lnTo>
                <a:lnTo>
                  <a:pt x="220878" y="13970"/>
                </a:lnTo>
                <a:lnTo>
                  <a:pt x="208445" y="15239"/>
                </a:lnTo>
                <a:lnTo>
                  <a:pt x="208635" y="15239"/>
                </a:lnTo>
                <a:lnTo>
                  <a:pt x="196418" y="16510"/>
                </a:lnTo>
                <a:lnTo>
                  <a:pt x="196608" y="16510"/>
                </a:lnTo>
                <a:lnTo>
                  <a:pt x="184632" y="19050"/>
                </a:lnTo>
                <a:lnTo>
                  <a:pt x="184823" y="19050"/>
                </a:lnTo>
                <a:lnTo>
                  <a:pt x="173088" y="20320"/>
                </a:lnTo>
                <a:lnTo>
                  <a:pt x="173278" y="20320"/>
                </a:lnTo>
                <a:lnTo>
                  <a:pt x="161823" y="22860"/>
                </a:lnTo>
                <a:lnTo>
                  <a:pt x="162013" y="22860"/>
                </a:lnTo>
                <a:lnTo>
                  <a:pt x="150837" y="26670"/>
                </a:lnTo>
                <a:lnTo>
                  <a:pt x="151028" y="26670"/>
                </a:lnTo>
                <a:lnTo>
                  <a:pt x="140144" y="29210"/>
                </a:lnTo>
                <a:lnTo>
                  <a:pt x="140347" y="29210"/>
                </a:lnTo>
                <a:lnTo>
                  <a:pt x="129768" y="33020"/>
                </a:lnTo>
                <a:lnTo>
                  <a:pt x="129971" y="33020"/>
                </a:lnTo>
                <a:lnTo>
                  <a:pt x="119735" y="36829"/>
                </a:lnTo>
                <a:lnTo>
                  <a:pt x="119938" y="36829"/>
                </a:lnTo>
                <a:lnTo>
                  <a:pt x="110045" y="40639"/>
                </a:lnTo>
                <a:lnTo>
                  <a:pt x="110248" y="40639"/>
                </a:lnTo>
                <a:lnTo>
                  <a:pt x="100723" y="44450"/>
                </a:lnTo>
                <a:lnTo>
                  <a:pt x="100939" y="44450"/>
                </a:lnTo>
                <a:lnTo>
                  <a:pt x="94072" y="48260"/>
                </a:lnTo>
                <a:lnTo>
                  <a:pt x="91998" y="48260"/>
                </a:lnTo>
                <a:lnTo>
                  <a:pt x="83235" y="53339"/>
                </a:lnTo>
                <a:lnTo>
                  <a:pt x="83464" y="53339"/>
                </a:lnTo>
                <a:lnTo>
                  <a:pt x="75095" y="58420"/>
                </a:lnTo>
                <a:lnTo>
                  <a:pt x="75336" y="58420"/>
                </a:lnTo>
                <a:lnTo>
                  <a:pt x="67398" y="63500"/>
                </a:lnTo>
                <a:lnTo>
                  <a:pt x="67640" y="63500"/>
                </a:lnTo>
                <a:lnTo>
                  <a:pt x="60147" y="68579"/>
                </a:lnTo>
                <a:lnTo>
                  <a:pt x="60388" y="68579"/>
                </a:lnTo>
                <a:lnTo>
                  <a:pt x="54759" y="73660"/>
                </a:lnTo>
                <a:lnTo>
                  <a:pt x="53594" y="73660"/>
                </a:lnTo>
                <a:lnTo>
                  <a:pt x="47028" y="80010"/>
                </a:lnTo>
                <a:lnTo>
                  <a:pt x="47282" y="80010"/>
                </a:lnTo>
                <a:lnTo>
                  <a:pt x="42415" y="85089"/>
                </a:lnTo>
                <a:lnTo>
                  <a:pt x="41452" y="85089"/>
                </a:lnTo>
                <a:lnTo>
                  <a:pt x="35877" y="91439"/>
                </a:lnTo>
                <a:lnTo>
                  <a:pt x="36131" y="91439"/>
                </a:lnTo>
                <a:lnTo>
                  <a:pt x="31076" y="97789"/>
                </a:lnTo>
                <a:lnTo>
                  <a:pt x="31330" y="97789"/>
                </a:lnTo>
                <a:lnTo>
                  <a:pt x="26809" y="104139"/>
                </a:lnTo>
                <a:lnTo>
                  <a:pt x="27038" y="104139"/>
                </a:lnTo>
                <a:lnTo>
                  <a:pt x="23075" y="110489"/>
                </a:lnTo>
                <a:lnTo>
                  <a:pt x="23291" y="110489"/>
                </a:lnTo>
                <a:lnTo>
                  <a:pt x="19900" y="116839"/>
                </a:lnTo>
                <a:lnTo>
                  <a:pt x="20091" y="116839"/>
                </a:lnTo>
                <a:lnTo>
                  <a:pt x="17272" y="123189"/>
                </a:lnTo>
                <a:lnTo>
                  <a:pt x="17411" y="123189"/>
                </a:lnTo>
                <a:lnTo>
                  <a:pt x="16230" y="127000"/>
                </a:lnTo>
                <a:lnTo>
                  <a:pt x="15265" y="129539"/>
                </a:lnTo>
                <a:lnTo>
                  <a:pt x="14452" y="133350"/>
                </a:lnTo>
                <a:lnTo>
                  <a:pt x="14033" y="135889"/>
                </a:lnTo>
                <a:lnTo>
                  <a:pt x="13843" y="135889"/>
                </a:lnTo>
                <a:lnTo>
                  <a:pt x="13271" y="139700"/>
                </a:lnTo>
                <a:lnTo>
                  <a:pt x="12903" y="143510"/>
                </a:lnTo>
                <a:lnTo>
                  <a:pt x="12759" y="146050"/>
                </a:lnTo>
                <a:lnTo>
                  <a:pt x="12674" y="153670"/>
                </a:lnTo>
                <a:lnTo>
                  <a:pt x="12928" y="157479"/>
                </a:lnTo>
                <a:lnTo>
                  <a:pt x="13309" y="160020"/>
                </a:lnTo>
                <a:lnTo>
                  <a:pt x="13843" y="163829"/>
                </a:lnTo>
                <a:lnTo>
                  <a:pt x="14516" y="167639"/>
                </a:lnTo>
                <a:lnTo>
                  <a:pt x="15341" y="170179"/>
                </a:lnTo>
                <a:lnTo>
                  <a:pt x="16306" y="173989"/>
                </a:lnTo>
                <a:lnTo>
                  <a:pt x="17411" y="177800"/>
                </a:lnTo>
                <a:lnTo>
                  <a:pt x="17741" y="177800"/>
                </a:lnTo>
                <a:lnTo>
                  <a:pt x="20091" y="184150"/>
                </a:lnTo>
                <a:lnTo>
                  <a:pt x="20466" y="184150"/>
                </a:lnTo>
                <a:lnTo>
                  <a:pt x="23291" y="190500"/>
                </a:lnTo>
                <a:lnTo>
                  <a:pt x="23075" y="190500"/>
                </a:lnTo>
                <a:lnTo>
                  <a:pt x="27038" y="196850"/>
                </a:lnTo>
                <a:lnTo>
                  <a:pt x="26809" y="196850"/>
                </a:lnTo>
                <a:lnTo>
                  <a:pt x="31330" y="203200"/>
                </a:lnTo>
                <a:lnTo>
                  <a:pt x="32087" y="203200"/>
                </a:lnTo>
                <a:lnTo>
                  <a:pt x="36131" y="208279"/>
                </a:lnTo>
                <a:lnTo>
                  <a:pt x="35877" y="208279"/>
                </a:lnTo>
                <a:lnTo>
                  <a:pt x="41452" y="214629"/>
                </a:lnTo>
                <a:lnTo>
                  <a:pt x="41198" y="214629"/>
                </a:lnTo>
                <a:lnTo>
                  <a:pt x="47282" y="220979"/>
                </a:lnTo>
                <a:lnTo>
                  <a:pt x="47028" y="220979"/>
                </a:lnTo>
                <a:lnTo>
                  <a:pt x="53594" y="226060"/>
                </a:lnTo>
                <a:lnTo>
                  <a:pt x="53352" y="226060"/>
                </a:lnTo>
                <a:lnTo>
                  <a:pt x="60388" y="231139"/>
                </a:lnTo>
                <a:lnTo>
                  <a:pt x="60147" y="231139"/>
                </a:lnTo>
                <a:lnTo>
                  <a:pt x="67640" y="237489"/>
                </a:lnTo>
                <a:lnTo>
                  <a:pt x="68986" y="237489"/>
                </a:lnTo>
                <a:lnTo>
                  <a:pt x="75336" y="242570"/>
                </a:lnTo>
                <a:lnTo>
                  <a:pt x="77187" y="242570"/>
                </a:lnTo>
                <a:lnTo>
                  <a:pt x="83464" y="246379"/>
                </a:lnTo>
                <a:lnTo>
                  <a:pt x="83235" y="246379"/>
                </a:lnTo>
                <a:lnTo>
                  <a:pt x="91998" y="251460"/>
                </a:lnTo>
                <a:lnTo>
                  <a:pt x="91782" y="251460"/>
                </a:lnTo>
                <a:lnTo>
                  <a:pt x="100939" y="256539"/>
                </a:lnTo>
                <a:lnTo>
                  <a:pt x="103104" y="256539"/>
                </a:lnTo>
                <a:lnTo>
                  <a:pt x="110248" y="260350"/>
                </a:lnTo>
                <a:lnTo>
                  <a:pt x="110045" y="260350"/>
                </a:lnTo>
                <a:lnTo>
                  <a:pt x="119938" y="264160"/>
                </a:lnTo>
                <a:lnTo>
                  <a:pt x="119735" y="264160"/>
                </a:lnTo>
                <a:lnTo>
                  <a:pt x="129971" y="267970"/>
                </a:lnTo>
                <a:lnTo>
                  <a:pt x="129768" y="267970"/>
                </a:lnTo>
                <a:lnTo>
                  <a:pt x="140347" y="271779"/>
                </a:lnTo>
                <a:lnTo>
                  <a:pt x="143772" y="271779"/>
                </a:lnTo>
                <a:lnTo>
                  <a:pt x="151028" y="274320"/>
                </a:lnTo>
                <a:lnTo>
                  <a:pt x="150837" y="274320"/>
                </a:lnTo>
                <a:lnTo>
                  <a:pt x="162013" y="276860"/>
                </a:lnTo>
                <a:lnTo>
                  <a:pt x="161823" y="276860"/>
                </a:lnTo>
                <a:lnTo>
                  <a:pt x="173278" y="279400"/>
                </a:lnTo>
                <a:lnTo>
                  <a:pt x="173088" y="279400"/>
                </a:lnTo>
                <a:lnTo>
                  <a:pt x="184823" y="281939"/>
                </a:lnTo>
                <a:lnTo>
                  <a:pt x="184632" y="281939"/>
                </a:lnTo>
                <a:lnTo>
                  <a:pt x="196608" y="283210"/>
                </a:lnTo>
                <a:lnTo>
                  <a:pt x="196418" y="283210"/>
                </a:lnTo>
                <a:lnTo>
                  <a:pt x="208635" y="285750"/>
                </a:lnTo>
                <a:lnTo>
                  <a:pt x="208445" y="285750"/>
                </a:lnTo>
                <a:lnTo>
                  <a:pt x="220878" y="287020"/>
                </a:lnTo>
                <a:lnTo>
                  <a:pt x="233146" y="287020"/>
                </a:lnTo>
                <a:lnTo>
                  <a:pt x="245960" y="288289"/>
                </a:lnTo>
                <a:lnTo>
                  <a:pt x="364007" y="288289"/>
                </a:lnTo>
                <a:lnTo>
                  <a:pt x="334746" y="294639"/>
                </a:lnTo>
                <a:lnTo>
                  <a:pt x="322579" y="295910"/>
                </a:lnTo>
                <a:lnTo>
                  <a:pt x="310184" y="298450"/>
                </a:lnTo>
                <a:lnTo>
                  <a:pt x="297573" y="299720"/>
                </a:lnTo>
                <a:close/>
              </a:path>
              <a:path w="517525" h="300989">
                <a:moveTo>
                  <a:pt x="425564" y="49529"/>
                </a:moveTo>
                <a:lnTo>
                  <a:pt x="416407" y="44450"/>
                </a:lnTo>
                <a:lnTo>
                  <a:pt x="416623" y="44450"/>
                </a:lnTo>
                <a:lnTo>
                  <a:pt x="407085" y="40639"/>
                </a:lnTo>
                <a:lnTo>
                  <a:pt x="407301" y="40639"/>
                </a:lnTo>
                <a:lnTo>
                  <a:pt x="397408" y="36829"/>
                </a:lnTo>
                <a:lnTo>
                  <a:pt x="397611" y="36829"/>
                </a:lnTo>
                <a:lnTo>
                  <a:pt x="387375" y="33020"/>
                </a:lnTo>
                <a:lnTo>
                  <a:pt x="387578" y="33020"/>
                </a:lnTo>
                <a:lnTo>
                  <a:pt x="376999" y="29210"/>
                </a:lnTo>
                <a:lnTo>
                  <a:pt x="377202" y="29210"/>
                </a:lnTo>
                <a:lnTo>
                  <a:pt x="366318" y="26670"/>
                </a:lnTo>
                <a:lnTo>
                  <a:pt x="366509" y="26670"/>
                </a:lnTo>
                <a:lnTo>
                  <a:pt x="355333" y="22860"/>
                </a:lnTo>
                <a:lnTo>
                  <a:pt x="355523" y="22860"/>
                </a:lnTo>
                <a:lnTo>
                  <a:pt x="344068" y="20320"/>
                </a:lnTo>
                <a:lnTo>
                  <a:pt x="344258" y="20320"/>
                </a:lnTo>
                <a:lnTo>
                  <a:pt x="332524" y="19050"/>
                </a:lnTo>
                <a:lnTo>
                  <a:pt x="332714" y="19050"/>
                </a:lnTo>
                <a:lnTo>
                  <a:pt x="320738" y="16510"/>
                </a:lnTo>
                <a:lnTo>
                  <a:pt x="320928" y="16510"/>
                </a:lnTo>
                <a:lnTo>
                  <a:pt x="308711" y="15239"/>
                </a:lnTo>
                <a:lnTo>
                  <a:pt x="308902" y="15239"/>
                </a:lnTo>
                <a:lnTo>
                  <a:pt x="296468" y="13970"/>
                </a:lnTo>
                <a:lnTo>
                  <a:pt x="296646" y="13970"/>
                </a:lnTo>
                <a:lnTo>
                  <a:pt x="284022" y="12700"/>
                </a:lnTo>
                <a:lnTo>
                  <a:pt x="364197" y="12700"/>
                </a:lnTo>
                <a:lnTo>
                  <a:pt x="380974" y="16510"/>
                </a:lnTo>
                <a:lnTo>
                  <a:pt x="391744" y="20320"/>
                </a:lnTo>
                <a:lnTo>
                  <a:pt x="401993" y="24129"/>
                </a:lnTo>
                <a:lnTo>
                  <a:pt x="412305" y="29210"/>
                </a:lnTo>
                <a:lnTo>
                  <a:pt x="422046" y="33020"/>
                </a:lnTo>
                <a:lnTo>
                  <a:pt x="431431" y="38100"/>
                </a:lnTo>
                <a:lnTo>
                  <a:pt x="440423" y="43179"/>
                </a:lnTo>
                <a:lnTo>
                  <a:pt x="449008" y="48260"/>
                </a:lnTo>
                <a:lnTo>
                  <a:pt x="425348" y="48260"/>
                </a:lnTo>
                <a:lnTo>
                  <a:pt x="425564" y="49529"/>
                </a:lnTo>
                <a:close/>
              </a:path>
              <a:path w="517525" h="300989">
                <a:moveTo>
                  <a:pt x="91782" y="49529"/>
                </a:moveTo>
                <a:lnTo>
                  <a:pt x="91998" y="48260"/>
                </a:lnTo>
                <a:lnTo>
                  <a:pt x="94072" y="48260"/>
                </a:lnTo>
                <a:lnTo>
                  <a:pt x="91782" y="49529"/>
                </a:lnTo>
                <a:close/>
              </a:path>
              <a:path w="517525" h="300989">
                <a:moveTo>
                  <a:pt x="463994" y="74929"/>
                </a:moveTo>
                <a:lnTo>
                  <a:pt x="456958" y="68579"/>
                </a:lnTo>
                <a:lnTo>
                  <a:pt x="457200" y="68579"/>
                </a:lnTo>
                <a:lnTo>
                  <a:pt x="449706" y="63500"/>
                </a:lnTo>
                <a:lnTo>
                  <a:pt x="449948" y="63500"/>
                </a:lnTo>
                <a:lnTo>
                  <a:pt x="442010" y="58420"/>
                </a:lnTo>
                <a:lnTo>
                  <a:pt x="442239" y="58420"/>
                </a:lnTo>
                <a:lnTo>
                  <a:pt x="433882" y="53339"/>
                </a:lnTo>
                <a:lnTo>
                  <a:pt x="434111" y="53339"/>
                </a:lnTo>
                <a:lnTo>
                  <a:pt x="425348" y="48260"/>
                </a:lnTo>
                <a:lnTo>
                  <a:pt x="449008" y="48260"/>
                </a:lnTo>
                <a:lnTo>
                  <a:pt x="457187" y="53339"/>
                </a:lnTo>
                <a:lnTo>
                  <a:pt x="464921" y="58420"/>
                </a:lnTo>
                <a:lnTo>
                  <a:pt x="472211" y="64770"/>
                </a:lnTo>
                <a:lnTo>
                  <a:pt x="479018" y="71120"/>
                </a:lnTo>
                <a:lnTo>
                  <a:pt x="481553" y="73660"/>
                </a:lnTo>
                <a:lnTo>
                  <a:pt x="463753" y="73660"/>
                </a:lnTo>
                <a:lnTo>
                  <a:pt x="463994" y="74929"/>
                </a:lnTo>
                <a:close/>
              </a:path>
              <a:path w="517525" h="300989">
                <a:moveTo>
                  <a:pt x="53352" y="74929"/>
                </a:moveTo>
                <a:lnTo>
                  <a:pt x="53594" y="73660"/>
                </a:lnTo>
                <a:lnTo>
                  <a:pt x="54759" y="73660"/>
                </a:lnTo>
                <a:lnTo>
                  <a:pt x="53352" y="74929"/>
                </a:lnTo>
                <a:close/>
              </a:path>
              <a:path w="517525" h="300989">
                <a:moveTo>
                  <a:pt x="476135" y="86360"/>
                </a:moveTo>
                <a:lnTo>
                  <a:pt x="470065" y="80010"/>
                </a:lnTo>
                <a:lnTo>
                  <a:pt x="470319" y="80010"/>
                </a:lnTo>
                <a:lnTo>
                  <a:pt x="463753" y="73660"/>
                </a:lnTo>
                <a:lnTo>
                  <a:pt x="481553" y="73660"/>
                </a:lnTo>
                <a:lnTo>
                  <a:pt x="485355" y="77470"/>
                </a:lnTo>
                <a:lnTo>
                  <a:pt x="492031" y="85089"/>
                </a:lnTo>
                <a:lnTo>
                  <a:pt x="475894" y="85089"/>
                </a:lnTo>
                <a:lnTo>
                  <a:pt x="476135" y="86360"/>
                </a:lnTo>
                <a:close/>
              </a:path>
              <a:path w="517525" h="300989">
                <a:moveTo>
                  <a:pt x="41198" y="86360"/>
                </a:moveTo>
                <a:lnTo>
                  <a:pt x="41452" y="85089"/>
                </a:lnTo>
                <a:lnTo>
                  <a:pt x="42415" y="85089"/>
                </a:lnTo>
                <a:lnTo>
                  <a:pt x="41198" y="86360"/>
                </a:lnTo>
                <a:close/>
              </a:path>
              <a:path w="517525" h="300989">
                <a:moveTo>
                  <a:pt x="503554" y="137160"/>
                </a:moveTo>
                <a:lnTo>
                  <a:pt x="502831" y="133350"/>
                </a:lnTo>
                <a:lnTo>
                  <a:pt x="502005" y="129539"/>
                </a:lnTo>
                <a:lnTo>
                  <a:pt x="501040" y="127000"/>
                </a:lnTo>
                <a:lnTo>
                  <a:pt x="499935" y="123189"/>
                </a:lnTo>
                <a:lnTo>
                  <a:pt x="497255" y="116839"/>
                </a:lnTo>
                <a:lnTo>
                  <a:pt x="497446" y="116839"/>
                </a:lnTo>
                <a:lnTo>
                  <a:pt x="494055" y="110489"/>
                </a:lnTo>
                <a:lnTo>
                  <a:pt x="494271" y="110489"/>
                </a:lnTo>
                <a:lnTo>
                  <a:pt x="490308" y="104139"/>
                </a:lnTo>
                <a:lnTo>
                  <a:pt x="490537" y="104139"/>
                </a:lnTo>
                <a:lnTo>
                  <a:pt x="486016" y="97789"/>
                </a:lnTo>
                <a:lnTo>
                  <a:pt x="486270" y="97789"/>
                </a:lnTo>
                <a:lnTo>
                  <a:pt x="481215" y="91439"/>
                </a:lnTo>
                <a:lnTo>
                  <a:pt x="481456" y="91439"/>
                </a:lnTo>
                <a:lnTo>
                  <a:pt x="475894" y="85089"/>
                </a:lnTo>
                <a:lnTo>
                  <a:pt x="492031" y="85089"/>
                </a:lnTo>
                <a:lnTo>
                  <a:pt x="496481" y="90170"/>
                </a:lnTo>
                <a:lnTo>
                  <a:pt x="501002" y="96520"/>
                </a:lnTo>
                <a:lnTo>
                  <a:pt x="505205" y="104139"/>
                </a:lnTo>
                <a:lnTo>
                  <a:pt x="508825" y="111760"/>
                </a:lnTo>
                <a:lnTo>
                  <a:pt x="509028" y="111760"/>
                </a:lnTo>
                <a:lnTo>
                  <a:pt x="511848" y="118110"/>
                </a:lnTo>
                <a:lnTo>
                  <a:pt x="513245" y="123189"/>
                </a:lnTo>
                <a:lnTo>
                  <a:pt x="514350" y="127000"/>
                </a:lnTo>
                <a:lnTo>
                  <a:pt x="515289" y="130810"/>
                </a:lnTo>
                <a:lnTo>
                  <a:pt x="516013" y="134620"/>
                </a:lnTo>
                <a:lnTo>
                  <a:pt x="516229" y="135889"/>
                </a:lnTo>
                <a:lnTo>
                  <a:pt x="503504" y="135889"/>
                </a:lnTo>
                <a:lnTo>
                  <a:pt x="503554" y="137160"/>
                </a:lnTo>
                <a:close/>
              </a:path>
              <a:path w="517525" h="300989">
                <a:moveTo>
                  <a:pt x="13792" y="137160"/>
                </a:moveTo>
                <a:lnTo>
                  <a:pt x="13843" y="135889"/>
                </a:lnTo>
                <a:lnTo>
                  <a:pt x="14033" y="135889"/>
                </a:lnTo>
                <a:lnTo>
                  <a:pt x="13792" y="137160"/>
                </a:lnTo>
                <a:close/>
              </a:path>
              <a:path w="517525" h="300989">
                <a:moveTo>
                  <a:pt x="513168" y="177800"/>
                </a:moveTo>
                <a:lnTo>
                  <a:pt x="499935" y="177800"/>
                </a:lnTo>
                <a:lnTo>
                  <a:pt x="501116" y="173989"/>
                </a:lnTo>
                <a:lnTo>
                  <a:pt x="502081" y="170179"/>
                </a:lnTo>
                <a:lnTo>
                  <a:pt x="502894" y="167639"/>
                </a:lnTo>
                <a:lnTo>
                  <a:pt x="503554" y="163829"/>
                </a:lnTo>
                <a:lnTo>
                  <a:pt x="504075" y="160020"/>
                </a:lnTo>
                <a:lnTo>
                  <a:pt x="504444" y="157479"/>
                </a:lnTo>
                <a:lnTo>
                  <a:pt x="504672" y="153670"/>
                </a:lnTo>
                <a:lnTo>
                  <a:pt x="504659" y="146050"/>
                </a:lnTo>
                <a:lnTo>
                  <a:pt x="504418" y="143510"/>
                </a:lnTo>
                <a:lnTo>
                  <a:pt x="504037" y="139700"/>
                </a:lnTo>
                <a:lnTo>
                  <a:pt x="503504" y="135889"/>
                </a:lnTo>
                <a:lnTo>
                  <a:pt x="516229" y="135889"/>
                </a:lnTo>
                <a:lnTo>
                  <a:pt x="516661" y="138429"/>
                </a:lnTo>
                <a:lnTo>
                  <a:pt x="517093" y="142239"/>
                </a:lnTo>
                <a:lnTo>
                  <a:pt x="517347" y="146050"/>
                </a:lnTo>
                <a:lnTo>
                  <a:pt x="517334" y="154939"/>
                </a:lnTo>
                <a:lnTo>
                  <a:pt x="514273" y="173989"/>
                </a:lnTo>
                <a:lnTo>
                  <a:pt x="513168" y="177800"/>
                </a:lnTo>
                <a:close/>
              </a:path>
              <a:path w="517525" h="300989">
                <a:moveTo>
                  <a:pt x="12674" y="147320"/>
                </a:moveTo>
                <a:lnTo>
                  <a:pt x="12687" y="146050"/>
                </a:lnTo>
                <a:lnTo>
                  <a:pt x="12674" y="147320"/>
                </a:lnTo>
                <a:close/>
              </a:path>
              <a:path w="517525" h="300989">
                <a:moveTo>
                  <a:pt x="504672" y="147320"/>
                </a:moveTo>
                <a:lnTo>
                  <a:pt x="504587" y="146050"/>
                </a:lnTo>
                <a:lnTo>
                  <a:pt x="504672" y="147320"/>
                </a:lnTo>
                <a:close/>
              </a:path>
              <a:path w="517525" h="300989">
                <a:moveTo>
                  <a:pt x="17741" y="177800"/>
                </a:moveTo>
                <a:lnTo>
                  <a:pt x="17411" y="177800"/>
                </a:lnTo>
                <a:lnTo>
                  <a:pt x="17272" y="176529"/>
                </a:lnTo>
                <a:lnTo>
                  <a:pt x="17741" y="177800"/>
                </a:lnTo>
                <a:close/>
              </a:path>
              <a:path w="517525" h="300989">
                <a:moveTo>
                  <a:pt x="510908" y="184150"/>
                </a:moveTo>
                <a:lnTo>
                  <a:pt x="497255" y="184150"/>
                </a:lnTo>
                <a:lnTo>
                  <a:pt x="500062" y="176529"/>
                </a:lnTo>
                <a:lnTo>
                  <a:pt x="499935" y="177800"/>
                </a:lnTo>
                <a:lnTo>
                  <a:pt x="513168" y="177800"/>
                </a:lnTo>
                <a:lnTo>
                  <a:pt x="511848" y="181610"/>
                </a:lnTo>
                <a:lnTo>
                  <a:pt x="510908" y="184150"/>
                </a:lnTo>
                <a:close/>
              </a:path>
              <a:path w="517525" h="300989">
                <a:moveTo>
                  <a:pt x="20466" y="184150"/>
                </a:moveTo>
                <a:lnTo>
                  <a:pt x="20091" y="184150"/>
                </a:lnTo>
                <a:lnTo>
                  <a:pt x="19900" y="182879"/>
                </a:lnTo>
                <a:lnTo>
                  <a:pt x="20466" y="184150"/>
                </a:lnTo>
                <a:close/>
              </a:path>
              <a:path w="517525" h="300989">
                <a:moveTo>
                  <a:pt x="501002" y="203200"/>
                </a:moveTo>
                <a:lnTo>
                  <a:pt x="486016" y="203200"/>
                </a:lnTo>
                <a:lnTo>
                  <a:pt x="490537" y="196850"/>
                </a:lnTo>
                <a:lnTo>
                  <a:pt x="490308" y="196850"/>
                </a:lnTo>
                <a:lnTo>
                  <a:pt x="494271" y="190500"/>
                </a:lnTo>
                <a:lnTo>
                  <a:pt x="494055" y="190500"/>
                </a:lnTo>
                <a:lnTo>
                  <a:pt x="497446" y="182879"/>
                </a:lnTo>
                <a:lnTo>
                  <a:pt x="497255" y="184150"/>
                </a:lnTo>
                <a:lnTo>
                  <a:pt x="510908" y="184150"/>
                </a:lnTo>
                <a:lnTo>
                  <a:pt x="509028" y="189229"/>
                </a:lnTo>
                <a:lnTo>
                  <a:pt x="508825" y="189229"/>
                </a:lnTo>
                <a:lnTo>
                  <a:pt x="505205" y="196850"/>
                </a:lnTo>
                <a:lnTo>
                  <a:pt x="501002" y="203200"/>
                </a:lnTo>
                <a:close/>
              </a:path>
              <a:path w="517525" h="300989">
                <a:moveTo>
                  <a:pt x="32087" y="203200"/>
                </a:moveTo>
                <a:lnTo>
                  <a:pt x="31330" y="203200"/>
                </a:lnTo>
                <a:lnTo>
                  <a:pt x="31076" y="201929"/>
                </a:lnTo>
                <a:lnTo>
                  <a:pt x="32087" y="203200"/>
                </a:lnTo>
                <a:close/>
              </a:path>
              <a:path w="517525" h="300989">
                <a:moveTo>
                  <a:pt x="470138" y="237489"/>
                </a:moveTo>
                <a:lnTo>
                  <a:pt x="449706" y="237489"/>
                </a:lnTo>
                <a:lnTo>
                  <a:pt x="457200" y="231139"/>
                </a:lnTo>
                <a:lnTo>
                  <a:pt x="456958" y="231139"/>
                </a:lnTo>
                <a:lnTo>
                  <a:pt x="463994" y="226060"/>
                </a:lnTo>
                <a:lnTo>
                  <a:pt x="463753" y="226060"/>
                </a:lnTo>
                <a:lnTo>
                  <a:pt x="470319" y="220979"/>
                </a:lnTo>
                <a:lnTo>
                  <a:pt x="470065" y="220979"/>
                </a:lnTo>
                <a:lnTo>
                  <a:pt x="476135" y="214629"/>
                </a:lnTo>
                <a:lnTo>
                  <a:pt x="475894" y="214629"/>
                </a:lnTo>
                <a:lnTo>
                  <a:pt x="481456" y="208279"/>
                </a:lnTo>
                <a:lnTo>
                  <a:pt x="481215" y="208279"/>
                </a:lnTo>
                <a:lnTo>
                  <a:pt x="486270" y="201929"/>
                </a:lnTo>
                <a:lnTo>
                  <a:pt x="486016" y="203200"/>
                </a:lnTo>
                <a:lnTo>
                  <a:pt x="501002" y="203200"/>
                </a:lnTo>
                <a:lnTo>
                  <a:pt x="496481" y="209550"/>
                </a:lnTo>
                <a:lnTo>
                  <a:pt x="490931" y="217170"/>
                </a:lnTo>
                <a:lnTo>
                  <a:pt x="485101" y="223520"/>
                </a:lnTo>
                <a:lnTo>
                  <a:pt x="478777" y="229870"/>
                </a:lnTo>
                <a:lnTo>
                  <a:pt x="471957" y="236220"/>
                </a:lnTo>
                <a:lnTo>
                  <a:pt x="470138" y="237489"/>
                </a:lnTo>
                <a:close/>
              </a:path>
              <a:path w="517525" h="300989">
                <a:moveTo>
                  <a:pt x="68986" y="237489"/>
                </a:moveTo>
                <a:lnTo>
                  <a:pt x="67640" y="237489"/>
                </a:lnTo>
                <a:lnTo>
                  <a:pt x="67398" y="236220"/>
                </a:lnTo>
                <a:lnTo>
                  <a:pt x="68986" y="237489"/>
                </a:lnTo>
                <a:close/>
              </a:path>
              <a:path w="517525" h="300989">
                <a:moveTo>
                  <a:pt x="463133" y="242570"/>
                </a:moveTo>
                <a:lnTo>
                  <a:pt x="442010" y="242570"/>
                </a:lnTo>
                <a:lnTo>
                  <a:pt x="449948" y="236220"/>
                </a:lnTo>
                <a:lnTo>
                  <a:pt x="449706" y="237489"/>
                </a:lnTo>
                <a:lnTo>
                  <a:pt x="470138" y="237489"/>
                </a:lnTo>
                <a:lnTo>
                  <a:pt x="464680" y="241300"/>
                </a:lnTo>
                <a:lnTo>
                  <a:pt x="463133" y="242570"/>
                </a:lnTo>
                <a:close/>
              </a:path>
              <a:path w="517525" h="300989">
                <a:moveTo>
                  <a:pt x="77187" y="242570"/>
                </a:moveTo>
                <a:lnTo>
                  <a:pt x="75336" y="242570"/>
                </a:lnTo>
                <a:lnTo>
                  <a:pt x="75095" y="241300"/>
                </a:lnTo>
                <a:lnTo>
                  <a:pt x="77187" y="242570"/>
                </a:lnTo>
                <a:close/>
              </a:path>
              <a:path w="517525" h="300989">
                <a:moveTo>
                  <a:pt x="442340" y="256539"/>
                </a:moveTo>
                <a:lnTo>
                  <a:pt x="416407" y="256539"/>
                </a:lnTo>
                <a:lnTo>
                  <a:pt x="425564" y="251460"/>
                </a:lnTo>
                <a:lnTo>
                  <a:pt x="425348" y="251460"/>
                </a:lnTo>
                <a:lnTo>
                  <a:pt x="434111" y="246379"/>
                </a:lnTo>
                <a:lnTo>
                  <a:pt x="433882" y="246379"/>
                </a:lnTo>
                <a:lnTo>
                  <a:pt x="442239" y="241300"/>
                </a:lnTo>
                <a:lnTo>
                  <a:pt x="442010" y="242570"/>
                </a:lnTo>
                <a:lnTo>
                  <a:pt x="463133" y="242570"/>
                </a:lnTo>
                <a:lnTo>
                  <a:pt x="456946" y="247650"/>
                </a:lnTo>
                <a:lnTo>
                  <a:pt x="448779" y="252729"/>
                </a:lnTo>
                <a:lnTo>
                  <a:pt x="442340" y="256539"/>
                </a:lnTo>
                <a:close/>
              </a:path>
              <a:path w="517525" h="300989">
                <a:moveTo>
                  <a:pt x="103104" y="256539"/>
                </a:moveTo>
                <a:lnTo>
                  <a:pt x="100939" y="256539"/>
                </a:lnTo>
                <a:lnTo>
                  <a:pt x="100723" y="255270"/>
                </a:lnTo>
                <a:lnTo>
                  <a:pt x="103104" y="256539"/>
                </a:lnTo>
                <a:close/>
              </a:path>
              <a:path w="517525" h="300989">
                <a:moveTo>
                  <a:pt x="412089" y="271779"/>
                </a:moveTo>
                <a:lnTo>
                  <a:pt x="376999" y="271779"/>
                </a:lnTo>
                <a:lnTo>
                  <a:pt x="387578" y="267970"/>
                </a:lnTo>
                <a:lnTo>
                  <a:pt x="387375" y="267970"/>
                </a:lnTo>
                <a:lnTo>
                  <a:pt x="397611" y="264160"/>
                </a:lnTo>
                <a:lnTo>
                  <a:pt x="397408" y="264160"/>
                </a:lnTo>
                <a:lnTo>
                  <a:pt x="407301" y="260350"/>
                </a:lnTo>
                <a:lnTo>
                  <a:pt x="407085" y="260350"/>
                </a:lnTo>
                <a:lnTo>
                  <a:pt x="416623" y="255270"/>
                </a:lnTo>
                <a:lnTo>
                  <a:pt x="416407" y="256539"/>
                </a:lnTo>
                <a:lnTo>
                  <a:pt x="442340" y="256539"/>
                </a:lnTo>
                <a:lnTo>
                  <a:pt x="440194" y="257810"/>
                </a:lnTo>
                <a:lnTo>
                  <a:pt x="431215" y="262889"/>
                </a:lnTo>
                <a:lnTo>
                  <a:pt x="421830" y="267970"/>
                </a:lnTo>
                <a:lnTo>
                  <a:pt x="412089" y="271779"/>
                </a:lnTo>
                <a:close/>
              </a:path>
              <a:path w="517525" h="300989">
                <a:moveTo>
                  <a:pt x="143772" y="271779"/>
                </a:moveTo>
                <a:lnTo>
                  <a:pt x="140347" y="271779"/>
                </a:lnTo>
                <a:lnTo>
                  <a:pt x="140144" y="270510"/>
                </a:lnTo>
                <a:lnTo>
                  <a:pt x="143772" y="271779"/>
                </a:lnTo>
                <a:close/>
              </a:path>
              <a:path w="517525" h="300989">
                <a:moveTo>
                  <a:pt x="364007" y="288289"/>
                </a:moveTo>
                <a:lnTo>
                  <a:pt x="271386" y="288289"/>
                </a:lnTo>
                <a:lnTo>
                  <a:pt x="284200" y="287020"/>
                </a:lnTo>
                <a:lnTo>
                  <a:pt x="296468" y="287020"/>
                </a:lnTo>
                <a:lnTo>
                  <a:pt x="308902" y="285750"/>
                </a:lnTo>
                <a:lnTo>
                  <a:pt x="308711" y="285750"/>
                </a:lnTo>
                <a:lnTo>
                  <a:pt x="320928" y="283210"/>
                </a:lnTo>
                <a:lnTo>
                  <a:pt x="320738" y="283210"/>
                </a:lnTo>
                <a:lnTo>
                  <a:pt x="332714" y="281939"/>
                </a:lnTo>
                <a:lnTo>
                  <a:pt x="332524" y="281939"/>
                </a:lnTo>
                <a:lnTo>
                  <a:pt x="344258" y="279400"/>
                </a:lnTo>
                <a:lnTo>
                  <a:pt x="344068" y="279400"/>
                </a:lnTo>
                <a:lnTo>
                  <a:pt x="355523" y="276860"/>
                </a:lnTo>
                <a:lnTo>
                  <a:pt x="355333" y="276860"/>
                </a:lnTo>
                <a:lnTo>
                  <a:pt x="366509" y="274320"/>
                </a:lnTo>
                <a:lnTo>
                  <a:pt x="366318" y="274320"/>
                </a:lnTo>
                <a:lnTo>
                  <a:pt x="377202" y="270510"/>
                </a:lnTo>
                <a:lnTo>
                  <a:pt x="376999" y="271779"/>
                </a:lnTo>
                <a:lnTo>
                  <a:pt x="412089" y="271779"/>
                </a:lnTo>
                <a:lnTo>
                  <a:pt x="401993" y="275589"/>
                </a:lnTo>
                <a:lnTo>
                  <a:pt x="391540" y="279400"/>
                </a:lnTo>
                <a:lnTo>
                  <a:pt x="369697" y="287020"/>
                </a:lnTo>
                <a:lnTo>
                  <a:pt x="364007" y="288289"/>
                </a:lnTo>
                <a:close/>
              </a:path>
              <a:path w="517525" h="300989">
                <a:moveTo>
                  <a:pt x="271932" y="300989"/>
                </a:moveTo>
                <a:lnTo>
                  <a:pt x="245592" y="300989"/>
                </a:lnTo>
                <a:lnTo>
                  <a:pt x="232409" y="299720"/>
                </a:lnTo>
                <a:lnTo>
                  <a:pt x="284759" y="299720"/>
                </a:lnTo>
                <a:lnTo>
                  <a:pt x="271932" y="300989"/>
                </a:lnTo>
                <a:close/>
              </a:path>
            </a:pathLst>
          </a:custGeom>
          <a:solidFill>
            <a:srgbClr val="006C39"/>
          </a:solidFill>
        </p:spPr>
        <p:txBody>
          <a:bodyPr wrap="square" lIns="0" tIns="0" rIns="0" bIns="0" rtlCol="0"/>
          <a:lstStyle/>
          <a:p>
            <a:endParaRPr/>
          </a:p>
        </p:txBody>
      </p:sp>
      <p:sp>
        <p:nvSpPr>
          <p:cNvPr id="47" name="object 47"/>
          <p:cNvSpPr txBox="1"/>
          <p:nvPr/>
        </p:nvSpPr>
        <p:spPr>
          <a:xfrm>
            <a:off x="7072490" y="4298263"/>
            <a:ext cx="39814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Times New Roman"/>
                <a:cs typeface="Times New Roman"/>
              </a:rPr>
              <a:t>S</a:t>
            </a:r>
            <a:r>
              <a:rPr sz="1200" dirty="0">
                <a:latin typeface="Times New Roman"/>
                <a:cs typeface="Times New Roman"/>
              </a:rPr>
              <a:t>tring</a:t>
            </a:r>
            <a:endParaRPr sz="1200">
              <a:latin typeface="Times New Roman"/>
              <a:cs typeface="Times New Roman"/>
            </a:endParaRPr>
          </a:p>
        </p:txBody>
      </p:sp>
      <p:sp>
        <p:nvSpPr>
          <p:cNvPr id="48" name="object 48"/>
          <p:cNvSpPr txBox="1"/>
          <p:nvPr/>
        </p:nvSpPr>
        <p:spPr>
          <a:xfrm>
            <a:off x="5295506" y="4699723"/>
            <a:ext cx="775335"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readLine()</a:t>
            </a:r>
            <a:endParaRPr sz="1400">
              <a:latin typeface="Times New Roman"/>
              <a:cs typeface="Times New Roman"/>
            </a:endParaRPr>
          </a:p>
        </p:txBody>
      </p:sp>
      <p:sp>
        <p:nvSpPr>
          <p:cNvPr id="49" name="object 49"/>
          <p:cNvSpPr txBox="1"/>
          <p:nvPr/>
        </p:nvSpPr>
        <p:spPr>
          <a:xfrm>
            <a:off x="925042" y="2972295"/>
            <a:ext cx="1786889" cy="268605"/>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read()</a:t>
            </a:r>
            <a:r>
              <a:rPr sz="1600" spc="360" dirty="0">
                <a:latin typeface="Times New Roman"/>
                <a:cs typeface="Times New Roman"/>
              </a:rPr>
              <a:t> </a:t>
            </a:r>
            <a:r>
              <a:rPr sz="1600" spc="-5" dirty="0">
                <a:latin typeface="Times New Roman"/>
                <a:cs typeface="Times New Roman"/>
              </a:rPr>
              <a:t>read(byte[])…</a:t>
            </a:r>
            <a:endParaRPr sz="1600">
              <a:latin typeface="Times New Roman"/>
              <a:cs typeface="Times New Roman"/>
            </a:endParaRPr>
          </a:p>
        </p:txBody>
      </p:sp>
      <p:sp>
        <p:nvSpPr>
          <p:cNvPr id="50" name="object 50"/>
          <p:cNvSpPr txBox="1"/>
          <p:nvPr/>
        </p:nvSpPr>
        <p:spPr>
          <a:xfrm>
            <a:off x="4865217" y="2165261"/>
            <a:ext cx="1860550"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readInt(),</a:t>
            </a:r>
            <a:r>
              <a:rPr sz="1400" spc="-35" dirty="0">
                <a:latin typeface="Times New Roman"/>
                <a:cs typeface="Times New Roman"/>
              </a:rPr>
              <a:t> </a:t>
            </a:r>
            <a:r>
              <a:rPr sz="1400" spc="-5" dirty="0">
                <a:latin typeface="Times New Roman"/>
                <a:cs typeface="Times New Roman"/>
              </a:rPr>
              <a:t>readDouble()…</a:t>
            </a:r>
            <a:endParaRPr sz="1400">
              <a:latin typeface="Times New Roman"/>
              <a:cs typeface="Times New Roman"/>
            </a:endParaRPr>
          </a:p>
        </p:txBody>
      </p:sp>
      <p:sp>
        <p:nvSpPr>
          <p:cNvPr id="51" name="object 51"/>
          <p:cNvSpPr txBox="1"/>
          <p:nvPr/>
        </p:nvSpPr>
        <p:spPr>
          <a:xfrm>
            <a:off x="5154244" y="1409280"/>
            <a:ext cx="923290"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readObject()</a:t>
            </a:r>
            <a:endParaRPr sz="1400">
              <a:latin typeface="Times New Roman"/>
              <a:cs typeface="Times New Roman"/>
            </a:endParaRPr>
          </a:p>
        </p:txBody>
      </p:sp>
      <p:sp>
        <p:nvSpPr>
          <p:cNvPr id="52" name="object 52"/>
          <p:cNvSpPr/>
          <p:nvPr/>
        </p:nvSpPr>
        <p:spPr>
          <a:xfrm>
            <a:off x="469391" y="4501896"/>
            <a:ext cx="2737485" cy="338455"/>
          </a:xfrm>
          <a:custGeom>
            <a:avLst/>
            <a:gdLst/>
            <a:ahLst/>
            <a:cxnLst/>
            <a:rect l="l" t="t" r="r" b="b"/>
            <a:pathLst>
              <a:path w="2737485" h="338454">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53" name="object 53"/>
          <p:cNvSpPr/>
          <p:nvPr/>
        </p:nvSpPr>
        <p:spPr>
          <a:xfrm>
            <a:off x="462546" y="4495723"/>
            <a:ext cx="2749550" cy="351155"/>
          </a:xfrm>
          <a:custGeom>
            <a:avLst/>
            <a:gdLst/>
            <a:ahLst/>
            <a:cxnLst/>
            <a:rect l="l" t="t" r="r" b="b"/>
            <a:pathLst>
              <a:path w="2749550" h="351154">
                <a:moveTo>
                  <a:pt x="2749550" y="351154"/>
                </a:moveTo>
                <a:lnTo>
                  <a:pt x="0" y="351154"/>
                </a:lnTo>
                <a:lnTo>
                  <a:pt x="0" y="0"/>
                </a:lnTo>
                <a:lnTo>
                  <a:pt x="2749550" y="0"/>
                </a:lnTo>
                <a:lnTo>
                  <a:pt x="2749550" y="6350"/>
                </a:lnTo>
                <a:lnTo>
                  <a:pt x="12700" y="6350"/>
                </a:lnTo>
                <a:lnTo>
                  <a:pt x="6350" y="12700"/>
                </a:lnTo>
                <a:lnTo>
                  <a:pt x="12700" y="12700"/>
                </a:lnTo>
                <a:lnTo>
                  <a:pt x="12700" y="338454"/>
                </a:lnTo>
                <a:lnTo>
                  <a:pt x="6350" y="338454"/>
                </a:lnTo>
                <a:lnTo>
                  <a:pt x="12700" y="344804"/>
                </a:lnTo>
                <a:lnTo>
                  <a:pt x="2749550" y="344804"/>
                </a:lnTo>
                <a:lnTo>
                  <a:pt x="2749550" y="351154"/>
                </a:lnTo>
                <a:close/>
              </a:path>
              <a:path w="2749550" h="351154">
                <a:moveTo>
                  <a:pt x="12700" y="12700"/>
                </a:moveTo>
                <a:lnTo>
                  <a:pt x="6350" y="12700"/>
                </a:lnTo>
                <a:lnTo>
                  <a:pt x="12700" y="6350"/>
                </a:lnTo>
                <a:lnTo>
                  <a:pt x="12700" y="12700"/>
                </a:lnTo>
                <a:close/>
              </a:path>
              <a:path w="2749550" h="351154">
                <a:moveTo>
                  <a:pt x="2736850" y="12700"/>
                </a:moveTo>
                <a:lnTo>
                  <a:pt x="12700" y="12700"/>
                </a:lnTo>
                <a:lnTo>
                  <a:pt x="12700" y="6350"/>
                </a:lnTo>
                <a:lnTo>
                  <a:pt x="2736850" y="6350"/>
                </a:lnTo>
                <a:lnTo>
                  <a:pt x="2736850" y="12700"/>
                </a:lnTo>
                <a:close/>
              </a:path>
              <a:path w="2749550" h="351154">
                <a:moveTo>
                  <a:pt x="2736850" y="344804"/>
                </a:moveTo>
                <a:lnTo>
                  <a:pt x="2736850" y="6350"/>
                </a:lnTo>
                <a:lnTo>
                  <a:pt x="2743200" y="12700"/>
                </a:lnTo>
                <a:lnTo>
                  <a:pt x="2749550" y="12700"/>
                </a:lnTo>
                <a:lnTo>
                  <a:pt x="2749550" y="338454"/>
                </a:lnTo>
                <a:lnTo>
                  <a:pt x="2743200" y="338454"/>
                </a:lnTo>
                <a:lnTo>
                  <a:pt x="2736850" y="344804"/>
                </a:lnTo>
                <a:close/>
              </a:path>
              <a:path w="2749550" h="351154">
                <a:moveTo>
                  <a:pt x="2749550" y="12700"/>
                </a:moveTo>
                <a:lnTo>
                  <a:pt x="2743200" y="12700"/>
                </a:lnTo>
                <a:lnTo>
                  <a:pt x="2736850" y="6350"/>
                </a:lnTo>
                <a:lnTo>
                  <a:pt x="2749550" y="6350"/>
                </a:lnTo>
                <a:lnTo>
                  <a:pt x="2749550" y="12700"/>
                </a:lnTo>
                <a:close/>
              </a:path>
              <a:path w="2749550" h="351154">
                <a:moveTo>
                  <a:pt x="12700" y="344804"/>
                </a:moveTo>
                <a:lnTo>
                  <a:pt x="6350" y="338454"/>
                </a:lnTo>
                <a:lnTo>
                  <a:pt x="12700" y="338454"/>
                </a:lnTo>
                <a:lnTo>
                  <a:pt x="12700" y="344804"/>
                </a:lnTo>
                <a:close/>
              </a:path>
              <a:path w="2749550" h="351154">
                <a:moveTo>
                  <a:pt x="2736850" y="344804"/>
                </a:moveTo>
                <a:lnTo>
                  <a:pt x="12700" y="344804"/>
                </a:lnTo>
                <a:lnTo>
                  <a:pt x="12700" y="338454"/>
                </a:lnTo>
                <a:lnTo>
                  <a:pt x="2736850" y="338454"/>
                </a:lnTo>
                <a:lnTo>
                  <a:pt x="2736850" y="344804"/>
                </a:lnTo>
                <a:close/>
              </a:path>
              <a:path w="2749550" h="351154">
                <a:moveTo>
                  <a:pt x="2749550" y="344804"/>
                </a:moveTo>
                <a:lnTo>
                  <a:pt x="2736850" y="344804"/>
                </a:lnTo>
                <a:lnTo>
                  <a:pt x="2743200" y="338454"/>
                </a:lnTo>
                <a:lnTo>
                  <a:pt x="2749550" y="338454"/>
                </a:lnTo>
                <a:lnTo>
                  <a:pt x="2749550" y="344804"/>
                </a:lnTo>
                <a:close/>
              </a:path>
            </a:pathLst>
          </a:custGeom>
          <a:solidFill>
            <a:srgbClr val="0000FF"/>
          </a:solidFill>
        </p:spPr>
        <p:txBody>
          <a:bodyPr wrap="square" lIns="0" tIns="0" rIns="0" bIns="0" rtlCol="0"/>
          <a:lstStyle/>
          <a:p>
            <a:endParaRPr/>
          </a:p>
        </p:txBody>
      </p:sp>
      <p:sp>
        <p:nvSpPr>
          <p:cNvPr id="54" name="object 54"/>
          <p:cNvSpPr txBox="1"/>
          <p:nvPr/>
        </p:nvSpPr>
        <p:spPr>
          <a:xfrm>
            <a:off x="1047534" y="5339499"/>
            <a:ext cx="1786889" cy="268605"/>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read()</a:t>
            </a:r>
            <a:r>
              <a:rPr sz="1600" spc="360" dirty="0">
                <a:latin typeface="Times New Roman"/>
                <a:cs typeface="Times New Roman"/>
              </a:rPr>
              <a:t> </a:t>
            </a:r>
            <a:r>
              <a:rPr sz="1600" spc="-5" dirty="0">
                <a:latin typeface="Times New Roman"/>
                <a:cs typeface="Times New Roman"/>
              </a:rPr>
              <a:t>read(char[])…</a:t>
            </a:r>
            <a:endParaRPr sz="1600">
              <a:latin typeface="Times New Roman"/>
              <a:cs typeface="Times New Roman"/>
            </a:endParaRPr>
          </a:p>
        </p:txBody>
      </p:sp>
      <p:sp>
        <p:nvSpPr>
          <p:cNvPr id="55" name="object 55"/>
          <p:cNvSpPr/>
          <p:nvPr/>
        </p:nvSpPr>
        <p:spPr>
          <a:xfrm>
            <a:off x="469391" y="4914900"/>
            <a:ext cx="2737485" cy="338455"/>
          </a:xfrm>
          <a:custGeom>
            <a:avLst/>
            <a:gdLst/>
            <a:ahLst/>
            <a:cxnLst/>
            <a:rect l="l" t="t" r="r" b="b"/>
            <a:pathLst>
              <a:path w="2737485" h="338454">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56" name="object 56"/>
          <p:cNvSpPr/>
          <p:nvPr/>
        </p:nvSpPr>
        <p:spPr>
          <a:xfrm>
            <a:off x="462546" y="4908461"/>
            <a:ext cx="2749550" cy="351155"/>
          </a:xfrm>
          <a:custGeom>
            <a:avLst/>
            <a:gdLst/>
            <a:ahLst/>
            <a:cxnLst/>
            <a:rect l="l" t="t" r="r" b="b"/>
            <a:pathLst>
              <a:path w="2749550" h="351154">
                <a:moveTo>
                  <a:pt x="2749550" y="351154"/>
                </a:moveTo>
                <a:lnTo>
                  <a:pt x="0" y="351154"/>
                </a:lnTo>
                <a:lnTo>
                  <a:pt x="0" y="0"/>
                </a:lnTo>
                <a:lnTo>
                  <a:pt x="2749550" y="0"/>
                </a:lnTo>
                <a:lnTo>
                  <a:pt x="2749550" y="6350"/>
                </a:lnTo>
                <a:lnTo>
                  <a:pt x="12700" y="6350"/>
                </a:lnTo>
                <a:lnTo>
                  <a:pt x="6350" y="12700"/>
                </a:lnTo>
                <a:lnTo>
                  <a:pt x="12700" y="12700"/>
                </a:lnTo>
                <a:lnTo>
                  <a:pt x="12700" y="338454"/>
                </a:lnTo>
                <a:lnTo>
                  <a:pt x="6350" y="338454"/>
                </a:lnTo>
                <a:lnTo>
                  <a:pt x="12700" y="344804"/>
                </a:lnTo>
                <a:lnTo>
                  <a:pt x="2749550" y="344804"/>
                </a:lnTo>
                <a:lnTo>
                  <a:pt x="2749550" y="351154"/>
                </a:lnTo>
                <a:close/>
              </a:path>
              <a:path w="2749550" h="351154">
                <a:moveTo>
                  <a:pt x="12700" y="12700"/>
                </a:moveTo>
                <a:lnTo>
                  <a:pt x="6350" y="12700"/>
                </a:lnTo>
                <a:lnTo>
                  <a:pt x="12700" y="6350"/>
                </a:lnTo>
                <a:lnTo>
                  <a:pt x="12700" y="12700"/>
                </a:lnTo>
                <a:close/>
              </a:path>
              <a:path w="2749550" h="351154">
                <a:moveTo>
                  <a:pt x="2736850" y="12700"/>
                </a:moveTo>
                <a:lnTo>
                  <a:pt x="12700" y="12700"/>
                </a:lnTo>
                <a:lnTo>
                  <a:pt x="12700" y="6350"/>
                </a:lnTo>
                <a:lnTo>
                  <a:pt x="2736850" y="6350"/>
                </a:lnTo>
                <a:lnTo>
                  <a:pt x="2736850" y="12700"/>
                </a:lnTo>
                <a:close/>
              </a:path>
              <a:path w="2749550" h="351154">
                <a:moveTo>
                  <a:pt x="2736850" y="344804"/>
                </a:moveTo>
                <a:lnTo>
                  <a:pt x="2736850" y="6350"/>
                </a:lnTo>
                <a:lnTo>
                  <a:pt x="2743200" y="12700"/>
                </a:lnTo>
                <a:lnTo>
                  <a:pt x="2749550" y="12700"/>
                </a:lnTo>
                <a:lnTo>
                  <a:pt x="2749550" y="338454"/>
                </a:lnTo>
                <a:lnTo>
                  <a:pt x="2743200" y="338454"/>
                </a:lnTo>
                <a:lnTo>
                  <a:pt x="2736850" y="344804"/>
                </a:lnTo>
                <a:close/>
              </a:path>
              <a:path w="2749550" h="351154">
                <a:moveTo>
                  <a:pt x="2749550" y="12700"/>
                </a:moveTo>
                <a:lnTo>
                  <a:pt x="2743200" y="12700"/>
                </a:lnTo>
                <a:lnTo>
                  <a:pt x="2736850" y="6350"/>
                </a:lnTo>
                <a:lnTo>
                  <a:pt x="2749550" y="6350"/>
                </a:lnTo>
                <a:lnTo>
                  <a:pt x="2749550" y="12700"/>
                </a:lnTo>
                <a:close/>
              </a:path>
              <a:path w="2749550" h="351154">
                <a:moveTo>
                  <a:pt x="12700" y="344804"/>
                </a:moveTo>
                <a:lnTo>
                  <a:pt x="6350" y="338454"/>
                </a:lnTo>
                <a:lnTo>
                  <a:pt x="12700" y="338454"/>
                </a:lnTo>
                <a:lnTo>
                  <a:pt x="12700" y="344804"/>
                </a:lnTo>
                <a:close/>
              </a:path>
              <a:path w="2749550" h="351154">
                <a:moveTo>
                  <a:pt x="2736850" y="344804"/>
                </a:moveTo>
                <a:lnTo>
                  <a:pt x="12700" y="344804"/>
                </a:lnTo>
                <a:lnTo>
                  <a:pt x="12700" y="338454"/>
                </a:lnTo>
                <a:lnTo>
                  <a:pt x="2736850" y="338454"/>
                </a:lnTo>
                <a:lnTo>
                  <a:pt x="2736850" y="344804"/>
                </a:lnTo>
                <a:close/>
              </a:path>
              <a:path w="2749550" h="351154">
                <a:moveTo>
                  <a:pt x="2749550" y="344804"/>
                </a:moveTo>
                <a:lnTo>
                  <a:pt x="2736850" y="344804"/>
                </a:lnTo>
                <a:lnTo>
                  <a:pt x="2743200" y="338454"/>
                </a:lnTo>
                <a:lnTo>
                  <a:pt x="2749550" y="338454"/>
                </a:lnTo>
                <a:lnTo>
                  <a:pt x="2749550" y="344804"/>
                </a:lnTo>
                <a:close/>
              </a:path>
            </a:pathLst>
          </a:custGeom>
          <a:solidFill>
            <a:srgbClr val="0000FF"/>
          </a:solidFill>
        </p:spPr>
        <p:txBody>
          <a:bodyPr wrap="square" lIns="0" tIns="0" rIns="0" bIns="0" rtlCol="0"/>
          <a:lstStyle/>
          <a:p>
            <a:endParaRPr/>
          </a:p>
        </p:txBody>
      </p:sp>
      <p:sp>
        <p:nvSpPr>
          <p:cNvPr id="57" name="object 57"/>
          <p:cNvSpPr/>
          <p:nvPr/>
        </p:nvSpPr>
        <p:spPr>
          <a:xfrm>
            <a:off x="469391" y="1674876"/>
            <a:ext cx="2735580" cy="338455"/>
          </a:xfrm>
          <a:custGeom>
            <a:avLst/>
            <a:gdLst/>
            <a:ahLst/>
            <a:cxnLst/>
            <a:rect l="l" t="t" r="r" b="b"/>
            <a:pathLst>
              <a:path w="2735580" h="338455">
                <a:moveTo>
                  <a:pt x="0" y="0"/>
                </a:moveTo>
                <a:lnTo>
                  <a:pt x="2735580" y="0"/>
                </a:lnTo>
                <a:lnTo>
                  <a:pt x="2735580" y="338327"/>
                </a:lnTo>
                <a:lnTo>
                  <a:pt x="0" y="338327"/>
                </a:lnTo>
                <a:lnTo>
                  <a:pt x="0" y="0"/>
                </a:lnTo>
                <a:close/>
              </a:path>
            </a:pathLst>
          </a:custGeom>
          <a:solidFill>
            <a:srgbClr val="FFFFFF"/>
          </a:solidFill>
        </p:spPr>
        <p:txBody>
          <a:bodyPr wrap="square" lIns="0" tIns="0" rIns="0" bIns="0" rtlCol="0"/>
          <a:lstStyle/>
          <a:p>
            <a:endParaRPr/>
          </a:p>
        </p:txBody>
      </p:sp>
      <p:sp>
        <p:nvSpPr>
          <p:cNvPr id="58" name="object 58"/>
          <p:cNvSpPr/>
          <p:nvPr/>
        </p:nvSpPr>
        <p:spPr>
          <a:xfrm>
            <a:off x="462356" y="1668106"/>
            <a:ext cx="2749550" cy="351155"/>
          </a:xfrm>
          <a:custGeom>
            <a:avLst/>
            <a:gdLst/>
            <a:ahLst/>
            <a:cxnLst/>
            <a:rect l="l" t="t" r="r" b="b"/>
            <a:pathLst>
              <a:path w="2749550" h="351155">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5">
                <a:moveTo>
                  <a:pt x="12700" y="12700"/>
                </a:moveTo>
                <a:lnTo>
                  <a:pt x="6350" y="12700"/>
                </a:lnTo>
                <a:lnTo>
                  <a:pt x="12700" y="6350"/>
                </a:lnTo>
                <a:lnTo>
                  <a:pt x="12700" y="12700"/>
                </a:lnTo>
                <a:close/>
              </a:path>
              <a:path w="2749550" h="351155">
                <a:moveTo>
                  <a:pt x="2736850" y="12700"/>
                </a:moveTo>
                <a:lnTo>
                  <a:pt x="12700" y="12700"/>
                </a:lnTo>
                <a:lnTo>
                  <a:pt x="12700" y="6350"/>
                </a:lnTo>
                <a:lnTo>
                  <a:pt x="2736850" y="6350"/>
                </a:lnTo>
                <a:lnTo>
                  <a:pt x="2736850" y="12700"/>
                </a:lnTo>
                <a:close/>
              </a:path>
              <a:path w="2749550" h="351155">
                <a:moveTo>
                  <a:pt x="2736850" y="344805"/>
                </a:moveTo>
                <a:lnTo>
                  <a:pt x="2736850" y="6350"/>
                </a:lnTo>
                <a:lnTo>
                  <a:pt x="2743200" y="12700"/>
                </a:lnTo>
                <a:lnTo>
                  <a:pt x="2749550" y="12700"/>
                </a:lnTo>
                <a:lnTo>
                  <a:pt x="2749550" y="338455"/>
                </a:lnTo>
                <a:lnTo>
                  <a:pt x="2743200" y="338455"/>
                </a:lnTo>
                <a:lnTo>
                  <a:pt x="2736850" y="344805"/>
                </a:lnTo>
                <a:close/>
              </a:path>
              <a:path w="2749550" h="351155">
                <a:moveTo>
                  <a:pt x="2749550" y="12700"/>
                </a:moveTo>
                <a:lnTo>
                  <a:pt x="2743200" y="12700"/>
                </a:lnTo>
                <a:lnTo>
                  <a:pt x="2736850" y="6350"/>
                </a:lnTo>
                <a:lnTo>
                  <a:pt x="2749550" y="6350"/>
                </a:lnTo>
                <a:lnTo>
                  <a:pt x="2749550" y="12700"/>
                </a:lnTo>
                <a:close/>
              </a:path>
              <a:path w="2749550" h="351155">
                <a:moveTo>
                  <a:pt x="12700" y="344805"/>
                </a:moveTo>
                <a:lnTo>
                  <a:pt x="6350" y="338455"/>
                </a:lnTo>
                <a:lnTo>
                  <a:pt x="12700" y="338455"/>
                </a:lnTo>
                <a:lnTo>
                  <a:pt x="12700" y="344805"/>
                </a:lnTo>
                <a:close/>
              </a:path>
              <a:path w="2749550" h="351155">
                <a:moveTo>
                  <a:pt x="2736850" y="344805"/>
                </a:moveTo>
                <a:lnTo>
                  <a:pt x="12700" y="344805"/>
                </a:lnTo>
                <a:lnTo>
                  <a:pt x="12700" y="338455"/>
                </a:lnTo>
                <a:lnTo>
                  <a:pt x="2736850" y="338455"/>
                </a:lnTo>
                <a:lnTo>
                  <a:pt x="2736850" y="344805"/>
                </a:lnTo>
                <a:close/>
              </a:path>
              <a:path w="2749550" h="351155">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59" name="object 59"/>
          <p:cNvSpPr/>
          <p:nvPr/>
        </p:nvSpPr>
        <p:spPr>
          <a:xfrm>
            <a:off x="3924300" y="3313176"/>
            <a:ext cx="2159507" cy="338327"/>
          </a:xfrm>
          <a:prstGeom prst="rect">
            <a:avLst/>
          </a:prstGeom>
          <a:blipFill>
            <a:blip r:embed="rId9" cstate="print"/>
            <a:stretch>
              <a:fillRect/>
            </a:stretch>
          </a:blipFill>
        </p:spPr>
        <p:txBody>
          <a:bodyPr wrap="square" lIns="0" tIns="0" rIns="0" bIns="0" rtlCol="0"/>
          <a:lstStyle/>
          <a:p>
            <a:endParaRPr/>
          </a:p>
        </p:txBody>
      </p:sp>
      <p:sp>
        <p:nvSpPr>
          <p:cNvPr id="60" name="object 60"/>
          <p:cNvSpPr/>
          <p:nvPr/>
        </p:nvSpPr>
        <p:spPr>
          <a:xfrm>
            <a:off x="3921074" y="3309772"/>
            <a:ext cx="2166620" cy="346075"/>
          </a:xfrm>
          <a:custGeom>
            <a:avLst/>
            <a:gdLst/>
            <a:ahLst/>
            <a:cxnLst/>
            <a:rect l="l" t="t" r="r" b="b"/>
            <a:pathLst>
              <a:path w="2166620" h="346075">
                <a:moveTo>
                  <a:pt x="2166620" y="346075"/>
                </a:moveTo>
                <a:lnTo>
                  <a:pt x="0" y="346075"/>
                </a:lnTo>
                <a:lnTo>
                  <a:pt x="0" y="0"/>
                </a:lnTo>
                <a:lnTo>
                  <a:pt x="2166620" y="0"/>
                </a:lnTo>
                <a:lnTo>
                  <a:pt x="2166620" y="3809"/>
                </a:lnTo>
                <a:lnTo>
                  <a:pt x="7620" y="3809"/>
                </a:lnTo>
                <a:lnTo>
                  <a:pt x="3810" y="7619"/>
                </a:lnTo>
                <a:lnTo>
                  <a:pt x="7620" y="7619"/>
                </a:lnTo>
                <a:lnTo>
                  <a:pt x="7620" y="338454"/>
                </a:lnTo>
                <a:lnTo>
                  <a:pt x="3810" y="338454"/>
                </a:lnTo>
                <a:lnTo>
                  <a:pt x="7620" y="342264"/>
                </a:lnTo>
                <a:lnTo>
                  <a:pt x="2166620" y="342264"/>
                </a:lnTo>
                <a:lnTo>
                  <a:pt x="2166620" y="346075"/>
                </a:lnTo>
                <a:close/>
              </a:path>
              <a:path w="2166620" h="346075">
                <a:moveTo>
                  <a:pt x="7620" y="7619"/>
                </a:moveTo>
                <a:lnTo>
                  <a:pt x="3810" y="7619"/>
                </a:lnTo>
                <a:lnTo>
                  <a:pt x="7620" y="3809"/>
                </a:lnTo>
                <a:lnTo>
                  <a:pt x="7620" y="7619"/>
                </a:lnTo>
                <a:close/>
              </a:path>
              <a:path w="2166620" h="346075">
                <a:moveTo>
                  <a:pt x="2159000" y="7619"/>
                </a:moveTo>
                <a:lnTo>
                  <a:pt x="7620" y="7619"/>
                </a:lnTo>
                <a:lnTo>
                  <a:pt x="7620" y="3809"/>
                </a:lnTo>
                <a:lnTo>
                  <a:pt x="2159000" y="3809"/>
                </a:lnTo>
                <a:lnTo>
                  <a:pt x="2159000" y="7619"/>
                </a:lnTo>
                <a:close/>
              </a:path>
              <a:path w="2166620" h="346075">
                <a:moveTo>
                  <a:pt x="2159000" y="342264"/>
                </a:moveTo>
                <a:lnTo>
                  <a:pt x="2159000" y="3809"/>
                </a:lnTo>
                <a:lnTo>
                  <a:pt x="2162810" y="7619"/>
                </a:lnTo>
                <a:lnTo>
                  <a:pt x="2166620" y="7619"/>
                </a:lnTo>
                <a:lnTo>
                  <a:pt x="2166620" y="338454"/>
                </a:lnTo>
                <a:lnTo>
                  <a:pt x="2162810" y="338454"/>
                </a:lnTo>
                <a:lnTo>
                  <a:pt x="2159000" y="342264"/>
                </a:lnTo>
                <a:close/>
              </a:path>
              <a:path w="2166620" h="346075">
                <a:moveTo>
                  <a:pt x="2166620" y="7619"/>
                </a:moveTo>
                <a:lnTo>
                  <a:pt x="2162810" y="7619"/>
                </a:lnTo>
                <a:lnTo>
                  <a:pt x="2159000" y="3809"/>
                </a:lnTo>
                <a:lnTo>
                  <a:pt x="2166620" y="3809"/>
                </a:lnTo>
                <a:lnTo>
                  <a:pt x="2166620" y="7619"/>
                </a:lnTo>
                <a:close/>
              </a:path>
              <a:path w="2166620" h="346075">
                <a:moveTo>
                  <a:pt x="7620" y="342264"/>
                </a:moveTo>
                <a:lnTo>
                  <a:pt x="3810" y="338454"/>
                </a:lnTo>
                <a:lnTo>
                  <a:pt x="7620" y="338454"/>
                </a:lnTo>
                <a:lnTo>
                  <a:pt x="7620" y="342264"/>
                </a:lnTo>
                <a:close/>
              </a:path>
              <a:path w="2166620" h="346075">
                <a:moveTo>
                  <a:pt x="2159000" y="342264"/>
                </a:moveTo>
                <a:lnTo>
                  <a:pt x="7620" y="342264"/>
                </a:lnTo>
                <a:lnTo>
                  <a:pt x="7620" y="338454"/>
                </a:lnTo>
                <a:lnTo>
                  <a:pt x="2159000" y="338454"/>
                </a:lnTo>
                <a:lnTo>
                  <a:pt x="2159000" y="342264"/>
                </a:lnTo>
                <a:close/>
              </a:path>
              <a:path w="2166620" h="346075">
                <a:moveTo>
                  <a:pt x="2166620" y="342264"/>
                </a:moveTo>
                <a:lnTo>
                  <a:pt x="2159000" y="342264"/>
                </a:lnTo>
                <a:lnTo>
                  <a:pt x="2162810" y="338454"/>
                </a:lnTo>
                <a:lnTo>
                  <a:pt x="2166620" y="338454"/>
                </a:lnTo>
                <a:lnTo>
                  <a:pt x="2166620" y="342264"/>
                </a:lnTo>
                <a:close/>
              </a:path>
            </a:pathLst>
          </a:custGeom>
          <a:solidFill>
            <a:srgbClr val="006C39"/>
          </a:solidFill>
        </p:spPr>
        <p:txBody>
          <a:bodyPr wrap="square" lIns="0" tIns="0" rIns="0" bIns="0" rtlCol="0"/>
          <a:lstStyle/>
          <a:p>
            <a:endParaRPr/>
          </a:p>
        </p:txBody>
      </p:sp>
      <p:sp>
        <p:nvSpPr>
          <p:cNvPr id="61" name="object 61"/>
          <p:cNvSpPr txBox="1"/>
          <p:nvPr/>
        </p:nvSpPr>
        <p:spPr>
          <a:xfrm>
            <a:off x="3924300" y="3335807"/>
            <a:ext cx="2159635" cy="268605"/>
          </a:xfrm>
          <a:prstGeom prst="rect">
            <a:avLst/>
          </a:prstGeom>
        </p:spPr>
        <p:txBody>
          <a:bodyPr vert="horz" wrap="square" lIns="0" tIns="12065" rIns="0" bIns="0" rtlCol="0">
            <a:spAutoFit/>
          </a:bodyPr>
          <a:lstStyle/>
          <a:p>
            <a:pPr marL="288925">
              <a:lnSpc>
                <a:spcPct val="100000"/>
              </a:lnSpc>
              <a:spcBef>
                <a:spcPts val="95"/>
              </a:spcBef>
            </a:pPr>
            <a:r>
              <a:rPr sz="1600" spc="-5" dirty="0">
                <a:latin typeface="Times New Roman"/>
                <a:cs typeface="Times New Roman"/>
              </a:rPr>
              <a:t>InputStreamReader</a:t>
            </a:r>
            <a:endParaRPr sz="1600">
              <a:latin typeface="Times New Roman"/>
              <a:cs typeface="Times New Roman"/>
            </a:endParaRPr>
          </a:p>
        </p:txBody>
      </p:sp>
      <p:sp>
        <p:nvSpPr>
          <p:cNvPr id="62" name="object 62"/>
          <p:cNvSpPr/>
          <p:nvPr/>
        </p:nvSpPr>
        <p:spPr>
          <a:xfrm>
            <a:off x="4207090" y="2710967"/>
            <a:ext cx="444500" cy="300990"/>
          </a:xfrm>
          <a:custGeom>
            <a:avLst/>
            <a:gdLst/>
            <a:ahLst/>
            <a:cxnLst/>
            <a:rect l="l" t="t" r="r" b="b"/>
            <a:pathLst>
              <a:path w="444500" h="300989">
                <a:moveTo>
                  <a:pt x="255803" y="299719"/>
                </a:moveTo>
                <a:lnTo>
                  <a:pt x="188544" y="299719"/>
                </a:lnTo>
                <a:lnTo>
                  <a:pt x="177698" y="298450"/>
                </a:lnTo>
                <a:lnTo>
                  <a:pt x="167030" y="295910"/>
                </a:lnTo>
                <a:lnTo>
                  <a:pt x="156565" y="294639"/>
                </a:lnTo>
                <a:lnTo>
                  <a:pt x="116979" y="283210"/>
                </a:lnTo>
                <a:lnTo>
                  <a:pt x="81661" y="266700"/>
                </a:lnTo>
                <a:lnTo>
                  <a:pt x="73596" y="262889"/>
                </a:lnTo>
                <a:lnTo>
                  <a:pt x="65862" y="257810"/>
                </a:lnTo>
                <a:lnTo>
                  <a:pt x="58712" y="252730"/>
                </a:lnTo>
                <a:lnTo>
                  <a:pt x="51460" y="246380"/>
                </a:lnTo>
                <a:lnTo>
                  <a:pt x="45046" y="241300"/>
                </a:lnTo>
                <a:lnTo>
                  <a:pt x="38557" y="234950"/>
                </a:lnTo>
                <a:lnTo>
                  <a:pt x="32715" y="228600"/>
                </a:lnTo>
                <a:lnTo>
                  <a:pt x="27292" y="223519"/>
                </a:lnTo>
                <a:lnTo>
                  <a:pt x="22517" y="217169"/>
                </a:lnTo>
                <a:lnTo>
                  <a:pt x="17767" y="209550"/>
                </a:lnTo>
                <a:lnTo>
                  <a:pt x="13703" y="203200"/>
                </a:lnTo>
                <a:lnTo>
                  <a:pt x="10134" y="195580"/>
                </a:lnTo>
                <a:lnTo>
                  <a:pt x="7061" y="187960"/>
                </a:lnTo>
                <a:lnTo>
                  <a:pt x="4521" y="180339"/>
                </a:lnTo>
                <a:lnTo>
                  <a:pt x="2628" y="173989"/>
                </a:lnTo>
                <a:lnTo>
                  <a:pt x="1143" y="166369"/>
                </a:lnTo>
                <a:lnTo>
                  <a:pt x="584" y="161289"/>
                </a:lnTo>
                <a:lnTo>
                  <a:pt x="215" y="157480"/>
                </a:lnTo>
                <a:lnTo>
                  <a:pt x="0" y="153669"/>
                </a:lnTo>
                <a:lnTo>
                  <a:pt x="0" y="146050"/>
                </a:lnTo>
                <a:lnTo>
                  <a:pt x="228" y="142239"/>
                </a:lnTo>
                <a:lnTo>
                  <a:pt x="609" y="138430"/>
                </a:lnTo>
                <a:lnTo>
                  <a:pt x="1143" y="134619"/>
                </a:lnTo>
                <a:lnTo>
                  <a:pt x="2527" y="127000"/>
                </a:lnTo>
                <a:lnTo>
                  <a:pt x="4521" y="119380"/>
                </a:lnTo>
                <a:lnTo>
                  <a:pt x="7061" y="111760"/>
                </a:lnTo>
                <a:lnTo>
                  <a:pt x="10134" y="104139"/>
                </a:lnTo>
                <a:lnTo>
                  <a:pt x="13703" y="97789"/>
                </a:lnTo>
                <a:lnTo>
                  <a:pt x="17767" y="90169"/>
                </a:lnTo>
                <a:lnTo>
                  <a:pt x="45046" y="58419"/>
                </a:lnTo>
                <a:lnTo>
                  <a:pt x="81889" y="33019"/>
                </a:lnTo>
                <a:lnTo>
                  <a:pt x="90043" y="29210"/>
                </a:lnTo>
                <a:lnTo>
                  <a:pt x="98958" y="24130"/>
                </a:lnTo>
                <a:lnTo>
                  <a:pt x="107937" y="20319"/>
                </a:lnTo>
                <a:lnTo>
                  <a:pt x="117208" y="17780"/>
                </a:lnTo>
                <a:lnTo>
                  <a:pt x="126733" y="13969"/>
                </a:lnTo>
                <a:lnTo>
                  <a:pt x="136512" y="11430"/>
                </a:lnTo>
                <a:lnTo>
                  <a:pt x="167246" y="3810"/>
                </a:lnTo>
                <a:lnTo>
                  <a:pt x="199771" y="0"/>
                </a:lnTo>
                <a:lnTo>
                  <a:pt x="244779" y="0"/>
                </a:lnTo>
                <a:lnTo>
                  <a:pt x="277317" y="3810"/>
                </a:lnTo>
                <a:lnTo>
                  <a:pt x="308051" y="11430"/>
                </a:lnTo>
                <a:lnTo>
                  <a:pt x="312940" y="12700"/>
                </a:lnTo>
                <a:lnTo>
                  <a:pt x="200634" y="12700"/>
                </a:lnTo>
                <a:lnTo>
                  <a:pt x="189826" y="13969"/>
                </a:lnTo>
                <a:lnTo>
                  <a:pt x="190042" y="13969"/>
                </a:lnTo>
                <a:lnTo>
                  <a:pt x="179412" y="15239"/>
                </a:lnTo>
                <a:lnTo>
                  <a:pt x="179628" y="15239"/>
                </a:lnTo>
                <a:lnTo>
                  <a:pt x="169189" y="16510"/>
                </a:lnTo>
                <a:lnTo>
                  <a:pt x="169405" y="16510"/>
                </a:lnTo>
                <a:lnTo>
                  <a:pt x="164280" y="17780"/>
                </a:lnTo>
                <a:lnTo>
                  <a:pt x="159372" y="17780"/>
                </a:lnTo>
                <a:lnTo>
                  <a:pt x="149339" y="20319"/>
                </a:lnTo>
                <a:lnTo>
                  <a:pt x="149555" y="20319"/>
                </a:lnTo>
                <a:lnTo>
                  <a:pt x="139750" y="22860"/>
                </a:lnTo>
                <a:lnTo>
                  <a:pt x="139979" y="22860"/>
                </a:lnTo>
                <a:lnTo>
                  <a:pt x="133595" y="25400"/>
                </a:lnTo>
                <a:lnTo>
                  <a:pt x="130632" y="25400"/>
                </a:lnTo>
                <a:lnTo>
                  <a:pt x="121323" y="29210"/>
                </a:lnTo>
                <a:lnTo>
                  <a:pt x="121538" y="29210"/>
                </a:lnTo>
                <a:lnTo>
                  <a:pt x="112496" y="33019"/>
                </a:lnTo>
                <a:lnTo>
                  <a:pt x="112725" y="33019"/>
                </a:lnTo>
                <a:lnTo>
                  <a:pt x="106883" y="35560"/>
                </a:lnTo>
                <a:lnTo>
                  <a:pt x="104190" y="35560"/>
                </a:lnTo>
                <a:lnTo>
                  <a:pt x="95719" y="40639"/>
                </a:lnTo>
                <a:lnTo>
                  <a:pt x="95948" y="40639"/>
                </a:lnTo>
                <a:lnTo>
                  <a:pt x="87795" y="44450"/>
                </a:lnTo>
                <a:lnTo>
                  <a:pt x="88023" y="44450"/>
                </a:lnTo>
                <a:lnTo>
                  <a:pt x="80187" y="48260"/>
                </a:lnTo>
                <a:lnTo>
                  <a:pt x="80416" y="48260"/>
                </a:lnTo>
                <a:lnTo>
                  <a:pt x="72923" y="53339"/>
                </a:lnTo>
                <a:lnTo>
                  <a:pt x="73151" y="53339"/>
                </a:lnTo>
                <a:lnTo>
                  <a:pt x="66001" y="58419"/>
                </a:lnTo>
                <a:lnTo>
                  <a:pt x="66243" y="58419"/>
                </a:lnTo>
                <a:lnTo>
                  <a:pt x="59461" y="63500"/>
                </a:lnTo>
                <a:lnTo>
                  <a:pt x="59689" y="63500"/>
                </a:lnTo>
                <a:lnTo>
                  <a:pt x="53276" y="68580"/>
                </a:lnTo>
                <a:lnTo>
                  <a:pt x="53517" y="68580"/>
                </a:lnTo>
                <a:lnTo>
                  <a:pt x="47498" y="73660"/>
                </a:lnTo>
                <a:lnTo>
                  <a:pt x="47726" y="73660"/>
                </a:lnTo>
                <a:lnTo>
                  <a:pt x="42113" y="80010"/>
                </a:lnTo>
                <a:lnTo>
                  <a:pt x="42341" y="80010"/>
                </a:lnTo>
                <a:lnTo>
                  <a:pt x="37147" y="85089"/>
                </a:lnTo>
                <a:lnTo>
                  <a:pt x="37376" y="85089"/>
                </a:lnTo>
                <a:lnTo>
                  <a:pt x="32600" y="91439"/>
                </a:lnTo>
                <a:lnTo>
                  <a:pt x="32829" y="91439"/>
                </a:lnTo>
                <a:lnTo>
                  <a:pt x="28498" y="97789"/>
                </a:lnTo>
                <a:lnTo>
                  <a:pt x="28714" y="97789"/>
                </a:lnTo>
                <a:lnTo>
                  <a:pt x="25615" y="102869"/>
                </a:lnTo>
                <a:lnTo>
                  <a:pt x="25044" y="102869"/>
                </a:lnTo>
                <a:lnTo>
                  <a:pt x="22208" y="109219"/>
                </a:lnTo>
                <a:lnTo>
                  <a:pt x="21818" y="109219"/>
                </a:lnTo>
                <a:lnTo>
                  <a:pt x="19395" y="115569"/>
                </a:lnTo>
                <a:lnTo>
                  <a:pt x="19075" y="115569"/>
                </a:lnTo>
                <a:lnTo>
                  <a:pt x="16662" y="123189"/>
                </a:lnTo>
                <a:lnTo>
                  <a:pt x="14897" y="129539"/>
                </a:lnTo>
                <a:lnTo>
                  <a:pt x="13855" y="135889"/>
                </a:lnTo>
                <a:lnTo>
                  <a:pt x="13677" y="135889"/>
                </a:lnTo>
                <a:lnTo>
                  <a:pt x="13195" y="139700"/>
                </a:lnTo>
                <a:lnTo>
                  <a:pt x="12890" y="143510"/>
                </a:lnTo>
                <a:lnTo>
                  <a:pt x="12755" y="146050"/>
                </a:lnTo>
                <a:lnTo>
                  <a:pt x="12687" y="153669"/>
                </a:lnTo>
                <a:lnTo>
                  <a:pt x="12890" y="157480"/>
                </a:lnTo>
                <a:lnTo>
                  <a:pt x="13220" y="161289"/>
                </a:lnTo>
                <a:lnTo>
                  <a:pt x="13356" y="161289"/>
                </a:lnTo>
                <a:lnTo>
                  <a:pt x="13677" y="163830"/>
                </a:lnTo>
                <a:lnTo>
                  <a:pt x="14998" y="171450"/>
                </a:lnTo>
                <a:lnTo>
                  <a:pt x="15212" y="171450"/>
                </a:lnTo>
                <a:lnTo>
                  <a:pt x="16789" y="177800"/>
                </a:lnTo>
                <a:lnTo>
                  <a:pt x="19075" y="184150"/>
                </a:lnTo>
                <a:lnTo>
                  <a:pt x="18910" y="184150"/>
                </a:lnTo>
                <a:lnTo>
                  <a:pt x="21818" y="190500"/>
                </a:lnTo>
                <a:lnTo>
                  <a:pt x="21640" y="190500"/>
                </a:lnTo>
                <a:lnTo>
                  <a:pt x="25044" y="196850"/>
                </a:lnTo>
                <a:lnTo>
                  <a:pt x="24841" y="196850"/>
                </a:lnTo>
                <a:lnTo>
                  <a:pt x="28714" y="203200"/>
                </a:lnTo>
                <a:lnTo>
                  <a:pt x="28498" y="203200"/>
                </a:lnTo>
                <a:lnTo>
                  <a:pt x="32829" y="209550"/>
                </a:lnTo>
                <a:lnTo>
                  <a:pt x="32600" y="209550"/>
                </a:lnTo>
                <a:lnTo>
                  <a:pt x="37376" y="214630"/>
                </a:lnTo>
                <a:lnTo>
                  <a:pt x="37147" y="214630"/>
                </a:lnTo>
                <a:lnTo>
                  <a:pt x="42341" y="220980"/>
                </a:lnTo>
                <a:lnTo>
                  <a:pt x="42113" y="220980"/>
                </a:lnTo>
                <a:lnTo>
                  <a:pt x="47726" y="226060"/>
                </a:lnTo>
                <a:lnTo>
                  <a:pt x="47498" y="226060"/>
                </a:lnTo>
                <a:lnTo>
                  <a:pt x="53517" y="232410"/>
                </a:lnTo>
                <a:lnTo>
                  <a:pt x="53276" y="232410"/>
                </a:lnTo>
                <a:lnTo>
                  <a:pt x="59689" y="237489"/>
                </a:lnTo>
                <a:lnTo>
                  <a:pt x="59461" y="237489"/>
                </a:lnTo>
                <a:lnTo>
                  <a:pt x="66243" y="242569"/>
                </a:lnTo>
                <a:lnTo>
                  <a:pt x="66001" y="242569"/>
                </a:lnTo>
                <a:lnTo>
                  <a:pt x="73151" y="247650"/>
                </a:lnTo>
                <a:lnTo>
                  <a:pt x="74796" y="247650"/>
                </a:lnTo>
                <a:lnTo>
                  <a:pt x="80416" y="251460"/>
                </a:lnTo>
                <a:lnTo>
                  <a:pt x="80187" y="251460"/>
                </a:lnTo>
                <a:lnTo>
                  <a:pt x="88023" y="256539"/>
                </a:lnTo>
                <a:lnTo>
                  <a:pt x="87795" y="256539"/>
                </a:lnTo>
                <a:lnTo>
                  <a:pt x="95948" y="260350"/>
                </a:lnTo>
                <a:lnTo>
                  <a:pt x="95719" y="260350"/>
                </a:lnTo>
                <a:lnTo>
                  <a:pt x="104190" y="264160"/>
                </a:lnTo>
                <a:lnTo>
                  <a:pt x="103962" y="264160"/>
                </a:lnTo>
                <a:lnTo>
                  <a:pt x="112725" y="267969"/>
                </a:lnTo>
                <a:lnTo>
                  <a:pt x="112496" y="267969"/>
                </a:lnTo>
                <a:lnTo>
                  <a:pt x="121538" y="271780"/>
                </a:lnTo>
                <a:lnTo>
                  <a:pt x="121323" y="271780"/>
                </a:lnTo>
                <a:lnTo>
                  <a:pt x="130632" y="274319"/>
                </a:lnTo>
                <a:lnTo>
                  <a:pt x="130403" y="274319"/>
                </a:lnTo>
                <a:lnTo>
                  <a:pt x="139979" y="276860"/>
                </a:lnTo>
                <a:lnTo>
                  <a:pt x="139750" y="276860"/>
                </a:lnTo>
                <a:lnTo>
                  <a:pt x="149555" y="279400"/>
                </a:lnTo>
                <a:lnTo>
                  <a:pt x="149339" y="279400"/>
                </a:lnTo>
                <a:lnTo>
                  <a:pt x="159372" y="281939"/>
                </a:lnTo>
                <a:lnTo>
                  <a:pt x="159156" y="281939"/>
                </a:lnTo>
                <a:lnTo>
                  <a:pt x="169405" y="284480"/>
                </a:lnTo>
                <a:lnTo>
                  <a:pt x="174409" y="284480"/>
                </a:lnTo>
                <a:lnTo>
                  <a:pt x="179628" y="285750"/>
                </a:lnTo>
                <a:lnTo>
                  <a:pt x="179412" y="285750"/>
                </a:lnTo>
                <a:lnTo>
                  <a:pt x="190042" y="287019"/>
                </a:lnTo>
                <a:lnTo>
                  <a:pt x="200418" y="287019"/>
                </a:lnTo>
                <a:lnTo>
                  <a:pt x="211378" y="288289"/>
                </a:lnTo>
                <a:lnTo>
                  <a:pt x="312724" y="288289"/>
                </a:lnTo>
                <a:lnTo>
                  <a:pt x="287566" y="294639"/>
                </a:lnTo>
                <a:lnTo>
                  <a:pt x="277101" y="295910"/>
                </a:lnTo>
                <a:lnTo>
                  <a:pt x="266433" y="298450"/>
                </a:lnTo>
                <a:lnTo>
                  <a:pt x="255803" y="299719"/>
                </a:lnTo>
                <a:close/>
              </a:path>
              <a:path w="444500" h="300989">
                <a:moveTo>
                  <a:pt x="285191" y="19050"/>
                </a:moveTo>
                <a:lnTo>
                  <a:pt x="274942" y="16510"/>
                </a:lnTo>
                <a:lnTo>
                  <a:pt x="275158" y="16510"/>
                </a:lnTo>
                <a:lnTo>
                  <a:pt x="264718" y="15239"/>
                </a:lnTo>
                <a:lnTo>
                  <a:pt x="264934" y="15239"/>
                </a:lnTo>
                <a:lnTo>
                  <a:pt x="254304" y="13969"/>
                </a:lnTo>
                <a:lnTo>
                  <a:pt x="254508" y="13969"/>
                </a:lnTo>
                <a:lnTo>
                  <a:pt x="243712" y="12700"/>
                </a:lnTo>
                <a:lnTo>
                  <a:pt x="312940" y="12700"/>
                </a:lnTo>
                <a:lnTo>
                  <a:pt x="317830" y="13969"/>
                </a:lnTo>
                <a:lnTo>
                  <a:pt x="327367" y="17780"/>
                </a:lnTo>
                <a:lnTo>
                  <a:pt x="284975" y="17780"/>
                </a:lnTo>
                <a:lnTo>
                  <a:pt x="285191" y="19050"/>
                </a:lnTo>
                <a:close/>
              </a:path>
              <a:path w="444500" h="300989">
                <a:moveTo>
                  <a:pt x="159156" y="19050"/>
                </a:moveTo>
                <a:lnTo>
                  <a:pt x="159372" y="17780"/>
                </a:lnTo>
                <a:lnTo>
                  <a:pt x="164280" y="17780"/>
                </a:lnTo>
                <a:lnTo>
                  <a:pt x="159156" y="19050"/>
                </a:lnTo>
                <a:close/>
              </a:path>
              <a:path w="444500" h="300989">
                <a:moveTo>
                  <a:pt x="313931" y="26669"/>
                </a:moveTo>
                <a:lnTo>
                  <a:pt x="304368" y="22860"/>
                </a:lnTo>
                <a:lnTo>
                  <a:pt x="304596" y="22860"/>
                </a:lnTo>
                <a:lnTo>
                  <a:pt x="294792" y="20319"/>
                </a:lnTo>
                <a:lnTo>
                  <a:pt x="295008" y="20319"/>
                </a:lnTo>
                <a:lnTo>
                  <a:pt x="284975" y="17780"/>
                </a:lnTo>
                <a:lnTo>
                  <a:pt x="327367" y="17780"/>
                </a:lnTo>
                <a:lnTo>
                  <a:pt x="336626" y="20319"/>
                </a:lnTo>
                <a:lnTo>
                  <a:pt x="345617" y="24130"/>
                </a:lnTo>
                <a:lnTo>
                  <a:pt x="347789" y="25400"/>
                </a:lnTo>
                <a:lnTo>
                  <a:pt x="313715" y="25400"/>
                </a:lnTo>
                <a:lnTo>
                  <a:pt x="313931" y="26669"/>
                </a:lnTo>
                <a:close/>
              </a:path>
              <a:path w="444500" h="300989">
                <a:moveTo>
                  <a:pt x="130403" y="26669"/>
                </a:moveTo>
                <a:lnTo>
                  <a:pt x="130632" y="25400"/>
                </a:lnTo>
                <a:lnTo>
                  <a:pt x="133595" y="25400"/>
                </a:lnTo>
                <a:lnTo>
                  <a:pt x="130403" y="26669"/>
                </a:lnTo>
                <a:close/>
              </a:path>
              <a:path w="444500" h="300989">
                <a:moveTo>
                  <a:pt x="340385" y="36830"/>
                </a:moveTo>
                <a:lnTo>
                  <a:pt x="331622" y="33019"/>
                </a:lnTo>
                <a:lnTo>
                  <a:pt x="331850" y="33019"/>
                </a:lnTo>
                <a:lnTo>
                  <a:pt x="322808" y="29210"/>
                </a:lnTo>
                <a:lnTo>
                  <a:pt x="323024" y="29210"/>
                </a:lnTo>
                <a:lnTo>
                  <a:pt x="313715" y="25400"/>
                </a:lnTo>
                <a:lnTo>
                  <a:pt x="347789" y="25400"/>
                </a:lnTo>
                <a:lnTo>
                  <a:pt x="354304" y="29210"/>
                </a:lnTo>
                <a:lnTo>
                  <a:pt x="362686" y="33019"/>
                </a:lnTo>
                <a:lnTo>
                  <a:pt x="366718" y="35560"/>
                </a:lnTo>
                <a:lnTo>
                  <a:pt x="340156" y="35560"/>
                </a:lnTo>
                <a:lnTo>
                  <a:pt x="340385" y="36830"/>
                </a:lnTo>
                <a:close/>
              </a:path>
              <a:path w="444500" h="300989">
                <a:moveTo>
                  <a:pt x="103962" y="36830"/>
                </a:moveTo>
                <a:lnTo>
                  <a:pt x="104190" y="35560"/>
                </a:lnTo>
                <a:lnTo>
                  <a:pt x="106883" y="35560"/>
                </a:lnTo>
                <a:lnTo>
                  <a:pt x="103962" y="36830"/>
                </a:lnTo>
                <a:close/>
              </a:path>
              <a:path w="444500" h="300989">
                <a:moveTo>
                  <a:pt x="419506" y="104139"/>
                </a:moveTo>
                <a:lnTo>
                  <a:pt x="415632" y="97789"/>
                </a:lnTo>
                <a:lnTo>
                  <a:pt x="415848" y="97789"/>
                </a:lnTo>
                <a:lnTo>
                  <a:pt x="411518" y="91439"/>
                </a:lnTo>
                <a:lnTo>
                  <a:pt x="411746" y="91439"/>
                </a:lnTo>
                <a:lnTo>
                  <a:pt x="406971" y="85089"/>
                </a:lnTo>
                <a:lnTo>
                  <a:pt x="407200" y="85089"/>
                </a:lnTo>
                <a:lnTo>
                  <a:pt x="402005" y="80010"/>
                </a:lnTo>
                <a:lnTo>
                  <a:pt x="402234" y="80010"/>
                </a:lnTo>
                <a:lnTo>
                  <a:pt x="396621" y="73660"/>
                </a:lnTo>
                <a:lnTo>
                  <a:pt x="396849" y="73660"/>
                </a:lnTo>
                <a:lnTo>
                  <a:pt x="390829" y="68580"/>
                </a:lnTo>
                <a:lnTo>
                  <a:pt x="391058" y="68580"/>
                </a:lnTo>
                <a:lnTo>
                  <a:pt x="384657" y="63500"/>
                </a:lnTo>
                <a:lnTo>
                  <a:pt x="384886" y="63500"/>
                </a:lnTo>
                <a:lnTo>
                  <a:pt x="378104" y="58419"/>
                </a:lnTo>
                <a:lnTo>
                  <a:pt x="378333" y="58419"/>
                </a:lnTo>
                <a:lnTo>
                  <a:pt x="371195" y="53339"/>
                </a:lnTo>
                <a:lnTo>
                  <a:pt x="371424" y="53339"/>
                </a:lnTo>
                <a:lnTo>
                  <a:pt x="363918" y="48260"/>
                </a:lnTo>
                <a:lnTo>
                  <a:pt x="364159" y="48260"/>
                </a:lnTo>
                <a:lnTo>
                  <a:pt x="356323" y="44450"/>
                </a:lnTo>
                <a:lnTo>
                  <a:pt x="356552" y="44450"/>
                </a:lnTo>
                <a:lnTo>
                  <a:pt x="348399" y="40639"/>
                </a:lnTo>
                <a:lnTo>
                  <a:pt x="348614" y="40639"/>
                </a:lnTo>
                <a:lnTo>
                  <a:pt x="340156" y="35560"/>
                </a:lnTo>
                <a:lnTo>
                  <a:pt x="366718" y="35560"/>
                </a:lnTo>
                <a:lnTo>
                  <a:pt x="370751" y="38100"/>
                </a:lnTo>
                <a:lnTo>
                  <a:pt x="385864" y="48260"/>
                </a:lnTo>
                <a:lnTo>
                  <a:pt x="392887" y="53339"/>
                </a:lnTo>
                <a:lnTo>
                  <a:pt x="399529" y="59689"/>
                </a:lnTo>
                <a:lnTo>
                  <a:pt x="405790" y="64769"/>
                </a:lnTo>
                <a:lnTo>
                  <a:pt x="411632" y="71119"/>
                </a:lnTo>
                <a:lnTo>
                  <a:pt x="417055" y="77469"/>
                </a:lnTo>
                <a:lnTo>
                  <a:pt x="426580" y="90169"/>
                </a:lnTo>
                <a:lnTo>
                  <a:pt x="430644" y="97789"/>
                </a:lnTo>
                <a:lnTo>
                  <a:pt x="433499" y="102869"/>
                </a:lnTo>
                <a:lnTo>
                  <a:pt x="419303" y="102869"/>
                </a:lnTo>
                <a:lnTo>
                  <a:pt x="419506" y="104139"/>
                </a:lnTo>
                <a:close/>
              </a:path>
              <a:path w="444500" h="300989">
                <a:moveTo>
                  <a:pt x="24841" y="104139"/>
                </a:moveTo>
                <a:lnTo>
                  <a:pt x="25044" y="102869"/>
                </a:lnTo>
                <a:lnTo>
                  <a:pt x="25615" y="102869"/>
                </a:lnTo>
                <a:lnTo>
                  <a:pt x="24841" y="104139"/>
                </a:lnTo>
                <a:close/>
              </a:path>
              <a:path w="444500" h="300989">
                <a:moveTo>
                  <a:pt x="422694" y="110489"/>
                </a:moveTo>
                <a:lnTo>
                  <a:pt x="419303" y="102869"/>
                </a:lnTo>
                <a:lnTo>
                  <a:pt x="433499" y="102869"/>
                </a:lnTo>
                <a:lnTo>
                  <a:pt x="434213" y="104139"/>
                </a:lnTo>
                <a:lnTo>
                  <a:pt x="436151" y="109219"/>
                </a:lnTo>
                <a:lnTo>
                  <a:pt x="422516" y="109219"/>
                </a:lnTo>
                <a:lnTo>
                  <a:pt x="422694" y="110489"/>
                </a:lnTo>
                <a:close/>
              </a:path>
              <a:path w="444500" h="300989">
                <a:moveTo>
                  <a:pt x="21640" y="110489"/>
                </a:moveTo>
                <a:lnTo>
                  <a:pt x="21818" y="109219"/>
                </a:lnTo>
                <a:lnTo>
                  <a:pt x="22208" y="109219"/>
                </a:lnTo>
                <a:lnTo>
                  <a:pt x="21640" y="110489"/>
                </a:lnTo>
                <a:close/>
              </a:path>
              <a:path w="444500" h="300989">
                <a:moveTo>
                  <a:pt x="425424" y="116839"/>
                </a:moveTo>
                <a:lnTo>
                  <a:pt x="422516" y="109219"/>
                </a:lnTo>
                <a:lnTo>
                  <a:pt x="436151" y="109219"/>
                </a:lnTo>
                <a:lnTo>
                  <a:pt x="437121" y="111760"/>
                </a:lnTo>
                <a:lnTo>
                  <a:pt x="438473" y="115569"/>
                </a:lnTo>
                <a:lnTo>
                  <a:pt x="425272" y="115569"/>
                </a:lnTo>
                <a:lnTo>
                  <a:pt x="425424" y="116839"/>
                </a:lnTo>
                <a:close/>
              </a:path>
              <a:path w="444500" h="300989">
                <a:moveTo>
                  <a:pt x="18910" y="116839"/>
                </a:moveTo>
                <a:lnTo>
                  <a:pt x="19075" y="115569"/>
                </a:lnTo>
                <a:lnTo>
                  <a:pt x="19395" y="115569"/>
                </a:lnTo>
                <a:lnTo>
                  <a:pt x="18910" y="116839"/>
                </a:lnTo>
                <a:close/>
              </a:path>
              <a:path w="444500" h="300989">
                <a:moveTo>
                  <a:pt x="430720" y="137160"/>
                </a:moveTo>
                <a:lnTo>
                  <a:pt x="429348" y="129539"/>
                </a:lnTo>
                <a:lnTo>
                  <a:pt x="427545" y="123189"/>
                </a:lnTo>
                <a:lnTo>
                  <a:pt x="427685" y="123189"/>
                </a:lnTo>
                <a:lnTo>
                  <a:pt x="425272" y="115569"/>
                </a:lnTo>
                <a:lnTo>
                  <a:pt x="438473" y="115569"/>
                </a:lnTo>
                <a:lnTo>
                  <a:pt x="439826" y="119380"/>
                </a:lnTo>
                <a:lnTo>
                  <a:pt x="441718" y="127000"/>
                </a:lnTo>
                <a:lnTo>
                  <a:pt x="443255" y="134619"/>
                </a:lnTo>
                <a:lnTo>
                  <a:pt x="443424" y="135889"/>
                </a:lnTo>
                <a:lnTo>
                  <a:pt x="430657" y="135889"/>
                </a:lnTo>
                <a:lnTo>
                  <a:pt x="430720" y="137160"/>
                </a:lnTo>
                <a:close/>
              </a:path>
              <a:path w="444500" h="300989">
                <a:moveTo>
                  <a:pt x="13627" y="137160"/>
                </a:moveTo>
                <a:lnTo>
                  <a:pt x="13677" y="135889"/>
                </a:lnTo>
                <a:lnTo>
                  <a:pt x="13855" y="135889"/>
                </a:lnTo>
                <a:lnTo>
                  <a:pt x="13627" y="137160"/>
                </a:lnTo>
                <a:close/>
              </a:path>
              <a:path w="444500" h="300989">
                <a:moveTo>
                  <a:pt x="443864" y="161289"/>
                </a:moveTo>
                <a:lnTo>
                  <a:pt x="431126" y="161289"/>
                </a:lnTo>
                <a:lnTo>
                  <a:pt x="431469" y="157480"/>
                </a:lnTo>
                <a:lnTo>
                  <a:pt x="431660" y="153669"/>
                </a:lnTo>
                <a:lnTo>
                  <a:pt x="431647" y="146050"/>
                </a:lnTo>
                <a:lnTo>
                  <a:pt x="431457" y="143510"/>
                </a:lnTo>
                <a:lnTo>
                  <a:pt x="431126" y="139700"/>
                </a:lnTo>
                <a:lnTo>
                  <a:pt x="430657" y="135889"/>
                </a:lnTo>
                <a:lnTo>
                  <a:pt x="443424" y="135889"/>
                </a:lnTo>
                <a:lnTo>
                  <a:pt x="443763" y="138430"/>
                </a:lnTo>
                <a:lnTo>
                  <a:pt x="444131" y="142239"/>
                </a:lnTo>
                <a:lnTo>
                  <a:pt x="444347" y="146050"/>
                </a:lnTo>
                <a:lnTo>
                  <a:pt x="444347" y="153669"/>
                </a:lnTo>
                <a:lnTo>
                  <a:pt x="444119" y="158750"/>
                </a:lnTo>
                <a:lnTo>
                  <a:pt x="443864" y="161289"/>
                </a:lnTo>
                <a:close/>
              </a:path>
              <a:path w="444500" h="300989">
                <a:moveTo>
                  <a:pt x="12687" y="147319"/>
                </a:moveTo>
                <a:lnTo>
                  <a:pt x="12687" y="146050"/>
                </a:lnTo>
                <a:lnTo>
                  <a:pt x="12687" y="147319"/>
                </a:lnTo>
                <a:close/>
              </a:path>
              <a:path w="444500" h="300989">
                <a:moveTo>
                  <a:pt x="431660" y="147319"/>
                </a:moveTo>
                <a:lnTo>
                  <a:pt x="431592" y="146050"/>
                </a:lnTo>
                <a:lnTo>
                  <a:pt x="431660" y="147319"/>
                </a:lnTo>
                <a:close/>
              </a:path>
              <a:path w="444500" h="300989">
                <a:moveTo>
                  <a:pt x="13356" y="161289"/>
                </a:moveTo>
                <a:lnTo>
                  <a:pt x="13220" y="161289"/>
                </a:lnTo>
                <a:lnTo>
                  <a:pt x="13195" y="160019"/>
                </a:lnTo>
                <a:lnTo>
                  <a:pt x="13356" y="161289"/>
                </a:lnTo>
                <a:close/>
              </a:path>
              <a:path w="444500" h="300989">
                <a:moveTo>
                  <a:pt x="442298" y="171450"/>
                </a:moveTo>
                <a:lnTo>
                  <a:pt x="429348" y="171450"/>
                </a:lnTo>
                <a:lnTo>
                  <a:pt x="430720" y="163830"/>
                </a:lnTo>
                <a:lnTo>
                  <a:pt x="431152" y="160019"/>
                </a:lnTo>
                <a:lnTo>
                  <a:pt x="431126" y="161289"/>
                </a:lnTo>
                <a:lnTo>
                  <a:pt x="443864" y="161289"/>
                </a:lnTo>
                <a:lnTo>
                  <a:pt x="443738" y="162560"/>
                </a:lnTo>
                <a:lnTo>
                  <a:pt x="443255" y="166369"/>
                </a:lnTo>
                <a:lnTo>
                  <a:pt x="442298" y="171450"/>
                </a:lnTo>
                <a:close/>
              </a:path>
              <a:path w="444500" h="300989">
                <a:moveTo>
                  <a:pt x="15212" y="171450"/>
                </a:moveTo>
                <a:lnTo>
                  <a:pt x="14998" y="171450"/>
                </a:lnTo>
                <a:lnTo>
                  <a:pt x="14897" y="170180"/>
                </a:lnTo>
                <a:lnTo>
                  <a:pt x="15212" y="171450"/>
                </a:lnTo>
                <a:close/>
              </a:path>
              <a:path w="444500" h="300989">
                <a:moveTo>
                  <a:pt x="392658" y="247650"/>
                </a:moveTo>
                <a:lnTo>
                  <a:pt x="371195" y="247650"/>
                </a:lnTo>
                <a:lnTo>
                  <a:pt x="378333" y="242569"/>
                </a:lnTo>
                <a:lnTo>
                  <a:pt x="378104" y="242569"/>
                </a:lnTo>
                <a:lnTo>
                  <a:pt x="384886" y="237489"/>
                </a:lnTo>
                <a:lnTo>
                  <a:pt x="384657" y="237489"/>
                </a:lnTo>
                <a:lnTo>
                  <a:pt x="391058" y="232410"/>
                </a:lnTo>
                <a:lnTo>
                  <a:pt x="390829" y="232410"/>
                </a:lnTo>
                <a:lnTo>
                  <a:pt x="396849" y="226060"/>
                </a:lnTo>
                <a:lnTo>
                  <a:pt x="396621" y="226060"/>
                </a:lnTo>
                <a:lnTo>
                  <a:pt x="402234" y="220980"/>
                </a:lnTo>
                <a:lnTo>
                  <a:pt x="402005" y="220980"/>
                </a:lnTo>
                <a:lnTo>
                  <a:pt x="407200" y="214630"/>
                </a:lnTo>
                <a:lnTo>
                  <a:pt x="406971" y="214630"/>
                </a:lnTo>
                <a:lnTo>
                  <a:pt x="411746" y="209550"/>
                </a:lnTo>
                <a:lnTo>
                  <a:pt x="411518" y="209550"/>
                </a:lnTo>
                <a:lnTo>
                  <a:pt x="415848" y="203200"/>
                </a:lnTo>
                <a:lnTo>
                  <a:pt x="415632" y="203200"/>
                </a:lnTo>
                <a:lnTo>
                  <a:pt x="419506" y="196850"/>
                </a:lnTo>
                <a:lnTo>
                  <a:pt x="419303" y="196850"/>
                </a:lnTo>
                <a:lnTo>
                  <a:pt x="422694" y="190500"/>
                </a:lnTo>
                <a:lnTo>
                  <a:pt x="422516" y="190500"/>
                </a:lnTo>
                <a:lnTo>
                  <a:pt x="425424" y="184150"/>
                </a:lnTo>
                <a:lnTo>
                  <a:pt x="425272" y="184150"/>
                </a:lnTo>
                <a:lnTo>
                  <a:pt x="427685" y="177800"/>
                </a:lnTo>
                <a:lnTo>
                  <a:pt x="427545" y="177800"/>
                </a:lnTo>
                <a:lnTo>
                  <a:pt x="429450" y="170180"/>
                </a:lnTo>
                <a:lnTo>
                  <a:pt x="429348" y="171450"/>
                </a:lnTo>
                <a:lnTo>
                  <a:pt x="442298" y="171450"/>
                </a:lnTo>
                <a:lnTo>
                  <a:pt x="441820" y="173989"/>
                </a:lnTo>
                <a:lnTo>
                  <a:pt x="439826" y="180339"/>
                </a:lnTo>
                <a:lnTo>
                  <a:pt x="437121" y="189230"/>
                </a:lnTo>
                <a:lnTo>
                  <a:pt x="434213" y="195580"/>
                </a:lnTo>
                <a:lnTo>
                  <a:pt x="430644" y="203200"/>
                </a:lnTo>
                <a:lnTo>
                  <a:pt x="426580" y="209550"/>
                </a:lnTo>
                <a:lnTo>
                  <a:pt x="421830" y="217169"/>
                </a:lnTo>
                <a:lnTo>
                  <a:pt x="416826" y="223519"/>
                </a:lnTo>
                <a:lnTo>
                  <a:pt x="411403" y="229869"/>
                </a:lnTo>
                <a:lnTo>
                  <a:pt x="405790" y="234950"/>
                </a:lnTo>
                <a:lnTo>
                  <a:pt x="399300" y="241300"/>
                </a:lnTo>
                <a:lnTo>
                  <a:pt x="392658" y="247650"/>
                </a:lnTo>
                <a:close/>
              </a:path>
              <a:path w="444500" h="300989">
                <a:moveTo>
                  <a:pt x="74796" y="247650"/>
                </a:moveTo>
                <a:lnTo>
                  <a:pt x="73151" y="247650"/>
                </a:lnTo>
                <a:lnTo>
                  <a:pt x="72923" y="246380"/>
                </a:lnTo>
                <a:lnTo>
                  <a:pt x="74796" y="247650"/>
                </a:lnTo>
                <a:close/>
              </a:path>
              <a:path w="444500" h="300989">
                <a:moveTo>
                  <a:pt x="323964" y="284480"/>
                </a:moveTo>
                <a:lnTo>
                  <a:pt x="274942" y="284480"/>
                </a:lnTo>
                <a:lnTo>
                  <a:pt x="285191" y="281939"/>
                </a:lnTo>
                <a:lnTo>
                  <a:pt x="284975" y="281939"/>
                </a:lnTo>
                <a:lnTo>
                  <a:pt x="295008" y="279400"/>
                </a:lnTo>
                <a:lnTo>
                  <a:pt x="294792" y="279400"/>
                </a:lnTo>
                <a:lnTo>
                  <a:pt x="304596" y="276860"/>
                </a:lnTo>
                <a:lnTo>
                  <a:pt x="304368" y="276860"/>
                </a:lnTo>
                <a:lnTo>
                  <a:pt x="313931" y="274319"/>
                </a:lnTo>
                <a:lnTo>
                  <a:pt x="313715" y="274319"/>
                </a:lnTo>
                <a:lnTo>
                  <a:pt x="323024" y="271780"/>
                </a:lnTo>
                <a:lnTo>
                  <a:pt x="322808" y="271780"/>
                </a:lnTo>
                <a:lnTo>
                  <a:pt x="331850" y="267969"/>
                </a:lnTo>
                <a:lnTo>
                  <a:pt x="331622" y="267969"/>
                </a:lnTo>
                <a:lnTo>
                  <a:pt x="340385" y="264160"/>
                </a:lnTo>
                <a:lnTo>
                  <a:pt x="340156" y="264160"/>
                </a:lnTo>
                <a:lnTo>
                  <a:pt x="348614" y="260350"/>
                </a:lnTo>
                <a:lnTo>
                  <a:pt x="348399" y="260350"/>
                </a:lnTo>
                <a:lnTo>
                  <a:pt x="356552" y="256539"/>
                </a:lnTo>
                <a:lnTo>
                  <a:pt x="356323" y="256539"/>
                </a:lnTo>
                <a:lnTo>
                  <a:pt x="364159" y="251460"/>
                </a:lnTo>
                <a:lnTo>
                  <a:pt x="363918" y="251460"/>
                </a:lnTo>
                <a:lnTo>
                  <a:pt x="371424" y="246380"/>
                </a:lnTo>
                <a:lnTo>
                  <a:pt x="371195" y="247650"/>
                </a:lnTo>
                <a:lnTo>
                  <a:pt x="392658" y="247650"/>
                </a:lnTo>
                <a:lnTo>
                  <a:pt x="385635" y="252730"/>
                </a:lnTo>
                <a:lnTo>
                  <a:pt x="378256" y="257810"/>
                </a:lnTo>
                <a:lnTo>
                  <a:pt x="370522" y="262889"/>
                </a:lnTo>
                <a:lnTo>
                  <a:pt x="362458" y="266700"/>
                </a:lnTo>
                <a:lnTo>
                  <a:pt x="354075" y="271780"/>
                </a:lnTo>
                <a:lnTo>
                  <a:pt x="345389" y="275589"/>
                </a:lnTo>
                <a:lnTo>
                  <a:pt x="336410" y="279400"/>
                </a:lnTo>
                <a:lnTo>
                  <a:pt x="327139" y="283210"/>
                </a:lnTo>
                <a:lnTo>
                  <a:pt x="323964" y="284480"/>
                </a:lnTo>
                <a:close/>
              </a:path>
              <a:path w="444500" h="300989">
                <a:moveTo>
                  <a:pt x="174409" y="284480"/>
                </a:moveTo>
                <a:lnTo>
                  <a:pt x="169405" y="284480"/>
                </a:lnTo>
                <a:lnTo>
                  <a:pt x="169189" y="283210"/>
                </a:lnTo>
                <a:lnTo>
                  <a:pt x="174409" y="284480"/>
                </a:lnTo>
                <a:close/>
              </a:path>
              <a:path w="444500" h="300989">
                <a:moveTo>
                  <a:pt x="312724" y="288289"/>
                </a:moveTo>
                <a:lnTo>
                  <a:pt x="232956" y="288289"/>
                </a:lnTo>
                <a:lnTo>
                  <a:pt x="243928" y="287019"/>
                </a:lnTo>
                <a:lnTo>
                  <a:pt x="254304" y="287019"/>
                </a:lnTo>
                <a:lnTo>
                  <a:pt x="264934" y="285750"/>
                </a:lnTo>
                <a:lnTo>
                  <a:pt x="264718" y="285750"/>
                </a:lnTo>
                <a:lnTo>
                  <a:pt x="275158" y="283210"/>
                </a:lnTo>
                <a:lnTo>
                  <a:pt x="274942" y="284480"/>
                </a:lnTo>
                <a:lnTo>
                  <a:pt x="323964" y="284480"/>
                </a:lnTo>
                <a:lnTo>
                  <a:pt x="317614" y="287019"/>
                </a:lnTo>
                <a:lnTo>
                  <a:pt x="312724" y="288289"/>
                </a:lnTo>
                <a:close/>
              </a:path>
              <a:path w="444500" h="300989">
                <a:moveTo>
                  <a:pt x="233603" y="300989"/>
                </a:moveTo>
                <a:lnTo>
                  <a:pt x="210959" y="300989"/>
                </a:lnTo>
                <a:lnTo>
                  <a:pt x="199555" y="299719"/>
                </a:lnTo>
                <a:lnTo>
                  <a:pt x="244563" y="299719"/>
                </a:lnTo>
                <a:lnTo>
                  <a:pt x="233603" y="300989"/>
                </a:lnTo>
                <a:close/>
              </a:path>
            </a:pathLst>
          </a:custGeom>
          <a:solidFill>
            <a:srgbClr val="006C39"/>
          </a:solidFill>
        </p:spPr>
        <p:txBody>
          <a:bodyPr wrap="square" lIns="0" tIns="0" rIns="0" bIns="0" rtlCol="0"/>
          <a:lstStyle/>
          <a:p>
            <a:endParaRPr/>
          </a:p>
        </p:txBody>
      </p:sp>
      <p:sp>
        <p:nvSpPr>
          <p:cNvPr id="63" name="object 63"/>
          <p:cNvSpPr txBox="1"/>
          <p:nvPr/>
        </p:nvSpPr>
        <p:spPr>
          <a:xfrm>
            <a:off x="4284853" y="2748838"/>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64" name="object 64"/>
          <p:cNvSpPr/>
          <p:nvPr/>
        </p:nvSpPr>
        <p:spPr>
          <a:xfrm>
            <a:off x="5766295" y="3915790"/>
            <a:ext cx="444500" cy="300990"/>
          </a:xfrm>
          <a:custGeom>
            <a:avLst/>
            <a:gdLst/>
            <a:ahLst/>
            <a:cxnLst/>
            <a:rect l="l" t="t" r="r" b="b"/>
            <a:pathLst>
              <a:path w="444500" h="300989">
                <a:moveTo>
                  <a:pt x="255587" y="299720"/>
                </a:moveTo>
                <a:lnTo>
                  <a:pt x="188544" y="299720"/>
                </a:lnTo>
                <a:lnTo>
                  <a:pt x="177698" y="298450"/>
                </a:lnTo>
                <a:lnTo>
                  <a:pt x="167030" y="295910"/>
                </a:lnTo>
                <a:lnTo>
                  <a:pt x="156565" y="294639"/>
                </a:lnTo>
                <a:lnTo>
                  <a:pt x="116979" y="283210"/>
                </a:lnTo>
                <a:lnTo>
                  <a:pt x="81661" y="266700"/>
                </a:lnTo>
                <a:lnTo>
                  <a:pt x="73596" y="262889"/>
                </a:lnTo>
                <a:lnTo>
                  <a:pt x="58483" y="252729"/>
                </a:lnTo>
                <a:lnTo>
                  <a:pt x="51460" y="246379"/>
                </a:lnTo>
                <a:lnTo>
                  <a:pt x="44818" y="241300"/>
                </a:lnTo>
                <a:lnTo>
                  <a:pt x="38557" y="234950"/>
                </a:lnTo>
                <a:lnTo>
                  <a:pt x="32715" y="228600"/>
                </a:lnTo>
                <a:lnTo>
                  <a:pt x="27292" y="223520"/>
                </a:lnTo>
                <a:lnTo>
                  <a:pt x="22517" y="217170"/>
                </a:lnTo>
                <a:lnTo>
                  <a:pt x="17767" y="209550"/>
                </a:lnTo>
                <a:lnTo>
                  <a:pt x="13703" y="203200"/>
                </a:lnTo>
                <a:lnTo>
                  <a:pt x="2527" y="172720"/>
                </a:lnTo>
                <a:lnTo>
                  <a:pt x="1092" y="166370"/>
                </a:lnTo>
                <a:lnTo>
                  <a:pt x="215" y="157479"/>
                </a:lnTo>
                <a:lnTo>
                  <a:pt x="0" y="153670"/>
                </a:lnTo>
                <a:lnTo>
                  <a:pt x="0" y="146050"/>
                </a:lnTo>
                <a:lnTo>
                  <a:pt x="228" y="142239"/>
                </a:lnTo>
                <a:lnTo>
                  <a:pt x="609" y="138429"/>
                </a:lnTo>
                <a:lnTo>
                  <a:pt x="1092" y="134620"/>
                </a:lnTo>
                <a:lnTo>
                  <a:pt x="2527" y="127000"/>
                </a:lnTo>
                <a:lnTo>
                  <a:pt x="4521" y="119379"/>
                </a:lnTo>
                <a:lnTo>
                  <a:pt x="22517" y="83820"/>
                </a:lnTo>
                <a:lnTo>
                  <a:pt x="51688" y="53339"/>
                </a:lnTo>
                <a:lnTo>
                  <a:pt x="90271" y="29210"/>
                </a:lnTo>
                <a:lnTo>
                  <a:pt x="98958" y="24129"/>
                </a:lnTo>
                <a:lnTo>
                  <a:pt x="107937" y="20320"/>
                </a:lnTo>
                <a:lnTo>
                  <a:pt x="117208" y="17779"/>
                </a:lnTo>
                <a:lnTo>
                  <a:pt x="126733" y="13970"/>
                </a:lnTo>
                <a:lnTo>
                  <a:pt x="136512" y="11429"/>
                </a:lnTo>
                <a:lnTo>
                  <a:pt x="167246" y="3810"/>
                </a:lnTo>
                <a:lnTo>
                  <a:pt x="199771" y="0"/>
                </a:lnTo>
                <a:lnTo>
                  <a:pt x="244792" y="0"/>
                </a:lnTo>
                <a:lnTo>
                  <a:pt x="277317" y="3810"/>
                </a:lnTo>
                <a:lnTo>
                  <a:pt x="308051" y="11429"/>
                </a:lnTo>
                <a:lnTo>
                  <a:pt x="312940" y="12700"/>
                </a:lnTo>
                <a:lnTo>
                  <a:pt x="200634" y="12700"/>
                </a:lnTo>
                <a:lnTo>
                  <a:pt x="189826" y="13970"/>
                </a:lnTo>
                <a:lnTo>
                  <a:pt x="190042" y="13970"/>
                </a:lnTo>
                <a:lnTo>
                  <a:pt x="179412" y="15239"/>
                </a:lnTo>
                <a:lnTo>
                  <a:pt x="179628" y="15239"/>
                </a:lnTo>
                <a:lnTo>
                  <a:pt x="169189" y="16510"/>
                </a:lnTo>
                <a:lnTo>
                  <a:pt x="169405" y="16510"/>
                </a:lnTo>
                <a:lnTo>
                  <a:pt x="164280" y="17779"/>
                </a:lnTo>
                <a:lnTo>
                  <a:pt x="159372" y="17779"/>
                </a:lnTo>
                <a:lnTo>
                  <a:pt x="149339" y="20320"/>
                </a:lnTo>
                <a:lnTo>
                  <a:pt x="149555" y="20320"/>
                </a:lnTo>
                <a:lnTo>
                  <a:pt x="139750" y="22860"/>
                </a:lnTo>
                <a:lnTo>
                  <a:pt x="139979" y="22860"/>
                </a:lnTo>
                <a:lnTo>
                  <a:pt x="133604" y="25400"/>
                </a:lnTo>
                <a:lnTo>
                  <a:pt x="130632" y="25400"/>
                </a:lnTo>
                <a:lnTo>
                  <a:pt x="121323" y="29210"/>
                </a:lnTo>
                <a:lnTo>
                  <a:pt x="121538" y="29210"/>
                </a:lnTo>
                <a:lnTo>
                  <a:pt x="112496" y="33020"/>
                </a:lnTo>
                <a:lnTo>
                  <a:pt x="112725" y="33020"/>
                </a:lnTo>
                <a:lnTo>
                  <a:pt x="106883" y="35560"/>
                </a:lnTo>
                <a:lnTo>
                  <a:pt x="104190" y="35560"/>
                </a:lnTo>
                <a:lnTo>
                  <a:pt x="95719" y="40639"/>
                </a:lnTo>
                <a:lnTo>
                  <a:pt x="95948" y="40639"/>
                </a:lnTo>
                <a:lnTo>
                  <a:pt x="87795" y="44450"/>
                </a:lnTo>
                <a:lnTo>
                  <a:pt x="88023" y="44450"/>
                </a:lnTo>
                <a:lnTo>
                  <a:pt x="80187" y="48260"/>
                </a:lnTo>
                <a:lnTo>
                  <a:pt x="80416" y="48260"/>
                </a:lnTo>
                <a:lnTo>
                  <a:pt x="72923" y="53339"/>
                </a:lnTo>
                <a:lnTo>
                  <a:pt x="73151" y="53339"/>
                </a:lnTo>
                <a:lnTo>
                  <a:pt x="66014" y="58420"/>
                </a:lnTo>
                <a:lnTo>
                  <a:pt x="66243" y="58420"/>
                </a:lnTo>
                <a:lnTo>
                  <a:pt x="59461" y="63500"/>
                </a:lnTo>
                <a:lnTo>
                  <a:pt x="59689" y="63500"/>
                </a:lnTo>
                <a:lnTo>
                  <a:pt x="53276" y="68579"/>
                </a:lnTo>
                <a:lnTo>
                  <a:pt x="53517" y="68579"/>
                </a:lnTo>
                <a:lnTo>
                  <a:pt x="47498" y="73660"/>
                </a:lnTo>
                <a:lnTo>
                  <a:pt x="47726" y="73660"/>
                </a:lnTo>
                <a:lnTo>
                  <a:pt x="42113" y="80010"/>
                </a:lnTo>
                <a:lnTo>
                  <a:pt x="42341" y="80010"/>
                </a:lnTo>
                <a:lnTo>
                  <a:pt x="37147" y="85089"/>
                </a:lnTo>
                <a:lnTo>
                  <a:pt x="37376" y="85089"/>
                </a:lnTo>
                <a:lnTo>
                  <a:pt x="32600" y="91439"/>
                </a:lnTo>
                <a:lnTo>
                  <a:pt x="32829" y="91439"/>
                </a:lnTo>
                <a:lnTo>
                  <a:pt x="28498" y="97789"/>
                </a:lnTo>
                <a:lnTo>
                  <a:pt x="28714" y="97789"/>
                </a:lnTo>
                <a:lnTo>
                  <a:pt x="25615" y="102870"/>
                </a:lnTo>
                <a:lnTo>
                  <a:pt x="25044" y="102870"/>
                </a:lnTo>
                <a:lnTo>
                  <a:pt x="22208" y="109220"/>
                </a:lnTo>
                <a:lnTo>
                  <a:pt x="21831" y="109220"/>
                </a:lnTo>
                <a:lnTo>
                  <a:pt x="19397" y="115570"/>
                </a:lnTo>
                <a:lnTo>
                  <a:pt x="19075" y="115570"/>
                </a:lnTo>
                <a:lnTo>
                  <a:pt x="16662" y="123189"/>
                </a:lnTo>
                <a:lnTo>
                  <a:pt x="14897" y="129539"/>
                </a:lnTo>
                <a:lnTo>
                  <a:pt x="13855" y="135889"/>
                </a:lnTo>
                <a:lnTo>
                  <a:pt x="13677" y="135889"/>
                </a:lnTo>
                <a:lnTo>
                  <a:pt x="13195" y="139700"/>
                </a:lnTo>
                <a:lnTo>
                  <a:pt x="12890" y="143510"/>
                </a:lnTo>
                <a:lnTo>
                  <a:pt x="12755" y="146050"/>
                </a:lnTo>
                <a:lnTo>
                  <a:pt x="12687" y="153670"/>
                </a:lnTo>
                <a:lnTo>
                  <a:pt x="12890" y="157479"/>
                </a:lnTo>
                <a:lnTo>
                  <a:pt x="13220" y="161289"/>
                </a:lnTo>
                <a:lnTo>
                  <a:pt x="13356" y="161289"/>
                </a:lnTo>
                <a:lnTo>
                  <a:pt x="13677" y="163829"/>
                </a:lnTo>
                <a:lnTo>
                  <a:pt x="14998" y="171450"/>
                </a:lnTo>
                <a:lnTo>
                  <a:pt x="15212" y="171450"/>
                </a:lnTo>
                <a:lnTo>
                  <a:pt x="16789" y="177800"/>
                </a:lnTo>
                <a:lnTo>
                  <a:pt x="19075" y="184150"/>
                </a:lnTo>
                <a:lnTo>
                  <a:pt x="18910" y="184150"/>
                </a:lnTo>
                <a:lnTo>
                  <a:pt x="21831" y="190500"/>
                </a:lnTo>
                <a:lnTo>
                  <a:pt x="21640" y="190500"/>
                </a:lnTo>
                <a:lnTo>
                  <a:pt x="25044" y="196850"/>
                </a:lnTo>
                <a:lnTo>
                  <a:pt x="24841" y="196850"/>
                </a:lnTo>
                <a:lnTo>
                  <a:pt x="28714" y="203200"/>
                </a:lnTo>
                <a:lnTo>
                  <a:pt x="28498" y="203200"/>
                </a:lnTo>
                <a:lnTo>
                  <a:pt x="32829" y="209550"/>
                </a:lnTo>
                <a:lnTo>
                  <a:pt x="32600" y="209550"/>
                </a:lnTo>
                <a:lnTo>
                  <a:pt x="37376" y="214629"/>
                </a:lnTo>
                <a:lnTo>
                  <a:pt x="37147" y="214629"/>
                </a:lnTo>
                <a:lnTo>
                  <a:pt x="42341" y="220979"/>
                </a:lnTo>
                <a:lnTo>
                  <a:pt x="42113" y="220979"/>
                </a:lnTo>
                <a:lnTo>
                  <a:pt x="47726" y="226060"/>
                </a:lnTo>
                <a:lnTo>
                  <a:pt x="47498" y="226060"/>
                </a:lnTo>
                <a:lnTo>
                  <a:pt x="53517" y="232410"/>
                </a:lnTo>
                <a:lnTo>
                  <a:pt x="53276" y="232410"/>
                </a:lnTo>
                <a:lnTo>
                  <a:pt x="59689" y="237489"/>
                </a:lnTo>
                <a:lnTo>
                  <a:pt x="59461" y="237489"/>
                </a:lnTo>
                <a:lnTo>
                  <a:pt x="66243" y="242570"/>
                </a:lnTo>
                <a:lnTo>
                  <a:pt x="66014" y="242570"/>
                </a:lnTo>
                <a:lnTo>
                  <a:pt x="73151" y="247650"/>
                </a:lnTo>
                <a:lnTo>
                  <a:pt x="74796" y="247650"/>
                </a:lnTo>
                <a:lnTo>
                  <a:pt x="80416" y="251460"/>
                </a:lnTo>
                <a:lnTo>
                  <a:pt x="80187" y="251460"/>
                </a:lnTo>
                <a:lnTo>
                  <a:pt x="88023" y="256539"/>
                </a:lnTo>
                <a:lnTo>
                  <a:pt x="87795" y="256539"/>
                </a:lnTo>
                <a:lnTo>
                  <a:pt x="95948" y="260350"/>
                </a:lnTo>
                <a:lnTo>
                  <a:pt x="95719" y="260350"/>
                </a:lnTo>
                <a:lnTo>
                  <a:pt x="104190" y="264160"/>
                </a:lnTo>
                <a:lnTo>
                  <a:pt x="103962" y="264160"/>
                </a:lnTo>
                <a:lnTo>
                  <a:pt x="112725" y="267970"/>
                </a:lnTo>
                <a:lnTo>
                  <a:pt x="112496" y="267970"/>
                </a:lnTo>
                <a:lnTo>
                  <a:pt x="121538" y="271779"/>
                </a:lnTo>
                <a:lnTo>
                  <a:pt x="121323" y="271779"/>
                </a:lnTo>
                <a:lnTo>
                  <a:pt x="130632" y="274320"/>
                </a:lnTo>
                <a:lnTo>
                  <a:pt x="130416" y="274320"/>
                </a:lnTo>
                <a:lnTo>
                  <a:pt x="139979" y="276860"/>
                </a:lnTo>
                <a:lnTo>
                  <a:pt x="139750" y="276860"/>
                </a:lnTo>
                <a:lnTo>
                  <a:pt x="149555" y="279400"/>
                </a:lnTo>
                <a:lnTo>
                  <a:pt x="149339" y="279400"/>
                </a:lnTo>
                <a:lnTo>
                  <a:pt x="159372" y="281939"/>
                </a:lnTo>
                <a:lnTo>
                  <a:pt x="159156" y="281939"/>
                </a:lnTo>
                <a:lnTo>
                  <a:pt x="169405" y="284479"/>
                </a:lnTo>
                <a:lnTo>
                  <a:pt x="174409" y="284479"/>
                </a:lnTo>
                <a:lnTo>
                  <a:pt x="179628" y="285750"/>
                </a:lnTo>
                <a:lnTo>
                  <a:pt x="179412" y="285750"/>
                </a:lnTo>
                <a:lnTo>
                  <a:pt x="190042" y="287020"/>
                </a:lnTo>
                <a:lnTo>
                  <a:pt x="200418" y="287020"/>
                </a:lnTo>
                <a:lnTo>
                  <a:pt x="211391" y="288289"/>
                </a:lnTo>
                <a:lnTo>
                  <a:pt x="312724" y="288289"/>
                </a:lnTo>
                <a:lnTo>
                  <a:pt x="287566" y="294639"/>
                </a:lnTo>
                <a:lnTo>
                  <a:pt x="277101" y="295910"/>
                </a:lnTo>
                <a:lnTo>
                  <a:pt x="266433" y="298450"/>
                </a:lnTo>
                <a:lnTo>
                  <a:pt x="255587" y="299720"/>
                </a:lnTo>
                <a:close/>
              </a:path>
              <a:path w="444500" h="300989">
                <a:moveTo>
                  <a:pt x="285191" y="19050"/>
                </a:moveTo>
                <a:lnTo>
                  <a:pt x="274942" y="16510"/>
                </a:lnTo>
                <a:lnTo>
                  <a:pt x="275158" y="16510"/>
                </a:lnTo>
                <a:lnTo>
                  <a:pt x="264718" y="15239"/>
                </a:lnTo>
                <a:lnTo>
                  <a:pt x="264934" y="15239"/>
                </a:lnTo>
                <a:lnTo>
                  <a:pt x="254304" y="13970"/>
                </a:lnTo>
                <a:lnTo>
                  <a:pt x="254520" y="13970"/>
                </a:lnTo>
                <a:lnTo>
                  <a:pt x="243712" y="12700"/>
                </a:lnTo>
                <a:lnTo>
                  <a:pt x="312940" y="12700"/>
                </a:lnTo>
                <a:lnTo>
                  <a:pt x="317830" y="13970"/>
                </a:lnTo>
                <a:lnTo>
                  <a:pt x="327367" y="17779"/>
                </a:lnTo>
                <a:lnTo>
                  <a:pt x="284975" y="17779"/>
                </a:lnTo>
                <a:lnTo>
                  <a:pt x="285191" y="19050"/>
                </a:lnTo>
                <a:close/>
              </a:path>
              <a:path w="444500" h="300989">
                <a:moveTo>
                  <a:pt x="159156" y="19050"/>
                </a:moveTo>
                <a:lnTo>
                  <a:pt x="159372" y="17779"/>
                </a:lnTo>
                <a:lnTo>
                  <a:pt x="164280" y="17779"/>
                </a:lnTo>
                <a:lnTo>
                  <a:pt x="159156" y="19050"/>
                </a:lnTo>
                <a:close/>
              </a:path>
              <a:path w="444500" h="300989">
                <a:moveTo>
                  <a:pt x="313931" y="26670"/>
                </a:moveTo>
                <a:lnTo>
                  <a:pt x="304368" y="22860"/>
                </a:lnTo>
                <a:lnTo>
                  <a:pt x="304596" y="22860"/>
                </a:lnTo>
                <a:lnTo>
                  <a:pt x="294792" y="20320"/>
                </a:lnTo>
                <a:lnTo>
                  <a:pt x="295008" y="20320"/>
                </a:lnTo>
                <a:lnTo>
                  <a:pt x="284975" y="17779"/>
                </a:lnTo>
                <a:lnTo>
                  <a:pt x="327367" y="17779"/>
                </a:lnTo>
                <a:lnTo>
                  <a:pt x="336626" y="20320"/>
                </a:lnTo>
                <a:lnTo>
                  <a:pt x="345617" y="24129"/>
                </a:lnTo>
                <a:lnTo>
                  <a:pt x="347789" y="25400"/>
                </a:lnTo>
                <a:lnTo>
                  <a:pt x="313715" y="25400"/>
                </a:lnTo>
                <a:lnTo>
                  <a:pt x="313931" y="26670"/>
                </a:lnTo>
                <a:close/>
              </a:path>
              <a:path w="444500" h="300989">
                <a:moveTo>
                  <a:pt x="130416" y="26670"/>
                </a:moveTo>
                <a:lnTo>
                  <a:pt x="130632" y="25400"/>
                </a:lnTo>
                <a:lnTo>
                  <a:pt x="133604" y="25400"/>
                </a:lnTo>
                <a:lnTo>
                  <a:pt x="130416" y="26670"/>
                </a:lnTo>
                <a:close/>
              </a:path>
              <a:path w="444500" h="300989">
                <a:moveTo>
                  <a:pt x="340385" y="36829"/>
                </a:moveTo>
                <a:lnTo>
                  <a:pt x="331622" y="33020"/>
                </a:lnTo>
                <a:lnTo>
                  <a:pt x="331850" y="33020"/>
                </a:lnTo>
                <a:lnTo>
                  <a:pt x="322808" y="29210"/>
                </a:lnTo>
                <a:lnTo>
                  <a:pt x="323024" y="29210"/>
                </a:lnTo>
                <a:lnTo>
                  <a:pt x="313715" y="25400"/>
                </a:lnTo>
                <a:lnTo>
                  <a:pt x="347789" y="25400"/>
                </a:lnTo>
                <a:lnTo>
                  <a:pt x="354304" y="29210"/>
                </a:lnTo>
                <a:lnTo>
                  <a:pt x="362686" y="33020"/>
                </a:lnTo>
                <a:lnTo>
                  <a:pt x="366718" y="35560"/>
                </a:lnTo>
                <a:lnTo>
                  <a:pt x="340156" y="35560"/>
                </a:lnTo>
                <a:lnTo>
                  <a:pt x="340385" y="36829"/>
                </a:lnTo>
                <a:close/>
              </a:path>
              <a:path w="444500" h="300989">
                <a:moveTo>
                  <a:pt x="103962" y="36829"/>
                </a:moveTo>
                <a:lnTo>
                  <a:pt x="104190" y="35560"/>
                </a:lnTo>
                <a:lnTo>
                  <a:pt x="106883" y="35560"/>
                </a:lnTo>
                <a:lnTo>
                  <a:pt x="103962" y="36829"/>
                </a:lnTo>
                <a:close/>
              </a:path>
              <a:path w="444500" h="300989">
                <a:moveTo>
                  <a:pt x="419506" y="104139"/>
                </a:moveTo>
                <a:lnTo>
                  <a:pt x="415632" y="97789"/>
                </a:lnTo>
                <a:lnTo>
                  <a:pt x="415848" y="97789"/>
                </a:lnTo>
                <a:lnTo>
                  <a:pt x="411518" y="91439"/>
                </a:lnTo>
                <a:lnTo>
                  <a:pt x="411746" y="91439"/>
                </a:lnTo>
                <a:lnTo>
                  <a:pt x="406971" y="85089"/>
                </a:lnTo>
                <a:lnTo>
                  <a:pt x="407200" y="85089"/>
                </a:lnTo>
                <a:lnTo>
                  <a:pt x="402005" y="80010"/>
                </a:lnTo>
                <a:lnTo>
                  <a:pt x="402234" y="80010"/>
                </a:lnTo>
                <a:lnTo>
                  <a:pt x="396621" y="73660"/>
                </a:lnTo>
                <a:lnTo>
                  <a:pt x="396849" y="73660"/>
                </a:lnTo>
                <a:lnTo>
                  <a:pt x="390829" y="68579"/>
                </a:lnTo>
                <a:lnTo>
                  <a:pt x="391071" y="68579"/>
                </a:lnTo>
                <a:lnTo>
                  <a:pt x="384657" y="63500"/>
                </a:lnTo>
                <a:lnTo>
                  <a:pt x="384886" y="63500"/>
                </a:lnTo>
                <a:lnTo>
                  <a:pt x="378104" y="58420"/>
                </a:lnTo>
                <a:lnTo>
                  <a:pt x="378333" y="58420"/>
                </a:lnTo>
                <a:lnTo>
                  <a:pt x="371195" y="53339"/>
                </a:lnTo>
                <a:lnTo>
                  <a:pt x="371424" y="53339"/>
                </a:lnTo>
                <a:lnTo>
                  <a:pt x="363918" y="48260"/>
                </a:lnTo>
                <a:lnTo>
                  <a:pt x="364159" y="48260"/>
                </a:lnTo>
                <a:lnTo>
                  <a:pt x="356323" y="44450"/>
                </a:lnTo>
                <a:lnTo>
                  <a:pt x="356552" y="44450"/>
                </a:lnTo>
                <a:lnTo>
                  <a:pt x="348399" y="40639"/>
                </a:lnTo>
                <a:lnTo>
                  <a:pt x="348627" y="40639"/>
                </a:lnTo>
                <a:lnTo>
                  <a:pt x="340156" y="35560"/>
                </a:lnTo>
                <a:lnTo>
                  <a:pt x="366718" y="35560"/>
                </a:lnTo>
                <a:lnTo>
                  <a:pt x="399300" y="58420"/>
                </a:lnTo>
                <a:lnTo>
                  <a:pt x="426580" y="90170"/>
                </a:lnTo>
                <a:lnTo>
                  <a:pt x="433357" y="102870"/>
                </a:lnTo>
                <a:lnTo>
                  <a:pt x="419303" y="102870"/>
                </a:lnTo>
                <a:lnTo>
                  <a:pt x="419506" y="104139"/>
                </a:lnTo>
                <a:close/>
              </a:path>
              <a:path w="444500" h="300989">
                <a:moveTo>
                  <a:pt x="24841" y="104139"/>
                </a:moveTo>
                <a:lnTo>
                  <a:pt x="25044" y="102870"/>
                </a:lnTo>
                <a:lnTo>
                  <a:pt x="25615" y="102870"/>
                </a:lnTo>
                <a:lnTo>
                  <a:pt x="24841" y="104139"/>
                </a:lnTo>
                <a:close/>
              </a:path>
              <a:path w="444500" h="300989">
                <a:moveTo>
                  <a:pt x="422706" y="110489"/>
                </a:moveTo>
                <a:lnTo>
                  <a:pt x="419303" y="102870"/>
                </a:lnTo>
                <a:lnTo>
                  <a:pt x="433357" y="102870"/>
                </a:lnTo>
                <a:lnTo>
                  <a:pt x="434035" y="104139"/>
                </a:lnTo>
                <a:lnTo>
                  <a:pt x="436092" y="109220"/>
                </a:lnTo>
                <a:lnTo>
                  <a:pt x="422516" y="109220"/>
                </a:lnTo>
                <a:lnTo>
                  <a:pt x="422706" y="110489"/>
                </a:lnTo>
                <a:close/>
              </a:path>
              <a:path w="444500" h="300989">
                <a:moveTo>
                  <a:pt x="21640" y="110489"/>
                </a:moveTo>
                <a:lnTo>
                  <a:pt x="21831" y="109220"/>
                </a:lnTo>
                <a:lnTo>
                  <a:pt x="22208" y="109220"/>
                </a:lnTo>
                <a:lnTo>
                  <a:pt x="21640" y="110489"/>
                </a:lnTo>
                <a:close/>
              </a:path>
              <a:path w="444500" h="300989">
                <a:moveTo>
                  <a:pt x="425437" y="116839"/>
                </a:moveTo>
                <a:lnTo>
                  <a:pt x="422516" y="109220"/>
                </a:lnTo>
                <a:lnTo>
                  <a:pt x="436092" y="109220"/>
                </a:lnTo>
                <a:lnTo>
                  <a:pt x="437121" y="111760"/>
                </a:lnTo>
                <a:lnTo>
                  <a:pt x="438473" y="115570"/>
                </a:lnTo>
                <a:lnTo>
                  <a:pt x="425272" y="115570"/>
                </a:lnTo>
                <a:lnTo>
                  <a:pt x="425437" y="116839"/>
                </a:lnTo>
                <a:close/>
              </a:path>
              <a:path w="444500" h="300989">
                <a:moveTo>
                  <a:pt x="18910" y="116839"/>
                </a:moveTo>
                <a:lnTo>
                  <a:pt x="19075" y="115570"/>
                </a:lnTo>
                <a:lnTo>
                  <a:pt x="19397" y="115570"/>
                </a:lnTo>
                <a:lnTo>
                  <a:pt x="18910" y="116839"/>
                </a:lnTo>
                <a:close/>
              </a:path>
              <a:path w="444500" h="300989">
                <a:moveTo>
                  <a:pt x="430720" y="137160"/>
                </a:moveTo>
                <a:lnTo>
                  <a:pt x="429348" y="129539"/>
                </a:lnTo>
                <a:lnTo>
                  <a:pt x="427558" y="123189"/>
                </a:lnTo>
                <a:lnTo>
                  <a:pt x="425272" y="115570"/>
                </a:lnTo>
                <a:lnTo>
                  <a:pt x="438473" y="115570"/>
                </a:lnTo>
                <a:lnTo>
                  <a:pt x="439826" y="119379"/>
                </a:lnTo>
                <a:lnTo>
                  <a:pt x="441718" y="127000"/>
                </a:lnTo>
                <a:lnTo>
                  <a:pt x="443255" y="134620"/>
                </a:lnTo>
                <a:lnTo>
                  <a:pt x="443424" y="135889"/>
                </a:lnTo>
                <a:lnTo>
                  <a:pt x="430669" y="135889"/>
                </a:lnTo>
                <a:lnTo>
                  <a:pt x="430720" y="137160"/>
                </a:lnTo>
                <a:close/>
              </a:path>
              <a:path w="444500" h="300989">
                <a:moveTo>
                  <a:pt x="13627" y="137160"/>
                </a:moveTo>
                <a:lnTo>
                  <a:pt x="13677" y="135889"/>
                </a:lnTo>
                <a:lnTo>
                  <a:pt x="13855" y="135889"/>
                </a:lnTo>
                <a:lnTo>
                  <a:pt x="13627" y="137160"/>
                </a:lnTo>
                <a:close/>
              </a:path>
              <a:path w="444500" h="300989">
                <a:moveTo>
                  <a:pt x="443864" y="161289"/>
                </a:moveTo>
                <a:lnTo>
                  <a:pt x="431126" y="161289"/>
                </a:lnTo>
                <a:lnTo>
                  <a:pt x="431469" y="157479"/>
                </a:lnTo>
                <a:lnTo>
                  <a:pt x="431660" y="153670"/>
                </a:lnTo>
                <a:lnTo>
                  <a:pt x="431660" y="146050"/>
                </a:lnTo>
                <a:lnTo>
                  <a:pt x="431457" y="143510"/>
                </a:lnTo>
                <a:lnTo>
                  <a:pt x="431126" y="139700"/>
                </a:lnTo>
                <a:lnTo>
                  <a:pt x="430669" y="135889"/>
                </a:lnTo>
                <a:lnTo>
                  <a:pt x="443424" y="135889"/>
                </a:lnTo>
                <a:lnTo>
                  <a:pt x="443763" y="138429"/>
                </a:lnTo>
                <a:lnTo>
                  <a:pt x="444131" y="142239"/>
                </a:lnTo>
                <a:lnTo>
                  <a:pt x="444347" y="146050"/>
                </a:lnTo>
                <a:lnTo>
                  <a:pt x="444347" y="153670"/>
                </a:lnTo>
                <a:lnTo>
                  <a:pt x="444119" y="158750"/>
                </a:lnTo>
                <a:lnTo>
                  <a:pt x="443864" y="161289"/>
                </a:lnTo>
                <a:close/>
              </a:path>
              <a:path w="444500" h="300989">
                <a:moveTo>
                  <a:pt x="12687" y="147320"/>
                </a:moveTo>
                <a:lnTo>
                  <a:pt x="12687" y="146050"/>
                </a:lnTo>
                <a:lnTo>
                  <a:pt x="12687" y="147320"/>
                </a:lnTo>
                <a:close/>
              </a:path>
              <a:path w="444500" h="300989">
                <a:moveTo>
                  <a:pt x="431660" y="147320"/>
                </a:moveTo>
                <a:lnTo>
                  <a:pt x="431592" y="146050"/>
                </a:lnTo>
                <a:lnTo>
                  <a:pt x="431660" y="147320"/>
                </a:lnTo>
                <a:close/>
              </a:path>
              <a:path w="444500" h="300989">
                <a:moveTo>
                  <a:pt x="13356" y="161289"/>
                </a:moveTo>
                <a:lnTo>
                  <a:pt x="13220" y="161289"/>
                </a:lnTo>
                <a:lnTo>
                  <a:pt x="13195" y="160020"/>
                </a:lnTo>
                <a:lnTo>
                  <a:pt x="13356" y="161289"/>
                </a:lnTo>
                <a:close/>
              </a:path>
              <a:path w="444500" h="300989">
                <a:moveTo>
                  <a:pt x="442107" y="171450"/>
                </a:moveTo>
                <a:lnTo>
                  <a:pt x="429348" y="171450"/>
                </a:lnTo>
                <a:lnTo>
                  <a:pt x="430720" y="163829"/>
                </a:lnTo>
                <a:lnTo>
                  <a:pt x="431152" y="160020"/>
                </a:lnTo>
                <a:lnTo>
                  <a:pt x="431126" y="161289"/>
                </a:lnTo>
                <a:lnTo>
                  <a:pt x="443864" y="161289"/>
                </a:lnTo>
                <a:lnTo>
                  <a:pt x="443738" y="162560"/>
                </a:lnTo>
                <a:lnTo>
                  <a:pt x="443255" y="166370"/>
                </a:lnTo>
                <a:lnTo>
                  <a:pt x="442107" y="171450"/>
                </a:lnTo>
                <a:close/>
              </a:path>
              <a:path w="444500" h="300989">
                <a:moveTo>
                  <a:pt x="15212" y="171450"/>
                </a:moveTo>
                <a:lnTo>
                  <a:pt x="14998" y="171450"/>
                </a:lnTo>
                <a:lnTo>
                  <a:pt x="14897" y="170179"/>
                </a:lnTo>
                <a:lnTo>
                  <a:pt x="15212" y="171450"/>
                </a:lnTo>
                <a:close/>
              </a:path>
              <a:path w="444500" h="300989">
                <a:moveTo>
                  <a:pt x="392658" y="247650"/>
                </a:moveTo>
                <a:lnTo>
                  <a:pt x="371195" y="247650"/>
                </a:lnTo>
                <a:lnTo>
                  <a:pt x="378333" y="242570"/>
                </a:lnTo>
                <a:lnTo>
                  <a:pt x="378104" y="242570"/>
                </a:lnTo>
                <a:lnTo>
                  <a:pt x="384886" y="237489"/>
                </a:lnTo>
                <a:lnTo>
                  <a:pt x="384657" y="237489"/>
                </a:lnTo>
                <a:lnTo>
                  <a:pt x="391071" y="232410"/>
                </a:lnTo>
                <a:lnTo>
                  <a:pt x="390829" y="232410"/>
                </a:lnTo>
                <a:lnTo>
                  <a:pt x="396849" y="226060"/>
                </a:lnTo>
                <a:lnTo>
                  <a:pt x="396621" y="226060"/>
                </a:lnTo>
                <a:lnTo>
                  <a:pt x="402234" y="220979"/>
                </a:lnTo>
                <a:lnTo>
                  <a:pt x="402005" y="220979"/>
                </a:lnTo>
                <a:lnTo>
                  <a:pt x="407200" y="214629"/>
                </a:lnTo>
                <a:lnTo>
                  <a:pt x="406971" y="214629"/>
                </a:lnTo>
                <a:lnTo>
                  <a:pt x="411746" y="209550"/>
                </a:lnTo>
                <a:lnTo>
                  <a:pt x="411518" y="209550"/>
                </a:lnTo>
                <a:lnTo>
                  <a:pt x="415848" y="203200"/>
                </a:lnTo>
                <a:lnTo>
                  <a:pt x="415632" y="203200"/>
                </a:lnTo>
                <a:lnTo>
                  <a:pt x="419506" y="196850"/>
                </a:lnTo>
                <a:lnTo>
                  <a:pt x="419303" y="196850"/>
                </a:lnTo>
                <a:lnTo>
                  <a:pt x="422706" y="190500"/>
                </a:lnTo>
                <a:lnTo>
                  <a:pt x="422516" y="190500"/>
                </a:lnTo>
                <a:lnTo>
                  <a:pt x="425437" y="184150"/>
                </a:lnTo>
                <a:lnTo>
                  <a:pt x="425272" y="184150"/>
                </a:lnTo>
                <a:lnTo>
                  <a:pt x="427685" y="177800"/>
                </a:lnTo>
                <a:lnTo>
                  <a:pt x="429450" y="170179"/>
                </a:lnTo>
                <a:lnTo>
                  <a:pt x="429348" y="171450"/>
                </a:lnTo>
                <a:lnTo>
                  <a:pt x="442107" y="171450"/>
                </a:lnTo>
                <a:lnTo>
                  <a:pt x="441820" y="172720"/>
                </a:lnTo>
                <a:lnTo>
                  <a:pt x="441718" y="173989"/>
                </a:lnTo>
                <a:lnTo>
                  <a:pt x="439826" y="180339"/>
                </a:lnTo>
                <a:lnTo>
                  <a:pt x="437121" y="189229"/>
                </a:lnTo>
                <a:lnTo>
                  <a:pt x="434213" y="195579"/>
                </a:lnTo>
                <a:lnTo>
                  <a:pt x="430644" y="203200"/>
                </a:lnTo>
                <a:lnTo>
                  <a:pt x="426580" y="209550"/>
                </a:lnTo>
                <a:lnTo>
                  <a:pt x="421830" y="217170"/>
                </a:lnTo>
                <a:lnTo>
                  <a:pt x="416826" y="223520"/>
                </a:lnTo>
                <a:lnTo>
                  <a:pt x="411403" y="229870"/>
                </a:lnTo>
                <a:lnTo>
                  <a:pt x="405549" y="234950"/>
                </a:lnTo>
                <a:lnTo>
                  <a:pt x="399300" y="241300"/>
                </a:lnTo>
                <a:lnTo>
                  <a:pt x="392658" y="247650"/>
                </a:lnTo>
                <a:close/>
              </a:path>
              <a:path w="444500" h="300989">
                <a:moveTo>
                  <a:pt x="74796" y="247650"/>
                </a:moveTo>
                <a:lnTo>
                  <a:pt x="73151" y="247650"/>
                </a:lnTo>
                <a:lnTo>
                  <a:pt x="72923" y="246379"/>
                </a:lnTo>
                <a:lnTo>
                  <a:pt x="74796" y="247650"/>
                </a:lnTo>
                <a:close/>
              </a:path>
              <a:path w="444500" h="300989">
                <a:moveTo>
                  <a:pt x="323964" y="284479"/>
                </a:moveTo>
                <a:lnTo>
                  <a:pt x="274942" y="284479"/>
                </a:lnTo>
                <a:lnTo>
                  <a:pt x="285191" y="281939"/>
                </a:lnTo>
                <a:lnTo>
                  <a:pt x="284975" y="281939"/>
                </a:lnTo>
                <a:lnTo>
                  <a:pt x="295008" y="279400"/>
                </a:lnTo>
                <a:lnTo>
                  <a:pt x="294792" y="279400"/>
                </a:lnTo>
                <a:lnTo>
                  <a:pt x="304596" y="276860"/>
                </a:lnTo>
                <a:lnTo>
                  <a:pt x="304368" y="276860"/>
                </a:lnTo>
                <a:lnTo>
                  <a:pt x="313931" y="274320"/>
                </a:lnTo>
                <a:lnTo>
                  <a:pt x="313715" y="274320"/>
                </a:lnTo>
                <a:lnTo>
                  <a:pt x="323024" y="271779"/>
                </a:lnTo>
                <a:lnTo>
                  <a:pt x="322808" y="271779"/>
                </a:lnTo>
                <a:lnTo>
                  <a:pt x="331850" y="267970"/>
                </a:lnTo>
                <a:lnTo>
                  <a:pt x="331622" y="267970"/>
                </a:lnTo>
                <a:lnTo>
                  <a:pt x="340385" y="264160"/>
                </a:lnTo>
                <a:lnTo>
                  <a:pt x="340156" y="264160"/>
                </a:lnTo>
                <a:lnTo>
                  <a:pt x="348627" y="260350"/>
                </a:lnTo>
                <a:lnTo>
                  <a:pt x="348399" y="260350"/>
                </a:lnTo>
                <a:lnTo>
                  <a:pt x="356552" y="256539"/>
                </a:lnTo>
                <a:lnTo>
                  <a:pt x="356323" y="256539"/>
                </a:lnTo>
                <a:lnTo>
                  <a:pt x="364159" y="251460"/>
                </a:lnTo>
                <a:lnTo>
                  <a:pt x="363918" y="251460"/>
                </a:lnTo>
                <a:lnTo>
                  <a:pt x="371424" y="246379"/>
                </a:lnTo>
                <a:lnTo>
                  <a:pt x="371195" y="247650"/>
                </a:lnTo>
                <a:lnTo>
                  <a:pt x="392658" y="247650"/>
                </a:lnTo>
                <a:lnTo>
                  <a:pt x="385635" y="252729"/>
                </a:lnTo>
                <a:lnTo>
                  <a:pt x="378256" y="257810"/>
                </a:lnTo>
                <a:lnTo>
                  <a:pt x="370522" y="262889"/>
                </a:lnTo>
                <a:lnTo>
                  <a:pt x="362458" y="266700"/>
                </a:lnTo>
                <a:lnTo>
                  <a:pt x="354075" y="271779"/>
                </a:lnTo>
                <a:lnTo>
                  <a:pt x="345389" y="275589"/>
                </a:lnTo>
                <a:lnTo>
                  <a:pt x="336410" y="279400"/>
                </a:lnTo>
                <a:lnTo>
                  <a:pt x="327139" y="283210"/>
                </a:lnTo>
                <a:lnTo>
                  <a:pt x="323964" y="284479"/>
                </a:lnTo>
                <a:close/>
              </a:path>
              <a:path w="444500" h="300989">
                <a:moveTo>
                  <a:pt x="174409" y="284479"/>
                </a:moveTo>
                <a:lnTo>
                  <a:pt x="169405" y="284479"/>
                </a:lnTo>
                <a:lnTo>
                  <a:pt x="169189" y="283210"/>
                </a:lnTo>
                <a:lnTo>
                  <a:pt x="174409" y="284479"/>
                </a:lnTo>
                <a:close/>
              </a:path>
              <a:path w="444500" h="300989">
                <a:moveTo>
                  <a:pt x="312724" y="288289"/>
                </a:moveTo>
                <a:lnTo>
                  <a:pt x="232956" y="288289"/>
                </a:lnTo>
                <a:lnTo>
                  <a:pt x="243928" y="287020"/>
                </a:lnTo>
                <a:lnTo>
                  <a:pt x="254304" y="287020"/>
                </a:lnTo>
                <a:lnTo>
                  <a:pt x="264934" y="285750"/>
                </a:lnTo>
                <a:lnTo>
                  <a:pt x="264718" y="285750"/>
                </a:lnTo>
                <a:lnTo>
                  <a:pt x="275158" y="283210"/>
                </a:lnTo>
                <a:lnTo>
                  <a:pt x="274942" y="284479"/>
                </a:lnTo>
                <a:lnTo>
                  <a:pt x="323964" y="284479"/>
                </a:lnTo>
                <a:lnTo>
                  <a:pt x="317614" y="287020"/>
                </a:lnTo>
                <a:lnTo>
                  <a:pt x="312724" y="288289"/>
                </a:lnTo>
                <a:close/>
              </a:path>
              <a:path w="444500" h="300989">
                <a:moveTo>
                  <a:pt x="233387" y="300989"/>
                </a:moveTo>
                <a:lnTo>
                  <a:pt x="210743" y="300989"/>
                </a:lnTo>
                <a:lnTo>
                  <a:pt x="199555" y="299720"/>
                </a:lnTo>
                <a:lnTo>
                  <a:pt x="244576" y="299720"/>
                </a:lnTo>
                <a:lnTo>
                  <a:pt x="233387" y="300989"/>
                </a:lnTo>
                <a:close/>
              </a:path>
            </a:pathLst>
          </a:custGeom>
          <a:solidFill>
            <a:srgbClr val="006C39"/>
          </a:solidFill>
        </p:spPr>
        <p:txBody>
          <a:bodyPr wrap="square" lIns="0" tIns="0" rIns="0" bIns="0" rtlCol="0"/>
          <a:lstStyle/>
          <a:p>
            <a:endParaRPr/>
          </a:p>
        </p:txBody>
      </p:sp>
      <p:sp>
        <p:nvSpPr>
          <p:cNvPr id="65" name="object 65"/>
          <p:cNvSpPr txBox="1"/>
          <p:nvPr/>
        </p:nvSpPr>
        <p:spPr>
          <a:xfrm>
            <a:off x="5844057" y="3953649"/>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66" name="object 66"/>
          <p:cNvSpPr/>
          <p:nvPr/>
        </p:nvSpPr>
        <p:spPr>
          <a:xfrm>
            <a:off x="3989920" y="4260392"/>
            <a:ext cx="444500" cy="300990"/>
          </a:xfrm>
          <a:custGeom>
            <a:avLst/>
            <a:gdLst/>
            <a:ahLst/>
            <a:cxnLst/>
            <a:rect l="l" t="t" r="r" b="b"/>
            <a:pathLst>
              <a:path w="444500" h="300989">
                <a:moveTo>
                  <a:pt x="255816" y="299720"/>
                </a:moveTo>
                <a:lnTo>
                  <a:pt x="188544" y="299720"/>
                </a:lnTo>
                <a:lnTo>
                  <a:pt x="177698" y="298450"/>
                </a:lnTo>
                <a:lnTo>
                  <a:pt x="167030" y="295910"/>
                </a:lnTo>
                <a:lnTo>
                  <a:pt x="156578" y="294639"/>
                </a:lnTo>
                <a:lnTo>
                  <a:pt x="116992" y="283210"/>
                </a:lnTo>
                <a:lnTo>
                  <a:pt x="81661" y="266700"/>
                </a:lnTo>
                <a:lnTo>
                  <a:pt x="73596" y="262889"/>
                </a:lnTo>
                <a:lnTo>
                  <a:pt x="65862" y="257810"/>
                </a:lnTo>
                <a:lnTo>
                  <a:pt x="58712" y="252729"/>
                </a:lnTo>
                <a:lnTo>
                  <a:pt x="51460" y="246379"/>
                </a:lnTo>
                <a:lnTo>
                  <a:pt x="45046" y="241300"/>
                </a:lnTo>
                <a:lnTo>
                  <a:pt x="38569" y="234950"/>
                </a:lnTo>
                <a:lnTo>
                  <a:pt x="32715" y="228600"/>
                </a:lnTo>
                <a:lnTo>
                  <a:pt x="27292" y="223520"/>
                </a:lnTo>
                <a:lnTo>
                  <a:pt x="22301" y="215900"/>
                </a:lnTo>
                <a:lnTo>
                  <a:pt x="17767" y="209550"/>
                </a:lnTo>
                <a:lnTo>
                  <a:pt x="13906" y="203200"/>
                </a:lnTo>
                <a:lnTo>
                  <a:pt x="10312" y="195579"/>
                </a:lnTo>
                <a:lnTo>
                  <a:pt x="10134" y="195579"/>
                </a:lnTo>
                <a:lnTo>
                  <a:pt x="7226" y="189229"/>
                </a:lnTo>
                <a:lnTo>
                  <a:pt x="4660" y="181610"/>
                </a:lnTo>
                <a:lnTo>
                  <a:pt x="2628" y="173989"/>
                </a:lnTo>
                <a:lnTo>
                  <a:pt x="1092" y="166370"/>
                </a:lnTo>
                <a:lnTo>
                  <a:pt x="215" y="157479"/>
                </a:lnTo>
                <a:lnTo>
                  <a:pt x="0" y="153670"/>
                </a:lnTo>
                <a:lnTo>
                  <a:pt x="0" y="146050"/>
                </a:lnTo>
                <a:lnTo>
                  <a:pt x="241" y="142239"/>
                </a:lnTo>
                <a:lnTo>
                  <a:pt x="609" y="138429"/>
                </a:lnTo>
                <a:lnTo>
                  <a:pt x="1092" y="134620"/>
                </a:lnTo>
                <a:lnTo>
                  <a:pt x="2527" y="127000"/>
                </a:lnTo>
                <a:lnTo>
                  <a:pt x="4660" y="119379"/>
                </a:lnTo>
                <a:lnTo>
                  <a:pt x="7226" y="111760"/>
                </a:lnTo>
                <a:lnTo>
                  <a:pt x="10134" y="104139"/>
                </a:lnTo>
                <a:lnTo>
                  <a:pt x="10312" y="104139"/>
                </a:lnTo>
                <a:lnTo>
                  <a:pt x="13906" y="97789"/>
                </a:lnTo>
                <a:lnTo>
                  <a:pt x="38798" y="64770"/>
                </a:lnTo>
                <a:lnTo>
                  <a:pt x="73825" y="38100"/>
                </a:lnTo>
                <a:lnTo>
                  <a:pt x="90271" y="29210"/>
                </a:lnTo>
                <a:lnTo>
                  <a:pt x="98958" y="24129"/>
                </a:lnTo>
                <a:lnTo>
                  <a:pt x="136296" y="11429"/>
                </a:lnTo>
                <a:lnTo>
                  <a:pt x="199783" y="0"/>
                </a:lnTo>
                <a:lnTo>
                  <a:pt x="244792" y="0"/>
                </a:lnTo>
                <a:lnTo>
                  <a:pt x="277317" y="3810"/>
                </a:lnTo>
                <a:lnTo>
                  <a:pt x="308051" y="11429"/>
                </a:lnTo>
                <a:lnTo>
                  <a:pt x="312947" y="12700"/>
                </a:lnTo>
                <a:lnTo>
                  <a:pt x="200647" y="12700"/>
                </a:lnTo>
                <a:lnTo>
                  <a:pt x="189839" y="13970"/>
                </a:lnTo>
                <a:lnTo>
                  <a:pt x="190055" y="13970"/>
                </a:lnTo>
                <a:lnTo>
                  <a:pt x="179425" y="15239"/>
                </a:lnTo>
                <a:lnTo>
                  <a:pt x="179641" y="15239"/>
                </a:lnTo>
                <a:lnTo>
                  <a:pt x="169189" y="16510"/>
                </a:lnTo>
                <a:lnTo>
                  <a:pt x="169405" y="16510"/>
                </a:lnTo>
                <a:lnTo>
                  <a:pt x="164280" y="17779"/>
                </a:lnTo>
                <a:lnTo>
                  <a:pt x="159372" y="17779"/>
                </a:lnTo>
                <a:lnTo>
                  <a:pt x="149352" y="20320"/>
                </a:lnTo>
                <a:lnTo>
                  <a:pt x="149567" y="20320"/>
                </a:lnTo>
                <a:lnTo>
                  <a:pt x="139763" y="22860"/>
                </a:lnTo>
                <a:lnTo>
                  <a:pt x="139979" y="22860"/>
                </a:lnTo>
                <a:lnTo>
                  <a:pt x="133604" y="25400"/>
                </a:lnTo>
                <a:lnTo>
                  <a:pt x="130632" y="25400"/>
                </a:lnTo>
                <a:lnTo>
                  <a:pt x="121323" y="29210"/>
                </a:lnTo>
                <a:lnTo>
                  <a:pt x="121551" y="29210"/>
                </a:lnTo>
                <a:lnTo>
                  <a:pt x="112509" y="33020"/>
                </a:lnTo>
                <a:lnTo>
                  <a:pt x="112725" y="33020"/>
                </a:lnTo>
                <a:lnTo>
                  <a:pt x="106891" y="35560"/>
                </a:lnTo>
                <a:lnTo>
                  <a:pt x="104190" y="35560"/>
                </a:lnTo>
                <a:lnTo>
                  <a:pt x="95732" y="40639"/>
                </a:lnTo>
                <a:lnTo>
                  <a:pt x="95961" y="40639"/>
                </a:lnTo>
                <a:lnTo>
                  <a:pt x="87795" y="44450"/>
                </a:lnTo>
                <a:lnTo>
                  <a:pt x="88023" y="44450"/>
                </a:lnTo>
                <a:lnTo>
                  <a:pt x="80200" y="48260"/>
                </a:lnTo>
                <a:lnTo>
                  <a:pt x="80429" y="48260"/>
                </a:lnTo>
                <a:lnTo>
                  <a:pt x="72923" y="53339"/>
                </a:lnTo>
                <a:lnTo>
                  <a:pt x="73164" y="53339"/>
                </a:lnTo>
                <a:lnTo>
                  <a:pt x="66014" y="58420"/>
                </a:lnTo>
                <a:lnTo>
                  <a:pt x="66243" y="58420"/>
                </a:lnTo>
                <a:lnTo>
                  <a:pt x="59461" y="63500"/>
                </a:lnTo>
                <a:lnTo>
                  <a:pt x="59690" y="63500"/>
                </a:lnTo>
                <a:lnTo>
                  <a:pt x="53289" y="68579"/>
                </a:lnTo>
                <a:lnTo>
                  <a:pt x="53517" y="68579"/>
                </a:lnTo>
                <a:lnTo>
                  <a:pt x="47498" y="73660"/>
                </a:lnTo>
                <a:lnTo>
                  <a:pt x="47739" y="73660"/>
                </a:lnTo>
                <a:lnTo>
                  <a:pt x="42113" y="80010"/>
                </a:lnTo>
                <a:lnTo>
                  <a:pt x="42354" y="80010"/>
                </a:lnTo>
                <a:lnTo>
                  <a:pt x="37147" y="85089"/>
                </a:lnTo>
                <a:lnTo>
                  <a:pt x="37376" y="85089"/>
                </a:lnTo>
                <a:lnTo>
                  <a:pt x="32613" y="91439"/>
                </a:lnTo>
                <a:lnTo>
                  <a:pt x="32829" y="91439"/>
                </a:lnTo>
                <a:lnTo>
                  <a:pt x="28511" y="97789"/>
                </a:lnTo>
                <a:lnTo>
                  <a:pt x="28714" y="97789"/>
                </a:lnTo>
                <a:lnTo>
                  <a:pt x="25626" y="102870"/>
                </a:lnTo>
                <a:lnTo>
                  <a:pt x="25044" y="102870"/>
                </a:lnTo>
                <a:lnTo>
                  <a:pt x="22218" y="109220"/>
                </a:lnTo>
                <a:lnTo>
                  <a:pt x="21831" y="109220"/>
                </a:lnTo>
                <a:lnTo>
                  <a:pt x="19407" y="115570"/>
                </a:lnTo>
                <a:lnTo>
                  <a:pt x="19075" y="115570"/>
                </a:lnTo>
                <a:lnTo>
                  <a:pt x="16662" y="123189"/>
                </a:lnTo>
                <a:lnTo>
                  <a:pt x="16802" y="123189"/>
                </a:lnTo>
                <a:lnTo>
                  <a:pt x="14897" y="129539"/>
                </a:lnTo>
                <a:lnTo>
                  <a:pt x="13855" y="135889"/>
                </a:lnTo>
                <a:lnTo>
                  <a:pt x="13690" y="135889"/>
                </a:lnTo>
                <a:lnTo>
                  <a:pt x="13208" y="139700"/>
                </a:lnTo>
                <a:lnTo>
                  <a:pt x="12996" y="142239"/>
                </a:lnTo>
                <a:lnTo>
                  <a:pt x="12903" y="143510"/>
                </a:lnTo>
                <a:lnTo>
                  <a:pt x="12759" y="146050"/>
                </a:lnTo>
                <a:lnTo>
                  <a:pt x="12687" y="153670"/>
                </a:lnTo>
                <a:lnTo>
                  <a:pt x="12903" y="157479"/>
                </a:lnTo>
                <a:lnTo>
                  <a:pt x="13233" y="161289"/>
                </a:lnTo>
                <a:lnTo>
                  <a:pt x="13368" y="161289"/>
                </a:lnTo>
                <a:lnTo>
                  <a:pt x="13690" y="163829"/>
                </a:lnTo>
                <a:lnTo>
                  <a:pt x="14998" y="171450"/>
                </a:lnTo>
                <a:lnTo>
                  <a:pt x="15214" y="171450"/>
                </a:lnTo>
                <a:lnTo>
                  <a:pt x="16802" y="177800"/>
                </a:lnTo>
                <a:lnTo>
                  <a:pt x="16662" y="177800"/>
                </a:lnTo>
                <a:lnTo>
                  <a:pt x="19075" y="184150"/>
                </a:lnTo>
                <a:lnTo>
                  <a:pt x="18923" y="184150"/>
                </a:lnTo>
                <a:lnTo>
                  <a:pt x="21831" y="190500"/>
                </a:lnTo>
                <a:lnTo>
                  <a:pt x="21653" y="190500"/>
                </a:lnTo>
                <a:lnTo>
                  <a:pt x="25044" y="196850"/>
                </a:lnTo>
                <a:lnTo>
                  <a:pt x="24853" y="196850"/>
                </a:lnTo>
                <a:lnTo>
                  <a:pt x="28714" y="203200"/>
                </a:lnTo>
                <a:lnTo>
                  <a:pt x="28511" y="203200"/>
                </a:lnTo>
                <a:lnTo>
                  <a:pt x="32829" y="209550"/>
                </a:lnTo>
                <a:lnTo>
                  <a:pt x="32613" y="209550"/>
                </a:lnTo>
                <a:lnTo>
                  <a:pt x="37376" y="214629"/>
                </a:lnTo>
                <a:lnTo>
                  <a:pt x="37147" y="214629"/>
                </a:lnTo>
                <a:lnTo>
                  <a:pt x="42354" y="220979"/>
                </a:lnTo>
                <a:lnTo>
                  <a:pt x="42113" y="220979"/>
                </a:lnTo>
                <a:lnTo>
                  <a:pt x="47739" y="226060"/>
                </a:lnTo>
                <a:lnTo>
                  <a:pt x="47498" y="226060"/>
                </a:lnTo>
                <a:lnTo>
                  <a:pt x="53517" y="232410"/>
                </a:lnTo>
                <a:lnTo>
                  <a:pt x="53289" y="232410"/>
                </a:lnTo>
                <a:lnTo>
                  <a:pt x="59690" y="237489"/>
                </a:lnTo>
                <a:lnTo>
                  <a:pt x="59461" y="237489"/>
                </a:lnTo>
                <a:lnTo>
                  <a:pt x="66243" y="242570"/>
                </a:lnTo>
                <a:lnTo>
                  <a:pt x="66014" y="242570"/>
                </a:lnTo>
                <a:lnTo>
                  <a:pt x="73164" y="247650"/>
                </a:lnTo>
                <a:lnTo>
                  <a:pt x="74799" y="247650"/>
                </a:lnTo>
                <a:lnTo>
                  <a:pt x="80429" y="251460"/>
                </a:lnTo>
                <a:lnTo>
                  <a:pt x="80200" y="251460"/>
                </a:lnTo>
                <a:lnTo>
                  <a:pt x="88023" y="256539"/>
                </a:lnTo>
                <a:lnTo>
                  <a:pt x="87795" y="256539"/>
                </a:lnTo>
                <a:lnTo>
                  <a:pt x="95961" y="260350"/>
                </a:lnTo>
                <a:lnTo>
                  <a:pt x="95732" y="260350"/>
                </a:lnTo>
                <a:lnTo>
                  <a:pt x="104190" y="264160"/>
                </a:lnTo>
                <a:lnTo>
                  <a:pt x="103974" y="264160"/>
                </a:lnTo>
                <a:lnTo>
                  <a:pt x="112725" y="267970"/>
                </a:lnTo>
                <a:lnTo>
                  <a:pt x="112509" y="267970"/>
                </a:lnTo>
                <a:lnTo>
                  <a:pt x="121551" y="271779"/>
                </a:lnTo>
                <a:lnTo>
                  <a:pt x="121323" y="271779"/>
                </a:lnTo>
                <a:lnTo>
                  <a:pt x="130632" y="274320"/>
                </a:lnTo>
                <a:lnTo>
                  <a:pt x="130416" y="274320"/>
                </a:lnTo>
                <a:lnTo>
                  <a:pt x="139979" y="276860"/>
                </a:lnTo>
                <a:lnTo>
                  <a:pt x="139763" y="276860"/>
                </a:lnTo>
                <a:lnTo>
                  <a:pt x="149567" y="279400"/>
                </a:lnTo>
                <a:lnTo>
                  <a:pt x="149352" y="279400"/>
                </a:lnTo>
                <a:lnTo>
                  <a:pt x="159372" y="281939"/>
                </a:lnTo>
                <a:lnTo>
                  <a:pt x="159156" y="281939"/>
                </a:lnTo>
                <a:lnTo>
                  <a:pt x="169405" y="284479"/>
                </a:lnTo>
                <a:lnTo>
                  <a:pt x="174415" y="284479"/>
                </a:lnTo>
                <a:lnTo>
                  <a:pt x="179641" y="285750"/>
                </a:lnTo>
                <a:lnTo>
                  <a:pt x="179425" y="285750"/>
                </a:lnTo>
                <a:lnTo>
                  <a:pt x="190055" y="287020"/>
                </a:lnTo>
                <a:lnTo>
                  <a:pt x="200431" y="287020"/>
                </a:lnTo>
                <a:lnTo>
                  <a:pt x="211391" y="288289"/>
                </a:lnTo>
                <a:lnTo>
                  <a:pt x="312724" y="288289"/>
                </a:lnTo>
                <a:lnTo>
                  <a:pt x="287566" y="294639"/>
                </a:lnTo>
                <a:lnTo>
                  <a:pt x="277101" y="295910"/>
                </a:lnTo>
                <a:lnTo>
                  <a:pt x="266446" y="298450"/>
                </a:lnTo>
                <a:lnTo>
                  <a:pt x="255816" y="299720"/>
                </a:lnTo>
                <a:close/>
              </a:path>
              <a:path w="444500" h="300989">
                <a:moveTo>
                  <a:pt x="285191" y="19050"/>
                </a:moveTo>
                <a:lnTo>
                  <a:pt x="274955" y="16510"/>
                </a:lnTo>
                <a:lnTo>
                  <a:pt x="275170" y="16510"/>
                </a:lnTo>
                <a:lnTo>
                  <a:pt x="264718" y="15239"/>
                </a:lnTo>
                <a:lnTo>
                  <a:pt x="264934" y="15239"/>
                </a:lnTo>
                <a:lnTo>
                  <a:pt x="254304" y="13970"/>
                </a:lnTo>
                <a:lnTo>
                  <a:pt x="254520" y="13970"/>
                </a:lnTo>
                <a:lnTo>
                  <a:pt x="243713" y="12700"/>
                </a:lnTo>
                <a:lnTo>
                  <a:pt x="312947" y="12700"/>
                </a:lnTo>
                <a:lnTo>
                  <a:pt x="317842" y="13970"/>
                </a:lnTo>
                <a:lnTo>
                  <a:pt x="327367" y="17779"/>
                </a:lnTo>
                <a:lnTo>
                  <a:pt x="284975" y="17779"/>
                </a:lnTo>
                <a:lnTo>
                  <a:pt x="285191" y="19050"/>
                </a:lnTo>
                <a:close/>
              </a:path>
              <a:path w="444500" h="300989">
                <a:moveTo>
                  <a:pt x="159156" y="19050"/>
                </a:moveTo>
                <a:lnTo>
                  <a:pt x="159372" y="17779"/>
                </a:lnTo>
                <a:lnTo>
                  <a:pt x="164280" y="17779"/>
                </a:lnTo>
                <a:lnTo>
                  <a:pt x="159156" y="19050"/>
                </a:lnTo>
                <a:close/>
              </a:path>
              <a:path w="444500" h="300989">
                <a:moveTo>
                  <a:pt x="313944" y="26670"/>
                </a:moveTo>
                <a:lnTo>
                  <a:pt x="304380" y="22860"/>
                </a:lnTo>
                <a:lnTo>
                  <a:pt x="304596" y="22860"/>
                </a:lnTo>
                <a:lnTo>
                  <a:pt x="294792" y="20320"/>
                </a:lnTo>
                <a:lnTo>
                  <a:pt x="295008" y="20320"/>
                </a:lnTo>
                <a:lnTo>
                  <a:pt x="284975" y="17779"/>
                </a:lnTo>
                <a:lnTo>
                  <a:pt x="327367" y="17779"/>
                </a:lnTo>
                <a:lnTo>
                  <a:pt x="336638" y="20320"/>
                </a:lnTo>
                <a:lnTo>
                  <a:pt x="345617" y="24129"/>
                </a:lnTo>
                <a:lnTo>
                  <a:pt x="347789" y="25400"/>
                </a:lnTo>
                <a:lnTo>
                  <a:pt x="313715" y="25400"/>
                </a:lnTo>
                <a:lnTo>
                  <a:pt x="313944" y="26670"/>
                </a:lnTo>
                <a:close/>
              </a:path>
              <a:path w="444500" h="300989">
                <a:moveTo>
                  <a:pt x="130416" y="26670"/>
                </a:moveTo>
                <a:lnTo>
                  <a:pt x="130632" y="25400"/>
                </a:lnTo>
                <a:lnTo>
                  <a:pt x="133604" y="25400"/>
                </a:lnTo>
                <a:lnTo>
                  <a:pt x="130416" y="26670"/>
                </a:lnTo>
                <a:close/>
              </a:path>
              <a:path w="444500" h="300989">
                <a:moveTo>
                  <a:pt x="340385" y="36829"/>
                </a:moveTo>
                <a:lnTo>
                  <a:pt x="331622" y="33020"/>
                </a:lnTo>
                <a:lnTo>
                  <a:pt x="331851" y="33020"/>
                </a:lnTo>
                <a:lnTo>
                  <a:pt x="322808" y="29210"/>
                </a:lnTo>
                <a:lnTo>
                  <a:pt x="323024" y="29210"/>
                </a:lnTo>
                <a:lnTo>
                  <a:pt x="313715" y="25400"/>
                </a:lnTo>
                <a:lnTo>
                  <a:pt x="347789" y="25400"/>
                </a:lnTo>
                <a:lnTo>
                  <a:pt x="354304" y="29210"/>
                </a:lnTo>
                <a:lnTo>
                  <a:pt x="362699" y="33020"/>
                </a:lnTo>
                <a:lnTo>
                  <a:pt x="366731" y="35560"/>
                </a:lnTo>
                <a:lnTo>
                  <a:pt x="340156" y="35560"/>
                </a:lnTo>
                <a:lnTo>
                  <a:pt x="340385" y="36829"/>
                </a:lnTo>
                <a:close/>
              </a:path>
              <a:path w="444500" h="300989">
                <a:moveTo>
                  <a:pt x="103974" y="36829"/>
                </a:moveTo>
                <a:lnTo>
                  <a:pt x="104190" y="35560"/>
                </a:lnTo>
                <a:lnTo>
                  <a:pt x="106891" y="35560"/>
                </a:lnTo>
                <a:lnTo>
                  <a:pt x="103974" y="36829"/>
                </a:lnTo>
                <a:close/>
              </a:path>
              <a:path w="444500" h="300989">
                <a:moveTo>
                  <a:pt x="419506" y="104139"/>
                </a:moveTo>
                <a:lnTo>
                  <a:pt x="415645" y="97789"/>
                </a:lnTo>
                <a:lnTo>
                  <a:pt x="415848" y="97789"/>
                </a:lnTo>
                <a:lnTo>
                  <a:pt x="411530" y="91439"/>
                </a:lnTo>
                <a:lnTo>
                  <a:pt x="411746" y="91439"/>
                </a:lnTo>
                <a:lnTo>
                  <a:pt x="406971" y="85089"/>
                </a:lnTo>
                <a:lnTo>
                  <a:pt x="407200" y="85089"/>
                </a:lnTo>
                <a:lnTo>
                  <a:pt x="402005" y="80010"/>
                </a:lnTo>
                <a:lnTo>
                  <a:pt x="402234" y="80010"/>
                </a:lnTo>
                <a:lnTo>
                  <a:pt x="396621" y="73660"/>
                </a:lnTo>
                <a:lnTo>
                  <a:pt x="396849" y="73660"/>
                </a:lnTo>
                <a:lnTo>
                  <a:pt x="390829" y="68579"/>
                </a:lnTo>
                <a:lnTo>
                  <a:pt x="391071" y="68579"/>
                </a:lnTo>
                <a:lnTo>
                  <a:pt x="384657" y="63500"/>
                </a:lnTo>
                <a:lnTo>
                  <a:pt x="384898" y="63500"/>
                </a:lnTo>
                <a:lnTo>
                  <a:pt x="378104" y="58420"/>
                </a:lnTo>
                <a:lnTo>
                  <a:pt x="378345" y="58420"/>
                </a:lnTo>
                <a:lnTo>
                  <a:pt x="371195" y="53339"/>
                </a:lnTo>
                <a:lnTo>
                  <a:pt x="371424" y="53339"/>
                </a:lnTo>
                <a:lnTo>
                  <a:pt x="363931" y="48260"/>
                </a:lnTo>
                <a:lnTo>
                  <a:pt x="364159" y="48260"/>
                </a:lnTo>
                <a:lnTo>
                  <a:pt x="356323" y="44450"/>
                </a:lnTo>
                <a:lnTo>
                  <a:pt x="356552" y="44450"/>
                </a:lnTo>
                <a:lnTo>
                  <a:pt x="348399" y="40639"/>
                </a:lnTo>
                <a:lnTo>
                  <a:pt x="348627" y="40639"/>
                </a:lnTo>
                <a:lnTo>
                  <a:pt x="340156" y="35560"/>
                </a:lnTo>
                <a:lnTo>
                  <a:pt x="366731" y="35560"/>
                </a:lnTo>
                <a:lnTo>
                  <a:pt x="370763" y="38100"/>
                </a:lnTo>
                <a:lnTo>
                  <a:pt x="378256" y="43179"/>
                </a:lnTo>
                <a:lnTo>
                  <a:pt x="385876" y="48260"/>
                </a:lnTo>
                <a:lnTo>
                  <a:pt x="392887" y="53339"/>
                </a:lnTo>
                <a:lnTo>
                  <a:pt x="399542" y="59689"/>
                </a:lnTo>
                <a:lnTo>
                  <a:pt x="405790" y="64770"/>
                </a:lnTo>
                <a:lnTo>
                  <a:pt x="430453" y="97789"/>
                </a:lnTo>
                <a:lnTo>
                  <a:pt x="433318" y="102870"/>
                </a:lnTo>
                <a:lnTo>
                  <a:pt x="419315" y="102870"/>
                </a:lnTo>
                <a:lnTo>
                  <a:pt x="419506" y="104139"/>
                </a:lnTo>
                <a:close/>
              </a:path>
              <a:path w="444500" h="300989">
                <a:moveTo>
                  <a:pt x="24853" y="104139"/>
                </a:moveTo>
                <a:lnTo>
                  <a:pt x="25044" y="102870"/>
                </a:lnTo>
                <a:lnTo>
                  <a:pt x="25626" y="102870"/>
                </a:lnTo>
                <a:lnTo>
                  <a:pt x="24853" y="104139"/>
                </a:lnTo>
                <a:close/>
              </a:path>
              <a:path w="444500" h="300989">
                <a:moveTo>
                  <a:pt x="422706" y="110489"/>
                </a:moveTo>
                <a:lnTo>
                  <a:pt x="419315" y="102870"/>
                </a:lnTo>
                <a:lnTo>
                  <a:pt x="433318" y="102870"/>
                </a:lnTo>
                <a:lnTo>
                  <a:pt x="434035" y="104139"/>
                </a:lnTo>
                <a:lnTo>
                  <a:pt x="434213" y="104139"/>
                </a:lnTo>
                <a:lnTo>
                  <a:pt x="436261" y="109220"/>
                </a:lnTo>
                <a:lnTo>
                  <a:pt x="422529" y="109220"/>
                </a:lnTo>
                <a:lnTo>
                  <a:pt x="422706" y="110489"/>
                </a:lnTo>
                <a:close/>
              </a:path>
              <a:path w="444500" h="300989">
                <a:moveTo>
                  <a:pt x="21653" y="110489"/>
                </a:moveTo>
                <a:lnTo>
                  <a:pt x="21831" y="109220"/>
                </a:lnTo>
                <a:lnTo>
                  <a:pt x="22218" y="109220"/>
                </a:lnTo>
                <a:lnTo>
                  <a:pt x="21653" y="110489"/>
                </a:lnTo>
                <a:close/>
              </a:path>
              <a:path w="444500" h="300989">
                <a:moveTo>
                  <a:pt x="425437" y="116839"/>
                </a:moveTo>
                <a:lnTo>
                  <a:pt x="422529" y="109220"/>
                </a:lnTo>
                <a:lnTo>
                  <a:pt x="436261" y="109220"/>
                </a:lnTo>
                <a:lnTo>
                  <a:pt x="437286" y="111760"/>
                </a:lnTo>
                <a:lnTo>
                  <a:pt x="438492" y="115570"/>
                </a:lnTo>
                <a:lnTo>
                  <a:pt x="425272" y="115570"/>
                </a:lnTo>
                <a:lnTo>
                  <a:pt x="425437" y="116839"/>
                </a:lnTo>
                <a:close/>
              </a:path>
              <a:path w="444500" h="300989">
                <a:moveTo>
                  <a:pt x="18923" y="116839"/>
                </a:moveTo>
                <a:lnTo>
                  <a:pt x="19075" y="115570"/>
                </a:lnTo>
                <a:lnTo>
                  <a:pt x="19407" y="115570"/>
                </a:lnTo>
                <a:lnTo>
                  <a:pt x="18923" y="116839"/>
                </a:lnTo>
                <a:close/>
              </a:path>
              <a:path w="444500" h="300989">
                <a:moveTo>
                  <a:pt x="430720" y="137160"/>
                </a:moveTo>
                <a:lnTo>
                  <a:pt x="429348" y="129539"/>
                </a:lnTo>
                <a:lnTo>
                  <a:pt x="427558" y="123189"/>
                </a:lnTo>
                <a:lnTo>
                  <a:pt x="425272" y="115570"/>
                </a:lnTo>
                <a:lnTo>
                  <a:pt x="438492" y="115570"/>
                </a:lnTo>
                <a:lnTo>
                  <a:pt x="439699" y="119379"/>
                </a:lnTo>
                <a:lnTo>
                  <a:pt x="441731" y="127000"/>
                </a:lnTo>
                <a:lnTo>
                  <a:pt x="443204" y="134620"/>
                </a:lnTo>
                <a:lnTo>
                  <a:pt x="443395" y="135889"/>
                </a:lnTo>
                <a:lnTo>
                  <a:pt x="430669" y="135889"/>
                </a:lnTo>
                <a:lnTo>
                  <a:pt x="430720" y="137160"/>
                </a:lnTo>
                <a:close/>
              </a:path>
              <a:path w="444500" h="300989">
                <a:moveTo>
                  <a:pt x="13627" y="137160"/>
                </a:moveTo>
                <a:lnTo>
                  <a:pt x="13690" y="135889"/>
                </a:lnTo>
                <a:lnTo>
                  <a:pt x="13855" y="135889"/>
                </a:lnTo>
                <a:lnTo>
                  <a:pt x="13627" y="137160"/>
                </a:lnTo>
                <a:close/>
              </a:path>
              <a:path w="444500" h="300989">
                <a:moveTo>
                  <a:pt x="443776" y="161289"/>
                </a:moveTo>
                <a:lnTo>
                  <a:pt x="431126" y="161289"/>
                </a:lnTo>
                <a:lnTo>
                  <a:pt x="431469" y="157479"/>
                </a:lnTo>
                <a:lnTo>
                  <a:pt x="431673" y="153670"/>
                </a:lnTo>
                <a:lnTo>
                  <a:pt x="431660" y="146050"/>
                </a:lnTo>
                <a:lnTo>
                  <a:pt x="431457" y="143510"/>
                </a:lnTo>
                <a:lnTo>
                  <a:pt x="431126" y="139700"/>
                </a:lnTo>
                <a:lnTo>
                  <a:pt x="430669" y="135889"/>
                </a:lnTo>
                <a:lnTo>
                  <a:pt x="443395" y="135889"/>
                </a:lnTo>
                <a:lnTo>
                  <a:pt x="443776" y="138429"/>
                </a:lnTo>
                <a:lnTo>
                  <a:pt x="444131" y="142239"/>
                </a:lnTo>
                <a:lnTo>
                  <a:pt x="444360" y="146050"/>
                </a:lnTo>
                <a:lnTo>
                  <a:pt x="444347" y="153670"/>
                </a:lnTo>
                <a:lnTo>
                  <a:pt x="444119" y="158750"/>
                </a:lnTo>
                <a:lnTo>
                  <a:pt x="443776" y="161289"/>
                </a:lnTo>
                <a:close/>
              </a:path>
              <a:path w="444500" h="300989">
                <a:moveTo>
                  <a:pt x="12687" y="147320"/>
                </a:moveTo>
                <a:lnTo>
                  <a:pt x="12700" y="146050"/>
                </a:lnTo>
                <a:lnTo>
                  <a:pt x="12687" y="147320"/>
                </a:lnTo>
                <a:close/>
              </a:path>
              <a:path w="444500" h="300989">
                <a:moveTo>
                  <a:pt x="431673" y="147320"/>
                </a:moveTo>
                <a:lnTo>
                  <a:pt x="431601" y="146050"/>
                </a:lnTo>
                <a:lnTo>
                  <a:pt x="431673" y="147320"/>
                </a:lnTo>
                <a:close/>
              </a:path>
              <a:path w="444500" h="300989">
                <a:moveTo>
                  <a:pt x="13368" y="161289"/>
                </a:moveTo>
                <a:lnTo>
                  <a:pt x="13233" y="161289"/>
                </a:lnTo>
                <a:lnTo>
                  <a:pt x="13208" y="160020"/>
                </a:lnTo>
                <a:lnTo>
                  <a:pt x="13368" y="161289"/>
                </a:lnTo>
                <a:close/>
              </a:path>
              <a:path w="444500" h="300989">
                <a:moveTo>
                  <a:pt x="442290" y="171450"/>
                </a:moveTo>
                <a:lnTo>
                  <a:pt x="429348" y="171450"/>
                </a:lnTo>
                <a:lnTo>
                  <a:pt x="430720" y="163829"/>
                </a:lnTo>
                <a:lnTo>
                  <a:pt x="431152" y="160020"/>
                </a:lnTo>
                <a:lnTo>
                  <a:pt x="431126" y="161289"/>
                </a:lnTo>
                <a:lnTo>
                  <a:pt x="443776" y="161289"/>
                </a:lnTo>
                <a:lnTo>
                  <a:pt x="443204" y="166370"/>
                </a:lnTo>
                <a:lnTo>
                  <a:pt x="442290" y="171450"/>
                </a:lnTo>
                <a:close/>
              </a:path>
              <a:path w="444500" h="300989">
                <a:moveTo>
                  <a:pt x="15214" y="171450"/>
                </a:moveTo>
                <a:lnTo>
                  <a:pt x="14998" y="171450"/>
                </a:lnTo>
                <a:lnTo>
                  <a:pt x="14897" y="170179"/>
                </a:lnTo>
                <a:lnTo>
                  <a:pt x="15214" y="171450"/>
                </a:lnTo>
                <a:close/>
              </a:path>
              <a:path w="444500" h="300989">
                <a:moveTo>
                  <a:pt x="392658" y="247650"/>
                </a:moveTo>
                <a:lnTo>
                  <a:pt x="371195" y="247650"/>
                </a:lnTo>
                <a:lnTo>
                  <a:pt x="378345" y="242570"/>
                </a:lnTo>
                <a:lnTo>
                  <a:pt x="378104" y="242570"/>
                </a:lnTo>
                <a:lnTo>
                  <a:pt x="384898" y="237489"/>
                </a:lnTo>
                <a:lnTo>
                  <a:pt x="384657" y="237489"/>
                </a:lnTo>
                <a:lnTo>
                  <a:pt x="391071" y="232410"/>
                </a:lnTo>
                <a:lnTo>
                  <a:pt x="390829" y="232410"/>
                </a:lnTo>
                <a:lnTo>
                  <a:pt x="396849" y="226060"/>
                </a:lnTo>
                <a:lnTo>
                  <a:pt x="396621" y="226060"/>
                </a:lnTo>
                <a:lnTo>
                  <a:pt x="402234" y="220979"/>
                </a:lnTo>
                <a:lnTo>
                  <a:pt x="402005" y="220979"/>
                </a:lnTo>
                <a:lnTo>
                  <a:pt x="407200" y="214629"/>
                </a:lnTo>
                <a:lnTo>
                  <a:pt x="406971" y="214629"/>
                </a:lnTo>
                <a:lnTo>
                  <a:pt x="411746" y="209550"/>
                </a:lnTo>
                <a:lnTo>
                  <a:pt x="411530" y="209550"/>
                </a:lnTo>
                <a:lnTo>
                  <a:pt x="415848" y="203200"/>
                </a:lnTo>
                <a:lnTo>
                  <a:pt x="415645" y="203200"/>
                </a:lnTo>
                <a:lnTo>
                  <a:pt x="419506" y="196850"/>
                </a:lnTo>
                <a:lnTo>
                  <a:pt x="419315" y="196850"/>
                </a:lnTo>
                <a:lnTo>
                  <a:pt x="422706" y="190500"/>
                </a:lnTo>
                <a:lnTo>
                  <a:pt x="422529" y="190500"/>
                </a:lnTo>
                <a:lnTo>
                  <a:pt x="425437" y="184150"/>
                </a:lnTo>
                <a:lnTo>
                  <a:pt x="425272" y="184150"/>
                </a:lnTo>
                <a:lnTo>
                  <a:pt x="427685" y="177800"/>
                </a:lnTo>
                <a:lnTo>
                  <a:pt x="429450" y="170179"/>
                </a:lnTo>
                <a:lnTo>
                  <a:pt x="429348" y="171450"/>
                </a:lnTo>
                <a:lnTo>
                  <a:pt x="442290" y="171450"/>
                </a:lnTo>
                <a:lnTo>
                  <a:pt x="441833" y="173989"/>
                </a:lnTo>
                <a:lnTo>
                  <a:pt x="439699" y="181610"/>
                </a:lnTo>
                <a:lnTo>
                  <a:pt x="437286" y="187960"/>
                </a:lnTo>
                <a:lnTo>
                  <a:pt x="434213" y="195579"/>
                </a:lnTo>
                <a:lnTo>
                  <a:pt x="430453" y="203200"/>
                </a:lnTo>
                <a:lnTo>
                  <a:pt x="426377" y="209550"/>
                </a:lnTo>
                <a:lnTo>
                  <a:pt x="421830" y="217170"/>
                </a:lnTo>
                <a:lnTo>
                  <a:pt x="416839" y="223520"/>
                </a:lnTo>
                <a:lnTo>
                  <a:pt x="411403" y="229870"/>
                </a:lnTo>
                <a:lnTo>
                  <a:pt x="405561" y="234950"/>
                </a:lnTo>
                <a:lnTo>
                  <a:pt x="399300" y="241300"/>
                </a:lnTo>
                <a:lnTo>
                  <a:pt x="392658" y="247650"/>
                </a:lnTo>
                <a:close/>
              </a:path>
              <a:path w="444500" h="300989">
                <a:moveTo>
                  <a:pt x="74799" y="247650"/>
                </a:moveTo>
                <a:lnTo>
                  <a:pt x="73164" y="247650"/>
                </a:lnTo>
                <a:lnTo>
                  <a:pt x="72923" y="246379"/>
                </a:lnTo>
                <a:lnTo>
                  <a:pt x="74799" y="247650"/>
                </a:lnTo>
                <a:close/>
              </a:path>
              <a:path w="444500" h="300989">
                <a:moveTo>
                  <a:pt x="323972" y="284479"/>
                </a:moveTo>
                <a:lnTo>
                  <a:pt x="274955" y="284479"/>
                </a:lnTo>
                <a:lnTo>
                  <a:pt x="285191" y="281939"/>
                </a:lnTo>
                <a:lnTo>
                  <a:pt x="284975" y="281939"/>
                </a:lnTo>
                <a:lnTo>
                  <a:pt x="295008" y="279400"/>
                </a:lnTo>
                <a:lnTo>
                  <a:pt x="294792" y="279400"/>
                </a:lnTo>
                <a:lnTo>
                  <a:pt x="304596" y="276860"/>
                </a:lnTo>
                <a:lnTo>
                  <a:pt x="304380" y="276860"/>
                </a:lnTo>
                <a:lnTo>
                  <a:pt x="313944" y="274320"/>
                </a:lnTo>
                <a:lnTo>
                  <a:pt x="313715" y="274320"/>
                </a:lnTo>
                <a:lnTo>
                  <a:pt x="323024" y="271779"/>
                </a:lnTo>
                <a:lnTo>
                  <a:pt x="322808" y="271779"/>
                </a:lnTo>
                <a:lnTo>
                  <a:pt x="331851" y="267970"/>
                </a:lnTo>
                <a:lnTo>
                  <a:pt x="331622" y="267970"/>
                </a:lnTo>
                <a:lnTo>
                  <a:pt x="340385" y="264160"/>
                </a:lnTo>
                <a:lnTo>
                  <a:pt x="340156" y="264160"/>
                </a:lnTo>
                <a:lnTo>
                  <a:pt x="348627" y="260350"/>
                </a:lnTo>
                <a:lnTo>
                  <a:pt x="348399" y="260350"/>
                </a:lnTo>
                <a:lnTo>
                  <a:pt x="356552" y="256539"/>
                </a:lnTo>
                <a:lnTo>
                  <a:pt x="356323" y="256539"/>
                </a:lnTo>
                <a:lnTo>
                  <a:pt x="364159" y="251460"/>
                </a:lnTo>
                <a:lnTo>
                  <a:pt x="363931" y="251460"/>
                </a:lnTo>
                <a:lnTo>
                  <a:pt x="371424" y="246379"/>
                </a:lnTo>
                <a:lnTo>
                  <a:pt x="371195" y="247650"/>
                </a:lnTo>
                <a:lnTo>
                  <a:pt x="392658" y="247650"/>
                </a:lnTo>
                <a:lnTo>
                  <a:pt x="385635" y="252729"/>
                </a:lnTo>
                <a:lnTo>
                  <a:pt x="378256" y="257810"/>
                </a:lnTo>
                <a:lnTo>
                  <a:pt x="370522" y="262889"/>
                </a:lnTo>
                <a:lnTo>
                  <a:pt x="362470" y="266700"/>
                </a:lnTo>
                <a:lnTo>
                  <a:pt x="354088" y="271779"/>
                </a:lnTo>
                <a:lnTo>
                  <a:pt x="345389" y="275589"/>
                </a:lnTo>
                <a:lnTo>
                  <a:pt x="336410" y="279400"/>
                </a:lnTo>
                <a:lnTo>
                  <a:pt x="327152" y="283210"/>
                </a:lnTo>
                <a:lnTo>
                  <a:pt x="323972" y="284479"/>
                </a:lnTo>
                <a:close/>
              </a:path>
              <a:path w="444500" h="300989">
                <a:moveTo>
                  <a:pt x="174415" y="284479"/>
                </a:moveTo>
                <a:lnTo>
                  <a:pt x="169405" y="284479"/>
                </a:lnTo>
                <a:lnTo>
                  <a:pt x="169189" y="283210"/>
                </a:lnTo>
                <a:lnTo>
                  <a:pt x="174415" y="284479"/>
                </a:lnTo>
                <a:close/>
              </a:path>
              <a:path w="444500" h="300989">
                <a:moveTo>
                  <a:pt x="312724" y="288289"/>
                </a:moveTo>
                <a:lnTo>
                  <a:pt x="232968" y="288289"/>
                </a:lnTo>
                <a:lnTo>
                  <a:pt x="243928" y="287020"/>
                </a:lnTo>
                <a:lnTo>
                  <a:pt x="254304" y="287020"/>
                </a:lnTo>
                <a:lnTo>
                  <a:pt x="264934" y="285750"/>
                </a:lnTo>
                <a:lnTo>
                  <a:pt x="264718" y="285750"/>
                </a:lnTo>
                <a:lnTo>
                  <a:pt x="275170" y="283210"/>
                </a:lnTo>
                <a:lnTo>
                  <a:pt x="274955" y="284479"/>
                </a:lnTo>
                <a:lnTo>
                  <a:pt x="323972" y="284479"/>
                </a:lnTo>
                <a:lnTo>
                  <a:pt x="317614" y="287020"/>
                </a:lnTo>
                <a:lnTo>
                  <a:pt x="312724" y="288289"/>
                </a:lnTo>
                <a:close/>
              </a:path>
              <a:path w="444500" h="300989">
                <a:moveTo>
                  <a:pt x="233616" y="300989"/>
                </a:moveTo>
                <a:lnTo>
                  <a:pt x="210959" y="300989"/>
                </a:lnTo>
                <a:lnTo>
                  <a:pt x="199567" y="299720"/>
                </a:lnTo>
                <a:lnTo>
                  <a:pt x="244576" y="299720"/>
                </a:lnTo>
                <a:lnTo>
                  <a:pt x="233616" y="300989"/>
                </a:lnTo>
                <a:close/>
              </a:path>
            </a:pathLst>
          </a:custGeom>
          <a:solidFill>
            <a:srgbClr val="006C39"/>
          </a:solidFill>
        </p:spPr>
        <p:txBody>
          <a:bodyPr wrap="square" lIns="0" tIns="0" rIns="0" bIns="0" rtlCol="0"/>
          <a:lstStyle/>
          <a:p>
            <a:endParaRPr/>
          </a:p>
        </p:txBody>
      </p:sp>
      <p:sp>
        <p:nvSpPr>
          <p:cNvPr id="67" name="object 67"/>
          <p:cNvSpPr txBox="1"/>
          <p:nvPr/>
        </p:nvSpPr>
        <p:spPr>
          <a:xfrm>
            <a:off x="4067683" y="4298263"/>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68" name="object 68"/>
          <p:cNvSpPr txBox="1"/>
          <p:nvPr/>
        </p:nvSpPr>
        <p:spPr>
          <a:xfrm>
            <a:off x="252984" y="3791000"/>
            <a:ext cx="3168650" cy="1414780"/>
          </a:xfrm>
          <a:prstGeom prst="rect">
            <a:avLst/>
          </a:prstGeom>
        </p:spPr>
        <p:txBody>
          <a:bodyPr vert="horz" wrap="square" lIns="0" tIns="12065" rIns="0" bIns="0" rtlCol="0">
            <a:spAutoFit/>
          </a:bodyPr>
          <a:lstStyle/>
          <a:p>
            <a:pPr algn="ctr">
              <a:lnSpc>
                <a:spcPct val="100000"/>
              </a:lnSpc>
              <a:spcBef>
                <a:spcPts val="95"/>
              </a:spcBef>
            </a:pPr>
            <a:r>
              <a:rPr sz="1600" dirty="0">
                <a:latin typeface="微软雅黑"/>
                <a:cs typeface="微软雅黑"/>
              </a:rPr>
              <a:t>字符节点</a:t>
            </a:r>
            <a:r>
              <a:rPr sz="1600" spc="-5" dirty="0">
                <a:latin typeface="微软雅黑"/>
                <a:cs typeface="微软雅黑"/>
              </a:rPr>
              <a:t>流</a:t>
            </a:r>
            <a:endParaRPr sz="1600">
              <a:latin typeface="微软雅黑"/>
              <a:cs typeface="微软雅黑"/>
            </a:endParaRPr>
          </a:p>
          <a:p>
            <a:pPr>
              <a:lnSpc>
                <a:spcPct val="100000"/>
              </a:lnSpc>
              <a:spcBef>
                <a:spcPts val="35"/>
              </a:spcBef>
            </a:pPr>
            <a:endParaRPr sz="1350">
              <a:latin typeface="微软雅黑"/>
              <a:cs typeface="微软雅黑"/>
            </a:endParaRPr>
          </a:p>
          <a:p>
            <a:pPr marL="1047750" marR="1040765" algn="ctr">
              <a:lnSpc>
                <a:spcPct val="169300"/>
              </a:lnSpc>
            </a:pPr>
            <a:r>
              <a:rPr sz="1600" spc="-5" dirty="0">
                <a:latin typeface="Times New Roman"/>
                <a:cs typeface="Times New Roman"/>
              </a:rPr>
              <a:t>StringReader  FileReader</a:t>
            </a:r>
            <a:endParaRPr sz="1600">
              <a:latin typeface="Times New Roman"/>
              <a:cs typeface="Times New Roman"/>
            </a:endParaRPr>
          </a:p>
        </p:txBody>
      </p:sp>
      <p:sp>
        <p:nvSpPr>
          <p:cNvPr id="69" name="object 69"/>
          <p:cNvSpPr txBox="1"/>
          <p:nvPr/>
        </p:nvSpPr>
        <p:spPr>
          <a:xfrm>
            <a:off x="252984" y="933069"/>
            <a:ext cx="3168650" cy="1445260"/>
          </a:xfrm>
          <a:prstGeom prst="rect">
            <a:avLst/>
          </a:prstGeom>
        </p:spPr>
        <p:txBody>
          <a:bodyPr vert="horz" wrap="square" lIns="0" tIns="12065" rIns="0" bIns="0" rtlCol="0">
            <a:spAutoFit/>
          </a:bodyPr>
          <a:lstStyle/>
          <a:p>
            <a:pPr algn="ctr">
              <a:lnSpc>
                <a:spcPct val="100000"/>
              </a:lnSpc>
              <a:spcBef>
                <a:spcPts val="95"/>
              </a:spcBef>
            </a:pPr>
            <a:r>
              <a:rPr sz="1600" dirty="0">
                <a:latin typeface="微软雅黑"/>
                <a:cs typeface="微软雅黑"/>
              </a:rPr>
              <a:t>字节节点</a:t>
            </a:r>
            <a:r>
              <a:rPr sz="1600" spc="-5" dirty="0">
                <a:latin typeface="微软雅黑"/>
                <a:cs typeface="微软雅黑"/>
              </a:rPr>
              <a:t>流</a:t>
            </a:r>
            <a:endParaRPr sz="1600">
              <a:latin typeface="微软雅黑"/>
              <a:cs typeface="微软雅黑"/>
            </a:endParaRPr>
          </a:p>
          <a:p>
            <a:pPr>
              <a:lnSpc>
                <a:spcPct val="100000"/>
              </a:lnSpc>
              <a:spcBef>
                <a:spcPts val="90"/>
              </a:spcBef>
            </a:pPr>
            <a:endParaRPr sz="1450">
              <a:latin typeface="微软雅黑"/>
              <a:cs typeface="微软雅黑"/>
            </a:endParaRPr>
          </a:p>
          <a:p>
            <a:pPr marL="652145" marR="645160" algn="ctr">
              <a:lnSpc>
                <a:spcPct val="169200"/>
              </a:lnSpc>
            </a:pPr>
            <a:r>
              <a:rPr sz="1600" spc="-5" dirty="0">
                <a:latin typeface="Times New Roman"/>
                <a:cs typeface="Times New Roman"/>
              </a:rPr>
              <a:t>ByteArrayInputStream  FileInputStream</a:t>
            </a:r>
            <a:endParaRPr sz="1600">
              <a:latin typeface="Times New Roman"/>
              <a:cs typeface="Times New Roman"/>
            </a:endParaRPr>
          </a:p>
        </p:txBody>
      </p:sp>
      <p:sp>
        <p:nvSpPr>
          <p:cNvPr id="70" name="object 70"/>
          <p:cNvSpPr txBox="1">
            <a:spLocks noGrp="1"/>
          </p:cNvSpPr>
          <p:nvPr>
            <p:ph type="title"/>
          </p:nvPr>
        </p:nvSpPr>
        <p:spPr>
          <a:xfrm>
            <a:off x="5010797" y="550265"/>
            <a:ext cx="1168400" cy="299720"/>
          </a:xfrm>
          <a:prstGeom prst="rect">
            <a:avLst/>
          </a:prstGeom>
        </p:spPr>
        <p:txBody>
          <a:bodyPr vert="horz" wrap="square" lIns="0" tIns="12700" rIns="0" bIns="0" rtlCol="0">
            <a:spAutoFit/>
          </a:bodyPr>
          <a:lstStyle/>
          <a:p>
            <a:pPr marL="12700">
              <a:lnSpc>
                <a:spcPct val="100000"/>
              </a:lnSpc>
              <a:spcBef>
                <a:spcPts val="100"/>
              </a:spcBef>
            </a:pPr>
            <a:r>
              <a:rPr sz="1800" b="0" dirty="0">
                <a:latin typeface="微软雅黑"/>
                <a:cs typeface="微软雅黑"/>
              </a:rPr>
              <a:t>字节处理流</a:t>
            </a:r>
            <a:endParaRPr sz="1800">
              <a:latin typeface="微软雅黑"/>
              <a:cs typeface="微软雅黑"/>
            </a:endParaRPr>
          </a:p>
        </p:txBody>
      </p:sp>
      <p:sp>
        <p:nvSpPr>
          <p:cNvPr id="71" name="object 71"/>
          <p:cNvSpPr txBox="1"/>
          <p:nvPr/>
        </p:nvSpPr>
        <p:spPr>
          <a:xfrm>
            <a:off x="5010518" y="5302796"/>
            <a:ext cx="11684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a:cs typeface="微软雅黑"/>
              </a:rPr>
              <a:t>字符处理流</a:t>
            </a:r>
            <a:endParaRPr sz="1800">
              <a:latin typeface="微软雅黑"/>
              <a:cs typeface="微软雅黑"/>
            </a:endParaRPr>
          </a:p>
        </p:txBody>
      </p:sp>
      <p:sp>
        <p:nvSpPr>
          <p:cNvPr id="72" name="object 72"/>
          <p:cNvSpPr/>
          <p:nvPr/>
        </p:nvSpPr>
        <p:spPr>
          <a:xfrm>
            <a:off x="3419868" y="2428443"/>
            <a:ext cx="4537710" cy="76200"/>
          </a:xfrm>
          <a:custGeom>
            <a:avLst/>
            <a:gdLst/>
            <a:ahLst/>
            <a:cxnLst/>
            <a:rect l="l" t="t" r="r" b="b"/>
            <a:pathLst>
              <a:path w="4537709" h="76200">
                <a:moveTo>
                  <a:pt x="4461052" y="76200"/>
                </a:moveTo>
                <a:lnTo>
                  <a:pt x="4461052" y="0"/>
                </a:lnTo>
                <a:lnTo>
                  <a:pt x="4524552" y="31750"/>
                </a:lnTo>
                <a:lnTo>
                  <a:pt x="4480102" y="31750"/>
                </a:lnTo>
                <a:lnTo>
                  <a:pt x="4480102" y="44450"/>
                </a:lnTo>
                <a:lnTo>
                  <a:pt x="4524552" y="44450"/>
                </a:lnTo>
                <a:lnTo>
                  <a:pt x="4461052" y="76200"/>
                </a:lnTo>
                <a:close/>
              </a:path>
              <a:path w="4537709" h="76200">
                <a:moveTo>
                  <a:pt x="4461052" y="44450"/>
                </a:moveTo>
                <a:lnTo>
                  <a:pt x="0" y="44450"/>
                </a:lnTo>
                <a:lnTo>
                  <a:pt x="0" y="31750"/>
                </a:lnTo>
                <a:lnTo>
                  <a:pt x="4461052" y="31750"/>
                </a:lnTo>
                <a:lnTo>
                  <a:pt x="4461052" y="44450"/>
                </a:lnTo>
                <a:close/>
              </a:path>
              <a:path w="4537709" h="76200">
                <a:moveTo>
                  <a:pt x="4524552" y="44450"/>
                </a:moveTo>
                <a:lnTo>
                  <a:pt x="4480102" y="44450"/>
                </a:lnTo>
                <a:lnTo>
                  <a:pt x="4480102" y="31750"/>
                </a:lnTo>
                <a:lnTo>
                  <a:pt x="4524552" y="31750"/>
                </a:lnTo>
                <a:lnTo>
                  <a:pt x="4537252" y="38100"/>
                </a:lnTo>
                <a:lnTo>
                  <a:pt x="4524552" y="44450"/>
                </a:lnTo>
                <a:close/>
              </a:path>
            </a:pathLst>
          </a:custGeom>
          <a:solidFill>
            <a:srgbClr val="967A2C"/>
          </a:solidFill>
        </p:spPr>
        <p:txBody>
          <a:bodyPr wrap="square" lIns="0" tIns="0" rIns="0" bIns="0" rtlCol="0"/>
          <a:lstStyle/>
          <a:p>
            <a:endParaRPr/>
          </a:p>
        </p:txBody>
      </p:sp>
      <p:sp>
        <p:nvSpPr>
          <p:cNvPr id="73" name="object 73"/>
          <p:cNvSpPr/>
          <p:nvPr/>
        </p:nvSpPr>
        <p:spPr>
          <a:xfrm>
            <a:off x="3419868" y="5047081"/>
            <a:ext cx="4537710" cy="76200"/>
          </a:xfrm>
          <a:custGeom>
            <a:avLst/>
            <a:gdLst/>
            <a:ahLst/>
            <a:cxnLst/>
            <a:rect l="l" t="t" r="r" b="b"/>
            <a:pathLst>
              <a:path w="4537709" h="76200">
                <a:moveTo>
                  <a:pt x="4461052" y="76200"/>
                </a:moveTo>
                <a:lnTo>
                  <a:pt x="4461052" y="0"/>
                </a:lnTo>
                <a:lnTo>
                  <a:pt x="4524552" y="31750"/>
                </a:lnTo>
                <a:lnTo>
                  <a:pt x="4480102" y="31750"/>
                </a:lnTo>
                <a:lnTo>
                  <a:pt x="4480102" y="44450"/>
                </a:lnTo>
                <a:lnTo>
                  <a:pt x="4524552" y="44450"/>
                </a:lnTo>
                <a:lnTo>
                  <a:pt x="4461052" y="76200"/>
                </a:lnTo>
                <a:close/>
              </a:path>
              <a:path w="4537709" h="76200">
                <a:moveTo>
                  <a:pt x="4461052" y="44450"/>
                </a:moveTo>
                <a:lnTo>
                  <a:pt x="0" y="44450"/>
                </a:lnTo>
                <a:lnTo>
                  <a:pt x="0" y="31750"/>
                </a:lnTo>
                <a:lnTo>
                  <a:pt x="4461052" y="31750"/>
                </a:lnTo>
                <a:lnTo>
                  <a:pt x="4461052" y="44450"/>
                </a:lnTo>
                <a:close/>
              </a:path>
              <a:path w="4537709" h="76200">
                <a:moveTo>
                  <a:pt x="4524552" y="44450"/>
                </a:moveTo>
                <a:lnTo>
                  <a:pt x="4480102" y="44450"/>
                </a:lnTo>
                <a:lnTo>
                  <a:pt x="4480102" y="31750"/>
                </a:lnTo>
                <a:lnTo>
                  <a:pt x="4524552" y="31750"/>
                </a:lnTo>
                <a:lnTo>
                  <a:pt x="4537252" y="38100"/>
                </a:lnTo>
                <a:lnTo>
                  <a:pt x="4524552" y="44450"/>
                </a:lnTo>
                <a:close/>
              </a:path>
            </a:pathLst>
          </a:custGeom>
          <a:solidFill>
            <a:srgbClr val="967A2C"/>
          </a:solidFill>
        </p:spPr>
        <p:txBody>
          <a:bodyPr wrap="square" lIns="0" tIns="0" rIns="0" bIns="0" rtlCol="0"/>
          <a:lstStyle/>
          <a:p>
            <a:endParaRPr/>
          </a:p>
        </p:txBody>
      </p:sp>
      <p:sp>
        <p:nvSpPr>
          <p:cNvPr id="74" name="object 7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69</a:t>
            </a:fld>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580888" y="765048"/>
            <a:ext cx="3168395" cy="244602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5576430" y="760895"/>
            <a:ext cx="3176270" cy="2454910"/>
          </a:xfrm>
          <a:custGeom>
            <a:avLst/>
            <a:gdLst/>
            <a:ahLst/>
            <a:cxnLst/>
            <a:rect l="l" t="t" r="r" b="b"/>
            <a:pathLst>
              <a:path w="3176270" h="2454910">
                <a:moveTo>
                  <a:pt x="3176269" y="2454287"/>
                </a:moveTo>
                <a:lnTo>
                  <a:pt x="0" y="2454287"/>
                </a:lnTo>
                <a:lnTo>
                  <a:pt x="0" y="0"/>
                </a:lnTo>
                <a:lnTo>
                  <a:pt x="3176269" y="0"/>
                </a:lnTo>
                <a:lnTo>
                  <a:pt x="3176269" y="3809"/>
                </a:lnTo>
                <a:lnTo>
                  <a:pt x="7620" y="3809"/>
                </a:lnTo>
                <a:lnTo>
                  <a:pt x="3810" y="7619"/>
                </a:lnTo>
                <a:lnTo>
                  <a:pt x="7620" y="7619"/>
                </a:lnTo>
                <a:lnTo>
                  <a:pt x="7620" y="2446667"/>
                </a:lnTo>
                <a:lnTo>
                  <a:pt x="3810" y="2446667"/>
                </a:lnTo>
                <a:lnTo>
                  <a:pt x="7620" y="2450477"/>
                </a:lnTo>
                <a:lnTo>
                  <a:pt x="3176269" y="2450477"/>
                </a:lnTo>
                <a:lnTo>
                  <a:pt x="3176269" y="2454287"/>
                </a:lnTo>
                <a:close/>
              </a:path>
              <a:path w="3176270" h="2454910">
                <a:moveTo>
                  <a:pt x="7620" y="7619"/>
                </a:moveTo>
                <a:lnTo>
                  <a:pt x="3810" y="7619"/>
                </a:lnTo>
                <a:lnTo>
                  <a:pt x="7620" y="3809"/>
                </a:lnTo>
                <a:lnTo>
                  <a:pt x="7620" y="7619"/>
                </a:lnTo>
                <a:close/>
              </a:path>
              <a:path w="3176270" h="2454910">
                <a:moveTo>
                  <a:pt x="3168650" y="7619"/>
                </a:moveTo>
                <a:lnTo>
                  <a:pt x="7620" y="7619"/>
                </a:lnTo>
                <a:lnTo>
                  <a:pt x="7620" y="3809"/>
                </a:lnTo>
                <a:lnTo>
                  <a:pt x="3168650" y="3809"/>
                </a:lnTo>
                <a:lnTo>
                  <a:pt x="3168650" y="7619"/>
                </a:lnTo>
                <a:close/>
              </a:path>
              <a:path w="3176270" h="2454910">
                <a:moveTo>
                  <a:pt x="3168650" y="2450477"/>
                </a:moveTo>
                <a:lnTo>
                  <a:pt x="3168650" y="3809"/>
                </a:lnTo>
                <a:lnTo>
                  <a:pt x="3172460" y="7619"/>
                </a:lnTo>
                <a:lnTo>
                  <a:pt x="3176269" y="7619"/>
                </a:lnTo>
                <a:lnTo>
                  <a:pt x="3176269" y="2446667"/>
                </a:lnTo>
                <a:lnTo>
                  <a:pt x="3172460" y="2446667"/>
                </a:lnTo>
                <a:lnTo>
                  <a:pt x="3168650" y="2450477"/>
                </a:lnTo>
                <a:close/>
              </a:path>
              <a:path w="3176270" h="2454910">
                <a:moveTo>
                  <a:pt x="3176269" y="7619"/>
                </a:moveTo>
                <a:lnTo>
                  <a:pt x="3172460" y="7619"/>
                </a:lnTo>
                <a:lnTo>
                  <a:pt x="3168650" y="3809"/>
                </a:lnTo>
                <a:lnTo>
                  <a:pt x="3176269" y="3809"/>
                </a:lnTo>
                <a:lnTo>
                  <a:pt x="3176269" y="7619"/>
                </a:lnTo>
                <a:close/>
              </a:path>
              <a:path w="3176270" h="2454910">
                <a:moveTo>
                  <a:pt x="7620" y="2450477"/>
                </a:moveTo>
                <a:lnTo>
                  <a:pt x="3810" y="2446667"/>
                </a:lnTo>
                <a:lnTo>
                  <a:pt x="7620" y="2446667"/>
                </a:lnTo>
                <a:lnTo>
                  <a:pt x="7620" y="2450477"/>
                </a:lnTo>
                <a:close/>
              </a:path>
              <a:path w="3176270" h="2454910">
                <a:moveTo>
                  <a:pt x="3168650" y="2450477"/>
                </a:moveTo>
                <a:lnTo>
                  <a:pt x="7620" y="2450477"/>
                </a:lnTo>
                <a:lnTo>
                  <a:pt x="7620" y="2446667"/>
                </a:lnTo>
                <a:lnTo>
                  <a:pt x="3168650" y="2446667"/>
                </a:lnTo>
                <a:lnTo>
                  <a:pt x="3168650" y="2450477"/>
                </a:lnTo>
                <a:close/>
              </a:path>
              <a:path w="3176270" h="2454910">
                <a:moveTo>
                  <a:pt x="3176269" y="2450477"/>
                </a:moveTo>
                <a:lnTo>
                  <a:pt x="3168650" y="2450477"/>
                </a:lnTo>
                <a:lnTo>
                  <a:pt x="3172460" y="2446667"/>
                </a:lnTo>
                <a:lnTo>
                  <a:pt x="3176269" y="2446667"/>
                </a:lnTo>
                <a:lnTo>
                  <a:pt x="3176269" y="2450477"/>
                </a:lnTo>
                <a:close/>
              </a:path>
            </a:pathLst>
          </a:custGeom>
          <a:solidFill>
            <a:srgbClr val="3E3E3E"/>
          </a:solidFill>
        </p:spPr>
        <p:txBody>
          <a:bodyPr wrap="square" lIns="0" tIns="0" rIns="0" bIns="0" rtlCol="0"/>
          <a:lstStyle/>
          <a:p>
            <a:endParaRPr/>
          </a:p>
        </p:txBody>
      </p:sp>
      <p:sp>
        <p:nvSpPr>
          <p:cNvPr id="4" name="object 4"/>
          <p:cNvSpPr/>
          <p:nvPr/>
        </p:nvSpPr>
        <p:spPr>
          <a:xfrm>
            <a:off x="5795771" y="1917192"/>
            <a:ext cx="2737485" cy="338455"/>
          </a:xfrm>
          <a:custGeom>
            <a:avLst/>
            <a:gdLst/>
            <a:ahLst/>
            <a:cxnLst/>
            <a:rect l="l" t="t" r="r" b="b"/>
            <a:pathLst>
              <a:path w="2737484" h="338455">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5" name="object 5"/>
          <p:cNvSpPr/>
          <p:nvPr/>
        </p:nvSpPr>
        <p:spPr>
          <a:xfrm>
            <a:off x="5789790" y="1910486"/>
            <a:ext cx="2749550" cy="351155"/>
          </a:xfrm>
          <a:custGeom>
            <a:avLst/>
            <a:gdLst/>
            <a:ahLst/>
            <a:cxnLst/>
            <a:rect l="l" t="t" r="r" b="b"/>
            <a:pathLst>
              <a:path w="2749550" h="351155">
                <a:moveTo>
                  <a:pt x="2749550" y="351154"/>
                </a:moveTo>
                <a:lnTo>
                  <a:pt x="0" y="351154"/>
                </a:lnTo>
                <a:lnTo>
                  <a:pt x="0" y="0"/>
                </a:lnTo>
                <a:lnTo>
                  <a:pt x="2749550" y="0"/>
                </a:lnTo>
                <a:lnTo>
                  <a:pt x="2749550" y="6349"/>
                </a:lnTo>
                <a:lnTo>
                  <a:pt x="12700" y="6349"/>
                </a:lnTo>
                <a:lnTo>
                  <a:pt x="6350" y="12699"/>
                </a:lnTo>
                <a:lnTo>
                  <a:pt x="12700" y="12699"/>
                </a:lnTo>
                <a:lnTo>
                  <a:pt x="12700" y="338454"/>
                </a:lnTo>
                <a:lnTo>
                  <a:pt x="6350" y="338454"/>
                </a:lnTo>
                <a:lnTo>
                  <a:pt x="12700" y="344804"/>
                </a:lnTo>
                <a:lnTo>
                  <a:pt x="2749550" y="344804"/>
                </a:lnTo>
                <a:lnTo>
                  <a:pt x="2749550" y="351154"/>
                </a:lnTo>
                <a:close/>
              </a:path>
              <a:path w="2749550" h="351155">
                <a:moveTo>
                  <a:pt x="12700" y="12699"/>
                </a:moveTo>
                <a:lnTo>
                  <a:pt x="6350" y="12699"/>
                </a:lnTo>
                <a:lnTo>
                  <a:pt x="12700" y="6349"/>
                </a:lnTo>
                <a:lnTo>
                  <a:pt x="12700" y="12699"/>
                </a:lnTo>
                <a:close/>
              </a:path>
              <a:path w="2749550" h="351155">
                <a:moveTo>
                  <a:pt x="2736850" y="12699"/>
                </a:moveTo>
                <a:lnTo>
                  <a:pt x="12700" y="12699"/>
                </a:lnTo>
                <a:lnTo>
                  <a:pt x="12700" y="6349"/>
                </a:lnTo>
                <a:lnTo>
                  <a:pt x="2736850" y="6349"/>
                </a:lnTo>
                <a:lnTo>
                  <a:pt x="2736850" y="12699"/>
                </a:lnTo>
                <a:close/>
              </a:path>
              <a:path w="2749550" h="351155">
                <a:moveTo>
                  <a:pt x="2736850" y="344804"/>
                </a:moveTo>
                <a:lnTo>
                  <a:pt x="2736850" y="6349"/>
                </a:lnTo>
                <a:lnTo>
                  <a:pt x="2743200" y="12699"/>
                </a:lnTo>
                <a:lnTo>
                  <a:pt x="2749550" y="12699"/>
                </a:lnTo>
                <a:lnTo>
                  <a:pt x="2749550" y="338454"/>
                </a:lnTo>
                <a:lnTo>
                  <a:pt x="2743200" y="338454"/>
                </a:lnTo>
                <a:lnTo>
                  <a:pt x="2736850" y="344804"/>
                </a:lnTo>
                <a:close/>
              </a:path>
              <a:path w="2749550" h="351155">
                <a:moveTo>
                  <a:pt x="2749550" y="12699"/>
                </a:moveTo>
                <a:lnTo>
                  <a:pt x="2743200" y="12699"/>
                </a:lnTo>
                <a:lnTo>
                  <a:pt x="2736850" y="6349"/>
                </a:lnTo>
                <a:lnTo>
                  <a:pt x="2749550" y="6349"/>
                </a:lnTo>
                <a:lnTo>
                  <a:pt x="2749550" y="12699"/>
                </a:lnTo>
                <a:close/>
              </a:path>
              <a:path w="2749550" h="351155">
                <a:moveTo>
                  <a:pt x="12700" y="344804"/>
                </a:moveTo>
                <a:lnTo>
                  <a:pt x="6350" y="338454"/>
                </a:lnTo>
                <a:lnTo>
                  <a:pt x="12700" y="338454"/>
                </a:lnTo>
                <a:lnTo>
                  <a:pt x="12700" y="344804"/>
                </a:lnTo>
                <a:close/>
              </a:path>
              <a:path w="2749550" h="351155">
                <a:moveTo>
                  <a:pt x="2736850" y="344804"/>
                </a:moveTo>
                <a:lnTo>
                  <a:pt x="12700" y="344804"/>
                </a:lnTo>
                <a:lnTo>
                  <a:pt x="12700" y="338454"/>
                </a:lnTo>
                <a:lnTo>
                  <a:pt x="2736850" y="338454"/>
                </a:lnTo>
                <a:lnTo>
                  <a:pt x="2736850" y="344804"/>
                </a:lnTo>
                <a:close/>
              </a:path>
              <a:path w="2749550" h="351155">
                <a:moveTo>
                  <a:pt x="2749550" y="344804"/>
                </a:moveTo>
                <a:lnTo>
                  <a:pt x="2736850" y="344804"/>
                </a:lnTo>
                <a:lnTo>
                  <a:pt x="2743200" y="338454"/>
                </a:lnTo>
                <a:lnTo>
                  <a:pt x="2749550" y="338454"/>
                </a:lnTo>
                <a:lnTo>
                  <a:pt x="2749550" y="344804"/>
                </a:lnTo>
                <a:close/>
              </a:path>
            </a:pathLst>
          </a:custGeom>
          <a:solidFill>
            <a:srgbClr val="0000FF"/>
          </a:solidFill>
        </p:spPr>
        <p:txBody>
          <a:bodyPr wrap="square" lIns="0" tIns="0" rIns="0" bIns="0" rtlCol="0"/>
          <a:lstStyle/>
          <a:p>
            <a:endParaRPr/>
          </a:p>
        </p:txBody>
      </p:sp>
      <p:sp>
        <p:nvSpPr>
          <p:cNvPr id="6" name="object 6"/>
          <p:cNvSpPr txBox="1"/>
          <p:nvPr/>
        </p:nvSpPr>
        <p:spPr>
          <a:xfrm>
            <a:off x="5795771" y="1939061"/>
            <a:ext cx="2737485" cy="268605"/>
          </a:xfrm>
          <a:prstGeom prst="rect">
            <a:avLst/>
          </a:prstGeom>
        </p:spPr>
        <p:txBody>
          <a:bodyPr vert="horz" wrap="square" lIns="0" tIns="12065" rIns="0" bIns="0" rtlCol="0">
            <a:spAutoFit/>
          </a:bodyPr>
          <a:lstStyle/>
          <a:p>
            <a:pPr marL="640080">
              <a:lnSpc>
                <a:spcPct val="100000"/>
              </a:lnSpc>
              <a:spcBef>
                <a:spcPts val="95"/>
              </a:spcBef>
            </a:pPr>
            <a:r>
              <a:rPr sz="1600" spc="-5" dirty="0">
                <a:latin typeface="Times New Roman"/>
                <a:cs typeface="Times New Roman"/>
              </a:rPr>
              <a:t>FileOutputStream</a:t>
            </a:r>
            <a:endParaRPr sz="1600">
              <a:latin typeface="Times New Roman"/>
              <a:cs typeface="Times New Roman"/>
            </a:endParaRPr>
          </a:p>
        </p:txBody>
      </p:sp>
      <p:sp>
        <p:nvSpPr>
          <p:cNvPr id="7" name="object 7"/>
          <p:cNvSpPr/>
          <p:nvPr/>
        </p:nvSpPr>
        <p:spPr>
          <a:xfrm>
            <a:off x="5795771" y="2439923"/>
            <a:ext cx="2737485" cy="338455"/>
          </a:xfrm>
          <a:custGeom>
            <a:avLst/>
            <a:gdLst/>
            <a:ahLst/>
            <a:cxnLst/>
            <a:rect l="l" t="t" r="r" b="b"/>
            <a:pathLst>
              <a:path w="2737484" h="338455">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8" name="object 8"/>
          <p:cNvSpPr/>
          <p:nvPr/>
        </p:nvSpPr>
        <p:spPr>
          <a:xfrm>
            <a:off x="5789790" y="2433840"/>
            <a:ext cx="2749550" cy="351155"/>
          </a:xfrm>
          <a:custGeom>
            <a:avLst/>
            <a:gdLst/>
            <a:ahLst/>
            <a:cxnLst/>
            <a:rect l="l" t="t" r="r" b="b"/>
            <a:pathLst>
              <a:path w="2749550" h="351155">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5">
                <a:moveTo>
                  <a:pt x="12700" y="12700"/>
                </a:moveTo>
                <a:lnTo>
                  <a:pt x="6350" y="12700"/>
                </a:lnTo>
                <a:lnTo>
                  <a:pt x="12700" y="6350"/>
                </a:lnTo>
                <a:lnTo>
                  <a:pt x="12700" y="12700"/>
                </a:lnTo>
                <a:close/>
              </a:path>
              <a:path w="2749550" h="351155">
                <a:moveTo>
                  <a:pt x="2736850" y="12700"/>
                </a:moveTo>
                <a:lnTo>
                  <a:pt x="12700" y="12700"/>
                </a:lnTo>
                <a:lnTo>
                  <a:pt x="12700" y="6350"/>
                </a:lnTo>
                <a:lnTo>
                  <a:pt x="2736850" y="6350"/>
                </a:lnTo>
                <a:lnTo>
                  <a:pt x="2736850" y="12700"/>
                </a:lnTo>
                <a:close/>
              </a:path>
              <a:path w="2749550" h="351155">
                <a:moveTo>
                  <a:pt x="2736850" y="344805"/>
                </a:moveTo>
                <a:lnTo>
                  <a:pt x="2736850" y="6350"/>
                </a:lnTo>
                <a:lnTo>
                  <a:pt x="2743200" y="12700"/>
                </a:lnTo>
                <a:lnTo>
                  <a:pt x="2749550" y="12700"/>
                </a:lnTo>
                <a:lnTo>
                  <a:pt x="2749550" y="338455"/>
                </a:lnTo>
                <a:lnTo>
                  <a:pt x="2743200" y="338455"/>
                </a:lnTo>
                <a:lnTo>
                  <a:pt x="2736850" y="344805"/>
                </a:lnTo>
                <a:close/>
              </a:path>
              <a:path w="2749550" h="351155">
                <a:moveTo>
                  <a:pt x="2749550" y="12700"/>
                </a:moveTo>
                <a:lnTo>
                  <a:pt x="2743200" y="12700"/>
                </a:lnTo>
                <a:lnTo>
                  <a:pt x="2736850" y="6350"/>
                </a:lnTo>
                <a:lnTo>
                  <a:pt x="2749550" y="6350"/>
                </a:lnTo>
                <a:lnTo>
                  <a:pt x="2749550" y="12700"/>
                </a:lnTo>
                <a:close/>
              </a:path>
              <a:path w="2749550" h="351155">
                <a:moveTo>
                  <a:pt x="12700" y="344805"/>
                </a:moveTo>
                <a:lnTo>
                  <a:pt x="6350" y="338455"/>
                </a:lnTo>
                <a:lnTo>
                  <a:pt x="12700" y="338455"/>
                </a:lnTo>
                <a:lnTo>
                  <a:pt x="12700" y="344805"/>
                </a:lnTo>
                <a:close/>
              </a:path>
              <a:path w="2749550" h="351155">
                <a:moveTo>
                  <a:pt x="2736850" y="344805"/>
                </a:moveTo>
                <a:lnTo>
                  <a:pt x="12700" y="344805"/>
                </a:lnTo>
                <a:lnTo>
                  <a:pt x="12700" y="338455"/>
                </a:lnTo>
                <a:lnTo>
                  <a:pt x="2736850" y="338455"/>
                </a:lnTo>
                <a:lnTo>
                  <a:pt x="2736850" y="344805"/>
                </a:lnTo>
                <a:close/>
              </a:path>
              <a:path w="2749550" h="351155">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9" name="object 9"/>
          <p:cNvSpPr txBox="1"/>
          <p:nvPr/>
        </p:nvSpPr>
        <p:spPr>
          <a:xfrm>
            <a:off x="5795771" y="2462415"/>
            <a:ext cx="2737485" cy="268605"/>
          </a:xfrm>
          <a:prstGeom prst="rect">
            <a:avLst/>
          </a:prstGeom>
        </p:spPr>
        <p:txBody>
          <a:bodyPr vert="horz" wrap="square" lIns="0" tIns="12065" rIns="0" bIns="0" rtlCol="0">
            <a:spAutoFit/>
          </a:bodyPr>
          <a:lstStyle/>
          <a:p>
            <a:pPr marL="304165">
              <a:lnSpc>
                <a:spcPct val="100000"/>
              </a:lnSpc>
              <a:spcBef>
                <a:spcPts val="95"/>
              </a:spcBef>
            </a:pPr>
            <a:r>
              <a:rPr sz="1600" spc="-5" dirty="0">
                <a:latin typeface="Times New Roman"/>
                <a:cs typeface="Times New Roman"/>
              </a:rPr>
              <a:t>Socket.getOutputStream()</a:t>
            </a:r>
            <a:endParaRPr sz="1600">
              <a:latin typeface="Times New Roman"/>
              <a:cs typeface="Times New Roman"/>
            </a:endParaRPr>
          </a:p>
        </p:txBody>
      </p:sp>
      <p:sp>
        <p:nvSpPr>
          <p:cNvPr id="10" name="object 10"/>
          <p:cNvSpPr/>
          <p:nvPr/>
        </p:nvSpPr>
        <p:spPr>
          <a:xfrm>
            <a:off x="1044714" y="2410015"/>
            <a:ext cx="1006475" cy="76200"/>
          </a:xfrm>
          <a:custGeom>
            <a:avLst/>
            <a:gdLst/>
            <a:ahLst/>
            <a:cxnLst/>
            <a:rect l="l" t="t" r="r" b="b"/>
            <a:pathLst>
              <a:path w="1006475" h="76200">
                <a:moveTo>
                  <a:pt x="993884" y="44551"/>
                </a:moveTo>
                <a:lnTo>
                  <a:pt x="948982" y="44551"/>
                </a:lnTo>
                <a:lnTo>
                  <a:pt x="949045" y="31851"/>
                </a:lnTo>
                <a:lnTo>
                  <a:pt x="929996" y="31752"/>
                </a:lnTo>
                <a:lnTo>
                  <a:pt x="930160" y="0"/>
                </a:lnTo>
                <a:lnTo>
                  <a:pt x="1006157" y="38493"/>
                </a:lnTo>
                <a:lnTo>
                  <a:pt x="993884" y="44551"/>
                </a:lnTo>
                <a:close/>
              </a:path>
              <a:path w="1006475" h="76200">
                <a:moveTo>
                  <a:pt x="929931" y="44452"/>
                </a:moveTo>
                <a:lnTo>
                  <a:pt x="0" y="39624"/>
                </a:lnTo>
                <a:lnTo>
                  <a:pt x="63" y="26924"/>
                </a:lnTo>
                <a:lnTo>
                  <a:pt x="929996" y="31752"/>
                </a:lnTo>
                <a:lnTo>
                  <a:pt x="929931" y="44452"/>
                </a:lnTo>
                <a:close/>
              </a:path>
              <a:path w="1006475" h="76200">
                <a:moveTo>
                  <a:pt x="948982" y="44551"/>
                </a:moveTo>
                <a:lnTo>
                  <a:pt x="929931" y="44452"/>
                </a:lnTo>
                <a:lnTo>
                  <a:pt x="929996" y="31752"/>
                </a:lnTo>
                <a:lnTo>
                  <a:pt x="949045" y="31851"/>
                </a:lnTo>
                <a:lnTo>
                  <a:pt x="948982" y="44551"/>
                </a:lnTo>
                <a:close/>
              </a:path>
              <a:path w="1006475" h="76200">
                <a:moveTo>
                  <a:pt x="929767" y="76200"/>
                </a:moveTo>
                <a:lnTo>
                  <a:pt x="929931" y="44452"/>
                </a:lnTo>
                <a:lnTo>
                  <a:pt x="993884" y="44551"/>
                </a:lnTo>
                <a:lnTo>
                  <a:pt x="929767" y="76200"/>
                </a:lnTo>
                <a:close/>
              </a:path>
            </a:pathLst>
          </a:custGeom>
          <a:solidFill>
            <a:srgbClr val="967A2C"/>
          </a:solidFill>
        </p:spPr>
        <p:txBody>
          <a:bodyPr wrap="square" lIns="0" tIns="0" rIns="0" bIns="0" rtlCol="0"/>
          <a:lstStyle/>
          <a:p>
            <a:endParaRPr/>
          </a:p>
        </p:txBody>
      </p:sp>
      <p:sp>
        <p:nvSpPr>
          <p:cNvPr id="11" name="object 11"/>
          <p:cNvSpPr/>
          <p:nvPr/>
        </p:nvSpPr>
        <p:spPr>
          <a:xfrm>
            <a:off x="4369574" y="758355"/>
            <a:ext cx="1210665" cy="347294"/>
          </a:xfrm>
          <a:prstGeom prst="rect">
            <a:avLst/>
          </a:prstGeom>
          <a:blipFill>
            <a:blip r:embed="rId3" cstate="print"/>
            <a:stretch>
              <a:fillRect/>
            </a:stretch>
          </a:blipFill>
        </p:spPr>
        <p:txBody>
          <a:bodyPr wrap="square" lIns="0" tIns="0" rIns="0" bIns="0" rtlCol="0"/>
          <a:lstStyle/>
          <a:p>
            <a:endParaRPr/>
          </a:p>
        </p:txBody>
      </p:sp>
      <p:sp>
        <p:nvSpPr>
          <p:cNvPr id="12" name="object 12"/>
          <p:cNvSpPr txBox="1"/>
          <p:nvPr/>
        </p:nvSpPr>
        <p:spPr>
          <a:xfrm>
            <a:off x="4642891" y="796226"/>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3" name="object 13"/>
          <p:cNvSpPr txBox="1"/>
          <p:nvPr/>
        </p:nvSpPr>
        <p:spPr>
          <a:xfrm>
            <a:off x="5077053" y="796226"/>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4" name="object 14"/>
          <p:cNvSpPr/>
          <p:nvPr/>
        </p:nvSpPr>
        <p:spPr>
          <a:xfrm>
            <a:off x="4565129" y="2170391"/>
            <a:ext cx="878509" cy="300989"/>
          </a:xfrm>
          <a:prstGeom prst="rect">
            <a:avLst/>
          </a:prstGeom>
          <a:blipFill>
            <a:blip r:embed="rId4" cstate="print"/>
            <a:stretch>
              <a:fillRect/>
            </a:stretch>
          </a:blipFill>
        </p:spPr>
        <p:txBody>
          <a:bodyPr wrap="square" lIns="0" tIns="0" rIns="0" bIns="0" rtlCol="0"/>
          <a:lstStyle/>
          <a:p>
            <a:endParaRPr/>
          </a:p>
        </p:txBody>
      </p:sp>
      <p:sp>
        <p:nvSpPr>
          <p:cNvPr id="15" name="object 15"/>
          <p:cNvSpPr txBox="1"/>
          <p:nvPr/>
        </p:nvSpPr>
        <p:spPr>
          <a:xfrm>
            <a:off x="4642891" y="2208250"/>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6" name="object 16"/>
          <p:cNvSpPr txBox="1"/>
          <p:nvPr/>
        </p:nvSpPr>
        <p:spPr>
          <a:xfrm>
            <a:off x="5077053" y="2208250"/>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17" name="object 17"/>
          <p:cNvSpPr/>
          <p:nvPr/>
        </p:nvSpPr>
        <p:spPr>
          <a:xfrm>
            <a:off x="2051304" y="1591055"/>
            <a:ext cx="2318004" cy="313944"/>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2047062" y="1587093"/>
            <a:ext cx="2326640" cy="321310"/>
          </a:xfrm>
          <a:custGeom>
            <a:avLst/>
            <a:gdLst/>
            <a:ahLst/>
            <a:cxnLst/>
            <a:rect l="l" t="t" r="r" b="b"/>
            <a:pathLst>
              <a:path w="2326640" h="321310">
                <a:moveTo>
                  <a:pt x="2326322" y="321309"/>
                </a:moveTo>
                <a:lnTo>
                  <a:pt x="0" y="321309"/>
                </a:lnTo>
                <a:lnTo>
                  <a:pt x="0" y="0"/>
                </a:lnTo>
                <a:lnTo>
                  <a:pt x="2326322" y="0"/>
                </a:lnTo>
                <a:lnTo>
                  <a:pt x="2326322" y="3809"/>
                </a:lnTo>
                <a:lnTo>
                  <a:pt x="7619" y="3809"/>
                </a:lnTo>
                <a:lnTo>
                  <a:pt x="3809" y="7619"/>
                </a:lnTo>
                <a:lnTo>
                  <a:pt x="7619" y="7619"/>
                </a:lnTo>
                <a:lnTo>
                  <a:pt x="7619" y="313689"/>
                </a:lnTo>
                <a:lnTo>
                  <a:pt x="3809" y="313689"/>
                </a:lnTo>
                <a:lnTo>
                  <a:pt x="7619" y="317499"/>
                </a:lnTo>
                <a:lnTo>
                  <a:pt x="2326322" y="317499"/>
                </a:lnTo>
                <a:lnTo>
                  <a:pt x="2326322" y="321309"/>
                </a:lnTo>
                <a:close/>
              </a:path>
              <a:path w="2326640" h="321310">
                <a:moveTo>
                  <a:pt x="7619" y="7619"/>
                </a:moveTo>
                <a:lnTo>
                  <a:pt x="3809" y="7619"/>
                </a:lnTo>
                <a:lnTo>
                  <a:pt x="7619" y="3809"/>
                </a:lnTo>
                <a:lnTo>
                  <a:pt x="7619" y="7619"/>
                </a:lnTo>
                <a:close/>
              </a:path>
              <a:path w="2326640" h="321310">
                <a:moveTo>
                  <a:pt x="2318702" y="7619"/>
                </a:moveTo>
                <a:lnTo>
                  <a:pt x="7619" y="7619"/>
                </a:lnTo>
                <a:lnTo>
                  <a:pt x="7619" y="3809"/>
                </a:lnTo>
                <a:lnTo>
                  <a:pt x="2318702" y="3809"/>
                </a:lnTo>
                <a:lnTo>
                  <a:pt x="2318702" y="7619"/>
                </a:lnTo>
                <a:close/>
              </a:path>
              <a:path w="2326640" h="321310">
                <a:moveTo>
                  <a:pt x="2318702" y="317499"/>
                </a:moveTo>
                <a:lnTo>
                  <a:pt x="2318702" y="3809"/>
                </a:lnTo>
                <a:lnTo>
                  <a:pt x="2322512" y="7619"/>
                </a:lnTo>
                <a:lnTo>
                  <a:pt x="2326322" y="7619"/>
                </a:lnTo>
                <a:lnTo>
                  <a:pt x="2326322" y="313689"/>
                </a:lnTo>
                <a:lnTo>
                  <a:pt x="2322512" y="313689"/>
                </a:lnTo>
                <a:lnTo>
                  <a:pt x="2318702" y="317499"/>
                </a:lnTo>
                <a:close/>
              </a:path>
              <a:path w="2326640" h="321310">
                <a:moveTo>
                  <a:pt x="2326322" y="7619"/>
                </a:moveTo>
                <a:lnTo>
                  <a:pt x="2322512" y="7619"/>
                </a:lnTo>
                <a:lnTo>
                  <a:pt x="2318702" y="3809"/>
                </a:lnTo>
                <a:lnTo>
                  <a:pt x="2326322" y="3809"/>
                </a:lnTo>
                <a:lnTo>
                  <a:pt x="2326322" y="7619"/>
                </a:lnTo>
                <a:close/>
              </a:path>
              <a:path w="2326640" h="321310">
                <a:moveTo>
                  <a:pt x="7619" y="317499"/>
                </a:moveTo>
                <a:lnTo>
                  <a:pt x="3809" y="313689"/>
                </a:lnTo>
                <a:lnTo>
                  <a:pt x="7619" y="313689"/>
                </a:lnTo>
                <a:lnTo>
                  <a:pt x="7619" y="317499"/>
                </a:lnTo>
                <a:close/>
              </a:path>
              <a:path w="2326640" h="321310">
                <a:moveTo>
                  <a:pt x="2318702" y="317499"/>
                </a:moveTo>
                <a:lnTo>
                  <a:pt x="7619" y="317499"/>
                </a:lnTo>
                <a:lnTo>
                  <a:pt x="7619" y="313689"/>
                </a:lnTo>
                <a:lnTo>
                  <a:pt x="2318702" y="313689"/>
                </a:lnTo>
                <a:lnTo>
                  <a:pt x="2318702" y="317499"/>
                </a:lnTo>
                <a:close/>
              </a:path>
              <a:path w="2326640" h="321310">
                <a:moveTo>
                  <a:pt x="2326322" y="317499"/>
                </a:moveTo>
                <a:lnTo>
                  <a:pt x="2318702" y="317499"/>
                </a:lnTo>
                <a:lnTo>
                  <a:pt x="2322512" y="313689"/>
                </a:lnTo>
                <a:lnTo>
                  <a:pt x="2326322" y="313689"/>
                </a:lnTo>
                <a:lnTo>
                  <a:pt x="2326322" y="317499"/>
                </a:lnTo>
                <a:close/>
              </a:path>
            </a:pathLst>
          </a:custGeom>
          <a:solidFill>
            <a:srgbClr val="A1A1A1"/>
          </a:solidFill>
        </p:spPr>
        <p:txBody>
          <a:bodyPr wrap="square" lIns="0" tIns="0" rIns="0" bIns="0" rtlCol="0"/>
          <a:lstStyle/>
          <a:p>
            <a:endParaRPr/>
          </a:p>
        </p:txBody>
      </p:sp>
      <p:sp>
        <p:nvSpPr>
          <p:cNvPr id="19" name="object 19"/>
          <p:cNvSpPr txBox="1"/>
          <p:nvPr/>
        </p:nvSpPr>
        <p:spPr>
          <a:xfrm>
            <a:off x="2051304" y="1592808"/>
            <a:ext cx="2318385" cy="268605"/>
          </a:xfrm>
          <a:prstGeom prst="rect">
            <a:avLst/>
          </a:prstGeom>
        </p:spPr>
        <p:txBody>
          <a:bodyPr vert="horz" wrap="square" lIns="0" tIns="12065" rIns="0" bIns="0" rtlCol="0">
            <a:spAutoFit/>
          </a:bodyPr>
          <a:lstStyle/>
          <a:p>
            <a:pPr marL="317500">
              <a:lnSpc>
                <a:spcPct val="100000"/>
              </a:lnSpc>
              <a:spcBef>
                <a:spcPts val="95"/>
              </a:spcBef>
            </a:pPr>
            <a:r>
              <a:rPr sz="1600" spc="-5" dirty="0">
                <a:latin typeface="Times New Roman"/>
                <a:cs typeface="Times New Roman"/>
              </a:rPr>
              <a:t>ObjectOutputStream</a:t>
            </a:r>
            <a:endParaRPr sz="1600">
              <a:latin typeface="Times New Roman"/>
              <a:cs typeface="Times New Roman"/>
            </a:endParaRPr>
          </a:p>
        </p:txBody>
      </p:sp>
      <p:sp>
        <p:nvSpPr>
          <p:cNvPr id="20" name="object 20"/>
          <p:cNvSpPr/>
          <p:nvPr/>
        </p:nvSpPr>
        <p:spPr>
          <a:xfrm>
            <a:off x="2051304" y="2276855"/>
            <a:ext cx="2318004" cy="313944"/>
          </a:xfrm>
          <a:prstGeom prst="rect">
            <a:avLst/>
          </a:prstGeom>
          <a:blipFill>
            <a:blip r:embed="rId6" cstate="print"/>
            <a:stretch>
              <a:fillRect/>
            </a:stretch>
          </a:blipFill>
        </p:spPr>
        <p:txBody>
          <a:bodyPr wrap="square" lIns="0" tIns="0" rIns="0" bIns="0" rtlCol="0"/>
          <a:lstStyle/>
          <a:p>
            <a:endParaRPr/>
          </a:p>
        </p:txBody>
      </p:sp>
      <p:sp>
        <p:nvSpPr>
          <p:cNvPr id="21" name="object 21"/>
          <p:cNvSpPr/>
          <p:nvPr/>
        </p:nvSpPr>
        <p:spPr>
          <a:xfrm>
            <a:off x="2047062" y="2272792"/>
            <a:ext cx="2326640" cy="321310"/>
          </a:xfrm>
          <a:custGeom>
            <a:avLst/>
            <a:gdLst/>
            <a:ahLst/>
            <a:cxnLst/>
            <a:rect l="l" t="t" r="r" b="b"/>
            <a:pathLst>
              <a:path w="2326640" h="321310">
                <a:moveTo>
                  <a:pt x="2326322" y="321309"/>
                </a:moveTo>
                <a:lnTo>
                  <a:pt x="0" y="321309"/>
                </a:lnTo>
                <a:lnTo>
                  <a:pt x="0" y="0"/>
                </a:lnTo>
                <a:lnTo>
                  <a:pt x="2326322" y="0"/>
                </a:lnTo>
                <a:lnTo>
                  <a:pt x="2326322" y="3809"/>
                </a:lnTo>
                <a:lnTo>
                  <a:pt x="7619" y="3809"/>
                </a:lnTo>
                <a:lnTo>
                  <a:pt x="3809" y="7619"/>
                </a:lnTo>
                <a:lnTo>
                  <a:pt x="7619" y="7619"/>
                </a:lnTo>
                <a:lnTo>
                  <a:pt x="7619" y="313689"/>
                </a:lnTo>
                <a:lnTo>
                  <a:pt x="3809" y="313689"/>
                </a:lnTo>
                <a:lnTo>
                  <a:pt x="7619" y="317499"/>
                </a:lnTo>
                <a:lnTo>
                  <a:pt x="2326322" y="317499"/>
                </a:lnTo>
                <a:lnTo>
                  <a:pt x="2326322" y="321309"/>
                </a:lnTo>
                <a:close/>
              </a:path>
              <a:path w="2326640" h="321310">
                <a:moveTo>
                  <a:pt x="7619" y="7619"/>
                </a:moveTo>
                <a:lnTo>
                  <a:pt x="3809" y="7619"/>
                </a:lnTo>
                <a:lnTo>
                  <a:pt x="7619" y="3809"/>
                </a:lnTo>
                <a:lnTo>
                  <a:pt x="7619" y="7619"/>
                </a:lnTo>
                <a:close/>
              </a:path>
              <a:path w="2326640" h="321310">
                <a:moveTo>
                  <a:pt x="2318702" y="7619"/>
                </a:moveTo>
                <a:lnTo>
                  <a:pt x="7619" y="7619"/>
                </a:lnTo>
                <a:lnTo>
                  <a:pt x="7619" y="3809"/>
                </a:lnTo>
                <a:lnTo>
                  <a:pt x="2318702" y="3809"/>
                </a:lnTo>
                <a:lnTo>
                  <a:pt x="2318702" y="7619"/>
                </a:lnTo>
                <a:close/>
              </a:path>
              <a:path w="2326640" h="321310">
                <a:moveTo>
                  <a:pt x="2318702" y="317499"/>
                </a:moveTo>
                <a:lnTo>
                  <a:pt x="2318702" y="3809"/>
                </a:lnTo>
                <a:lnTo>
                  <a:pt x="2322512" y="7619"/>
                </a:lnTo>
                <a:lnTo>
                  <a:pt x="2326322" y="7619"/>
                </a:lnTo>
                <a:lnTo>
                  <a:pt x="2326322" y="313689"/>
                </a:lnTo>
                <a:lnTo>
                  <a:pt x="2322512" y="313689"/>
                </a:lnTo>
                <a:lnTo>
                  <a:pt x="2318702" y="317499"/>
                </a:lnTo>
                <a:close/>
              </a:path>
              <a:path w="2326640" h="321310">
                <a:moveTo>
                  <a:pt x="2326322" y="7619"/>
                </a:moveTo>
                <a:lnTo>
                  <a:pt x="2322512" y="7619"/>
                </a:lnTo>
                <a:lnTo>
                  <a:pt x="2318702" y="3809"/>
                </a:lnTo>
                <a:lnTo>
                  <a:pt x="2326322" y="3809"/>
                </a:lnTo>
                <a:lnTo>
                  <a:pt x="2326322" y="7619"/>
                </a:lnTo>
                <a:close/>
              </a:path>
              <a:path w="2326640" h="321310">
                <a:moveTo>
                  <a:pt x="7619" y="317499"/>
                </a:moveTo>
                <a:lnTo>
                  <a:pt x="3809" y="313689"/>
                </a:lnTo>
                <a:lnTo>
                  <a:pt x="7619" y="313689"/>
                </a:lnTo>
                <a:lnTo>
                  <a:pt x="7619" y="317499"/>
                </a:lnTo>
                <a:close/>
              </a:path>
              <a:path w="2326640" h="321310">
                <a:moveTo>
                  <a:pt x="2318702" y="317499"/>
                </a:moveTo>
                <a:lnTo>
                  <a:pt x="7619" y="317499"/>
                </a:lnTo>
                <a:lnTo>
                  <a:pt x="7619" y="313689"/>
                </a:lnTo>
                <a:lnTo>
                  <a:pt x="2318702" y="313689"/>
                </a:lnTo>
                <a:lnTo>
                  <a:pt x="2318702" y="317499"/>
                </a:lnTo>
                <a:close/>
              </a:path>
              <a:path w="2326640" h="321310">
                <a:moveTo>
                  <a:pt x="2326322" y="317499"/>
                </a:moveTo>
                <a:lnTo>
                  <a:pt x="2318702" y="317499"/>
                </a:lnTo>
                <a:lnTo>
                  <a:pt x="2322512" y="313689"/>
                </a:lnTo>
                <a:lnTo>
                  <a:pt x="2326322" y="313689"/>
                </a:lnTo>
                <a:lnTo>
                  <a:pt x="2326322" y="317499"/>
                </a:lnTo>
                <a:close/>
              </a:path>
            </a:pathLst>
          </a:custGeom>
          <a:solidFill>
            <a:srgbClr val="A1A1A1"/>
          </a:solidFill>
        </p:spPr>
        <p:txBody>
          <a:bodyPr wrap="square" lIns="0" tIns="0" rIns="0" bIns="0" rtlCol="0"/>
          <a:lstStyle/>
          <a:p>
            <a:endParaRPr/>
          </a:p>
        </p:txBody>
      </p:sp>
      <p:sp>
        <p:nvSpPr>
          <p:cNvPr id="22" name="object 22"/>
          <p:cNvSpPr txBox="1"/>
          <p:nvPr/>
        </p:nvSpPr>
        <p:spPr>
          <a:xfrm>
            <a:off x="2051304" y="2278506"/>
            <a:ext cx="2318385" cy="268605"/>
          </a:xfrm>
          <a:prstGeom prst="rect">
            <a:avLst/>
          </a:prstGeom>
        </p:spPr>
        <p:txBody>
          <a:bodyPr vert="horz" wrap="square" lIns="0" tIns="12065" rIns="0" bIns="0" rtlCol="0">
            <a:spAutoFit/>
          </a:bodyPr>
          <a:lstStyle/>
          <a:p>
            <a:pPr marL="396240">
              <a:lnSpc>
                <a:spcPct val="100000"/>
              </a:lnSpc>
              <a:spcBef>
                <a:spcPts val="95"/>
              </a:spcBef>
            </a:pPr>
            <a:r>
              <a:rPr sz="1600" spc="-5" dirty="0">
                <a:latin typeface="Times New Roman"/>
                <a:cs typeface="Times New Roman"/>
              </a:rPr>
              <a:t>DataOutputStream</a:t>
            </a:r>
            <a:endParaRPr sz="1600">
              <a:latin typeface="Times New Roman"/>
              <a:cs typeface="Times New Roman"/>
            </a:endParaRPr>
          </a:p>
        </p:txBody>
      </p:sp>
      <p:sp>
        <p:nvSpPr>
          <p:cNvPr id="23" name="object 23"/>
          <p:cNvSpPr/>
          <p:nvPr/>
        </p:nvSpPr>
        <p:spPr>
          <a:xfrm>
            <a:off x="4369574" y="1730603"/>
            <a:ext cx="1210945" cy="76200"/>
          </a:xfrm>
          <a:custGeom>
            <a:avLst/>
            <a:gdLst/>
            <a:ahLst/>
            <a:cxnLst/>
            <a:rect l="l" t="t" r="r" b="b"/>
            <a:pathLst>
              <a:path w="1210945" h="76200">
                <a:moveTo>
                  <a:pt x="1134465" y="76199"/>
                </a:moveTo>
                <a:lnTo>
                  <a:pt x="1134465" y="0"/>
                </a:lnTo>
                <a:lnTo>
                  <a:pt x="1197965" y="31749"/>
                </a:lnTo>
                <a:lnTo>
                  <a:pt x="1153515" y="31749"/>
                </a:lnTo>
                <a:lnTo>
                  <a:pt x="1153515" y="44449"/>
                </a:lnTo>
                <a:lnTo>
                  <a:pt x="1197965" y="44449"/>
                </a:lnTo>
                <a:lnTo>
                  <a:pt x="1134465" y="76199"/>
                </a:lnTo>
                <a:close/>
              </a:path>
              <a:path w="1210945" h="76200">
                <a:moveTo>
                  <a:pt x="1134465" y="44449"/>
                </a:moveTo>
                <a:lnTo>
                  <a:pt x="0" y="44449"/>
                </a:lnTo>
                <a:lnTo>
                  <a:pt x="0" y="31749"/>
                </a:lnTo>
                <a:lnTo>
                  <a:pt x="1134465" y="31749"/>
                </a:lnTo>
                <a:lnTo>
                  <a:pt x="1134465" y="44449"/>
                </a:lnTo>
                <a:close/>
              </a:path>
              <a:path w="1210945" h="76200">
                <a:moveTo>
                  <a:pt x="1197965" y="44449"/>
                </a:moveTo>
                <a:lnTo>
                  <a:pt x="1153515" y="44449"/>
                </a:lnTo>
                <a:lnTo>
                  <a:pt x="1153515" y="31749"/>
                </a:lnTo>
                <a:lnTo>
                  <a:pt x="1197965" y="31749"/>
                </a:lnTo>
                <a:lnTo>
                  <a:pt x="1210665" y="38099"/>
                </a:lnTo>
                <a:lnTo>
                  <a:pt x="1197965" y="44449"/>
                </a:lnTo>
                <a:close/>
              </a:path>
            </a:pathLst>
          </a:custGeom>
          <a:solidFill>
            <a:srgbClr val="967A2C"/>
          </a:solidFill>
        </p:spPr>
        <p:txBody>
          <a:bodyPr wrap="square" lIns="0" tIns="0" rIns="0" bIns="0" rtlCol="0"/>
          <a:lstStyle/>
          <a:p>
            <a:endParaRPr/>
          </a:p>
        </p:txBody>
      </p:sp>
      <p:sp>
        <p:nvSpPr>
          <p:cNvPr id="24" name="object 24"/>
          <p:cNvSpPr/>
          <p:nvPr/>
        </p:nvSpPr>
        <p:spPr>
          <a:xfrm>
            <a:off x="4369574" y="2410409"/>
            <a:ext cx="1210945" cy="76200"/>
          </a:xfrm>
          <a:custGeom>
            <a:avLst/>
            <a:gdLst/>
            <a:ahLst/>
            <a:cxnLst/>
            <a:rect l="l" t="t" r="r" b="b"/>
            <a:pathLst>
              <a:path w="1210945" h="76200">
                <a:moveTo>
                  <a:pt x="1134465" y="76200"/>
                </a:moveTo>
                <a:lnTo>
                  <a:pt x="1134465" y="0"/>
                </a:lnTo>
                <a:lnTo>
                  <a:pt x="1197965" y="31750"/>
                </a:lnTo>
                <a:lnTo>
                  <a:pt x="1153515" y="31750"/>
                </a:lnTo>
                <a:lnTo>
                  <a:pt x="1153515" y="44450"/>
                </a:lnTo>
                <a:lnTo>
                  <a:pt x="1197965" y="44450"/>
                </a:lnTo>
                <a:lnTo>
                  <a:pt x="1134465" y="76200"/>
                </a:lnTo>
                <a:close/>
              </a:path>
              <a:path w="1210945" h="76200">
                <a:moveTo>
                  <a:pt x="1134465" y="44450"/>
                </a:moveTo>
                <a:lnTo>
                  <a:pt x="0" y="44450"/>
                </a:lnTo>
                <a:lnTo>
                  <a:pt x="0" y="31750"/>
                </a:lnTo>
                <a:lnTo>
                  <a:pt x="1134465" y="31750"/>
                </a:lnTo>
                <a:lnTo>
                  <a:pt x="1134465" y="44450"/>
                </a:lnTo>
                <a:close/>
              </a:path>
              <a:path w="1210945" h="76200">
                <a:moveTo>
                  <a:pt x="1197965" y="44450"/>
                </a:moveTo>
                <a:lnTo>
                  <a:pt x="1153515" y="44450"/>
                </a:lnTo>
                <a:lnTo>
                  <a:pt x="1153515" y="31750"/>
                </a:lnTo>
                <a:lnTo>
                  <a:pt x="1197965" y="31750"/>
                </a:lnTo>
                <a:lnTo>
                  <a:pt x="1210665" y="38100"/>
                </a:lnTo>
                <a:lnTo>
                  <a:pt x="1197965" y="44450"/>
                </a:lnTo>
                <a:close/>
              </a:path>
            </a:pathLst>
          </a:custGeom>
          <a:solidFill>
            <a:srgbClr val="967A2C"/>
          </a:solidFill>
        </p:spPr>
        <p:txBody>
          <a:bodyPr wrap="square" lIns="0" tIns="0" rIns="0" bIns="0" rtlCol="0"/>
          <a:lstStyle/>
          <a:p>
            <a:endParaRPr/>
          </a:p>
        </p:txBody>
      </p:sp>
      <p:sp>
        <p:nvSpPr>
          <p:cNvPr id="25" name="object 25"/>
          <p:cNvSpPr/>
          <p:nvPr/>
        </p:nvSpPr>
        <p:spPr>
          <a:xfrm>
            <a:off x="1108417" y="2153615"/>
            <a:ext cx="876896" cy="300989"/>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173215" y="758355"/>
            <a:ext cx="878205" cy="5022850"/>
          </a:xfrm>
          <a:custGeom>
            <a:avLst/>
            <a:gdLst/>
            <a:ahLst/>
            <a:cxnLst/>
            <a:rect l="l" t="t" r="r" b="b"/>
            <a:pathLst>
              <a:path w="878205" h="5022850">
                <a:moveTo>
                  <a:pt x="877887" y="5022850"/>
                </a:moveTo>
                <a:lnTo>
                  <a:pt x="0" y="5022850"/>
                </a:lnTo>
                <a:lnTo>
                  <a:pt x="0" y="0"/>
                </a:lnTo>
                <a:lnTo>
                  <a:pt x="877887" y="0"/>
                </a:lnTo>
                <a:lnTo>
                  <a:pt x="877887" y="6349"/>
                </a:lnTo>
                <a:lnTo>
                  <a:pt x="12700" y="6349"/>
                </a:lnTo>
                <a:lnTo>
                  <a:pt x="6350" y="12699"/>
                </a:lnTo>
                <a:lnTo>
                  <a:pt x="12700" y="12699"/>
                </a:lnTo>
                <a:lnTo>
                  <a:pt x="12700" y="5010150"/>
                </a:lnTo>
                <a:lnTo>
                  <a:pt x="6350" y="5010150"/>
                </a:lnTo>
                <a:lnTo>
                  <a:pt x="12700" y="5016500"/>
                </a:lnTo>
                <a:lnTo>
                  <a:pt x="877887" y="5016500"/>
                </a:lnTo>
                <a:lnTo>
                  <a:pt x="877887" y="5022850"/>
                </a:lnTo>
                <a:close/>
              </a:path>
              <a:path w="878205" h="5022850">
                <a:moveTo>
                  <a:pt x="12700" y="12699"/>
                </a:moveTo>
                <a:lnTo>
                  <a:pt x="6350" y="12699"/>
                </a:lnTo>
                <a:lnTo>
                  <a:pt x="12700" y="6349"/>
                </a:lnTo>
                <a:lnTo>
                  <a:pt x="12700" y="12699"/>
                </a:lnTo>
                <a:close/>
              </a:path>
              <a:path w="878205" h="5022850">
                <a:moveTo>
                  <a:pt x="865187" y="12699"/>
                </a:moveTo>
                <a:lnTo>
                  <a:pt x="12700" y="12699"/>
                </a:lnTo>
                <a:lnTo>
                  <a:pt x="12700" y="6349"/>
                </a:lnTo>
                <a:lnTo>
                  <a:pt x="865187" y="6349"/>
                </a:lnTo>
                <a:lnTo>
                  <a:pt x="865187" y="12699"/>
                </a:lnTo>
                <a:close/>
              </a:path>
              <a:path w="878205" h="5022850">
                <a:moveTo>
                  <a:pt x="865187" y="5016500"/>
                </a:moveTo>
                <a:lnTo>
                  <a:pt x="865187" y="6349"/>
                </a:lnTo>
                <a:lnTo>
                  <a:pt x="871537" y="12699"/>
                </a:lnTo>
                <a:lnTo>
                  <a:pt x="877887" y="12699"/>
                </a:lnTo>
                <a:lnTo>
                  <a:pt x="877887" y="5010150"/>
                </a:lnTo>
                <a:lnTo>
                  <a:pt x="871537" y="5010150"/>
                </a:lnTo>
                <a:lnTo>
                  <a:pt x="865187" y="5016500"/>
                </a:lnTo>
                <a:close/>
              </a:path>
              <a:path w="878205" h="5022850">
                <a:moveTo>
                  <a:pt x="877887" y="12699"/>
                </a:moveTo>
                <a:lnTo>
                  <a:pt x="871537" y="12699"/>
                </a:lnTo>
                <a:lnTo>
                  <a:pt x="865187" y="6349"/>
                </a:lnTo>
                <a:lnTo>
                  <a:pt x="877887" y="6349"/>
                </a:lnTo>
                <a:lnTo>
                  <a:pt x="877887" y="12699"/>
                </a:lnTo>
                <a:close/>
              </a:path>
              <a:path w="878205" h="5022850">
                <a:moveTo>
                  <a:pt x="12700" y="5016500"/>
                </a:moveTo>
                <a:lnTo>
                  <a:pt x="6350" y="5010150"/>
                </a:lnTo>
                <a:lnTo>
                  <a:pt x="12700" y="5010150"/>
                </a:lnTo>
                <a:lnTo>
                  <a:pt x="12700" y="5016500"/>
                </a:lnTo>
                <a:close/>
              </a:path>
              <a:path w="878205" h="5022850">
                <a:moveTo>
                  <a:pt x="865187" y="5016500"/>
                </a:moveTo>
                <a:lnTo>
                  <a:pt x="12700" y="5016500"/>
                </a:lnTo>
                <a:lnTo>
                  <a:pt x="12700" y="5010150"/>
                </a:lnTo>
                <a:lnTo>
                  <a:pt x="865187" y="5010150"/>
                </a:lnTo>
                <a:lnTo>
                  <a:pt x="865187" y="5016500"/>
                </a:lnTo>
                <a:close/>
              </a:path>
              <a:path w="878205" h="5022850">
                <a:moveTo>
                  <a:pt x="877887" y="5016500"/>
                </a:moveTo>
                <a:lnTo>
                  <a:pt x="865187" y="5016500"/>
                </a:lnTo>
                <a:lnTo>
                  <a:pt x="871537" y="5010150"/>
                </a:lnTo>
                <a:lnTo>
                  <a:pt x="877887" y="5010150"/>
                </a:lnTo>
                <a:lnTo>
                  <a:pt x="877887" y="5016500"/>
                </a:lnTo>
                <a:close/>
              </a:path>
            </a:pathLst>
          </a:custGeom>
          <a:solidFill>
            <a:srgbClr val="967A2C"/>
          </a:solidFill>
        </p:spPr>
        <p:txBody>
          <a:bodyPr wrap="square" lIns="0" tIns="0" rIns="0" bIns="0" rtlCol="0"/>
          <a:lstStyle/>
          <a:p>
            <a:endParaRPr/>
          </a:p>
        </p:txBody>
      </p:sp>
      <p:sp>
        <p:nvSpPr>
          <p:cNvPr id="27" name="object 27"/>
          <p:cNvSpPr txBox="1"/>
          <p:nvPr/>
        </p:nvSpPr>
        <p:spPr>
          <a:xfrm>
            <a:off x="485000" y="2693835"/>
            <a:ext cx="254000" cy="1122680"/>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微软雅黑"/>
                <a:cs typeface="微软雅黑"/>
              </a:rPr>
              <a:t>应 用 程 序</a:t>
            </a:r>
            <a:endParaRPr sz="1800">
              <a:latin typeface="微软雅黑"/>
              <a:cs typeface="微软雅黑"/>
            </a:endParaRPr>
          </a:p>
        </p:txBody>
      </p:sp>
      <p:sp>
        <p:nvSpPr>
          <p:cNvPr id="28" name="object 28"/>
          <p:cNvSpPr/>
          <p:nvPr/>
        </p:nvSpPr>
        <p:spPr>
          <a:xfrm>
            <a:off x="4078300" y="2961119"/>
            <a:ext cx="1501140" cy="730885"/>
          </a:xfrm>
          <a:custGeom>
            <a:avLst/>
            <a:gdLst/>
            <a:ahLst/>
            <a:cxnLst/>
            <a:rect l="l" t="t" r="r" b="b"/>
            <a:pathLst>
              <a:path w="1501139" h="730885">
                <a:moveTo>
                  <a:pt x="71369" y="702011"/>
                </a:moveTo>
                <a:lnTo>
                  <a:pt x="65841" y="690569"/>
                </a:lnTo>
                <a:lnTo>
                  <a:pt x="1495209" y="0"/>
                </a:lnTo>
                <a:lnTo>
                  <a:pt x="1500733" y="11442"/>
                </a:lnTo>
                <a:lnTo>
                  <a:pt x="71369" y="702011"/>
                </a:lnTo>
                <a:close/>
              </a:path>
              <a:path w="1501139" h="730885">
                <a:moveTo>
                  <a:pt x="85178" y="730592"/>
                </a:moveTo>
                <a:lnTo>
                  <a:pt x="0" y="729437"/>
                </a:lnTo>
                <a:lnTo>
                  <a:pt x="52031" y="661987"/>
                </a:lnTo>
                <a:lnTo>
                  <a:pt x="65841" y="690569"/>
                </a:lnTo>
                <a:lnTo>
                  <a:pt x="48691" y="698855"/>
                </a:lnTo>
                <a:lnTo>
                  <a:pt x="54216" y="710298"/>
                </a:lnTo>
                <a:lnTo>
                  <a:pt x="75373" y="710298"/>
                </a:lnTo>
                <a:lnTo>
                  <a:pt x="85178" y="730592"/>
                </a:lnTo>
                <a:close/>
              </a:path>
              <a:path w="1501139" h="730885">
                <a:moveTo>
                  <a:pt x="54216" y="710298"/>
                </a:moveTo>
                <a:lnTo>
                  <a:pt x="48691" y="698855"/>
                </a:lnTo>
                <a:lnTo>
                  <a:pt x="65841" y="690569"/>
                </a:lnTo>
                <a:lnTo>
                  <a:pt x="71369" y="702011"/>
                </a:lnTo>
                <a:lnTo>
                  <a:pt x="54216" y="710298"/>
                </a:lnTo>
                <a:close/>
              </a:path>
              <a:path w="1501139" h="730885">
                <a:moveTo>
                  <a:pt x="75373" y="710298"/>
                </a:moveTo>
                <a:lnTo>
                  <a:pt x="54216" y="710298"/>
                </a:lnTo>
                <a:lnTo>
                  <a:pt x="71369" y="702011"/>
                </a:lnTo>
                <a:lnTo>
                  <a:pt x="75373" y="710298"/>
                </a:lnTo>
                <a:close/>
              </a:path>
            </a:pathLst>
          </a:custGeom>
          <a:solidFill>
            <a:srgbClr val="967A2C"/>
          </a:solidFill>
        </p:spPr>
        <p:txBody>
          <a:bodyPr wrap="square" lIns="0" tIns="0" rIns="0" bIns="0" rtlCol="0"/>
          <a:lstStyle/>
          <a:p>
            <a:endParaRPr/>
          </a:p>
        </p:txBody>
      </p:sp>
      <p:sp>
        <p:nvSpPr>
          <p:cNvPr id="29" name="object 29"/>
          <p:cNvSpPr/>
          <p:nvPr/>
        </p:nvSpPr>
        <p:spPr>
          <a:xfrm>
            <a:off x="3132302" y="4026052"/>
            <a:ext cx="1154430" cy="795020"/>
          </a:xfrm>
          <a:custGeom>
            <a:avLst/>
            <a:gdLst/>
            <a:ahLst/>
            <a:cxnLst/>
            <a:rect l="l" t="t" r="r" b="b"/>
            <a:pathLst>
              <a:path w="1154429" h="795020">
                <a:moveTo>
                  <a:pt x="66430" y="756783"/>
                </a:moveTo>
                <a:lnTo>
                  <a:pt x="59240" y="746306"/>
                </a:lnTo>
                <a:lnTo>
                  <a:pt x="1146683" y="0"/>
                </a:lnTo>
                <a:lnTo>
                  <a:pt x="1153871" y="10477"/>
                </a:lnTo>
                <a:lnTo>
                  <a:pt x="66430" y="756783"/>
                </a:lnTo>
                <a:close/>
              </a:path>
              <a:path w="1154429" h="795020">
                <a:moveTo>
                  <a:pt x="0" y="794664"/>
                </a:moveTo>
                <a:lnTo>
                  <a:pt x="41275" y="720128"/>
                </a:lnTo>
                <a:lnTo>
                  <a:pt x="59240" y="746306"/>
                </a:lnTo>
                <a:lnTo>
                  <a:pt x="43535" y="757085"/>
                </a:lnTo>
                <a:lnTo>
                  <a:pt x="50723" y="767562"/>
                </a:lnTo>
                <a:lnTo>
                  <a:pt x="73828" y="767562"/>
                </a:lnTo>
                <a:lnTo>
                  <a:pt x="84391" y="782954"/>
                </a:lnTo>
                <a:lnTo>
                  <a:pt x="0" y="794664"/>
                </a:lnTo>
                <a:close/>
              </a:path>
              <a:path w="1154429" h="795020">
                <a:moveTo>
                  <a:pt x="50723" y="767562"/>
                </a:moveTo>
                <a:lnTo>
                  <a:pt x="43535" y="757085"/>
                </a:lnTo>
                <a:lnTo>
                  <a:pt x="59240" y="746306"/>
                </a:lnTo>
                <a:lnTo>
                  <a:pt x="66430" y="756783"/>
                </a:lnTo>
                <a:lnTo>
                  <a:pt x="50723" y="767562"/>
                </a:lnTo>
                <a:close/>
              </a:path>
              <a:path w="1154429" h="795020">
                <a:moveTo>
                  <a:pt x="73828" y="767562"/>
                </a:moveTo>
                <a:lnTo>
                  <a:pt x="50723" y="767562"/>
                </a:lnTo>
                <a:lnTo>
                  <a:pt x="66430" y="756783"/>
                </a:lnTo>
                <a:lnTo>
                  <a:pt x="73828" y="767562"/>
                </a:lnTo>
                <a:close/>
              </a:path>
            </a:pathLst>
          </a:custGeom>
          <a:solidFill>
            <a:srgbClr val="967A2C"/>
          </a:solidFill>
        </p:spPr>
        <p:txBody>
          <a:bodyPr wrap="square" lIns="0" tIns="0" rIns="0" bIns="0" rtlCol="0"/>
          <a:lstStyle/>
          <a:p>
            <a:endParaRPr/>
          </a:p>
        </p:txBody>
      </p:sp>
      <p:sp>
        <p:nvSpPr>
          <p:cNvPr id="30" name="object 30"/>
          <p:cNvSpPr/>
          <p:nvPr/>
        </p:nvSpPr>
        <p:spPr>
          <a:xfrm>
            <a:off x="3052952" y="4357865"/>
            <a:ext cx="444500" cy="300990"/>
          </a:xfrm>
          <a:custGeom>
            <a:avLst/>
            <a:gdLst/>
            <a:ahLst/>
            <a:cxnLst/>
            <a:rect l="l" t="t" r="r" b="b"/>
            <a:pathLst>
              <a:path w="444500" h="300989">
                <a:moveTo>
                  <a:pt x="255600" y="299720"/>
                </a:moveTo>
                <a:lnTo>
                  <a:pt x="188544" y="299720"/>
                </a:lnTo>
                <a:lnTo>
                  <a:pt x="177698" y="298450"/>
                </a:lnTo>
                <a:lnTo>
                  <a:pt x="167043" y="295910"/>
                </a:lnTo>
                <a:lnTo>
                  <a:pt x="156578" y="294639"/>
                </a:lnTo>
                <a:lnTo>
                  <a:pt x="107721" y="279400"/>
                </a:lnTo>
                <a:lnTo>
                  <a:pt x="81661" y="266700"/>
                </a:lnTo>
                <a:lnTo>
                  <a:pt x="73596" y="262889"/>
                </a:lnTo>
                <a:lnTo>
                  <a:pt x="66103" y="257810"/>
                </a:lnTo>
                <a:lnTo>
                  <a:pt x="58483" y="252729"/>
                </a:lnTo>
                <a:lnTo>
                  <a:pt x="51473" y="246379"/>
                </a:lnTo>
                <a:lnTo>
                  <a:pt x="44818" y="241300"/>
                </a:lnTo>
                <a:lnTo>
                  <a:pt x="32727" y="228600"/>
                </a:lnTo>
                <a:lnTo>
                  <a:pt x="27292" y="223520"/>
                </a:lnTo>
                <a:lnTo>
                  <a:pt x="22529" y="217170"/>
                </a:lnTo>
                <a:lnTo>
                  <a:pt x="17983" y="209550"/>
                </a:lnTo>
                <a:lnTo>
                  <a:pt x="13716" y="203200"/>
                </a:lnTo>
                <a:lnTo>
                  <a:pt x="1155" y="166370"/>
                </a:lnTo>
                <a:lnTo>
                  <a:pt x="0" y="153670"/>
                </a:lnTo>
                <a:lnTo>
                  <a:pt x="0" y="146050"/>
                </a:lnTo>
                <a:lnTo>
                  <a:pt x="10325" y="104139"/>
                </a:lnTo>
                <a:lnTo>
                  <a:pt x="32956" y="71120"/>
                </a:lnTo>
                <a:lnTo>
                  <a:pt x="66103" y="43179"/>
                </a:lnTo>
                <a:lnTo>
                  <a:pt x="90284" y="29210"/>
                </a:lnTo>
                <a:lnTo>
                  <a:pt x="98971" y="24129"/>
                </a:lnTo>
                <a:lnTo>
                  <a:pt x="167259" y="3810"/>
                </a:lnTo>
                <a:lnTo>
                  <a:pt x="199783" y="0"/>
                </a:lnTo>
                <a:lnTo>
                  <a:pt x="244792" y="0"/>
                </a:lnTo>
                <a:lnTo>
                  <a:pt x="277329" y="3810"/>
                </a:lnTo>
                <a:lnTo>
                  <a:pt x="308063" y="11429"/>
                </a:lnTo>
                <a:lnTo>
                  <a:pt x="312953" y="12700"/>
                </a:lnTo>
                <a:lnTo>
                  <a:pt x="200647" y="12700"/>
                </a:lnTo>
                <a:lnTo>
                  <a:pt x="189839" y="13970"/>
                </a:lnTo>
                <a:lnTo>
                  <a:pt x="190055" y="13970"/>
                </a:lnTo>
                <a:lnTo>
                  <a:pt x="179425" y="15239"/>
                </a:lnTo>
                <a:lnTo>
                  <a:pt x="179641" y="15239"/>
                </a:lnTo>
                <a:lnTo>
                  <a:pt x="169189" y="16510"/>
                </a:lnTo>
                <a:lnTo>
                  <a:pt x="169405" y="16510"/>
                </a:lnTo>
                <a:lnTo>
                  <a:pt x="164287" y="17779"/>
                </a:lnTo>
                <a:lnTo>
                  <a:pt x="159385" y="17779"/>
                </a:lnTo>
                <a:lnTo>
                  <a:pt x="149352" y="20320"/>
                </a:lnTo>
                <a:lnTo>
                  <a:pt x="149567" y="20320"/>
                </a:lnTo>
                <a:lnTo>
                  <a:pt x="139763" y="22860"/>
                </a:lnTo>
                <a:lnTo>
                  <a:pt x="139979" y="22860"/>
                </a:lnTo>
                <a:lnTo>
                  <a:pt x="130416" y="25400"/>
                </a:lnTo>
                <a:lnTo>
                  <a:pt x="130644" y="25400"/>
                </a:lnTo>
                <a:lnTo>
                  <a:pt x="121335" y="29210"/>
                </a:lnTo>
                <a:lnTo>
                  <a:pt x="121551" y="29210"/>
                </a:lnTo>
                <a:lnTo>
                  <a:pt x="112509" y="33020"/>
                </a:lnTo>
                <a:lnTo>
                  <a:pt x="112737" y="33020"/>
                </a:lnTo>
                <a:lnTo>
                  <a:pt x="106895" y="35560"/>
                </a:lnTo>
                <a:lnTo>
                  <a:pt x="104203" y="35560"/>
                </a:lnTo>
                <a:lnTo>
                  <a:pt x="95732" y="40639"/>
                </a:lnTo>
                <a:lnTo>
                  <a:pt x="95961" y="40639"/>
                </a:lnTo>
                <a:lnTo>
                  <a:pt x="87807" y="44450"/>
                </a:lnTo>
                <a:lnTo>
                  <a:pt x="88036" y="44450"/>
                </a:lnTo>
                <a:lnTo>
                  <a:pt x="80200" y="48260"/>
                </a:lnTo>
                <a:lnTo>
                  <a:pt x="80429" y="48260"/>
                </a:lnTo>
                <a:lnTo>
                  <a:pt x="72936" y="53339"/>
                </a:lnTo>
                <a:lnTo>
                  <a:pt x="73164" y="53339"/>
                </a:lnTo>
                <a:lnTo>
                  <a:pt x="66014" y="58420"/>
                </a:lnTo>
                <a:lnTo>
                  <a:pt x="66255" y="58420"/>
                </a:lnTo>
                <a:lnTo>
                  <a:pt x="59461" y="63500"/>
                </a:lnTo>
                <a:lnTo>
                  <a:pt x="59702" y="63500"/>
                </a:lnTo>
                <a:lnTo>
                  <a:pt x="53289" y="68579"/>
                </a:lnTo>
                <a:lnTo>
                  <a:pt x="53530" y="68579"/>
                </a:lnTo>
                <a:lnTo>
                  <a:pt x="47510" y="73660"/>
                </a:lnTo>
                <a:lnTo>
                  <a:pt x="47739" y="73660"/>
                </a:lnTo>
                <a:lnTo>
                  <a:pt x="42125" y="80010"/>
                </a:lnTo>
                <a:lnTo>
                  <a:pt x="42354" y="80010"/>
                </a:lnTo>
                <a:lnTo>
                  <a:pt x="37160" y="85089"/>
                </a:lnTo>
                <a:lnTo>
                  <a:pt x="37388" y="85089"/>
                </a:lnTo>
                <a:lnTo>
                  <a:pt x="32613" y="91439"/>
                </a:lnTo>
                <a:lnTo>
                  <a:pt x="32829" y="91439"/>
                </a:lnTo>
                <a:lnTo>
                  <a:pt x="28511" y="97789"/>
                </a:lnTo>
                <a:lnTo>
                  <a:pt x="28714" y="97789"/>
                </a:lnTo>
                <a:lnTo>
                  <a:pt x="25626" y="102870"/>
                </a:lnTo>
                <a:lnTo>
                  <a:pt x="25044" y="102870"/>
                </a:lnTo>
                <a:lnTo>
                  <a:pt x="22218" y="109220"/>
                </a:lnTo>
                <a:lnTo>
                  <a:pt x="21831" y="109220"/>
                </a:lnTo>
                <a:lnTo>
                  <a:pt x="19407" y="115570"/>
                </a:lnTo>
                <a:lnTo>
                  <a:pt x="19088" y="115570"/>
                </a:lnTo>
                <a:lnTo>
                  <a:pt x="16675" y="123189"/>
                </a:lnTo>
                <a:lnTo>
                  <a:pt x="14909" y="129539"/>
                </a:lnTo>
                <a:lnTo>
                  <a:pt x="13868" y="135889"/>
                </a:lnTo>
                <a:lnTo>
                  <a:pt x="13690" y="135889"/>
                </a:lnTo>
                <a:lnTo>
                  <a:pt x="13208" y="139700"/>
                </a:lnTo>
                <a:lnTo>
                  <a:pt x="12903" y="143510"/>
                </a:lnTo>
                <a:lnTo>
                  <a:pt x="12759" y="146050"/>
                </a:lnTo>
                <a:lnTo>
                  <a:pt x="12687" y="153670"/>
                </a:lnTo>
                <a:lnTo>
                  <a:pt x="12903" y="157479"/>
                </a:lnTo>
                <a:lnTo>
                  <a:pt x="13233" y="161289"/>
                </a:lnTo>
                <a:lnTo>
                  <a:pt x="13368" y="161289"/>
                </a:lnTo>
                <a:lnTo>
                  <a:pt x="13690" y="163829"/>
                </a:lnTo>
                <a:lnTo>
                  <a:pt x="15011" y="171450"/>
                </a:lnTo>
                <a:lnTo>
                  <a:pt x="15225" y="171450"/>
                </a:lnTo>
                <a:lnTo>
                  <a:pt x="16802" y="177800"/>
                </a:lnTo>
                <a:lnTo>
                  <a:pt x="19088" y="184150"/>
                </a:lnTo>
                <a:lnTo>
                  <a:pt x="18923" y="184150"/>
                </a:lnTo>
                <a:lnTo>
                  <a:pt x="21831" y="190500"/>
                </a:lnTo>
                <a:lnTo>
                  <a:pt x="21653" y="190500"/>
                </a:lnTo>
                <a:lnTo>
                  <a:pt x="25044" y="196850"/>
                </a:lnTo>
                <a:lnTo>
                  <a:pt x="24853" y="196850"/>
                </a:lnTo>
                <a:lnTo>
                  <a:pt x="28714" y="203200"/>
                </a:lnTo>
                <a:lnTo>
                  <a:pt x="28511" y="203200"/>
                </a:lnTo>
                <a:lnTo>
                  <a:pt x="32829" y="209550"/>
                </a:lnTo>
                <a:lnTo>
                  <a:pt x="32613" y="209550"/>
                </a:lnTo>
                <a:lnTo>
                  <a:pt x="37388" y="214629"/>
                </a:lnTo>
                <a:lnTo>
                  <a:pt x="37160" y="214629"/>
                </a:lnTo>
                <a:lnTo>
                  <a:pt x="42354" y="220979"/>
                </a:lnTo>
                <a:lnTo>
                  <a:pt x="42125" y="220979"/>
                </a:lnTo>
                <a:lnTo>
                  <a:pt x="47739" y="226060"/>
                </a:lnTo>
                <a:lnTo>
                  <a:pt x="47510" y="226060"/>
                </a:lnTo>
                <a:lnTo>
                  <a:pt x="53530" y="232410"/>
                </a:lnTo>
                <a:lnTo>
                  <a:pt x="53289" y="232410"/>
                </a:lnTo>
                <a:lnTo>
                  <a:pt x="59702" y="237489"/>
                </a:lnTo>
                <a:lnTo>
                  <a:pt x="59461" y="237489"/>
                </a:lnTo>
                <a:lnTo>
                  <a:pt x="66255" y="242570"/>
                </a:lnTo>
                <a:lnTo>
                  <a:pt x="66014" y="242570"/>
                </a:lnTo>
                <a:lnTo>
                  <a:pt x="73164" y="247650"/>
                </a:lnTo>
                <a:lnTo>
                  <a:pt x="74809" y="247650"/>
                </a:lnTo>
                <a:lnTo>
                  <a:pt x="80429" y="251460"/>
                </a:lnTo>
                <a:lnTo>
                  <a:pt x="80200" y="251460"/>
                </a:lnTo>
                <a:lnTo>
                  <a:pt x="88036" y="256539"/>
                </a:lnTo>
                <a:lnTo>
                  <a:pt x="87807" y="256539"/>
                </a:lnTo>
                <a:lnTo>
                  <a:pt x="95961" y="260350"/>
                </a:lnTo>
                <a:lnTo>
                  <a:pt x="95732" y="260350"/>
                </a:lnTo>
                <a:lnTo>
                  <a:pt x="104203" y="264160"/>
                </a:lnTo>
                <a:lnTo>
                  <a:pt x="103974" y="264160"/>
                </a:lnTo>
                <a:lnTo>
                  <a:pt x="112737" y="267970"/>
                </a:lnTo>
                <a:lnTo>
                  <a:pt x="112509" y="267970"/>
                </a:lnTo>
                <a:lnTo>
                  <a:pt x="121551" y="271779"/>
                </a:lnTo>
                <a:lnTo>
                  <a:pt x="121335" y="271779"/>
                </a:lnTo>
                <a:lnTo>
                  <a:pt x="130644" y="274320"/>
                </a:lnTo>
                <a:lnTo>
                  <a:pt x="130416" y="274320"/>
                </a:lnTo>
                <a:lnTo>
                  <a:pt x="139979" y="276860"/>
                </a:lnTo>
                <a:lnTo>
                  <a:pt x="139763" y="276860"/>
                </a:lnTo>
                <a:lnTo>
                  <a:pt x="149567" y="279400"/>
                </a:lnTo>
                <a:lnTo>
                  <a:pt x="149352" y="279400"/>
                </a:lnTo>
                <a:lnTo>
                  <a:pt x="159385" y="281939"/>
                </a:lnTo>
                <a:lnTo>
                  <a:pt x="159169" y="281939"/>
                </a:lnTo>
                <a:lnTo>
                  <a:pt x="169405" y="283210"/>
                </a:lnTo>
                <a:lnTo>
                  <a:pt x="169189" y="283210"/>
                </a:lnTo>
                <a:lnTo>
                  <a:pt x="179641" y="285750"/>
                </a:lnTo>
                <a:lnTo>
                  <a:pt x="179425" y="285750"/>
                </a:lnTo>
                <a:lnTo>
                  <a:pt x="190055" y="287020"/>
                </a:lnTo>
                <a:lnTo>
                  <a:pt x="200431" y="287020"/>
                </a:lnTo>
                <a:lnTo>
                  <a:pt x="211391" y="288289"/>
                </a:lnTo>
                <a:lnTo>
                  <a:pt x="312731" y="288289"/>
                </a:lnTo>
                <a:lnTo>
                  <a:pt x="287566" y="294639"/>
                </a:lnTo>
                <a:lnTo>
                  <a:pt x="277113" y="295910"/>
                </a:lnTo>
                <a:lnTo>
                  <a:pt x="266446" y="298450"/>
                </a:lnTo>
                <a:lnTo>
                  <a:pt x="255600" y="299720"/>
                </a:lnTo>
                <a:close/>
              </a:path>
              <a:path w="444500" h="300989">
                <a:moveTo>
                  <a:pt x="285203" y="19050"/>
                </a:moveTo>
                <a:lnTo>
                  <a:pt x="274955" y="16510"/>
                </a:lnTo>
                <a:lnTo>
                  <a:pt x="275170" y="16510"/>
                </a:lnTo>
                <a:lnTo>
                  <a:pt x="264718" y="15239"/>
                </a:lnTo>
                <a:lnTo>
                  <a:pt x="264934" y="15239"/>
                </a:lnTo>
                <a:lnTo>
                  <a:pt x="254304" y="13970"/>
                </a:lnTo>
                <a:lnTo>
                  <a:pt x="254520" y="13970"/>
                </a:lnTo>
                <a:lnTo>
                  <a:pt x="243725" y="12700"/>
                </a:lnTo>
                <a:lnTo>
                  <a:pt x="312953" y="12700"/>
                </a:lnTo>
                <a:lnTo>
                  <a:pt x="317842" y="13970"/>
                </a:lnTo>
                <a:lnTo>
                  <a:pt x="327367" y="17779"/>
                </a:lnTo>
                <a:lnTo>
                  <a:pt x="284988" y="17779"/>
                </a:lnTo>
                <a:lnTo>
                  <a:pt x="285203" y="19050"/>
                </a:lnTo>
                <a:close/>
              </a:path>
              <a:path w="444500" h="300989">
                <a:moveTo>
                  <a:pt x="159169" y="19050"/>
                </a:moveTo>
                <a:lnTo>
                  <a:pt x="159385" y="17779"/>
                </a:lnTo>
                <a:lnTo>
                  <a:pt x="164287" y="17779"/>
                </a:lnTo>
                <a:lnTo>
                  <a:pt x="159169" y="19050"/>
                </a:lnTo>
                <a:close/>
              </a:path>
              <a:path w="444500" h="300989">
                <a:moveTo>
                  <a:pt x="340385" y="36829"/>
                </a:moveTo>
                <a:lnTo>
                  <a:pt x="331635" y="33020"/>
                </a:lnTo>
                <a:lnTo>
                  <a:pt x="331850" y="33020"/>
                </a:lnTo>
                <a:lnTo>
                  <a:pt x="322808" y="29210"/>
                </a:lnTo>
                <a:lnTo>
                  <a:pt x="323037" y="29210"/>
                </a:lnTo>
                <a:lnTo>
                  <a:pt x="313728" y="25400"/>
                </a:lnTo>
                <a:lnTo>
                  <a:pt x="313944" y="25400"/>
                </a:lnTo>
                <a:lnTo>
                  <a:pt x="304380" y="22860"/>
                </a:lnTo>
                <a:lnTo>
                  <a:pt x="304596" y="22860"/>
                </a:lnTo>
                <a:lnTo>
                  <a:pt x="294792" y="20320"/>
                </a:lnTo>
                <a:lnTo>
                  <a:pt x="295008" y="20320"/>
                </a:lnTo>
                <a:lnTo>
                  <a:pt x="284988" y="17779"/>
                </a:lnTo>
                <a:lnTo>
                  <a:pt x="327367" y="17779"/>
                </a:lnTo>
                <a:lnTo>
                  <a:pt x="336638" y="20320"/>
                </a:lnTo>
                <a:lnTo>
                  <a:pt x="345617" y="24129"/>
                </a:lnTo>
                <a:lnTo>
                  <a:pt x="354317" y="29210"/>
                </a:lnTo>
                <a:lnTo>
                  <a:pt x="362699" y="33020"/>
                </a:lnTo>
                <a:lnTo>
                  <a:pt x="366731" y="35560"/>
                </a:lnTo>
                <a:lnTo>
                  <a:pt x="340169" y="35560"/>
                </a:lnTo>
                <a:lnTo>
                  <a:pt x="340385" y="36829"/>
                </a:lnTo>
                <a:close/>
              </a:path>
              <a:path w="444500" h="300989">
                <a:moveTo>
                  <a:pt x="103974" y="36829"/>
                </a:moveTo>
                <a:lnTo>
                  <a:pt x="104203" y="35560"/>
                </a:lnTo>
                <a:lnTo>
                  <a:pt x="106895" y="35560"/>
                </a:lnTo>
                <a:lnTo>
                  <a:pt x="103974" y="36829"/>
                </a:lnTo>
                <a:close/>
              </a:path>
              <a:path w="444500" h="300989">
                <a:moveTo>
                  <a:pt x="419506" y="104139"/>
                </a:moveTo>
                <a:lnTo>
                  <a:pt x="415645" y="97789"/>
                </a:lnTo>
                <a:lnTo>
                  <a:pt x="415848" y="97789"/>
                </a:lnTo>
                <a:lnTo>
                  <a:pt x="411530" y="91439"/>
                </a:lnTo>
                <a:lnTo>
                  <a:pt x="411746" y="91439"/>
                </a:lnTo>
                <a:lnTo>
                  <a:pt x="406984" y="85089"/>
                </a:lnTo>
                <a:lnTo>
                  <a:pt x="407212" y="85089"/>
                </a:lnTo>
                <a:lnTo>
                  <a:pt x="402005" y="80010"/>
                </a:lnTo>
                <a:lnTo>
                  <a:pt x="402247" y="80010"/>
                </a:lnTo>
                <a:lnTo>
                  <a:pt x="396621" y="73660"/>
                </a:lnTo>
                <a:lnTo>
                  <a:pt x="396862" y="73660"/>
                </a:lnTo>
                <a:lnTo>
                  <a:pt x="390842" y="68579"/>
                </a:lnTo>
                <a:lnTo>
                  <a:pt x="391071" y="68579"/>
                </a:lnTo>
                <a:lnTo>
                  <a:pt x="384670" y="63500"/>
                </a:lnTo>
                <a:lnTo>
                  <a:pt x="384898" y="63500"/>
                </a:lnTo>
                <a:lnTo>
                  <a:pt x="378117" y="58420"/>
                </a:lnTo>
                <a:lnTo>
                  <a:pt x="378345" y="58420"/>
                </a:lnTo>
                <a:lnTo>
                  <a:pt x="371195" y="53339"/>
                </a:lnTo>
                <a:lnTo>
                  <a:pt x="371436" y="53339"/>
                </a:lnTo>
                <a:lnTo>
                  <a:pt x="363931" y="48260"/>
                </a:lnTo>
                <a:lnTo>
                  <a:pt x="364159" y="48260"/>
                </a:lnTo>
                <a:lnTo>
                  <a:pt x="356336" y="44450"/>
                </a:lnTo>
                <a:lnTo>
                  <a:pt x="356565" y="44450"/>
                </a:lnTo>
                <a:lnTo>
                  <a:pt x="348399" y="40639"/>
                </a:lnTo>
                <a:lnTo>
                  <a:pt x="348627" y="40639"/>
                </a:lnTo>
                <a:lnTo>
                  <a:pt x="340169" y="35560"/>
                </a:lnTo>
                <a:lnTo>
                  <a:pt x="366731" y="35560"/>
                </a:lnTo>
                <a:lnTo>
                  <a:pt x="399313" y="58420"/>
                </a:lnTo>
                <a:lnTo>
                  <a:pt x="426593" y="90170"/>
                </a:lnTo>
                <a:lnTo>
                  <a:pt x="430453" y="97789"/>
                </a:lnTo>
                <a:lnTo>
                  <a:pt x="433329" y="102870"/>
                </a:lnTo>
                <a:lnTo>
                  <a:pt x="419315" y="102870"/>
                </a:lnTo>
                <a:lnTo>
                  <a:pt x="419506" y="104139"/>
                </a:lnTo>
                <a:close/>
              </a:path>
              <a:path w="444500" h="300989">
                <a:moveTo>
                  <a:pt x="24853" y="104139"/>
                </a:moveTo>
                <a:lnTo>
                  <a:pt x="25044" y="102870"/>
                </a:lnTo>
                <a:lnTo>
                  <a:pt x="25626" y="102870"/>
                </a:lnTo>
                <a:lnTo>
                  <a:pt x="24853" y="104139"/>
                </a:lnTo>
                <a:close/>
              </a:path>
              <a:path w="444500" h="300989">
                <a:moveTo>
                  <a:pt x="422706" y="110489"/>
                </a:moveTo>
                <a:lnTo>
                  <a:pt x="419315" y="102870"/>
                </a:lnTo>
                <a:lnTo>
                  <a:pt x="433329" y="102870"/>
                </a:lnTo>
                <a:lnTo>
                  <a:pt x="434047" y="104139"/>
                </a:lnTo>
                <a:lnTo>
                  <a:pt x="436105" y="109220"/>
                </a:lnTo>
                <a:lnTo>
                  <a:pt x="422529" y="109220"/>
                </a:lnTo>
                <a:lnTo>
                  <a:pt x="422706" y="110489"/>
                </a:lnTo>
                <a:close/>
              </a:path>
              <a:path w="444500" h="300989">
                <a:moveTo>
                  <a:pt x="21653" y="110489"/>
                </a:moveTo>
                <a:lnTo>
                  <a:pt x="21831" y="109220"/>
                </a:lnTo>
                <a:lnTo>
                  <a:pt x="22218" y="109220"/>
                </a:lnTo>
                <a:lnTo>
                  <a:pt x="21653" y="110489"/>
                </a:lnTo>
                <a:close/>
              </a:path>
              <a:path w="444500" h="300989">
                <a:moveTo>
                  <a:pt x="425437" y="116839"/>
                </a:moveTo>
                <a:lnTo>
                  <a:pt x="422529" y="109220"/>
                </a:lnTo>
                <a:lnTo>
                  <a:pt x="436105" y="109220"/>
                </a:lnTo>
                <a:lnTo>
                  <a:pt x="437134" y="111760"/>
                </a:lnTo>
                <a:lnTo>
                  <a:pt x="438416" y="115570"/>
                </a:lnTo>
                <a:lnTo>
                  <a:pt x="425284" y="115570"/>
                </a:lnTo>
                <a:lnTo>
                  <a:pt x="425437" y="116839"/>
                </a:lnTo>
                <a:close/>
              </a:path>
              <a:path w="444500" h="300989">
                <a:moveTo>
                  <a:pt x="18923" y="116839"/>
                </a:moveTo>
                <a:lnTo>
                  <a:pt x="19088" y="115570"/>
                </a:lnTo>
                <a:lnTo>
                  <a:pt x="19407" y="115570"/>
                </a:lnTo>
                <a:lnTo>
                  <a:pt x="18923" y="116839"/>
                </a:lnTo>
                <a:close/>
              </a:path>
              <a:path w="444500" h="300989">
                <a:moveTo>
                  <a:pt x="430733" y="137160"/>
                </a:moveTo>
                <a:lnTo>
                  <a:pt x="429361" y="129539"/>
                </a:lnTo>
                <a:lnTo>
                  <a:pt x="427558" y="123189"/>
                </a:lnTo>
                <a:lnTo>
                  <a:pt x="427697" y="123189"/>
                </a:lnTo>
                <a:lnTo>
                  <a:pt x="425284" y="115570"/>
                </a:lnTo>
                <a:lnTo>
                  <a:pt x="438416" y="115570"/>
                </a:lnTo>
                <a:lnTo>
                  <a:pt x="439699" y="119379"/>
                </a:lnTo>
                <a:lnTo>
                  <a:pt x="441731" y="127000"/>
                </a:lnTo>
                <a:lnTo>
                  <a:pt x="443268" y="134620"/>
                </a:lnTo>
                <a:lnTo>
                  <a:pt x="443437" y="135889"/>
                </a:lnTo>
                <a:lnTo>
                  <a:pt x="430669" y="135889"/>
                </a:lnTo>
                <a:lnTo>
                  <a:pt x="430733" y="137160"/>
                </a:lnTo>
                <a:close/>
              </a:path>
              <a:path w="444500" h="300989">
                <a:moveTo>
                  <a:pt x="13639" y="137160"/>
                </a:moveTo>
                <a:lnTo>
                  <a:pt x="13690" y="135889"/>
                </a:lnTo>
                <a:lnTo>
                  <a:pt x="13868" y="135889"/>
                </a:lnTo>
                <a:lnTo>
                  <a:pt x="13639" y="137160"/>
                </a:lnTo>
                <a:close/>
              </a:path>
              <a:path w="444500" h="300989">
                <a:moveTo>
                  <a:pt x="443873" y="161289"/>
                </a:moveTo>
                <a:lnTo>
                  <a:pt x="431126" y="161289"/>
                </a:lnTo>
                <a:lnTo>
                  <a:pt x="431482" y="157479"/>
                </a:lnTo>
                <a:lnTo>
                  <a:pt x="431673" y="153670"/>
                </a:lnTo>
                <a:lnTo>
                  <a:pt x="431660" y="146050"/>
                </a:lnTo>
                <a:lnTo>
                  <a:pt x="431457" y="143510"/>
                </a:lnTo>
                <a:lnTo>
                  <a:pt x="431363" y="142239"/>
                </a:lnTo>
                <a:lnTo>
                  <a:pt x="431126" y="139700"/>
                </a:lnTo>
                <a:lnTo>
                  <a:pt x="430669" y="135889"/>
                </a:lnTo>
                <a:lnTo>
                  <a:pt x="443437" y="135889"/>
                </a:lnTo>
                <a:lnTo>
                  <a:pt x="443776" y="138429"/>
                </a:lnTo>
                <a:lnTo>
                  <a:pt x="444144" y="142239"/>
                </a:lnTo>
                <a:lnTo>
                  <a:pt x="444360" y="146050"/>
                </a:lnTo>
                <a:lnTo>
                  <a:pt x="444347" y="153670"/>
                </a:lnTo>
                <a:lnTo>
                  <a:pt x="444119" y="158750"/>
                </a:lnTo>
                <a:lnTo>
                  <a:pt x="443873" y="161289"/>
                </a:lnTo>
                <a:close/>
              </a:path>
              <a:path w="444500" h="300989">
                <a:moveTo>
                  <a:pt x="12687" y="147320"/>
                </a:moveTo>
                <a:lnTo>
                  <a:pt x="12700" y="146050"/>
                </a:lnTo>
                <a:lnTo>
                  <a:pt x="12687" y="147320"/>
                </a:lnTo>
                <a:close/>
              </a:path>
              <a:path w="444500" h="300989">
                <a:moveTo>
                  <a:pt x="431673" y="147320"/>
                </a:moveTo>
                <a:lnTo>
                  <a:pt x="431601" y="146050"/>
                </a:lnTo>
                <a:lnTo>
                  <a:pt x="431673" y="147320"/>
                </a:lnTo>
                <a:close/>
              </a:path>
              <a:path w="444500" h="300989">
                <a:moveTo>
                  <a:pt x="13368" y="161289"/>
                </a:moveTo>
                <a:lnTo>
                  <a:pt x="13233" y="161289"/>
                </a:lnTo>
                <a:lnTo>
                  <a:pt x="13208" y="160020"/>
                </a:lnTo>
                <a:lnTo>
                  <a:pt x="13368" y="161289"/>
                </a:lnTo>
                <a:close/>
              </a:path>
              <a:path w="444500" h="300989">
                <a:moveTo>
                  <a:pt x="442120" y="171450"/>
                </a:moveTo>
                <a:lnTo>
                  <a:pt x="429361" y="171450"/>
                </a:lnTo>
                <a:lnTo>
                  <a:pt x="430733" y="163829"/>
                </a:lnTo>
                <a:lnTo>
                  <a:pt x="431164" y="160020"/>
                </a:lnTo>
                <a:lnTo>
                  <a:pt x="431126" y="161289"/>
                </a:lnTo>
                <a:lnTo>
                  <a:pt x="443873" y="161289"/>
                </a:lnTo>
                <a:lnTo>
                  <a:pt x="443750" y="162560"/>
                </a:lnTo>
                <a:lnTo>
                  <a:pt x="443268" y="166370"/>
                </a:lnTo>
                <a:lnTo>
                  <a:pt x="442120" y="171450"/>
                </a:lnTo>
                <a:close/>
              </a:path>
              <a:path w="444500" h="300989">
                <a:moveTo>
                  <a:pt x="15225" y="171450"/>
                </a:moveTo>
                <a:lnTo>
                  <a:pt x="15011" y="171450"/>
                </a:lnTo>
                <a:lnTo>
                  <a:pt x="14909" y="170179"/>
                </a:lnTo>
                <a:lnTo>
                  <a:pt x="15225" y="171450"/>
                </a:lnTo>
                <a:close/>
              </a:path>
              <a:path w="444500" h="300989">
                <a:moveTo>
                  <a:pt x="392658" y="247650"/>
                </a:moveTo>
                <a:lnTo>
                  <a:pt x="371195" y="247650"/>
                </a:lnTo>
                <a:lnTo>
                  <a:pt x="378345" y="242570"/>
                </a:lnTo>
                <a:lnTo>
                  <a:pt x="378117" y="242570"/>
                </a:lnTo>
                <a:lnTo>
                  <a:pt x="384898" y="237489"/>
                </a:lnTo>
                <a:lnTo>
                  <a:pt x="384670" y="237489"/>
                </a:lnTo>
                <a:lnTo>
                  <a:pt x="391071" y="232410"/>
                </a:lnTo>
                <a:lnTo>
                  <a:pt x="390842" y="232410"/>
                </a:lnTo>
                <a:lnTo>
                  <a:pt x="396862" y="226060"/>
                </a:lnTo>
                <a:lnTo>
                  <a:pt x="396621" y="226060"/>
                </a:lnTo>
                <a:lnTo>
                  <a:pt x="402247" y="220979"/>
                </a:lnTo>
                <a:lnTo>
                  <a:pt x="402005" y="220979"/>
                </a:lnTo>
                <a:lnTo>
                  <a:pt x="407212" y="214629"/>
                </a:lnTo>
                <a:lnTo>
                  <a:pt x="406984" y="214629"/>
                </a:lnTo>
                <a:lnTo>
                  <a:pt x="411746" y="209550"/>
                </a:lnTo>
                <a:lnTo>
                  <a:pt x="411530" y="209550"/>
                </a:lnTo>
                <a:lnTo>
                  <a:pt x="415848" y="203200"/>
                </a:lnTo>
                <a:lnTo>
                  <a:pt x="415645" y="203200"/>
                </a:lnTo>
                <a:lnTo>
                  <a:pt x="419506" y="196850"/>
                </a:lnTo>
                <a:lnTo>
                  <a:pt x="419315" y="196850"/>
                </a:lnTo>
                <a:lnTo>
                  <a:pt x="422706" y="190500"/>
                </a:lnTo>
                <a:lnTo>
                  <a:pt x="422529" y="190500"/>
                </a:lnTo>
                <a:lnTo>
                  <a:pt x="425437" y="184150"/>
                </a:lnTo>
                <a:lnTo>
                  <a:pt x="425284" y="184150"/>
                </a:lnTo>
                <a:lnTo>
                  <a:pt x="427697" y="177800"/>
                </a:lnTo>
                <a:lnTo>
                  <a:pt x="427558" y="177800"/>
                </a:lnTo>
                <a:lnTo>
                  <a:pt x="429463" y="170179"/>
                </a:lnTo>
                <a:lnTo>
                  <a:pt x="429361" y="171450"/>
                </a:lnTo>
                <a:lnTo>
                  <a:pt x="442120" y="171450"/>
                </a:lnTo>
                <a:lnTo>
                  <a:pt x="441833" y="172720"/>
                </a:lnTo>
                <a:lnTo>
                  <a:pt x="441731" y="173989"/>
                </a:lnTo>
                <a:lnTo>
                  <a:pt x="439699" y="181610"/>
                </a:lnTo>
                <a:lnTo>
                  <a:pt x="437134" y="189229"/>
                </a:lnTo>
                <a:lnTo>
                  <a:pt x="434225" y="195579"/>
                </a:lnTo>
                <a:lnTo>
                  <a:pt x="434047" y="195579"/>
                </a:lnTo>
                <a:lnTo>
                  <a:pt x="430453" y="203200"/>
                </a:lnTo>
                <a:lnTo>
                  <a:pt x="426593" y="209550"/>
                </a:lnTo>
                <a:lnTo>
                  <a:pt x="422059" y="215900"/>
                </a:lnTo>
                <a:lnTo>
                  <a:pt x="416839" y="223520"/>
                </a:lnTo>
                <a:lnTo>
                  <a:pt x="411416" y="229870"/>
                </a:lnTo>
                <a:lnTo>
                  <a:pt x="405561" y="234950"/>
                </a:lnTo>
                <a:lnTo>
                  <a:pt x="399313" y="241300"/>
                </a:lnTo>
                <a:lnTo>
                  <a:pt x="392658" y="247650"/>
                </a:lnTo>
                <a:close/>
              </a:path>
              <a:path w="444500" h="300989">
                <a:moveTo>
                  <a:pt x="74809" y="247650"/>
                </a:moveTo>
                <a:lnTo>
                  <a:pt x="73164" y="247650"/>
                </a:lnTo>
                <a:lnTo>
                  <a:pt x="72936" y="246379"/>
                </a:lnTo>
                <a:lnTo>
                  <a:pt x="74809" y="247650"/>
                </a:lnTo>
                <a:close/>
              </a:path>
              <a:path w="444500" h="300989">
                <a:moveTo>
                  <a:pt x="312731" y="288289"/>
                </a:moveTo>
                <a:lnTo>
                  <a:pt x="232968" y="288289"/>
                </a:lnTo>
                <a:lnTo>
                  <a:pt x="243928" y="287020"/>
                </a:lnTo>
                <a:lnTo>
                  <a:pt x="254304" y="287020"/>
                </a:lnTo>
                <a:lnTo>
                  <a:pt x="264934" y="285750"/>
                </a:lnTo>
                <a:lnTo>
                  <a:pt x="264718" y="285750"/>
                </a:lnTo>
                <a:lnTo>
                  <a:pt x="275170" y="283210"/>
                </a:lnTo>
                <a:lnTo>
                  <a:pt x="274955" y="283210"/>
                </a:lnTo>
                <a:lnTo>
                  <a:pt x="285203" y="281939"/>
                </a:lnTo>
                <a:lnTo>
                  <a:pt x="284988" y="281939"/>
                </a:lnTo>
                <a:lnTo>
                  <a:pt x="295008" y="279400"/>
                </a:lnTo>
                <a:lnTo>
                  <a:pt x="294792" y="279400"/>
                </a:lnTo>
                <a:lnTo>
                  <a:pt x="304596" y="276860"/>
                </a:lnTo>
                <a:lnTo>
                  <a:pt x="304380" y="276860"/>
                </a:lnTo>
                <a:lnTo>
                  <a:pt x="313944" y="274320"/>
                </a:lnTo>
                <a:lnTo>
                  <a:pt x="313728" y="274320"/>
                </a:lnTo>
                <a:lnTo>
                  <a:pt x="323037" y="271779"/>
                </a:lnTo>
                <a:lnTo>
                  <a:pt x="322808" y="271779"/>
                </a:lnTo>
                <a:lnTo>
                  <a:pt x="331850" y="267970"/>
                </a:lnTo>
                <a:lnTo>
                  <a:pt x="331635" y="267970"/>
                </a:lnTo>
                <a:lnTo>
                  <a:pt x="340385" y="264160"/>
                </a:lnTo>
                <a:lnTo>
                  <a:pt x="340169" y="264160"/>
                </a:lnTo>
                <a:lnTo>
                  <a:pt x="348627" y="260350"/>
                </a:lnTo>
                <a:lnTo>
                  <a:pt x="348399" y="260350"/>
                </a:lnTo>
                <a:lnTo>
                  <a:pt x="356565" y="256539"/>
                </a:lnTo>
                <a:lnTo>
                  <a:pt x="356336" y="256539"/>
                </a:lnTo>
                <a:lnTo>
                  <a:pt x="364159" y="251460"/>
                </a:lnTo>
                <a:lnTo>
                  <a:pt x="363931" y="251460"/>
                </a:lnTo>
                <a:lnTo>
                  <a:pt x="371436" y="246379"/>
                </a:lnTo>
                <a:lnTo>
                  <a:pt x="371195" y="247650"/>
                </a:lnTo>
                <a:lnTo>
                  <a:pt x="392658" y="247650"/>
                </a:lnTo>
                <a:lnTo>
                  <a:pt x="385648" y="252729"/>
                </a:lnTo>
                <a:lnTo>
                  <a:pt x="378256" y="257810"/>
                </a:lnTo>
                <a:lnTo>
                  <a:pt x="370535" y="262889"/>
                </a:lnTo>
                <a:lnTo>
                  <a:pt x="362470" y="266700"/>
                </a:lnTo>
                <a:lnTo>
                  <a:pt x="354088" y="271779"/>
                </a:lnTo>
                <a:lnTo>
                  <a:pt x="345401" y="275589"/>
                </a:lnTo>
                <a:lnTo>
                  <a:pt x="336410" y="279400"/>
                </a:lnTo>
                <a:lnTo>
                  <a:pt x="327151" y="283210"/>
                </a:lnTo>
                <a:lnTo>
                  <a:pt x="317626" y="287020"/>
                </a:lnTo>
                <a:lnTo>
                  <a:pt x="312731" y="288289"/>
                </a:lnTo>
                <a:close/>
              </a:path>
              <a:path w="444500" h="300989">
                <a:moveTo>
                  <a:pt x="233400" y="300989"/>
                </a:moveTo>
                <a:lnTo>
                  <a:pt x="210743" y="300989"/>
                </a:lnTo>
                <a:lnTo>
                  <a:pt x="199567" y="299720"/>
                </a:lnTo>
                <a:lnTo>
                  <a:pt x="244576" y="299720"/>
                </a:lnTo>
                <a:lnTo>
                  <a:pt x="233400" y="300989"/>
                </a:lnTo>
                <a:close/>
              </a:path>
            </a:pathLst>
          </a:custGeom>
          <a:solidFill>
            <a:srgbClr val="006C39"/>
          </a:solidFill>
        </p:spPr>
        <p:txBody>
          <a:bodyPr wrap="square" lIns="0" tIns="0" rIns="0" bIns="0" rtlCol="0"/>
          <a:lstStyle/>
          <a:p>
            <a:endParaRPr/>
          </a:p>
        </p:txBody>
      </p:sp>
      <p:sp>
        <p:nvSpPr>
          <p:cNvPr id="31" name="object 31"/>
          <p:cNvSpPr txBox="1"/>
          <p:nvPr/>
        </p:nvSpPr>
        <p:spPr>
          <a:xfrm>
            <a:off x="3130727" y="4395723"/>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32" name="object 32"/>
          <p:cNvSpPr/>
          <p:nvPr/>
        </p:nvSpPr>
        <p:spPr>
          <a:xfrm>
            <a:off x="1043165" y="3860927"/>
            <a:ext cx="7885430" cy="0"/>
          </a:xfrm>
          <a:custGeom>
            <a:avLst/>
            <a:gdLst/>
            <a:ahLst/>
            <a:cxnLst/>
            <a:rect l="l" t="t" r="r" b="b"/>
            <a:pathLst>
              <a:path w="7885430">
                <a:moveTo>
                  <a:pt x="0" y="0"/>
                </a:moveTo>
                <a:lnTo>
                  <a:pt x="7885112" y="0"/>
                </a:lnTo>
              </a:path>
            </a:pathLst>
          </a:custGeom>
          <a:ln w="12700">
            <a:solidFill>
              <a:srgbClr val="006C39"/>
            </a:solidFill>
          </a:ln>
        </p:spPr>
        <p:txBody>
          <a:bodyPr wrap="square" lIns="0" tIns="0" rIns="0" bIns="0" rtlCol="0"/>
          <a:lstStyle/>
          <a:p>
            <a:endParaRPr/>
          </a:p>
        </p:txBody>
      </p:sp>
      <p:sp>
        <p:nvSpPr>
          <p:cNvPr id="33" name="object 33"/>
          <p:cNvSpPr/>
          <p:nvPr/>
        </p:nvSpPr>
        <p:spPr>
          <a:xfrm>
            <a:off x="5580888" y="4171188"/>
            <a:ext cx="3168395" cy="1603248"/>
          </a:xfrm>
          <a:prstGeom prst="rect">
            <a:avLst/>
          </a:prstGeom>
          <a:blipFill>
            <a:blip r:embed="rId8" cstate="print"/>
            <a:stretch>
              <a:fillRect/>
            </a:stretch>
          </a:blipFill>
        </p:spPr>
        <p:txBody>
          <a:bodyPr wrap="square" lIns="0" tIns="0" rIns="0" bIns="0" rtlCol="0"/>
          <a:lstStyle/>
          <a:p>
            <a:endParaRPr/>
          </a:p>
        </p:txBody>
      </p:sp>
      <p:sp>
        <p:nvSpPr>
          <p:cNvPr id="34" name="object 34"/>
          <p:cNvSpPr/>
          <p:nvPr/>
        </p:nvSpPr>
        <p:spPr>
          <a:xfrm>
            <a:off x="5576430" y="4166755"/>
            <a:ext cx="3176270" cy="1612265"/>
          </a:xfrm>
          <a:custGeom>
            <a:avLst/>
            <a:gdLst/>
            <a:ahLst/>
            <a:cxnLst/>
            <a:rect l="l" t="t" r="r" b="b"/>
            <a:pathLst>
              <a:path w="3176270" h="1612264">
                <a:moveTo>
                  <a:pt x="3176269" y="1611909"/>
                </a:moveTo>
                <a:lnTo>
                  <a:pt x="0" y="1611909"/>
                </a:lnTo>
                <a:lnTo>
                  <a:pt x="0" y="0"/>
                </a:lnTo>
                <a:lnTo>
                  <a:pt x="3176269" y="0"/>
                </a:lnTo>
                <a:lnTo>
                  <a:pt x="3176269" y="3810"/>
                </a:lnTo>
                <a:lnTo>
                  <a:pt x="7620" y="3810"/>
                </a:lnTo>
                <a:lnTo>
                  <a:pt x="3810" y="7619"/>
                </a:lnTo>
                <a:lnTo>
                  <a:pt x="7620" y="7619"/>
                </a:lnTo>
                <a:lnTo>
                  <a:pt x="7620" y="1604289"/>
                </a:lnTo>
                <a:lnTo>
                  <a:pt x="3810" y="1604289"/>
                </a:lnTo>
                <a:lnTo>
                  <a:pt x="7620" y="1608099"/>
                </a:lnTo>
                <a:lnTo>
                  <a:pt x="3176269" y="1608099"/>
                </a:lnTo>
                <a:lnTo>
                  <a:pt x="3176269" y="1611909"/>
                </a:lnTo>
                <a:close/>
              </a:path>
              <a:path w="3176270" h="1612264">
                <a:moveTo>
                  <a:pt x="7620" y="7619"/>
                </a:moveTo>
                <a:lnTo>
                  <a:pt x="3810" y="7619"/>
                </a:lnTo>
                <a:lnTo>
                  <a:pt x="7620" y="3810"/>
                </a:lnTo>
                <a:lnTo>
                  <a:pt x="7620" y="7619"/>
                </a:lnTo>
                <a:close/>
              </a:path>
              <a:path w="3176270" h="1612264">
                <a:moveTo>
                  <a:pt x="3168650" y="7619"/>
                </a:moveTo>
                <a:lnTo>
                  <a:pt x="7620" y="7619"/>
                </a:lnTo>
                <a:lnTo>
                  <a:pt x="7620" y="3810"/>
                </a:lnTo>
                <a:lnTo>
                  <a:pt x="3168650" y="3810"/>
                </a:lnTo>
                <a:lnTo>
                  <a:pt x="3168650" y="7619"/>
                </a:lnTo>
                <a:close/>
              </a:path>
              <a:path w="3176270" h="1612264">
                <a:moveTo>
                  <a:pt x="3168650" y="1608099"/>
                </a:moveTo>
                <a:lnTo>
                  <a:pt x="3168650" y="3810"/>
                </a:lnTo>
                <a:lnTo>
                  <a:pt x="3172460" y="7619"/>
                </a:lnTo>
                <a:lnTo>
                  <a:pt x="3176269" y="7619"/>
                </a:lnTo>
                <a:lnTo>
                  <a:pt x="3176269" y="1604289"/>
                </a:lnTo>
                <a:lnTo>
                  <a:pt x="3172460" y="1604289"/>
                </a:lnTo>
                <a:lnTo>
                  <a:pt x="3168650" y="1608099"/>
                </a:lnTo>
                <a:close/>
              </a:path>
              <a:path w="3176270" h="1612264">
                <a:moveTo>
                  <a:pt x="3176269" y="7619"/>
                </a:moveTo>
                <a:lnTo>
                  <a:pt x="3172460" y="7619"/>
                </a:lnTo>
                <a:lnTo>
                  <a:pt x="3168650" y="3810"/>
                </a:lnTo>
                <a:lnTo>
                  <a:pt x="3176269" y="3810"/>
                </a:lnTo>
                <a:lnTo>
                  <a:pt x="3176269" y="7619"/>
                </a:lnTo>
                <a:close/>
              </a:path>
              <a:path w="3176270" h="1612264">
                <a:moveTo>
                  <a:pt x="7620" y="1608099"/>
                </a:moveTo>
                <a:lnTo>
                  <a:pt x="3810" y="1604289"/>
                </a:lnTo>
                <a:lnTo>
                  <a:pt x="7620" y="1604289"/>
                </a:lnTo>
                <a:lnTo>
                  <a:pt x="7620" y="1608099"/>
                </a:lnTo>
                <a:close/>
              </a:path>
              <a:path w="3176270" h="1612264">
                <a:moveTo>
                  <a:pt x="3168650" y="1608099"/>
                </a:moveTo>
                <a:lnTo>
                  <a:pt x="7620" y="1608099"/>
                </a:lnTo>
                <a:lnTo>
                  <a:pt x="7620" y="1604289"/>
                </a:lnTo>
                <a:lnTo>
                  <a:pt x="3168650" y="1604289"/>
                </a:lnTo>
                <a:lnTo>
                  <a:pt x="3168650" y="1608099"/>
                </a:lnTo>
                <a:close/>
              </a:path>
              <a:path w="3176270" h="1612264">
                <a:moveTo>
                  <a:pt x="3176269" y="1608099"/>
                </a:moveTo>
                <a:lnTo>
                  <a:pt x="3168650" y="1608099"/>
                </a:lnTo>
                <a:lnTo>
                  <a:pt x="3172460" y="1604289"/>
                </a:lnTo>
                <a:lnTo>
                  <a:pt x="3176269" y="1604289"/>
                </a:lnTo>
                <a:lnTo>
                  <a:pt x="3176269" y="1608099"/>
                </a:lnTo>
                <a:close/>
              </a:path>
            </a:pathLst>
          </a:custGeom>
          <a:solidFill>
            <a:srgbClr val="A03E0A"/>
          </a:solidFill>
        </p:spPr>
        <p:txBody>
          <a:bodyPr wrap="square" lIns="0" tIns="0" rIns="0" bIns="0" rtlCol="0"/>
          <a:lstStyle/>
          <a:p>
            <a:endParaRPr/>
          </a:p>
        </p:txBody>
      </p:sp>
      <p:sp>
        <p:nvSpPr>
          <p:cNvPr id="35" name="object 35"/>
          <p:cNvSpPr/>
          <p:nvPr/>
        </p:nvSpPr>
        <p:spPr>
          <a:xfrm>
            <a:off x="5795771" y="4527803"/>
            <a:ext cx="2737485" cy="338455"/>
          </a:xfrm>
          <a:custGeom>
            <a:avLst/>
            <a:gdLst/>
            <a:ahLst/>
            <a:cxnLst/>
            <a:rect l="l" t="t" r="r" b="b"/>
            <a:pathLst>
              <a:path w="2737484" h="338454">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36" name="object 36"/>
          <p:cNvSpPr/>
          <p:nvPr/>
        </p:nvSpPr>
        <p:spPr>
          <a:xfrm>
            <a:off x="5789790" y="4522076"/>
            <a:ext cx="2749550" cy="351155"/>
          </a:xfrm>
          <a:custGeom>
            <a:avLst/>
            <a:gdLst/>
            <a:ahLst/>
            <a:cxnLst/>
            <a:rect l="l" t="t" r="r" b="b"/>
            <a:pathLst>
              <a:path w="2749550" h="351154">
                <a:moveTo>
                  <a:pt x="2749550" y="351154"/>
                </a:moveTo>
                <a:lnTo>
                  <a:pt x="0" y="351154"/>
                </a:lnTo>
                <a:lnTo>
                  <a:pt x="0" y="0"/>
                </a:lnTo>
                <a:lnTo>
                  <a:pt x="2749550" y="0"/>
                </a:lnTo>
                <a:lnTo>
                  <a:pt x="2749550" y="6350"/>
                </a:lnTo>
                <a:lnTo>
                  <a:pt x="12700" y="6350"/>
                </a:lnTo>
                <a:lnTo>
                  <a:pt x="6350" y="12700"/>
                </a:lnTo>
                <a:lnTo>
                  <a:pt x="12700" y="12700"/>
                </a:lnTo>
                <a:lnTo>
                  <a:pt x="12700" y="338454"/>
                </a:lnTo>
                <a:lnTo>
                  <a:pt x="6350" y="338454"/>
                </a:lnTo>
                <a:lnTo>
                  <a:pt x="12700" y="344804"/>
                </a:lnTo>
                <a:lnTo>
                  <a:pt x="2749550" y="344804"/>
                </a:lnTo>
                <a:lnTo>
                  <a:pt x="2749550" y="351154"/>
                </a:lnTo>
                <a:close/>
              </a:path>
              <a:path w="2749550" h="351154">
                <a:moveTo>
                  <a:pt x="12700" y="12700"/>
                </a:moveTo>
                <a:lnTo>
                  <a:pt x="6350" y="12700"/>
                </a:lnTo>
                <a:lnTo>
                  <a:pt x="12700" y="6350"/>
                </a:lnTo>
                <a:lnTo>
                  <a:pt x="12700" y="12700"/>
                </a:lnTo>
                <a:close/>
              </a:path>
              <a:path w="2749550" h="351154">
                <a:moveTo>
                  <a:pt x="2736850" y="12700"/>
                </a:moveTo>
                <a:lnTo>
                  <a:pt x="12700" y="12700"/>
                </a:lnTo>
                <a:lnTo>
                  <a:pt x="12700" y="6350"/>
                </a:lnTo>
                <a:lnTo>
                  <a:pt x="2736850" y="6350"/>
                </a:lnTo>
                <a:lnTo>
                  <a:pt x="2736850" y="12700"/>
                </a:lnTo>
                <a:close/>
              </a:path>
              <a:path w="2749550" h="351154">
                <a:moveTo>
                  <a:pt x="2736850" y="344804"/>
                </a:moveTo>
                <a:lnTo>
                  <a:pt x="2736850" y="6350"/>
                </a:lnTo>
                <a:lnTo>
                  <a:pt x="2743200" y="12700"/>
                </a:lnTo>
                <a:lnTo>
                  <a:pt x="2749550" y="12700"/>
                </a:lnTo>
                <a:lnTo>
                  <a:pt x="2749550" y="338454"/>
                </a:lnTo>
                <a:lnTo>
                  <a:pt x="2743200" y="338454"/>
                </a:lnTo>
                <a:lnTo>
                  <a:pt x="2736850" y="344804"/>
                </a:lnTo>
                <a:close/>
              </a:path>
              <a:path w="2749550" h="351154">
                <a:moveTo>
                  <a:pt x="2749550" y="12700"/>
                </a:moveTo>
                <a:lnTo>
                  <a:pt x="2743200" y="12700"/>
                </a:lnTo>
                <a:lnTo>
                  <a:pt x="2736850" y="6350"/>
                </a:lnTo>
                <a:lnTo>
                  <a:pt x="2749550" y="6350"/>
                </a:lnTo>
                <a:lnTo>
                  <a:pt x="2749550" y="12700"/>
                </a:lnTo>
                <a:close/>
              </a:path>
              <a:path w="2749550" h="351154">
                <a:moveTo>
                  <a:pt x="12700" y="344804"/>
                </a:moveTo>
                <a:lnTo>
                  <a:pt x="6350" y="338454"/>
                </a:lnTo>
                <a:lnTo>
                  <a:pt x="12700" y="338454"/>
                </a:lnTo>
                <a:lnTo>
                  <a:pt x="12700" y="344804"/>
                </a:lnTo>
                <a:close/>
              </a:path>
              <a:path w="2749550" h="351154">
                <a:moveTo>
                  <a:pt x="2736850" y="344804"/>
                </a:moveTo>
                <a:lnTo>
                  <a:pt x="12700" y="344804"/>
                </a:lnTo>
                <a:lnTo>
                  <a:pt x="12700" y="338454"/>
                </a:lnTo>
                <a:lnTo>
                  <a:pt x="2736850" y="338454"/>
                </a:lnTo>
                <a:lnTo>
                  <a:pt x="2736850" y="344804"/>
                </a:lnTo>
                <a:close/>
              </a:path>
              <a:path w="2749550" h="351154">
                <a:moveTo>
                  <a:pt x="2749550" y="344804"/>
                </a:moveTo>
                <a:lnTo>
                  <a:pt x="2736850" y="344804"/>
                </a:lnTo>
                <a:lnTo>
                  <a:pt x="2743200" y="338454"/>
                </a:lnTo>
                <a:lnTo>
                  <a:pt x="2749550" y="338454"/>
                </a:lnTo>
                <a:lnTo>
                  <a:pt x="2749550" y="344804"/>
                </a:lnTo>
                <a:close/>
              </a:path>
            </a:pathLst>
          </a:custGeom>
          <a:solidFill>
            <a:srgbClr val="0000FF"/>
          </a:solidFill>
        </p:spPr>
        <p:txBody>
          <a:bodyPr wrap="square" lIns="0" tIns="0" rIns="0" bIns="0" rtlCol="0"/>
          <a:lstStyle/>
          <a:p>
            <a:endParaRPr/>
          </a:p>
        </p:txBody>
      </p:sp>
      <p:sp>
        <p:nvSpPr>
          <p:cNvPr id="37" name="object 37"/>
          <p:cNvSpPr txBox="1"/>
          <p:nvPr/>
        </p:nvSpPr>
        <p:spPr>
          <a:xfrm>
            <a:off x="5795771" y="4550651"/>
            <a:ext cx="2737485" cy="268605"/>
          </a:xfrm>
          <a:prstGeom prst="rect">
            <a:avLst/>
          </a:prstGeom>
        </p:spPr>
        <p:txBody>
          <a:bodyPr vert="horz" wrap="square" lIns="0" tIns="12065" rIns="0" bIns="0" rtlCol="0">
            <a:spAutoFit/>
          </a:bodyPr>
          <a:lstStyle/>
          <a:p>
            <a:pPr marL="672465">
              <a:lnSpc>
                <a:spcPct val="100000"/>
              </a:lnSpc>
              <a:spcBef>
                <a:spcPts val="95"/>
              </a:spcBef>
            </a:pPr>
            <a:r>
              <a:rPr sz="1600" spc="-10" dirty="0">
                <a:latin typeface="Times New Roman"/>
                <a:cs typeface="Times New Roman"/>
              </a:rPr>
              <a:t>CharArrayWriter</a:t>
            </a:r>
            <a:endParaRPr sz="1600">
              <a:latin typeface="Times New Roman"/>
              <a:cs typeface="Times New Roman"/>
            </a:endParaRPr>
          </a:p>
        </p:txBody>
      </p:sp>
      <p:sp>
        <p:nvSpPr>
          <p:cNvPr id="38" name="object 38"/>
          <p:cNvSpPr txBox="1"/>
          <p:nvPr/>
        </p:nvSpPr>
        <p:spPr>
          <a:xfrm>
            <a:off x="6304178" y="3204006"/>
            <a:ext cx="1720214" cy="268605"/>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write()</a:t>
            </a:r>
            <a:r>
              <a:rPr sz="1600" spc="365" dirty="0">
                <a:latin typeface="Times New Roman"/>
                <a:cs typeface="Times New Roman"/>
              </a:rPr>
              <a:t> </a:t>
            </a:r>
            <a:r>
              <a:rPr sz="1600" spc="-5" dirty="0">
                <a:latin typeface="Times New Roman"/>
                <a:cs typeface="Times New Roman"/>
              </a:rPr>
              <a:t>write(byte[])</a:t>
            </a:r>
            <a:endParaRPr sz="1600">
              <a:latin typeface="Times New Roman"/>
              <a:cs typeface="Times New Roman"/>
            </a:endParaRPr>
          </a:p>
        </p:txBody>
      </p:sp>
      <p:sp>
        <p:nvSpPr>
          <p:cNvPr id="39" name="object 39"/>
          <p:cNvSpPr txBox="1"/>
          <p:nvPr/>
        </p:nvSpPr>
        <p:spPr>
          <a:xfrm>
            <a:off x="2343962" y="2610611"/>
            <a:ext cx="1979930"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writeInt(),</a:t>
            </a:r>
            <a:r>
              <a:rPr sz="1400" spc="-30" dirty="0">
                <a:latin typeface="Times New Roman"/>
                <a:cs typeface="Times New Roman"/>
              </a:rPr>
              <a:t> </a:t>
            </a:r>
            <a:r>
              <a:rPr sz="1400" spc="-5" dirty="0">
                <a:latin typeface="Times New Roman"/>
                <a:cs typeface="Times New Roman"/>
              </a:rPr>
              <a:t>writeDouble()…</a:t>
            </a:r>
            <a:endParaRPr sz="1400">
              <a:latin typeface="Times New Roman"/>
              <a:cs typeface="Times New Roman"/>
            </a:endParaRPr>
          </a:p>
        </p:txBody>
      </p:sp>
      <p:sp>
        <p:nvSpPr>
          <p:cNvPr id="40" name="object 40"/>
          <p:cNvSpPr txBox="1"/>
          <p:nvPr/>
        </p:nvSpPr>
        <p:spPr>
          <a:xfrm>
            <a:off x="2704325" y="1912454"/>
            <a:ext cx="982980"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writeObject()</a:t>
            </a:r>
            <a:endParaRPr sz="1400">
              <a:latin typeface="Times New Roman"/>
              <a:cs typeface="Times New Roman"/>
            </a:endParaRPr>
          </a:p>
        </p:txBody>
      </p:sp>
      <p:sp>
        <p:nvSpPr>
          <p:cNvPr id="41" name="object 41"/>
          <p:cNvSpPr/>
          <p:nvPr/>
        </p:nvSpPr>
        <p:spPr>
          <a:xfrm>
            <a:off x="1044752" y="1058024"/>
            <a:ext cx="1006475" cy="76200"/>
          </a:xfrm>
          <a:custGeom>
            <a:avLst/>
            <a:gdLst/>
            <a:ahLst/>
            <a:cxnLst/>
            <a:rect l="l" t="t" r="r" b="b"/>
            <a:pathLst>
              <a:path w="1006475" h="76200">
                <a:moveTo>
                  <a:pt x="929919" y="76200"/>
                </a:moveTo>
                <a:lnTo>
                  <a:pt x="929919" y="0"/>
                </a:lnTo>
                <a:lnTo>
                  <a:pt x="993419" y="31750"/>
                </a:lnTo>
                <a:lnTo>
                  <a:pt x="948969" y="31750"/>
                </a:lnTo>
                <a:lnTo>
                  <a:pt x="948969" y="44450"/>
                </a:lnTo>
                <a:lnTo>
                  <a:pt x="993419" y="44450"/>
                </a:lnTo>
                <a:lnTo>
                  <a:pt x="929919" y="76200"/>
                </a:lnTo>
                <a:close/>
              </a:path>
              <a:path w="1006475" h="76200">
                <a:moveTo>
                  <a:pt x="929919" y="44450"/>
                </a:moveTo>
                <a:lnTo>
                  <a:pt x="0" y="44450"/>
                </a:lnTo>
                <a:lnTo>
                  <a:pt x="0" y="31750"/>
                </a:lnTo>
                <a:lnTo>
                  <a:pt x="929919" y="31750"/>
                </a:lnTo>
                <a:lnTo>
                  <a:pt x="929919" y="44450"/>
                </a:lnTo>
                <a:close/>
              </a:path>
              <a:path w="1006475" h="76200">
                <a:moveTo>
                  <a:pt x="993419" y="44450"/>
                </a:moveTo>
                <a:lnTo>
                  <a:pt x="948969" y="44450"/>
                </a:lnTo>
                <a:lnTo>
                  <a:pt x="948969" y="31750"/>
                </a:lnTo>
                <a:lnTo>
                  <a:pt x="993419" y="31750"/>
                </a:lnTo>
                <a:lnTo>
                  <a:pt x="1006119" y="38100"/>
                </a:lnTo>
                <a:lnTo>
                  <a:pt x="993419" y="44450"/>
                </a:lnTo>
                <a:close/>
              </a:path>
            </a:pathLst>
          </a:custGeom>
          <a:solidFill>
            <a:srgbClr val="967A2C"/>
          </a:solidFill>
        </p:spPr>
        <p:txBody>
          <a:bodyPr wrap="square" lIns="0" tIns="0" rIns="0" bIns="0" rtlCol="0"/>
          <a:lstStyle/>
          <a:p>
            <a:endParaRPr/>
          </a:p>
        </p:txBody>
      </p:sp>
      <p:sp>
        <p:nvSpPr>
          <p:cNvPr id="42" name="object 42"/>
          <p:cNvSpPr txBox="1"/>
          <p:nvPr/>
        </p:nvSpPr>
        <p:spPr>
          <a:xfrm>
            <a:off x="2487752" y="1192377"/>
            <a:ext cx="1517015"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print()</a:t>
            </a:r>
            <a:r>
              <a:rPr sz="1400" spc="300" dirty="0">
                <a:latin typeface="Times New Roman"/>
                <a:cs typeface="Times New Roman"/>
              </a:rPr>
              <a:t> </a:t>
            </a:r>
            <a:r>
              <a:rPr sz="1400" spc="-5" dirty="0">
                <a:latin typeface="Times New Roman"/>
                <a:cs typeface="Times New Roman"/>
              </a:rPr>
              <a:t>println()……</a:t>
            </a:r>
            <a:endParaRPr sz="1400">
              <a:latin typeface="Times New Roman"/>
              <a:cs typeface="Times New Roman"/>
            </a:endParaRPr>
          </a:p>
        </p:txBody>
      </p:sp>
      <p:sp>
        <p:nvSpPr>
          <p:cNvPr id="43" name="object 43"/>
          <p:cNvSpPr/>
          <p:nvPr/>
        </p:nvSpPr>
        <p:spPr>
          <a:xfrm>
            <a:off x="1044651" y="1723478"/>
            <a:ext cx="1006475" cy="76200"/>
          </a:xfrm>
          <a:custGeom>
            <a:avLst/>
            <a:gdLst/>
            <a:ahLst/>
            <a:cxnLst/>
            <a:rect l="l" t="t" r="r" b="b"/>
            <a:pathLst>
              <a:path w="1006475" h="76200">
                <a:moveTo>
                  <a:pt x="994919" y="44754"/>
                </a:moveTo>
                <a:lnTo>
                  <a:pt x="948982" y="44754"/>
                </a:lnTo>
                <a:lnTo>
                  <a:pt x="949185" y="32054"/>
                </a:lnTo>
                <a:lnTo>
                  <a:pt x="930137" y="31745"/>
                </a:lnTo>
                <a:lnTo>
                  <a:pt x="930656" y="0"/>
                </a:lnTo>
                <a:lnTo>
                  <a:pt x="1006220" y="39331"/>
                </a:lnTo>
                <a:lnTo>
                  <a:pt x="994919" y="44754"/>
                </a:lnTo>
                <a:close/>
              </a:path>
              <a:path w="1006475" h="76200">
                <a:moveTo>
                  <a:pt x="929929" y="44445"/>
                </a:moveTo>
                <a:lnTo>
                  <a:pt x="0" y="29349"/>
                </a:lnTo>
                <a:lnTo>
                  <a:pt x="203" y="16649"/>
                </a:lnTo>
                <a:lnTo>
                  <a:pt x="930137" y="31745"/>
                </a:lnTo>
                <a:lnTo>
                  <a:pt x="929929" y="44445"/>
                </a:lnTo>
                <a:close/>
              </a:path>
              <a:path w="1006475" h="76200">
                <a:moveTo>
                  <a:pt x="948982" y="44754"/>
                </a:moveTo>
                <a:lnTo>
                  <a:pt x="929929" y="44445"/>
                </a:lnTo>
                <a:lnTo>
                  <a:pt x="930137" y="31745"/>
                </a:lnTo>
                <a:lnTo>
                  <a:pt x="949185" y="32054"/>
                </a:lnTo>
                <a:lnTo>
                  <a:pt x="948982" y="44754"/>
                </a:lnTo>
                <a:close/>
              </a:path>
              <a:path w="1006475" h="76200">
                <a:moveTo>
                  <a:pt x="929411" y="76187"/>
                </a:moveTo>
                <a:lnTo>
                  <a:pt x="929929" y="44445"/>
                </a:lnTo>
                <a:lnTo>
                  <a:pt x="948982" y="44754"/>
                </a:lnTo>
                <a:lnTo>
                  <a:pt x="994919" y="44754"/>
                </a:lnTo>
                <a:lnTo>
                  <a:pt x="929411" y="76187"/>
                </a:lnTo>
                <a:close/>
              </a:path>
            </a:pathLst>
          </a:custGeom>
          <a:solidFill>
            <a:srgbClr val="967A2C"/>
          </a:solidFill>
        </p:spPr>
        <p:txBody>
          <a:bodyPr wrap="square" lIns="0" tIns="0" rIns="0" bIns="0" rtlCol="0"/>
          <a:lstStyle/>
          <a:p>
            <a:endParaRPr/>
          </a:p>
        </p:txBody>
      </p:sp>
      <p:sp>
        <p:nvSpPr>
          <p:cNvPr id="44" name="object 44"/>
          <p:cNvSpPr/>
          <p:nvPr/>
        </p:nvSpPr>
        <p:spPr>
          <a:xfrm>
            <a:off x="1252804" y="1452791"/>
            <a:ext cx="589280" cy="300990"/>
          </a:xfrm>
          <a:custGeom>
            <a:avLst/>
            <a:gdLst/>
            <a:ahLst/>
            <a:cxnLst/>
            <a:rect l="l" t="t" r="r" b="b"/>
            <a:pathLst>
              <a:path w="589280" h="300989">
                <a:moveTo>
                  <a:pt x="28727" y="104139"/>
                </a:moveTo>
                <a:lnTo>
                  <a:pt x="13944" y="104139"/>
                </a:lnTo>
                <a:lnTo>
                  <a:pt x="18478" y="96519"/>
                </a:lnTo>
                <a:lnTo>
                  <a:pt x="18745" y="96519"/>
                </a:lnTo>
                <a:lnTo>
                  <a:pt x="24180" y="90169"/>
                </a:lnTo>
                <a:lnTo>
                  <a:pt x="30225" y="82549"/>
                </a:lnTo>
                <a:lnTo>
                  <a:pt x="36855" y="76199"/>
                </a:lnTo>
                <a:lnTo>
                  <a:pt x="44056" y="69849"/>
                </a:lnTo>
                <a:lnTo>
                  <a:pt x="51803" y="64769"/>
                </a:lnTo>
                <a:lnTo>
                  <a:pt x="59842" y="58419"/>
                </a:lnTo>
                <a:lnTo>
                  <a:pt x="68872" y="53339"/>
                </a:lnTo>
                <a:lnTo>
                  <a:pt x="78155" y="46989"/>
                </a:lnTo>
                <a:lnTo>
                  <a:pt x="87909" y="41909"/>
                </a:lnTo>
                <a:lnTo>
                  <a:pt x="98120" y="36829"/>
                </a:lnTo>
                <a:lnTo>
                  <a:pt x="108788" y="33019"/>
                </a:lnTo>
                <a:lnTo>
                  <a:pt x="119862" y="27939"/>
                </a:lnTo>
                <a:lnTo>
                  <a:pt x="131343" y="24129"/>
                </a:lnTo>
                <a:lnTo>
                  <a:pt x="155282" y="16509"/>
                </a:lnTo>
                <a:lnTo>
                  <a:pt x="181000" y="11429"/>
                </a:lnTo>
                <a:lnTo>
                  <a:pt x="194259" y="7619"/>
                </a:lnTo>
                <a:lnTo>
                  <a:pt x="207810" y="6349"/>
                </a:lnTo>
                <a:lnTo>
                  <a:pt x="221653" y="3809"/>
                </a:lnTo>
                <a:lnTo>
                  <a:pt x="264680" y="0"/>
                </a:lnTo>
                <a:lnTo>
                  <a:pt x="324256" y="0"/>
                </a:lnTo>
                <a:lnTo>
                  <a:pt x="367296" y="3809"/>
                </a:lnTo>
                <a:lnTo>
                  <a:pt x="414413" y="12699"/>
                </a:lnTo>
                <a:lnTo>
                  <a:pt x="265328" y="12699"/>
                </a:lnTo>
                <a:lnTo>
                  <a:pt x="250913" y="13969"/>
                </a:lnTo>
                <a:lnTo>
                  <a:pt x="251078" y="13969"/>
                </a:lnTo>
                <a:lnTo>
                  <a:pt x="236880" y="15239"/>
                </a:lnTo>
                <a:lnTo>
                  <a:pt x="237045" y="15239"/>
                </a:lnTo>
                <a:lnTo>
                  <a:pt x="223113" y="16509"/>
                </a:lnTo>
                <a:lnTo>
                  <a:pt x="223278" y="16509"/>
                </a:lnTo>
                <a:lnTo>
                  <a:pt x="209600" y="19049"/>
                </a:lnTo>
                <a:lnTo>
                  <a:pt x="209765" y="19049"/>
                </a:lnTo>
                <a:lnTo>
                  <a:pt x="196380" y="20319"/>
                </a:lnTo>
                <a:lnTo>
                  <a:pt x="196545" y="20319"/>
                </a:lnTo>
                <a:lnTo>
                  <a:pt x="183464" y="22859"/>
                </a:lnTo>
                <a:lnTo>
                  <a:pt x="183641" y="22859"/>
                </a:lnTo>
                <a:lnTo>
                  <a:pt x="170878" y="26669"/>
                </a:lnTo>
                <a:lnTo>
                  <a:pt x="171056" y="26669"/>
                </a:lnTo>
                <a:lnTo>
                  <a:pt x="158622" y="29209"/>
                </a:lnTo>
                <a:lnTo>
                  <a:pt x="158800" y="29209"/>
                </a:lnTo>
                <a:lnTo>
                  <a:pt x="146735" y="33019"/>
                </a:lnTo>
                <a:lnTo>
                  <a:pt x="146926" y="33019"/>
                </a:lnTo>
                <a:lnTo>
                  <a:pt x="135229" y="36829"/>
                </a:lnTo>
                <a:lnTo>
                  <a:pt x="135420" y="36829"/>
                </a:lnTo>
                <a:lnTo>
                  <a:pt x="124129" y="40639"/>
                </a:lnTo>
                <a:lnTo>
                  <a:pt x="124320" y="40639"/>
                </a:lnTo>
                <a:lnTo>
                  <a:pt x="113436" y="44449"/>
                </a:lnTo>
                <a:lnTo>
                  <a:pt x="113639" y="44449"/>
                </a:lnTo>
                <a:lnTo>
                  <a:pt x="103187" y="49529"/>
                </a:lnTo>
                <a:lnTo>
                  <a:pt x="103390" y="49529"/>
                </a:lnTo>
                <a:lnTo>
                  <a:pt x="93383" y="53339"/>
                </a:lnTo>
                <a:lnTo>
                  <a:pt x="93599" y="53339"/>
                </a:lnTo>
                <a:lnTo>
                  <a:pt x="84061" y="58419"/>
                </a:lnTo>
                <a:lnTo>
                  <a:pt x="84289" y="58419"/>
                </a:lnTo>
                <a:lnTo>
                  <a:pt x="75234" y="63499"/>
                </a:lnTo>
                <a:lnTo>
                  <a:pt x="75463" y="63499"/>
                </a:lnTo>
                <a:lnTo>
                  <a:pt x="66916" y="68579"/>
                </a:lnTo>
                <a:lnTo>
                  <a:pt x="67157" y="68579"/>
                </a:lnTo>
                <a:lnTo>
                  <a:pt x="59118" y="74929"/>
                </a:lnTo>
                <a:lnTo>
                  <a:pt x="59372" y="74929"/>
                </a:lnTo>
                <a:lnTo>
                  <a:pt x="51879" y="80009"/>
                </a:lnTo>
                <a:lnTo>
                  <a:pt x="52146" y="80009"/>
                </a:lnTo>
                <a:lnTo>
                  <a:pt x="45212" y="86359"/>
                </a:lnTo>
                <a:lnTo>
                  <a:pt x="45478" y="86359"/>
                </a:lnTo>
                <a:lnTo>
                  <a:pt x="40388" y="91439"/>
                </a:lnTo>
                <a:lnTo>
                  <a:pt x="39382" y="91439"/>
                </a:lnTo>
                <a:lnTo>
                  <a:pt x="33616" y="97789"/>
                </a:lnTo>
                <a:lnTo>
                  <a:pt x="33896" y="97789"/>
                </a:lnTo>
                <a:lnTo>
                  <a:pt x="28727" y="104139"/>
                </a:lnTo>
                <a:close/>
              </a:path>
              <a:path w="589280" h="300989">
                <a:moveTo>
                  <a:pt x="549668" y="92709"/>
                </a:moveTo>
                <a:lnTo>
                  <a:pt x="543305" y="86359"/>
                </a:lnTo>
                <a:lnTo>
                  <a:pt x="543572" y="86359"/>
                </a:lnTo>
                <a:lnTo>
                  <a:pt x="536625" y="80009"/>
                </a:lnTo>
                <a:lnTo>
                  <a:pt x="536892" y="80009"/>
                </a:lnTo>
                <a:lnTo>
                  <a:pt x="529399" y="74929"/>
                </a:lnTo>
                <a:lnTo>
                  <a:pt x="529653" y="74929"/>
                </a:lnTo>
                <a:lnTo>
                  <a:pt x="521614" y="68579"/>
                </a:lnTo>
                <a:lnTo>
                  <a:pt x="521855" y="68579"/>
                </a:lnTo>
                <a:lnTo>
                  <a:pt x="513308" y="63499"/>
                </a:lnTo>
                <a:lnTo>
                  <a:pt x="513537" y="63499"/>
                </a:lnTo>
                <a:lnTo>
                  <a:pt x="504482" y="58419"/>
                </a:lnTo>
                <a:lnTo>
                  <a:pt x="504710" y="58419"/>
                </a:lnTo>
                <a:lnTo>
                  <a:pt x="495172" y="53339"/>
                </a:lnTo>
                <a:lnTo>
                  <a:pt x="495388" y="53339"/>
                </a:lnTo>
                <a:lnTo>
                  <a:pt x="485381" y="49529"/>
                </a:lnTo>
                <a:lnTo>
                  <a:pt x="485597" y="49529"/>
                </a:lnTo>
                <a:lnTo>
                  <a:pt x="475132" y="44449"/>
                </a:lnTo>
                <a:lnTo>
                  <a:pt x="475335" y="44449"/>
                </a:lnTo>
                <a:lnTo>
                  <a:pt x="464451" y="40639"/>
                </a:lnTo>
                <a:lnTo>
                  <a:pt x="464642" y="40639"/>
                </a:lnTo>
                <a:lnTo>
                  <a:pt x="453351" y="36829"/>
                </a:lnTo>
                <a:lnTo>
                  <a:pt x="453542" y="36829"/>
                </a:lnTo>
                <a:lnTo>
                  <a:pt x="441845" y="33019"/>
                </a:lnTo>
                <a:lnTo>
                  <a:pt x="442036" y="33019"/>
                </a:lnTo>
                <a:lnTo>
                  <a:pt x="429971" y="29209"/>
                </a:lnTo>
                <a:lnTo>
                  <a:pt x="430148" y="29209"/>
                </a:lnTo>
                <a:lnTo>
                  <a:pt x="417728" y="26669"/>
                </a:lnTo>
                <a:lnTo>
                  <a:pt x="417906" y="26669"/>
                </a:lnTo>
                <a:lnTo>
                  <a:pt x="405142" y="22859"/>
                </a:lnTo>
                <a:lnTo>
                  <a:pt x="405307" y="22859"/>
                </a:lnTo>
                <a:lnTo>
                  <a:pt x="392226" y="20319"/>
                </a:lnTo>
                <a:lnTo>
                  <a:pt x="392391" y="20319"/>
                </a:lnTo>
                <a:lnTo>
                  <a:pt x="379006" y="19049"/>
                </a:lnTo>
                <a:lnTo>
                  <a:pt x="379171" y="19049"/>
                </a:lnTo>
                <a:lnTo>
                  <a:pt x="365506" y="16509"/>
                </a:lnTo>
                <a:lnTo>
                  <a:pt x="365671" y="16509"/>
                </a:lnTo>
                <a:lnTo>
                  <a:pt x="351726" y="15239"/>
                </a:lnTo>
                <a:lnTo>
                  <a:pt x="351891" y="15239"/>
                </a:lnTo>
                <a:lnTo>
                  <a:pt x="337705" y="13969"/>
                </a:lnTo>
                <a:lnTo>
                  <a:pt x="337858" y="13969"/>
                </a:lnTo>
                <a:lnTo>
                  <a:pt x="323443" y="12699"/>
                </a:lnTo>
                <a:lnTo>
                  <a:pt x="414413" y="12699"/>
                </a:lnTo>
                <a:lnTo>
                  <a:pt x="457619" y="24129"/>
                </a:lnTo>
                <a:lnTo>
                  <a:pt x="490854" y="38099"/>
                </a:lnTo>
                <a:lnTo>
                  <a:pt x="501078" y="41909"/>
                </a:lnTo>
                <a:lnTo>
                  <a:pt x="510844" y="46989"/>
                </a:lnTo>
                <a:lnTo>
                  <a:pt x="520141" y="53339"/>
                </a:lnTo>
                <a:lnTo>
                  <a:pt x="528942" y="58419"/>
                </a:lnTo>
                <a:lnTo>
                  <a:pt x="537222" y="64769"/>
                </a:lnTo>
                <a:lnTo>
                  <a:pt x="544982" y="69849"/>
                </a:lnTo>
                <a:lnTo>
                  <a:pt x="551916" y="76199"/>
                </a:lnTo>
                <a:lnTo>
                  <a:pt x="558546" y="82549"/>
                </a:lnTo>
                <a:lnTo>
                  <a:pt x="564591" y="90169"/>
                </a:lnTo>
                <a:lnTo>
                  <a:pt x="564870" y="90169"/>
                </a:lnTo>
                <a:lnTo>
                  <a:pt x="565901" y="91439"/>
                </a:lnTo>
                <a:lnTo>
                  <a:pt x="549389" y="91439"/>
                </a:lnTo>
                <a:lnTo>
                  <a:pt x="549668" y="92709"/>
                </a:lnTo>
                <a:close/>
              </a:path>
              <a:path w="589280" h="300989">
                <a:moveTo>
                  <a:pt x="39115" y="92709"/>
                </a:moveTo>
                <a:lnTo>
                  <a:pt x="39382" y="91439"/>
                </a:lnTo>
                <a:lnTo>
                  <a:pt x="40388" y="91439"/>
                </a:lnTo>
                <a:lnTo>
                  <a:pt x="39115" y="92709"/>
                </a:lnTo>
                <a:close/>
              </a:path>
              <a:path w="589280" h="300989">
                <a:moveTo>
                  <a:pt x="574840" y="137159"/>
                </a:moveTo>
                <a:lnTo>
                  <a:pt x="574014" y="133349"/>
                </a:lnTo>
                <a:lnTo>
                  <a:pt x="573087" y="129539"/>
                </a:lnTo>
                <a:lnTo>
                  <a:pt x="571995" y="126999"/>
                </a:lnTo>
                <a:lnTo>
                  <a:pt x="570738" y="123189"/>
                </a:lnTo>
                <a:lnTo>
                  <a:pt x="569315" y="120649"/>
                </a:lnTo>
                <a:lnTo>
                  <a:pt x="567740" y="116839"/>
                </a:lnTo>
                <a:lnTo>
                  <a:pt x="567918" y="116839"/>
                </a:lnTo>
                <a:lnTo>
                  <a:pt x="564045" y="110489"/>
                </a:lnTo>
                <a:lnTo>
                  <a:pt x="564299" y="110489"/>
                </a:lnTo>
                <a:lnTo>
                  <a:pt x="559765" y="104139"/>
                </a:lnTo>
                <a:lnTo>
                  <a:pt x="560044" y="104139"/>
                </a:lnTo>
                <a:lnTo>
                  <a:pt x="554888" y="97789"/>
                </a:lnTo>
                <a:lnTo>
                  <a:pt x="555155" y="97789"/>
                </a:lnTo>
                <a:lnTo>
                  <a:pt x="549389" y="91439"/>
                </a:lnTo>
                <a:lnTo>
                  <a:pt x="565901" y="91439"/>
                </a:lnTo>
                <a:lnTo>
                  <a:pt x="570026" y="96519"/>
                </a:lnTo>
                <a:lnTo>
                  <a:pt x="570293" y="96519"/>
                </a:lnTo>
                <a:lnTo>
                  <a:pt x="587286" y="134619"/>
                </a:lnTo>
                <a:lnTo>
                  <a:pt x="587518" y="135889"/>
                </a:lnTo>
                <a:lnTo>
                  <a:pt x="574776" y="135889"/>
                </a:lnTo>
                <a:lnTo>
                  <a:pt x="574840" y="137159"/>
                </a:lnTo>
                <a:close/>
              </a:path>
              <a:path w="589280" h="300989">
                <a:moveTo>
                  <a:pt x="29006" y="196849"/>
                </a:moveTo>
                <a:lnTo>
                  <a:pt x="13690" y="196849"/>
                </a:lnTo>
                <a:lnTo>
                  <a:pt x="9613" y="189229"/>
                </a:lnTo>
                <a:lnTo>
                  <a:pt x="0" y="146049"/>
                </a:lnTo>
                <a:lnTo>
                  <a:pt x="330" y="142239"/>
                </a:lnTo>
                <a:lnTo>
                  <a:pt x="838" y="138429"/>
                </a:lnTo>
                <a:lnTo>
                  <a:pt x="1549" y="134619"/>
                </a:lnTo>
                <a:lnTo>
                  <a:pt x="2451" y="129539"/>
                </a:lnTo>
                <a:lnTo>
                  <a:pt x="9613" y="111759"/>
                </a:lnTo>
                <a:lnTo>
                  <a:pt x="13690" y="104139"/>
                </a:lnTo>
                <a:lnTo>
                  <a:pt x="29006" y="104139"/>
                </a:lnTo>
                <a:lnTo>
                  <a:pt x="24472" y="110489"/>
                </a:lnTo>
                <a:lnTo>
                  <a:pt x="24739" y="110489"/>
                </a:lnTo>
                <a:lnTo>
                  <a:pt x="20853" y="116839"/>
                </a:lnTo>
                <a:lnTo>
                  <a:pt x="21031" y="116839"/>
                </a:lnTo>
                <a:lnTo>
                  <a:pt x="19342" y="120649"/>
                </a:lnTo>
                <a:lnTo>
                  <a:pt x="17932" y="123189"/>
                </a:lnTo>
                <a:lnTo>
                  <a:pt x="16687" y="126999"/>
                </a:lnTo>
                <a:lnTo>
                  <a:pt x="15608" y="129539"/>
                </a:lnTo>
                <a:lnTo>
                  <a:pt x="14693" y="133349"/>
                </a:lnTo>
                <a:lnTo>
                  <a:pt x="14207" y="135889"/>
                </a:lnTo>
                <a:lnTo>
                  <a:pt x="13995" y="135889"/>
                </a:lnTo>
                <a:lnTo>
                  <a:pt x="13347" y="139699"/>
                </a:lnTo>
                <a:lnTo>
                  <a:pt x="12928" y="143509"/>
                </a:lnTo>
                <a:lnTo>
                  <a:pt x="12780" y="146049"/>
                </a:lnTo>
                <a:lnTo>
                  <a:pt x="12687" y="153669"/>
                </a:lnTo>
                <a:lnTo>
                  <a:pt x="12966" y="157479"/>
                </a:lnTo>
                <a:lnTo>
                  <a:pt x="13398" y="160019"/>
                </a:lnTo>
                <a:lnTo>
                  <a:pt x="13995" y="163829"/>
                </a:lnTo>
                <a:lnTo>
                  <a:pt x="14757" y="167639"/>
                </a:lnTo>
                <a:lnTo>
                  <a:pt x="15028" y="167639"/>
                </a:lnTo>
                <a:lnTo>
                  <a:pt x="15697" y="170179"/>
                </a:lnTo>
                <a:lnTo>
                  <a:pt x="16789" y="173989"/>
                </a:lnTo>
                <a:lnTo>
                  <a:pt x="18046" y="176529"/>
                </a:lnTo>
                <a:lnTo>
                  <a:pt x="19456" y="180339"/>
                </a:lnTo>
                <a:lnTo>
                  <a:pt x="21031" y="182879"/>
                </a:lnTo>
                <a:lnTo>
                  <a:pt x="20853" y="182879"/>
                </a:lnTo>
                <a:lnTo>
                  <a:pt x="24739" y="190499"/>
                </a:lnTo>
                <a:lnTo>
                  <a:pt x="25228" y="190499"/>
                </a:lnTo>
                <a:lnTo>
                  <a:pt x="29006" y="196849"/>
                </a:lnTo>
                <a:close/>
              </a:path>
              <a:path w="589280" h="300989">
                <a:moveTo>
                  <a:pt x="13931" y="137159"/>
                </a:moveTo>
                <a:lnTo>
                  <a:pt x="13995" y="135889"/>
                </a:lnTo>
                <a:lnTo>
                  <a:pt x="14207" y="135889"/>
                </a:lnTo>
                <a:lnTo>
                  <a:pt x="13931" y="137159"/>
                </a:lnTo>
                <a:close/>
              </a:path>
              <a:path w="589280" h="300989">
                <a:moveTo>
                  <a:pt x="588484" y="157479"/>
                </a:moveTo>
                <a:lnTo>
                  <a:pt x="575817" y="157479"/>
                </a:lnTo>
                <a:lnTo>
                  <a:pt x="576097" y="153669"/>
                </a:lnTo>
                <a:lnTo>
                  <a:pt x="576072" y="146049"/>
                </a:lnTo>
                <a:lnTo>
                  <a:pt x="575817" y="143509"/>
                </a:lnTo>
                <a:lnTo>
                  <a:pt x="575373" y="139699"/>
                </a:lnTo>
                <a:lnTo>
                  <a:pt x="574776" y="135889"/>
                </a:lnTo>
                <a:lnTo>
                  <a:pt x="587518" y="135889"/>
                </a:lnTo>
                <a:lnTo>
                  <a:pt x="587984" y="138429"/>
                </a:lnTo>
                <a:lnTo>
                  <a:pt x="588479" y="142239"/>
                </a:lnTo>
                <a:lnTo>
                  <a:pt x="588772" y="146049"/>
                </a:lnTo>
                <a:lnTo>
                  <a:pt x="588759" y="154939"/>
                </a:lnTo>
                <a:lnTo>
                  <a:pt x="588484" y="157479"/>
                </a:lnTo>
                <a:close/>
              </a:path>
              <a:path w="589280" h="300989">
                <a:moveTo>
                  <a:pt x="12687" y="147319"/>
                </a:moveTo>
                <a:lnTo>
                  <a:pt x="12700" y="146049"/>
                </a:lnTo>
                <a:lnTo>
                  <a:pt x="12687" y="147319"/>
                </a:lnTo>
                <a:close/>
              </a:path>
              <a:path w="589280" h="300989">
                <a:moveTo>
                  <a:pt x="576097" y="147319"/>
                </a:moveTo>
                <a:lnTo>
                  <a:pt x="576004" y="146049"/>
                </a:lnTo>
                <a:lnTo>
                  <a:pt x="576097" y="147319"/>
                </a:lnTo>
                <a:close/>
              </a:path>
              <a:path w="589280" h="300989">
                <a:moveTo>
                  <a:pt x="13085" y="157479"/>
                </a:moveTo>
                <a:lnTo>
                  <a:pt x="12928" y="156209"/>
                </a:lnTo>
                <a:lnTo>
                  <a:pt x="13085" y="157479"/>
                </a:lnTo>
                <a:close/>
              </a:path>
              <a:path w="589280" h="300989">
                <a:moveTo>
                  <a:pt x="586922" y="167639"/>
                </a:moveTo>
                <a:lnTo>
                  <a:pt x="574014" y="167639"/>
                </a:lnTo>
                <a:lnTo>
                  <a:pt x="574840" y="163829"/>
                </a:lnTo>
                <a:lnTo>
                  <a:pt x="575424" y="160019"/>
                </a:lnTo>
                <a:lnTo>
                  <a:pt x="575843" y="156209"/>
                </a:lnTo>
                <a:lnTo>
                  <a:pt x="575817" y="157479"/>
                </a:lnTo>
                <a:lnTo>
                  <a:pt x="588484" y="157479"/>
                </a:lnTo>
                <a:lnTo>
                  <a:pt x="587933" y="162559"/>
                </a:lnTo>
                <a:lnTo>
                  <a:pt x="587222" y="166369"/>
                </a:lnTo>
                <a:lnTo>
                  <a:pt x="586922" y="167639"/>
                </a:lnTo>
                <a:close/>
              </a:path>
              <a:path w="589280" h="300989">
                <a:moveTo>
                  <a:pt x="15028" y="167639"/>
                </a:moveTo>
                <a:lnTo>
                  <a:pt x="14757" y="167639"/>
                </a:lnTo>
                <a:lnTo>
                  <a:pt x="14693" y="166369"/>
                </a:lnTo>
                <a:lnTo>
                  <a:pt x="15028" y="167639"/>
                </a:lnTo>
                <a:close/>
              </a:path>
              <a:path w="589280" h="300989">
                <a:moveTo>
                  <a:pt x="578480" y="190499"/>
                </a:moveTo>
                <a:lnTo>
                  <a:pt x="564045" y="190499"/>
                </a:lnTo>
                <a:lnTo>
                  <a:pt x="567918" y="182879"/>
                </a:lnTo>
                <a:lnTo>
                  <a:pt x="567740" y="182879"/>
                </a:lnTo>
                <a:lnTo>
                  <a:pt x="569429" y="180339"/>
                </a:lnTo>
                <a:lnTo>
                  <a:pt x="570839" y="176529"/>
                </a:lnTo>
                <a:lnTo>
                  <a:pt x="572084" y="173989"/>
                </a:lnTo>
                <a:lnTo>
                  <a:pt x="573163" y="170179"/>
                </a:lnTo>
                <a:lnTo>
                  <a:pt x="574090" y="166369"/>
                </a:lnTo>
                <a:lnTo>
                  <a:pt x="574014" y="167639"/>
                </a:lnTo>
                <a:lnTo>
                  <a:pt x="586922" y="167639"/>
                </a:lnTo>
                <a:lnTo>
                  <a:pt x="586320" y="170179"/>
                </a:lnTo>
                <a:lnTo>
                  <a:pt x="579158" y="189229"/>
                </a:lnTo>
                <a:lnTo>
                  <a:pt x="578480" y="190499"/>
                </a:lnTo>
                <a:close/>
              </a:path>
              <a:path w="589280" h="300989">
                <a:moveTo>
                  <a:pt x="25228" y="190499"/>
                </a:moveTo>
                <a:lnTo>
                  <a:pt x="24739" y="190499"/>
                </a:lnTo>
                <a:lnTo>
                  <a:pt x="24472" y="189229"/>
                </a:lnTo>
                <a:lnTo>
                  <a:pt x="25228" y="190499"/>
                </a:lnTo>
                <a:close/>
              </a:path>
              <a:path w="589280" h="300989">
                <a:moveTo>
                  <a:pt x="575094" y="196849"/>
                </a:moveTo>
                <a:lnTo>
                  <a:pt x="559765" y="196849"/>
                </a:lnTo>
                <a:lnTo>
                  <a:pt x="564299" y="189229"/>
                </a:lnTo>
                <a:lnTo>
                  <a:pt x="564045" y="190499"/>
                </a:lnTo>
                <a:lnTo>
                  <a:pt x="578480" y="190499"/>
                </a:lnTo>
                <a:lnTo>
                  <a:pt x="575094" y="196849"/>
                </a:lnTo>
                <a:close/>
              </a:path>
              <a:path w="589280" h="300989">
                <a:moveTo>
                  <a:pt x="338670" y="299719"/>
                </a:moveTo>
                <a:lnTo>
                  <a:pt x="249935" y="299719"/>
                </a:lnTo>
                <a:lnTo>
                  <a:pt x="235584" y="298449"/>
                </a:lnTo>
                <a:lnTo>
                  <a:pt x="221487" y="295909"/>
                </a:lnTo>
                <a:lnTo>
                  <a:pt x="207810" y="294639"/>
                </a:lnTo>
                <a:lnTo>
                  <a:pt x="167894" y="287019"/>
                </a:lnTo>
                <a:lnTo>
                  <a:pt x="131152" y="275589"/>
                </a:lnTo>
                <a:lnTo>
                  <a:pt x="87693" y="257809"/>
                </a:lnTo>
                <a:lnTo>
                  <a:pt x="59842" y="241299"/>
                </a:lnTo>
                <a:lnTo>
                  <a:pt x="51549" y="236219"/>
                </a:lnTo>
                <a:lnTo>
                  <a:pt x="18745" y="203199"/>
                </a:lnTo>
                <a:lnTo>
                  <a:pt x="18478" y="203199"/>
                </a:lnTo>
                <a:lnTo>
                  <a:pt x="13944" y="196849"/>
                </a:lnTo>
                <a:lnTo>
                  <a:pt x="29006" y="196849"/>
                </a:lnTo>
                <a:lnTo>
                  <a:pt x="28727" y="195579"/>
                </a:lnTo>
                <a:lnTo>
                  <a:pt x="33896" y="201929"/>
                </a:lnTo>
                <a:lnTo>
                  <a:pt x="33616" y="201929"/>
                </a:lnTo>
                <a:lnTo>
                  <a:pt x="39382" y="208279"/>
                </a:lnTo>
                <a:lnTo>
                  <a:pt x="39115" y="208279"/>
                </a:lnTo>
                <a:lnTo>
                  <a:pt x="45478" y="214629"/>
                </a:lnTo>
                <a:lnTo>
                  <a:pt x="45212" y="214629"/>
                </a:lnTo>
                <a:lnTo>
                  <a:pt x="52146" y="219709"/>
                </a:lnTo>
                <a:lnTo>
                  <a:pt x="51879" y="219709"/>
                </a:lnTo>
                <a:lnTo>
                  <a:pt x="59372" y="226059"/>
                </a:lnTo>
                <a:lnTo>
                  <a:pt x="59118" y="226059"/>
                </a:lnTo>
                <a:lnTo>
                  <a:pt x="67157" y="231139"/>
                </a:lnTo>
                <a:lnTo>
                  <a:pt x="66916" y="231139"/>
                </a:lnTo>
                <a:lnTo>
                  <a:pt x="75463" y="236219"/>
                </a:lnTo>
                <a:lnTo>
                  <a:pt x="75234" y="236219"/>
                </a:lnTo>
                <a:lnTo>
                  <a:pt x="84289" y="241299"/>
                </a:lnTo>
                <a:lnTo>
                  <a:pt x="84061" y="241299"/>
                </a:lnTo>
                <a:lnTo>
                  <a:pt x="93599" y="246379"/>
                </a:lnTo>
                <a:lnTo>
                  <a:pt x="93383" y="246379"/>
                </a:lnTo>
                <a:lnTo>
                  <a:pt x="103390" y="251459"/>
                </a:lnTo>
                <a:lnTo>
                  <a:pt x="103187" y="251459"/>
                </a:lnTo>
                <a:lnTo>
                  <a:pt x="113639" y="255269"/>
                </a:lnTo>
                <a:lnTo>
                  <a:pt x="113436" y="255269"/>
                </a:lnTo>
                <a:lnTo>
                  <a:pt x="124320" y="260349"/>
                </a:lnTo>
                <a:lnTo>
                  <a:pt x="124129" y="260349"/>
                </a:lnTo>
                <a:lnTo>
                  <a:pt x="135420" y="264159"/>
                </a:lnTo>
                <a:lnTo>
                  <a:pt x="135229" y="264159"/>
                </a:lnTo>
                <a:lnTo>
                  <a:pt x="146926" y="267969"/>
                </a:lnTo>
                <a:lnTo>
                  <a:pt x="146735" y="267969"/>
                </a:lnTo>
                <a:lnTo>
                  <a:pt x="158800" y="270509"/>
                </a:lnTo>
                <a:lnTo>
                  <a:pt x="158622" y="270509"/>
                </a:lnTo>
                <a:lnTo>
                  <a:pt x="171056" y="274319"/>
                </a:lnTo>
                <a:lnTo>
                  <a:pt x="170878" y="274319"/>
                </a:lnTo>
                <a:lnTo>
                  <a:pt x="183641" y="276859"/>
                </a:lnTo>
                <a:lnTo>
                  <a:pt x="183464" y="276859"/>
                </a:lnTo>
                <a:lnTo>
                  <a:pt x="196545" y="279399"/>
                </a:lnTo>
                <a:lnTo>
                  <a:pt x="196380" y="279399"/>
                </a:lnTo>
                <a:lnTo>
                  <a:pt x="209765" y="281939"/>
                </a:lnTo>
                <a:lnTo>
                  <a:pt x="209600" y="281939"/>
                </a:lnTo>
                <a:lnTo>
                  <a:pt x="223278" y="283209"/>
                </a:lnTo>
                <a:lnTo>
                  <a:pt x="223113" y="283209"/>
                </a:lnTo>
                <a:lnTo>
                  <a:pt x="237045" y="285749"/>
                </a:lnTo>
                <a:lnTo>
                  <a:pt x="236880" y="285749"/>
                </a:lnTo>
                <a:lnTo>
                  <a:pt x="251078" y="287019"/>
                </a:lnTo>
                <a:lnTo>
                  <a:pt x="265175" y="287019"/>
                </a:lnTo>
                <a:lnTo>
                  <a:pt x="279806" y="288289"/>
                </a:lnTo>
                <a:lnTo>
                  <a:pt x="414242" y="288289"/>
                </a:lnTo>
                <a:lnTo>
                  <a:pt x="380961" y="294639"/>
                </a:lnTo>
                <a:lnTo>
                  <a:pt x="367131" y="295909"/>
                </a:lnTo>
                <a:lnTo>
                  <a:pt x="353021" y="298449"/>
                </a:lnTo>
                <a:lnTo>
                  <a:pt x="338670" y="299719"/>
                </a:lnTo>
                <a:close/>
              </a:path>
              <a:path w="589280" h="300989">
                <a:moveTo>
                  <a:pt x="414242" y="288289"/>
                </a:moveTo>
                <a:lnTo>
                  <a:pt x="308978" y="288289"/>
                </a:lnTo>
                <a:lnTo>
                  <a:pt x="323608" y="287019"/>
                </a:lnTo>
                <a:lnTo>
                  <a:pt x="337705" y="287019"/>
                </a:lnTo>
                <a:lnTo>
                  <a:pt x="351891" y="285749"/>
                </a:lnTo>
                <a:lnTo>
                  <a:pt x="351726" y="285749"/>
                </a:lnTo>
                <a:lnTo>
                  <a:pt x="365671" y="283209"/>
                </a:lnTo>
                <a:lnTo>
                  <a:pt x="365506" y="283209"/>
                </a:lnTo>
                <a:lnTo>
                  <a:pt x="379171" y="281939"/>
                </a:lnTo>
                <a:lnTo>
                  <a:pt x="379006" y="281939"/>
                </a:lnTo>
                <a:lnTo>
                  <a:pt x="392391" y="279399"/>
                </a:lnTo>
                <a:lnTo>
                  <a:pt x="392226" y="279399"/>
                </a:lnTo>
                <a:lnTo>
                  <a:pt x="405307" y="276859"/>
                </a:lnTo>
                <a:lnTo>
                  <a:pt x="405142" y="276859"/>
                </a:lnTo>
                <a:lnTo>
                  <a:pt x="417906" y="274319"/>
                </a:lnTo>
                <a:lnTo>
                  <a:pt x="417728" y="274319"/>
                </a:lnTo>
                <a:lnTo>
                  <a:pt x="430148" y="270509"/>
                </a:lnTo>
                <a:lnTo>
                  <a:pt x="429971" y="270509"/>
                </a:lnTo>
                <a:lnTo>
                  <a:pt x="442036" y="267969"/>
                </a:lnTo>
                <a:lnTo>
                  <a:pt x="441845" y="267969"/>
                </a:lnTo>
                <a:lnTo>
                  <a:pt x="453542" y="264159"/>
                </a:lnTo>
                <a:lnTo>
                  <a:pt x="453351" y="264159"/>
                </a:lnTo>
                <a:lnTo>
                  <a:pt x="464642" y="260349"/>
                </a:lnTo>
                <a:lnTo>
                  <a:pt x="464451" y="260349"/>
                </a:lnTo>
                <a:lnTo>
                  <a:pt x="475335" y="255269"/>
                </a:lnTo>
                <a:lnTo>
                  <a:pt x="475132" y="255269"/>
                </a:lnTo>
                <a:lnTo>
                  <a:pt x="485597" y="251459"/>
                </a:lnTo>
                <a:lnTo>
                  <a:pt x="485381" y="251459"/>
                </a:lnTo>
                <a:lnTo>
                  <a:pt x="495388" y="246379"/>
                </a:lnTo>
                <a:lnTo>
                  <a:pt x="495172" y="246379"/>
                </a:lnTo>
                <a:lnTo>
                  <a:pt x="504710" y="241299"/>
                </a:lnTo>
                <a:lnTo>
                  <a:pt x="504482" y="241299"/>
                </a:lnTo>
                <a:lnTo>
                  <a:pt x="513537" y="236219"/>
                </a:lnTo>
                <a:lnTo>
                  <a:pt x="513308" y="236219"/>
                </a:lnTo>
                <a:lnTo>
                  <a:pt x="521855" y="231139"/>
                </a:lnTo>
                <a:lnTo>
                  <a:pt x="521614" y="231139"/>
                </a:lnTo>
                <a:lnTo>
                  <a:pt x="529653" y="226059"/>
                </a:lnTo>
                <a:lnTo>
                  <a:pt x="529399" y="226059"/>
                </a:lnTo>
                <a:lnTo>
                  <a:pt x="536892" y="219709"/>
                </a:lnTo>
                <a:lnTo>
                  <a:pt x="536625" y="219709"/>
                </a:lnTo>
                <a:lnTo>
                  <a:pt x="543572" y="214629"/>
                </a:lnTo>
                <a:lnTo>
                  <a:pt x="543305" y="214629"/>
                </a:lnTo>
                <a:lnTo>
                  <a:pt x="549668" y="208279"/>
                </a:lnTo>
                <a:lnTo>
                  <a:pt x="549389" y="208279"/>
                </a:lnTo>
                <a:lnTo>
                  <a:pt x="555155" y="201929"/>
                </a:lnTo>
                <a:lnTo>
                  <a:pt x="554888" y="201929"/>
                </a:lnTo>
                <a:lnTo>
                  <a:pt x="560044" y="195579"/>
                </a:lnTo>
                <a:lnTo>
                  <a:pt x="559765" y="196849"/>
                </a:lnTo>
                <a:lnTo>
                  <a:pt x="575094" y="196849"/>
                </a:lnTo>
                <a:lnTo>
                  <a:pt x="570293" y="203199"/>
                </a:lnTo>
                <a:lnTo>
                  <a:pt x="570026" y="203199"/>
                </a:lnTo>
                <a:lnTo>
                  <a:pt x="564870" y="210819"/>
                </a:lnTo>
                <a:lnTo>
                  <a:pt x="558546" y="217169"/>
                </a:lnTo>
                <a:lnTo>
                  <a:pt x="528688" y="242569"/>
                </a:lnTo>
                <a:lnTo>
                  <a:pt x="490651" y="262889"/>
                </a:lnTo>
                <a:lnTo>
                  <a:pt x="433311" y="283209"/>
                </a:lnTo>
                <a:lnTo>
                  <a:pt x="420712" y="287019"/>
                </a:lnTo>
                <a:lnTo>
                  <a:pt x="414242" y="288289"/>
                </a:lnTo>
                <a:close/>
              </a:path>
              <a:path w="589280" h="300989">
                <a:moveTo>
                  <a:pt x="309460" y="300989"/>
                </a:moveTo>
                <a:lnTo>
                  <a:pt x="279476" y="300989"/>
                </a:lnTo>
                <a:lnTo>
                  <a:pt x="264528" y="299719"/>
                </a:lnTo>
                <a:lnTo>
                  <a:pt x="324091" y="299719"/>
                </a:lnTo>
                <a:lnTo>
                  <a:pt x="309460" y="300989"/>
                </a:lnTo>
                <a:close/>
              </a:path>
            </a:pathLst>
          </a:custGeom>
          <a:solidFill>
            <a:srgbClr val="006C39"/>
          </a:solidFill>
        </p:spPr>
        <p:txBody>
          <a:bodyPr wrap="square" lIns="0" tIns="0" rIns="0" bIns="0" rtlCol="0"/>
          <a:lstStyle/>
          <a:p>
            <a:endParaRPr/>
          </a:p>
        </p:txBody>
      </p:sp>
      <p:sp>
        <p:nvSpPr>
          <p:cNvPr id="45" name="object 45"/>
          <p:cNvSpPr txBox="1"/>
          <p:nvPr/>
        </p:nvSpPr>
        <p:spPr>
          <a:xfrm>
            <a:off x="1347266" y="1490662"/>
            <a:ext cx="39878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object</a:t>
            </a:r>
            <a:endParaRPr sz="1200">
              <a:latin typeface="Times New Roman"/>
              <a:cs typeface="Times New Roman"/>
            </a:endParaRPr>
          </a:p>
        </p:txBody>
      </p:sp>
      <p:sp>
        <p:nvSpPr>
          <p:cNvPr id="46" name="object 46"/>
          <p:cNvSpPr/>
          <p:nvPr/>
        </p:nvSpPr>
        <p:spPr>
          <a:xfrm>
            <a:off x="4565129" y="1451203"/>
            <a:ext cx="878509" cy="300989"/>
          </a:xfrm>
          <a:prstGeom prst="rect">
            <a:avLst/>
          </a:prstGeom>
          <a:blipFill>
            <a:blip r:embed="rId9" cstate="print"/>
            <a:stretch>
              <a:fillRect/>
            </a:stretch>
          </a:blipFill>
        </p:spPr>
        <p:txBody>
          <a:bodyPr wrap="square" lIns="0" tIns="0" rIns="0" bIns="0" rtlCol="0"/>
          <a:lstStyle/>
          <a:p>
            <a:endParaRPr/>
          </a:p>
        </p:txBody>
      </p:sp>
      <p:sp>
        <p:nvSpPr>
          <p:cNvPr id="47" name="object 47"/>
          <p:cNvSpPr txBox="1"/>
          <p:nvPr/>
        </p:nvSpPr>
        <p:spPr>
          <a:xfrm>
            <a:off x="4642891" y="1489075"/>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48" name="object 48"/>
          <p:cNvSpPr txBox="1"/>
          <p:nvPr/>
        </p:nvSpPr>
        <p:spPr>
          <a:xfrm>
            <a:off x="5077053" y="1489075"/>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49" name="object 49"/>
          <p:cNvSpPr/>
          <p:nvPr/>
        </p:nvSpPr>
        <p:spPr>
          <a:xfrm>
            <a:off x="5795771" y="4960620"/>
            <a:ext cx="2737485" cy="338455"/>
          </a:xfrm>
          <a:custGeom>
            <a:avLst/>
            <a:gdLst/>
            <a:ahLst/>
            <a:cxnLst/>
            <a:rect l="l" t="t" r="r" b="b"/>
            <a:pathLst>
              <a:path w="2737484" h="338454">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50" name="object 50"/>
          <p:cNvSpPr/>
          <p:nvPr/>
        </p:nvSpPr>
        <p:spPr>
          <a:xfrm>
            <a:off x="5789790" y="4954117"/>
            <a:ext cx="2749550" cy="351155"/>
          </a:xfrm>
          <a:custGeom>
            <a:avLst/>
            <a:gdLst/>
            <a:ahLst/>
            <a:cxnLst/>
            <a:rect l="l" t="t" r="r" b="b"/>
            <a:pathLst>
              <a:path w="2749550" h="351154">
                <a:moveTo>
                  <a:pt x="2749550" y="351154"/>
                </a:moveTo>
                <a:lnTo>
                  <a:pt x="0" y="351154"/>
                </a:lnTo>
                <a:lnTo>
                  <a:pt x="0" y="0"/>
                </a:lnTo>
                <a:lnTo>
                  <a:pt x="2749550" y="0"/>
                </a:lnTo>
                <a:lnTo>
                  <a:pt x="2749550" y="6350"/>
                </a:lnTo>
                <a:lnTo>
                  <a:pt x="12700" y="6350"/>
                </a:lnTo>
                <a:lnTo>
                  <a:pt x="6350" y="12700"/>
                </a:lnTo>
                <a:lnTo>
                  <a:pt x="12700" y="12700"/>
                </a:lnTo>
                <a:lnTo>
                  <a:pt x="12700" y="338454"/>
                </a:lnTo>
                <a:lnTo>
                  <a:pt x="6350" y="338454"/>
                </a:lnTo>
                <a:lnTo>
                  <a:pt x="12700" y="344804"/>
                </a:lnTo>
                <a:lnTo>
                  <a:pt x="2749550" y="344804"/>
                </a:lnTo>
                <a:lnTo>
                  <a:pt x="2749550" y="351154"/>
                </a:lnTo>
                <a:close/>
              </a:path>
              <a:path w="2749550" h="351154">
                <a:moveTo>
                  <a:pt x="12700" y="12700"/>
                </a:moveTo>
                <a:lnTo>
                  <a:pt x="6350" y="12700"/>
                </a:lnTo>
                <a:lnTo>
                  <a:pt x="12700" y="6350"/>
                </a:lnTo>
                <a:lnTo>
                  <a:pt x="12700" y="12700"/>
                </a:lnTo>
                <a:close/>
              </a:path>
              <a:path w="2749550" h="351154">
                <a:moveTo>
                  <a:pt x="2736850" y="12700"/>
                </a:moveTo>
                <a:lnTo>
                  <a:pt x="12700" y="12700"/>
                </a:lnTo>
                <a:lnTo>
                  <a:pt x="12700" y="6350"/>
                </a:lnTo>
                <a:lnTo>
                  <a:pt x="2736850" y="6350"/>
                </a:lnTo>
                <a:lnTo>
                  <a:pt x="2736850" y="12700"/>
                </a:lnTo>
                <a:close/>
              </a:path>
              <a:path w="2749550" h="351154">
                <a:moveTo>
                  <a:pt x="2736850" y="344804"/>
                </a:moveTo>
                <a:lnTo>
                  <a:pt x="2736850" y="6350"/>
                </a:lnTo>
                <a:lnTo>
                  <a:pt x="2743200" y="12700"/>
                </a:lnTo>
                <a:lnTo>
                  <a:pt x="2749550" y="12700"/>
                </a:lnTo>
                <a:lnTo>
                  <a:pt x="2749550" y="338454"/>
                </a:lnTo>
                <a:lnTo>
                  <a:pt x="2743200" y="338454"/>
                </a:lnTo>
                <a:lnTo>
                  <a:pt x="2736850" y="344804"/>
                </a:lnTo>
                <a:close/>
              </a:path>
              <a:path w="2749550" h="351154">
                <a:moveTo>
                  <a:pt x="2749550" y="12700"/>
                </a:moveTo>
                <a:lnTo>
                  <a:pt x="2743200" y="12700"/>
                </a:lnTo>
                <a:lnTo>
                  <a:pt x="2736850" y="6350"/>
                </a:lnTo>
                <a:lnTo>
                  <a:pt x="2749550" y="6350"/>
                </a:lnTo>
                <a:lnTo>
                  <a:pt x="2749550" y="12700"/>
                </a:lnTo>
                <a:close/>
              </a:path>
              <a:path w="2749550" h="351154">
                <a:moveTo>
                  <a:pt x="12700" y="344804"/>
                </a:moveTo>
                <a:lnTo>
                  <a:pt x="6350" y="338454"/>
                </a:lnTo>
                <a:lnTo>
                  <a:pt x="12700" y="338454"/>
                </a:lnTo>
                <a:lnTo>
                  <a:pt x="12700" y="344804"/>
                </a:lnTo>
                <a:close/>
              </a:path>
              <a:path w="2749550" h="351154">
                <a:moveTo>
                  <a:pt x="2736850" y="344804"/>
                </a:moveTo>
                <a:lnTo>
                  <a:pt x="12700" y="344804"/>
                </a:lnTo>
                <a:lnTo>
                  <a:pt x="12700" y="338454"/>
                </a:lnTo>
                <a:lnTo>
                  <a:pt x="2736850" y="338454"/>
                </a:lnTo>
                <a:lnTo>
                  <a:pt x="2736850" y="344804"/>
                </a:lnTo>
                <a:close/>
              </a:path>
              <a:path w="2749550" h="351154">
                <a:moveTo>
                  <a:pt x="2749550" y="344804"/>
                </a:moveTo>
                <a:lnTo>
                  <a:pt x="2736850" y="344804"/>
                </a:lnTo>
                <a:lnTo>
                  <a:pt x="2743200" y="338454"/>
                </a:lnTo>
                <a:lnTo>
                  <a:pt x="2749550" y="338454"/>
                </a:lnTo>
                <a:lnTo>
                  <a:pt x="2749550" y="344804"/>
                </a:lnTo>
                <a:close/>
              </a:path>
            </a:pathLst>
          </a:custGeom>
          <a:solidFill>
            <a:srgbClr val="0000FF"/>
          </a:solidFill>
        </p:spPr>
        <p:txBody>
          <a:bodyPr wrap="square" lIns="0" tIns="0" rIns="0" bIns="0" rtlCol="0"/>
          <a:lstStyle/>
          <a:p>
            <a:endParaRPr/>
          </a:p>
        </p:txBody>
      </p:sp>
      <p:sp>
        <p:nvSpPr>
          <p:cNvPr id="51" name="object 51"/>
          <p:cNvSpPr txBox="1"/>
          <p:nvPr/>
        </p:nvSpPr>
        <p:spPr>
          <a:xfrm>
            <a:off x="5795771" y="4982692"/>
            <a:ext cx="2737485" cy="268605"/>
          </a:xfrm>
          <a:prstGeom prst="rect">
            <a:avLst/>
          </a:prstGeom>
        </p:spPr>
        <p:txBody>
          <a:bodyPr vert="horz" wrap="square" lIns="0" tIns="12065" rIns="0" bIns="0" rtlCol="0">
            <a:spAutoFit/>
          </a:bodyPr>
          <a:lstStyle/>
          <a:p>
            <a:pPr marL="858519">
              <a:lnSpc>
                <a:spcPct val="100000"/>
              </a:lnSpc>
              <a:spcBef>
                <a:spcPts val="95"/>
              </a:spcBef>
            </a:pPr>
            <a:r>
              <a:rPr sz="1600" spc="-10" dirty="0">
                <a:latin typeface="Times New Roman"/>
                <a:cs typeface="Times New Roman"/>
              </a:rPr>
              <a:t>StringWriter</a:t>
            </a:r>
            <a:endParaRPr sz="1600">
              <a:latin typeface="Times New Roman"/>
              <a:cs typeface="Times New Roman"/>
            </a:endParaRPr>
          </a:p>
        </p:txBody>
      </p:sp>
      <p:sp>
        <p:nvSpPr>
          <p:cNvPr id="52" name="object 52"/>
          <p:cNvSpPr txBox="1"/>
          <p:nvPr/>
        </p:nvSpPr>
        <p:spPr>
          <a:xfrm>
            <a:off x="6377419" y="5770092"/>
            <a:ext cx="1720214" cy="268605"/>
          </a:xfrm>
          <a:prstGeom prst="rect">
            <a:avLst/>
          </a:prstGeom>
        </p:spPr>
        <p:txBody>
          <a:bodyPr vert="horz" wrap="square" lIns="0" tIns="12065" rIns="0" bIns="0" rtlCol="0">
            <a:spAutoFit/>
          </a:bodyPr>
          <a:lstStyle/>
          <a:p>
            <a:pPr marL="12700">
              <a:lnSpc>
                <a:spcPct val="100000"/>
              </a:lnSpc>
              <a:spcBef>
                <a:spcPts val="95"/>
              </a:spcBef>
            </a:pPr>
            <a:r>
              <a:rPr sz="1600" spc="-5" dirty="0">
                <a:latin typeface="Times New Roman"/>
                <a:cs typeface="Times New Roman"/>
              </a:rPr>
              <a:t>write()</a:t>
            </a:r>
            <a:r>
              <a:rPr sz="1600" spc="365" dirty="0">
                <a:latin typeface="Times New Roman"/>
                <a:cs typeface="Times New Roman"/>
              </a:rPr>
              <a:t> </a:t>
            </a:r>
            <a:r>
              <a:rPr sz="1600" spc="-5" dirty="0">
                <a:latin typeface="Times New Roman"/>
                <a:cs typeface="Times New Roman"/>
              </a:rPr>
              <a:t>write(char[])</a:t>
            </a:r>
            <a:endParaRPr sz="1600">
              <a:latin typeface="Times New Roman"/>
              <a:cs typeface="Times New Roman"/>
            </a:endParaRPr>
          </a:p>
        </p:txBody>
      </p:sp>
      <p:sp>
        <p:nvSpPr>
          <p:cNvPr id="53" name="object 53"/>
          <p:cNvSpPr/>
          <p:nvPr/>
        </p:nvSpPr>
        <p:spPr>
          <a:xfrm>
            <a:off x="5795771" y="5373623"/>
            <a:ext cx="2737485" cy="338455"/>
          </a:xfrm>
          <a:custGeom>
            <a:avLst/>
            <a:gdLst/>
            <a:ahLst/>
            <a:cxnLst/>
            <a:rect l="l" t="t" r="r" b="b"/>
            <a:pathLst>
              <a:path w="2737484" h="338454">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54" name="object 54"/>
          <p:cNvSpPr/>
          <p:nvPr/>
        </p:nvSpPr>
        <p:spPr>
          <a:xfrm>
            <a:off x="5789790" y="5366867"/>
            <a:ext cx="2749550" cy="351155"/>
          </a:xfrm>
          <a:custGeom>
            <a:avLst/>
            <a:gdLst/>
            <a:ahLst/>
            <a:cxnLst/>
            <a:rect l="l" t="t" r="r" b="b"/>
            <a:pathLst>
              <a:path w="2749550" h="351154">
                <a:moveTo>
                  <a:pt x="2749550" y="351154"/>
                </a:moveTo>
                <a:lnTo>
                  <a:pt x="0" y="351154"/>
                </a:lnTo>
                <a:lnTo>
                  <a:pt x="0" y="0"/>
                </a:lnTo>
                <a:lnTo>
                  <a:pt x="2749550" y="0"/>
                </a:lnTo>
                <a:lnTo>
                  <a:pt x="2749550" y="6350"/>
                </a:lnTo>
                <a:lnTo>
                  <a:pt x="12700" y="6350"/>
                </a:lnTo>
                <a:lnTo>
                  <a:pt x="6350" y="12700"/>
                </a:lnTo>
                <a:lnTo>
                  <a:pt x="12700" y="12700"/>
                </a:lnTo>
                <a:lnTo>
                  <a:pt x="12700" y="338454"/>
                </a:lnTo>
                <a:lnTo>
                  <a:pt x="6350" y="338454"/>
                </a:lnTo>
                <a:lnTo>
                  <a:pt x="12700" y="344804"/>
                </a:lnTo>
                <a:lnTo>
                  <a:pt x="2749550" y="344804"/>
                </a:lnTo>
                <a:lnTo>
                  <a:pt x="2749550" y="351154"/>
                </a:lnTo>
                <a:close/>
              </a:path>
              <a:path w="2749550" h="351154">
                <a:moveTo>
                  <a:pt x="12700" y="12700"/>
                </a:moveTo>
                <a:lnTo>
                  <a:pt x="6350" y="12700"/>
                </a:lnTo>
                <a:lnTo>
                  <a:pt x="12700" y="6350"/>
                </a:lnTo>
                <a:lnTo>
                  <a:pt x="12700" y="12700"/>
                </a:lnTo>
                <a:close/>
              </a:path>
              <a:path w="2749550" h="351154">
                <a:moveTo>
                  <a:pt x="2736850" y="12700"/>
                </a:moveTo>
                <a:lnTo>
                  <a:pt x="12700" y="12700"/>
                </a:lnTo>
                <a:lnTo>
                  <a:pt x="12700" y="6350"/>
                </a:lnTo>
                <a:lnTo>
                  <a:pt x="2736850" y="6350"/>
                </a:lnTo>
                <a:lnTo>
                  <a:pt x="2736850" y="12700"/>
                </a:lnTo>
                <a:close/>
              </a:path>
              <a:path w="2749550" h="351154">
                <a:moveTo>
                  <a:pt x="2736850" y="344804"/>
                </a:moveTo>
                <a:lnTo>
                  <a:pt x="2736850" y="6350"/>
                </a:lnTo>
                <a:lnTo>
                  <a:pt x="2743200" y="12700"/>
                </a:lnTo>
                <a:lnTo>
                  <a:pt x="2749550" y="12700"/>
                </a:lnTo>
                <a:lnTo>
                  <a:pt x="2749550" y="338454"/>
                </a:lnTo>
                <a:lnTo>
                  <a:pt x="2743200" y="338454"/>
                </a:lnTo>
                <a:lnTo>
                  <a:pt x="2736850" y="344804"/>
                </a:lnTo>
                <a:close/>
              </a:path>
              <a:path w="2749550" h="351154">
                <a:moveTo>
                  <a:pt x="2749550" y="12700"/>
                </a:moveTo>
                <a:lnTo>
                  <a:pt x="2743200" y="12700"/>
                </a:lnTo>
                <a:lnTo>
                  <a:pt x="2736850" y="6350"/>
                </a:lnTo>
                <a:lnTo>
                  <a:pt x="2749550" y="6350"/>
                </a:lnTo>
                <a:lnTo>
                  <a:pt x="2749550" y="12700"/>
                </a:lnTo>
                <a:close/>
              </a:path>
              <a:path w="2749550" h="351154">
                <a:moveTo>
                  <a:pt x="12700" y="344804"/>
                </a:moveTo>
                <a:lnTo>
                  <a:pt x="6350" y="338454"/>
                </a:lnTo>
                <a:lnTo>
                  <a:pt x="12700" y="338454"/>
                </a:lnTo>
                <a:lnTo>
                  <a:pt x="12700" y="344804"/>
                </a:lnTo>
                <a:close/>
              </a:path>
              <a:path w="2749550" h="351154">
                <a:moveTo>
                  <a:pt x="2736850" y="344804"/>
                </a:moveTo>
                <a:lnTo>
                  <a:pt x="12700" y="344804"/>
                </a:lnTo>
                <a:lnTo>
                  <a:pt x="12700" y="338454"/>
                </a:lnTo>
                <a:lnTo>
                  <a:pt x="2736850" y="338454"/>
                </a:lnTo>
                <a:lnTo>
                  <a:pt x="2736850" y="344804"/>
                </a:lnTo>
                <a:close/>
              </a:path>
              <a:path w="2749550" h="351154">
                <a:moveTo>
                  <a:pt x="2749550" y="344804"/>
                </a:moveTo>
                <a:lnTo>
                  <a:pt x="2736850" y="344804"/>
                </a:lnTo>
                <a:lnTo>
                  <a:pt x="2743200" y="338454"/>
                </a:lnTo>
                <a:lnTo>
                  <a:pt x="2749550" y="338454"/>
                </a:lnTo>
                <a:lnTo>
                  <a:pt x="2749550" y="344804"/>
                </a:lnTo>
                <a:close/>
              </a:path>
            </a:pathLst>
          </a:custGeom>
          <a:solidFill>
            <a:srgbClr val="0000FF"/>
          </a:solidFill>
        </p:spPr>
        <p:txBody>
          <a:bodyPr wrap="square" lIns="0" tIns="0" rIns="0" bIns="0" rtlCol="0"/>
          <a:lstStyle/>
          <a:p>
            <a:endParaRPr/>
          </a:p>
        </p:txBody>
      </p:sp>
      <p:sp>
        <p:nvSpPr>
          <p:cNvPr id="55" name="object 55"/>
          <p:cNvSpPr txBox="1"/>
          <p:nvPr/>
        </p:nvSpPr>
        <p:spPr>
          <a:xfrm>
            <a:off x="5795771" y="5395442"/>
            <a:ext cx="2737485" cy="268605"/>
          </a:xfrm>
          <a:prstGeom prst="rect">
            <a:avLst/>
          </a:prstGeom>
        </p:spPr>
        <p:txBody>
          <a:bodyPr vert="horz" wrap="square" lIns="0" tIns="12065" rIns="0" bIns="0" rtlCol="0">
            <a:spAutoFit/>
          </a:bodyPr>
          <a:lstStyle/>
          <a:p>
            <a:pPr algn="ctr">
              <a:lnSpc>
                <a:spcPct val="100000"/>
              </a:lnSpc>
              <a:spcBef>
                <a:spcPts val="95"/>
              </a:spcBef>
            </a:pPr>
            <a:r>
              <a:rPr sz="1600" spc="-10" dirty="0">
                <a:latin typeface="Times New Roman"/>
                <a:cs typeface="Times New Roman"/>
              </a:rPr>
              <a:t>FileWriter</a:t>
            </a:r>
            <a:endParaRPr sz="1600">
              <a:latin typeface="Times New Roman"/>
              <a:cs typeface="Times New Roman"/>
            </a:endParaRPr>
          </a:p>
        </p:txBody>
      </p:sp>
      <p:sp>
        <p:nvSpPr>
          <p:cNvPr id="56" name="object 56"/>
          <p:cNvSpPr/>
          <p:nvPr/>
        </p:nvSpPr>
        <p:spPr>
          <a:xfrm>
            <a:off x="2051304" y="868680"/>
            <a:ext cx="2318004" cy="313944"/>
          </a:xfrm>
          <a:prstGeom prst="rect">
            <a:avLst/>
          </a:prstGeom>
          <a:blipFill>
            <a:blip r:embed="rId10" cstate="print"/>
            <a:stretch>
              <a:fillRect/>
            </a:stretch>
          </a:blipFill>
        </p:spPr>
        <p:txBody>
          <a:bodyPr wrap="square" lIns="0" tIns="0" rIns="0" bIns="0" rtlCol="0"/>
          <a:lstStyle/>
          <a:p>
            <a:endParaRPr/>
          </a:p>
        </p:txBody>
      </p:sp>
      <p:sp>
        <p:nvSpPr>
          <p:cNvPr id="57" name="object 57"/>
          <p:cNvSpPr/>
          <p:nvPr/>
        </p:nvSpPr>
        <p:spPr>
          <a:xfrm>
            <a:off x="2047062" y="864387"/>
            <a:ext cx="2326640" cy="321310"/>
          </a:xfrm>
          <a:custGeom>
            <a:avLst/>
            <a:gdLst/>
            <a:ahLst/>
            <a:cxnLst/>
            <a:rect l="l" t="t" r="r" b="b"/>
            <a:pathLst>
              <a:path w="2326640" h="321309">
                <a:moveTo>
                  <a:pt x="2326322" y="321309"/>
                </a:moveTo>
                <a:lnTo>
                  <a:pt x="0" y="321309"/>
                </a:lnTo>
                <a:lnTo>
                  <a:pt x="0" y="0"/>
                </a:lnTo>
                <a:lnTo>
                  <a:pt x="2326322" y="0"/>
                </a:lnTo>
                <a:lnTo>
                  <a:pt x="2326322" y="3809"/>
                </a:lnTo>
                <a:lnTo>
                  <a:pt x="7619" y="3809"/>
                </a:lnTo>
                <a:lnTo>
                  <a:pt x="3809" y="7619"/>
                </a:lnTo>
                <a:lnTo>
                  <a:pt x="7619" y="7619"/>
                </a:lnTo>
                <a:lnTo>
                  <a:pt x="7619" y="313689"/>
                </a:lnTo>
                <a:lnTo>
                  <a:pt x="3809" y="313689"/>
                </a:lnTo>
                <a:lnTo>
                  <a:pt x="7619" y="317499"/>
                </a:lnTo>
                <a:lnTo>
                  <a:pt x="2326322" y="317499"/>
                </a:lnTo>
                <a:lnTo>
                  <a:pt x="2326322" y="321309"/>
                </a:lnTo>
                <a:close/>
              </a:path>
              <a:path w="2326640" h="321309">
                <a:moveTo>
                  <a:pt x="7619" y="7619"/>
                </a:moveTo>
                <a:lnTo>
                  <a:pt x="3809" y="7619"/>
                </a:lnTo>
                <a:lnTo>
                  <a:pt x="7619" y="3809"/>
                </a:lnTo>
                <a:lnTo>
                  <a:pt x="7619" y="7619"/>
                </a:lnTo>
                <a:close/>
              </a:path>
              <a:path w="2326640" h="321309">
                <a:moveTo>
                  <a:pt x="2318702" y="7619"/>
                </a:moveTo>
                <a:lnTo>
                  <a:pt x="7619" y="7619"/>
                </a:lnTo>
                <a:lnTo>
                  <a:pt x="7619" y="3809"/>
                </a:lnTo>
                <a:lnTo>
                  <a:pt x="2318702" y="3809"/>
                </a:lnTo>
                <a:lnTo>
                  <a:pt x="2318702" y="7619"/>
                </a:lnTo>
                <a:close/>
              </a:path>
              <a:path w="2326640" h="321309">
                <a:moveTo>
                  <a:pt x="2318702" y="317499"/>
                </a:moveTo>
                <a:lnTo>
                  <a:pt x="2318702" y="3809"/>
                </a:lnTo>
                <a:lnTo>
                  <a:pt x="2322512" y="7619"/>
                </a:lnTo>
                <a:lnTo>
                  <a:pt x="2326322" y="7619"/>
                </a:lnTo>
                <a:lnTo>
                  <a:pt x="2326322" y="313689"/>
                </a:lnTo>
                <a:lnTo>
                  <a:pt x="2322512" y="313689"/>
                </a:lnTo>
                <a:lnTo>
                  <a:pt x="2318702" y="317499"/>
                </a:lnTo>
                <a:close/>
              </a:path>
              <a:path w="2326640" h="321309">
                <a:moveTo>
                  <a:pt x="2326322" y="7619"/>
                </a:moveTo>
                <a:lnTo>
                  <a:pt x="2322512" y="7619"/>
                </a:lnTo>
                <a:lnTo>
                  <a:pt x="2318702" y="3809"/>
                </a:lnTo>
                <a:lnTo>
                  <a:pt x="2326322" y="3809"/>
                </a:lnTo>
                <a:lnTo>
                  <a:pt x="2326322" y="7619"/>
                </a:lnTo>
                <a:close/>
              </a:path>
              <a:path w="2326640" h="321309">
                <a:moveTo>
                  <a:pt x="7619" y="317499"/>
                </a:moveTo>
                <a:lnTo>
                  <a:pt x="3809" y="313689"/>
                </a:lnTo>
                <a:lnTo>
                  <a:pt x="7619" y="313689"/>
                </a:lnTo>
                <a:lnTo>
                  <a:pt x="7619" y="317499"/>
                </a:lnTo>
                <a:close/>
              </a:path>
              <a:path w="2326640" h="321309">
                <a:moveTo>
                  <a:pt x="2318702" y="317499"/>
                </a:moveTo>
                <a:lnTo>
                  <a:pt x="7619" y="317499"/>
                </a:lnTo>
                <a:lnTo>
                  <a:pt x="7619" y="313689"/>
                </a:lnTo>
                <a:lnTo>
                  <a:pt x="2318702" y="313689"/>
                </a:lnTo>
                <a:lnTo>
                  <a:pt x="2318702" y="317499"/>
                </a:lnTo>
                <a:close/>
              </a:path>
              <a:path w="2326640" h="321309">
                <a:moveTo>
                  <a:pt x="2326322" y="317499"/>
                </a:moveTo>
                <a:lnTo>
                  <a:pt x="2318702" y="317499"/>
                </a:lnTo>
                <a:lnTo>
                  <a:pt x="2322512" y="313689"/>
                </a:lnTo>
                <a:lnTo>
                  <a:pt x="2326322" y="313689"/>
                </a:lnTo>
                <a:lnTo>
                  <a:pt x="2326322" y="317499"/>
                </a:lnTo>
                <a:close/>
              </a:path>
            </a:pathLst>
          </a:custGeom>
          <a:solidFill>
            <a:srgbClr val="A1A1A1"/>
          </a:solidFill>
        </p:spPr>
        <p:txBody>
          <a:bodyPr wrap="square" lIns="0" tIns="0" rIns="0" bIns="0" rtlCol="0"/>
          <a:lstStyle/>
          <a:p>
            <a:endParaRPr/>
          </a:p>
        </p:txBody>
      </p:sp>
      <p:sp>
        <p:nvSpPr>
          <p:cNvPr id="58" name="object 58"/>
          <p:cNvSpPr txBox="1"/>
          <p:nvPr/>
        </p:nvSpPr>
        <p:spPr>
          <a:xfrm>
            <a:off x="2051304" y="870102"/>
            <a:ext cx="2318385" cy="268605"/>
          </a:xfrm>
          <a:prstGeom prst="rect">
            <a:avLst/>
          </a:prstGeom>
        </p:spPr>
        <p:txBody>
          <a:bodyPr vert="horz" wrap="square" lIns="0" tIns="12065" rIns="0" bIns="0" rtlCol="0">
            <a:spAutoFit/>
          </a:bodyPr>
          <a:lstStyle/>
          <a:p>
            <a:pPr marL="149860">
              <a:lnSpc>
                <a:spcPct val="100000"/>
              </a:lnSpc>
              <a:spcBef>
                <a:spcPts val="95"/>
              </a:spcBef>
            </a:pPr>
            <a:r>
              <a:rPr sz="1600" spc="-5" dirty="0">
                <a:latin typeface="Times New Roman"/>
                <a:cs typeface="Times New Roman"/>
              </a:rPr>
              <a:t>System.out(PrintStream)</a:t>
            </a:r>
            <a:endParaRPr sz="1600">
              <a:latin typeface="Times New Roman"/>
              <a:cs typeface="Times New Roman"/>
            </a:endParaRPr>
          </a:p>
        </p:txBody>
      </p:sp>
      <p:sp>
        <p:nvSpPr>
          <p:cNvPr id="59" name="object 59"/>
          <p:cNvSpPr/>
          <p:nvPr/>
        </p:nvSpPr>
        <p:spPr>
          <a:xfrm>
            <a:off x="5809488" y="1341119"/>
            <a:ext cx="2737485" cy="338455"/>
          </a:xfrm>
          <a:custGeom>
            <a:avLst/>
            <a:gdLst/>
            <a:ahLst/>
            <a:cxnLst/>
            <a:rect l="l" t="t" r="r" b="b"/>
            <a:pathLst>
              <a:path w="2737484" h="338455">
                <a:moveTo>
                  <a:pt x="0" y="0"/>
                </a:moveTo>
                <a:lnTo>
                  <a:pt x="2737104" y="0"/>
                </a:lnTo>
                <a:lnTo>
                  <a:pt x="2737104" y="338327"/>
                </a:lnTo>
                <a:lnTo>
                  <a:pt x="0" y="338327"/>
                </a:lnTo>
                <a:lnTo>
                  <a:pt x="0" y="0"/>
                </a:lnTo>
                <a:close/>
              </a:path>
            </a:pathLst>
          </a:custGeom>
          <a:solidFill>
            <a:srgbClr val="FFFFFF"/>
          </a:solidFill>
        </p:spPr>
        <p:txBody>
          <a:bodyPr wrap="square" lIns="0" tIns="0" rIns="0" bIns="0" rtlCol="0"/>
          <a:lstStyle/>
          <a:p>
            <a:endParaRPr/>
          </a:p>
        </p:txBody>
      </p:sp>
      <p:sp>
        <p:nvSpPr>
          <p:cNvPr id="60" name="object 60"/>
          <p:cNvSpPr/>
          <p:nvPr/>
        </p:nvSpPr>
        <p:spPr>
          <a:xfrm>
            <a:off x="5802858" y="1334414"/>
            <a:ext cx="2749550" cy="351155"/>
          </a:xfrm>
          <a:custGeom>
            <a:avLst/>
            <a:gdLst/>
            <a:ahLst/>
            <a:cxnLst/>
            <a:rect l="l" t="t" r="r" b="b"/>
            <a:pathLst>
              <a:path w="2749550" h="351155">
                <a:moveTo>
                  <a:pt x="2749550" y="351155"/>
                </a:moveTo>
                <a:lnTo>
                  <a:pt x="0" y="351155"/>
                </a:lnTo>
                <a:lnTo>
                  <a:pt x="0" y="0"/>
                </a:lnTo>
                <a:lnTo>
                  <a:pt x="2749550" y="0"/>
                </a:lnTo>
                <a:lnTo>
                  <a:pt x="2749550" y="6350"/>
                </a:lnTo>
                <a:lnTo>
                  <a:pt x="12700" y="6350"/>
                </a:lnTo>
                <a:lnTo>
                  <a:pt x="6350" y="12700"/>
                </a:lnTo>
                <a:lnTo>
                  <a:pt x="12700" y="12700"/>
                </a:lnTo>
                <a:lnTo>
                  <a:pt x="12700" y="338455"/>
                </a:lnTo>
                <a:lnTo>
                  <a:pt x="6350" y="338455"/>
                </a:lnTo>
                <a:lnTo>
                  <a:pt x="12700" y="344805"/>
                </a:lnTo>
                <a:lnTo>
                  <a:pt x="2749550" y="344805"/>
                </a:lnTo>
                <a:lnTo>
                  <a:pt x="2749550" y="351155"/>
                </a:lnTo>
                <a:close/>
              </a:path>
              <a:path w="2749550" h="351155">
                <a:moveTo>
                  <a:pt x="12700" y="12700"/>
                </a:moveTo>
                <a:lnTo>
                  <a:pt x="6350" y="12700"/>
                </a:lnTo>
                <a:lnTo>
                  <a:pt x="12700" y="6350"/>
                </a:lnTo>
                <a:lnTo>
                  <a:pt x="12700" y="12700"/>
                </a:lnTo>
                <a:close/>
              </a:path>
              <a:path w="2749550" h="351155">
                <a:moveTo>
                  <a:pt x="2736850" y="12700"/>
                </a:moveTo>
                <a:lnTo>
                  <a:pt x="12700" y="12700"/>
                </a:lnTo>
                <a:lnTo>
                  <a:pt x="12700" y="6350"/>
                </a:lnTo>
                <a:lnTo>
                  <a:pt x="2736850" y="6350"/>
                </a:lnTo>
                <a:lnTo>
                  <a:pt x="2736850" y="12700"/>
                </a:lnTo>
                <a:close/>
              </a:path>
              <a:path w="2749550" h="351155">
                <a:moveTo>
                  <a:pt x="2736850" y="344805"/>
                </a:moveTo>
                <a:lnTo>
                  <a:pt x="2736850" y="6350"/>
                </a:lnTo>
                <a:lnTo>
                  <a:pt x="2743200" y="12700"/>
                </a:lnTo>
                <a:lnTo>
                  <a:pt x="2749550" y="12700"/>
                </a:lnTo>
                <a:lnTo>
                  <a:pt x="2749550" y="338455"/>
                </a:lnTo>
                <a:lnTo>
                  <a:pt x="2743200" y="338455"/>
                </a:lnTo>
                <a:lnTo>
                  <a:pt x="2736850" y="344805"/>
                </a:lnTo>
                <a:close/>
              </a:path>
              <a:path w="2749550" h="351155">
                <a:moveTo>
                  <a:pt x="2749550" y="12700"/>
                </a:moveTo>
                <a:lnTo>
                  <a:pt x="2743200" y="12700"/>
                </a:lnTo>
                <a:lnTo>
                  <a:pt x="2736850" y="6350"/>
                </a:lnTo>
                <a:lnTo>
                  <a:pt x="2749550" y="6350"/>
                </a:lnTo>
                <a:lnTo>
                  <a:pt x="2749550" y="12700"/>
                </a:lnTo>
                <a:close/>
              </a:path>
              <a:path w="2749550" h="351155">
                <a:moveTo>
                  <a:pt x="12700" y="344805"/>
                </a:moveTo>
                <a:lnTo>
                  <a:pt x="6350" y="338455"/>
                </a:lnTo>
                <a:lnTo>
                  <a:pt x="12700" y="338455"/>
                </a:lnTo>
                <a:lnTo>
                  <a:pt x="12700" y="344805"/>
                </a:lnTo>
                <a:close/>
              </a:path>
              <a:path w="2749550" h="351155">
                <a:moveTo>
                  <a:pt x="2736850" y="344805"/>
                </a:moveTo>
                <a:lnTo>
                  <a:pt x="12700" y="344805"/>
                </a:lnTo>
                <a:lnTo>
                  <a:pt x="12700" y="338455"/>
                </a:lnTo>
                <a:lnTo>
                  <a:pt x="2736850" y="338455"/>
                </a:lnTo>
                <a:lnTo>
                  <a:pt x="2736850" y="344805"/>
                </a:lnTo>
                <a:close/>
              </a:path>
              <a:path w="2749550" h="351155">
                <a:moveTo>
                  <a:pt x="2749550" y="344805"/>
                </a:moveTo>
                <a:lnTo>
                  <a:pt x="2736850" y="344805"/>
                </a:lnTo>
                <a:lnTo>
                  <a:pt x="2743200" y="338455"/>
                </a:lnTo>
                <a:lnTo>
                  <a:pt x="2749550" y="338455"/>
                </a:lnTo>
                <a:lnTo>
                  <a:pt x="2749550" y="344805"/>
                </a:lnTo>
                <a:close/>
              </a:path>
            </a:pathLst>
          </a:custGeom>
          <a:solidFill>
            <a:srgbClr val="0000FF"/>
          </a:solidFill>
        </p:spPr>
        <p:txBody>
          <a:bodyPr wrap="square" lIns="0" tIns="0" rIns="0" bIns="0" rtlCol="0"/>
          <a:lstStyle/>
          <a:p>
            <a:endParaRPr/>
          </a:p>
        </p:txBody>
      </p:sp>
      <p:sp>
        <p:nvSpPr>
          <p:cNvPr id="61" name="object 61"/>
          <p:cNvSpPr txBox="1"/>
          <p:nvPr/>
        </p:nvSpPr>
        <p:spPr>
          <a:xfrm>
            <a:off x="5809488" y="1362989"/>
            <a:ext cx="2737485" cy="268605"/>
          </a:xfrm>
          <a:prstGeom prst="rect">
            <a:avLst/>
          </a:prstGeom>
        </p:spPr>
        <p:txBody>
          <a:bodyPr vert="horz" wrap="square" lIns="0" tIns="12065" rIns="0" bIns="0" rtlCol="0">
            <a:spAutoFit/>
          </a:bodyPr>
          <a:lstStyle/>
          <a:p>
            <a:pPr marL="368300">
              <a:lnSpc>
                <a:spcPct val="100000"/>
              </a:lnSpc>
              <a:spcBef>
                <a:spcPts val="95"/>
              </a:spcBef>
            </a:pPr>
            <a:r>
              <a:rPr sz="1600" spc="-5" dirty="0">
                <a:latin typeface="Times New Roman"/>
                <a:cs typeface="Times New Roman"/>
              </a:rPr>
              <a:t>ByteArrayOutputStream</a:t>
            </a:r>
            <a:endParaRPr sz="1600">
              <a:latin typeface="Times New Roman"/>
              <a:cs typeface="Times New Roman"/>
            </a:endParaRPr>
          </a:p>
        </p:txBody>
      </p:sp>
      <p:sp>
        <p:nvSpPr>
          <p:cNvPr id="62" name="object 62"/>
          <p:cNvSpPr txBox="1"/>
          <p:nvPr/>
        </p:nvSpPr>
        <p:spPr>
          <a:xfrm>
            <a:off x="4138586" y="3315601"/>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63" name="object 63"/>
          <p:cNvSpPr/>
          <p:nvPr/>
        </p:nvSpPr>
        <p:spPr>
          <a:xfrm>
            <a:off x="3340989" y="4141838"/>
            <a:ext cx="444500" cy="300990"/>
          </a:xfrm>
          <a:custGeom>
            <a:avLst/>
            <a:gdLst/>
            <a:ahLst/>
            <a:cxnLst/>
            <a:rect l="l" t="t" r="r" b="b"/>
            <a:pathLst>
              <a:path w="444500" h="300989">
                <a:moveTo>
                  <a:pt x="255600" y="299720"/>
                </a:moveTo>
                <a:lnTo>
                  <a:pt x="188544" y="299720"/>
                </a:lnTo>
                <a:lnTo>
                  <a:pt x="177698" y="298450"/>
                </a:lnTo>
                <a:lnTo>
                  <a:pt x="167043" y="295910"/>
                </a:lnTo>
                <a:lnTo>
                  <a:pt x="156578" y="294639"/>
                </a:lnTo>
                <a:lnTo>
                  <a:pt x="116992" y="283210"/>
                </a:lnTo>
                <a:lnTo>
                  <a:pt x="81661" y="266700"/>
                </a:lnTo>
                <a:lnTo>
                  <a:pt x="73596" y="262889"/>
                </a:lnTo>
                <a:lnTo>
                  <a:pt x="65862" y="257810"/>
                </a:lnTo>
                <a:lnTo>
                  <a:pt x="58483" y="252729"/>
                </a:lnTo>
                <a:lnTo>
                  <a:pt x="51460" y="246379"/>
                </a:lnTo>
                <a:lnTo>
                  <a:pt x="44818" y="241300"/>
                </a:lnTo>
                <a:lnTo>
                  <a:pt x="38569" y="234950"/>
                </a:lnTo>
                <a:lnTo>
                  <a:pt x="32715" y="228600"/>
                </a:lnTo>
                <a:lnTo>
                  <a:pt x="27292" y="223520"/>
                </a:lnTo>
                <a:lnTo>
                  <a:pt x="22529" y="217170"/>
                </a:lnTo>
                <a:lnTo>
                  <a:pt x="17983" y="209550"/>
                </a:lnTo>
                <a:lnTo>
                  <a:pt x="13906" y="203200"/>
                </a:lnTo>
                <a:lnTo>
                  <a:pt x="2527" y="172720"/>
                </a:lnTo>
                <a:lnTo>
                  <a:pt x="1155" y="166370"/>
                </a:lnTo>
                <a:lnTo>
                  <a:pt x="584" y="161289"/>
                </a:lnTo>
                <a:lnTo>
                  <a:pt x="215" y="157479"/>
                </a:lnTo>
                <a:lnTo>
                  <a:pt x="0" y="153670"/>
                </a:lnTo>
                <a:lnTo>
                  <a:pt x="0" y="146050"/>
                </a:lnTo>
                <a:lnTo>
                  <a:pt x="241" y="142239"/>
                </a:lnTo>
                <a:lnTo>
                  <a:pt x="609" y="138429"/>
                </a:lnTo>
                <a:lnTo>
                  <a:pt x="1155" y="134620"/>
                </a:lnTo>
                <a:lnTo>
                  <a:pt x="2527" y="127000"/>
                </a:lnTo>
                <a:lnTo>
                  <a:pt x="4660" y="119379"/>
                </a:lnTo>
                <a:lnTo>
                  <a:pt x="7226" y="111760"/>
                </a:lnTo>
                <a:lnTo>
                  <a:pt x="10134" y="104139"/>
                </a:lnTo>
                <a:lnTo>
                  <a:pt x="13906" y="97789"/>
                </a:lnTo>
                <a:lnTo>
                  <a:pt x="17983" y="90170"/>
                </a:lnTo>
                <a:lnTo>
                  <a:pt x="45059" y="58420"/>
                </a:lnTo>
                <a:lnTo>
                  <a:pt x="81889" y="33020"/>
                </a:lnTo>
                <a:lnTo>
                  <a:pt x="90271" y="29210"/>
                </a:lnTo>
                <a:lnTo>
                  <a:pt x="98958" y="24129"/>
                </a:lnTo>
                <a:lnTo>
                  <a:pt x="136525" y="11429"/>
                </a:lnTo>
                <a:lnTo>
                  <a:pt x="199783" y="0"/>
                </a:lnTo>
                <a:lnTo>
                  <a:pt x="244792" y="0"/>
                </a:lnTo>
                <a:lnTo>
                  <a:pt x="277317" y="3810"/>
                </a:lnTo>
                <a:lnTo>
                  <a:pt x="287782" y="6350"/>
                </a:lnTo>
                <a:lnTo>
                  <a:pt x="312947" y="12700"/>
                </a:lnTo>
                <a:lnTo>
                  <a:pt x="200647" y="12700"/>
                </a:lnTo>
                <a:lnTo>
                  <a:pt x="189839" y="13970"/>
                </a:lnTo>
                <a:lnTo>
                  <a:pt x="190055" y="13970"/>
                </a:lnTo>
                <a:lnTo>
                  <a:pt x="179425" y="15239"/>
                </a:lnTo>
                <a:lnTo>
                  <a:pt x="179641" y="15239"/>
                </a:lnTo>
                <a:lnTo>
                  <a:pt x="169189" y="16510"/>
                </a:lnTo>
                <a:lnTo>
                  <a:pt x="169405" y="16510"/>
                </a:lnTo>
                <a:lnTo>
                  <a:pt x="164280" y="17779"/>
                </a:lnTo>
                <a:lnTo>
                  <a:pt x="159385" y="17779"/>
                </a:lnTo>
                <a:lnTo>
                  <a:pt x="149351" y="20320"/>
                </a:lnTo>
                <a:lnTo>
                  <a:pt x="149567" y="20320"/>
                </a:lnTo>
                <a:lnTo>
                  <a:pt x="139763" y="22860"/>
                </a:lnTo>
                <a:lnTo>
                  <a:pt x="139979" y="22860"/>
                </a:lnTo>
                <a:lnTo>
                  <a:pt x="130416" y="25400"/>
                </a:lnTo>
                <a:lnTo>
                  <a:pt x="130632" y="25400"/>
                </a:lnTo>
                <a:lnTo>
                  <a:pt x="121323" y="29210"/>
                </a:lnTo>
                <a:lnTo>
                  <a:pt x="121551" y="29210"/>
                </a:lnTo>
                <a:lnTo>
                  <a:pt x="112509" y="33020"/>
                </a:lnTo>
                <a:lnTo>
                  <a:pt x="112725" y="33020"/>
                </a:lnTo>
                <a:lnTo>
                  <a:pt x="106891" y="35560"/>
                </a:lnTo>
                <a:lnTo>
                  <a:pt x="104190" y="35560"/>
                </a:lnTo>
                <a:lnTo>
                  <a:pt x="95732" y="40639"/>
                </a:lnTo>
                <a:lnTo>
                  <a:pt x="95961" y="40639"/>
                </a:lnTo>
                <a:lnTo>
                  <a:pt x="87807" y="44450"/>
                </a:lnTo>
                <a:lnTo>
                  <a:pt x="88036" y="44450"/>
                </a:lnTo>
                <a:lnTo>
                  <a:pt x="80200" y="48260"/>
                </a:lnTo>
                <a:lnTo>
                  <a:pt x="80429" y="48260"/>
                </a:lnTo>
                <a:lnTo>
                  <a:pt x="72936" y="53339"/>
                </a:lnTo>
                <a:lnTo>
                  <a:pt x="73164" y="53339"/>
                </a:lnTo>
                <a:lnTo>
                  <a:pt x="66014" y="58420"/>
                </a:lnTo>
                <a:lnTo>
                  <a:pt x="66243" y="58420"/>
                </a:lnTo>
                <a:lnTo>
                  <a:pt x="59461" y="63500"/>
                </a:lnTo>
                <a:lnTo>
                  <a:pt x="59702" y="63500"/>
                </a:lnTo>
                <a:lnTo>
                  <a:pt x="53289" y="68579"/>
                </a:lnTo>
                <a:lnTo>
                  <a:pt x="53517" y="68579"/>
                </a:lnTo>
                <a:lnTo>
                  <a:pt x="47498" y="73660"/>
                </a:lnTo>
                <a:lnTo>
                  <a:pt x="47739" y="73660"/>
                </a:lnTo>
                <a:lnTo>
                  <a:pt x="42125" y="80010"/>
                </a:lnTo>
                <a:lnTo>
                  <a:pt x="42354" y="80010"/>
                </a:lnTo>
                <a:lnTo>
                  <a:pt x="37147" y="85089"/>
                </a:lnTo>
                <a:lnTo>
                  <a:pt x="37376" y="85089"/>
                </a:lnTo>
                <a:lnTo>
                  <a:pt x="32613" y="91439"/>
                </a:lnTo>
                <a:lnTo>
                  <a:pt x="32829" y="91439"/>
                </a:lnTo>
                <a:lnTo>
                  <a:pt x="28511" y="97789"/>
                </a:lnTo>
                <a:lnTo>
                  <a:pt x="28714" y="97789"/>
                </a:lnTo>
                <a:lnTo>
                  <a:pt x="25626" y="102870"/>
                </a:lnTo>
                <a:lnTo>
                  <a:pt x="25044" y="102870"/>
                </a:lnTo>
                <a:lnTo>
                  <a:pt x="22218" y="109220"/>
                </a:lnTo>
                <a:lnTo>
                  <a:pt x="21831" y="109220"/>
                </a:lnTo>
                <a:lnTo>
                  <a:pt x="19407" y="115570"/>
                </a:lnTo>
                <a:lnTo>
                  <a:pt x="19075" y="115570"/>
                </a:lnTo>
                <a:lnTo>
                  <a:pt x="16662" y="123189"/>
                </a:lnTo>
                <a:lnTo>
                  <a:pt x="16802" y="123189"/>
                </a:lnTo>
                <a:lnTo>
                  <a:pt x="14897" y="129539"/>
                </a:lnTo>
                <a:lnTo>
                  <a:pt x="13857" y="135889"/>
                </a:lnTo>
                <a:lnTo>
                  <a:pt x="13690" y="135889"/>
                </a:lnTo>
                <a:lnTo>
                  <a:pt x="13208" y="139700"/>
                </a:lnTo>
                <a:lnTo>
                  <a:pt x="12996" y="142239"/>
                </a:lnTo>
                <a:lnTo>
                  <a:pt x="12903" y="143510"/>
                </a:lnTo>
                <a:lnTo>
                  <a:pt x="12759" y="146050"/>
                </a:lnTo>
                <a:lnTo>
                  <a:pt x="12687" y="153670"/>
                </a:lnTo>
                <a:lnTo>
                  <a:pt x="12903" y="157479"/>
                </a:lnTo>
                <a:lnTo>
                  <a:pt x="13233" y="161289"/>
                </a:lnTo>
                <a:lnTo>
                  <a:pt x="13368" y="161289"/>
                </a:lnTo>
                <a:lnTo>
                  <a:pt x="13690" y="163829"/>
                </a:lnTo>
                <a:lnTo>
                  <a:pt x="15011" y="171450"/>
                </a:lnTo>
                <a:lnTo>
                  <a:pt x="15214" y="171450"/>
                </a:lnTo>
                <a:lnTo>
                  <a:pt x="16802" y="177800"/>
                </a:lnTo>
                <a:lnTo>
                  <a:pt x="16662" y="177800"/>
                </a:lnTo>
                <a:lnTo>
                  <a:pt x="19075" y="184150"/>
                </a:lnTo>
                <a:lnTo>
                  <a:pt x="18923" y="184150"/>
                </a:lnTo>
                <a:lnTo>
                  <a:pt x="21831" y="190500"/>
                </a:lnTo>
                <a:lnTo>
                  <a:pt x="21653" y="190500"/>
                </a:lnTo>
                <a:lnTo>
                  <a:pt x="25044" y="196850"/>
                </a:lnTo>
                <a:lnTo>
                  <a:pt x="24853" y="196850"/>
                </a:lnTo>
                <a:lnTo>
                  <a:pt x="28714" y="203200"/>
                </a:lnTo>
                <a:lnTo>
                  <a:pt x="28511" y="203200"/>
                </a:lnTo>
                <a:lnTo>
                  <a:pt x="32829" y="209550"/>
                </a:lnTo>
                <a:lnTo>
                  <a:pt x="32613" y="209550"/>
                </a:lnTo>
                <a:lnTo>
                  <a:pt x="37376" y="214629"/>
                </a:lnTo>
                <a:lnTo>
                  <a:pt x="37147" y="214629"/>
                </a:lnTo>
                <a:lnTo>
                  <a:pt x="42354" y="220979"/>
                </a:lnTo>
                <a:lnTo>
                  <a:pt x="42125" y="220979"/>
                </a:lnTo>
                <a:lnTo>
                  <a:pt x="47739" y="226060"/>
                </a:lnTo>
                <a:lnTo>
                  <a:pt x="47498" y="226060"/>
                </a:lnTo>
                <a:lnTo>
                  <a:pt x="53517" y="232410"/>
                </a:lnTo>
                <a:lnTo>
                  <a:pt x="54571" y="232410"/>
                </a:lnTo>
                <a:lnTo>
                  <a:pt x="59702" y="237489"/>
                </a:lnTo>
                <a:lnTo>
                  <a:pt x="59461" y="237489"/>
                </a:lnTo>
                <a:lnTo>
                  <a:pt x="66243" y="242570"/>
                </a:lnTo>
                <a:lnTo>
                  <a:pt x="66014" y="242570"/>
                </a:lnTo>
                <a:lnTo>
                  <a:pt x="73164" y="247650"/>
                </a:lnTo>
                <a:lnTo>
                  <a:pt x="74809" y="247650"/>
                </a:lnTo>
                <a:lnTo>
                  <a:pt x="80429" y="251460"/>
                </a:lnTo>
                <a:lnTo>
                  <a:pt x="80200" y="251460"/>
                </a:lnTo>
                <a:lnTo>
                  <a:pt x="88036" y="256539"/>
                </a:lnTo>
                <a:lnTo>
                  <a:pt x="87807" y="256539"/>
                </a:lnTo>
                <a:lnTo>
                  <a:pt x="95961" y="260350"/>
                </a:lnTo>
                <a:lnTo>
                  <a:pt x="95732" y="260350"/>
                </a:lnTo>
                <a:lnTo>
                  <a:pt x="104190" y="264160"/>
                </a:lnTo>
                <a:lnTo>
                  <a:pt x="103974" y="264160"/>
                </a:lnTo>
                <a:lnTo>
                  <a:pt x="112725" y="267970"/>
                </a:lnTo>
                <a:lnTo>
                  <a:pt x="112509" y="267970"/>
                </a:lnTo>
                <a:lnTo>
                  <a:pt x="121551" y="271779"/>
                </a:lnTo>
                <a:lnTo>
                  <a:pt x="121323" y="271779"/>
                </a:lnTo>
                <a:lnTo>
                  <a:pt x="130632" y="274320"/>
                </a:lnTo>
                <a:lnTo>
                  <a:pt x="130416" y="274320"/>
                </a:lnTo>
                <a:lnTo>
                  <a:pt x="139979" y="276860"/>
                </a:lnTo>
                <a:lnTo>
                  <a:pt x="139763" y="276860"/>
                </a:lnTo>
                <a:lnTo>
                  <a:pt x="149567" y="279400"/>
                </a:lnTo>
                <a:lnTo>
                  <a:pt x="149351" y="279400"/>
                </a:lnTo>
                <a:lnTo>
                  <a:pt x="159385" y="281939"/>
                </a:lnTo>
                <a:lnTo>
                  <a:pt x="159156" y="281939"/>
                </a:lnTo>
                <a:lnTo>
                  <a:pt x="169405" y="284479"/>
                </a:lnTo>
                <a:lnTo>
                  <a:pt x="174415" y="284479"/>
                </a:lnTo>
                <a:lnTo>
                  <a:pt x="179641" y="285750"/>
                </a:lnTo>
                <a:lnTo>
                  <a:pt x="179425" y="285750"/>
                </a:lnTo>
                <a:lnTo>
                  <a:pt x="190055" y="287020"/>
                </a:lnTo>
                <a:lnTo>
                  <a:pt x="200431" y="287020"/>
                </a:lnTo>
                <a:lnTo>
                  <a:pt x="211391" y="288289"/>
                </a:lnTo>
                <a:lnTo>
                  <a:pt x="312832" y="288289"/>
                </a:lnTo>
                <a:lnTo>
                  <a:pt x="308051" y="289560"/>
                </a:lnTo>
                <a:lnTo>
                  <a:pt x="287566" y="294639"/>
                </a:lnTo>
                <a:lnTo>
                  <a:pt x="277101" y="295910"/>
                </a:lnTo>
                <a:lnTo>
                  <a:pt x="266446" y="298450"/>
                </a:lnTo>
                <a:lnTo>
                  <a:pt x="255600" y="299720"/>
                </a:lnTo>
                <a:close/>
              </a:path>
              <a:path w="444500" h="300989">
                <a:moveTo>
                  <a:pt x="285191" y="19050"/>
                </a:moveTo>
                <a:lnTo>
                  <a:pt x="274955" y="16510"/>
                </a:lnTo>
                <a:lnTo>
                  <a:pt x="275170" y="16510"/>
                </a:lnTo>
                <a:lnTo>
                  <a:pt x="264718" y="15239"/>
                </a:lnTo>
                <a:lnTo>
                  <a:pt x="264934" y="15239"/>
                </a:lnTo>
                <a:lnTo>
                  <a:pt x="254304" y="13970"/>
                </a:lnTo>
                <a:lnTo>
                  <a:pt x="254520" y="13970"/>
                </a:lnTo>
                <a:lnTo>
                  <a:pt x="243712" y="12700"/>
                </a:lnTo>
                <a:lnTo>
                  <a:pt x="312947" y="12700"/>
                </a:lnTo>
                <a:lnTo>
                  <a:pt x="317842" y="13970"/>
                </a:lnTo>
                <a:lnTo>
                  <a:pt x="327367" y="17779"/>
                </a:lnTo>
                <a:lnTo>
                  <a:pt x="284975" y="17779"/>
                </a:lnTo>
                <a:lnTo>
                  <a:pt x="285191" y="19050"/>
                </a:lnTo>
                <a:close/>
              </a:path>
              <a:path w="444500" h="300989">
                <a:moveTo>
                  <a:pt x="159156" y="19050"/>
                </a:moveTo>
                <a:lnTo>
                  <a:pt x="159385" y="17779"/>
                </a:lnTo>
                <a:lnTo>
                  <a:pt x="164280" y="17779"/>
                </a:lnTo>
                <a:lnTo>
                  <a:pt x="159156" y="19050"/>
                </a:lnTo>
                <a:close/>
              </a:path>
              <a:path w="444500" h="300989">
                <a:moveTo>
                  <a:pt x="340385" y="36829"/>
                </a:moveTo>
                <a:lnTo>
                  <a:pt x="331622" y="33020"/>
                </a:lnTo>
                <a:lnTo>
                  <a:pt x="331850" y="33020"/>
                </a:lnTo>
                <a:lnTo>
                  <a:pt x="322808" y="29210"/>
                </a:lnTo>
                <a:lnTo>
                  <a:pt x="323037" y="29210"/>
                </a:lnTo>
                <a:lnTo>
                  <a:pt x="313728" y="25400"/>
                </a:lnTo>
                <a:lnTo>
                  <a:pt x="313944" y="25400"/>
                </a:lnTo>
                <a:lnTo>
                  <a:pt x="304380" y="22860"/>
                </a:lnTo>
                <a:lnTo>
                  <a:pt x="304596" y="22860"/>
                </a:lnTo>
                <a:lnTo>
                  <a:pt x="294792" y="20320"/>
                </a:lnTo>
                <a:lnTo>
                  <a:pt x="295008" y="20320"/>
                </a:lnTo>
                <a:lnTo>
                  <a:pt x="284975" y="17779"/>
                </a:lnTo>
                <a:lnTo>
                  <a:pt x="327367" y="17779"/>
                </a:lnTo>
                <a:lnTo>
                  <a:pt x="336638" y="20320"/>
                </a:lnTo>
                <a:lnTo>
                  <a:pt x="345617" y="24129"/>
                </a:lnTo>
                <a:lnTo>
                  <a:pt x="354317" y="29210"/>
                </a:lnTo>
                <a:lnTo>
                  <a:pt x="362699" y="33020"/>
                </a:lnTo>
                <a:lnTo>
                  <a:pt x="366731" y="35560"/>
                </a:lnTo>
                <a:lnTo>
                  <a:pt x="340156" y="35560"/>
                </a:lnTo>
                <a:lnTo>
                  <a:pt x="340385" y="36829"/>
                </a:lnTo>
                <a:close/>
              </a:path>
              <a:path w="444500" h="300989">
                <a:moveTo>
                  <a:pt x="103974" y="36829"/>
                </a:moveTo>
                <a:lnTo>
                  <a:pt x="104190" y="35560"/>
                </a:lnTo>
                <a:lnTo>
                  <a:pt x="106891" y="35560"/>
                </a:lnTo>
                <a:lnTo>
                  <a:pt x="103974" y="36829"/>
                </a:lnTo>
                <a:close/>
              </a:path>
              <a:path w="444500" h="300989">
                <a:moveTo>
                  <a:pt x="419506" y="104139"/>
                </a:moveTo>
                <a:lnTo>
                  <a:pt x="415645" y="97789"/>
                </a:lnTo>
                <a:lnTo>
                  <a:pt x="415848" y="97789"/>
                </a:lnTo>
                <a:lnTo>
                  <a:pt x="411530" y="91439"/>
                </a:lnTo>
                <a:lnTo>
                  <a:pt x="411746" y="91439"/>
                </a:lnTo>
                <a:lnTo>
                  <a:pt x="406984" y="85089"/>
                </a:lnTo>
                <a:lnTo>
                  <a:pt x="407200" y="85089"/>
                </a:lnTo>
                <a:lnTo>
                  <a:pt x="402005" y="80010"/>
                </a:lnTo>
                <a:lnTo>
                  <a:pt x="402234" y="80010"/>
                </a:lnTo>
                <a:lnTo>
                  <a:pt x="396621" y="73660"/>
                </a:lnTo>
                <a:lnTo>
                  <a:pt x="396849" y="73660"/>
                </a:lnTo>
                <a:lnTo>
                  <a:pt x="390829" y="68579"/>
                </a:lnTo>
                <a:lnTo>
                  <a:pt x="391071" y="68579"/>
                </a:lnTo>
                <a:lnTo>
                  <a:pt x="384657" y="63500"/>
                </a:lnTo>
                <a:lnTo>
                  <a:pt x="384898" y="63500"/>
                </a:lnTo>
                <a:lnTo>
                  <a:pt x="378104" y="58420"/>
                </a:lnTo>
                <a:lnTo>
                  <a:pt x="378345" y="58420"/>
                </a:lnTo>
                <a:lnTo>
                  <a:pt x="371195" y="53339"/>
                </a:lnTo>
                <a:lnTo>
                  <a:pt x="371424" y="53339"/>
                </a:lnTo>
                <a:lnTo>
                  <a:pt x="363931" y="48260"/>
                </a:lnTo>
                <a:lnTo>
                  <a:pt x="364159" y="48260"/>
                </a:lnTo>
                <a:lnTo>
                  <a:pt x="356323" y="44450"/>
                </a:lnTo>
                <a:lnTo>
                  <a:pt x="356552" y="44450"/>
                </a:lnTo>
                <a:lnTo>
                  <a:pt x="348399" y="40639"/>
                </a:lnTo>
                <a:lnTo>
                  <a:pt x="348627" y="40639"/>
                </a:lnTo>
                <a:lnTo>
                  <a:pt x="340156" y="35560"/>
                </a:lnTo>
                <a:lnTo>
                  <a:pt x="366731" y="35560"/>
                </a:lnTo>
                <a:lnTo>
                  <a:pt x="399541" y="59689"/>
                </a:lnTo>
                <a:lnTo>
                  <a:pt x="405790" y="64770"/>
                </a:lnTo>
                <a:lnTo>
                  <a:pt x="430453" y="97789"/>
                </a:lnTo>
                <a:lnTo>
                  <a:pt x="433318" y="102870"/>
                </a:lnTo>
                <a:lnTo>
                  <a:pt x="419315" y="102870"/>
                </a:lnTo>
                <a:lnTo>
                  <a:pt x="419506" y="104139"/>
                </a:lnTo>
                <a:close/>
              </a:path>
              <a:path w="444500" h="300989">
                <a:moveTo>
                  <a:pt x="24853" y="104139"/>
                </a:moveTo>
                <a:lnTo>
                  <a:pt x="25044" y="102870"/>
                </a:lnTo>
                <a:lnTo>
                  <a:pt x="25626" y="102870"/>
                </a:lnTo>
                <a:lnTo>
                  <a:pt x="24853" y="104139"/>
                </a:lnTo>
                <a:close/>
              </a:path>
              <a:path w="444500" h="300989">
                <a:moveTo>
                  <a:pt x="422706" y="110489"/>
                </a:moveTo>
                <a:lnTo>
                  <a:pt x="419315" y="102870"/>
                </a:lnTo>
                <a:lnTo>
                  <a:pt x="433318" y="102870"/>
                </a:lnTo>
                <a:lnTo>
                  <a:pt x="434035" y="104139"/>
                </a:lnTo>
                <a:lnTo>
                  <a:pt x="434213" y="104139"/>
                </a:lnTo>
                <a:lnTo>
                  <a:pt x="436261" y="109220"/>
                </a:lnTo>
                <a:lnTo>
                  <a:pt x="422528" y="109220"/>
                </a:lnTo>
                <a:lnTo>
                  <a:pt x="422706" y="110489"/>
                </a:lnTo>
                <a:close/>
              </a:path>
              <a:path w="444500" h="300989">
                <a:moveTo>
                  <a:pt x="21653" y="110489"/>
                </a:moveTo>
                <a:lnTo>
                  <a:pt x="21831" y="109220"/>
                </a:lnTo>
                <a:lnTo>
                  <a:pt x="22218" y="109220"/>
                </a:lnTo>
                <a:lnTo>
                  <a:pt x="21653" y="110489"/>
                </a:lnTo>
                <a:close/>
              </a:path>
              <a:path w="444500" h="300989">
                <a:moveTo>
                  <a:pt x="425437" y="116839"/>
                </a:moveTo>
                <a:lnTo>
                  <a:pt x="422528" y="109220"/>
                </a:lnTo>
                <a:lnTo>
                  <a:pt x="436261" y="109220"/>
                </a:lnTo>
                <a:lnTo>
                  <a:pt x="437286" y="111760"/>
                </a:lnTo>
                <a:lnTo>
                  <a:pt x="438492" y="115570"/>
                </a:lnTo>
                <a:lnTo>
                  <a:pt x="425284" y="115570"/>
                </a:lnTo>
                <a:lnTo>
                  <a:pt x="425437" y="116839"/>
                </a:lnTo>
                <a:close/>
              </a:path>
              <a:path w="444500" h="300989">
                <a:moveTo>
                  <a:pt x="18923" y="116839"/>
                </a:moveTo>
                <a:lnTo>
                  <a:pt x="19075" y="115570"/>
                </a:lnTo>
                <a:lnTo>
                  <a:pt x="19407" y="115570"/>
                </a:lnTo>
                <a:lnTo>
                  <a:pt x="18923" y="116839"/>
                </a:lnTo>
                <a:close/>
              </a:path>
              <a:path w="444500" h="300989">
                <a:moveTo>
                  <a:pt x="430720" y="137160"/>
                </a:moveTo>
                <a:lnTo>
                  <a:pt x="429348" y="129539"/>
                </a:lnTo>
                <a:lnTo>
                  <a:pt x="427558" y="123189"/>
                </a:lnTo>
                <a:lnTo>
                  <a:pt x="425284" y="115570"/>
                </a:lnTo>
                <a:lnTo>
                  <a:pt x="438492" y="115570"/>
                </a:lnTo>
                <a:lnTo>
                  <a:pt x="439699" y="119379"/>
                </a:lnTo>
                <a:lnTo>
                  <a:pt x="441731" y="127000"/>
                </a:lnTo>
                <a:lnTo>
                  <a:pt x="443204" y="134620"/>
                </a:lnTo>
                <a:lnTo>
                  <a:pt x="443395" y="135889"/>
                </a:lnTo>
                <a:lnTo>
                  <a:pt x="430669" y="135889"/>
                </a:lnTo>
                <a:lnTo>
                  <a:pt x="430720" y="137160"/>
                </a:lnTo>
                <a:close/>
              </a:path>
              <a:path w="444500" h="300989">
                <a:moveTo>
                  <a:pt x="13627" y="137160"/>
                </a:moveTo>
                <a:lnTo>
                  <a:pt x="13690" y="135889"/>
                </a:lnTo>
                <a:lnTo>
                  <a:pt x="13857" y="135889"/>
                </a:lnTo>
                <a:lnTo>
                  <a:pt x="13627" y="137160"/>
                </a:lnTo>
                <a:close/>
              </a:path>
              <a:path w="444500" h="300989">
                <a:moveTo>
                  <a:pt x="443776" y="161289"/>
                </a:moveTo>
                <a:lnTo>
                  <a:pt x="431126" y="161289"/>
                </a:lnTo>
                <a:lnTo>
                  <a:pt x="431482" y="157479"/>
                </a:lnTo>
                <a:lnTo>
                  <a:pt x="431673" y="153670"/>
                </a:lnTo>
                <a:lnTo>
                  <a:pt x="431660" y="146050"/>
                </a:lnTo>
                <a:lnTo>
                  <a:pt x="431457" y="143510"/>
                </a:lnTo>
                <a:lnTo>
                  <a:pt x="431363" y="142239"/>
                </a:lnTo>
                <a:lnTo>
                  <a:pt x="431126" y="139700"/>
                </a:lnTo>
                <a:lnTo>
                  <a:pt x="430669" y="135889"/>
                </a:lnTo>
                <a:lnTo>
                  <a:pt x="443395" y="135889"/>
                </a:lnTo>
                <a:lnTo>
                  <a:pt x="443776" y="138429"/>
                </a:lnTo>
                <a:lnTo>
                  <a:pt x="444144" y="142239"/>
                </a:lnTo>
                <a:lnTo>
                  <a:pt x="444360" y="146050"/>
                </a:lnTo>
                <a:lnTo>
                  <a:pt x="444347" y="153670"/>
                </a:lnTo>
                <a:lnTo>
                  <a:pt x="444119" y="158750"/>
                </a:lnTo>
                <a:lnTo>
                  <a:pt x="443776" y="161289"/>
                </a:lnTo>
                <a:close/>
              </a:path>
              <a:path w="444500" h="300989">
                <a:moveTo>
                  <a:pt x="12687" y="147320"/>
                </a:moveTo>
                <a:lnTo>
                  <a:pt x="12700" y="146050"/>
                </a:lnTo>
                <a:lnTo>
                  <a:pt x="12687" y="147320"/>
                </a:lnTo>
                <a:close/>
              </a:path>
              <a:path w="444500" h="300989">
                <a:moveTo>
                  <a:pt x="431673" y="147320"/>
                </a:moveTo>
                <a:lnTo>
                  <a:pt x="431601" y="146050"/>
                </a:lnTo>
                <a:lnTo>
                  <a:pt x="431673" y="147320"/>
                </a:lnTo>
                <a:close/>
              </a:path>
              <a:path w="444500" h="300989">
                <a:moveTo>
                  <a:pt x="13368" y="161289"/>
                </a:moveTo>
                <a:lnTo>
                  <a:pt x="13233" y="161289"/>
                </a:lnTo>
                <a:lnTo>
                  <a:pt x="13208" y="160020"/>
                </a:lnTo>
                <a:lnTo>
                  <a:pt x="13368" y="161289"/>
                </a:lnTo>
                <a:close/>
              </a:path>
              <a:path w="444500" h="300989">
                <a:moveTo>
                  <a:pt x="442107" y="171450"/>
                </a:moveTo>
                <a:lnTo>
                  <a:pt x="429348" y="171450"/>
                </a:lnTo>
                <a:lnTo>
                  <a:pt x="430720" y="163829"/>
                </a:lnTo>
                <a:lnTo>
                  <a:pt x="431152" y="160020"/>
                </a:lnTo>
                <a:lnTo>
                  <a:pt x="431126" y="161289"/>
                </a:lnTo>
                <a:lnTo>
                  <a:pt x="443776" y="161289"/>
                </a:lnTo>
                <a:lnTo>
                  <a:pt x="443204" y="166370"/>
                </a:lnTo>
                <a:lnTo>
                  <a:pt x="442107" y="171450"/>
                </a:lnTo>
                <a:close/>
              </a:path>
              <a:path w="444500" h="300989">
                <a:moveTo>
                  <a:pt x="15214" y="171450"/>
                </a:moveTo>
                <a:lnTo>
                  <a:pt x="15011" y="171450"/>
                </a:lnTo>
                <a:lnTo>
                  <a:pt x="14897" y="170179"/>
                </a:lnTo>
                <a:lnTo>
                  <a:pt x="15214" y="171450"/>
                </a:lnTo>
                <a:close/>
              </a:path>
              <a:path w="444500" h="300989">
                <a:moveTo>
                  <a:pt x="408482" y="232410"/>
                </a:moveTo>
                <a:lnTo>
                  <a:pt x="390829" y="232410"/>
                </a:lnTo>
                <a:lnTo>
                  <a:pt x="396849" y="226060"/>
                </a:lnTo>
                <a:lnTo>
                  <a:pt x="396621" y="226060"/>
                </a:lnTo>
                <a:lnTo>
                  <a:pt x="402234" y="220979"/>
                </a:lnTo>
                <a:lnTo>
                  <a:pt x="402005" y="220979"/>
                </a:lnTo>
                <a:lnTo>
                  <a:pt x="407200" y="214629"/>
                </a:lnTo>
                <a:lnTo>
                  <a:pt x="406984" y="214629"/>
                </a:lnTo>
                <a:lnTo>
                  <a:pt x="411746" y="209550"/>
                </a:lnTo>
                <a:lnTo>
                  <a:pt x="411530" y="209550"/>
                </a:lnTo>
                <a:lnTo>
                  <a:pt x="415848" y="203200"/>
                </a:lnTo>
                <a:lnTo>
                  <a:pt x="415645" y="203200"/>
                </a:lnTo>
                <a:lnTo>
                  <a:pt x="419506" y="196850"/>
                </a:lnTo>
                <a:lnTo>
                  <a:pt x="419315" y="196850"/>
                </a:lnTo>
                <a:lnTo>
                  <a:pt x="422706" y="190500"/>
                </a:lnTo>
                <a:lnTo>
                  <a:pt x="422528" y="190500"/>
                </a:lnTo>
                <a:lnTo>
                  <a:pt x="425437" y="184150"/>
                </a:lnTo>
                <a:lnTo>
                  <a:pt x="425284" y="184150"/>
                </a:lnTo>
                <a:lnTo>
                  <a:pt x="427685" y="177800"/>
                </a:lnTo>
                <a:lnTo>
                  <a:pt x="429450" y="170179"/>
                </a:lnTo>
                <a:lnTo>
                  <a:pt x="429348" y="171450"/>
                </a:lnTo>
                <a:lnTo>
                  <a:pt x="442107" y="171450"/>
                </a:lnTo>
                <a:lnTo>
                  <a:pt x="441833" y="172720"/>
                </a:lnTo>
                <a:lnTo>
                  <a:pt x="441731" y="173989"/>
                </a:lnTo>
                <a:lnTo>
                  <a:pt x="439699" y="181610"/>
                </a:lnTo>
                <a:lnTo>
                  <a:pt x="437286" y="187960"/>
                </a:lnTo>
                <a:lnTo>
                  <a:pt x="434213" y="195579"/>
                </a:lnTo>
                <a:lnTo>
                  <a:pt x="430453" y="203200"/>
                </a:lnTo>
                <a:lnTo>
                  <a:pt x="426377" y="209550"/>
                </a:lnTo>
                <a:lnTo>
                  <a:pt x="421830" y="217170"/>
                </a:lnTo>
                <a:lnTo>
                  <a:pt x="416839" y="223520"/>
                </a:lnTo>
                <a:lnTo>
                  <a:pt x="411403" y="229870"/>
                </a:lnTo>
                <a:lnTo>
                  <a:pt x="408482" y="232410"/>
                </a:lnTo>
                <a:close/>
              </a:path>
              <a:path w="444500" h="300989">
                <a:moveTo>
                  <a:pt x="54571" y="232410"/>
                </a:moveTo>
                <a:lnTo>
                  <a:pt x="53517" y="232410"/>
                </a:lnTo>
                <a:lnTo>
                  <a:pt x="53289" y="231139"/>
                </a:lnTo>
                <a:lnTo>
                  <a:pt x="54571" y="232410"/>
                </a:lnTo>
                <a:close/>
              </a:path>
              <a:path w="444500" h="300989">
                <a:moveTo>
                  <a:pt x="392658" y="247650"/>
                </a:moveTo>
                <a:lnTo>
                  <a:pt x="371195" y="247650"/>
                </a:lnTo>
                <a:lnTo>
                  <a:pt x="378345" y="242570"/>
                </a:lnTo>
                <a:lnTo>
                  <a:pt x="378104" y="242570"/>
                </a:lnTo>
                <a:lnTo>
                  <a:pt x="384898" y="237489"/>
                </a:lnTo>
                <a:lnTo>
                  <a:pt x="384657" y="237489"/>
                </a:lnTo>
                <a:lnTo>
                  <a:pt x="391071" y="231139"/>
                </a:lnTo>
                <a:lnTo>
                  <a:pt x="390829" y="232410"/>
                </a:lnTo>
                <a:lnTo>
                  <a:pt x="408482" y="232410"/>
                </a:lnTo>
                <a:lnTo>
                  <a:pt x="405561" y="234950"/>
                </a:lnTo>
                <a:lnTo>
                  <a:pt x="399541" y="241300"/>
                </a:lnTo>
                <a:lnTo>
                  <a:pt x="392658" y="247650"/>
                </a:lnTo>
                <a:close/>
              </a:path>
              <a:path w="444500" h="300989">
                <a:moveTo>
                  <a:pt x="74809" y="247650"/>
                </a:moveTo>
                <a:lnTo>
                  <a:pt x="73164" y="247650"/>
                </a:lnTo>
                <a:lnTo>
                  <a:pt x="72936" y="246379"/>
                </a:lnTo>
                <a:lnTo>
                  <a:pt x="74809" y="247650"/>
                </a:lnTo>
                <a:close/>
              </a:path>
              <a:path w="444500" h="300989">
                <a:moveTo>
                  <a:pt x="323972" y="284479"/>
                </a:moveTo>
                <a:lnTo>
                  <a:pt x="274955" y="284479"/>
                </a:lnTo>
                <a:lnTo>
                  <a:pt x="285191" y="281939"/>
                </a:lnTo>
                <a:lnTo>
                  <a:pt x="284975" y="281939"/>
                </a:lnTo>
                <a:lnTo>
                  <a:pt x="295008" y="279400"/>
                </a:lnTo>
                <a:lnTo>
                  <a:pt x="294792" y="279400"/>
                </a:lnTo>
                <a:lnTo>
                  <a:pt x="304596" y="276860"/>
                </a:lnTo>
                <a:lnTo>
                  <a:pt x="304380" y="276860"/>
                </a:lnTo>
                <a:lnTo>
                  <a:pt x="313944" y="274320"/>
                </a:lnTo>
                <a:lnTo>
                  <a:pt x="313728" y="274320"/>
                </a:lnTo>
                <a:lnTo>
                  <a:pt x="323037" y="271779"/>
                </a:lnTo>
                <a:lnTo>
                  <a:pt x="322808" y="271779"/>
                </a:lnTo>
                <a:lnTo>
                  <a:pt x="331850" y="267970"/>
                </a:lnTo>
                <a:lnTo>
                  <a:pt x="331622" y="267970"/>
                </a:lnTo>
                <a:lnTo>
                  <a:pt x="340385" y="264160"/>
                </a:lnTo>
                <a:lnTo>
                  <a:pt x="340156" y="264160"/>
                </a:lnTo>
                <a:lnTo>
                  <a:pt x="348627" y="260350"/>
                </a:lnTo>
                <a:lnTo>
                  <a:pt x="348399" y="260350"/>
                </a:lnTo>
                <a:lnTo>
                  <a:pt x="356552" y="256539"/>
                </a:lnTo>
                <a:lnTo>
                  <a:pt x="356323" y="256539"/>
                </a:lnTo>
                <a:lnTo>
                  <a:pt x="364159" y="251460"/>
                </a:lnTo>
                <a:lnTo>
                  <a:pt x="363931" y="251460"/>
                </a:lnTo>
                <a:lnTo>
                  <a:pt x="371424" y="246379"/>
                </a:lnTo>
                <a:lnTo>
                  <a:pt x="371195" y="247650"/>
                </a:lnTo>
                <a:lnTo>
                  <a:pt x="392658" y="247650"/>
                </a:lnTo>
                <a:lnTo>
                  <a:pt x="385876" y="252729"/>
                </a:lnTo>
                <a:lnTo>
                  <a:pt x="370535" y="262889"/>
                </a:lnTo>
                <a:lnTo>
                  <a:pt x="362470" y="266700"/>
                </a:lnTo>
                <a:lnTo>
                  <a:pt x="354088" y="271779"/>
                </a:lnTo>
                <a:lnTo>
                  <a:pt x="345389" y="275589"/>
                </a:lnTo>
                <a:lnTo>
                  <a:pt x="336410" y="279400"/>
                </a:lnTo>
                <a:lnTo>
                  <a:pt x="327151" y="283210"/>
                </a:lnTo>
                <a:lnTo>
                  <a:pt x="323972" y="284479"/>
                </a:lnTo>
                <a:close/>
              </a:path>
              <a:path w="444500" h="300989">
                <a:moveTo>
                  <a:pt x="174415" y="284479"/>
                </a:moveTo>
                <a:lnTo>
                  <a:pt x="169405" y="284479"/>
                </a:lnTo>
                <a:lnTo>
                  <a:pt x="169189" y="283210"/>
                </a:lnTo>
                <a:lnTo>
                  <a:pt x="174415" y="284479"/>
                </a:lnTo>
                <a:close/>
              </a:path>
              <a:path w="444500" h="300989">
                <a:moveTo>
                  <a:pt x="312832" y="288289"/>
                </a:moveTo>
                <a:lnTo>
                  <a:pt x="232968" y="288289"/>
                </a:lnTo>
                <a:lnTo>
                  <a:pt x="243928" y="287020"/>
                </a:lnTo>
                <a:lnTo>
                  <a:pt x="254304" y="287020"/>
                </a:lnTo>
                <a:lnTo>
                  <a:pt x="264934" y="285750"/>
                </a:lnTo>
                <a:lnTo>
                  <a:pt x="264718" y="285750"/>
                </a:lnTo>
                <a:lnTo>
                  <a:pt x="275170" y="283210"/>
                </a:lnTo>
                <a:lnTo>
                  <a:pt x="274955" y="284479"/>
                </a:lnTo>
                <a:lnTo>
                  <a:pt x="323972" y="284479"/>
                </a:lnTo>
                <a:lnTo>
                  <a:pt x="317614" y="287020"/>
                </a:lnTo>
                <a:lnTo>
                  <a:pt x="312832" y="288289"/>
                </a:lnTo>
                <a:close/>
              </a:path>
              <a:path w="444500" h="300989">
                <a:moveTo>
                  <a:pt x="233400" y="300989"/>
                </a:moveTo>
                <a:lnTo>
                  <a:pt x="210743" y="300989"/>
                </a:lnTo>
                <a:lnTo>
                  <a:pt x="199567" y="299720"/>
                </a:lnTo>
                <a:lnTo>
                  <a:pt x="244576" y="299720"/>
                </a:lnTo>
                <a:lnTo>
                  <a:pt x="233400" y="300989"/>
                </a:lnTo>
                <a:close/>
              </a:path>
            </a:pathLst>
          </a:custGeom>
          <a:solidFill>
            <a:srgbClr val="006C39"/>
          </a:solidFill>
        </p:spPr>
        <p:txBody>
          <a:bodyPr wrap="square" lIns="0" tIns="0" rIns="0" bIns="0" rtlCol="0"/>
          <a:lstStyle/>
          <a:p>
            <a:endParaRPr/>
          </a:p>
        </p:txBody>
      </p:sp>
      <p:sp>
        <p:nvSpPr>
          <p:cNvPr id="64" name="object 64"/>
          <p:cNvSpPr/>
          <p:nvPr/>
        </p:nvSpPr>
        <p:spPr>
          <a:xfrm>
            <a:off x="4060825" y="3062604"/>
            <a:ext cx="804646" cy="516127"/>
          </a:xfrm>
          <a:prstGeom prst="rect">
            <a:avLst/>
          </a:prstGeom>
          <a:blipFill>
            <a:blip r:embed="rId11" cstate="print"/>
            <a:stretch>
              <a:fillRect/>
            </a:stretch>
          </a:blipFill>
        </p:spPr>
        <p:txBody>
          <a:bodyPr wrap="square" lIns="0" tIns="0" rIns="0" bIns="0" rtlCol="0"/>
          <a:lstStyle/>
          <a:p>
            <a:endParaRPr/>
          </a:p>
        </p:txBody>
      </p:sp>
      <p:sp>
        <p:nvSpPr>
          <p:cNvPr id="65" name="object 65"/>
          <p:cNvSpPr txBox="1"/>
          <p:nvPr/>
        </p:nvSpPr>
        <p:spPr>
          <a:xfrm>
            <a:off x="3418763" y="4179709"/>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66" name="object 66"/>
          <p:cNvSpPr txBox="1"/>
          <p:nvPr/>
        </p:nvSpPr>
        <p:spPr>
          <a:xfrm>
            <a:off x="4498873" y="3100476"/>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byte</a:t>
            </a:r>
            <a:endParaRPr sz="1200">
              <a:latin typeface="Times New Roman"/>
              <a:cs typeface="Times New Roman"/>
            </a:endParaRPr>
          </a:p>
        </p:txBody>
      </p:sp>
      <p:sp>
        <p:nvSpPr>
          <p:cNvPr id="67" name="object 67"/>
          <p:cNvSpPr/>
          <p:nvPr/>
        </p:nvSpPr>
        <p:spPr>
          <a:xfrm>
            <a:off x="2051304" y="4847844"/>
            <a:ext cx="2318004" cy="312420"/>
          </a:xfrm>
          <a:prstGeom prst="rect">
            <a:avLst/>
          </a:prstGeom>
          <a:blipFill>
            <a:blip r:embed="rId12" cstate="print"/>
            <a:stretch>
              <a:fillRect/>
            </a:stretch>
          </a:blipFill>
        </p:spPr>
        <p:txBody>
          <a:bodyPr wrap="square" lIns="0" tIns="0" rIns="0" bIns="0" rtlCol="0"/>
          <a:lstStyle/>
          <a:p>
            <a:endParaRPr/>
          </a:p>
        </p:txBody>
      </p:sp>
      <p:sp>
        <p:nvSpPr>
          <p:cNvPr id="68" name="object 68"/>
          <p:cNvSpPr/>
          <p:nvPr/>
        </p:nvSpPr>
        <p:spPr>
          <a:xfrm>
            <a:off x="2047062" y="4843424"/>
            <a:ext cx="2326640" cy="321310"/>
          </a:xfrm>
          <a:custGeom>
            <a:avLst/>
            <a:gdLst/>
            <a:ahLst/>
            <a:cxnLst/>
            <a:rect l="l" t="t" r="r" b="b"/>
            <a:pathLst>
              <a:path w="2326640" h="321310">
                <a:moveTo>
                  <a:pt x="2326322" y="321310"/>
                </a:moveTo>
                <a:lnTo>
                  <a:pt x="0" y="321310"/>
                </a:lnTo>
                <a:lnTo>
                  <a:pt x="0" y="0"/>
                </a:lnTo>
                <a:lnTo>
                  <a:pt x="2326322" y="0"/>
                </a:lnTo>
                <a:lnTo>
                  <a:pt x="2326322" y="3810"/>
                </a:lnTo>
                <a:lnTo>
                  <a:pt x="7619" y="3810"/>
                </a:lnTo>
                <a:lnTo>
                  <a:pt x="3809" y="7619"/>
                </a:lnTo>
                <a:lnTo>
                  <a:pt x="7619" y="7619"/>
                </a:lnTo>
                <a:lnTo>
                  <a:pt x="7619" y="313689"/>
                </a:lnTo>
                <a:lnTo>
                  <a:pt x="3809" y="313689"/>
                </a:lnTo>
                <a:lnTo>
                  <a:pt x="7619" y="317500"/>
                </a:lnTo>
                <a:lnTo>
                  <a:pt x="2326322" y="317500"/>
                </a:lnTo>
                <a:lnTo>
                  <a:pt x="2326322" y="321310"/>
                </a:lnTo>
                <a:close/>
              </a:path>
              <a:path w="2326640" h="321310">
                <a:moveTo>
                  <a:pt x="7619" y="7619"/>
                </a:moveTo>
                <a:lnTo>
                  <a:pt x="3809" y="7619"/>
                </a:lnTo>
                <a:lnTo>
                  <a:pt x="7619" y="3810"/>
                </a:lnTo>
                <a:lnTo>
                  <a:pt x="7619" y="7619"/>
                </a:lnTo>
                <a:close/>
              </a:path>
              <a:path w="2326640" h="321310">
                <a:moveTo>
                  <a:pt x="2318702" y="7619"/>
                </a:moveTo>
                <a:lnTo>
                  <a:pt x="7619" y="7619"/>
                </a:lnTo>
                <a:lnTo>
                  <a:pt x="7619" y="3810"/>
                </a:lnTo>
                <a:lnTo>
                  <a:pt x="2318702" y="3810"/>
                </a:lnTo>
                <a:lnTo>
                  <a:pt x="2318702" y="7619"/>
                </a:lnTo>
                <a:close/>
              </a:path>
              <a:path w="2326640" h="321310">
                <a:moveTo>
                  <a:pt x="2318702" y="317500"/>
                </a:moveTo>
                <a:lnTo>
                  <a:pt x="2318702" y="3810"/>
                </a:lnTo>
                <a:lnTo>
                  <a:pt x="2322512" y="7619"/>
                </a:lnTo>
                <a:lnTo>
                  <a:pt x="2326322" y="7619"/>
                </a:lnTo>
                <a:lnTo>
                  <a:pt x="2326322" y="313689"/>
                </a:lnTo>
                <a:lnTo>
                  <a:pt x="2322512" y="313689"/>
                </a:lnTo>
                <a:lnTo>
                  <a:pt x="2318702" y="317500"/>
                </a:lnTo>
                <a:close/>
              </a:path>
              <a:path w="2326640" h="321310">
                <a:moveTo>
                  <a:pt x="2326322" y="7619"/>
                </a:moveTo>
                <a:lnTo>
                  <a:pt x="2322512" y="7619"/>
                </a:lnTo>
                <a:lnTo>
                  <a:pt x="2318702" y="3810"/>
                </a:lnTo>
                <a:lnTo>
                  <a:pt x="2326322" y="3810"/>
                </a:lnTo>
                <a:lnTo>
                  <a:pt x="2326322" y="7619"/>
                </a:lnTo>
                <a:close/>
              </a:path>
              <a:path w="2326640" h="321310">
                <a:moveTo>
                  <a:pt x="7619" y="317500"/>
                </a:moveTo>
                <a:lnTo>
                  <a:pt x="3809" y="313689"/>
                </a:lnTo>
                <a:lnTo>
                  <a:pt x="7619" y="313689"/>
                </a:lnTo>
                <a:lnTo>
                  <a:pt x="7619" y="317500"/>
                </a:lnTo>
                <a:close/>
              </a:path>
              <a:path w="2326640" h="321310">
                <a:moveTo>
                  <a:pt x="2318702" y="317500"/>
                </a:moveTo>
                <a:lnTo>
                  <a:pt x="7619" y="317500"/>
                </a:lnTo>
                <a:lnTo>
                  <a:pt x="7619" y="313689"/>
                </a:lnTo>
                <a:lnTo>
                  <a:pt x="2318702" y="313689"/>
                </a:lnTo>
                <a:lnTo>
                  <a:pt x="2318702" y="317500"/>
                </a:lnTo>
                <a:close/>
              </a:path>
              <a:path w="2326640" h="321310">
                <a:moveTo>
                  <a:pt x="2326322" y="317500"/>
                </a:moveTo>
                <a:lnTo>
                  <a:pt x="2318702" y="317500"/>
                </a:lnTo>
                <a:lnTo>
                  <a:pt x="2322512" y="313689"/>
                </a:lnTo>
                <a:lnTo>
                  <a:pt x="2326322" y="313689"/>
                </a:lnTo>
                <a:lnTo>
                  <a:pt x="2326322" y="317500"/>
                </a:lnTo>
                <a:close/>
              </a:path>
            </a:pathLst>
          </a:custGeom>
          <a:solidFill>
            <a:srgbClr val="A1A1A1"/>
          </a:solidFill>
        </p:spPr>
        <p:txBody>
          <a:bodyPr wrap="square" lIns="0" tIns="0" rIns="0" bIns="0" rtlCol="0"/>
          <a:lstStyle/>
          <a:p>
            <a:endParaRPr/>
          </a:p>
        </p:txBody>
      </p:sp>
      <p:sp>
        <p:nvSpPr>
          <p:cNvPr id="69" name="object 69"/>
          <p:cNvSpPr txBox="1"/>
          <p:nvPr/>
        </p:nvSpPr>
        <p:spPr>
          <a:xfrm>
            <a:off x="2051304" y="4849139"/>
            <a:ext cx="2318385" cy="268605"/>
          </a:xfrm>
          <a:prstGeom prst="rect">
            <a:avLst/>
          </a:prstGeom>
        </p:spPr>
        <p:txBody>
          <a:bodyPr vert="horz" wrap="square" lIns="0" tIns="12065" rIns="0" bIns="0" rtlCol="0">
            <a:spAutoFit/>
          </a:bodyPr>
          <a:lstStyle/>
          <a:p>
            <a:pPr marL="699135">
              <a:lnSpc>
                <a:spcPct val="100000"/>
              </a:lnSpc>
              <a:spcBef>
                <a:spcPts val="95"/>
              </a:spcBef>
            </a:pPr>
            <a:r>
              <a:rPr sz="1600" spc="-10" dirty="0">
                <a:latin typeface="Times New Roman"/>
                <a:cs typeface="Times New Roman"/>
              </a:rPr>
              <a:t>PrintWriter</a:t>
            </a:r>
            <a:endParaRPr sz="1600">
              <a:latin typeface="Times New Roman"/>
              <a:cs typeface="Times New Roman"/>
            </a:endParaRPr>
          </a:p>
        </p:txBody>
      </p:sp>
      <p:sp>
        <p:nvSpPr>
          <p:cNvPr id="70" name="object 70"/>
          <p:cNvSpPr/>
          <p:nvPr/>
        </p:nvSpPr>
        <p:spPr>
          <a:xfrm>
            <a:off x="4369536" y="4724628"/>
            <a:ext cx="1208709" cy="326694"/>
          </a:xfrm>
          <a:prstGeom prst="rect">
            <a:avLst/>
          </a:prstGeom>
          <a:blipFill>
            <a:blip r:embed="rId13" cstate="print"/>
            <a:stretch>
              <a:fillRect/>
            </a:stretch>
          </a:blipFill>
        </p:spPr>
        <p:txBody>
          <a:bodyPr wrap="square" lIns="0" tIns="0" rIns="0" bIns="0" rtlCol="0"/>
          <a:lstStyle/>
          <a:p>
            <a:endParaRPr/>
          </a:p>
        </p:txBody>
      </p:sp>
      <p:sp>
        <p:nvSpPr>
          <p:cNvPr id="71" name="object 71"/>
          <p:cNvSpPr txBox="1"/>
          <p:nvPr/>
        </p:nvSpPr>
        <p:spPr>
          <a:xfrm>
            <a:off x="5002682" y="4762487"/>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72" name="object 72"/>
          <p:cNvSpPr txBox="1"/>
          <p:nvPr/>
        </p:nvSpPr>
        <p:spPr>
          <a:xfrm>
            <a:off x="4569790" y="4762487"/>
            <a:ext cx="2882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char</a:t>
            </a:r>
            <a:endParaRPr sz="1200">
              <a:latin typeface="Times New Roman"/>
              <a:cs typeface="Times New Roman"/>
            </a:endParaRPr>
          </a:p>
        </p:txBody>
      </p:sp>
      <p:sp>
        <p:nvSpPr>
          <p:cNvPr id="73" name="object 73"/>
          <p:cNvSpPr txBox="1"/>
          <p:nvPr/>
        </p:nvSpPr>
        <p:spPr>
          <a:xfrm>
            <a:off x="2560307" y="5158130"/>
            <a:ext cx="1517015"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Times New Roman"/>
                <a:cs typeface="Times New Roman"/>
              </a:rPr>
              <a:t>print()</a:t>
            </a:r>
            <a:r>
              <a:rPr sz="1400" spc="300" dirty="0">
                <a:latin typeface="Times New Roman"/>
                <a:cs typeface="Times New Roman"/>
              </a:rPr>
              <a:t> </a:t>
            </a:r>
            <a:r>
              <a:rPr sz="1400" spc="-5" dirty="0">
                <a:latin typeface="Times New Roman"/>
                <a:cs typeface="Times New Roman"/>
              </a:rPr>
              <a:t>println()……</a:t>
            </a:r>
            <a:endParaRPr sz="1400">
              <a:latin typeface="Times New Roman"/>
              <a:cs typeface="Times New Roman"/>
            </a:endParaRPr>
          </a:p>
        </p:txBody>
      </p:sp>
      <p:sp>
        <p:nvSpPr>
          <p:cNvPr id="74" name="object 74"/>
          <p:cNvSpPr/>
          <p:nvPr/>
        </p:nvSpPr>
        <p:spPr>
          <a:xfrm>
            <a:off x="1252791" y="2441613"/>
            <a:ext cx="517525" cy="300990"/>
          </a:xfrm>
          <a:custGeom>
            <a:avLst/>
            <a:gdLst/>
            <a:ahLst/>
            <a:cxnLst/>
            <a:rect l="l" t="t" r="r" b="b"/>
            <a:pathLst>
              <a:path w="517525" h="300989">
                <a:moveTo>
                  <a:pt x="31330" y="203200"/>
                </a:moveTo>
                <a:lnTo>
                  <a:pt x="16116" y="203200"/>
                </a:lnTo>
                <a:lnTo>
                  <a:pt x="11925" y="195580"/>
                </a:lnTo>
                <a:lnTo>
                  <a:pt x="266" y="157480"/>
                </a:lnTo>
                <a:lnTo>
                  <a:pt x="0" y="146050"/>
                </a:lnTo>
                <a:lnTo>
                  <a:pt x="292" y="142239"/>
                </a:lnTo>
                <a:lnTo>
                  <a:pt x="11925" y="104139"/>
                </a:lnTo>
                <a:lnTo>
                  <a:pt x="38582" y="71119"/>
                </a:lnTo>
                <a:lnTo>
                  <a:pt x="45389" y="64769"/>
                </a:lnTo>
                <a:lnTo>
                  <a:pt x="52679" y="58419"/>
                </a:lnTo>
                <a:lnTo>
                  <a:pt x="60413" y="53339"/>
                </a:lnTo>
                <a:lnTo>
                  <a:pt x="68567" y="46989"/>
                </a:lnTo>
                <a:lnTo>
                  <a:pt x="77152" y="41910"/>
                </a:lnTo>
                <a:lnTo>
                  <a:pt x="86144" y="38100"/>
                </a:lnTo>
                <a:lnTo>
                  <a:pt x="95516" y="33019"/>
                </a:lnTo>
                <a:lnTo>
                  <a:pt x="136575" y="16510"/>
                </a:lnTo>
                <a:lnTo>
                  <a:pt x="159029" y="11430"/>
                </a:lnTo>
                <a:lnTo>
                  <a:pt x="170687" y="7619"/>
                </a:lnTo>
                <a:lnTo>
                  <a:pt x="182600" y="6350"/>
                </a:lnTo>
                <a:lnTo>
                  <a:pt x="194767" y="3810"/>
                </a:lnTo>
                <a:lnTo>
                  <a:pt x="232600" y="0"/>
                </a:lnTo>
                <a:lnTo>
                  <a:pt x="284949" y="0"/>
                </a:lnTo>
                <a:lnTo>
                  <a:pt x="322783" y="3810"/>
                </a:lnTo>
                <a:lnTo>
                  <a:pt x="358521" y="11430"/>
                </a:lnTo>
                <a:lnTo>
                  <a:pt x="364137" y="12700"/>
                </a:lnTo>
                <a:lnTo>
                  <a:pt x="233337" y="12700"/>
                </a:lnTo>
                <a:lnTo>
                  <a:pt x="220700" y="13969"/>
                </a:lnTo>
                <a:lnTo>
                  <a:pt x="220891" y="13969"/>
                </a:lnTo>
                <a:lnTo>
                  <a:pt x="208457" y="15239"/>
                </a:lnTo>
                <a:lnTo>
                  <a:pt x="208648" y="15239"/>
                </a:lnTo>
                <a:lnTo>
                  <a:pt x="196430" y="16510"/>
                </a:lnTo>
                <a:lnTo>
                  <a:pt x="196621" y="16510"/>
                </a:lnTo>
                <a:lnTo>
                  <a:pt x="184645" y="19050"/>
                </a:lnTo>
                <a:lnTo>
                  <a:pt x="184835" y="19050"/>
                </a:lnTo>
                <a:lnTo>
                  <a:pt x="173101" y="20319"/>
                </a:lnTo>
                <a:lnTo>
                  <a:pt x="173291" y="20319"/>
                </a:lnTo>
                <a:lnTo>
                  <a:pt x="161823" y="22860"/>
                </a:lnTo>
                <a:lnTo>
                  <a:pt x="162026" y="22860"/>
                </a:lnTo>
                <a:lnTo>
                  <a:pt x="150837" y="26669"/>
                </a:lnTo>
                <a:lnTo>
                  <a:pt x="151041" y="26669"/>
                </a:lnTo>
                <a:lnTo>
                  <a:pt x="140157" y="29210"/>
                </a:lnTo>
                <a:lnTo>
                  <a:pt x="140347" y="29210"/>
                </a:lnTo>
                <a:lnTo>
                  <a:pt x="129781" y="33019"/>
                </a:lnTo>
                <a:lnTo>
                  <a:pt x="129984" y="33019"/>
                </a:lnTo>
                <a:lnTo>
                  <a:pt x="119748" y="36830"/>
                </a:lnTo>
                <a:lnTo>
                  <a:pt x="119951" y="36830"/>
                </a:lnTo>
                <a:lnTo>
                  <a:pt x="110058" y="40639"/>
                </a:lnTo>
                <a:lnTo>
                  <a:pt x="110261" y="40639"/>
                </a:lnTo>
                <a:lnTo>
                  <a:pt x="100723" y="44450"/>
                </a:lnTo>
                <a:lnTo>
                  <a:pt x="100939" y="44450"/>
                </a:lnTo>
                <a:lnTo>
                  <a:pt x="94072" y="48260"/>
                </a:lnTo>
                <a:lnTo>
                  <a:pt x="92011" y="48260"/>
                </a:lnTo>
                <a:lnTo>
                  <a:pt x="83235" y="53339"/>
                </a:lnTo>
                <a:lnTo>
                  <a:pt x="83464" y="53339"/>
                </a:lnTo>
                <a:lnTo>
                  <a:pt x="75107" y="58419"/>
                </a:lnTo>
                <a:lnTo>
                  <a:pt x="75336" y="58419"/>
                </a:lnTo>
                <a:lnTo>
                  <a:pt x="67411" y="63500"/>
                </a:lnTo>
                <a:lnTo>
                  <a:pt x="67640" y="63500"/>
                </a:lnTo>
                <a:lnTo>
                  <a:pt x="60147" y="68580"/>
                </a:lnTo>
                <a:lnTo>
                  <a:pt x="60401" y="68580"/>
                </a:lnTo>
                <a:lnTo>
                  <a:pt x="54762" y="73660"/>
                </a:lnTo>
                <a:lnTo>
                  <a:pt x="53606" y="73660"/>
                </a:lnTo>
                <a:lnTo>
                  <a:pt x="47040" y="80010"/>
                </a:lnTo>
                <a:lnTo>
                  <a:pt x="47294" y="80010"/>
                </a:lnTo>
                <a:lnTo>
                  <a:pt x="42428" y="85089"/>
                </a:lnTo>
                <a:lnTo>
                  <a:pt x="41465" y="85089"/>
                </a:lnTo>
                <a:lnTo>
                  <a:pt x="35890" y="91439"/>
                </a:lnTo>
                <a:lnTo>
                  <a:pt x="36144" y="91439"/>
                </a:lnTo>
                <a:lnTo>
                  <a:pt x="31089" y="97789"/>
                </a:lnTo>
                <a:lnTo>
                  <a:pt x="31330" y="97789"/>
                </a:lnTo>
                <a:lnTo>
                  <a:pt x="26809" y="104139"/>
                </a:lnTo>
                <a:lnTo>
                  <a:pt x="27051" y="104139"/>
                </a:lnTo>
                <a:lnTo>
                  <a:pt x="23088" y="110489"/>
                </a:lnTo>
                <a:lnTo>
                  <a:pt x="23304" y="110489"/>
                </a:lnTo>
                <a:lnTo>
                  <a:pt x="19900" y="116839"/>
                </a:lnTo>
                <a:lnTo>
                  <a:pt x="20104" y="116839"/>
                </a:lnTo>
                <a:lnTo>
                  <a:pt x="17284" y="123189"/>
                </a:lnTo>
                <a:lnTo>
                  <a:pt x="17424" y="123189"/>
                </a:lnTo>
                <a:lnTo>
                  <a:pt x="16230" y="127000"/>
                </a:lnTo>
                <a:lnTo>
                  <a:pt x="15278" y="129539"/>
                </a:lnTo>
                <a:lnTo>
                  <a:pt x="14465" y="133350"/>
                </a:lnTo>
                <a:lnTo>
                  <a:pt x="14046" y="135889"/>
                </a:lnTo>
                <a:lnTo>
                  <a:pt x="13843" y="135889"/>
                </a:lnTo>
                <a:lnTo>
                  <a:pt x="13284" y="139700"/>
                </a:lnTo>
                <a:lnTo>
                  <a:pt x="12903" y="143510"/>
                </a:lnTo>
                <a:lnTo>
                  <a:pt x="12767" y="146050"/>
                </a:lnTo>
                <a:lnTo>
                  <a:pt x="12687" y="153669"/>
                </a:lnTo>
                <a:lnTo>
                  <a:pt x="12928" y="157480"/>
                </a:lnTo>
                <a:lnTo>
                  <a:pt x="13322" y="160019"/>
                </a:lnTo>
                <a:lnTo>
                  <a:pt x="13843" y="163830"/>
                </a:lnTo>
                <a:lnTo>
                  <a:pt x="14528" y="167639"/>
                </a:lnTo>
                <a:lnTo>
                  <a:pt x="15341" y="170180"/>
                </a:lnTo>
                <a:lnTo>
                  <a:pt x="16306" y="173989"/>
                </a:lnTo>
                <a:lnTo>
                  <a:pt x="17424" y="177800"/>
                </a:lnTo>
                <a:lnTo>
                  <a:pt x="17754" y="177800"/>
                </a:lnTo>
                <a:lnTo>
                  <a:pt x="20104" y="184150"/>
                </a:lnTo>
                <a:lnTo>
                  <a:pt x="20468" y="184150"/>
                </a:lnTo>
                <a:lnTo>
                  <a:pt x="23304" y="190500"/>
                </a:lnTo>
                <a:lnTo>
                  <a:pt x="23088" y="190500"/>
                </a:lnTo>
                <a:lnTo>
                  <a:pt x="27051" y="196850"/>
                </a:lnTo>
                <a:lnTo>
                  <a:pt x="26809" y="196850"/>
                </a:lnTo>
                <a:lnTo>
                  <a:pt x="31330" y="203200"/>
                </a:lnTo>
                <a:close/>
              </a:path>
              <a:path w="517525" h="300989">
                <a:moveTo>
                  <a:pt x="425577" y="49530"/>
                </a:moveTo>
                <a:lnTo>
                  <a:pt x="416420" y="44450"/>
                </a:lnTo>
                <a:lnTo>
                  <a:pt x="416636" y="44450"/>
                </a:lnTo>
                <a:lnTo>
                  <a:pt x="407098" y="40639"/>
                </a:lnTo>
                <a:lnTo>
                  <a:pt x="407314" y="40639"/>
                </a:lnTo>
                <a:lnTo>
                  <a:pt x="397408" y="36830"/>
                </a:lnTo>
                <a:lnTo>
                  <a:pt x="397624" y="36830"/>
                </a:lnTo>
                <a:lnTo>
                  <a:pt x="387375" y="33019"/>
                </a:lnTo>
                <a:lnTo>
                  <a:pt x="387578" y="33019"/>
                </a:lnTo>
                <a:lnTo>
                  <a:pt x="377012" y="29210"/>
                </a:lnTo>
                <a:lnTo>
                  <a:pt x="377215" y="29210"/>
                </a:lnTo>
                <a:lnTo>
                  <a:pt x="366331" y="26669"/>
                </a:lnTo>
                <a:lnTo>
                  <a:pt x="366522" y="26669"/>
                </a:lnTo>
                <a:lnTo>
                  <a:pt x="355346" y="22860"/>
                </a:lnTo>
                <a:lnTo>
                  <a:pt x="355536" y="22860"/>
                </a:lnTo>
                <a:lnTo>
                  <a:pt x="344068" y="20319"/>
                </a:lnTo>
                <a:lnTo>
                  <a:pt x="344258" y="20319"/>
                </a:lnTo>
                <a:lnTo>
                  <a:pt x="332536" y="19050"/>
                </a:lnTo>
                <a:lnTo>
                  <a:pt x="332727" y="19050"/>
                </a:lnTo>
                <a:lnTo>
                  <a:pt x="320751" y="16510"/>
                </a:lnTo>
                <a:lnTo>
                  <a:pt x="320929" y="16510"/>
                </a:lnTo>
                <a:lnTo>
                  <a:pt x="308724" y="15239"/>
                </a:lnTo>
                <a:lnTo>
                  <a:pt x="308902" y="15239"/>
                </a:lnTo>
                <a:lnTo>
                  <a:pt x="296481" y="13969"/>
                </a:lnTo>
                <a:lnTo>
                  <a:pt x="296659" y="13969"/>
                </a:lnTo>
                <a:lnTo>
                  <a:pt x="284022" y="12700"/>
                </a:lnTo>
                <a:lnTo>
                  <a:pt x="364137" y="12700"/>
                </a:lnTo>
                <a:lnTo>
                  <a:pt x="402196" y="24130"/>
                </a:lnTo>
                <a:lnTo>
                  <a:pt x="431444" y="38100"/>
                </a:lnTo>
                <a:lnTo>
                  <a:pt x="440207" y="41910"/>
                </a:lnTo>
                <a:lnTo>
                  <a:pt x="449021" y="48260"/>
                </a:lnTo>
                <a:lnTo>
                  <a:pt x="425361" y="48260"/>
                </a:lnTo>
                <a:lnTo>
                  <a:pt x="425577" y="49530"/>
                </a:lnTo>
                <a:close/>
              </a:path>
              <a:path w="517525" h="300989">
                <a:moveTo>
                  <a:pt x="91782" y="49530"/>
                </a:moveTo>
                <a:lnTo>
                  <a:pt x="92011" y="48260"/>
                </a:lnTo>
                <a:lnTo>
                  <a:pt x="94072" y="48260"/>
                </a:lnTo>
                <a:lnTo>
                  <a:pt x="91782" y="49530"/>
                </a:lnTo>
                <a:close/>
              </a:path>
              <a:path w="517525" h="300989">
                <a:moveTo>
                  <a:pt x="464007" y="74930"/>
                </a:moveTo>
                <a:lnTo>
                  <a:pt x="456971" y="68580"/>
                </a:lnTo>
                <a:lnTo>
                  <a:pt x="457212" y="68580"/>
                </a:lnTo>
                <a:lnTo>
                  <a:pt x="449719" y="63500"/>
                </a:lnTo>
                <a:lnTo>
                  <a:pt x="449960" y="63500"/>
                </a:lnTo>
                <a:lnTo>
                  <a:pt x="442023" y="58419"/>
                </a:lnTo>
                <a:lnTo>
                  <a:pt x="442252" y="58419"/>
                </a:lnTo>
                <a:lnTo>
                  <a:pt x="433895" y="53339"/>
                </a:lnTo>
                <a:lnTo>
                  <a:pt x="434124" y="53339"/>
                </a:lnTo>
                <a:lnTo>
                  <a:pt x="425361" y="48260"/>
                </a:lnTo>
                <a:lnTo>
                  <a:pt x="449021" y="48260"/>
                </a:lnTo>
                <a:lnTo>
                  <a:pt x="457200" y="53339"/>
                </a:lnTo>
                <a:lnTo>
                  <a:pt x="464934" y="58419"/>
                </a:lnTo>
                <a:lnTo>
                  <a:pt x="479031" y="71119"/>
                </a:lnTo>
                <a:lnTo>
                  <a:pt x="482072" y="73660"/>
                </a:lnTo>
                <a:lnTo>
                  <a:pt x="463753" y="73660"/>
                </a:lnTo>
                <a:lnTo>
                  <a:pt x="464007" y="74930"/>
                </a:lnTo>
                <a:close/>
              </a:path>
              <a:path w="517525" h="300989">
                <a:moveTo>
                  <a:pt x="53352" y="74930"/>
                </a:moveTo>
                <a:lnTo>
                  <a:pt x="53606" y="73660"/>
                </a:lnTo>
                <a:lnTo>
                  <a:pt x="54762" y="73660"/>
                </a:lnTo>
                <a:lnTo>
                  <a:pt x="53352" y="74930"/>
                </a:lnTo>
                <a:close/>
              </a:path>
              <a:path w="517525" h="300989">
                <a:moveTo>
                  <a:pt x="476148" y="86360"/>
                </a:moveTo>
                <a:lnTo>
                  <a:pt x="470077" y="80010"/>
                </a:lnTo>
                <a:lnTo>
                  <a:pt x="470319" y="80010"/>
                </a:lnTo>
                <a:lnTo>
                  <a:pt x="463753" y="73660"/>
                </a:lnTo>
                <a:lnTo>
                  <a:pt x="482072" y="73660"/>
                </a:lnTo>
                <a:lnTo>
                  <a:pt x="485114" y="76200"/>
                </a:lnTo>
                <a:lnTo>
                  <a:pt x="491185" y="83819"/>
                </a:lnTo>
                <a:lnTo>
                  <a:pt x="492246" y="85089"/>
                </a:lnTo>
                <a:lnTo>
                  <a:pt x="475894" y="85089"/>
                </a:lnTo>
                <a:lnTo>
                  <a:pt x="476148" y="86360"/>
                </a:lnTo>
                <a:close/>
              </a:path>
              <a:path w="517525" h="300989">
                <a:moveTo>
                  <a:pt x="41211" y="86360"/>
                </a:moveTo>
                <a:lnTo>
                  <a:pt x="41465" y="85089"/>
                </a:lnTo>
                <a:lnTo>
                  <a:pt x="42428" y="85089"/>
                </a:lnTo>
                <a:lnTo>
                  <a:pt x="41211" y="86360"/>
                </a:lnTo>
                <a:close/>
              </a:path>
              <a:path w="517525" h="300989">
                <a:moveTo>
                  <a:pt x="503567" y="137160"/>
                </a:moveTo>
                <a:lnTo>
                  <a:pt x="502843" y="133350"/>
                </a:lnTo>
                <a:lnTo>
                  <a:pt x="502018" y="129539"/>
                </a:lnTo>
                <a:lnTo>
                  <a:pt x="501053" y="127000"/>
                </a:lnTo>
                <a:lnTo>
                  <a:pt x="499948" y="123189"/>
                </a:lnTo>
                <a:lnTo>
                  <a:pt x="497255" y="116839"/>
                </a:lnTo>
                <a:lnTo>
                  <a:pt x="497459" y="116839"/>
                </a:lnTo>
                <a:lnTo>
                  <a:pt x="494055" y="110489"/>
                </a:lnTo>
                <a:lnTo>
                  <a:pt x="494284" y="110489"/>
                </a:lnTo>
                <a:lnTo>
                  <a:pt x="490308" y="104139"/>
                </a:lnTo>
                <a:lnTo>
                  <a:pt x="490550" y="104139"/>
                </a:lnTo>
                <a:lnTo>
                  <a:pt x="486028" y="97789"/>
                </a:lnTo>
                <a:lnTo>
                  <a:pt x="486270" y="97789"/>
                </a:lnTo>
                <a:lnTo>
                  <a:pt x="481215" y="91439"/>
                </a:lnTo>
                <a:lnTo>
                  <a:pt x="481469" y="91439"/>
                </a:lnTo>
                <a:lnTo>
                  <a:pt x="475894" y="85089"/>
                </a:lnTo>
                <a:lnTo>
                  <a:pt x="492246" y="85089"/>
                </a:lnTo>
                <a:lnTo>
                  <a:pt x="496493" y="90169"/>
                </a:lnTo>
                <a:lnTo>
                  <a:pt x="505218" y="104139"/>
                </a:lnTo>
                <a:lnTo>
                  <a:pt x="508838" y="111760"/>
                </a:lnTo>
                <a:lnTo>
                  <a:pt x="509041" y="111760"/>
                </a:lnTo>
                <a:lnTo>
                  <a:pt x="511860" y="118110"/>
                </a:lnTo>
                <a:lnTo>
                  <a:pt x="513257" y="123189"/>
                </a:lnTo>
                <a:lnTo>
                  <a:pt x="514350" y="127000"/>
                </a:lnTo>
                <a:lnTo>
                  <a:pt x="515239" y="130810"/>
                </a:lnTo>
                <a:lnTo>
                  <a:pt x="516064" y="134619"/>
                </a:lnTo>
                <a:lnTo>
                  <a:pt x="516267" y="135889"/>
                </a:lnTo>
                <a:lnTo>
                  <a:pt x="503516" y="135889"/>
                </a:lnTo>
                <a:lnTo>
                  <a:pt x="503567" y="137160"/>
                </a:lnTo>
                <a:close/>
              </a:path>
              <a:path w="517525" h="300989">
                <a:moveTo>
                  <a:pt x="13804" y="137160"/>
                </a:moveTo>
                <a:lnTo>
                  <a:pt x="13843" y="135889"/>
                </a:lnTo>
                <a:lnTo>
                  <a:pt x="14046" y="135889"/>
                </a:lnTo>
                <a:lnTo>
                  <a:pt x="13804" y="137160"/>
                </a:lnTo>
                <a:close/>
              </a:path>
              <a:path w="517525" h="300989">
                <a:moveTo>
                  <a:pt x="513257" y="177800"/>
                </a:moveTo>
                <a:lnTo>
                  <a:pt x="499948" y="177800"/>
                </a:lnTo>
                <a:lnTo>
                  <a:pt x="501129" y="173989"/>
                </a:lnTo>
                <a:lnTo>
                  <a:pt x="502081" y="170180"/>
                </a:lnTo>
                <a:lnTo>
                  <a:pt x="502894" y="167639"/>
                </a:lnTo>
                <a:lnTo>
                  <a:pt x="503567" y="163830"/>
                </a:lnTo>
                <a:lnTo>
                  <a:pt x="504088" y="160019"/>
                </a:lnTo>
                <a:lnTo>
                  <a:pt x="504456" y="157480"/>
                </a:lnTo>
                <a:lnTo>
                  <a:pt x="504672" y="153669"/>
                </a:lnTo>
                <a:lnTo>
                  <a:pt x="504659" y="146050"/>
                </a:lnTo>
                <a:lnTo>
                  <a:pt x="504431" y="143510"/>
                </a:lnTo>
                <a:lnTo>
                  <a:pt x="504050" y="139700"/>
                </a:lnTo>
                <a:lnTo>
                  <a:pt x="503516" y="135889"/>
                </a:lnTo>
                <a:lnTo>
                  <a:pt x="516267" y="135889"/>
                </a:lnTo>
                <a:lnTo>
                  <a:pt x="516674" y="138430"/>
                </a:lnTo>
                <a:lnTo>
                  <a:pt x="517105" y="142239"/>
                </a:lnTo>
                <a:lnTo>
                  <a:pt x="517359" y="146050"/>
                </a:lnTo>
                <a:lnTo>
                  <a:pt x="517347" y="154939"/>
                </a:lnTo>
                <a:lnTo>
                  <a:pt x="514286" y="173989"/>
                </a:lnTo>
                <a:lnTo>
                  <a:pt x="513257" y="177800"/>
                </a:lnTo>
                <a:close/>
              </a:path>
              <a:path w="517525" h="300989">
                <a:moveTo>
                  <a:pt x="12687" y="147319"/>
                </a:moveTo>
                <a:lnTo>
                  <a:pt x="12700" y="146050"/>
                </a:lnTo>
                <a:lnTo>
                  <a:pt x="12687" y="147319"/>
                </a:lnTo>
                <a:close/>
              </a:path>
              <a:path w="517525" h="300989">
                <a:moveTo>
                  <a:pt x="504672" y="147319"/>
                </a:moveTo>
                <a:lnTo>
                  <a:pt x="504592" y="146050"/>
                </a:lnTo>
                <a:lnTo>
                  <a:pt x="504672" y="147319"/>
                </a:lnTo>
                <a:close/>
              </a:path>
              <a:path w="517525" h="300989">
                <a:moveTo>
                  <a:pt x="17754" y="177800"/>
                </a:moveTo>
                <a:lnTo>
                  <a:pt x="17424" y="177800"/>
                </a:lnTo>
                <a:lnTo>
                  <a:pt x="17284" y="176530"/>
                </a:lnTo>
                <a:lnTo>
                  <a:pt x="17754" y="177800"/>
                </a:lnTo>
                <a:close/>
              </a:path>
              <a:path w="517525" h="300989">
                <a:moveTo>
                  <a:pt x="510915" y="184150"/>
                </a:moveTo>
                <a:lnTo>
                  <a:pt x="497255" y="184150"/>
                </a:lnTo>
                <a:lnTo>
                  <a:pt x="500075" y="176530"/>
                </a:lnTo>
                <a:lnTo>
                  <a:pt x="499948" y="177800"/>
                </a:lnTo>
                <a:lnTo>
                  <a:pt x="513257" y="177800"/>
                </a:lnTo>
                <a:lnTo>
                  <a:pt x="510915" y="184150"/>
                </a:lnTo>
                <a:close/>
              </a:path>
              <a:path w="517525" h="300989">
                <a:moveTo>
                  <a:pt x="20468" y="184150"/>
                </a:moveTo>
                <a:lnTo>
                  <a:pt x="20104" y="184150"/>
                </a:lnTo>
                <a:lnTo>
                  <a:pt x="19900" y="182880"/>
                </a:lnTo>
                <a:lnTo>
                  <a:pt x="20468" y="184150"/>
                </a:lnTo>
                <a:close/>
              </a:path>
              <a:path w="517525" h="300989">
                <a:moveTo>
                  <a:pt x="501002" y="203200"/>
                </a:moveTo>
                <a:lnTo>
                  <a:pt x="486028" y="203200"/>
                </a:lnTo>
                <a:lnTo>
                  <a:pt x="490550" y="196850"/>
                </a:lnTo>
                <a:lnTo>
                  <a:pt x="490308" y="196850"/>
                </a:lnTo>
                <a:lnTo>
                  <a:pt x="494284" y="190500"/>
                </a:lnTo>
                <a:lnTo>
                  <a:pt x="494055" y="190500"/>
                </a:lnTo>
                <a:lnTo>
                  <a:pt x="497459" y="182880"/>
                </a:lnTo>
                <a:lnTo>
                  <a:pt x="497255" y="184150"/>
                </a:lnTo>
                <a:lnTo>
                  <a:pt x="510915" y="184150"/>
                </a:lnTo>
                <a:lnTo>
                  <a:pt x="509041" y="189230"/>
                </a:lnTo>
                <a:lnTo>
                  <a:pt x="508838" y="189230"/>
                </a:lnTo>
                <a:lnTo>
                  <a:pt x="505218" y="196850"/>
                </a:lnTo>
                <a:lnTo>
                  <a:pt x="501002" y="203200"/>
                </a:lnTo>
                <a:close/>
              </a:path>
              <a:path w="517525" h="300989">
                <a:moveTo>
                  <a:pt x="297586" y="299719"/>
                </a:moveTo>
                <a:lnTo>
                  <a:pt x="219595" y="299719"/>
                </a:lnTo>
                <a:lnTo>
                  <a:pt x="206984" y="298450"/>
                </a:lnTo>
                <a:lnTo>
                  <a:pt x="194576" y="295910"/>
                </a:lnTo>
                <a:lnTo>
                  <a:pt x="182410" y="294639"/>
                </a:lnTo>
                <a:lnTo>
                  <a:pt x="125615" y="279400"/>
                </a:lnTo>
                <a:lnTo>
                  <a:pt x="85928" y="262889"/>
                </a:lnTo>
                <a:lnTo>
                  <a:pt x="52438" y="241300"/>
                </a:lnTo>
                <a:lnTo>
                  <a:pt x="45148" y="236219"/>
                </a:lnTo>
                <a:lnTo>
                  <a:pt x="16357" y="203200"/>
                </a:lnTo>
                <a:lnTo>
                  <a:pt x="31330" y="203200"/>
                </a:lnTo>
                <a:lnTo>
                  <a:pt x="31089" y="201930"/>
                </a:lnTo>
                <a:lnTo>
                  <a:pt x="36144" y="208280"/>
                </a:lnTo>
                <a:lnTo>
                  <a:pt x="35890" y="208280"/>
                </a:lnTo>
                <a:lnTo>
                  <a:pt x="41465" y="214630"/>
                </a:lnTo>
                <a:lnTo>
                  <a:pt x="41211" y="214630"/>
                </a:lnTo>
                <a:lnTo>
                  <a:pt x="47294" y="220980"/>
                </a:lnTo>
                <a:lnTo>
                  <a:pt x="47040" y="220980"/>
                </a:lnTo>
                <a:lnTo>
                  <a:pt x="53606" y="226060"/>
                </a:lnTo>
                <a:lnTo>
                  <a:pt x="53352" y="226060"/>
                </a:lnTo>
                <a:lnTo>
                  <a:pt x="60401" y="231139"/>
                </a:lnTo>
                <a:lnTo>
                  <a:pt x="60147" y="231139"/>
                </a:lnTo>
                <a:lnTo>
                  <a:pt x="67640" y="237489"/>
                </a:lnTo>
                <a:lnTo>
                  <a:pt x="68996" y="237489"/>
                </a:lnTo>
                <a:lnTo>
                  <a:pt x="75336" y="242569"/>
                </a:lnTo>
                <a:lnTo>
                  <a:pt x="77196" y="242569"/>
                </a:lnTo>
                <a:lnTo>
                  <a:pt x="83464" y="246380"/>
                </a:lnTo>
                <a:lnTo>
                  <a:pt x="83235" y="246380"/>
                </a:lnTo>
                <a:lnTo>
                  <a:pt x="92011" y="251460"/>
                </a:lnTo>
                <a:lnTo>
                  <a:pt x="91782" y="251460"/>
                </a:lnTo>
                <a:lnTo>
                  <a:pt x="100939" y="256539"/>
                </a:lnTo>
                <a:lnTo>
                  <a:pt x="103108" y="256539"/>
                </a:lnTo>
                <a:lnTo>
                  <a:pt x="110261" y="260350"/>
                </a:lnTo>
                <a:lnTo>
                  <a:pt x="110058" y="260350"/>
                </a:lnTo>
                <a:lnTo>
                  <a:pt x="119951" y="264160"/>
                </a:lnTo>
                <a:lnTo>
                  <a:pt x="119748" y="264160"/>
                </a:lnTo>
                <a:lnTo>
                  <a:pt x="129984" y="267969"/>
                </a:lnTo>
                <a:lnTo>
                  <a:pt x="129781" y="267969"/>
                </a:lnTo>
                <a:lnTo>
                  <a:pt x="140347" y="271780"/>
                </a:lnTo>
                <a:lnTo>
                  <a:pt x="143785" y="271780"/>
                </a:lnTo>
                <a:lnTo>
                  <a:pt x="151041" y="274319"/>
                </a:lnTo>
                <a:lnTo>
                  <a:pt x="150837" y="274319"/>
                </a:lnTo>
                <a:lnTo>
                  <a:pt x="162026" y="276860"/>
                </a:lnTo>
                <a:lnTo>
                  <a:pt x="161823" y="276860"/>
                </a:lnTo>
                <a:lnTo>
                  <a:pt x="173291" y="279400"/>
                </a:lnTo>
                <a:lnTo>
                  <a:pt x="173101" y="279400"/>
                </a:lnTo>
                <a:lnTo>
                  <a:pt x="184835" y="281939"/>
                </a:lnTo>
                <a:lnTo>
                  <a:pt x="184645" y="281939"/>
                </a:lnTo>
                <a:lnTo>
                  <a:pt x="196621" y="283210"/>
                </a:lnTo>
                <a:lnTo>
                  <a:pt x="196430" y="283210"/>
                </a:lnTo>
                <a:lnTo>
                  <a:pt x="208648" y="285750"/>
                </a:lnTo>
                <a:lnTo>
                  <a:pt x="208457" y="285750"/>
                </a:lnTo>
                <a:lnTo>
                  <a:pt x="220891" y="287019"/>
                </a:lnTo>
                <a:lnTo>
                  <a:pt x="233146" y="287019"/>
                </a:lnTo>
                <a:lnTo>
                  <a:pt x="245973" y="288289"/>
                </a:lnTo>
                <a:lnTo>
                  <a:pt x="364020" y="288289"/>
                </a:lnTo>
                <a:lnTo>
                  <a:pt x="334759" y="294639"/>
                </a:lnTo>
                <a:lnTo>
                  <a:pt x="322592" y="295910"/>
                </a:lnTo>
                <a:lnTo>
                  <a:pt x="310197" y="298450"/>
                </a:lnTo>
                <a:lnTo>
                  <a:pt x="297586" y="299719"/>
                </a:lnTo>
                <a:close/>
              </a:path>
              <a:path w="517525" h="300989">
                <a:moveTo>
                  <a:pt x="470150" y="237489"/>
                </a:moveTo>
                <a:lnTo>
                  <a:pt x="449719" y="237489"/>
                </a:lnTo>
                <a:lnTo>
                  <a:pt x="457212" y="231139"/>
                </a:lnTo>
                <a:lnTo>
                  <a:pt x="456971" y="231139"/>
                </a:lnTo>
                <a:lnTo>
                  <a:pt x="464007" y="226060"/>
                </a:lnTo>
                <a:lnTo>
                  <a:pt x="463753" y="226060"/>
                </a:lnTo>
                <a:lnTo>
                  <a:pt x="470319" y="220980"/>
                </a:lnTo>
                <a:lnTo>
                  <a:pt x="470077" y="220980"/>
                </a:lnTo>
                <a:lnTo>
                  <a:pt x="476148" y="214630"/>
                </a:lnTo>
                <a:lnTo>
                  <a:pt x="475894" y="214630"/>
                </a:lnTo>
                <a:lnTo>
                  <a:pt x="481469" y="208280"/>
                </a:lnTo>
                <a:lnTo>
                  <a:pt x="481215" y="208280"/>
                </a:lnTo>
                <a:lnTo>
                  <a:pt x="486270" y="201930"/>
                </a:lnTo>
                <a:lnTo>
                  <a:pt x="486028" y="203200"/>
                </a:lnTo>
                <a:lnTo>
                  <a:pt x="501002" y="203200"/>
                </a:lnTo>
                <a:lnTo>
                  <a:pt x="496493" y="209550"/>
                </a:lnTo>
                <a:lnTo>
                  <a:pt x="490931" y="217169"/>
                </a:lnTo>
                <a:lnTo>
                  <a:pt x="485114" y="223519"/>
                </a:lnTo>
                <a:lnTo>
                  <a:pt x="478777" y="229869"/>
                </a:lnTo>
                <a:lnTo>
                  <a:pt x="471970" y="236219"/>
                </a:lnTo>
                <a:lnTo>
                  <a:pt x="470150" y="237489"/>
                </a:lnTo>
                <a:close/>
              </a:path>
              <a:path w="517525" h="300989">
                <a:moveTo>
                  <a:pt x="68996" y="237489"/>
                </a:moveTo>
                <a:lnTo>
                  <a:pt x="67640" y="237489"/>
                </a:lnTo>
                <a:lnTo>
                  <a:pt x="67411" y="236219"/>
                </a:lnTo>
                <a:lnTo>
                  <a:pt x="68996" y="237489"/>
                </a:lnTo>
                <a:close/>
              </a:path>
              <a:path w="517525" h="300989">
                <a:moveTo>
                  <a:pt x="463146" y="242569"/>
                </a:moveTo>
                <a:lnTo>
                  <a:pt x="442023" y="242569"/>
                </a:lnTo>
                <a:lnTo>
                  <a:pt x="449960" y="236219"/>
                </a:lnTo>
                <a:lnTo>
                  <a:pt x="449719" y="237489"/>
                </a:lnTo>
                <a:lnTo>
                  <a:pt x="470150" y="237489"/>
                </a:lnTo>
                <a:lnTo>
                  <a:pt x="464693" y="241300"/>
                </a:lnTo>
                <a:lnTo>
                  <a:pt x="463146" y="242569"/>
                </a:lnTo>
                <a:close/>
              </a:path>
              <a:path w="517525" h="300989">
                <a:moveTo>
                  <a:pt x="77196" y="242569"/>
                </a:moveTo>
                <a:lnTo>
                  <a:pt x="75336" y="242569"/>
                </a:lnTo>
                <a:lnTo>
                  <a:pt x="75107" y="241300"/>
                </a:lnTo>
                <a:lnTo>
                  <a:pt x="77196" y="242569"/>
                </a:lnTo>
                <a:close/>
              </a:path>
              <a:path w="517525" h="300989">
                <a:moveTo>
                  <a:pt x="442353" y="256539"/>
                </a:moveTo>
                <a:lnTo>
                  <a:pt x="416420" y="256539"/>
                </a:lnTo>
                <a:lnTo>
                  <a:pt x="425577" y="251460"/>
                </a:lnTo>
                <a:lnTo>
                  <a:pt x="425361" y="251460"/>
                </a:lnTo>
                <a:lnTo>
                  <a:pt x="434124" y="246380"/>
                </a:lnTo>
                <a:lnTo>
                  <a:pt x="433895" y="246380"/>
                </a:lnTo>
                <a:lnTo>
                  <a:pt x="442252" y="241300"/>
                </a:lnTo>
                <a:lnTo>
                  <a:pt x="442023" y="242569"/>
                </a:lnTo>
                <a:lnTo>
                  <a:pt x="463146" y="242569"/>
                </a:lnTo>
                <a:lnTo>
                  <a:pt x="456958" y="247650"/>
                </a:lnTo>
                <a:lnTo>
                  <a:pt x="448792" y="252730"/>
                </a:lnTo>
                <a:lnTo>
                  <a:pt x="442353" y="256539"/>
                </a:lnTo>
                <a:close/>
              </a:path>
              <a:path w="517525" h="300989">
                <a:moveTo>
                  <a:pt x="103108" y="256539"/>
                </a:moveTo>
                <a:lnTo>
                  <a:pt x="100939" y="256539"/>
                </a:lnTo>
                <a:lnTo>
                  <a:pt x="100723" y="255269"/>
                </a:lnTo>
                <a:lnTo>
                  <a:pt x="103108" y="256539"/>
                </a:lnTo>
                <a:close/>
              </a:path>
              <a:path w="517525" h="300989">
                <a:moveTo>
                  <a:pt x="412102" y="271780"/>
                </a:moveTo>
                <a:lnTo>
                  <a:pt x="377012" y="271780"/>
                </a:lnTo>
                <a:lnTo>
                  <a:pt x="387578" y="267969"/>
                </a:lnTo>
                <a:lnTo>
                  <a:pt x="387375" y="267969"/>
                </a:lnTo>
                <a:lnTo>
                  <a:pt x="397624" y="264160"/>
                </a:lnTo>
                <a:lnTo>
                  <a:pt x="397408" y="264160"/>
                </a:lnTo>
                <a:lnTo>
                  <a:pt x="407314" y="260350"/>
                </a:lnTo>
                <a:lnTo>
                  <a:pt x="407098" y="260350"/>
                </a:lnTo>
                <a:lnTo>
                  <a:pt x="416636" y="255269"/>
                </a:lnTo>
                <a:lnTo>
                  <a:pt x="416420" y="256539"/>
                </a:lnTo>
                <a:lnTo>
                  <a:pt x="442353" y="256539"/>
                </a:lnTo>
                <a:lnTo>
                  <a:pt x="440207" y="257810"/>
                </a:lnTo>
                <a:lnTo>
                  <a:pt x="431215" y="262889"/>
                </a:lnTo>
                <a:lnTo>
                  <a:pt x="421843" y="267969"/>
                </a:lnTo>
                <a:lnTo>
                  <a:pt x="412102" y="271780"/>
                </a:lnTo>
                <a:close/>
              </a:path>
              <a:path w="517525" h="300989">
                <a:moveTo>
                  <a:pt x="143785" y="271780"/>
                </a:moveTo>
                <a:lnTo>
                  <a:pt x="140347" y="271780"/>
                </a:lnTo>
                <a:lnTo>
                  <a:pt x="140157" y="270510"/>
                </a:lnTo>
                <a:lnTo>
                  <a:pt x="143785" y="271780"/>
                </a:lnTo>
                <a:close/>
              </a:path>
              <a:path w="517525" h="300989">
                <a:moveTo>
                  <a:pt x="364020" y="288289"/>
                </a:moveTo>
                <a:lnTo>
                  <a:pt x="271399" y="288289"/>
                </a:lnTo>
                <a:lnTo>
                  <a:pt x="284213" y="287019"/>
                </a:lnTo>
                <a:lnTo>
                  <a:pt x="296481" y="287019"/>
                </a:lnTo>
                <a:lnTo>
                  <a:pt x="308902" y="285750"/>
                </a:lnTo>
                <a:lnTo>
                  <a:pt x="308724" y="285750"/>
                </a:lnTo>
                <a:lnTo>
                  <a:pt x="320929" y="283210"/>
                </a:lnTo>
                <a:lnTo>
                  <a:pt x="320751" y="283210"/>
                </a:lnTo>
                <a:lnTo>
                  <a:pt x="332727" y="281939"/>
                </a:lnTo>
                <a:lnTo>
                  <a:pt x="332536" y="281939"/>
                </a:lnTo>
                <a:lnTo>
                  <a:pt x="344258" y="279400"/>
                </a:lnTo>
                <a:lnTo>
                  <a:pt x="344068" y="279400"/>
                </a:lnTo>
                <a:lnTo>
                  <a:pt x="355536" y="276860"/>
                </a:lnTo>
                <a:lnTo>
                  <a:pt x="355346" y="276860"/>
                </a:lnTo>
                <a:lnTo>
                  <a:pt x="366522" y="274319"/>
                </a:lnTo>
                <a:lnTo>
                  <a:pt x="366331" y="274319"/>
                </a:lnTo>
                <a:lnTo>
                  <a:pt x="377215" y="270510"/>
                </a:lnTo>
                <a:lnTo>
                  <a:pt x="377012" y="271780"/>
                </a:lnTo>
                <a:lnTo>
                  <a:pt x="412102" y="271780"/>
                </a:lnTo>
                <a:lnTo>
                  <a:pt x="401993" y="275589"/>
                </a:lnTo>
                <a:lnTo>
                  <a:pt x="391553" y="279400"/>
                </a:lnTo>
                <a:lnTo>
                  <a:pt x="369709" y="287019"/>
                </a:lnTo>
                <a:lnTo>
                  <a:pt x="364020" y="288289"/>
                </a:lnTo>
                <a:close/>
              </a:path>
              <a:path w="517525" h="300989">
                <a:moveTo>
                  <a:pt x="271767" y="300989"/>
                </a:moveTo>
                <a:lnTo>
                  <a:pt x="245414" y="300989"/>
                </a:lnTo>
                <a:lnTo>
                  <a:pt x="232409" y="299719"/>
                </a:lnTo>
                <a:lnTo>
                  <a:pt x="284759" y="299719"/>
                </a:lnTo>
                <a:lnTo>
                  <a:pt x="271767" y="300989"/>
                </a:lnTo>
                <a:close/>
              </a:path>
            </a:pathLst>
          </a:custGeom>
          <a:solidFill>
            <a:srgbClr val="006C39"/>
          </a:solidFill>
        </p:spPr>
        <p:txBody>
          <a:bodyPr wrap="square" lIns="0" tIns="0" rIns="0" bIns="0" rtlCol="0"/>
          <a:lstStyle/>
          <a:p>
            <a:endParaRPr/>
          </a:p>
        </p:txBody>
      </p:sp>
      <p:sp>
        <p:nvSpPr>
          <p:cNvPr id="75" name="object 75"/>
          <p:cNvSpPr txBox="1"/>
          <p:nvPr/>
        </p:nvSpPr>
        <p:spPr>
          <a:xfrm>
            <a:off x="1164475" y="2086355"/>
            <a:ext cx="746125" cy="601980"/>
          </a:xfrm>
          <a:prstGeom prst="rect">
            <a:avLst/>
          </a:prstGeom>
        </p:spPr>
        <p:txBody>
          <a:bodyPr vert="horz" wrap="square" lIns="0" tIns="12700" rIns="0" bIns="0" rtlCol="0">
            <a:spAutoFit/>
          </a:bodyPr>
          <a:lstStyle/>
          <a:p>
            <a:pPr marL="160020" marR="5080" indent="-147955">
              <a:lnSpc>
                <a:spcPct val="157500"/>
              </a:lnSpc>
              <a:spcBef>
                <a:spcPts val="100"/>
              </a:spcBef>
              <a:tabLst>
                <a:tab pos="318135" algn="l"/>
              </a:tabLst>
            </a:pPr>
            <a:r>
              <a:rPr sz="1200" dirty="0">
                <a:latin typeface="Times New Roman"/>
                <a:cs typeface="Times New Roman"/>
              </a:rPr>
              <a:t>int	double  </a:t>
            </a:r>
            <a:r>
              <a:rPr sz="1200" spc="-5" dirty="0">
                <a:latin typeface="Times New Roman"/>
                <a:cs typeface="Times New Roman"/>
              </a:rPr>
              <a:t>String</a:t>
            </a:r>
            <a:endParaRPr sz="1200">
              <a:latin typeface="Times New Roman"/>
              <a:cs typeface="Times New Roman"/>
            </a:endParaRPr>
          </a:p>
        </p:txBody>
      </p:sp>
      <p:sp>
        <p:nvSpPr>
          <p:cNvPr id="76" name="object 76"/>
          <p:cNvSpPr/>
          <p:nvPr/>
        </p:nvSpPr>
        <p:spPr>
          <a:xfrm>
            <a:off x="1108417" y="803135"/>
            <a:ext cx="876896" cy="603504"/>
          </a:xfrm>
          <a:prstGeom prst="rect">
            <a:avLst/>
          </a:prstGeom>
          <a:blipFill>
            <a:blip r:embed="rId14" cstate="print"/>
            <a:stretch>
              <a:fillRect/>
            </a:stretch>
          </a:blipFill>
        </p:spPr>
        <p:txBody>
          <a:bodyPr wrap="square" lIns="0" tIns="0" rIns="0" bIns="0" rtlCol="0"/>
          <a:lstStyle/>
          <a:p>
            <a:endParaRPr/>
          </a:p>
        </p:txBody>
      </p:sp>
      <p:sp>
        <p:nvSpPr>
          <p:cNvPr id="77" name="object 77"/>
          <p:cNvSpPr txBox="1"/>
          <p:nvPr/>
        </p:nvSpPr>
        <p:spPr>
          <a:xfrm>
            <a:off x="1164475" y="840994"/>
            <a:ext cx="746125" cy="511175"/>
          </a:xfrm>
          <a:prstGeom prst="rect">
            <a:avLst/>
          </a:prstGeom>
        </p:spPr>
        <p:txBody>
          <a:bodyPr vert="horz" wrap="square" lIns="0" tIns="12700" rIns="0" bIns="0" rtlCol="0">
            <a:spAutoFit/>
          </a:bodyPr>
          <a:lstStyle/>
          <a:p>
            <a:pPr algn="ctr">
              <a:lnSpc>
                <a:spcPct val="100000"/>
              </a:lnSpc>
              <a:spcBef>
                <a:spcPts val="100"/>
              </a:spcBef>
              <a:tabLst>
                <a:tab pos="305435" algn="l"/>
              </a:tabLst>
            </a:pPr>
            <a:r>
              <a:rPr sz="1200" dirty="0">
                <a:latin typeface="Times New Roman"/>
                <a:cs typeface="Times New Roman"/>
              </a:rPr>
              <a:t>int	double</a:t>
            </a:r>
            <a:endParaRPr sz="1200">
              <a:latin typeface="Times New Roman"/>
              <a:cs typeface="Times New Roman"/>
            </a:endParaRPr>
          </a:p>
          <a:p>
            <a:pPr marR="44450" algn="ctr">
              <a:lnSpc>
                <a:spcPct val="100000"/>
              </a:lnSpc>
              <a:spcBef>
                <a:spcPts val="940"/>
              </a:spcBef>
            </a:pPr>
            <a:r>
              <a:rPr sz="1200" spc="-5" dirty="0">
                <a:latin typeface="Times New Roman"/>
                <a:cs typeface="Times New Roman"/>
              </a:rPr>
              <a:t>String</a:t>
            </a:r>
            <a:endParaRPr sz="1200">
              <a:latin typeface="Times New Roman"/>
              <a:cs typeface="Times New Roman"/>
            </a:endParaRPr>
          </a:p>
        </p:txBody>
      </p:sp>
      <p:sp>
        <p:nvSpPr>
          <p:cNvPr id="78" name="object 78"/>
          <p:cNvSpPr txBox="1"/>
          <p:nvPr/>
        </p:nvSpPr>
        <p:spPr>
          <a:xfrm>
            <a:off x="5580888" y="815403"/>
            <a:ext cx="3168650" cy="268605"/>
          </a:xfrm>
          <a:prstGeom prst="rect">
            <a:avLst/>
          </a:prstGeom>
        </p:spPr>
        <p:txBody>
          <a:bodyPr vert="horz" wrap="square" lIns="0" tIns="12065" rIns="0" bIns="0" rtlCol="0">
            <a:spAutoFit/>
          </a:bodyPr>
          <a:lstStyle/>
          <a:p>
            <a:pPr algn="ctr">
              <a:lnSpc>
                <a:spcPct val="100000"/>
              </a:lnSpc>
              <a:spcBef>
                <a:spcPts val="95"/>
              </a:spcBef>
            </a:pPr>
            <a:r>
              <a:rPr sz="1600" dirty="0">
                <a:latin typeface="微软雅黑"/>
                <a:cs typeface="微软雅黑"/>
              </a:rPr>
              <a:t>字节节点</a:t>
            </a:r>
            <a:r>
              <a:rPr sz="1600" spc="-5" dirty="0">
                <a:latin typeface="微软雅黑"/>
                <a:cs typeface="微软雅黑"/>
              </a:rPr>
              <a:t>流</a:t>
            </a:r>
            <a:endParaRPr sz="1600">
              <a:latin typeface="微软雅黑"/>
              <a:cs typeface="微软雅黑"/>
            </a:endParaRPr>
          </a:p>
        </p:txBody>
      </p:sp>
      <p:sp>
        <p:nvSpPr>
          <p:cNvPr id="79" name="object 79"/>
          <p:cNvSpPr/>
          <p:nvPr/>
        </p:nvSpPr>
        <p:spPr>
          <a:xfrm>
            <a:off x="1042758" y="4718799"/>
            <a:ext cx="1008113" cy="603503"/>
          </a:xfrm>
          <a:prstGeom prst="rect">
            <a:avLst/>
          </a:prstGeom>
          <a:blipFill>
            <a:blip r:embed="rId15" cstate="print"/>
            <a:stretch>
              <a:fillRect/>
            </a:stretch>
          </a:blipFill>
        </p:spPr>
        <p:txBody>
          <a:bodyPr wrap="square" lIns="0" tIns="0" rIns="0" bIns="0" rtlCol="0"/>
          <a:lstStyle/>
          <a:p>
            <a:endParaRPr/>
          </a:p>
        </p:txBody>
      </p:sp>
      <p:sp>
        <p:nvSpPr>
          <p:cNvPr id="80" name="object 80"/>
          <p:cNvSpPr txBox="1"/>
          <p:nvPr/>
        </p:nvSpPr>
        <p:spPr>
          <a:xfrm>
            <a:off x="5580888" y="4250296"/>
            <a:ext cx="3168650" cy="268605"/>
          </a:xfrm>
          <a:prstGeom prst="rect">
            <a:avLst/>
          </a:prstGeom>
        </p:spPr>
        <p:txBody>
          <a:bodyPr vert="horz" wrap="square" lIns="0" tIns="12065" rIns="0" bIns="0" rtlCol="0">
            <a:spAutoFit/>
          </a:bodyPr>
          <a:lstStyle/>
          <a:p>
            <a:pPr algn="ctr">
              <a:lnSpc>
                <a:spcPct val="100000"/>
              </a:lnSpc>
              <a:spcBef>
                <a:spcPts val="95"/>
              </a:spcBef>
            </a:pPr>
            <a:r>
              <a:rPr sz="1600" dirty="0">
                <a:latin typeface="微软雅黑"/>
                <a:cs typeface="微软雅黑"/>
              </a:rPr>
              <a:t>字符节点</a:t>
            </a:r>
            <a:r>
              <a:rPr sz="1600" spc="-5" dirty="0">
                <a:latin typeface="微软雅黑"/>
                <a:cs typeface="微软雅黑"/>
              </a:rPr>
              <a:t>流</a:t>
            </a:r>
            <a:endParaRPr sz="1600">
              <a:latin typeface="微软雅黑"/>
              <a:cs typeface="微软雅黑"/>
            </a:endParaRPr>
          </a:p>
        </p:txBody>
      </p:sp>
      <p:sp>
        <p:nvSpPr>
          <p:cNvPr id="81" name="object 81"/>
          <p:cNvSpPr txBox="1"/>
          <p:nvPr/>
        </p:nvSpPr>
        <p:spPr>
          <a:xfrm>
            <a:off x="1164475" y="4756657"/>
            <a:ext cx="746125" cy="511175"/>
          </a:xfrm>
          <a:prstGeom prst="rect">
            <a:avLst/>
          </a:prstGeom>
        </p:spPr>
        <p:txBody>
          <a:bodyPr vert="horz" wrap="square" lIns="0" tIns="12700" rIns="0" bIns="0" rtlCol="0">
            <a:spAutoFit/>
          </a:bodyPr>
          <a:lstStyle/>
          <a:p>
            <a:pPr algn="ctr">
              <a:lnSpc>
                <a:spcPct val="100000"/>
              </a:lnSpc>
              <a:spcBef>
                <a:spcPts val="100"/>
              </a:spcBef>
              <a:tabLst>
                <a:tab pos="305435" algn="l"/>
              </a:tabLst>
            </a:pPr>
            <a:r>
              <a:rPr sz="1200" dirty="0">
                <a:latin typeface="Times New Roman"/>
                <a:cs typeface="Times New Roman"/>
              </a:rPr>
              <a:t>int	double</a:t>
            </a:r>
            <a:endParaRPr sz="1200">
              <a:latin typeface="Times New Roman"/>
              <a:cs typeface="Times New Roman"/>
            </a:endParaRPr>
          </a:p>
          <a:p>
            <a:pPr marR="44450" algn="ctr">
              <a:lnSpc>
                <a:spcPct val="100000"/>
              </a:lnSpc>
              <a:spcBef>
                <a:spcPts val="940"/>
              </a:spcBef>
            </a:pPr>
            <a:r>
              <a:rPr sz="1200" spc="-5" dirty="0">
                <a:latin typeface="Times New Roman"/>
                <a:cs typeface="Times New Roman"/>
              </a:rPr>
              <a:t>String</a:t>
            </a:r>
            <a:endParaRPr sz="1200">
              <a:latin typeface="Times New Roman"/>
              <a:cs typeface="Times New Roman"/>
            </a:endParaRPr>
          </a:p>
        </p:txBody>
      </p:sp>
      <p:sp>
        <p:nvSpPr>
          <p:cNvPr id="82" name="object 82"/>
          <p:cNvSpPr/>
          <p:nvPr/>
        </p:nvSpPr>
        <p:spPr>
          <a:xfrm>
            <a:off x="2987039" y="3691128"/>
            <a:ext cx="2159508" cy="338327"/>
          </a:xfrm>
          <a:prstGeom prst="rect">
            <a:avLst/>
          </a:prstGeom>
          <a:blipFill>
            <a:blip r:embed="rId16" cstate="print"/>
            <a:stretch>
              <a:fillRect/>
            </a:stretch>
          </a:blipFill>
        </p:spPr>
        <p:txBody>
          <a:bodyPr wrap="square" lIns="0" tIns="0" rIns="0" bIns="0" rtlCol="0"/>
          <a:lstStyle/>
          <a:p>
            <a:endParaRPr/>
          </a:p>
        </p:txBody>
      </p:sp>
      <p:sp>
        <p:nvSpPr>
          <p:cNvPr id="83" name="object 83"/>
          <p:cNvSpPr/>
          <p:nvPr/>
        </p:nvSpPr>
        <p:spPr>
          <a:xfrm>
            <a:off x="2983166" y="3686746"/>
            <a:ext cx="2166620" cy="346075"/>
          </a:xfrm>
          <a:custGeom>
            <a:avLst/>
            <a:gdLst/>
            <a:ahLst/>
            <a:cxnLst/>
            <a:rect l="l" t="t" r="r" b="b"/>
            <a:pathLst>
              <a:path w="2166620" h="346075">
                <a:moveTo>
                  <a:pt x="2166620" y="346075"/>
                </a:moveTo>
                <a:lnTo>
                  <a:pt x="0" y="346075"/>
                </a:lnTo>
                <a:lnTo>
                  <a:pt x="0" y="0"/>
                </a:lnTo>
                <a:lnTo>
                  <a:pt x="2166620" y="0"/>
                </a:lnTo>
                <a:lnTo>
                  <a:pt x="2166620" y="3810"/>
                </a:lnTo>
                <a:lnTo>
                  <a:pt x="7619" y="3810"/>
                </a:lnTo>
                <a:lnTo>
                  <a:pt x="3809" y="7619"/>
                </a:lnTo>
                <a:lnTo>
                  <a:pt x="7619" y="7619"/>
                </a:lnTo>
                <a:lnTo>
                  <a:pt x="7619" y="338454"/>
                </a:lnTo>
                <a:lnTo>
                  <a:pt x="3809" y="338454"/>
                </a:lnTo>
                <a:lnTo>
                  <a:pt x="7619" y="342264"/>
                </a:lnTo>
                <a:lnTo>
                  <a:pt x="2166620" y="342264"/>
                </a:lnTo>
                <a:lnTo>
                  <a:pt x="2166620" y="346075"/>
                </a:lnTo>
                <a:close/>
              </a:path>
              <a:path w="2166620" h="346075">
                <a:moveTo>
                  <a:pt x="7619" y="7619"/>
                </a:moveTo>
                <a:lnTo>
                  <a:pt x="3809" y="7619"/>
                </a:lnTo>
                <a:lnTo>
                  <a:pt x="7619" y="3810"/>
                </a:lnTo>
                <a:lnTo>
                  <a:pt x="7619" y="7619"/>
                </a:lnTo>
                <a:close/>
              </a:path>
              <a:path w="2166620" h="346075">
                <a:moveTo>
                  <a:pt x="2158999" y="7619"/>
                </a:moveTo>
                <a:lnTo>
                  <a:pt x="7619" y="7619"/>
                </a:lnTo>
                <a:lnTo>
                  <a:pt x="7619" y="3810"/>
                </a:lnTo>
                <a:lnTo>
                  <a:pt x="2158999" y="3810"/>
                </a:lnTo>
                <a:lnTo>
                  <a:pt x="2158999" y="7619"/>
                </a:lnTo>
                <a:close/>
              </a:path>
              <a:path w="2166620" h="346075">
                <a:moveTo>
                  <a:pt x="2158999" y="342264"/>
                </a:moveTo>
                <a:lnTo>
                  <a:pt x="2158999" y="3810"/>
                </a:lnTo>
                <a:lnTo>
                  <a:pt x="2162810" y="7619"/>
                </a:lnTo>
                <a:lnTo>
                  <a:pt x="2166620" y="7619"/>
                </a:lnTo>
                <a:lnTo>
                  <a:pt x="2166620" y="338454"/>
                </a:lnTo>
                <a:lnTo>
                  <a:pt x="2162810" y="338454"/>
                </a:lnTo>
                <a:lnTo>
                  <a:pt x="2158999" y="342264"/>
                </a:lnTo>
                <a:close/>
              </a:path>
              <a:path w="2166620" h="346075">
                <a:moveTo>
                  <a:pt x="2166620" y="7619"/>
                </a:moveTo>
                <a:lnTo>
                  <a:pt x="2162810" y="7619"/>
                </a:lnTo>
                <a:lnTo>
                  <a:pt x="2158999" y="3810"/>
                </a:lnTo>
                <a:lnTo>
                  <a:pt x="2166620" y="3810"/>
                </a:lnTo>
                <a:lnTo>
                  <a:pt x="2166620" y="7619"/>
                </a:lnTo>
                <a:close/>
              </a:path>
              <a:path w="2166620" h="346075">
                <a:moveTo>
                  <a:pt x="7619" y="342264"/>
                </a:moveTo>
                <a:lnTo>
                  <a:pt x="3809" y="338454"/>
                </a:lnTo>
                <a:lnTo>
                  <a:pt x="7619" y="338454"/>
                </a:lnTo>
                <a:lnTo>
                  <a:pt x="7619" y="342264"/>
                </a:lnTo>
                <a:close/>
              </a:path>
              <a:path w="2166620" h="346075">
                <a:moveTo>
                  <a:pt x="2158999" y="342264"/>
                </a:moveTo>
                <a:lnTo>
                  <a:pt x="7619" y="342264"/>
                </a:lnTo>
                <a:lnTo>
                  <a:pt x="7619" y="338454"/>
                </a:lnTo>
                <a:lnTo>
                  <a:pt x="2158999" y="338454"/>
                </a:lnTo>
                <a:lnTo>
                  <a:pt x="2158999" y="342264"/>
                </a:lnTo>
                <a:close/>
              </a:path>
              <a:path w="2166620" h="346075">
                <a:moveTo>
                  <a:pt x="2166620" y="342264"/>
                </a:moveTo>
                <a:lnTo>
                  <a:pt x="2158999" y="342264"/>
                </a:lnTo>
                <a:lnTo>
                  <a:pt x="2162810" y="338454"/>
                </a:lnTo>
                <a:lnTo>
                  <a:pt x="2166620" y="338454"/>
                </a:lnTo>
                <a:lnTo>
                  <a:pt x="2166620" y="342264"/>
                </a:lnTo>
                <a:close/>
              </a:path>
            </a:pathLst>
          </a:custGeom>
          <a:solidFill>
            <a:srgbClr val="006C39"/>
          </a:solidFill>
        </p:spPr>
        <p:txBody>
          <a:bodyPr wrap="square" lIns="0" tIns="0" rIns="0" bIns="0" rtlCol="0"/>
          <a:lstStyle/>
          <a:p>
            <a:endParaRPr/>
          </a:p>
        </p:txBody>
      </p:sp>
      <p:sp>
        <p:nvSpPr>
          <p:cNvPr id="84" name="object 84"/>
          <p:cNvSpPr txBox="1"/>
          <p:nvPr/>
        </p:nvSpPr>
        <p:spPr>
          <a:xfrm>
            <a:off x="2987039" y="3712781"/>
            <a:ext cx="2159635" cy="268605"/>
          </a:xfrm>
          <a:prstGeom prst="rect">
            <a:avLst/>
          </a:prstGeom>
        </p:spPr>
        <p:txBody>
          <a:bodyPr vert="horz" wrap="square" lIns="0" tIns="12065" rIns="0" bIns="0" rtlCol="0">
            <a:spAutoFit/>
          </a:bodyPr>
          <a:lstStyle/>
          <a:p>
            <a:pPr marL="247015">
              <a:lnSpc>
                <a:spcPct val="100000"/>
              </a:lnSpc>
              <a:spcBef>
                <a:spcPts val="95"/>
              </a:spcBef>
            </a:pPr>
            <a:r>
              <a:rPr sz="1600" spc="-10" dirty="0">
                <a:latin typeface="Times New Roman"/>
                <a:cs typeface="Times New Roman"/>
              </a:rPr>
              <a:t>OutputStreamWriter</a:t>
            </a:r>
            <a:endParaRPr sz="1600">
              <a:latin typeface="Times New Roman"/>
              <a:cs typeface="Times New Roman"/>
            </a:endParaRPr>
          </a:p>
        </p:txBody>
      </p:sp>
      <p:sp>
        <p:nvSpPr>
          <p:cNvPr id="85" name="object 85"/>
          <p:cNvSpPr txBox="1">
            <a:spLocks noGrp="1"/>
          </p:cNvSpPr>
          <p:nvPr>
            <p:ph type="title"/>
          </p:nvPr>
        </p:nvSpPr>
        <p:spPr>
          <a:xfrm>
            <a:off x="2561932" y="432599"/>
            <a:ext cx="1168400" cy="299720"/>
          </a:xfrm>
          <a:prstGeom prst="rect">
            <a:avLst/>
          </a:prstGeom>
        </p:spPr>
        <p:txBody>
          <a:bodyPr vert="horz" wrap="square" lIns="0" tIns="12700" rIns="0" bIns="0" rtlCol="0">
            <a:spAutoFit/>
          </a:bodyPr>
          <a:lstStyle/>
          <a:p>
            <a:pPr marL="12700">
              <a:lnSpc>
                <a:spcPct val="100000"/>
              </a:lnSpc>
              <a:spcBef>
                <a:spcPts val="100"/>
              </a:spcBef>
            </a:pPr>
            <a:r>
              <a:rPr sz="1800" b="0" dirty="0">
                <a:latin typeface="微软雅黑"/>
                <a:cs typeface="微软雅黑"/>
              </a:rPr>
              <a:t>字节处理流</a:t>
            </a:r>
            <a:endParaRPr sz="1800">
              <a:latin typeface="微软雅黑"/>
              <a:cs typeface="微软雅黑"/>
            </a:endParaRPr>
          </a:p>
        </p:txBody>
      </p:sp>
      <p:sp>
        <p:nvSpPr>
          <p:cNvPr id="86" name="object 86"/>
          <p:cNvSpPr txBox="1"/>
          <p:nvPr/>
        </p:nvSpPr>
        <p:spPr>
          <a:xfrm>
            <a:off x="2561666" y="5679897"/>
            <a:ext cx="11684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微软雅黑"/>
                <a:cs typeface="微软雅黑"/>
              </a:rPr>
              <a:t>字符处理流</a:t>
            </a:r>
            <a:endParaRPr sz="1800">
              <a:latin typeface="微软雅黑"/>
              <a:cs typeface="微软雅黑"/>
            </a:endParaRPr>
          </a:p>
        </p:txBody>
      </p:sp>
      <p:sp>
        <p:nvSpPr>
          <p:cNvPr id="87" name="object 87"/>
          <p:cNvSpPr/>
          <p:nvPr/>
        </p:nvSpPr>
        <p:spPr>
          <a:xfrm>
            <a:off x="1044752" y="2859608"/>
            <a:ext cx="4533900" cy="76200"/>
          </a:xfrm>
          <a:custGeom>
            <a:avLst/>
            <a:gdLst/>
            <a:ahLst/>
            <a:cxnLst/>
            <a:rect l="l" t="t" r="r" b="b"/>
            <a:pathLst>
              <a:path w="4533900" h="76200">
                <a:moveTo>
                  <a:pt x="4457293" y="76200"/>
                </a:moveTo>
                <a:lnTo>
                  <a:pt x="4457293" y="0"/>
                </a:lnTo>
                <a:lnTo>
                  <a:pt x="4520793" y="31750"/>
                </a:lnTo>
                <a:lnTo>
                  <a:pt x="4476343" y="31750"/>
                </a:lnTo>
                <a:lnTo>
                  <a:pt x="4476343" y="44450"/>
                </a:lnTo>
                <a:lnTo>
                  <a:pt x="4520793" y="44450"/>
                </a:lnTo>
                <a:lnTo>
                  <a:pt x="4457293" y="76200"/>
                </a:lnTo>
                <a:close/>
              </a:path>
              <a:path w="4533900" h="76200">
                <a:moveTo>
                  <a:pt x="4457293" y="44450"/>
                </a:moveTo>
                <a:lnTo>
                  <a:pt x="0" y="44450"/>
                </a:lnTo>
                <a:lnTo>
                  <a:pt x="0" y="31750"/>
                </a:lnTo>
                <a:lnTo>
                  <a:pt x="4457293" y="31750"/>
                </a:lnTo>
                <a:lnTo>
                  <a:pt x="4457293" y="44450"/>
                </a:lnTo>
                <a:close/>
              </a:path>
              <a:path w="4533900" h="76200">
                <a:moveTo>
                  <a:pt x="4520793" y="44450"/>
                </a:moveTo>
                <a:lnTo>
                  <a:pt x="4476343" y="44450"/>
                </a:lnTo>
                <a:lnTo>
                  <a:pt x="4476343" y="31750"/>
                </a:lnTo>
                <a:lnTo>
                  <a:pt x="4520793" y="31750"/>
                </a:lnTo>
                <a:lnTo>
                  <a:pt x="4533493" y="38100"/>
                </a:lnTo>
                <a:lnTo>
                  <a:pt x="4520793" y="44450"/>
                </a:lnTo>
                <a:close/>
              </a:path>
            </a:pathLst>
          </a:custGeom>
          <a:solidFill>
            <a:srgbClr val="967A2C"/>
          </a:solidFill>
        </p:spPr>
        <p:txBody>
          <a:bodyPr wrap="square" lIns="0" tIns="0" rIns="0" bIns="0" rtlCol="0"/>
          <a:lstStyle/>
          <a:p>
            <a:endParaRPr/>
          </a:p>
        </p:txBody>
      </p:sp>
      <p:sp>
        <p:nvSpPr>
          <p:cNvPr id="88" name="object 88"/>
          <p:cNvSpPr/>
          <p:nvPr/>
        </p:nvSpPr>
        <p:spPr>
          <a:xfrm>
            <a:off x="1042758" y="5479135"/>
            <a:ext cx="4533900" cy="76200"/>
          </a:xfrm>
          <a:custGeom>
            <a:avLst/>
            <a:gdLst/>
            <a:ahLst/>
            <a:cxnLst/>
            <a:rect l="l" t="t" r="r" b="b"/>
            <a:pathLst>
              <a:path w="4533900" h="76200">
                <a:moveTo>
                  <a:pt x="4457306" y="76200"/>
                </a:moveTo>
                <a:lnTo>
                  <a:pt x="4457306" y="0"/>
                </a:lnTo>
                <a:lnTo>
                  <a:pt x="4520806" y="31750"/>
                </a:lnTo>
                <a:lnTo>
                  <a:pt x="4476356" y="31750"/>
                </a:lnTo>
                <a:lnTo>
                  <a:pt x="4476356" y="44450"/>
                </a:lnTo>
                <a:lnTo>
                  <a:pt x="4520806" y="44450"/>
                </a:lnTo>
                <a:lnTo>
                  <a:pt x="4457306" y="76200"/>
                </a:lnTo>
                <a:close/>
              </a:path>
              <a:path w="4533900" h="76200">
                <a:moveTo>
                  <a:pt x="4457306" y="44450"/>
                </a:moveTo>
                <a:lnTo>
                  <a:pt x="0" y="44450"/>
                </a:lnTo>
                <a:lnTo>
                  <a:pt x="0" y="31750"/>
                </a:lnTo>
                <a:lnTo>
                  <a:pt x="4457306" y="31750"/>
                </a:lnTo>
                <a:lnTo>
                  <a:pt x="4457306" y="44450"/>
                </a:lnTo>
                <a:close/>
              </a:path>
              <a:path w="4533900" h="76200">
                <a:moveTo>
                  <a:pt x="4520806" y="44450"/>
                </a:moveTo>
                <a:lnTo>
                  <a:pt x="4476356" y="44450"/>
                </a:lnTo>
                <a:lnTo>
                  <a:pt x="4476356" y="31750"/>
                </a:lnTo>
                <a:lnTo>
                  <a:pt x="4520806" y="31750"/>
                </a:lnTo>
                <a:lnTo>
                  <a:pt x="4533506" y="38100"/>
                </a:lnTo>
                <a:lnTo>
                  <a:pt x="4520806" y="44450"/>
                </a:lnTo>
                <a:close/>
              </a:path>
            </a:pathLst>
          </a:custGeom>
          <a:solidFill>
            <a:srgbClr val="967A2C"/>
          </a:solidFill>
        </p:spPr>
        <p:txBody>
          <a:bodyPr wrap="square" lIns="0" tIns="0" rIns="0" bIns="0" rtlCol="0"/>
          <a:lstStyle/>
          <a:p>
            <a:endParaRPr/>
          </a:p>
        </p:txBody>
      </p:sp>
      <p:sp>
        <p:nvSpPr>
          <p:cNvPr id="89" name="object 89"/>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70</a:t>
            </a:fld>
            <a:endParaRPr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3652" y="370357"/>
            <a:ext cx="1721485"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b="1" spc="-5" dirty="0">
                <a:latin typeface="微软雅黑"/>
                <a:cs typeface="微软雅黑"/>
              </a:rPr>
              <a:t>12</a:t>
            </a:r>
            <a:r>
              <a:rPr sz="2100" b="1" dirty="0">
                <a:latin typeface="微软雅黑"/>
                <a:cs typeface="微软雅黑"/>
              </a:rPr>
              <a:t>.7	标准I/O</a:t>
            </a:r>
            <a:endParaRPr sz="2100">
              <a:latin typeface="微软雅黑"/>
              <a:cs typeface="微软雅黑"/>
            </a:endParaRPr>
          </a:p>
        </p:txBody>
      </p:sp>
      <p:sp>
        <p:nvSpPr>
          <p:cNvPr id="7" name="object 7"/>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71</a:t>
            </a:fld>
            <a:endParaRPr dirty="0"/>
          </a:p>
        </p:txBody>
      </p:sp>
      <p:sp>
        <p:nvSpPr>
          <p:cNvPr id="3" name="object 3"/>
          <p:cNvSpPr txBox="1">
            <a:spLocks noGrp="1"/>
          </p:cNvSpPr>
          <p:nvPr>
            <p:ph type="title"/>
          </p:nvPr>
        </p:nvSpPr>
        <p:spPr>
          <a:xfrm>
            <a:off x="761682" y="1609090"/>
            <a:ext cx="6525259" cy="391160"/>
          </a:xfrm>
          <a:prstGeom prst="rect">
            <a:avLst/>
          </a:prstGeom>
        </p:spPr>
        <p:txBody>
          <a:bodyPr vert="horz" wrap="square" lIns="0" tIns="12700" rIns="0" bIns="0" rtlCol="0">
            <a:spAutoFit/>
          </a:bodyPr>
          <a:lstStyle/>
          <a:p>
            <a:pPr marL="12700">
              <a:lnSpc>
                <a:spcPct val="100000"/>
              </a:lnSpc>
              <a:spcBef>
                <a:spcPts val="100"/>
              </a:spcBef>
            </a:pPr>
            <a:r>
              <a:rPr b="0" spc="-5" dirty="0">
                <a:latin typeface="等线"/>
                <a:cs typeface="等线"/>
              </a:rPr>
              <a:t>System.in：InputStream</a:t>
            </a:r>
            <a:r>
              <a:rPr b="0" dirty="0">
                <a:latin typeface="等线"/>
                <a:cs typeface="等线"/>
              </a:rPr>
              <a:t>类型的，代表标准输入流</a:t>
            </a: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12700">
              <a:lnSpc>
                <a:spcPct val="100000"/>
              </a:lnSpc>
              <a:spcBef>
                <a:spcPts val="100"/>
              </a:spcBef>
            </a:pPr>
            <a:r>
              <a:rPr dirty="0"/>
              <a:t>，默认状态对应于键盘输入。</a:t>
            </a:r>
          </a:p>
          <a:p>
            <a:pPr marL="12700" marR="5080">
              <a:lnSpc>
                <a:spcPts val="2820"/>
              </a:lnSpc>
              <a:spcBef>
                <a:spcPts val="200"/>
              </a:spcBef>
            </a:pPr>
            <a:r>
              <a:rPr spc="-5" dirty="0">
                <a:latin typeface="Yu Gothic UI"/>
                <a:cs typeface="Yu Gothic UI"/>
              </a:rPr>
              <a:t>▫</a:t>
            </a:r>
            <a:r>
              <a:rPr spc="-5" dirty="0"/>
              <a:t>System.out：PrintStream</a:t>
            </a:r>
            <a:r>
              <a:rPr dirty="0"/>
              <a:t>类型的，代表标准输出 流，默认状态对应于显示器输出。</a:t>
            </a:r>
          </a:p>
          <a:p>
            <a:pPr marL="12700" marR="81280">
              <a:lnSpc>
                <a:spcPts val="2820"/>
              </a:lnSpc>
              <a:spcBef>
                <a:spcPts val="125"/>
              </a:spcBef>
            </a:pPr>
            <a:r>
              <a:rPr spc="-5" dirty="0">
                <a:latin typeface="Yu Gothic UI"/>
                <a:cs typeface="Yu Gothic UI"/>
              </a:rPr>
              <a:t>▫</a:t>
            </a:r>
            <a:r>
              <a:rPr spc="-5" dirty="0"/>
              <a:t>System.err：PrintStream</a:t>
            </a:r>
            <a:r>
              <a:rPr dirty="0"/>
              <a:t>类型的，代表标准错误 信息输出流，默认状态对应于显示器输出。</a:t>
            </a:r>
          </a:p>
          <a:p>
            <a:pPr>
              <a:lnSpc>
                <a:spcPct val="100000"/>
              </a:lnSpc>
              <a:spcBef>
                <a:spcPts val="65"/>
              </a:spcBef>
            </a:pPr>
            <a:endParaRPr sz="1850"/>
          </a:p>
          <a:p>
            <a:pPr marL="235585" marR="1181100">
              <a:lnSpc>
                <a:spcPct val="100000"/>
              </a:lnSpc>
              <a:spcBef>
                <a:spcPts val="5"/>
              </a:spcBef>
            </a:pPr>
            <a:r>
              <a:rPr sz="1800" spc="-45" dirty="0">
                <a:latin typeface="微软雅黑"/>
                <a:cs typeface="微软雅黑"/>
              </a:rPr>
              <a:t>S</a:t>
            </a:r>
            <a:r>
              <a:rPr sz="1800" dirty="0">
                <a:latin typeface="微软雅黑"/>
                <a:cs typeface="微软雅黑"/>
              </a:rPr>
              <a:t>ys</a:t>
            </a:r>
            <a:r>
              <a:rPr sz="1800" spc="-20" dirty="0">
                <a:latin typeface="微软雅黑"/>
                <a:cs typeface="微软雅黑"/>
              </a:rPr>
              <a:t>t</a:t>
            </a:r>
            <a:r>
              <a:rPr sz="1800" spc="-5" dirty="0">
                <a:latin typeface="微软雅黑"/>
                <a:cs typeface="微软雅黑"/>
              </a:rPr>
              <a:t>em</a:t>
            </a:r>
            <a:r>
              <a:rPr sz="1800" dirty="0">
                <a:latin typeface="微软雅黑"/>
                <a:cs typeface="微软雅黑"/>
              </a:rPr>
              <a:t>.ou</a:t>
            </a:r>
            <a:r>
              <a:rPr sz="1800" spc="-5" dirty="0">
                <a:latin typeface="微软雅黑"/>
                <a:cs typeface="微软雅黑"/>
              </a:rPr>
              <a:t>t</a:t>
            </a:r>
            <a:r>
              <a:rPr sz="1800" dirty="0">
                <a:latin typeface="微软雅黑"/>
                <a:cs typeface="微软雅黑"/>
              </a:rPr>
              <a:t>已经事先被包装成了</a:t>
            </a:r>
            <a:r>
              <a:rPr sz="1800" spc="-5" dirty="0">
                <a:latin typeface="微软雅黑"/>
                <a:cs typeface="微软雅黑"/>
              </a:rPr>
              <a:t>Pr</a:t>
            </a:r>
            <a:r>
              <a:rPr sz="1800" dirty="0">
                <a:latin typeface="微软雅黑"/>
                <a:cs typeface="微软雅黑"/>
              </a:rPr>
              <a:t>in</a:t>
            </a:r>
            <a:r>
              <a:rPr sz="1800" spc="-5" dirty="0">
                <a:latin typeface="微软雅黑"/>
                <a:cs typeface="微软雅黑"/>
              </a:rPr>
              <a:t>t</a:t>
            </a:r>
            <a:r>
              <a:rPr sz="1800" spc="-65" dirty="0">
                <a:latin typeface="微软雅黑"/>
                <a:cs typeface="微软雅黑"/>
              </a:rPr>
              <a:t>S</a:t>
            </a:r>
            <a:r>
              <a:rPr sz="1800" spc="-5" dirty="0">
                <a:latin typeface="微软雅黑"/>
                <a:cs typeface="微软雅黑"/>
              </a:rPr>
              <a:t>t</a:t>
            </a:r>
            <a:r>
              <a:rPr sz="1800" spc="-35" dirty="0">
                <a:latin typeface="微软雅黑"/>
                <a:cs typeface="微软雅黑"/>
              </a:rPr>
              <a:t>r</a:t>
            </a:r>
            <a:r>
              <a:rPr sz="1800" spc="-5" dirty="0">
                <a:latin typeface="微软雅黑"/>
                <a:cs typeface="微软雅黑"/>
              </a:rPr>
              <a:t>e</a:t>
            </a:r>
            <a:r>
              <a:rPr sz="1800" dirty="0">
                <a:latin typeface="微软雅黑"/>
                <a:cs typeface="微软雅黑"/>
              </a:rPr>
              <a:t>a</a:t>
            </a:r>
            <a:r>
              <a:rPr sz="1800" spc="-5" dirty="0">
                <a:latin typeface="微软雅黑"/>
                <a:cs typeface="微软雅黑"/>
              </a:rPr>
              <a:t>m</a:t>
            </a:r>
            <a:r>
              <a:rPr sz="1800" dirty="0">
                <a:latin typeface="微软雅黑"/>
                <a:cs typeface="微软雅黑"/>
              </a:rPr>
              <a:t>对象。  </a:t>
            </a:r>
            <a:r>
              <a:rPr sz="1800" spc="-10" dirty="0">
                <a:latin typeface="微软雅黑"/>
                <a:cs typeface="微软雅黑"/>
              </a:rPr>
              <a:t>System.err</a:t>
            </a:r>
            <a:r>
              <a:rPr sz="1800" dirty="0">
                <a:latin typeface="微软雅黑"/>
                <a:cs typeface="微软雅黑"/>
              </a:rPr>
              <a:t>同样也是</a:t>
            </a:r>
            <a:r>
              <a:rPr sz="1800" spc="-15" dirty="0">
                <a:latin typeface="微软雅黑"/>
                <a:cs typeface="微软雅黑"/>
              </a:rPr>
              <a:t>PrintStream</a:t>
            </a:r>
            <a:endParaRPr sz="1800">
              <a:latin typeface="微软雅黑"/>
              <a:cs typeface="微软雅黑"/>
            </a:endParaRPr>
          </a:p>
          <a:p>
            <a:pPr marL="235585">
              <a:lnSpc>
                <a:spcPct val="100000"/>
              </a:lnSpc>
            </a:pPr>
            <a:r>
              <a:rPr sz="1800" spc="-10" dirty="0">
                <a:latin typeface="微软雅黑"/>
                <a:cs typeface="微软雅黑"/>
              </a:rPr>
              <a:t>System.in</a:t>
            </a:r>
            <a:r>
              <a:rPr sz="1800" dirty="0">
                <a:latin typeface="微软雅黑"/>
                <a:cs typeface="微软雅黑"/>
              </a:rPr>
              <a:t>却是一个没有被包装过的未经加工的</a:t>
            </a:r>
            <a:r>
              <a:rPr sz="1800" spc="-15" dirty="0">
                <a:latin typeface="微软雅黑"/>
                <a:cs typeface="微软雅黑"/>
              </a:rPr>
              <a:t>InputStream</a:t>
            </a:r>
            <a:endParaRPr sz="1800">
              <a:latin typeface="微软雅黑"/>
              <a:cs typeface="微软雅黑"/>
            </a:endParaRPr>
          </a:p>
        </p:txBody>
      </p:sp>
      <p:sp>
        <p:nvSpPr>
          <p:cNvPr id="5" name="object 5"/>
          <p:cNvSpPr txBox="1"/>
          <p:nvPr/>
        </p:nvSpPr>
        <p:spPr>
          <a:xfrm>
            <a:off x="1410335" y="5313045"/>
            <a:ext cx="3325495" cy="451484"/>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6C39"/>
                </a:solidFill>
                <a:latin typeface="Times New Roman"/>
                <a:cs typeface="Times New Roman"/>
              </a:rPr>
              <a:t>Sample : </a:t>
            </a:r>
            <a:r>
              <a:rPr sz="2800" spc="-5" dirty="0">
                <a:solidFill>
                  <a:srgbClr val="006C39"/>
                </a:solidFill>
                <a:latin typeface="宋体"/>
                <a:cs typeface="宋体"/>
              </a:rPr>
              <a:t>Echo.java</a:t>
            </a:r>
            <a:r>
              <a:rPr sz="2800" spc="-45" dirty="0">
                <a:solidFill>
                  <a:srgbClr val="006C39"/>
                </a:solidFill>
                <a:latin typeface="宋体"/>
                <a:cs typeface="宋体"/>
              </a:rPr>
              <a:t> </a:t>
            </a:r>
            <a:r>
              <a:rPr sz="2800" spc="-5" dirty="0">
                <a:solidFill>
                  <a:srgbClr val="967A2C"/>
                </a:solidFill>
                <a:latin typeface="宋体"/>
                <a:cs typeface="宋体"/>
              </a:rPr>
              <a:t>*</a:t>
            </a:r>
            <a:endParaRPr sz="2800">
              <a:latin typeface="宋体"/>
              <a:cs typeface="宋体"/>
            </a:endParaRPr>
          </a:p>
        </p:txBody>
      </p:sp>
      <p:sp>
        <p:nvSpPr>
          <p:cNvPr id="6" name="object 6"/>
          <p:cNvSpPr txBox="1"/>
          <p:nvPr/>
        </p:nvSpPr>
        <p:spPr>
          <a:xfrm>
            <a:off x="5082540" y="5367654"/>
            <a:ext cx="258699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006C39"/>
                </a:solidFill>
                <a:latin typeface="等线"/>
                <a:cs typeface="等线"/>
              </a:rPr>
              <a:t>ChangeSystemOut</a:t>
            </a:r>
            <a:endParaRPr sz="2400">
              <a:latin typeface="等线"/>
              <a:cs typeface="等线"/>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3652" y="370357"/>
            <a:ext cx="1721485"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b="1" spc="-5" dirty="0">
                <a:latin typeface="微软雅黑"/>
                <a:cs typeface="微软雅黑"/>
              </a:rPr>
              <a:t>12</a:t>
            </a:r>
            <a:r>
              <a:rPr sz="2100" b="1" dirty="0">
                <a:latin typeface="微软雅黑"/>
                <a:cs typeface="微软雅黑"/>
              </a:rPr>
              <a:t>.7	标准I/O</a:t>
            </a:r>
            <a:endParaRPr sz="2100">
              <a:latin typeface="微软雅黑"/>
              <a:cs typeface="微软雅黑"/>
            </a:endParaRP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72</a:t>
            </a:fld>
            <a:endParaRPr dirty="0"/>
          </a:p>
        </p:txBody>
      </p:sp>
      <p:sp>
        <p:nvSpPr>
          <p:cNvPr id="3" name="object 3"/>
          <p:cNvSpPr txBox="1"/>
          <p:nvPr/>
        </p:nvSpPr>
        <p:spPr>
          <a:xfrm>
            <a:off x="1252855" y="1500504"/>
            <a:ext cx="2711450" cy="148717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宋体"/>
                <a:cs typeface="宋体"/>
              </a:rPr>
              <a:t>重 定 向 ：  </a:t>
            </a:r>
            <a:r>
              <a:rPr sz="2400" b="1" spc="-5" dirty="0">
                <a:solidFill>
                  <a:srgbClr val="967A2C"/>
                </a:solidFill>
                <a:latin typeface="Times New Roman"/>
                <a:cs typeface="Times New Roman"/>
              </a:rPr>
              <a:t>setIn</a:t>
            </a:r>
            <a:r>
              <a:rPr sz="2400" b="1" spc="-5" dirty="0">
                <a:latin typeface="Times New Roman"/>
                <a:cs typeface="Times New Roman"/>
              </a:rPr>
              <a:t>(InputStream)  </a:t>
            </a:r>
            <a:r>
              <a:rPr sz="2400" b="1" dirty="0">
                <a:solidFill>
                  <a:srgbClr val="967A2C"/>
                </a:solidFill>
                <a:latin typeface="Times New Roman"/>
                <a:cs typeface="Times New Roman"/>
              </a:rPr>
              <a:t>s</a:t>
            </a:r>
            <a:r>
              <a:rPr sz="2400" b="1" spc="-5" dirty="0">
                <a:solidFill>
                  <a:srgbClr val="967A2C"/>
                </a:solidFill>
                <a:latin typeface="Times New Roman"/>
                <a:cs typeface="Times New Roman"/>
              </a:rPr>
              <a:t>e</a:t>
            </a:r>
            <a:r>
              <a:rPr sz="2400" b="1" dirty="0">
                <a:solidFill>
                  <a:srgbClr val="967A2C"/>
                </a:solidFill>
                <a:latin typeface="Times New Roman"/>
                <a:cs typeface="Times New Roman"/>
              </a:rPr>
              <a:t>t</a:t>
            </a:r>
            <a:r>
              <a:rPr sz="2400" b="1" spc="-5" dirty="0">
                <a:solidFill>
                  <a:srgbClr val="967A2C"/>
                </a:solidFill>
                <a:latin typeface="Times New Roman"/>
                <a:cs typeface="Times New Roman"/>
              </a:rPr>
              <a:t>O</a:t>
            </a:r>
            <a:r>
              <a:rPr sz="2400" b="1" dirty="0">
                <a:solidFill>
                  <a:srgbClr val="967A2C"/>
                </a:solidFill>
                <a:latin typeface="Times New Roman"/>
                <a:cs typeface="Times New Roman"/>
              </a:rPr>
              <a:t>ut</a:t>
            </a:r>
            <a:r>
              <a:rPr sz="2400" b="1" dirty="0">
                <a:latin typeface="Times New Roman"/>
                <a:cs typeface="Times New Roman"/>
              </a:rPr>
              <a:t>(</a:t>
            </a:r>
            <a:r>
              <a:rPr sz="2400" b="1" spc="-5" dirty="0">
                <a:latin typeface="Times New Roman"/>
                <a:cs typeface="Times New Roman"/>
              </a:rPr>
              <a:t>Pri</a:t>
            </a:r>
            <a:r>
              <a:rPr sz="2400" b="1" dirty="0">
                <a:latin typeface="Times New Roman"/>
                <a:cs typeface="Times New Roman"/>
              </a:rPr>
              <a:t>ntSt</a:t>
            </a:r>
            <a:r>
              <a:rPr sz="2400" b="1" spc="-50" dirty="0">
                <a:latin typeface="Times New Roman"/>
                <a:cs typeface="Times New Roman"/>
              </a:rPr>
              <a:t>r</a:t>
            </a:r>
            <a:r>
              <a:rPr sz="2400" b="1" spc="-5" dirty="0">
                <a:latin typeface="Times New Roman"/>
                <a:cs typeface="Times New Roman"/>
              </a:rPr>
              <a:t>e</a:t>
            </a:r>
            <a:r>
              <a:rPr sz="2400" b="1" dirty="0">
                <a:latin typeface="Times New Roman"/>
                <a:cs typeface="Times New Roman"/>
              </a:rPr>
              <a:t>am)  </a:t>
            </a:r>
            <a:r>
              <a:rPr sz="2400" b="1" spc="-5" dirty="0">
                <a:solidFill>
                  <a:srgbClr val="967A2C"/>
                </a:solidFill>
                <a:latin typeface="Times New Roman"/>
                <a:cs typeface="Times New Roman"/>
              </a:rPr>
              <a:t>setErr</a:t>
            </a:r>
            <a:r>
              <a:rPr sz="2400" b="1" spc="-5" dirty="0">
                <a:latin typeface="Times New Roman"/>
                <a:cs typeface="Times New Roman"/>
              </a:rPr>
              <a:t>(PrintStream)</a:t>
            </a:r>
            <a:endParaRPr sz="2400">
              <a:latin typeface="Times New Roman"/>
              <a:cs typeface="Times New Roman"/>
            </a:endParaRPr>
          </a:p>
        </p:txBody>
      </p:sp>
      <p:sp>
        <p:nvSpPr>
          <p:cNvPr id="4" name="object 4"/>
          <p:cNvSpPr txBox="1"/>
          <p:nvPr/>
        </p:nvSpPr>
        <p:spPr>
          <a:xfrm>
            <a:off x="1625917" y="4376737"/>
            <a:ext cx="4214495" cy="451484"/>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006C39"/>
                </a:solidFill>
                <a:latin typeface="Times New Roman"/>
                <a:cs typeface="Times New Roman"/>
              </a:rPr>
              <a:t>Sample :</a:t>
            </a:r>
            <a:r>
              <a:rPr sz="2800" spc="-30" dirty="0">
                <a:solidFill>
                  <a:srgbClr val="006C39"/>
                </a:solidFill>
                <a:latin typeface="Times New Roman"/>
                <a:cs typeface="Times New Roman"/>
              </a:rPr>
              <a:t> </a:t>
            </a:r>
            <a:r>
              <a:rPr sz="2800" spc="-5" dirty="0">
                <a:solidFill>
                  <a:srgbClr val="006C39"/>
                </a:solidFill>
                <a:latin typeface="宋体"/>
                <a:cs typeface="宋体"/>
              </a:rPr>
              <a:t>Redirecting.java</a:t>
            </a:r>
            <a:endParaRPr sz="2800">
              <a:latin typeface="宋体"/>
              <a:cs typeface="宋体"/>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1481454"/>
            <a:ext cx="8044815" cy="1781810"/>
          </a:xfrm>
          <a:prstGeom prst="rect">
            <a:avLst/>
          </a:prstGeom>
        </p:spPr>
        <p:txBody>
          <a:bodyPr vert="horz" wrap="square" lIns="0" tIns="49530" rIns="0" bIns="0" rtlCol="0">
            <a:spAutoFit/>
          </a:bodyPr>
          <a:lstStyle/>
          <a:p>
            <a:pPr marL="184150" marR="5080" indent="-171450">
              <a:lnSpc>
                <a:spcPts val="2260"/>
              </a:lnSpc>
              <a:spcBef>
                <a:spcPts val="390"/>
              </a:spcBef>
              <a:buFont typeface="Arial"/>
              <a:buChar char="•"/>
              <a:tabLst>
                <a:tab pos="184150" algn="l"/>
              </a:tabLst>
            </a:pPr>
            <a:r>
              <a:rPr sz="2100" dirty="0">
                <a:latin typeface="微软雅黑"/>
                <a:cs typeface="微软雅黑"/>
              </a:rPr>
              <a:t>除了存取文件的内容之外，文件管理还包括创建文件</a:t>
            </a:r>
            <a:r>
              <a:rPr sz="2100" spc="-5" dirty="0">
                <a:latin typeface="微软雅黑"/>
                <a:cs typeface="微软雅黑"/>
              </a:rPr>
              <a:t>/</a:t>
            </a:r>
            <a:r>
              <a:rPr sz="2100" dirty="0">
                <a:latin typeface="微软雅黑"/>
                <a:cs typeface="微软雅黑"/>
              </a:rPr>
              <a:t>目录、获取文 件信息、复制移动删除文件等。</a:t>
            </a:r>
            <a:endParaRPr sz="2100">
              <a:latin typeface="微软雅黑"/>
              <a:cs typeface="微软雅黑"/>
            </a:endParaRPr>
          </a:p>
          <a:p>
            <a:pPr marL="184150" indent="-171450">
              <a:lnSpc>
                <a:spcPct val="100000"/>
              </a:lnSpc>
              <a:spcBef>
                <a:spcPts val="470"/>
              </a:spcBef>
              <a:buFont typeface="Arial"/>
              <a:buChar char="•"/>
              <a:tabLst>
                <a:tab pos="184150" algn="l"/>
              </a:tabLst>
            </a:pPr>
            <a:r>
              <a:rPr sz="2100" spc="-25" dirty="0">
                <a:latin typeface="微软雅黑"/>
                <a:cs typeface="微软雅黑"/>
              </a:rPr>
              <a:t>Java</a:t>
            </a:r>
            <a:r>
              <a:rPr sz="2100" spc="-10" dirty="0">
                <a:latin typeface="微软雅黑"/>
                <a:cs typeface="微软雅黑"/>
              </a:rPr>
              <a:t> </a:t>
            </a:r>
            <a:r>
              <a:rPr sz="2100" spc="-5" dirty="0">
                <a:latin typeface="微软雅黑"/>
                <a:cs typeface="微软雅黑"/>
              </a:rPr>
              <a:t>SE 7</a:t>
            </a:r>
            <a:r>
              <a:rPr sz="2100" dirty="0">
                <a:latin typeface="微软雅黑"/>
                <a:cs typeface="微软雅黑"/>
              </a:rPr>
              <a:t>在</a:t>
            </a:r>
            <a:r>
              <a:rPr sz="2100" spc="-10" dirty="0">
                <a:solidFill>
                  <a:srgbClr val="FF0000"/>
                </a:solidFill>
                <a:latin typeface="微软雅黑"/>
                <a:cs typeface="微软雅黑"/>
              </a:rPr>
              <a:t>java.nio.file</a:t>
            </a:r>
            <a:r>
              <a:rPr sz="2100" dirty="0">
                <a:solidFill>
                  <a:srgbClr val="FF0000"/>
                </a:solidFill>
                <a:latin typeface="微软雅黑"/>
                <a:cs typeface="微软雅黑"/>
              </a:rPr>
              <a:t>包</a:t>
            </a:r>
            <a:r>
              <a:rPr sz="2100" dirty="0">
                <a:latin typeface="微软雅黑"/>
                <a:cs typeface="微软雅黑"/>
              </a:rPr>
              <a:t>中新增了</a:t>
            </a:r>
            <a:r>
              <a:rPr sz="2100" spc="-25" dirty="0">
                <a:latin typeface="微软雅黑"/>
                <a:cs typeface="微软雅黑"/>
              </a:rPr>
              <a:t>Path</a:t>
            </a:r>
            <a:r>
              <a:rPr sz="2100" dirty="0">
                <a:solidFill>
                  <a:srgbClr val="FF0000"/>
                </a:solidFill>
                <a:latin typeface="微软雅黑"/>
                <a:cs typeface="微软雅黑"/>
              </a:rPr>
              <a:t>接口</a:t>
            </a:r>
            <a:r>
              <a:rPr sz="2100" dirty="0">
                <a:latin typeface="微软雅黑"/>
                <a:cs typeface="微软雅黑"/>
              </a:rPr>
              <a:t>、</a:t>
            </a:r>
            <a:r>
              <a:rPr sz="2100" spc="-20" dirty="0">
                <a:latin typeface="微软雅黑"/>
                <a:cs typeface="微软雅黑"/>
              </a:rPr>
              <a:t>Paths</a:t>
            </a:r>
            <a:r>
              <a:rPr sz="2100" dirty="0">
                <a:solidFill>
                  <a:srgbClr val="FF0000"/>
                </a:solidFill>
                <a:latin typeface="微软雅黑"/>
                <a:cs typeface="微软雅黑"/>
              </a:rPr>
              <a:t>类</a:t>
            </a:r>
            <a:r>
              <a:rPr sz="2100" dirty="0">
                <a:latin typeface="微软雅黑"/>
                <a:cs typeface="微软雅黑"/>
              </a:rPr>
              <a:t>和</a:t>
            </a:r>
            <a:r>
              <a:rPr sz="2100" spc="-5" dirty="0">
                <a:latin typeface="微软雅黑"/>
                <a:cs typeface="微软雅黑"/>
              </a:rPr>
              <a:t>Files</a:t>
            </a:r>
            <a:r>
              <a:rPr sz="2100" dirty="0">
                <a:solidFill>
                  <a:srgbClr val="FF0000"/>
                </a:solidFill>
                <a:latin typeface="微软雅黑"/>
                <a:cs typeface="微软雅黑"/>
              </a:rPr>
              <a:t>类</a:t>
            </a:r>
            <a:r>
              <a:rPr sz="2100" dirty="0">
                <a:latin typeface="微软雅黑"/>
                <a:cs typeface="微软雅黑"/>
              </a:rPr>
              <a:t>。</a:t>
            </a:r>
            <a:endParaRPr sz="2100">
              <a:latin typeface="微软雅黑"/>
              <a:cs typeface="微软雅黑"/>
            </a:endParaRPr>
          </a:p>
          <a:p>
            <a:pPr>
              <a:lnSpc>
                <a:spcPct val="100000"/>
              </a:lnSpc>
              <a:spcBef>
                <a:spcPts val="5"/>
              </a:spcBef>
              <a:buFont typeface="Arial"/>
              <a:buChar char="•"/>
            </a:pPr>
            <a:endParaRPr sz="1900">
              <a:latin typeface="微软雅黑"/>
              <a:cs typeface="微软雅黑"/>
            </a:endParaRPr>
          </a:p>
          <a:p>
            <a:pPr marL="184150" indent="-171450">
              <a:lnSpc>
                <a:spcPct val="100000"/>
              </a:lnSpc>
              <a:buFont typeface="Arial"/>
              <a:buChar char="•"/>
              <a:tabLst>
                <a:tab pos="184150" algn="l"/>
              </a:tabLst>
            </a:pPr>
            <a:r>
              <a:rPr sz="2100" dirty="0">
                <a:latin typeface="微软雅黑"/>
                <a:cs typeface="微软雅黑"/>
              </a:rPr>
              <a:t>主要介绍</a:t>
            </a:r>
            <a:r>
              <a:rPr sz="2100" spc="-5" dirty="0">
                <a:latin typeface="微软雅黑"/>
                <a:cs typeface="微软雅黑"/>
              </a:rPr>
              <a:t>File</a:t>
            </a:r>
            <a:r>
              <a:rPr sz="2100" dirty="0">
                <a:latin typeface="微软雅黑"/>
                <a:cs typeface="微软雅黑"/>
              </a:rPr>
              <a:t>类</a:t>
            </a:r>
            <a:endParaRPr sz="2100">
              <a:latin typeface="微软雅黑"/>
              <a:cs typeface="微软雅黑"/>
            </a:endParaRPr>
          </a:p>
        </p:txBody>
      </p:sp>
      <p:sp>
        <p:nvSpPr>
          <p:cNvPr id="4" name="object 4"/>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73</a:t>
            </a:fld>
            <a:endParaRPr dirty="0"/>
          </a:p>
        </p:txBody>
      </p:sp>
      <p:sp>
        <p:nvSpPr>
          <p:cNvPr id="3" name="object 3"/>
          <p:cNvSpPr txBox="1">
            <a:spLocks noGrp="1"/>
          </p:cNvSpPr>
          <p:nvPr>
            <p:ph type="title"/>
          </p:nvPr>
        </p:nvSpPr>
        <p:spPr>
          <a:xfrm>
            <a:off x="1283652" y="370357"/>
            <a:ext cx="1820545" cy="345440"/>
          </a:xfrm>
          <a:prstGeom prst="rect">
            <a:avLst/>
          </a:prstGeom>
        </p:spPr>
        <p:txBody>
          <a:bodyPr vert="horz" wrap="square" lIns="0" tIns="12700" rIns="0" bIns="0" rtlCol="0">
            <a:spAutoFit/>
          </a:bodyPr>
          <a:lstStyle/>
          <a:p>
            <a:pPr marL="12700">
              <a:lnSpc>
                <a:spcPct val="100000"/>
              </a:lnSpc>
              <a:spcBef>
                <a:spcPts val="100"/>
              </a:spcBef>
              <a:tabLst>
                <a:tab pos="740410" algn="l"/>
              </a:tabLst>
            </a:pPr>
            <a:r>
              <a:rPr sz="2100" spc="-5" dirty="0"/>
              <a:t>12</a:t>
            </a:r>
            <a:r>
              <a:rPr sz="2100" dirty="0"/>
              <a:t>.6	操作文件</a:t>
            </a:r>
            <a:endParaRPr sz="21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3" name="object 3"/>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4" name="object 4"/>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5" name="object 5"/>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6" name="object 6"/>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7" name="object 7"/>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8" name="object 8"/>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9" name="object 9"/>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5" name="object 15"/>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6" name="object 16"/>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20" name="object 20"/>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1" name="object 21"/>
          <p:cNvSpPr txBox="1"/>
          <p:nvPr/>
        </p:nvSpPr>
        <p:spPr>
          <a:xfrm>
            <a:off x="821055" y="370700"/>
            <a:ext cx="7177405" cy="5123815"/>
          </a:xfrm>
          <a:prstGeom prst="rect">
            <a:avLst/>
          </a:prstGeom>
        </p:spPr>
        <p:txBody>
          <a:bodyPr vert="horz" wrap="square" lIns="0" tIns="12700" rIns="0" bIns="0" rtlCol="0">
            <a:spAutoFit/>
          </a:bodyPr>
          <a:lstStyle/>
          <a:p>
            <a:pPr marL="474980">
              <a:lnSpc>
                <a:spcPct val="100000"/>
              </a:lnSpc>
              <a:spcBef>
                <a:spcPts val="100"/>
              </a:spcBef>
            </a:pPr>
            <a:r>
              <a:rPr sz="2100" b="1" spc="-5" dirty="0">
                <a:latin typeface="微软雅黑"/>
                <a:cs typeface="微软雅黑"/>
              </a:rPr>
              <a:t>12.6.1</a:t>
            </a:r>
            <a:r>
              <a:rPr sz="2100" b="1" spc="-10" dirty="0">
                <a:latin typeface="微软雅黑"/>
                <a:cs typeface="微软雅黑"/>
              </a:rPr>
              <a:t> </a:t>
            </a:r>
            <a:r>
              <a:rPr sz="2100" b="1" spc="-5" dirty="0">
                <a:latin typeface="微软雅黑"/>
                <a:cs typeface="微软雅黑"/>
              </a:rPr>
              <a:t>File</a:t>
            </a:r>
            <a:r>
              <a:rPr sz="2100" b="1" dirty="0">
                <a:latin typeface="微软雅黑"/>
                <a:cs typeface="微软雅黑"/>
              </a:rPr>
              <a:t>类</a:t>
            </a:r>
            <a:endParaRPr sz="2100">
              <a:latin typeface="微软雅黑"/>
              <a:cs typeface="微软雅黑"/>
            </a:endParaRPr>
          </a:p>
          <a:p>
            <a:pPr>
              <a:lnSpc>
                <a:spcPct val="100000"/>
              </a:lnSpc>
              <a:spcBef>
                <a:spcPts val="85"/>
              </a:spcBef>
            </a:pPr>
            <a:endParaRPr sz="3500">
              <a:latin typeface="微软雅黑"/>
              <a:cs typeface="微软雅黑"/>
            </a:endParaRPr>
          </a:p>
          <a:p>
            <a:pPr marL="184150" marR="5080" indent="-171450">
              <a:lnSpc>
                <a:spcPct val="79900"/>
              </a:lnSpc>
              <a:buFont typeface="Arial"/>
              <a:buChar char="•"/>
              <a:tabLst>
                <a:tab pos="184150" algn="l"/>
              </a:tabLst>
            </a:pPr>
            <a:r>
              <a:rPr sz="2800" dirty="0">
                <a:latin typeface="微软雅黑"/>
                <a:cs typeface="微软雅黑"/>
              </a:rPr>
              <a:t>F</a:t>
            </a:r>
            <a:r>
              <a:rPr sz="2800" spc="-5" dirty="0">
                <a:latin typeface="微软雅黑"/>
                <a:cs typeface="微软雅黑"/>
              </a:rPr>
              <a:t>ile</a:t>
            </a:r>
            <a:r>
              <a:rPr sz="2800" dirty="0">
                <a:latin typeface="微软雅黑"/>
                <a:cs typeface="微软雅黑"/>
              </a:rPr>
              <a:t>类包含了对文件、目录进行操作的静态</a:t>
            </a:r>
            <a:r>
              <a:rPr sz="2800" spc="-5" dirty="0">
                <a:latin typeface="微软雅黑"/>
                <a:cs typeface="微软雅黑"/>
              </a:rPr>
              <a:t>方 </a:t>
            </a:r>
            <a:r>
              <a:rPr sz="2800" dirty="0">
                <a:latin typeface="微软雅黑"/>
                <a:cs typeface="微软雅黑"/>
              </a:rPr>
              <a:t>法</a:t>
            </a:r>
            <a:r>
              <a:rPr sz="2800" spc="-5" dirty="0">
                <a:latin typeface="微软雅黑"/>
                <a:cs typeface="微软雅黑"/>
              </a:rPr>
              <a:t>。</a:t>
            </a:r>
            <a:endParaRPr sz="2800">
              <a:latin typeface="微软雅黑"/>
              <a:cs typeface="微软雅黑"/>
            </a:endParaRPr>
          </a:p>
          <a:p>
            <a:pPr marL="641350" lvl="1" indent="-171450">
              <a:lnSpc>
                <a:spcPts val="2955"/>
              </a:lnSpc>
              <a:buFont typeface="Arial"/>
              <a:buChar char="•"/>
              <a:tabLst>
                <a:tab pos="641350" algn="l"/>
              </a:tabLst>
            </a:pPr>
            <a:r>
              <a:rPr sz="2800" spc="-5" dirty="0">
                <a:latin typeface="微软雅黑"/>
                <a:cs typeface="微软雅黑"/>
              </a:rPr>
              <a:t>File</a:t>
            </a:r>
            <a:r>
              <a:rPr sz="2800" dirty="0">
                <a:latin typeface="微软雅黑"/>
                <a:cs typeface="微软雅黑"/>
              </a:rPr>
              <a:t>对象代表一个文件或目</a:t>
            </a:r>
            <a:r>
              <a:rPr sz="2800" spc="-5" dirty="0">
                <a:latin typeface="微软雅黑"/>
                <a:cs typeface="微软雅黑"/>
              </a:rPr>
              <a:t>录</a:t>
            </a:r>
            <a:endParaRPr sz="2800">
              <a:latin typeface="微软雅黑"/>
              <a:cs typeface="微软雅黑"/>
            </a:endParaRPr>
          </a:p>
          <a:p>
            <a:pPr marL="1098550" lvl="2" indent="-171450">
              <a:lnSpc>
                <a:spcPts val="2715"/>
              </a:lnSpc>
              <a:buFont typeface="Arial"/>
              <a:buChar char="•"/>
              <a:tabLst>
                <a:tab pos="1098550" algn="l"/>
              </a:tabLst>
            </a:pPr>
            <a:r>
              <a:rPr sz="2400" dirty="0">
                <a:latin typeface="微软雅黑"/>
                <a:cs typeface="微软雅黑"/>
              </a:rPr>
              <a:t>File</a:t>
            </a:r>
            <a:r>
              <a:rPr sz="2400" spc="-15" dirty="0">
                <a:latin typeface="微软雅黑"/>
                <a:cs typeface="微软雅黑"/>
              </a:rPr>
              <a:t> </a:t>
            </a:r>
            <a:r>
              <a:rPr sz="2400" spc="-5" dirty="0">
                <a:latin typeface="微软雅黑"/>
                <a:cs typeface="微软雅黑"/>
              </a:rPr>
              <a:t>f=new</a:t>
            </a:r>
            <a:r>
              <a:rPr sz="2400" spc="-15" dirty="0">
                <a:latin typeface="微软雅黑"/>
                <a:cs typeface="微软雅黑"/>
              </a:rPr>
              <a:t> </a:t>
            </a:r>
            <a:r>
              <a:rPr sz="2400" spc="-40" dirty="0">
                <a:latin typeface="微软雅黑"/>
                <a:cs typeface="微软雅黑"/>
              </a:rPr>
              <a:t>File(“.”);</a:t>
            </a:r>
            <a:r>
              <a:rPr sz="2000" dirty="0">
                <a:latin typeface="微软雅黑"/>
                <a:cs typeface="微软雅黑"/>
              </a:rPr>
              <a:t>将目录包装为</a:t>
            </a:r>
            <a:r>
              <a:rPr sz="2000" spc="-5" dirty="0">
                <a:latin typeface="微软雅黑"/>
                <a:cs typeface="微软雅黑"/>
              </a:rPr>
              <a:t>file</a:t>
            </a:r>
            <a:r>
              <a:rPr sz="2000" dirty="0">
                <a:latin typeface="微软雅黑"/>
                <a:cs typeface="微软雅黑"/>
              </a:rPr>
              <a:t>对</a:t>
            </a:r>
            <a:r>
              <a:rPr sz="2000" spc="5" dirty="0">
                <a:latin typeface="微软雅黑"/>
                <a:cs typeface="微软雅黑"/>
              </a:rPr>
              <a:t>象</a:t>
            </a:r>
            <a:endParaRPr sz="2000">
              <a:latin typeface="微软雅黑"/>
              <a:cs typeface="微软雅黑"/>
            </a:endParaRPr>
          </a:p>
          <a:p>
            <a:pPr marL="1098550" lvl="2" indent="-171450">
              <a:lnSpc>
                <a:spcPts val="2340"/>
              </a:lnSpc>
              <a:buFont typeface="Arial"/>
              <a:buChar char="•"/>
              <a:tabLst>
                <a:tab pos="1098550" algn="l"/>
              </a:tabLst>
            </a:pPr>
            <a:r>
              <a:rPr sz="2000" spc="-5" dirty="0">
                <a:latin typeface="微软雅黑"/>
                <a:cs typeface="微软雅黑"/>
              </a:rPr>
              <a:t>File f=new</a:t>
            </a:r>
            <a:r>
              <a:rPr sz="2000" dirty="0">
                <a:latin typeface="微软雅黑"/>
                <a:cs typeface="微软雅黑"/>
              </a:rPr>
              <a:t> </a:t>
            </a:r>
            <a:r>
              <a:rPr sz="2000" spc="-5" dirty="0">
                <a:latin typeface="微软雅黑"/>
                <a:cs typeface="微软雅黑"/>
              </a:rPr>
              <a:t>File(“hello.txt”);</a:t>
            </a:r>
            <a:r>
              <a:rPr sz="2000" dirty="0">
                <a:latin typeface="微软雅黑"/>
                <a:cs typeface="微软雅黑"/>
              </a:rPr>
              <a:t>将文件包装为</a:t>
            </a:r>
            <a:r>
              <a:rPr sz="2000" spc="-5" dirty="0">
                <a:latin typeface="微软雅黑"/>
                <a:cs typeface="微软雅黑"/>
              </a:rPr>
              <a:t>file</a:t>
            </a:r>
            <a:r>
              <a:rPr sz="2000" dirty="0">
                <a:latin typeface="微软雅黑"/>
                <a:cs typeface="微软雅黑"/>
              </a:rPr>
              <a:t>对</a:t>
            </a:r>
            <a:r>
              <a:rPr sz="2000" spc="5" dirty="0">
                <a:latin typeface="微软雅黑"/>
                <a:cs typeface="微软雅黑"/>
              </a:rPr>
              <a:t>象</a:t>
            </a:r>
            <a:endParaRPr sz="2000">
              <a:latin typeface="微软雅黑"/>
              <a:cs typeface="微软雅黑"/>
            </a:endParaRPr>
          </a:p>
          <a:p>
            <a:pPr marL="184150" indent="-171450">
              <a:lnSpc>
                <a:spcPts val="3210"/>
              </a:lnSpc>
              <a:spcBef>
                <a:spcPts val="2100"/>
              </a:spcBef>
              <a:buFont typeface="Arial"/>
              <a:buChar char="•"/>
              <a:tabLst>
                <a:tab pos="184150" algn="l"/>
              </a:tabLst>
            </a:pPr>
            <a:r>
              <a:rPr sz="2800" dirty="0">
                <a:latin typeface="等线"/>
                <a:cs typeface="等线"/>
              </a:rPr>
              <a:t>主要作用</a:t>
            </a:r>
            <a:r>
              <a:rPr sz="2800" spc="-5" dirty="0">
                <a:latin typeface="等线"/>
                <a:cs typeface="等线"/>
              </a:rPr>
              <a:t>：</a:t>
            </a:r>
            <a:endParaRPr sz="2800">
              <a:latin typeface="等线"/>
              <a:cs typeface="等线"/>
            </a:endParaRPr>
          </a:p>
          <a:p>
            <a:pPr marL="641350" lvl="1" indent="-171450">
              <a:lnSpc>
                <a:spcPts val="3060"/>
              </a:lnSpc>
              <a:buFont typeface="Arial"/>
              <a:buChar char="•"/>
              <a:tabLst>
                <a:tab pos="641350" algn="l"/>
              </a:tabLst>
            </a:pPr>
            <a:r>
              <a:rPr sz="2800" dirty="0">
                <a:latin typeface="等线"/>
                <a:cs typeface="等线"/>
              </a:rPr>
              <a:t>创建、删</a:t>
            </a:r>
            <a:r>
              <a:rPr sz="2800" spc="-5" dirty="0">
                <a:latin typeface="等线"/>
                <a:cs typeface="等线"/>
              </a:rPr>
              <a:t>除 </a:t>
            </a:r>
            <a:r>
              <a:rPr sz="2800" dirty="0">
                <a:latin typeface="等线"/>
                <a:cs typeface="等线"/>
              </a:rPr>
              <a:t>文</a:t>
            </a:r>
            <a:r>
              <a:rPr sz="2800" spc="-5" dirty="0">
                <a:latin typeface="等线"/>
                <a:cs typeface="等线"/>
              </a:rPr>
              <a:t>件 ；</a:t>
            </a:r>
            <a:endParaRPr sz="2800">
              <a:latin typeface="等线"/>
              <a:cs typeface="等线"/>
            </a:endParaRPr>
          </a:p>
          <a:p>
            <a:pPr marL="641350" lvl="1" indent="-171450">
              <a:lnSpc>
                <a:spcPts val="3060"/>
              </a:lnSpc>
              <a:buFont typeface="Arial"/>
              <a:buChar char="•"/>
              <a:tabLst>
                <a:tab pos="641350" algn="l"/>
              </a:tabLst>
            </a:pPr>
            <a:r>
              <a:rPr sz="2800" dirty="0">
                <a:latin typeface="等线"/>
                <a:cs typeface="等线"/>
              </a:rPr>
              <a:t>重命</a:t>
            </a:r>
            <a:r>
              <a:rPr sz="2800" spc="-5" dirty="0">
                <a:latin typeface="等线"/>
                <a:cs typeface="等线"/>
              </a:rPr>
              <a:t>名 </a:t>
            </a:r>
            <a:r>
              <a:rPr sz="2800" dirty="0">
                <a:latin typeface="等线"/>
                <a:cs typeface="等线"/>
              </a:rPr>
              <a:t>文</a:t>
            </a:r>
            <a:r>
              <a:rPr sz="2800" spc="-5" dirty="0">
                <a:latin typeface="等线"/>
                <a:cs typeface="等线"/>
              </a:rPr>
              <a:t>件</a:t>
            </a:r>
            <a:endParaRPr sz="2800">
              <a:latin typeface="等线"/>
              <a:cs typeface="等线"/>
            </a:endParaRPr>
          </a:p>
          <a:p>
            <a:pPr marL="641350" lvl="1" indent="-171450">
              <a:lnSpc>
                <a:spcPts val="3060"/>
              </a:lnSpc>
              <a:buFont typeface="Arial"/>
              <a:buChar char="•"/>
              <a:tabLst>
                <a:tab pos="641350" algn="l"/>
              </a:tabLst>
            </a:pPr>
            <a:r>
              <a:rPr sz="2800" dirty="0">
                <a:latin typeface="等线"/>
                <a:cs typeface="等线"/>
              </a:rPr>
              <a:t>判断文件的读写权限及是</a:t>
            </a:r>
            <a:r>
              <a:rPr sz="2800" spc="-5" dirty="0">
                <a:latin typeface="等线"/>
                <a:cs typeface="等线"/>
              </a:rPr>
              <a:t>否</a:t>
            </a:r>
            <a:r>
              <a:rPr sz="2800" spc="-10" dirty="0">
                <a:latin typeface="等线"/>
                <a:cs typeface="等线"/>
              </a:rPr>
              <a:t> </a:t>
            </a:r>
            <a:r>
              <a:rPr sz="2800" dirty="0">
                <a:latin typeface="等线"/>
                <a:cs typeface="等线"/>
              </a:rPr>
              <a:t>存</a:t>
            </a:r>
            <a:r>
              <a:rPr sz="2800" spc="-5" dirty="0">
                <a:latin typeface="等线"/>
                <a:cs typeface="等线"/>
              </a:rPr>
              <a:t>在</a:t>
            </a:r>
            <a:r>
              <a:rPr sz="2800" spc="-10" dirty="0">
                <a:latin typeface="等线"/>
                <a:cs typeface="等线"/>
              </a:rPr>
              <a:t> </a:t>
            </a:r>
            <a:r>
              <a:rPr sz="2800" spc="-5" dirty="0">
                <a:latin typeface="等线"/>
                <a:cs typeface="等线"/>
              </a:rPr>
              <a:t>；</a:t>
            </a:r>
            <a:endParaRPr sz="2800">
              <a:latin typeface="等线"/>
              <a:cs typeface="等线"/>
            </a:endParaRPr>
          </a:p>
          <a:p>
            <a:pPr marL="641350" lvl="1" indent="-171450">
              <a:lnSpc>
                <a:spcPts val="3210"/>
              </a:lnSpc>
              <a:buFont typeface="Arial"/>
              <a:buChar char="•"/>
              <a:tabLst>
                <a:tab pos="641350" algn="l"/>
              </a:tabLst>
            </a:pPr>
            <a:r>
              <a:rPr sz="2800" dirty="0">
                <a:latin typeface="等线"/>
                <a:cs typeface="等线"/>
              </a:rPr>
              <a:t>设置和查询文件的最近修改时</a:t>
            </a:r>
            <a:r>
              <a:rPr sz="2800" spc="-5" dirty="0">
                <a:latin typeface="等线"/>
                <a:cs typeface="等线"/>
              </a:rPr>
              <a:t>间</a:t>
            </a:r>
            <a:r>
              <a:rPr sz="2800" spc="-15" dirty="0">
                <a:latin typeface="等线"/>
                <a:cs typeface="等线"/>
              </a:rPr>
              <a:t> </a:t>
            </a:r>
            <a:r>
              <a:rPr sz="2800" dirty="0">
                <a:latin typeface="等线"/>
                <a:cs typeface="等线"/>
              </a:rPr>
              <a:t>等</a:t>
            </a:r>
            <a:r>
              <a:rPr sz="2800" spc="-5" dirty="0">
                <a:latin typeface="等线"/>
                <a:cs typeface="等线"/>
              </a:rPr>
              <a:t>；</a:t>
            </a:r>
            <a:endParaRPr sz="2800">
              <a:latin typeface="等线"/>
              <a:cs typeface="等线"/>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74</a:t>
            </a:fld>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3" name="object 3"/>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4" name="object 4"/>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5" name="object 5"/>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6" name="object 6"/>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7" name="object 7"/>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8" name="object 8"/>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9" name="object 9"/>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5" name="object 15"/>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6" name="object 16"/>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20" name="object 20"/>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1" name="object 21"/>
          <p:cNvSpPr txBox="1"/>
          <p:nvPr/>
        </p:nvSpPr>
        <p:spPr>
          <a:xfrm>
            <a:off x="1194752" y="1573212"/>
            <a:ext cx="7188200" cy="4048760"/>
          </a:xfrm>
          <a:prstGeom prst="rect">
            <a:avLst/>
          </a:prstGeom>
        </p:spPr>
        <p:txBody>
          <a:bodyPr vert="horz" wrap="square" lIns="0" tIns="12700" rIns="0" bIns="0" rtlCol="0">
            <a:spAutoFit/>
          </a:bodyPr>
          <a:lstStyle/>
          <a:p>
            <a:pPr marL="12700">
              <a:lnSpc>
                <a:spcPct val="100000"/>
              </a:lnSpc>
              <a:spcBef>
                <a:spcPts val="100"/>
              </a:spcBef>
            </a:pPr>
            <a:r>
              <a:rPr sz="2400" dirty="0">
                <a:latin typeface="宋体"/>
                <a:cs typeface="宋体"/>
              </a:rPr>
              <a:t>list()</a:t>
            </a:r>
            <a:r>
              <a:rPr sz="2400" spc="1160" dirty="0">
                <a:latin typeface="宋体"/>
                <a:cs typeface="宋体"/>
              </a:rPr>
              <a:t> </a:t>
            </a:r>
            <a:r>
              <a:rPr sz="2400" dirty="0">
                <a:latin typeface="宋体"/>
                <a:cs typeface="宋体"/>
              </a:rPr>
              <a:t>返回目录下的文件或者目录名。String[]</a:t>
            </a:r>
          </a:p>
          <a:p>
            <a:pPr>
              <a:lnSpc>
                <a:spcPct val="100000"/>
              </a:lnSpc>
              <a:spcBef>
                <a:spcPts val="60"/>
              </a:spcBef>
            </a:pPr>
            <a:endParaRPr sz="2200" dirty="0">
              <a:latin typeface="宋体"/>
              <a:cs typeface="宋体"/>
            </a:endParaRPr>
          </a:p>
          <a:p>
            <a:pPr marL="12700" marR="5080">
              <a:lnSpc>
                <a:spcPct val="100000"/>
              </a:lnSpc>
            </a:pPr>
            <a:r>
              <a:rPr sz="2400" dirty="0">
                <a:latin typeface="宋体"/>
                <a:cs typeface="宋体"/>
              </a:rPr>
              <a:t>listFiles()</a:t>
            </a:r>
            <a:r>
              <a:rPr sz="2400" spc="1100" dirty="0">
                <a:latin typeface="宋体"/>
                <a:cs typeface="宋体"/>
              </a:rPr>
              <a:t> </a:t>
            </a:r>
            <a:r>
              <a:rPr sz="2400" dirty="0">
                <a:latin typeface="宋体"/>
                <a:cs typeface="宋体"/>
              </a:rPr>
              <a:t>返回目录下的文件或者目录对象（File 类实例）</a:t>
            </a:r>
          </a:p>
          <a:p>
            <a:pPr>
              <a:lnSpc>
                <a:spcPct val="100000"/>
              </a:lnSpc>
              <a:spcBef>
                <a:spcPts val="60"/>
              </a:spcBef>
            </a:pPr>
            <a:endParaRPr sz="2200" dirty="0">
              <a:latin typeface="宋体"/>
              <a:cs typeface="宋体"/>
            </a:endParaRPr>
          </a:p>
          <a:p>
            <a:pPr marL="12700" marR="5080">
              <a:lnSpc>
                <a:spcPct val="100000"/>
              </a:lnSpc>
            </a:pPr>
            <a:r>
              <a:rPr sz="2400" dirty="0">
                <a:latin typeface="宋体"/>
                <a:cs typeface="宋体"/>
              </a:rPr>
              <a:t>list(FilenameFilter</a:t>
            </a:r>
            <a:r>
              <a:rPr sz="2400" spc="-100" dirty="0">
                <a:latin typeface="宋体"/>
                <a:cs typeface="宋体"/>
              </a:rPr>
              <a:t> </a:t>
            </a:r>
            <a:r>
              <a:rPr sz="2400" dirty="0">
                <a:latin typeface="宋体"/>
                <a:cs typeface="宋体"/>
              </a:rPr>
              <a:t>filter)返回指定当前目录中符 合过滤条件的子文件或子目录。String[]</a:t>
            </a:r>
          </a:p>
          <a:p>
            <a:pPr>
              <a:lnSpc>
                <a:spcPct val="100000"/>
              </a:lnSpc>
              <a:spcBef>
                <a:spcPts val="60"/>
              </a:spcBef>
            </a:pPr>
            <a:endParaRPr sz="2200" dirty="0">
              <a:latin typeface="宋体"/>
              <a:cs typeface="宋体"/>
            </a:endParaRPr>
          </a:p>
          <a:p>
            <a:pPr marL="12700" marR="5080">
              <a:lnSpc>
                <a:spcPct val="100000"/>
              </a:lnSpc>
            </a:pPr>
            <a:r>
              <a:rPr sz="2400" dirty="0">
                <a:latin typeface="宋体"/>
                <a:cs typeface="宋体"/>
              </a:rPr>
              <a:t>listFiles(FilenameFilter</a:t>
            </a:r>
            <a:r>
              <a:rPr sz="2400" spc="-50" dirty="0">
                <a:latin typeface="宋体"/>
                <a:cs typeface="宋体"/>
              </a:rPr>
              <a:t> </a:t>
            </a:r>
            <a:r>
              <a:rPr sz="2400" dirty="0">
                <a:latin typeface="宋体"/>
                <a:cs typeface="宋体"/>
              </a:rPr>
              <a:t>filter)返回指定当前目 录中符合过滤条件的子文件或子目录。</a:t>
            </a:r>
            <a:r>
              <a:rPr sz="2400" spc="-100" dirty="0">
                <a:latin typeface="宋体"/>
                <a:cs typeface="宋体"/>
              </a:rPr>
              <a:t> </a:t>
            </a:r>
            <a:r>
              <a:rPr sz="2400" dirty="0">
                <a:latin typeface="宋体"/>
                <a:cs typeface="宋体"/>
              </a:rPr>
              <a:t>（File类实例</a:t>
            </a:r>
          </a:p>
          <a:p>
            <a:pPr marL="12700">
              <a:lnSpc>
                <a:spcPct val="100000"/>
              </a:lnSpc>
            </a:pPr>
            <a:r>
              <a:rPr sz="2400" dirty="0">
                <a:latin typeface="宋体"/>
                <a:cs typeface="宋体"/>
              </a:rPr>
              <a:t>）</a:t>
            </a: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75</a:t>
            </a:fld>
            <a:endParaRPr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62570" y="863155"/>
            <a:ext cx="7739380" cy="0"/>
          </a:xfrm>
          <a:custGeom>
            <a:avLst/>
            <a:gdLst/>
            <a:ahLst/>
            <a:cxnLst/>
            <a:rect l="l" t="t" r="r" b="b"/>
            <a:pathLst>
              <a:path w="7739380">
                <a:moveTo>
                  <a:pt x="0" y="0"/>
                </a:moveTo>
                <a:lnTo>
                  <a:pt x="7738960" y="0"/>
                </a:lnTo>
              </a:path>
            </a:pathLst>
          </a:custGeom>
          <a:ln w="28575">
            <a:solidFill>
              <a:srgbClr val="A1A1A1"/>
            </a:solidFill>
          </a:ln>
        </p:spPr>
        <p:txBody>
          <a:bodyPr wrap="square" lIns="0" tIns="0" rIns="0" bIns="0" rtlCol="0"/>
          <a:lstStyle/>
          <a:p>
            <a:endParaRPr/>
          </a:p>
        </p:txBody>
      </p:sp>
      <p:sp>
        <p:nvSpPr>
          <p:cNvPr id="3" name="object 3"/>
          <p:cNvSpPr/>
          <p:nvPr/>
        </p:nvSpPr>
        <p:spPr>
          <a:xfrm>
            <a:off x="8372856" y="6187440"/>
            <a:ext cx="528955" cy="670560"/>
          </a:xfrm>
          <a:custGeom>
            <a:avLst/>
            <a:gdLst/>
            <a:ahLst/>
            <a:cxnLst/>
            <a:rect l="l" t="t" r="r" b="b"/>
            <a:pathLst>
              <a:path w="528954" h="670559">
                <a:moveTo>
                  <a:pt x="0" y="670560"/>
                </a:moveTo>
                <a:lnTo>
                  <a:pt x="528827" y="670560"/>
                </a:lnTo>
                <a:lnTo>
                  <a:pt x="528827" y="0"/>
                </a:lnTo>
                <a:lnTo>
                  <a:pt x="0" y="0"/>
                </a:lnTo>
                <a:lnTo>
                  <a:pt x="0" y="670560"/>
                </a:lnTo>
                <a:close/>
              </a:path>
            </a:pathLst>
          </a:custGeom>
          <a:solidFill>
            <a:srgbClr val="A03E0A"/>
          </a:solidFill>
        </p:spPr>
        <p:txBody>
          <a:bodyPr wrap="square" lIns="0" tIns="0" rIns="0" bIns="0" rtlCol="0"/>
          <a:lstStyle/>
          <a:p>
            <a:endParaRPr/>
          </a:p>
        </p:txBody>
      </p:sp>
      <p:sp>
        <p:nvSpPr>
          <p:cNvPr id="4" name="object 4"/>
          <p:cNvSpPr/>
          <p:nvPr/>
        </p:nvSpPr>
        <p:spPr>
          <a:xfrm>
            <a:off x="239268" y="0"/>
            <a:ext cx="786765" cy="873760"/>
          </a:xfrm>
          <a:custGeom>
            <a:avLst/>
            <a:gdLst/>
            <a:ahLst/>
            <a:cxnLst/>
            <a:rect l="l" t="t" r="r" b="b"/>
            <a:pathLst>
              <a:path w="786765" h="873760">
                <a:moveTo>
                  <a:pt x="0" y="0"/>
                </a:moveTo>
                <a:lnTo>
                  <a:pt x="786384" y="0"/>
                </a:lnTo>
                <a:lnTo>
                  <a:pt x="786384" y="873252"/>
                </a:lnTo>
                <a:lnTo>
                  <a:pt x="0" y="873252"/>
                </a:lnTo>
                <a:lnTo>
                  <a:pt x="0" y="0"/>
                </a:lnTo>
                <a:close/>
              </a:path>
            </a:pathLst>
          </a:custGeom>
          <a:solidFill>
            <a:srgbClr val="006C39"/>
          </a:solidFill>
        </p:spPr>
        <p:txBody>
          <a:bodyPr wrap="square" lIns="0" tIns="0" rIns="0" bIns="0" rtlCol="0"/>
          <a:lstStyle/>
          <a:p>
            <a:endParaRPr/>
          </a:p>
        </p:txBody>
      </p:sp>
      <p:sp>
        <p:nvSpPr>
          <p:cNvPr id="5" name="object 5"/>
          <p:cNvSpPr/>
          <p:nvPr/>
        </p:nvSpPr>
        <p:spPr>
          <a:xfrm>
            <a:off x="232625" y="0"/>
            <a:ext cx="799465" cy="879475"/>
          </a:xfrm>
          <a:custGeom>
            <a:avLst/>
            <a:gdLst/>
            <a:ahLst/>
            <a:cxnLst/>
            <a:rect l="l" t="t" r="r" b="b"/>
            <a:pathLst>
              <a:path w="799465" h="879475">
                <a:moveTo>
                  <a:pt x="799249" y="879475"/>
                </a:moveTo>
                <a:lnTo>
                  <a:pt x="0" y="879475"/>
                </a:lnTo>
                <a:lnTo>
                  <a:pt x="0" y="0"/>
                </a:lnTo>
                <a:lnTo>
                  <a:pt x="12700" y="0"/>
                </a:lnTo>
                <a:lnTo>
                  <a:pt x="6350" y="6350"/>
                </a:lnTo>
                <a:lnTo>
                  <a:pt x="12700" y="6350"/>
                </a:lnTo>
                <a:lnTo>
                  <a:pt x="12700" y="866774"/>
                </a:lnTo>
                <a:lnTo>
                  <a:pt x="6349" y="866774"/>
                </a:lnTo>
                <a:lnTo>
                  <a:pt x="12700" y="873125"/>
                </a:lnTo>
                <a:lnTo>
                  <a:pt x="799249" y="873125"/>
                </a:lnTo>
                <a:lnTo>
                  <a:pt x="799249" y="879475"/>
                </a:lnTo>
                <a:close/>
              </a:path>
              <a:path w="799465" h="879475">
                <a:moveTo>
                  <a:pt x="12700" y="6350"/>
                </a:moveTo>
                <a:lnTo>
                  <a:pt x="6350" y="6350"/>
                </a:lnTo>
                <a:lnTo>
                  <a:pt x="12700" y="0"/>
                </a:lnTo>
                <a:lnTo>
                  <a:pt x="12700" y="6350"/>
                </a:lnTo>
                <a:close/>
              </a:path>
              <a:path w="799465" h="879475">
                <a:moveTo>
                  <a:pt x="786549" y="6350"/>
                </a:moveTo>
                <a:lnTo>
                  <a:pt x="12700" y="6350"/>
                </a:lnTo>
                <a:lnTo>
                  <a:pt x="12700" y="0"/>
                </a:lnTo>
                <a:lnTo>
                  <a:pt x="786549" y="0"/>
                </a:lnTo>
                <a:lnTo>
                  <a:pt x="786549" y="6350"/>
                </a:lnTo>
                <a:close/>
              </a:path>
              <a:path w="799465" h="879475">
                <a:moveTo>
                  <a:pt x="786549" y="873125"/>
                </a:moveTo>
                <a:lnTo>
                  <a:pt x="786549" y="0"/>
                </a:lnTo>
                <a:lnTo>
                  <a:pt x="792899" y="6350"/>
                </a:lnTo>
                <a:lnTo>
                  <a:pt x="799249" y="6350"/>
                </a:lnTo>
                <a:lnTo>
                  <a:pt x="799249" y="866774"/>
                </a:lnTo>
                <a:lnTo>
                  <a:pt x="792899" y="866774"/>
                </a:lnTo>
                <a:lnTo>
                  <a:pt x="786549" y="873125"/>
                </a:lnTo>
                <a:close/>
              </a:path>
              <a:path w="799465" h="879475">
                <a:moveTo>
                  <a:pt x="799249" y="6350"/>
                </a:moveTo>
                <a:lnTo>
                  <a:pt x="792899" y="6350"/>
                </a:lnTo>
                <a:lnTo>
                  <a:pt x="786549" y="0"/>
                </a:lnTo>
                <a:lnTo>
                  <a:pt x="799249" y="0"/>
                </a:lnTo>
                <a:lnTo>
                  <a:pt x="799249" y="6350"/>
                </a:lnTo>
                <a:close/>
              </a:path>
              <a:path w="799465" h="879475">
                <a:moveTo>
                  <a:pt x="12700" y="873125"/>
                </a:moveTo>
                <a:lnTo>
                  <a:pt x="6349" y="866774"/>
                </a:lnTo>
                <a:lnTo>
                  <a:pt x="12700" y="866774"/>
                </a:lnTo>
                <a:lnTo>
                  <a:pt x="12700" y="873125"/>
                </a:lnTo>
                <a:close/>
              </a:path>
              <a:path w="799465" h="879475">
                <a:moveTo>
                  <a:pt x="786549" y="873125"/>
                </a:moveTo>
                <a:lnTo>
                  <a:pt x="12700" y="873125"/>
                </a:lnTo>
                <a:lnTo>
                  <a:pt x="12700" y="866774"/>
                </a:lnTo>
                <a:lnTo>
                  <a:pt x="786549" y="866774"/>
                </a:lnTo>
                <a:lnTo>
                  <a:pt x="786549" y="873125"/>
                </a:lnTo>
                <a:close/>
              </a:path>
              <a:path w="799465" h="879475">
                <a:moveTo>
                  <a:pt x="799249" y="873125"/>
                </a:moveTo>
                <a:lnTo>
                  <a:pt x="786549" y="873125"/>
                </a:lnTo>
                <a:lnTo>
                  <a:pt x="792899" y="866774"/>
                </a:lnTo>
                <a:lnTo>
                  <a:pt x="799249" y="866774"/>
                </a:lnTo>
                <a:lnTo>
                  <a:pt x="799249" y="873125"/>
                </a:lnTo>
                <a:close/>
              </a:path>
            </a:pathLst>
          </a:custGeom>
          <a:solidFill>
            <a:srgbClr val="006C39"/>
          </a:solidFill>
        </p:spPr>
        <p:txBody>
          <a:bodyPr wrap="square" lIns="0" tIns="0" rIns="0" bIns="0" rtlCol="0"/>
          <a:lstStyle/>
          <a:p>
            <a:endParaRPr/>
          </a:p>
        </p:txBody>
      </p:sp>
      <p:sp>
        <p:nvSpPr>
          <p:cNvPr id="6" name="object 6"/>
          <p:cNvSpPr/>
          <p:nvPr/>
        </p:nvSpPr>
        <p:spPr>
          <a:xfrm>
            <a:off x="239268" y="6187440"/>
            <a:ext cx="8133715" cy="670560"/>
          </a:xfrm>
          <a:custGeom>
            <a:avLst/>
            <a:gdLst/>
            <a:ahLst/>
            <a:cxnLst/>
            <a:rect l="l" t="t" r="r" b="b"/>
            <a:pathLst>
              <a:path w="8133715" h="670559">
                <a:moveTo>
                  <a:pt x="0" y="0"/>
                </a:moveTo>
                <a:lnTo>
                  <a:pt x="8133588" y="0"/>
                </a:lnTo>
                <a:lnTo>
                  <a:pt x="8133588" y="670560"/>
                </a:lnTo>
                <a:lnTo>
                  <a:pt x="0" y="670560"/>
                </a:lnTo>
                <a:lnTo>
                  <a:pt x="0" y="0"/>
                </a:lnTo>
                <a:close/>
              </a:path>
            </a:pathLst>
          </a:custGeom>
          <a:solidFill>
            <a:srgbClr val="006C39"/>
          </a:solidFill>
        </p:spPr>
        <p:txBody>
          <a:bodyPr wrap="square" lIns="0" tIns="0" rIns="0" bIns="0" rtlCol="0"/>
          <a:lstStyle/>
          <a:p>
            <a:endParaRPr/>
          </a:p>
        </p:txBody>
      </p:sp>
      <p:sp>
        <p:nvSpPr>
          <p:cNvPr id="7" name="object 7"/>
          <p:cNvSpPr/>
          <p:nvPr/>
        </p:nvSpPr>
        <p:spPr>
          <a:xfrm>
            <a:off x="1034796" y="0"/>
            <a:ext cx="125095" cy="875030"/>
          </a:xfrm>
          <a:custGeom>
            <a:avLst/>
            <a:gdLst/>
            <a:ahLst/>
            <a:cxnLst/>
            <a:rect l="l" t="t" r="r" b="b"/>
            <a:pathLst>
              <a:path w="125094" h="875030">
                <a:moveTo>
                  <a:pt x="0" y="0"/>
                </a:moveTo>
                <a:lnTo>
                  <a:pt x="124968" y="0"/>
                </a:lnTo>
                <a:lnTo>
                  <a:pt x="124968" y="874776"/>
                </a:lnTo>
                <a:lnTo>
                  <a:pt x="0" y="874776"/>
                </a:lnTo>
                <a:lnTo>
                  <a:pt x="0" y="0"/>
                </a:lnTo>
                <a:close/>
              </a:path>
            </a:pathLst>
          </a:custGeom>
          <a:solidFill>
            <a:srgbClr val="A03E0A"/>
          </a:solidFill>
        </p:spPr>
        <p:txBody>
          <a:bodyPr wrap="square" lIns="0" tIns="0" rIns="0" bIns="0" rtlCol="0"/>
          <a:lstStyle/>
          <a:p>
            <a:endParaRPr/>
          </a:p>
        </p:txBody>
      </p:sp>
      <p:sp>
        <p:nvSpPr>
          <p:cNvPr id="8" name="object 8"/>
          <p:cNvSpPr/>
          <p:nvPr/>
        </p:nvSpPr>
        <p:spPr>
          <a:xfrm>
            <a:off x="1027836" y="0"/>
            <a:ext cx="138430" cy="879475"/>
          </a:xfrm>
          <a:custGeom>
            <a:avLst/>
            <a:gdLst/>
            <a:ahLst/>
            <a:cxnLst/>
            <a:rect l="l" t="t" r="r" b="b"/>
            <a:pathLst>
              <a:path w="138430" h="879475">
                <a:moveTo>
                  <a:pt x="138010" y="879475"/>
                </a:moveTo>
                <a:lnTo>
                  <a:pt x="0" y="879475"/>
                </a:lnTo>
                <a:lnTo>
                  <a:pt x="0" y="0"/>
                </a:lnTo>
                <a:lnTo>
                  <a:pt x="11087" y="0"/>
                </a:lnTo>
                <a:lnTo>
                  <a:pt x="6350" y="4737"/>
                </a:lnTo>
                <a:lnTo>
                  <a:pt x="12700" y="4737"/>
                </a:lnTo>
                <a:lnTo>
                  <a:pt x="12700" y="866775"/>
                </a:lnTo>
                <a:lnTo>
                  <a:pt x="6350" y="866775"/>
                </a:lnTo>
                <a:lnTo>
                  <a:pt x="12700" y="873125"/>
                </a:lnTo>
                <a:lnTo>
                  <a:pt x="138010" y="873125"/>
                </a:lnTo>
                <a:lnTo>
                  <a:pt x="138010" y="879475"/>
                </a:lnTo>
                <a:close/>
              </a:path>
              <a:path w="138430" h="879475">
                <a:moveTo>
                  <a:pt x="12700" y="4737"/>
                </a:moveTo>
                <a:lnTo>
                  <a:pt x="6350" y="4737"/>
                </a:lnTo>
                <a:lnTo>
                  <a:pt x="11087" y="0"/>
                </a:lnTo>
                <a:lnTo>
                  <a:pt x="12700" y="0"/>
                </a:lnTo>
                <a:lnTo>
                  <a:pt x="12700" y="4737"/>
                </a:lnTo>
                <a:close/>
              </a:path>
              <a:path w="138430" h="879475">
                <a:moveTo>
                  <a:pt x="125310" y="4737"/>
                </a:moveTo>
                <a:lnTo>
                  <a:pt x="12700" y="4737"/>
                </a:lnTo>
                <a:lnTo>
                  <a:pt x="12700" y="0"/>
                </a:lnTo>
                <a:lnTo>
                  <a:pt x="125310" y="0"/>
                </a:lnTo>
                <a:lnTo>
                  <a:pt x="125310" y="4737"/>
                </a:lnTo>
                <a:close/>
              </a:path>
              <a:path w="138430" h="879475">
                <a:moveTo>
                  <a:pt x="125310" y="873125"/>
                </a:moveTo>
                <a:lnTo>
                  <a:pt x="125310" y="0"/>
                </a:lnTo>
                <a:lnTo>
                  <a:pt x="126923" y="0"/>
                </a:lnTo>
                <a:lnTo>
                  <a:pt x="131660" y="4737"/>
                </a:lnTo>
                <a:lnTo>
                  <a:pt x="138010" y="4737"/>
                </a:lnTo>
                <a:lnTo>
                  <a:pt x="138010" y="866775"/>
                </a:lnTo>
                <a:lnTo>
                  <a:pt x="131660" y="866775"/>
                </a:lnTo>
                <a:lnTo>
                  <a:pt x="125310" y="873125"/>
                </a:lnTo>
                <a:close/>
              </a:path>
              <a:path w="138430" h="879475">
                <a:moveTo>
                  <a:pt x="138010" y="4737"/>
                </a:moveTo>
                <a:lnTo>
                  <a:pt x="131660" y="4737"/>
                </a:lnTo>
                <a:lnTo>
                  <a:pt x="126923" y="0"/>
                </a:lnTo>
                <a:lnTo>
                  <a:pt x="138010" y="0"/>
                </a:lnTo>
                <a:lnTo>
                  <a:pt x="138010" y="4737"/>
                </a:lnTo>
                <a:close/>
              </a:path>
              <a:path w="138430" h="879475">
                <a:moveTo>
                  <a:pt x="12700" y="873125"/>
                </a:moveTo>
                <a:lnTo>
                  <a:pt x="6350" y="866775"/>
                </a:lnTo>
                <a:lnTo>
                  <a:pt x="12700" y="866775"/>
                </a:lnTo>
                <a:lnTo>
                  <a:pt x="12700" y="873125"/>
                </a:lnTo>
                <a:close/>
              </a:path>
              <a:path w="138430" h="879475">
                <a:moveTo>
                  <a:pt x="125310" y="873125"/>
                </a:moveTo>
                <a:lnTo>
                  <a:pt x="12700" y="873125"/>
                </a:lnTo>
                <a:lnTo>
                  <a:pt x="12700" y="866775"/>
                </a:lnTo>
                <a:lnTo>
                  <a:pt x="125310" y="866775"/>
                </a:lnTo>
                <a:lnTo>
                  <a:pt x="125310" y="873125"/>
                </a:lnTo>
                <a:close/>
              </a:path>
              <a:path w="138430" h="879475">
                <a:moveTo>
                  <a:pt x="138010" y="873125"/>
                </a:moveTo>
                <a:lnTo>
                  <a:pt x="125310" y="873125"/>
                </a:lnTo>
                <a:lnTo>
                  <a:pt x="131660" y="866775"/>
                </a:lnTo>
                <a:lnTo>
                  <a:pt x="138010" y="866775"/>
                </a:lnTo>
                <a:lnTo>
                  <a:pt x="138010" y="873125"/>
                </a:lnTo>
                <a:close/>
              </a:path>
            </a:pathLst>
          </a:custGeom>
          <a:solidFill>
            <a:srgbClr val="A03E0A"/>
          </a:solidFill>
        </p:spPr>
        <p:txBody>
          <a:bodyPr wrap="square" lIns="0" tIns="0" rIns="0" bIns="0" rtlCol="0"/>
          <a:lstStyle/>
          <a:p>
            <a:endParaRPr/>
          </a:p>
        </p:txBody>
      </p:sp>
      <p:sp>
        <p:nvSpPr>
          <p:cNvPr id="9" name="object 9"/>
          <p:cNvSpPr/>
          <p:nvPr/>
        </p:nvSpPr>
        <p:spPr>
          <a:xfrm>
            <a:off x="1998459" y="6417487"/>
            <a:ext cx="159918" cy="240436"/>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2264105" y="6464096"/>
            <a:ext cx="89105" cy="17927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541767" y="6402616"/>
            <a:ext cx="161002" cy="270814"/>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1796440" y="6463360"/>
            <a:ext cx="94905" cy="14869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80122" y="6433527"/>
            <a:ext cx="142481" cy="20311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449211" y="6400000"/>
            <a:ext cx="164465" cy="261620"/>
          </a:xfrm>
          <a:custGeom>
            <a:avLst/>
            <a:gdLst/>
            <a:ahLst/>
            <a:cxnLst/>
            <a:rect l="l" t="t" r="r" b="b"/>
            <a:pathLst>
              <a:path w="164465" h="261620">
                <a:moveTo>
                  <a:pt x="134683" y="74663"/>
                </a:moveTo>
                <a:lnTo>
                  <a:pt x="87223" y="74663"/>
                </a:lnTo>
                <a:lnTo>
                  <a:pt x="89789" y="71272"/>
                </a:lnTo>
                <a:lnTo>
                  <a:pt x="91071" y="64477"/>
                </a:lnTo>
                <a:lnTo>
                  <a:pt x="94919" y="50504"/>
                </a:lnTo>
                <a:lnTo>
                  <a:pt x="98767" y="36693"/>
                </a:lnTo>
                <a:lnTo>
                  <a:pt x="102615" y="23201"/>
                </a:lnTo>
                <a:lnTo>
                  <a:pt x="106464" y="10185"/>
                </a:lnTo>
                <a:lnTo>
                  <a:pt x="107746" y="5092"/>
                </a:lnTo>
                <a:lnTo>
                  <a:pt x="107746" y="0"/>
                </a:lnTo>
                <a:lnTo>
                  <a:pt x="118008" y="6781"/>
                </a:lnTo>
                <a:lnTo>
                  <a:pt x="120573" y="15265"/>
                </a:lnTo>
                <a:lnTo>
                  <a:pt x="116725" y="18668"/>
                </a:lnTo>
                <a:lnTo>
                  <a:pt x="110733" y="29724"/>
                </a:lnTo>
                <a:lnTo>
                  <a:pt x="107265" y="42210"/>
                </a:lnTo>
                <a:lnTo>
                  <a:pt x="102615" y="69570"/>
                </a:lnTo>
                <a:lnTo>
                  <a:pt x="135966" y="69570"/>
                </a:lnTo>
                <a:lnTo>
                  <a:pt x="135966" y="71272"/>
                </a:lnTo>
                <a:lnTo>
                  <a:pt x="134683" y="74663"/>
                </a:lnTo>
                <a:close/>
              </a:path>
              <a:path w="164465" h="261620">
                <a:moveTo>
                  <a:pt x="19240" y="208711"/>
                </a:moveTo>
                <a:lnTo>
                  <a:pt x="0" y="174777"/>
                </a:lnTo>
                <a:lnTo>
                  <a:pt x="0" y="173075"/>
                </a:lnTo>
                <a:lnTo>
                  <a:pt x="1282" y="171386"/>
                </a:lnTo>
                <a:lnTo>
                  <a:pt x="1282" y="169684"/>
                </a:lnTo>
                <a:lnTo>
                  <a:pt x="19140" y="134607"/>
                </a:lnTo>
                <a:lnTo>
                  <a:pt x="33350" y="93319"/>
                </a:lnTo>
                <a:lnTo>
                  <a:pt x="34632" y="91630"/>
                </a:lnTo>
                <a:lnTo>
                  <a:pt x="32067" y="89928"/>
                </a:lnTo>
                <a:lnTo>
                  <a:pt x="32067" y="86537"/>
                </a:lnTo>
                <a:lnTo>
                  <a:pt x="26976" y="77390"/>
                </a:lnTo>
                <a:lnTo>
                  <a:pt x="25012" y="69357"/>
                </a:lnTo>
                <a:lnTo>
                  <a:pt x="25934" y="61006"/>
                </a:lnTo>
                <a:lnTo>
                  <a:pt x="29502" y="50901"/>
                </a:lnTo>
                <a:lnTo>
                  <a:pt x="57721" y="18668"/>
                </a:lnTo>
                <a:lnTo>
                  <a:pt x="64134" y="20358"/>
                </a:lnTo>
                <a:lnTo>
                  <a:pt x="71831" y="33934"/>
                </a:lnTo>
                <a:lnTo>
                  <a:pt x="71831" y="37325"/>
                </a:lnTo>
                <a:lnTo>
                  <a:pt x="65417" y="40728"/>
                </a:lnTo>
                <a:lnTo>
                  <a:pt x="59545" y="44147"/>
                </a:lnTo>
                <a:lnTo>
                  <a:pt x="54995" y="48998"/>
                </a:lnTo>
                <a:lnTo>
                  <a:pt x="51167" y="54803"/>
                </a:lnTo>
                <a:lnTo>
                  <a:pt x="47459" y="61087"/>
                </a:lnTo>
                <a:lnTo>
                  <a:pt x="46177" y="66179"/>
                </a:lnTo>
                <a:lnTo>
                  <a:pt x="46177" y="71272"/>
                </a:lnTo>
                <a:lnTo>
                  <a:pt x="50025" y="74663"/>
                </a:lnTo>
                <a:lnTo>
                  <a:pt x="52590" y="76352"/>
                </a:lnTo>
                <a:lnTo>
                  <a:pt x="53873" y="79755"/>
                </a:lnTo>
                <a:lnTo>
                  <a:pt x="55156" y="81445"/>
                </a:lnTo>
                <a:lnTo>
                  <a:pt x="62110" y="92607"/>
                </a:lnTo>
                <a:lnTo>
                  <a:pt x="65578" y="102020"/>
                </a:lnTo>
                <a:lnTo>
                  <a:pt x="65453" y="110692"/>
                </a:lnTo>
                <a:lnTo>
                  <a:pt x="65361" y="111988"/>
                </a:lnTo>
                <a:lnTo>
                  <a:pt x="61569" y="123863"/>
                </a:lnTo>
                <a:lnTo>
                  <a:pt x="69265" y="128955"/>
                </a:lnTo>
                <a:lnTo>
                  <a:pt x="89793" y="128955"/>
                </a:lnTo>
                <a:lnTo>
                  <a:pt x="88506" y="130657"/>
                </a:lnTo>
                <a:lnTo>
                  <a:pt x="87223" y="130657"/>
                </a:lnTo>
                <a:lnTo>
                  <a:pt x="85940" y="132359"/>
                </a:lnTo>
                <a:lnTo>
                  <a:pt x="55156" y="132359"/>
                </a:lnTo>
                <a:lnTo>
                  <a:pt x="43611" y="157810"/>
                </a:lnTo>
                <a:lnTo>
                  <a:pt x="42329" y="159499"/>
                </a:lnTo>
                <a:lnTo>
                  <a:pt x="42329" y="162890"/>
                </a:lnTo>
                <a:lnTo>
                  <a:pt x="43611" y="166293"/>
                </a:lnTo>
                <a:lnTo>
                  <a:pt x="43611" y="169684"/>
                </a:lnTo>
                <a:lnTo>
                  <a:pt x="44894" y="174777"/>
                </a:lnTo>
                <a:lnTo>
                  <a:pt x="44894" y="178168"/>
                </a:lnTo>
                <a:lnTo>
                  <a:pt x="41749" y="200228"/>
                </a:lnTo>
                <a:lnTo>
                  <a:pt x="25653" y="200228"/>
                </a:lnTo>
                <a:lnTo>
                  <a:pt x="19240" y="208711"/>
                </a:lnTo>
                <a:close/>
              </a:path>
              <a:path w="164465" h="261620">
                <a:moveTo>
                  <a:pt x="135966" y="69570"/>
                </a:moveTo>
                <a:lnTo>
                  <a:pt x="102615" y="69570"/>
                </a:lnTo>
                <a:lnTo>
                  <a:pt x="109029" y="66179"/>
                </a:lnTo>
                <a:lnTo>
                  <a:pt x="116725" y="62776"/>
                </a:lnTo>
                <a:lnTo>
                  <a:pt x="123139" y="61087"/>
                </a:lnTo>
                <a:lnTo>
                  <a:pt x="125704" y="59385"/>
                </a:lnTo>
                <a:lnTo>
                  <a:pt x="129552" y="59385"/>
                </a:lnTo>
                <a:lnTo>
                  <a:pt x="130835" y="61087"/>
                </a:lnTo>
                <a:lnTo>
                  <a:pt x="133400" y="62776"/>
                </a:lnTo>
                <a:lnTo>
                  <a:pt x="135966" y="66179"/>
                </a:lnTo>
                <a:lnTo>
                  <a:pt x="135966" y="69570"/>
                </a:lnTo>
                <a:close/>
              </a:path>
              <a:path w="164465" h="261620">
                <a:moveTo>
                  <a:pt x="89793" y="128955"/>
                </a:moveTo>
                <a:lnTo>
                  <a:pt x="69265" y="128955"/>
                </a:lnTo>
                <a:lnTo>
                  <a:pt x="80810" y="118783"/>
                </a:lnTo>
                <a:lnTo>
                  <a:pt x="78525" y="110692"/>
                </a:lnTo>
                <a:lnTo>
                  <a:pt x="79848" y="103717"/>
                </a:lnTo>
                <a:lnTo>
                  <a:pt x="82613" y="97062"/>
                </a:lnTo>
                <a:lnTo>
                  <a:pt x="84658" y="89928"/>
                </a:lnTo>
                <a:lnTo>
                  <a:pt x="75679" y="89928"/>
                </a:lnTo>
                <a:lnTo>
                  <a:pt x="71831" y="88239"/>
                </a:lnTo>
                <a:lnTo>
                  <a:pt x="69265" y="86537"/>
                </a:lnTo>
                <a:lnTo>
                  <a:pt x="65417" y="83146"/>
                </a:lnTo>
                <a:lnTo>
                  <a:pt x="62852" y="79755"/>
                </a:lnTo>
                <a:lnTo>
                  <a:pt x="62852" y="78054"/>
                </a:lnTo>
                <a:lnTo>
                  <a:pt x="64134" y="78054"/>
                </a:lnTo>
                <a:lnTo>
                  <a:pt x="70548" y="76352"/>
                </a:lnTo>
                <a:lnTo>
                  <a:pt x="75679" y="76352"/>
                </a:lnTo>
                <a:lnTo>
                  <a:pt x="82092" y="74663"/>
                </a:lnTo>
                <a:lnTo>
                  <a:pt x="132118" y="74663"/>
                </a:lnTo>
                <a:lnTo>
                  <a:pt x="105181" y="84836"/>
                </a:lnTo>
                <a:lnTo>
                  <a:pt x="100050" y="84836"/>
                </a:lnTo>
                <a:lnTo>
                  <a:pt x="98767" y="86537"/>
                </a:lnTo>
                <a:lnTo>
                  <a:pt x="97485" y="91630"/>
                </a:lnTo>
                <a:lnTo>
                  <a:pt x="94919" y="98412"/>
                </a:lnTo>
                <a:lnTo>
                  <a:pt x="93637" y="103504"/>
                </a:lnTo>
                <a:lnTo>
                  <a:pt x="91071" y="110299"/>
                </a:lnTo>
                <a:lnTo>
                  <a:pt x="126316" y="110299"/>
                </a:lnTo>
                <a:lnTo>
                  <a:pt x="130835" y="111988"/>
                </a:lnTo>
                <a:lnTo>
                  <a:pt x="135966" y="113690"/>
                </a:lnTo>
                <a:lnTo>
                  <a:pt x="141097" y="117081"/>
                </a:lnTo>
                <a:lnTo>
                  <a:pt x="141097" y="120472"/>
                </a:lnTo>
                <a:lnTo>
                  <a:pt x="103898" y="120472"/>
                </a:lnTo>
                <a:lnTo>
                  <a:pt x="103898" y="123863"/>
                </a:lnTo>
                <a:lnTo>
                  <a:pt x="97485" y="123863"/>
                </a:lnTo>
                <a:lnTo>
                  <a:pt x="93637" y="125564"/>
                </a:lnTo>
                <a:lnTo>
                  <a:pt x="91071" y="127266"/>
                </a:lnTo>
                <a:lnTo>
                  <a:pt x="89793" y="128955"/>
                </a:lnTo>
                <a:close/>
              </a:path>
              <a:path w="164465" h="261620">
                <a:moveTo>
                  <a:pt x="126316" y="110299"/>
                </a:moveTo>
                <a:lnTo>
                  <a:pt x="91071" y="110299"/>
                </a:lnTo>
                <a:lnTo>
                  <a:pt x="101433" y="108173"/>
                </a:lnTo>
                <a:lnTo>
                  <a:pt x="111434" y="107324"/>
                </a:lnTo>
                <a:lnTo>
                  <a:pt x="121195" y="108384"/>
                </a:lnTo>
                <a:lnTo>
                  <a:pt x="126316" y="110299"/>
                </a:lnTo>
                <a:close/>
              </a:path>
              <a:path w="164465" h="261620">
                <a:moveTo>
                  <a:pt x="138541" y="152717"/>
                </a:moveTo>
                <a:lnTo>
                  <a:pt x="103898" y="152717"/>
                </a:lnTo>
                <a:lnTo>
                  <a:pt x="121856" y="128955"/>
                </a:lnTo>
                <a:lnTo>
                  <a:pt x="124421" y="123863"/>
                </a:lnTo>
                <a:lnTo>
                  <a:pt x="121856" y="120472"/>
                </a:lnTo>
                <a:lnTo>
                  <a:pt x="141097" y="120472"/>
                </a:lnTo>
                <a:lnTo>
                  <a:pt x="141097" y="125564"/>
                </a:lnTo>
                <a:lnTo>
                  <a:pt x="142379" y="134048"/>
                </a:lnTo>
                <a:lnTo>
                  <a:pt x="139814" y="140843"/>
                </a:lnTo>
                <a:lnTo>
                  <a:pt x="133400" y="144233"/>
                </a:lnTo>
                <a:lnTo>
                  <a:pt x="132118" y="144233"/>
                </a:lnTo>
                <a:lnTo>
                  <a:pt x="129552" y="147624"/>
                </a:lnTo>
                <a:lnTo>
                  <a:pt x="132118" y="149326"/>
                </a:lnTo>
                <a:lnTo>
                  <a:pt x="134683" y="149326"/>
                </a:lnTo>
                <a:lnTo>
                  <a:pt x="135966" y="151015"/>
                </a:lnTo>
                <a:lnTo>
                  <a:pt x="138541" y="152717"/>
                </a:lnTo>
                <a:close/>
              </a:path>
              <a:path w="164465" h="261620">
                <a:moveTo>
                  <a:pt x="141954" y="156108"/>
                </a:moveTo>
                <a:lnTo>
                  <a:pt x="87223" y="156108"/>
                </a:lnTo>
                <a:lnTo>
                  <a:pt x="92265" y="152717"/>
                </a:lnTo>
                <a:lnTo>
                  <a:pt x="95721" y="145715"/>
                </a:lnTo>
                <a:lnTo>
                  <a:pt x="97505" y="135825"/>
                </a:lnTo>
                <a:lnTo>
                  <a:pt x="97485" y="123863"/>
                </a:lnTo>
                <a:lnTo>
                  <a:pt x="103898" y="123863"/>
                </a:lnTo>
                <a:lnTo>
                  <a:pt x="103898" y="140843"/>
                </a:lnTo>
                <a:lnTo>
                  <a:pt x="101333" y="151015"/>
                </a:lnTo>
                <a:lnTo>
                  <a:pt x="102615" y="151015"/>
                </a:lnTo>
                <a:lnTo>
                  <a:pt x="102615" y="152717"/>
                </a:lnTo>
                <a:lnTo>
                  <a:pt x="138541" y="152717"/>
                </a:lnTo>
                <a:lnTo>
                  <a:pt x="141097" y="154406"/>
                </a:lnTo>
                <a:lnTo>
                  <a:pt x="141954" y="156108"/>
                </a:lnTo>
                <a:close/>
              </a:path>
              <a:path w="164465" h="261620">
                <a:moveTo>
                  <a:pt x="142700" y="164592"/>
                </a:moveTo>
                <a:lnTo>
                  <a:pt x="65417" y="164592"/>
                </a:lnTo>
                <a:lnTo>
                  <a:pt x="62732" y="155976"/>
                </a:lnTo>
                <a:lnTo>
                  <a:pt x="60220" y="147624"/>
                </a:lnTo>
                <a:lnTo>
                  <a:pt x="57841" y="140017"/>
                </a:lnTo>
                <a:lnTo>
                  <a:pt x="55156" y="132359"/>
                </a:lnTo>
                <a:lnTo>
                  <a:pt x="85940" y="132359"/>
                </a:lnTo>
                <a:lnTo>
                  <a:pt x="85940" y="137439"/>
                </a:lnTo>
                <a:lnTo>
                  <a:pt x="80810" y="137439"/>
                </a:lnTo>
                <a:lnTo>
                  <a:pt x="70548" y="142532"/>
                </a:lnTo>
                <a:lnTo>
                  <a:pt x="69265" y="144233"/>
                </a:lnTo>
                <a:lnTo>
                  <a:pt x="71831" y="149326"/>
                </a:lnTo>
                <a:lnTo>
                  <a:pt x="74396" y="159499"/>
                </a:lnTo>
                <a:lnTo>
                  <a:pt x="76961" y="161201"/>
                </a:lnTo>
                <a:lnTo>
                  <a:pt x="143340" y="161201"/>
                </a:lnTo>
                <a:lnTo>
                  <a:pt x="142700" y="164592"/>
                </a:lnTo>
                <a:close/>
              </a:path>
              <a:path w="164465" h="261620">
                <a:moveTo>
                  <a:pt x="143340" y="161201"/>
                </a:moveTo>
                <a:lnTo>
                  <a:pt x="76961" y="161201"/>
                </a:lnTo>
                <a:lnTo>
                  <a:pt x="83375" y="157810"/>
                </a:lnTo>
                <a:lnTo>
                  <a:pt x="80810" y="144233"/>
                </a:lnTo>
                <a:lnTo>
                  <a:pt x="80810" y="137439"/>
                </a:lnTo>
                <a:lnTo>
                  <a:pt x="85940" y="137439"/>
                </a:lnTo>
                <a:lnTo>
                  <a:pt x="85940" y="142532"/>
                </a:lnTo>
                <a:lnTo>
                  <a:pt x="87223" y="149326"/>
                </a:lnTo>
                <a:lnTo>
                  <a:pt x="87223" y="156108"/>
                </a:lnTo>
                <a:lnTo>
                  <a:pt x="141954" y="156108"/>
                </a:lnTo>
                <a:lnTo>
                  <a:pt x="143662" y="159499"/>
                </a:lnTo>
                <a:lnTo>
                  <a:pt x="143340" y="161201"/>
                </a:lnTo>
                <a:close/>
              </a:path>
              <a:path w="164465" h="261620">
                <a:moveTo>
                  <a:pt x="56438" y="195135"/>
                </a:moveTo>
                <a:lnTo>
                  <a:pt x="52590" y="188353"/>
                </a:lnTo>
                <a:lnTo>
                  <a:pt x="47459" y="181559"/>
                </a:lnTo>
                <a:lnTo>
                  <a:pt x="47459" y="173075"/>
                </a:lnTo>
                <a:lnTo>
                  <a:pt x="48742" y="164592"/>
                </a:lnTo>
                <a:lnTo>
                  <a:pt x="48742" y="162890"/>
                </a:lnTo>
                <a:lnTo>
                  <a:pt x="61569" y="162890"/>
                </a:lnTo>
                <a:lnTo>
                  <a:pt x="65417" y="164592"/>
                </a:lnTo>
                <a:lnTo>
                  <a:pt x="142700" y="164592"/>
                </a:lnTo>
                <a:lnTo>
                  <a:pt x="141097" y="173075"/>
                </a:lnTo>
                <a:lnTo>
                  <a:pt x="137248" y="174777"/>
                </a:lnTo>
                <a:lnTo>
                  <a:pt x="128269" y="174777"/>
                </a:lnTo>
                <a:lnTo>
                  <a:pt x="123139" y="176466"/>
                </a:lnTo>
                <a:lnTo>
                  <a:pt x="118008" y="176466"/>
                </a:lnTo>
                <a:lnTo>
                  <a:pt x="112576" y="179200"/>
                </a:lnTo>
                <a:lnTo>
                  <a:pt x="109127" y="183260"/>
                </a:lnTo>
                <a:lnTo>
                  <a:pt x="91071" y="183260"/>
                </a:lnTo>
                <a:lnTo>
                  <a:pt x="87223" y="184950"/>
                </a:lnTo>
                <a:lnTo>
                  <a:pt x="83375" y="184950"/>
                </a:lnTo>
                <a:lnTo>
                  <a:pt x="75679" y="188353"/>
                </a:lnTo>
                <a:lnTo>
                  <a:pt x="70548" y="190042"/>
                </a:lnTo>
                <a:lnTo>
                  <a:pt x="66700" y="191744"/>
                </a:lnTo>
                <a:lnTo>
                  <a:pt x="56438" y="195135"/>
                </a:lnTo>
                <a:close/>
              </a:path>
              <a:path w="164465" h="261620">
                <a:moveTo>
                  <a:pt x="138728" y="237553"/>
                </a:moveTo>
                <a:lnTo>
                  <a:pt x="120573" y="237553"/>
                </a:lnTo>
                <a:lnTo>
                  <a:pt x="112877" y="217195"/>
                </a:lnTo>
                <a:lnTo>
                  <a:pt x="110312" y="215493"/>
                </a:lnTo>
                <a:lnTo>
                  <a:pt x="109029" y="215493"/>
                </a:lnTo>
                <a:lnTo>
                  <a:pt x="98467" y="213642"/>
                </a:lnTo>
                <a:lnTo>
                  <a:pt x="92835" y="209562"/>
                </a:lnTo>
                <a:lnTo>
                  <a:pt x="90811" y="201663"/>
                </a:lnTo>
                <a:lnTo>
                  <a:pt x="90945" y="194815"/>
                </a:lnTo>
                <a:lnTo>
                  <a:pt x="91071" y="183260"/>
                </a:lnTo>
                <a:lnTo>
                  <a:pt x="109127" y="183260"/>
                </a:lnTo>
                <a:lnTo>
                  <a:pt x="108227" y="184319"/>
                </a:lnTo>
                <a:lnTo>
                  <a:pt x="105562" y="191027"/>
                </a:lnTo>
                <a:lnTo>
                  <a:pt x="105181" y="198526"/>
                </a:lnTo>
                <a:lnTo>
                  <a:pt x="164185" y="198526"/>
                </a:lnTo>
                <a:lnTo>
                  <a:pt x="161726" y="203407"/>
                </a:lnTo>
                <a:lnTo>
                  <a:pt x="138210" y="203407"/>
                </a:lnTo>
                <a:lnTo>
                  <a:pt x="131196" y="205343"/>
                </a:lnTo>
                <a:lnTo>
                  <a:pt x="124421" y="208711"/>
                </a:lnTo>
                <a:lnTo>
                  <a:pt x="128597" y="217833"/>
                </a:lnTo>
                <a:lnTo>
                  <a:pt x="132919" y="226525"/>
                </a:lnTo>
                <a:lnTo>
                  <a:pt x="137589" y="235434"/>
                </a:lnTo>
                <a:lnTo>
                  <a:pt x="138728" y="237553"/>
                </a:lnTo>
                <a:close/>
              </a:path>
              <a:path w="164465" h="261620">
                <a:moveTo>
                  <a:pt x="164185" y="198526"/>
                </a:moveTo>
                <a:lnTo>
                  <a:pt x="109029" y="198526"/>
                </a:lnTo>
                <a:lnTo>
                  <a:pt x="110312" y="196837"/>
                </a:lnTo>
                <a:lnTo>
                  <a:pt x="118990" y="191400"/>
                </a:lnTo>
                <a:lnTo>
                  <a:pt x="127788" y="187712"/>
                </a:lnTo>
                <a:lnTo>
                  <a:pt x="136828" y="185614"/>
                </a:lnTo>
                <a:lnTo>
                  <a:pt x="146227" y="184950"/>
                </a:lnTo>
                <a:lnTo>
                  <a:pt x="151358" y="186651"/>
                </a:lnTo>
                <a:lnTo>
                  <a:pt x="159054" y="190042"/>
                </a:lnTo>
                <a:lnTo>
                  <a:pt x="164185" y="193433"/>
                </a:lnTo>
                <a:lnTo>
                  <a:pt x="164185" y="198526"/>
                </a:lnTo>
                <a:close/>
              </a:path>
              <a:path w="164465" h="261620">
                <a:moveTo>
                  <a:pt x="33350" y="261315"/>
                </a:moveTo>
                <a:lnTo>
                  <a:pt x="26094" y="259059"/>
                </a:lnTo>
                <a:lnTo>
                  <a:pt x="21485" y="254738"/>
                </a:lnTo>
                <a:lnTo>
                  <a:pt x="19280" y="248190"/>
                </a:lnTo>
                <a:lnTo>
                  <a:pt x="19240" y="239255"/>
                </a:lnTo>
                <a:lnTo>
                  <a:pt x="20984" y="229923"/>
                </a:lnTo>
                <a:lnTo>
                  <a:pt x="22919" y="217195"/>
                </a:lnTo>
                <a:lnTo>
                  <a:pt x="23930" y="210383"/>
                </a:lnTo>
                <a:lnTo>
                  <a:pt x="25653" y="200228"/>
                </a:lnTo>
                <a:lnTo>
                  <a:pt x="41749" y="200228"/>
                </a:lnTo>
                <a:lnTo>
                  <a:pt x="39282" y="217833"/>
                </a:lnTo>
                <a:lnTo>
                  <a:pt x="36727" y="237553"/>
                </a:lnTo>
                <a:lnTo>
                  <a:pt x="34632" y="256222"/>
                </a:lnTo>
                <a:lnTo>
                  <a:pt x="33350" y="257924"/>
                </a:lnTo>
                <a:lnTo>
                  <a:pt x="33350" y="261315"/>
                </a:lnTo>
                <a:close/>
              </a:path>
              <a:path w="164465" h="261620">
                <a:moveTo>
                  <a:pt x="160337" y="208711"/>
                </a:moveTo>
                <a:lnTo>
                  <a:pt x="156489" y="208711"/>
                </a:lnTo>
                <a:lnTo>
                  <a:pt x="153923" y="207009"/>
                </a:lnTo>
                <a:lnTo>
                  <a:pt x="145706" y="203698"/>
                </a:lnTo>
                <a:lnTo>
                  <a:pt x="138210" y="203407"/>
                </a:lnTo>
                <a:lnTo>
                  <a:pt x="161726" y="203407"/>
                </a:lnTo>
                <a:lnTo>
                  <a:pt x="161600" y="203698"/>
                </a:lnTo>
                <a:lnTo>
                  <a:pt x="160337" y="208711"/>
                </a:lnTo>
                <a:close/>
              </a:path>
              <a:path w="164465" h="261620">
                <a:moveTo>
                  <a:pt x="142379" y="259613"/>
                </a:moveTo>
                <a:lnTo>
                  <a:pt x="134683" y="259613"/>
                </a:lnTo>
                <a:lnTo>
                  <a:pt x="121275" y="255397"/>
                </a:lnTo>
                <a:lnTo>
                  <a:pt x="84658" y="234162"/>
                </a:lnTo>
                <a:lnTo>
                  <a:pt x="75679" y="223977"/>
                </a:lnTo>
                <a:lnTo>
                  <a:pt x="70548" y="218897"/>
                </a:lnTo>
                <a:lnTo>
                  <a:pt x="67983" y="215493"/>
                </a:lnTo>
                <a:lnTo>
                  <a:pt x="67983" y="205320"/>
                </a:lnTo>
                <a:lnTo>
                  <a:pt x="74396" y="205320"/>
                </a:lnTo>
                <a:lnTo>
                  <a:pt x="76961" y="208711"/>
                </a:lnTo>
                <a:lnTo>
                  <a:pt x="78244" y="212102"/>
                </a:lnTo>
                <a:lnTo>
                  <a:pt x="87163" y="222287"/>
                </a:lnTo>
                <a:lnTo>
                  <a:pt x="96683" y="229923"/>
                </a:lnTo>
                <a:lnTo>
                  <a:pt x="106925" y="235012"/>
                </a:lnTo>
                <a:lnTo>
                  <a:pt x="118008" y="237553"/>
                </a:lnTo>
                <a:lnTo>
                  <a:pt x="138728" y="237553"/>
                </a:lnTo>
                <a:lnTo>
                  <a:pt x="142379" y="244348"/>
                </a:lnTo>
                <a:lnTo>
                  <a:pt x="143662" y="247738"/>
                </a:lnTo>
                <a:lnTo>
                  <a:pt x="143580" y="254738"/>
                </a:lnTo>
                <a:lnTo>
                  <a:pt x="142379" y="257924"/>
                </a:lnTo>
                <a:lnTo>
                  <a:pt x="142379" y="259613"/>
                </a:lnTo>
                <a:close/>
              </a:path>
            </a:pathLst>
          </a:custGeom>
          <a:solidFill>
            <a:srgbClr val="FFFFFF"/>
          </a:solidFill>
        </p:spPr>
        <p:txBody>
          <a:bodyPr wrap="square" lIns="0" tIns="0" rIns="0" bIns="0" rtlCol="0"/>
          <a:lstStyle/>
          <a:p>
            <a:endParaRPr/>
          </a:p>
        </p:txBody>
      </p:sp>
      <p:sp>
        <p:nvSpPr>
          <p:cNvPr id="15" name="object 15"/>
          <p:cNvSpPr/>
          <p:nvPr/>
        </p:nvSpPr>
        <p:spPr>
          <a:xfrm>
            <a:off x="494283" y="6603733"/>
            <a:ext cx="20955" cy="73025"/>
          </a:xfrm>
          <a:custGeom>
            <a:avLst/>
            <a:gdLst/>
            <a:ahLst/>
            <a:cxnLst/>
            <a:rect l="l" t="t" r="r" b="b"/>
            <a:pathLst>
              <a:path w="20954" h="73025">
                <a:moveTo>
                  <a:pt x="11480" y="72758"/>
                </a:moveTo>
                <a:lnTo>
                  <a:pt x="7658" y="69380"/>
                </a:lnTo>
                <a:lnTo>
                  <a:pt x="2552" y="65989"/>
                </a:lnTo>
                <a:lnTo>
                  <a:pt x="0" y="62610"/>
                </a:lnTo>
                <a:lnTo>
                  <a:pt x="81" y="58828"/>
                </a:lnTo>
                <a:lnTo>
                  <a:pt x="2874" y="44978"/>
                </a:lnTo>
                <a:lnTo>
                  <a:pt x="5745" y="30249"/>
                </a:lnTo>
                <a:lnTo>
                  <a:pt x="8613" y="15204"/>
                </a:lnTo>
                <a:lnTo>
                  <a:pt x="11480" y="0"/>
                </a:lnTo>
                <a:lnTo>
                  <a:pt x="19138" y="5079"/>
                </a:lnTo>
                <a:lnTo>
                  <a:pt x="20408" y="10159"/>
                </a:lnTo>
                <a:lnTo>
                  <a:pt x="19138" y="18618"/>
                </a:lnTo>
                <a:lnTo>
                  <a:pt x="16683" y="31597"/>
                </a:lnTo>
                <a:lnTo>
                  <a:pt x="14828" y="45054"/>
                </a:lnTo>
                <a:lnTo>
                  <a:pt x="13164" y="59232"/>
                </a:lnTo>
                <a:lnTo>
                  <a:pt x="11480" y="72758"/>
                </a:lnTo>
                <a:close/>
              </a:path>
            </a:pathLst>
          </a:custGeom>
          <a:solidFill>
            <a:srgbClr val="FFFFFF"/>
          </a:solidFill>
        </p:spPr>
        <p:txBody>
          <a:bodyPr wrap="square" lIns="0" tIns="0" rIns="0" bIns="0" rtlCol="0"/>
          <a:lstStyle/>
          <a:p>
            <a:endParaRPr/>
          </a:p>
        </p:txBody>
      </p:sp>
      <p:sp>
        <p:nvSpPr>
          <p:cNvPr id="16" name="object 16"/>
          <p:cNvSpPr/>
          <p:nvPr/>
        </p:nvSpPr>
        <p:spPr>
          <a:xfrm>
            <a:off x="686562" y="6471818"/>
            <a:ext cx="108813" cy="126542"/>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1088682" y="6402252"/>
            <a:ext cx="184064" cy="24323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7377683" y="347472"/>
            <a:ext cx="1476755" cy="432815"/>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1024851" y="0"/>
            <a:ext cx="0" cy="1061720"/>
          </a:xfrm>
          <a:custGeom>
            <a:avLst/>
            <a:gdLst/>
            <a:ahLst/>
            <a:cxnLst/>
            <a:rect l="l" t="t" r="r" b="b"/>
            <a:pathLst>
              <a:path h="1061720">
                <a:moveTo>
                  <a:pt x="0" y="0"/>
                </a:moveTo>
                <a:lnTo>
                  <a:pt x="0" y="1061593"/>
                </a:lnTo>
              </a:path>
            </a:pathLst>
          </a:custGeom>
          <a:ln w="12700">
            <a:solidFill>
              <a:srgbClr val="FFFFFF"/>
            </a:solidFill>
          </a:ln>
        </p:spPr>
        <p:txBody>
          <a:bodyPr wrap="square" lIns="0" tIns="0" rIns="0" bIns="0" rtlCol="0"/>
          <a:lstStyle/>
          <a:p>
            <a:endParaRPr/>
          </a:p>
        </p:txBody>
      </p:sp>
      <p:sp>
        <p:nvSpPr>
          <p:cNvPr id="20" name="object 20"/>
          <p:cNvSpPr/>
          <p:nvPr/>
        </p:nvSpPr>
        <p:spPr>
          <a:xfrm>
            <a:off x="8366556" y="6119786"/>
            <a:ext cx="0" cy="738505"/>
          </a:xfrm>
          <a:custGeom>
            <a:avLst/>
            <a:gdLst/>
            <a:ahLst/>
            <a:cxnLst/>
            <a:rect l="l" t="t" r="r" b="b"/>
            <a:pathLst>
              <a:path h="738504">
                <a:moveTo>
                  <a:pt x="0" y="0"/>
                </a:moveTo>
                <a:lnTo>
                  <a:pt x="0" y="738212"/>
                </a:lnTo>
              </a:path>
            </a:pathLst>
          </a:custGeom>
          <a:ln w="12700">
            <a:solidFill>
              <a:srgbClr val="FFFFFF"/>
            </a:solidFill>
          </a:ln>
        </p:spPr>
        <p:txBody>
          <a:bodyPr wrap="square" lIns="0" tIns="0" rIns="0" bIns="0" rtlCol="0"/>
          <a:lstStyle/>
          <a:p>
            <a:endParaRPr/>
          </a:p>
        </p:txBody>
      </p:sp>
      <p:sp>
        <p:nvSpPr>
          <p:cNvPr id="21" name="object 21"/>
          <p:cNvSpPr txBox="1"/>
          <p:nvPr/>
        </p:nvSpPr>
        <p:spPr>
          <a:xfrm>
            <a:off x="761682" y="1356359"/>
            <a:ext cx="7239000" cy="3903979"/>
          </a:xfrm>
          <a:prstGeom prst="rect">
            <a:avLst/>
          </a:prstGeom>
        </p:spPr>
        <p:txBody>
          <a:bodyPr vert="horz" wrap="square" lIns="0" tIns="12700" rIns="0" bIns="0" rtlCol="0">
            <a:spAutoFit/>
          </a:bodyPr>
          <a:lstStyle/>
          <a:p>
            <a:pPr marL="12700" marR="1274445">
              <a:lnSpc>
                <a:spcPct val="100000"/>
              </a:lnSpc>
              <a:spcBef>
                <a:spcPts val="100"/>
              </a:spcBef>
            </a:pPr>
            <a:r>
              <a:rPr sz="2400" dirty="0">
                <a:latin typeface="宋体"/>
                <a:cs typeface="宋体"/>
              </a:rPr>
              <a:t>createNewFile()在指定位置创建一个空文件  mkdir()</a:t>
            </a:r>
            <a:r>
              <a:rPr sz="2400" spc="-35" dirty="0">
                <a:latin typeface="宋体"/>
                <a:cs typeface="宋体"/>
              </a:rPr>
              <a:t> </a:t>
            </a:r>
            <a:r>
              <a:rPr sz="2400" spc="-1200" dirty="0">
                <a:latin typeface="宋体"/>
                <a:cs typeface="宋体"/>
              </a:rPr>
              <a:t> </a:t>
            </a:r>
            <a:r>
              <a:rPr sz="2400" dirty="0">
                <a:latin typeface="宋体"/>
                <a:cs typeface="宋体"/>
              </a:rPr>
              <a:t>在指定位置创建一个单级目录。 mkdirs()</a:t>
            </a:r>
            <a:r>
              <a:rPr sz="2400" spc="-50" dirty="0">
                <a:latin typeface="宋体"/>
                <a:cs typeface="宋体"/>
              </a:rPr>
              <a:t> </a:t>
            </a:r>
            <a:r>
              <a:rPr sz="2400" spc="-1200" dirty="0">
                <a:latin typeface="宋体"/>
                <a:cs typeface="宋体"/>
              </a:rPr>
              <a:t> </a:t>
            </a:r>
            <a:r>
              <a:rPr sz="2400" dirty="0">
                <a:latin typeface="宋体"/>
                <a:cs typeface="宋体"/>
              </a:rPr>
              <a:t>在指定位置创建一个多级目录。 delete()</a:t>
            </a:r>
            <a:r>
              <a:rPr sz="2400" spc="-20" dirty="0">
                <a:latin typeface="宋体"/>
                <a:cs typeface="宋体"/>
              </a:rPr>
              <a:t> </a:t>
            </a:r>
            <a:r>
              <a:rPr sz="2400" spc="-1200" dirty="0">
                <a:latin typeface="宋体"/>
                <a:cs typeface="宋体"/>
              </a:rPr>
              <a:t> </a:t>
            </a:r>
            <a:r>
              <a:rPr sz="2400" dirty="0">
                <a:latin typeface="宋体"/>
                <a:cs typeface="宋体"/>
              </a:rPr>
              <a:t>删除文件或者一个空文件夹 exists()</a:t>
            </a:r>
            <a:r>
              <a:rPr sz="2400" spc="-10" dirty="0">
                <a:latin typeface="宋体"/>
                <a:cs typeface="宋体"/>
              </a:rPr>
              <a:t> </a:t>
            </a:r>
            <a:r>
              <a:rPr sz="2400" spc="-1200" dirty="0">
                <a:latin typeface="宋体"/>
                <a:cs typeface="宋体"/>
              </a:rPr>
              <a:t> </a:t>
            </a:r>
            <a:r>
              <a:rPr sz="2400" dirty="0">
                <a:latin typeface="宋体"/>
                <a:cs typeface="宋体"/>
              </a:rPr>
              <a:t>文件或文件夹是否存在</a:t>
            </a:r>
          </a:p>
          <a:p>
            <a:pPr marL="12700" marR="2493645">
              <a:lnSpc>
                <a:spcPct val="100000"/>
              </a:lnSpc>
            </a:pPr>
            <a:r>
              <a:rPr sz="2400" dirty="0">
                <a:latin typeface="宋体"/>
                <a:cs typeface="宋体"/>
              </a:rPr>
              <a:t>isFile()</a:t>
            </a:r>
            <a:r>
              <a:rPr sz="2400" spc="-15" dirty="0">
                <a:latin typeface="宋体"/>
                <a:cs typeface="宋体"/>
              </a:rPr>
              <a:t> </a:t>
            </a:r>
            <a:r>
              <a:rPr sz="2400" spc="-1200" dirty="0">
                <a:latin typeface="宋体"/>
                <a:cs typeface="宋体"/>
              </a:rPr>
              <a:t> </a:t>
            </a:r>
            <a:r>
              <a:rPr sz="2400" dirty="0">
                <a:latin typeface="宋体"/>
                <a:cs typeface="宋体"/>
              </a:rPr>
              <a:t>是否是一个文件 isDirectory()</a:t>
            </a:r>
            <a:r>
              <a:rPr sz="2400" spc="-100" dirty="0">
                <a:latin typeface="宋体"/>
                <a:cs typeface="宋体"/>
              </a:rPr>
              <a:t> </a:t>
            </a:r>
            <a:r>
              <a:rPr sz="2400" spc="-1200" dirty="0">
                <a:latin typeface="宋体"/>
                <a:cs typeface="宋体"/>
              </a:rPr>
              <a:t> </a:t>
            </a:r>
            <a:r>
              <a:rPr sz="2400" dirty="0">
                <a:latin typeface="宋体"/>
                <a:cs typeface="宋体"/>
              </a:rPr>
              <a:t>是否是一个目录，</a:t>
            </a:r>
          </a:p>
          <a:p>
            <a:pPr>
              <a:lnSpc>
                <a:spcPct val="100000"/>
              </a:lnSpc>
            </a:pPr>
            <a:endParaRPr sz="2400" dirty="0">
              <a:latin typeface="宋体"/>
              <a:cs typeface="宋体"/>
            </a:endParaRPr>
          </a:p>
          <a:p>
            <a:pPr marL="129539" marR="5080">
              <a:lnSpc>
                <a:spcPct val="100000"/>
              </a:lnSpc>
              <a:spcBef>
                <a:spcPts val="1545"/>
              </a:spcBef>
              <a:tabLst>
                <a:tab pos="5727065" algn="l"/>
              </a:tabLst>
            </a:pPr>
            <a:r>
              <a:rPr sz="2400" dirty="0">
                <a:latin typeface="等线"/>
                <a:cs typeface="等线"/>
              </a:rPr>
              <a:t>示例：在C盘创建文件</a:t>
            </a:r>
            <a:r>
              <a:rPr sz="2400" spc="-15" dirty="0">
                <a:latin typeface="等线"/>
                <a:cs typeface="等线"/>
              </a:rPr>
              <a:t> </a:t>
            </a:r>
            <a:r>
              <a:rPr sz="2400" spc="-5" dirty="0">
                <a:latin typeface="等线"/>
                <a:cs typeface="等线"/>
              </a:rPr>
              <a:t>Hello.txt</a:t>
            </a:r>
            <a:r>
              <a:rPr sz="2400" spc="-15" dirty="0">
                <a:latin typeface="等线"/>
                <a:cs typeface="等线"/>
              </a:rPr>
              <a:t> </a:t>
            </a:r>
            <a:r>
              <a:rPr sz="2400" spc="-5" dirty="0">
                <a:latin typeface="等线"/>
                <a:cs typeface="等线"/>
              </a:rPr>
              <a:t>Hello.txt</a:t>
            </a:r>
            <a:r>
              <a:rPr sz="2400" spc="-15" dirty="0">
                <a:latin typeface="等线"/>
                <a:cs typeface="等线"/>
              </a:rPr>
              <a:t> </a:t>
            </a:r>
            <a:r>
              <a:rPr sz="2400" spc="-5" dirty="0">
                <a:latin typeface="等线"/>
                <a:cs typeface="等线"/>
              </a:rPr>
              <a:t>Hello.txt</a:t>
            </a:r>
            <a:r>
              <a:rPr sz="2400" spc="-15" dirty="0">
                <a:latin typeface="等线"/>
                <a:cs typeface="等线"/>
              </a:rPr>
              <a:t> </a:t>
            </a:r>
            <a:r>
              <a:rPr sz="2400" dirty="0">
                <a:latin typeface="等线"/>
                <a:cs typeface="等线"/>
              </a:rPr>
              <a:t>，如 果存在则删除旧文件，不直接创建新的	</a:t>
            </a:r>
            <a:r>
              <a:rPr sz="2400" b="1" spc="-5" dirty="0">
                <a:solidFill>
                  <a:srgbClr val="006C39"/>
                </a:solidFill>
                <a:latin typeface="等线"/>
                <a:cs typeface="等线"/>
              </a:rPr>
              <a:t>FileTest</a:t>
            </a:r>
            <a:endParaRPr sz="2400" dirty="0">
              <a:latin typeface="等线"/>
              <a:cs typeface="等线"/>
            </a:endParaRPr>
          </a:p>
        </p:txBody>
      </p:sp>
      <p:sp>
        <p:nvSpPr>
          <p:cNvPr id="22" name="object 22"/>
          <p:cNvSpPr txBox="1">
            <a:spLocks noGrp="1"/>
          </p:cNvSpPr>
          <p:nvPr>
            <p:ph type="sldNum" sz="quarter" idx="7"/>
          </p:nvPr>
        </p:nvSpPr>
        <p:spPr>
          <a:prstGeom prst="rect">
            <a:avLst/>
          </a:prstGeom>
        </p:spPr>
        <p:txBody>
          <a:bodyPr vert="horz" wrap="square" lIns="0" tIns="21590" rIns="0" bIns="0" rtlCol="0">
            <a:spAutoFit/>
          </a:bodyPr>
          <a:lstStyle/>
          <a:p>
            <a:pPr marL="38100">
              <a:lnSpc>
                <a:spcPct val="100000"/>
              </a:lnSpc>
              <a:spcBef>
                <a:spcPts val="170"/>
              </a:spcBef>
            </a:pPr>
            <a:fld id="{81D60167-4931-47E6-BA6A-407CBD079E47}" type="slidenum">
              <a:rPr dirty="0"/>
              <a:t>76</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TotalTime>
  <Words>2896</Words>
  <Application>Microsoft Office PowerPoint</Application>
  <PresentationFormat>全屏显示(4:3)</PresentationFormat>
  <Paragraphs>606</Paragraphs>
  <Slides>76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76</vt:i4>
      </vt:variant>
    </vt:vector>
  </HeadingPairs>
  <TitlesOfParts>
    <vt:vector size="88" baseType="lpstr">
      <vt:lpstr>-apple-system</vt:lpstr>
      <vt:lpstr>Yu Gothic UI</vt:lpstr>
      <vt:lpstr>等线</vt:lpstr>
      <vt:lpstr>宋体</vt:lpstr>
      <vt:lpstr>微软雅黑</vt:lpstr>
      <vt:lpstr>Arial</vt:lpstr>
      <vt:lpstr>Calibri</vt:lpstr>
      <vt:lpstr>Consolas</vt:lpstr>
      <vt:lpstr>Courier New</vt:lpstr>
      <vt:lpstr>Times New Roman</vt:lpstr>
      <vt:lpstr>Wingdings 3</vt:lpstr>
      <vt:lpstr>Office Theme</vt:lpstr>
      <vt:lpstr>PowerPoint 演示文稿</vt:lpstr>
      <vt:lpstr>本章知识点</vt:lpstr>
      <vt:lpstr>1、Java流的类层次结构</vt:lpstr>
      <vt:lpstr>按流的方向分为输入流和输出流。</vt:lpstr>
      <vt:lpstr>节点流：进行输入输出操作</vt:lpstr>
      <vt:lpstr>处理流：在节点流的基础上进行加工、转换、处理</vt:lpstr>
      <vt:lpstr>PowerPoint 演示文稿</vt:lpstr>
      <vt:lpstr>1.2字节流层次结构</vt:lpstr>
      <vt:lpstr>1.2字符流层次结构</vt:lpstr>
      <vt:lpstr>2 字节流</vt:lpstr>
      <vt:lpstr>2.1 抽象类InputStream和OutputStream</vt:lpstr>
      <vt:lpstr>2.1 抽象类InputStream和OutputStream</vt:lpstr>
      <vt:lpstr>2.1 抽象类InputStream和OutputStream</vt:lpstr>
      <vt:lpstr>2.2 文件流FileInputStream和FileOutputStream</vt:lpstr>
      <vt:lpstr>PowerPoint 演示文稿</vt:lpstr>
      <vt:lpstr>PowerPoint 演示文稿</vt:lpstr>
      <vt:lpstr>PowerPoint 演示文稿</vt:lpstr>
      <vt:lpstr>12.2.2 文件流FileInputStream和   FileOutputStream </vt:lpstr>
      <vt:lpstr>12.2.2.3FilterInputStream/FilterOutputStream</vt:lpstr>
      <vt:lpstr>PowerPoint 演示文稿</vt:lpstr>
      <vt:lpstr>12.2.4 缓冲流BufferedInputStream和   BufferedOutputStream </vt:lpstr>
      <vt:lpstr>12.2.4 缓冲流BufferedInputStream和   BufferedOutputStream </vt:lpstr>
      <vt:lpstr>12.2.4 缓冲流BufferedInputStream和   BufferedOutputStream </vt:lpstr>
      <vt:lpstr>12.2.4 缓冲流BufferedInputStream和   BufferedOutputStream </vt:lpstr>
      <vt:lpstr>12.2.5 数据过滤流DataInputStream和   DataOutputStream </vt:lpstr>
      <vt:lpstr>12.2.5 数据过滤流DataInputStream和   DataOutputStream </vt:lpstr>
      <vt:lpstr>12.2.5 数据过滤流DataInputStream和   DataOutputStream </vt:lpstr>
      <vt:lpstr>PowerPoint 演示文稿</vt:lpstr>
      <vt:lpstr>PowerPoint 演示文稿</vt:lpstr>
      <vt:lpstr>12.2.6 对象流与序列化接口 Serializable</vt:lpstr>
      <vt:lpstr>12.2.6 对象流与序列化接口Serializable</vt:lpstr>
      <vt:lpstr>12.2.6 对象流与序列化接口 Serializable</vt:lpstr>
      <vt:lpstr>12.2.6 对象流与序列化接口 Serializable</vt:lpstr>
      <vt:lpstr>12.2.6 对象流与序列化接口 Serializable</vt:lpstr>
      <vt:lpstr>12.2.6 对象流与序列化接口 Serializable</vt:lpstr>
      <vt:lpstr>12.2.7 字节数组流ByteArrayInputStream和 ByteArrayOutputStream</vt:lpstr>
      <vt:lpstr>12.2.7 字节数组流ByteArrayInputStream和 ByteArrayOutputStream</vt:lpstr>
      <vt:lpstr>12.2.7 字节数组流ByteArrayInputStream和 ByteArrayOutputStream</vt:lpstr>
      <vt:lpstr>12.3 字符流</vt:lpstr>
      <vt:lpstr>12.3.1 抽象类Reader和Writer</vt:lpstr>
      <vt:lpstr>12.3.1 抽象类Reader和  Writer</vt:lpstr>
      <vt:lpstr>12.3.1 抽象类Reader和  Writer</vt:lpstr>
      <vt:lpstr>PowerPoint 演示文稿</vt:lpstr>
      <vt:lpstr>PowerPoint 演示文稿</vt:lpstr>
      <vt:lpstr>12.3.2 转换流InputStreamReader和   OutputStreamWriter </vt:lpstr>
      <vt:lpstr>PowerPoint 演示文稿</vt:lpstr>
      <vt:lpstr>12.3.2 转换流InputStreamReader和   OutputStreamWriter </vt:lpstr>
      <vt:lpstr>PowerPoint 演示文稿</vt:lpstr>
      <vt:lpstr>try(</vt:lpstr>
      <vt:lpstr>try( FileInputStream fis = new FileInputStream(filename);</vt:lpstr>
      <vt:lpstr>12.3.3 FileReader和FileWriter</vt:lpstr>
      <vt:lpstr>12.3.3 FileReader和FileWriter</vt:lpstr>
      <vt:lpstr>12.3.4 BufferedReader类</vt:lpstr>
      <vt:lpstr>12.3.5 PrintWriter类</vt:lpstr>
      <vt:lpstr>12.3.5 PrintWriter类</vt:lpstr>
      <vt:lpstr>12.4 装饰器模式</vt:lpstr>
      <vt:lpstr>PowerPoint 演示文稿</vt:lpstr>
      <vt:lpstr>PowerPoint 演示文稿</vt:lpstr>
      <vt:lpstr>PowerPoint 演示文稿</vt:lpstr>
      <vt:lpstr>12.5 RandomAccessFile类</vt:lpstr>
      <vt:lpstr>12.5 RandomAccessFile类</vt:lpstr>
      <vt:lpstr>12.5 RandomAccessFile类</vt:lpstr>
      <vt:lpstr>12.5 RandomAccessFile类</vt:lpstr>
      <vt:lpstr>12.5 RandomAccessFile类</vt:lpstr>
      <vt:lpstr>12.6 Java输入流输出流汇总</vt:lpstr>
      <vt:lpstr>12.6 Java输入流输出流汇总</vt:lpstr>
      <vt:lpstr>12.6 Java输入流输出流汇总</vt:lpstr>
      <vt:lpstr>12.6 Java输入流输出流汇总</vt:lpstr>
      <vt:lpstr>字节处理流</vt:lpstr>
      <vt:lpstr>字节处理流</vt:lpstr>
      <vt:lpstr>System.in：InputStream类型的，代表标准输入流</vt:lpstr>
      <vt:lpstr>PowerPoint 演示文稿</vt:lpstr>
      <vt:lpstr>12.6 操作文件</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 Vel</cp:lastModifiedBy>
  <cp:revision>1</cp:revision>
  <dcterms:created xsi:type="dcterms:W3CDTF">2024-05-06T06:08:51Z</dcterms:created>
  <dcterms:modified xsi:type="dcterms:W3CDTF">2024-05-06T07:49:59Z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2024-04-01T00:00:00Z</vt:filetime>
  </property>
  <property fmtid="{D5CDD505-2E9C-101B-9397-08002B2CF9AE}" pid="3" name="Creator">
    <vt:lpwstr>WPS 演示</vt:lpwstr>
  </property>
  <property fmtid="{D5CDD505-2E9C-101B-9397-08002B2CF9AE}" pid="4" name="LastSaved">
    <vt:filetime>2024-05-06T00:00:00Z</vt:filetime>
  </property>
</Properties>
</file>
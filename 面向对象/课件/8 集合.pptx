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3652" y="380225"/>
            <a:ext cx="6576695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595" y="1462405"/>
            <a:ext cx="3423920" cy="45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1741" y="3194062"/>
            <a:ext cx="8039100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3435" y="132587"/>
            <a:ext cx="3750564" cy="6536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484375"/>
            <a:ext cx="2197735" cy="4364990"/>
          </a:xfrm>
          <a:custGeom>
            <a:avLst/>
            <a:gdLst/>
            <a:ahLst/>
            <a:cxnLst/>
            <a:rect l="l" t="t" r="r" b="b"/>
            <a:pathLst>
              <a:path w="2197735" h="4364990">
                <a:moveTo>
                  <a:pt x="0" y="0"/>
                </a:moveTo>
                <a:lnTo>
                  <a:pt x="2197608" y="0"/>
                </a:lnTo>
                <a:lnTo>
                  <a:pt x="2197608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44128" y="1484375"/>
            <a:ext cx="500380" cy="4364990"/>
          </a:xfrm>
          <a:custGeom>
            <a:avLst/>
            <a:gdLst/>
            <a:ahLst/>
            <a:cxnLst/>
            <a:rect l="l" t="t" r="r" b="b"/>
            <a:pathLst>
              <a:path w="500379" h="4364990">
                <a:moveTo>
                  <a:pt x="0" y="0"/>
                </a:moveTo>
                <a:lnTo>
                  <a:pt x="499872" y="0"/>
                </a:lnTo>
                <a:lnTo>
                  <a:pt x="499872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96083" y="1484375"/>
            <a:ext cx="283845" cy="4364990"/>
          </a:xfrm>
          <a:custGeom>
            <a:avLst/>
            <a:gdLst/>
            <a:ahLst/>
            <a:cxnLst/>
            <a:rect l="l" t="t" r="r" b="b"/>
            <a:pathLst>
              <a:path w="283844" h="4364990">
                <a:moveTo>
                  <a:pt x="0" y="0"/>
                </a:moveTo>
                <a:lnTo>
                  <a:pt x="283463" y="0"/>
                </a:lnTo>
                <a:lnTo>
                  <a:pt x="283463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40852" y="1484375"/>
            <a:ext cx="303530" cy="4364990"/>
          </a:xfrm>
          <a:custGeom>
            <a:avLst/>
            <a:gdLst/>
            <a:ahLst/>
            <a:cxnLst/>
            <a:rect l="l" t="t" r="r" b="b"/>
            <a:pathLst>
              <a:path w="303529" h="4364990">
                <a:moveTo>
                  <a:pt x="0" y="0"/>
                </a:moveTo>
                <a:lnTo>
                  <a:pt x="303275" y="0"/>
                </a:lnTo>
                <a:lnTo>
                  <a:pt x="303275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42987" y="2545155"/>
            <a:ext cx="143510" cy="221996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70" b="1">
                <a:solidFill>
                  <a:srgbClr val="FFFFFF"/>
                </a:solidFill>
                <a:latin typeface="Arial"/>
                <a:cs typeface="Arial"/>
              </a:rPr>
              <a:t>BEIJING INSTITUTE </a:t>
            </a:r>
            <a:r>
              <a:rPr dirty="0" sz="800" spc="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80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80" b="1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029" y="3754005"/>
            <a:ext cx="409575" cy="623570"/>
          </a:xfrm>
          <a:custGeom>
            <a:avLst/>
            <a:gdLst/>
            <a:ahLst/>
            <a:cxnLst/>
            <a:rect l="l" t="t" r="r" b="b"/>
            <a:pathLst>
              <a:path w="409575" h="623570">
                <a:moveTo>
                  <a:pt x="203495" y="189229"/>
                </a:moveTo>
                <a:lnTo>
                  <a:pt x="197313" y="189229"/>
                </a:lnTo>
                <a:lnTo>
                  <a:pt x="191755" y="185420"/>
                </a:lnTo>
                <a:lnTo>
                  <a:pt x="185264" y="175260"/>
                </a:lnTo>
                <a:lnTo>
                  <a:pt x="205203" y="162560"/>
                </a:lnTo>
                <a:lnTo>
                  <a:pt x="220157" y="154939"/>
                </a:lnTo>
                <a:lnTo>
                  <a:pt x="235111" y="148589"/>
                </a:lnTo>
                <a:lnTo>
                  <a:pt x="250066" y="140970"/>
                </a:lnTo>
                <a:lnTo>
                  <a:pt x="265020" y="130810"/>
                </a:lnTo>
                <a:lnTo>
                  <a:pt x="271675" y="130810"/>
                </a:lnTo>
                <a:lnTo>
                  <a:pt x="274989" y="121920"/>
                </a:lnTo>
                <a:lnTo>
                  <a:pt x="278317" y="118110"/>
                </a:lnTo>
                <a:lnTo>
                  <a:pt x="282780" y="97789"/>
                </a:lnTo>
                <a:lnTo>
                  <a:pt x="290465" y="54610"/>
                </a:lnTo>
                <a:lnTo>
                  <a:pt x="294928" y="34289"/>
                </a:lnTo>
                <a:lnTo>
                  <a:pt x="296020" y="27939"/>
                </a:lnTo>
                <a:lnTo>
                  <a:pt x="298670" y="20320"/>
                </a:lnTo>
                <a:lnTo>
                  <a:pt x="301942" y="12700"/>
                </a:lnTo>
                <a:lnTo>
                  <a:pt x="304898" y="7620"/>
                </a:lnTo>
                <a:lnTo>
                  <a:pt x="308225" y="0"/>
                </a:lnTo>
                <a:lnTo>
                  <a:pt x="321522" y="0"/>
                </a:lnTo>
                <a:lnTo>
                  <a:pt x="321522" y="3810"/>
                </a:lnTo>
                <a:lnTo>
                  <a:pt x="324837" y="16510"/>
                </a:lnTo>
                <a:lnTo>
                  <a:pt x="324837" y="21589"/>
                </a:lnTo>
                <a:lnTo>
                  <a:pt x="313726" y="45720"/>
                </a:lnTo>
                <a:lnTo>
                  <a:pt x="308224" y="69850"/>
                </a:lnTo>
                <a:lnTo>
                  <a:pt x="305215" y="96520"/>
                </a:lnTo>
                <a:lnTo>
                  <a:pt x="301583" y="121920"/>
                </a:lnTo>
                <a:lnTo>
                  <a:pt x="317055" y="127000"/>
                </a:lnTo>
                <a:lnTo>
                  <a:pt x="358084" y="127000"/>
                </a:lnTo>
                <a:lnTo>
                  <a:pt x="364715" y="130810"/>
                </a:lnTo>
                <a:lnTo>
                  <a:pt x="359629" y="140970"/>
                </a:lnTo>
                <a:lnTo>
                  <a:pt x="353920" y="148589"/>
                </a:lnTo>
                <a:lnTo>
                  <a:pt x="334806" y="148589"/>
                </a:lnTo>
                <a:lnTo>
                  <a:pt x="313625" y="152400"/>
                </a:lnTo>
                <a:lnTo>
                  <a:pt x="312255" y="153670"/>
                </a:lnTo>
                <a:lnTo>
                  <a:pt x="271675" y="153670"/>
                </a:lnTo>
                <a:lnTo>
                  <a:pt x="255317" y="162560"/>
                </a:lnTo>
                <a:lnTo>
                  <a:pt x="240518" y="170179"/>
                </a:lnTo>
                <a:lnTo>
                  <a:pt x="226344" y="177800"/>
                </a:lnTo>
                <a:lnTo>
                  <a:pt x="211858" y="184150"/>
                </a:lnTo>
                <a:lnTo>
                  <a:pt x="203495" y="189229"/>
                </a:lnTo>
                <a:close/>
              </a:path>
              <a:path w="409575" h="623570">
                <a:moveTo>
                  <a:pt x="116431" y="144779"/>
                </a:moveTo>
                <a:lnTo>
                  <a:pt x="88896" y="144779"/>
                </a:lnTo>
                <a:lnTo>
                  <a:pt x="105463" y="130810"/>
                </a:lnTo>
                <a:lnTo>
                  <a:pt x="119224" y="115570"/>
                </a:lnTo>
                <a:lnTo>
                  <a:pt x="128623" y="95250"/>
                </a:lnTo>
                <a:lnTo>
                  <a:pt x="132102" y="69850"/>
                </a:lnTo>
                <a:lnTo>
                  <a:pt x="133192" y="59689"/>
                </a:lnTo>
                <a:lnTo>
                  <a:pt x="135839" y="48260"/>
                </a:lnTo>
                <a:lnTo>
                  <a:pt x="139110" y="36829"/>
                </a:lnTo>
                <a:lnTo>
                  <a:pt x="142071" y="25400"/>
                </a:lnTo>
                <a:lnTo>
                  <a:pt x="145386" y="21589"/>
                </a:lnTo>
                <a:lnTo>
                  <a:pt x="155355" y="12700"/>
                </a:lnTo>
                <a:lnTo>
                  <a:pt x="158683" y="12700"/>
                </a:lnTo>
                <a:lnTo>
                  <a:pt x="170884" y="19050"/>
                </a:lnTo>
                <a:lnTo>
                  <a:pt x="181530" y="30479"/>
                </a:lnTo>
                <a:lnTo>
                  <a:pt x="189062" y="46989"/>
                </a:lnTo>
                <a:lnTo>
                  <a:pt x="191919" y="64770"/>
                </a:lnTo>
                <a:lnTo>
                  <a:pt x="191919" y="78739"/>
                </a:lnTo>
                <a:lnTo>
                  <a:pt x="195233" y="82550"/>
                </a:lnTo>
                <a:lnTo>
                  <a:pt x="221512" y="113029"/>
                </a:lnTo>
                <a:lnTo>
                  <a:pt x="225975" y="127000"/>
                </a:lnTo>
                <a:lnTo>
                  <a:pt x="176492" y="127000"/>
                </a:lnTo>
                <a:lnTo>
                  <a:pt x="169899" y="128270"/>
                </a:lnTo>
                <a:lnTo>
                  <a:pt x="165174" y="135889"/>
                </a:lnTo>
                <a:lnTo>
                  <a:pt x="164225" y="139700"/>
                </a:lnTo>
                <a:lnTo>
                  <a:pt x="118805" y="139700"/>
                </a:lnTo>
                <a:lnTo>
                  <a:pt x="116431" y="144779"/>
                </a:lnTo>
                <a:close/>
              </a:path>
              <a:path w="409575" h="623570">
                <a:moveTo>
                  <a:pt x="72285" y="250189"/>
                </a:moveTo>
                <a:lnTo>
                  <a:pt x="64808" y="247650"/>
                </a:lnTo>
                <a:lnTo>
                  <a:pt x="49853" y="243839"/>
                </a:lnTo>
                <a:lnTo>
                  <a:pt x="42376" y="241300"/>
                </a:lnTo>
                <a:lnTo>
                  <a:pt x="31831" y="233679"/>
                </a:lnTo>
                <a:lnTo>
                  <a:pt x="25339" y="222250"/>
                </a:lnTo>
                <a:lnTo>
                  <a:pt x="23210" y="208279"/>
                </a:lnTo>
                <a:lnTo>
                  <a:pt x="25752" y="193039"/>
                </a:lnTo>
                <a:lnTo>
                  <a:pt x="27728" y="185420"/>
                </a:lnTo>
                <a:lnTo>
                  <a:pt x="30431" y="167639"/>
                </a:lnTo>
                <a:lnTo>
                  <a:pt x="49849" y="114300"/>
                </a:lnTo>
                <a:lnTo>
                  <a:pt x="82254" y="87629"/>
                </a:lnTo>
                <a:lnTo>
                  <a:pt x="85832" y="85089"/>
                </a:lnTo>
                <a:lnTo>
                  <a:pt x="90971" y="86360"/>
                </a:lnTo>
                <a:lnTo>
                  <a:pt x="96736" y="90170"/>
                </a:lnTo>
                <a:lnTo>
                  <a:pt x="102193" y="96520"/>
                </a:lnTo>
                <a:lnTo>
                  <a:pt x="104943" y="100329"/>
                </a:lnTo>
                <a:lnTo>
                  <a:pt x="104268" y="105410"/>
                </a:lnTo>
                <a:lnTo>
                  <a:pt x="101724" y="111760"/>
                </a:lnTo>
                <a:lnTo>
                  <a:pt x="98866" y="118110"/>
                </a:lnTo>
                <a:lnTo>
                  <a:pt x="94974" y="123189"/>
                </a:lnTo>
                <a:lnTo>
                  <a:pt x="92638" y="129539"/>
                </a:lnTo>
                <a:lnTo>
                  <a:pt x="90924" y="137160"/>
                </a:lnTo>
                <a:lnTo>
                  <a:pt x="88896" y="144779"/>
                </a:lnTo>
                <a:lnTo>
                  <a:pt x="116431" y="144779"/>
                </a:lnTo>
                <a:lnTo>
                  <a:pt x="106344" y="166370"/>
                </a:lnTo>
                <a:lnTo>
                  <a:pt x="81418" y="217170"/>
                </a:lnTo>
                <a:lnTo>
                  <a:pt x="68957" y="241300"/>
                </a:lnTo>
                <a:lnTo>
                  <a:pt x="68957" y="245110"/>
                </a:lnTo>
                <a:lnTo>
                  <a:pt x="72285" y="250189"/>
                </a:lnTo>
                <a:close/>
              </a:path>
              <a:path w="409575" h="623570">
                <a:moveTo>
                  <a:pt x="358084" y="127000"/>
                </a:moveTo>
                <a:lnTo>
                  <a:pt x="317055" y="127000"/>
                </a:lnTo>
                <a:lnTo>
                  <a:pt x="333149" y="123189"/>
                </a:lnTo>
                <a:lnTo>
                  <a:pt x="349243" y="121920"/>
                </a:lnTo>
                <a:lnTo>
                  <a:pt x="358084" y="127000"/>
                </a:lnTo>
                <a:close/>
              </a:path>
              <a:path w="409575" h="623570">
                <a:moveTo>
                  <a:pt x="217671" y="144779"/>
                </a:moveTo>
                <a:lnTo>
                  <a:pt x="208530" y="144779"/>
                </a:lnTo>
                <a:lnTo>
                  <a:pt x="203495" y="140970"/>
                </a:lnTo>
                <a:lnTo>
                  <a:pt x="198145" y="138429"/>
                </a:lnTo>
                <a:lnTo>
                  <a:pt x="192171" y="134620"/>
                </a:lnTo>
                <a:lnTo>
                  <a:pt x="185264" y="130810"/>
                </a:lnTo>
                <a:lnTo>
                  <a:pt x="176492" y="127000"/>
                </a:lnTo>
                <a:lnTo>
                  <a:pt x="225975" y="127000"/>
                </a:lnTo>
                <a:lnTo>
                  <a:pt x="227224" y="134620"/>
                </a:lnTo>
                <a:lnTo>
                  <a:pt x="224318" y="142239"/>
                </a:lnTo>
                <a:lnTo>
                  <a:pt x="217671" y="144779"/>
                </a:lnTo>
                <a:close/>
              </a:path>
              <a:path w="409575" h="623570">
                <a:moveTo>
                  <a:pt x="47356" y="377189"/>
                </a:moveTo>
                <a:lnTo>
                  <a:pt x="29910" y="368300"/>
                </a:lnTo>
                <a:lnTo>
                  <a:pt x="12468" y="355600"/>
                </a:lnTo>
                <a:lnTo>
                  <a:pt x="3117" y="347979"/>
                </a:lnTo>
                <a:lnTo>
                  <a:pt x="0" y="339089"/>
                </a:lnTo>
                <a:lnTo>
                  <a:pt x="3117" y="330200"/>
                </a:lnTo>
                <a:lnTo>
                  <a:pt x="12468" y="320039"/>
                </a:lnTo>
                <a:lnTo>
                  <a:pt x="37335" y="303529"/>
                </a:lnTo>
                <a:lnTo>
                  <a:pt x="61895" y="284479"/>
                </a:lnTo>
                <a:lnTo>
                  <a:pt x="85832" y="265429"/>
                </a:lnTo>
                <a:lnTo>
                  <a:pt x="108835" y="245110"/>
                </a:lnTo>
                <a:lnTo>
                  <a:pt x="112163" y="241300"/>
                </a:lnTo>
                <a:lnTo>
                  <a:pt x="118805" y="237489"/>
                </a:lnTo>
                <a:lnTo>
                  <a:pt x="118805" y="228600"/>
                </a:lnTo>
                <a:lnTo>
                  <a:pt x="120728" y="207010"/>
                </a:lnTo>
                <a:lnTo>
                  <a:pt x="121716" y="186689"/>
                </a:lnTo>
                <a:lnTo>
                  <a:pt x="122016" y="168910"/>
                </a:lnTo>
                <a:lnTo>
                  <a:pt x="122132" y="139700"/>
                </a:lnTo>
                <a:lnTo>
                  <a:pt x="164225" y="139700"/>
                </a:lnTo>
                <a:lnTo>
                  <a:pt x="162010" y="148589"/>
                </a:lnTo>
                <a:lnTo>
                  <a:pt x="157437" y="185420"/>
                </a:lnTo>
                <a:lnTo>
                  <a:pt x="155433" y="219710"/>
                </a:lnTo>
                <a:lnTo>
                  <a:pt x="155462" y="222250"/>
                </a:lnTo>
                <a:lnTo>
                  <a:pt x="158267" y="256539"/>
                </a:lnTo>
                <a:lnTo>
                  <a:pt x="168652" y="289560"/>
                </a:lnTo>
                <a:lnTo>
                  <a:pt x="206282" y="289560"/>
                </a:lnTo>
                <a:lnTo>
                  <a:pt x="206817" y="290829"/>
                </a:lnTo>
                <a:lnTo>
                  <a:pt x="211858" y="302260"/>
                </a:lnTo>
                <a:lnTo>
                  <a:pt x="388813" y="302260"/>
                </a:lnTo>
                <a:lnTo>
                  <a:pt x="381334" y="306070"/>
                </a:lnTo>
                <a:lnTo>
                  <a:pt x="371366" y="309879"/>
                </a:lnTo>
                <a:lnTo>
                  <a:pt x="361400" y="311150"/>
                </a:lnTo>
                <a:lnTo>
                  <a:pt x="288286" y="311150"/>
                </a:lnTo>
                <a:lnTo>
                  <a:pt x="278316" y="321310"/>
                </a:lnTo>
                <a:lnTo>
                  <a:pt x="268347" y="328929"/>
                </a:lnTo>
                <a:lnTo>
                  <a:pt x="258379" y="335279"/>
                </a:lnTo>
                <a:lnTo>
                  <a:pt x="248408" y="342900"/>
                </a:lnTo>
                <a:lnTo>
                  <a:pt x="235430" y="351789"/>
                </a:lnTo>
                <a:lnTo>
                  <a:pt x="230328" y="355600"/>
                </a:lnTo>
                <a:lnTo>
                  <a:pt x="82254" y="355600"/>
                </a:lnTo>
                <a:lnTo>
                  <a:pt x="64805" y="374650"/>
                </a:lnTo>
                <a:lnTo>
                  <a:pt x="47356" y="377189"/>
                </a:lnTo>
                <a:close/>
              </a:path>
              <a:path w="409575" h="623570">
                <a:moveTo>
                  <a:pt x="346963" y="153670"/>
                </a:moveTo>
                <a:lnTo>
                  <a:pt x="338134" y="153670"/>
                </a:lnTo>
                <a:lnTo>
                  <a:pt x="338134" y="148589"/>
                </a:lnTo>
                <a:lnTo>
                  <a:pt x="353920" y="148589"/>
                </a:lnTo>
                <a:lnTo>
                  <a:pt x="346963" y="153670"/>
                </a:lnTo>
                <a:close/>
              </a:path>
              <a:path w="409575" h="623570">
                <a:moveTo>
                  <a:pt x="294550" y="205739"/>
                </a:moveTo>
                <a:lnTo>
                  <a:pt x="265020" y="205739"/>
                </a:lnTo>
                <a:lnTo>
                  <a:pt x="265592" y="195579"/>
                </a:lnTo>
                <a:lnTo>
                  <a:pt x="267100" y="182879"/>
                </a:lnTo>
                <a:lnTo>
                  <a:pt x="269231" y="168910"/>
                </a:lnTo>
                <a:lnTo>
                  <a:pt x="271675" y="153670"/>
                </a:lnTo>
                <a:lnTo>
                  <a:pt x="312255" y="153670"/>
                </a:lnTo>
                <a:lnTo>
                  <a:pt x="299918" y="165100"/>
                </a:lnTo>
                <a:lnTo>
                  <a:pt x="293685" y="185420"/>
                </a:lnTo>
                <a:lnTo>
                  <a:pt x="294550" y="205739"/>
                </a:lnTo>
                <a:close/>
              </a:path>
              <a:path w="409575" h="623570">
                <a:moveTo>
                  <a:pt x="388813" y="302260"/>
                </a:moveTo>
                <a:lnTo>
                  <a:pt x="211858" y="302260"/>
                </a:lnTo>
                <a:lnTo>
                  <a:pt x="248408" y="254000"/>
                </a:lnTo>
                <a:lnTo>
                  <a:pt x="245081" y="245110"/>
                </a:lnTo>
                <a:lnTo>
                  <a:pt x="245081" y="241300"/>
                </a:lnTo>
                <a:lnTo>
                  <a:pt x="241607" y="234950"/>
                </a:lnTo>
                <a:lnTo>
                  <a:pt x="233406" y="223520"/>
                </a:lnTo>
                <a:lnTo>
                  <a:pt x="231797" y="219710"/>
                </a:lnTo>
                <a:lnTo>
                  <a:pt x="235427" y="210820"/>
                </a:lnTo>
                <a:lnTo>
                  <a:pt x="240928" y="205739"/>
                </a:lnTo>
                <a:lnTo>
                  <a:pt x="247677" y="204470"/>
                </a:lnTo>
                <a:lnTo>
                  <a:pt x="255050" y="205739"/>
                </a:lnTo>
                <a:lnTo>
                  <a:pt x="294550" y="205739"/>
                </a:lnTo>
                <a:lnTo>
                  <a:pt x="294928" y="214629"/>
                </a:lnTo>
                <a:lnTo>
                  <a:pt x="297994" y="224789"/>
                </a:lnTo>
                <a:lnTo>
                  <a:pt x="301993" y="234950"/>
                </a:lnTo>
                <a:lnTo>
                  <a:pt x="306616" y="246379"/>
                </a:lnTo>
                <a:lnTo>
                  <a:pt x="311553" y="259079"/>
                </a:lnTo>
                <a:lnTo>
                  <a:pt x="394061" y="259079"/>
                </a:lnTo>
                <a:lnTo>
                  <a:pt x="404606" y="267970"/>
                </a:lnTo>
                <a:lnTo>
                  <a:pt x="408290" y="274320"/>
                </a:lnTo>
                <a:lnTo>
                  <a:pt x="409171" y="281939"/>
                </a:lnTo>
                <a:lnTo>
                  <a:pt x="406938" y="289560"/>
                </a:lnTo>
                <a:lnTo>
                  <a:pt x="401278" y="294639"/>
                </a:lnTo>
                <a:lnTo>
                  <a:pt x="391306" y="300989"/>
                </a:lnTo>
                <a:lnTo>
                  <a:pt x="388813" y="302260"/>
                </a:lnTo>
                <a:close/>
              </a:path>
              <a:path w="409575" h="623570">
                <a:moveTo>
                  <a:pt x="394061" y="259079"/>
                </a:moveTo>
                <a:lnTo>
                  <a:pt x="311553" y="259079"/>
                </a:lnTo>
                <a:lnTo>
                  <a:pt x="333565" y="256539"/>
                </a:lnTo>
                <a:lnTo>
                  <a:pt x="345664" y="252729"/>
                </a:lnTo>
                <a:lnTo>
                  <a:pt x="358073" y="250189"/>
                </a:lnTo>
                <a:lnTo>
                  <a:pt x="370482" y="248920"/>
                </a:lnTo>
                <a:lnTo>
                  <a:pt x="382582" y="252729"/>
                </a:lnTo>
                <a:lnTo>
                  <a:pt x="394061" y="259079"/>
                </a:lnTo>
                <a:close/>
              </a:path>
              <a:path w="409575" h="623570">
                <a:moveTo>
                  <a:pt x="206282" y="289560"/>
                </a:moveTo>
                <a:lnTo>
                  <a:pt x="168652" y="289560"/>
                </a:lnTo>
                <a:lnTo>
                  <a:pt x="173636" y="283210"/>
                </a:lnTo>
                <a:lnTo>
                  <a:pt x="178622" y="275589"/>
                </a:lnTo>
                <a:lnTo>
                  <a:pt x="183608" y="266700"/>
                </a:lnTo>
                <a:lnTo>
                  <a:pt x="188591" y="254000"/>
                </a:lnTo>
                <a:lnTo>
                  <a:pt x="195497" y="266700"/>
                </a:lnTo>
                <a:lnTo>
                  <a:pt x="201468" y="278129"/>
                </a:lnTo>
                <a:lnTo>
                  <a:pt x="206282" y="289560"/>
                </a:lnTo>
                <a:close/>
              </a:path>
              <a:path w="409575" h="623570">
                <a:moveTo>
                  <a:pt x="265020" y="527050"/>
                </a:moveTo>
                <a:lnTo>
                  <a:pt x="250589" y="519429"/>
                </a:lnTo>
                <a:lnTo>
                  <a:pt x="241761" y="506729"/>
                </a:lnTo>
                <a:lnTo>
                  <a:pt x="237918" y="492760"/>
                </a:lnTo>
                <a:lnTo>
                  <a:pt x="238439" y="474979"/>
                </a:lnTo>
                <a:lnTo>
                  <a:pt x="247162" y="431800"/>
                </a:lnTo>
                <a:lnTo>
                  <a:pt x="258376" y="391160"/>
                </a:lnTo>
                <a:lnTo>
                  <a:pt x="272084" y="351789"/>
                </a:lnTo>
                <a:lnTo>
                  <a:pt x="288286" y="311150"/>
                </a:lnTo>
                <a:lnTo>
                  <a:pt x="361400" y="311150"/>
                </a:lnTo>
                <a:lnTo>
                  <a:pt x="345664" y="312420"/>
                </a:lnTo>
                <a:lnTo>
                  <a:pt x="332733" y="321310"/>
                </a:lnTo>
                <a:lnTo>
                  <a:pt x="321674" y="332739"/>
                </a:lnTo>
                <a:lnTo>
                  <a:pt x="311553" y="346710"/>
                </a:lnTo>
                <a:lnTo>
                  <a:pt x="319496" y="349250"/>
                </a:lnTo>
                <a:lnTo>
                  <a:pt x="327750" y="351789"/>
                </a:lnTo>
                <a:lnTo>
                  <a:pt x="335382" y="354329"/>
                </a:lnTo>
                <a:lnTo>
                  <a:pt x="341461" y="359410"/>
                </a:lnTo>
                <a:lnTo>
                  <a:pt x="346391" y="364489"/>
                </a:lnTo>
                <a:lnTo>
                  <a:pt x="351010" y="372110"/>
                </a:lnTo>
                <a:lnTo>
                  <a:pt x="354341" y="378460"/>
                </a:lnTo>
                <a:lnTo>
                  <a:pt x="318192" y="378460"/>
                </a:lnTo>
                <a:lnTo>
                  <a:pt x="308117" y="381000"/>
                </a:lnTo>
                <a:lnTo>
                  <a:pt x="294928" y="394970"/>
                </a:lnTo>
                <a:lnTo>
                  <a:pt x="301371" y="403860"/>
                </a:lnTo>
                <a:lnTo>
                  <a:pt x="309057" y="410210"/>
                </a:lnTo>
                <a:lnTo>
                  <a:pt x="315495" y="419100"/>
                </a:lnTo>
                <a:lnTo>
                  <a:pt x="315945" y="421639"/>
                </a:lnTo>
                <a:lnTo>
                  <a:pt x="288286" y="421639"/>
                </a:lnTo>
                <a:lnTo>
                  <a:pt x="280911" y="433070"/>
                </a:lnTo>
                <a:lnTo>
                  <a:pt x="279144" y="440689"/>
                </a:lnTo>
                <a:lnTo>
                  <a:pt x="283609" y="445770"/>
                </a:lnTo>
                <a:lnTo>
                  <a:pt x="294928" y="452120"/>
                </a:lnTo>
                <a:lnTo>
                  <a:pt x="305993" y="463550"/>
                </a:lnTo>
                <a:lnTo>
                  <a:pt x="313628" y="474979"/>
                </a:lnTo>
                <a:lnTo>
                  <a:pt x="271675" y="474979"/>
                </a:lnTo>
                <a:lnTo>
                  <a:pt x="269699" y="487679"/>
                </a:lnTo>
                <a:lnTo>
                  <a:pt x="266996" y="514350"/>
                </a:lnTo>
                <a:lnTo>
                  <a:pt x="265020" y="527050"/>
                </a:lnTo>
                <a:close/>
              </a:path>
              <a:path w="409575" h="623570">
                <a:moveTo>
                  <a:pt x="76069" y="530860"/>
                </a:moveTo>
                <a:lnTo>
                  <a:pt x="65630" y="527050"/>
                </a:lnTo>
                <a:lnTo>
                  <a:pt x="55610" y="518160"/>
                </a:lnTo>
                <a:lnTo>
                  <a:pt x="50263" y="505460"/>
                </a:lnTo>
                <a:lnTo>
                  <a:pt x="49278" y="490220"/>
                </a:lnTo>
                <a:lnTo>
                  <a:pt x="52346" y="474979"/>
                </a:lnTo>
                <a:lnTo>
                  <a:pt x="74777" y="387350"/>
                </a:lnTo>
                <a:lnTo>
                  <a:pt x="82254" y="355600"/>
                </a:lnTo>
                <a:lnTo>
                  <a:pt x="230328" y="355600"/>
                </a:lnTo>
                <a:lnTo>
                  <a:pt x="208219" y="372110"/>
                </a:lnTo>
                <a:lnTo>
                  <a:pt x="195233" y="382270"/>
                </a:lnTo>
                <a:lnTo>
                  <a:pt x="191919" y="382270"/>
                </a:lnTo>
                <a:lnTo>
                  <a:pt x="185264" y="386079"/>
                </a:lnTo>
                <a:lnTo>
                  <a:pt x="175294" y="386079"/>
                </a:lnTo>
                <a:lnTo>
                  <a:pt x="159825" y="430529"/>
                </a:lnTo>
                <a:lnTo>
                  <a:pt x="158683" y="443229"/>
                </a:lnTo>
                <a:lnTo>
                  <a:pt x="159112" y="466089"/>
                </a:lnTo>
                <a:lnTo>
                  <a:pt x="118805" y="466089"/>
                </a:lnTo>
                <a:lnTo>
                  <a:pt x="115791" y="474979"/>
                </a:lnTo>
                <a:lnTo>
                  <a:pt x="108521" y="491489"/>
                </a:lnTo>
                <a:lnTo>
                  <a:pt x="105508" y="500379"/>
                </a:lnTo>
                <a:lnTo>
                  <a:pt x="96941" y="516889"/>
                </a:lnTo>
                <a:lnTo>
                  <a:pt x="86817" y="527050"/>
                </a:lnTo>
                <a:lnTo>
                  <a:pt x="76069" y="530860"/>
                </a:lnTo>
                <a:close/>
              </a:path>
              <a:path w="409575" h="623570">
                <a:moveTo>
                  <a:pt x="367159" y="571500"/>
                </a:moveTo>
                <a:lnTo>
                  <a:pt x="328164" y="571500"/>
                </a:lnTo>
                <a:lnTo>
                  <a:pt x="328164" y="566420"/>
                </a:lnTo>
                <a:lnTo>
                  <a:pt x="331492" y="566420"/>
                </a:lnTo>
                <a:lnTo>
                  <a:pt x="331492" y="403860"/>
                </a:lnTo>
                <a:lnTo>
                  <a:pt x="325775" y="386079"/>
                </a:lnTo>
                <a:lnTo>
                  <a:pt x="318192" y="378460"/>
                </a:lnTo>
                <a:lnTo>
                  <a:pt x="354341" y="378460"/>
                </a:lnTo>
                <a:lnTo>
                  <a:pt x="355008" y="379729"/>
                </a:lnTo>
                <a:lnTo>
                  <a:pt x="358073" y="386079"/>
                </a:lnTo>
                <a:lnTo>
                  <a:pt x="360940" y="445770"/>
                </a:lnTo>
                <a:lnTo>
                  <a:pt x="367159" y="571500"/>
                </a:lnTo>
                <a:close/>
              </a:path>
              <a:path w="409575" h="623570">
                <a:moveTo>
                  <a:pt x="318195" y="434339"/>
                </a:moveTo>
                <a:lnTo>
                  <a:pt x="288286" y="421639"/>
                </a:lnTo>
                <a:lnTo>
                  <a:pt x="315945" y="421639"/>
                </a:lnTo>
                <a:lnTo>
                  <a:pt x="318195" y="434339"/>
                </a:lnTo>
                <a:close/>
              </a:path>
              <a:path w="409575" h="623570">
                <a:moveTo>
                  <a:pt x="165325" y="601979"/>
                </a:moveTo>
                <a:lnTo>
                  <a:pt x="131474" y="581660"/>
                </a:lnTo>
                <a:lnTo>
                  <a:pt x="121922" y="563879"/>
                </a:lnTo>
                <a:lnTo>
                  <a:pt x="122132" y="548639"/>
                </a:lnTo>
                <a:lnTo>
                  <a:pt x="125452" y="529589"/>
                </a:lnTo>
                <a:lnTo>
                  <a:pt x="126280" y="509270"/>
                </a:lnTo>
                <a:lnTo>
                  <a:pt x="125447" y="469900"/>
                </a:lnTo>
                <a:lnTo>
                  <a:pt x="122132" y="469900"/>
                </a:lnTo>
                <a:lnTo>
                  <a:pt x="118805" y="466089"/>
                </a:lnTo>
                <a:lnTo>
                  <a:pt x="159112" y="466089"/>
                </a:lnTo>
                <a:lnTo>
                  <a:pt x="159255" y="473710"/>
                </a:lnTo>
                <a:lnTo>
                  <a:pt x="160761" y="502920"/>
                </a:lnTo>
                <a:lnTo>
                  <a:pt x="162889" y="532129"/>
                </a:lnTo>
                <a:lnTo>
                  <a:pt x="165325" y="562610"/>
                </a:lnTo>
                <a:lnTo>
                  <a:pt x="165325" y="601979"/>
                </a:lnTo>
                <a:close/>
              </a:path>
              <a:path w="409575" h="623570">
                <a:moveTo>
                  <a:pt x="305474" y="497839"/>
                </a:moveTo>
                <a:lnTo>
                  <a:pt x="297013" y="495300"/>
                </a:lnTo>
                <a:lnTo>
                  <a:pt x="289173" y="490220"/>
                </a:lnTo>
                <a:lnTo>
                  <a:pt x="281644" y="482600"/>
                </a:lnTo>
                <a:lnTo>
                  <a:pt x="278317" y="482600"/>
                </a:lnTo>
                <a:lnTo>
                  <a:pt x="271675" y="474979"/>
                </a:lnTo>
                <a:lnTo>
                  <a:pt x="313628" y="474979"/>
                </a:lnTo>
                <a:lnTo>
                  <a:pt x="316897" y="486410"/>
                </a:lnTo>
                <a:lnTo>
                  <a:pt x="314867" y="491489"/>
                </a:lnTo>
                <a:lnTo>
                  <a:pt x="305474" y="497839"/>
                </a:lnTo>
                <a:close/>
              </a:path>
              <a:path w="409575" h="623570">
                <a:moveTo>
                  <a:pt x="361400" y="623570"/>
                </a:moveTo>
                <a:lnTo>
                  <a:pt x="353975" y="621029"/>
                </a:lnTo>
                <a:lnTo>
                  <a:pt x="346860" y="619760"/>
                </a:lnTo>
                <a:lnTo>
                  <a:pt x="340367" y="617220"/>
                </a:lnTo>
                <a:lnTo>
                  <a:pt x="312377" y="586739"/>
                </a:lnTo>
                <a:lnTo>
                  <a:pt x="294928" y="557529"/>
                </a:lnTo>
                <a:lnTo>
                  <a:pt x="291614" y="553720"/>
                </a:lnTo>
                <a:lnTo>
                  <a:pt x="291614" y="539750"/>
                </a:lnTo>
                <a:lnTo>
                  <a:pt x="299661" y="547370"/>
                </a:lnTo>
                <a:lnTo>
                  <a:pt x="308641" y="553720"/>
                </a:lnTo>
                <a:lnTo>
                  <a:pt x="318246" y="562610"/>
                </a:lnTo>
                <a:lnTo>
                  <a:pt x="328164" y="571500"/>
                </a:lnTo>
                <a:lnTo>
                  <a:pt x="367159" y="571500"/>
                </a:lnTo>
                <a:lnTo>
                  <a:pt x="368042" y="589279"/>
                </a:lnTo>
                <a:lnTo>
                  <a:pt x="367004" y="598170"/>
                </a:lnTo>
                <a:lnTo>
                  <a:pt x="364721" y="608329"/>
                </a:lnTo>
                <a:lnTo>
                  <a:pt x="362438" y="615950"/>
                </a:lnTo>
                <a:lnTo>
                  <a:pt x="361400" y="623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3402" y="4802526"/>
            <a:ext cx="229870" cy="461009"/>
          </a:xfrm>
          <a:custGeom>
            <a:avLst/>
            <a:gdLst/>
            <a:ahLst/>
            <a:cxnLst/>
            <a:rect l="l" t="t" r="r" b="b"/>
            <a:pathLst>
              <a:path w="229870" h="461010">
                <a:moveTo>
                  <a:pt x="72342" y="460712"/>
                </a:moveTo>
                <a:lnTo>
                  <a:pt x="31705" y="429614"/>
                </a:lnTo>
                <a:lnTo>
                  <a:pt x="7729" y="370729"/>
                </a:lnTo>
                <a:lnTo>
                  <a:pt x="1346" y="337989"/>
                </a:lnTo>
                <a:lnTo>
                  <a:pt x="0" y="331380"/>
                </a:lnTo>
                <a:lnTo>
                  <a:pt x="519" y="324776"/>
                </a:lnTo>
                <a:lnTo>
                  <a:pt x="2284" y="318174"/>
                </a:lnTo>
                <a:lnTo>
                  <a:pt x="5135" y="310330"/>
                </a:lnTo>
                <a:lnTo>
                  <a:pt x="22112" y="264652"/>
                </a:lnTo>
                <a:lnTo>
                  <a:pt x="56983" y="169162"/>
                </a:lnTo>
                <a:lnTo>
                  <a:pt x="74422" y="122241"/>
                </a:lnTo>
                <a:lnTo>
                  <a:pt x="74422" y="109033"/>
                </a:lnTo>
                <a:lnTo>
                  <a:pt x="71094" y="100232"/>
                </a:lnTo>
                <a:lnTo>
                  <a:pt x="63107" y="90257"/>
                </a:lnTo>
                <a:lnTo>
                  <a:pt x="54494" y="79869"/>
                </a:lnTo>
                <a:lnTo>
                  <a:pt x="45879" y="68655"/>
                </a:lnTo>
                <a:lnTo>
                  <a:pt x="37884" y="56201"/>
                </a:lnTo>
                <a:lnTo>
                  <a:pt x="34771" y="47121"/>
                </a:lnTo>
                <a:lnTo>
                  <a:pt x="35396" y="39693"/>
                </a:lnTo>
                <a:lnTo>
                  <a:pt x="39757" y="33914"/>
                </a:lnTo>
                <a:lnTo>
                  <a:pt x="47853" y="29785"/>
                </a:lnTo>
                <a:lnTo>
                  <a:pt x="62278" y="25730"/>
                </a:lnTo>
                <a:lnTo>
                  <a:pt x="76079" y="20433"/>
                </a:lnTo>
                <a:lnTo>
                  <a:pt x="104305" y="7776"/>
                </a:lnTo>
                <a:lnTo>
                  <a:pt x="134253" y="0"/>
                </a:lnTo>
                <a:lnTo>
                  <a:pt x="162017" y="8325"/>
                </a:lnTo>
                <a:lnTo>
                  <a:pt x="184175" y="30686"/>
                </a:lnTo>
                <a:lnTo>
                  <a:pt x="197307" y="65015"/>
                </a:lnTo>
                <a:lnTo>
                  <a:pt x="198653" y="74852"/>
                </a:lnTo>
                <a:lnTo>
                  <a:pt x="198134" y="84276"/>
                </a:lnTo>
                <a:lnTo>
                  <a:pt x="196369" y="92874"/>
                </a:lnTo>
                <a:lnTo>
                  <a:pt x="193979" y="100232"/>
                </a:lnTo>
                <a:lnTo>
                  <a:pt x="188480" y="110826"/>
                </a:lnTo>
                <a:lnTo>
                  <a:pt x="176238" y="133668"/>
                </a:lnTo>
                <a:lnTo>
                  <a:pt x="170738" y="144263"/>
                </a:lnTo>
                <a:lnTo>
                  <a:pt x="110947" y="302759"/>
                </a:lnTo>
                <a:lnTo>
                  <a:pt x="110947" y="311573"/>
                </a:lnTo>
                <a:lnTo>
                  <a:pt x="107632" y="320374"/>
                </a:lnTo>
                <a:lnTo>
                  <a:pt x="215604" y="320374"/>
                </a:lnTo>
                <a:lnTo>
                  <a:pt x="223045" y="334682"/>
                </a:lnTo>
                <a:lnTo>
                  <a:pt x="229482" y="363989"/>
                </a:lnTo>
                <a:lnTo>
                  <a:pt x="227203" y="390821"/>
                </a:lnTo>
                <a:lnTo>
                  <a:pt x="220561" y="399622"/>
                </a:lnTo>
                <a:lnTo>
                  <a:pt x="217233" y="399622"/>
                </a:lnTo>
                <a:lnTo>
                  <a:pt x="202340" y="401619"/>
                </a:lnTo>
                <a:lnTo>
                  <a:pt x="160769" y="408435"/>
                </a:lnTo>
                <a:lnTo>
                  <a:pt x="125900" y="428797"/>
                </a:lnTo>
                <a:lnTo>
                  <a:pt x="91021" y="452454"/>
                </a:lnTo>
                <a:lnTo>
                  <a:pt x="81525" y="458029"/>
                </a:lnTo>
                <a:lnTo>
                  <a:pt x="72342" y="460712"/>
                </a:lnTo>
                <a:close/>
              </a:path>
              <a:path w="229870" h="461010">
                <a:moveTo>
                  <a:pt x="215604" y="320374"/>
                </a:moveTo>
                <a:lnTo>
                  <a:pt x="107632" y="320374"/>
                </a:lnTo>
                <a:lnTo>
                  <a:pt x="117077" y="314597"/>
                </a:lnTo>
                <a:lnTo>
                  <a:pt x="125901" y="310469"/>
                </a:lnTo>
                <a:lnTo>
                  <a:pt x="134725" y="307992"/>
                </a:lnTo>
                <a:lnTo>
                  <a:pt x="144170" y="307166"/>
                </a:lnTo>
                <a:lnTo>
                  <a:pt x="156621" y="303931"/>
                </a:lnTo>
                <a:lnTo>
                  <a:pt x="169075" y="301113"/>
                </a:lnTo>
                <a:lnTo>
                  <a:pt x="181528" y="299120"/>
                </a:lnTo>
                <a:lnTo>
                  <a:pt x="193979" y="298365"/>
                </a:lnTo>
                <a:lnTo>
                  <a:pt x="210381" y="310330"/>
                </a:lnTo>
                <a:lnTo>
                  <a:pt x="215604" y="32037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8863" y="2075091"/>
            <a:ext cx="418465" cy="462280"/>
          </a:xfrm>
          <a:custGeom>
            <a:avLst/>
            <a:gdLst/>
            <a:ahLst/>
            <a:cxnLst/>
            <a:rect l="l" t="t" r="r" b="b"/>
            <a:pathLst>
              <a:path w="418465" h="462280">
                <a:moveTo>
                  <a:pt x="225920" y="62610"/>
                </a:moveTo>
                <a:lnTo>
                  <a:pt x="192902" y="62610"/>
                </a:lnTo>
                <a:lnTo>
                  <a:pt x="197680" y="59928"/>
                </a:lnTo>
                <a:lnTo>
                  <a:pt x="202455" y="54774"/>
                </a:lnTo>
                <a:lnTo>
                  <a:pt x="240041" y="14297"/>
                </a:lnTo>
                <a:lnTo>
                  <a:pt x="279082" y="0"/>
                </a:lnTo>
                <a:lnTo>
                  <a:pt x="290917" y="1718"/>
                </a:lnTo>
                <a:lnTo>
                  <a:pt x="301505" y="7148"/>
                </a:lnTo>
                <a:lnTo>
                  <a:pt x="310848" y="16700"/>
                </a:lnTo>
                <a:lnTo>
                  <a:pt x="318947" y="30784"/>
                </a:lnTo>
                <a:lnTo>
                  <a:pt x="324059" y="43980"/>
                </a:lnTo>
                <a:lnTo>
                  <a:pt x="239204" y="43980"/>
                </a:lnTo>
                <a:lnTo>
                  <a:pt x="232562" y="52781"/>
                </a:lnTo>
                <a:lnTo>
                  <a:pt x="225920" y="57175"/>
                </a:lnTo>
                <a:lnTo>
                  <a:pt x="225920" y="62610"/>
                </a:lnTo>
                <a:close/>
              </a:path>
              <a:path w="418465" h="462280">
                <a:moveTo>
                  <a:pt x="132429" y="198753"/>
                </a:moveTo>
                <a:lnTo>
                  <a:pt x="102997" y="171538"/>
                </a:lnTo>
                <a:lnTo>
                  <a:pt x="90375" y="120203"/>
                </a:lnTo>
                <a:lnTo>
                  <a:pt x="96342" y="101168"/>
                </a:lnTo>
                <a:lnTo>
                  <a:pt x="100293" y="91271"/>
                </a:lnTo>
                <a:lnTo>
                  <a:pt x="105695" y="71478"/>
                </a:lnTo>
                <a:lnTo>
                  <a:pt x="109641" y="61575"/>
                </a:lnTo>
                <a:lnTo>
                  <a:pt x="112953" y="52781"/>
                </a:lnTo>
                <a:lnTo>
                  <a:pt x="116281" y="39585"/>
                </a:lnTo>
                <a:lnTo>
                  <a:pt x="119608" y="39585"/>
                </a:lnTo>
                <a:lnTo>
                  <a:pt x="142862" y="65976"/>
                </a:lnTo>
                <a:lnTo>
                  <a:pt x="146189" y="70370"/>
                </a:lnTo>
                <a:lnTo>
                  <a:pt x="224985" y="70370"/>
                </a:lnTo>
                <a:lnTo>
                  <a:pt x="224516" y="72575"/>
                </a:lnTo>
                <a:lnTo>
                  <a:pt x="224672" y="79171"/>
                </a:lnTo>
                <a:lnTo>
                  <a:pt x="225452" y="85768"/>
                </a:lnTo>
                <a:lnTo>
                  <a:pt x="225920" y="92367"/>
                </a:lnTo>
                <a:lnTo>
                  <a:pt x="226567" y="105562"/>
                </a:lnTo>
                <a:lnTo>
                  <a:pt x="156146" y="105562"/>
                </a:lnTo>
                <a:lnTo>
                  <a:pt x="156249" y="154974"/>
                </a:lnTo>
                <a:lnTo>
                  <a:pt x="156406" y="163291"/>
                </a:lnTo>
                <a:lnTo>
                  <a:pt x="155733" y="177036"/>
                </a:lnTo>
                <a:lnTo>
                  <a:pt x="151945" y="189131"/>
                </a:lnTo>
                <a:lnTo>
                  <a:pt x="142862" y="197929"/>
                </a:lnTo>
                <a:lnTo>
                  <a:pt x="132429" y="198753"/>
                </a:lnTo>
                <a:close/>
              </a:path>
              <a:path w="418465" h="462280">
                <a:moveTo>
                  <a:pt x="251367" y="243700"/>
                </a:moveTo>
                <a:lnTo>
                  <a:pt x="123138" y="243700"/>
                </a:lnTo>
                <a:lnTo>
                  <a:pt x="129578" y="241909"/>
                </a:lnTo>
                <a:lnTo>
                  <a:pt x="169129" y="219165"/>
                </a:lnTo>
                <a:lnTo>
                  <a:pt x="199340" y="185283"/>
                </a:lnTo>
                <a:lnTo>
                  <a:pt x="222077" y="142329"/>
                </a:lnTo>
                <a:lnTo>
                  <a:pt x="239204" y="92367"/>
                </a:lnTo>
                <a:lnTo>
                  <a:pt x="239204" y="87972"/>
                </a:lnTo>
                <a:lnTo>
                  <a:pt x="245859" y="70370"/>
                </a:lnTo>
                <a:lnTo>
                  <a:pt x="245859" y="48386"/>
                </a:lnTo>
                <a:lnTo>
                  <a:pt x="239204" y="43980"/>
                </a:lnTo>
                <a:lnTo>
                  <a:pt x="324059" y="43980"/>
                </a:lnTo>
                <a:lnTo>
                  <a:pt x="325177" y="57731"/>
                </a:lnTo>
                <a:lnTo>
                  <a:pt x="323151" y="72232"/>
                </a:lnTo>
                <a:lnTo>
                  <a:pt x="318947" y="87972"/>
                </a:lnTo>
                <a:lnTo>
                  <a:pt x="307059" y="111818"/>
                </a:lnTo>
                <a:lnTo>
                  <a:pt x="296103" y="136902"/>
                </a:lnTo>
                <a:lnTo>
                  <a:pt x="285772" y="162810"/>
                </a:lnTo>
                <a:lnTo>
                  <a:pt x="275755" y="189128"/>
                </a:lnTo>
                <a:lnTo>
                  <a:pt x="287072" y="189816"/>
                </a:lnTo>
                <a:lnTo>
                  <a:pt x="296521" y="191331"/>
                </a:lnTo>
                <a:lnTo>
                  <a:pt x="304724" y="192846"/>
                </a:lnTo>
                <a:lnTo>
                  <a:pt x="312305" y="193535"/>
                </a:lnTo>
                <a:lnTo>
                  <a:pt x="338983" y="201984"/>
                </a:lnTo>
                <a:lnTo>
                  <a:pt x="363794" y="214974"/>
                </a:lnTo>
                <a:lnTo>
                  <a:pt x="386114" y="233738"/>
                </a:lnTo>
                <a:lnTo>
                  <a:pt x="386468" y="234213"/>
                </a:lnTo>
                <a:lnTo>
                  <a:pt x="290709" y="234213"/>
                </a:lnTo>
                <a:lnTo>
                  <a:pt x="266415" y="236552"/>
                </a:lnTo>
                <a:lnTo>
                  <a:pt x="251367" y="243700"/>
                </a:lnTo>
                <a:close/>
              </a:path>
              <a:path w="418465" h="462280">
                <a:moveTo>
                  <a:pt x="224985" y="70370"/>
                </a:moveTo>
                <a:lnTo>
                  <a:pt x="146189" y="70370"/>
                </a:lnTo>
                <a:lnTo>
                  <a:pt x="156204" y="61575"/>
                </a:lnTo>
                <a:lnTo>
                  <a:pt x="166531" y="56080"/>
                </a:lnTo>
                <a:lnTo>
                  <a:pt x="177482" y="55533"/>
                </a:lnTo>
                <a:lnTo>
                  <a:pt x="189369" y="61582"/>
                </a:lnTo>
                <a:lnTo>
                  <a:pt x="192902" y="62610"/>
                </a:lnTo>
                <a:lnTo>
                  <a:pt x="225920" y="62610"/>
                </a:lnTo>
                <a:lnTo>
                  <a:pt x="225920" y="65976"/>
                </a:lnTo>
                <a:lnTo>
                  <a:pt x="224985" y="70370"/>
                </a:lnTo>
                <a:close/>
              </a:path>
              <a:path w="418465" h="462280">
                <a:moveTo>
                  <a:pt x="213775" y="128243"/>
                </a:moveTo>
                <a:lnTo>
                  <a:pt x="196024" y="127558"/>
                </a:lnTo>
                <a:lnTo>
                  <a:pt x="189369" y="127558"/>
                </a:lnTo>
                <a:lnTo>
                  <a:pt x="156146" y="105562"/>
                </a:lnTo>
                <a:lnTo>
                  <a:pt x="226567" y="105562"/>
                </a:lnTo>
                <a:lnTo>
                  <a:pt x="226856" y="111471"/>
                </a:lnTo>
                <a:lnTo>
                  <a:pt x="223431" y="123155"/>
                </a:lnTo>
                <a:lnTo>
                  <a:pt x="213775" y="128243"/>
                </a:lnTo>
                <a:close/>
              </a:path>
              <a:path w="418465" h="462280">
                <a:moveTo>
                  <a:pt x="46507" y="461835"/>
                </a:moveTo>
                <a:lnTo>
                  <a:pt x="43192" y="457428"/>
                </a:lnTo>
                <a:lnTo>
                  <a:pt x="33222" y="452688"/>
                </a:lnTo>
                <a:lnTo>
                  <a:pt x="23255" y="445885"/>
                </a:lnTo>
                <a:lnTo>
                  <a:pt x="13290" y="438256"/>
                </a:lnTo>
                <a:lnTo>
                  <a:pt x="3327" y="431037"/>
                </a:lnTo>
                <a:lnTo>
                  <a:pt x="0" y="426643"/>
                </a:lnTo>
                <a:lnTo>
                  <a:pt x="0" y="409054"/>
                </a:lnTo>
                <a:lnTo>
                  <a:pt x="49834" y="263905"/>
                </a:lnTo>
                <a:lnTo>
                  <a:pt x="49834" y="259511"/>
                </a:lnTo>
                <a:lnTo>
                  <a:pt x="53162" y="259511"/>
                </a:lnTo>
                <a:lnTo>
                  <a:pt x="53162" y="255104"/>
                </a:lnTo>
                <a:lnTo>
                  <a:pt x="57572" y="247273"/>
                </a:lnTo>
                <a:lnTo>
                  <a:pt x="61047" y="238613"/>
                </a:lnTo>
                <a:lnTo>
                  <a:pt x="63901" y="231601"/>
                </a:lnTo>
                <a:lnTo>
                  <a:pt x="66446" y="228714"/>
                </a:lnTo>
                <a:lnTo>
                  <a:pt x="76877" y="228851"/>
                </a:lnTo>
                <a:lnTo>
                  <a:pt x="87622" y="229814"/>
                </a:lnTo>
                <a:lnTo>
                  <a:pt x="97744" y="232427"/>
                </a:lnTo>
                <a:lnTo>
                  <a:pt x="106311" y="237515"/>
                </a:lnTo>
                <a:lnTo>
                  <a:pt x="112750" y="240675"/>
                </a:lnTo>
                <a:lnTo>
                  <a:pt x="117944" y="243012"/>
                </a:lnTo>
                <a:lnTo>
                  <a:pt x="123138" y="243700"/>
                </a:lnTo>
                <a:lnTo>
                  <a:pt x="251367" y="243700"/>
                </a:lnTo>
                <a:lnTo>
                  <a:pt x="245859" y="246316"/>
                </a:lnTo>
                <a:lnTo>
                  <a:pt x="243831" y="248994"/>
                </a:lnTo>
                <a:lnTo>
                  <a:pt x="211486" y="248994"/>
                </a:lnTo>
                <a:lnTo>
                  <a:pt x="197677" y="250163"/>
                </a:lnTo>
                <a:lnTo>
                  <a:pt x="119608" y="285889"/>
                </a:lnTo>
                <a:lnTo>
                  <a:pt x="93027" y="321081"/>
                </a:lnTo>
                <a:lnTo>
                  <a:pt x="83057" y="351526"/>
                </a:lnTo>
                <a:lnTo>
                  <a:pt x="73090" y="383208"/>
                </a:lnTo>
                <a:lnTo>
                  <a:pt x="63125" y="415716"/>
                </a:lnTo>
                <a:lnTo>
                  <a:pt x="53162" y="448640"/>
                </a:lnTo>
                <a:lnTo>
                  <a:pt x="53162" y="453034"/>
                </a:lnTo>
                <a:lnTo>
                  <a:pt x="46507" y="461835"/>
                </a:lnTo>
                <a:close/>
              </a:path>
              <a:path w="418465" h="462280">
                <a:moveTo>
                  <a:pt x="362134" y="334273"/>
                </a:moveTo>
                <a:lnTo>
                  <a:pt x="343550" y="330975"/>
                </a:lnTo>
                <a:lnTo>
                  <a:pt x="325589" y="321081"/>
                </a:lnTo>
                <a:lnTo>
                  <a:pt x="319930" y="314413"/>
                </a:lnTo>
                <a:lnTo>
                  <a:pt x="317696" y="307336"/>
                </a:lnTo>
                <a:lnTo>
                  <a:pt x="318578" y="299435"/>
                </a:lnTo>
                <a:lnTo>
                  <a:pt x="322262" y="290296"/>
                </a:lnTo>
                <a:lnTo>
                  <a:pt x="325275" y="282940"/>
                </a:lnTo>
                <a:lnTo>
                  <a:pt x="328910" y="274348"/>
                </a:lnTo>
                <a:lnTo>
                  <a:pt x="332545" y="264932"/>
                </a:lnTo>
                <a:lnTo>
                  <a:pt x="335559" y="255104"/>
                </a:lnTo>
                <a:lnTo>
                  <a:pt x="315003" y="240122"/>
                </a:lnTo>
                <a:lnTo>
                  <a:pt x="290709" y="234213"/>
                </a:lnTo>
                <a:lnTo>
                  <a:pt x="386468" y="234213"/>
                </a:lnTo>
                <a:lnTo>
                  <a:pt x="405320" y="259511"/>
                </a:lnTo>
                <a:lnTo>
                  <a:pt x="415966" y="277166"/>
                </a:lnTo>
                <a:lnTo>
                  <a:pt x="418201" y="291939"/>
                </a:lnTo>
                <a:lnTo>
                  <a:pt x="412335" y="305890"/>
                </a:lnTo>
                <a:lnTo>
                  <a:pt x="398678" y="321081"/>
                </a:lnTo>
                <a:lnTo>
                  <a:pt x="380718" y="330975"/>
                </a:lnTo>
                <a:lnTo>
                  <a:pt x="362134" y="334273"/>
                </a:lnTo>
                <a:close/>
              </a:path>
              <a:path w="418465" h="462280">
                <a:moveTo>
                  <a:pt x="232562" y="255104"/>
                </a:moveTo>
                <a:lnTo>
                  <a:pt x="225920" y="250710"/>
                </a:lnTo>
                <a:lnTo>
                  <a:pt x="211486" y="248994"/>
                </a:lnTo>
                <a:lnTo>
                  <a:pt x="243831" y="248994"/>
                </a:lnTo>
                <a:lnTo>
                  <a:pt x="242531" y="250710"/>
                </a:lnTo>
                <a:lnTo>
                  <a:pt x="232562" y="25510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2157" y="2356129"/>
            <a:ext cx="258445" cy="419734"/>
          </a:xfrm>
          <a:custGeom>
            <a:avLst/>
            <a:gdLst/>
            <a:ahLst/>
            <a:cxnLst/>
            <a:rect l="l" t="t" r="r" b="b"/>
            <a:pathLst>
              <a:path w="258445" h="419735">
                <a:moveTo>
                  <a:pt x="27331" y="112749"/>
                </a:moveTo>
                <a:lnTo>
                  <a:pt x="19357" y="108691"/>
                </a:lnTo>
                <a:lnTo>
                  <a:pt x="13246" y="96799"/>
                </a:lnTo>
                <a:lnTo>
                  <a:pt x="10715" y="90887"/>
                </a:lnTo>
                <a:lnTo>
                  <a:pt x="7870" y="85801"/>
                </a:lnTo>
                <a:lnTo>
                  <a:pt x="4402" y="80715"/>
                </a:lnTo>
                <a:lnTo>
                  <a:pt x="0" y="74803"/>
                </a:lnTo>
                <a:lnTo>
                  <a:pt x="29761" y="57685"/>
                </a:lnTo>
                <a:lnTo>
                  <a:pt x="88046" y="23446"/>
                </a:lnTo>
                <a:lnTo>
                  <a:pt x="131375" y="3712"/>
                </a:lnTo>
                <a:lnTo>
                  <a:pt x="178892" y="0"/>
                </a:lnTo>
                <a:lnTo>
                  <a:pt x="184323" y="2887"/>
                </a:lnTo>
                <a:lnTo>
                  <a:pt x="190068" y="9901"/>
                </a:lnTo>
                <a:lnTo>
                  <a:pt x="195194" y="18564"/>
                </a:lnTo>
                <a:lnTo>
                  <a:pt x="198767" y="26403"/>
                </a:lnTo>
                <a:lnTo>
                  <a:pt x="200062" y="33690"/>
                </a:lnTo>
                <a:lnTo>
                  <a:pt x="199182" y="41802"/>
                </a:lnTo>
                <a:lnTo>
                  <a:pt x="198436" y="44005"/>
                </a:lnTo>
                <a:lnTo>
                  <a:pt x="145757" y="44005"/>
                </a:lnTo>
                <a:lnTo>
                  <a:pt x="128934" y="53146"/>
                </a:lnTo>
                <a:lnTo>
                  <a:pt x="113044" y="61052"/>
                </a:lnTo>
                <a:lnTo>
                  <a:pt x="97775" y="68133"/>
                </a:lnTo>
                <a:lnTo>
                  <a:pt x="82816" y="74803"/>
                </a:lnTo>
                <a:lnTo>
                  <a:pt x="72931" y="82090"/>
                </a:lnTo>
                <a:lnTo>
                  <a:pt x="63355" y="90201"/>
                </a:lnTo>
                <a:lnTo>
                  <a:pt x="46380" y="105600"/>
                </a:lnTo>
                <a:lnTo>
                  <a:pt x="36547" y="111031"/>
                </a:lnTo>
                <a:lnTo>
                  <a:pt x="27331" y="112749"/>
                </a:lnTo>
                <a:close/>
              </a:path>
              <a:path w="258445" h="419735">
                <a:moveTo>
                  <a:pt x="256302" y="165001"/>
                </a:moveTo>
                <a:lnTo>
                  <a:pt x="35403" y="165001"/>
                </a:lnTo>
                <a:lnTo>
                  <a:pt x="53003" y="160601"/>
                </a:lnTo>
                <a:lnTo>
                  <a:pt x="70603" y="152900"/>
                </a:lnTo>
                <a:lnTo>
                  <a:pt x="89446" y="145199"/>
                </a:lnTo>
                <a:lnTo>
                  <a:pt x="92760" y="145199"/>
                </a:lnTo>
                <a:lnTo>
                  <a:pt x="99377" y="140804"/>
                </a:lnTo>
                <a:lnTo>
                  <a:pt x="106006" y="140804"/>
                </a:lnTo>
                <a:lnTo>
                  <a:pt x="102433" y="125881"/>
                </a:lnTo>
                <a:lnTo>
                  <a:pt x="102277" y="113849"/>
                </a:lnTo>
                <a:lnTo>
                  <a:pt x="106473" y="104293"/>
                </a:lnTo>
                <a:lnTo>
                  <a:pt x="115951" y="96799"/>
                </a:lnTo>
                <a:lnTo>
                  <a:pt x="123453" y="86214"/>
                </a:lnTo>
                <a:lnTo>
                  <a:pt x="131268" y="74803"/>
                </a:lnTo>
                <a:lnTo>
                  <a:pt x="139705" y="63391"/>
                </a:lnTo>
                <a:lnTo>
                  <a:pt x="149072" y="52806"/>
                </a:lnTo>
                <a:lnTo>
                  <a:pt x="145757" y="48399"/>
                </a:lnTo>
                <a:lnTo>
                  <a:pt x="145757" y="44005"/>
                </a:lnTo>
                <a:lnTo>
                  <a:pt x="198436" y="44005"/>
                </a:lnTo>
                <a:lnTo>
                  <a:pt x="171764" y="90887"/>
                </a:lnTo>
                <a:lnTo>
                  <a:pt x="149072" y="127596"/>
                </a:lnTo>
                <a:lnTo>
                  <a:pt x="165895" y="130693"/>
                </a:lnTo>
                <a:lnTo>
                  <a:pt x="181786" y="132549"/>
                </a:lnTo>
                <a:lnTo>
                  <a:pt x="234715" y="132549"/>
                </a:lnTo>
                <a:lnTo>
                  <a:pt x="243900" y="139150"/>
                </a:lnTo>
                <a:lnTo>
                  <a:pt x="255340" y="157922"/>
                </a:lnTo>
                <a:lnTo>
                  <a:pt x="256302" y="165001"/>
                </a:lnTo>
                <a:close/>
              </a:path>
              <a:path w="258445" h="419735">
                <a:moveTo>
                  <a:pt x="234715" y="132549"/>
                </a:moveTo>
                <a:lnTo>
                  <a:pt x="181786" y="132549"/>
                </a:lnTo>
                <a:lnTo>
                  <a:pt x="197055" y="131929"/>
                </a:lnTo>
                <a:lnTo>
                  <a:pt x="212013" y="127596"/>
                </a:lnTo>
                <a:lnTo>
                  <a:pt x="228111" y="127804"/>
                </a:lnTo>
                <a:lnTo>
                  <a:pt x="234715" y="132549"/>
                </a:lnTo>
                <a:close/>
              </a:path>
              <a:path w="258445" h="419735">
                <a:moveTo>
                  <a:pt x="38098" y="249145"/>
                </a:moveTo>
                <a:lnTo>
                  <a:pt x="3727" y="208446"/>
                </a:lnTo>
                <a:lnTo>
                  <a:pt x="1191" y="191191"/>
                </a:lnTo>
                <a:lnTo>
                  <a:pt x="3314" y="175996"/>
                </a:lnTo>
                <a:lnTo>
                  <a:pt x="3314" y="171602"/>
                </a:lnTo>
                <a:lnTo>
                  <a:pt x="13246" y="162801"/>
                </a:lnTo>
                <a:lnTo>
                  <a:pt x="16560" y="162801"/>
                </a:lnTo>
                <a:lnTo>
                  <a:pt x="35403" y="165001"/>
                </a:lnTo>
                <a:lnTo>
                  <a:pt x="256302" y="165001"/>
                </a:lnTo>
                <a:lnTo>
                  <a:pt x="258394" y="180403"/>
                </a:lnTo>
                <a:lnTo>
                  <a:pt x="258394" y="184797"/>
                </a:lnTo>
                <a:lnTo>
                  <a:pt x="250165" y="188444"/>
                </a:lnTo>
                <a:lnTo>
                  <a:pt x="181528" y="188444"/>
                </a:lnTo>
                <a:lnTo>
                  <a:pt x="173504" y="193049"/>
                </a:lnTo>
                <a:lnTo>
                  <a:pt x="170193" y="202399"/>
                </a:lnTo>
                <a:lnTo>
                  <a:pt x="139141" y="202399"/>
                </a:lnTo>
                <a:lnTo>
                  <a:pt x="120919" y="202808"/>
                </a:lnTo>
                <a:lnTo>
                  <a:pt x="105182" y="208995"/>
                </a:lnTo>
                <a:lnTo>
                  <a:pt x="90686" y="218485"/>
                </a:lnTo>
                <a:lnTo>
                  <a:pt x="76187" y="228803"/>
                </a:lnTo>
                <a:lnTo>
                  <a:pt x="69570" y="228803"/>
                </a:lnTo>
                <a:lnTo>
                  <a:pt x="66255" y="237591"/>
                </a:lnTo>
                <a:lnTo>
                  <a:pt x="59626" y="237591"/>
                </a:lnTo>
                <a:lnTo>
                  <a:pt x="48241" y="246874"/>
                </a:lnTo>
                <a:lnTo>
                  <a:pt x="38098" y="249145"/>
                </a:lnTo>
                <a:close/>
              </a:path>
              <a:path w="258445" h="419735">
                <a:moveTo>
                  <a:pt x="248450" y="189204"/>
                </a:moveTo>
                <a:lnTo>
                  <a:pt x="195453" y="189204"/>
                </a:lnTo>
                <a:lnTo>
                  <a:pt x="181528" y="188444"/>
                </a:lnTo>
                <a:lnTo>
                  <a:pt x="250165" y="188444"/>
                </a:lnTo>
                <a:lnTo>
                  <a:pt x="248450" y="189204"/>
                </a:lnTo>
                <a:close/>
              </a:path>
              <a:path w="258445" h="419735">
                <a:moveTo>
                  <a:pt x="163757" y="327242"/>
                </a:moveTo>
                <a:lnTo>
                  <a:pt x="115117" y="327242"/>
                </a:lnTo>
                <a:lnTo>
                  <a:pt x="124020" y="321123"/>
                </a:lnTo>
                <a:lnTo>
                  <a:pt x="129197" y="307987"/>
                </a:lnTo>
                <a:lnTo>
                  <a:pt x="139141" y="202399"/>
                </a:lnTo>
                <a:lnTo>
                  <a:pt x="170193" y="202399"/>
                </a:lnTo>
                <a:lnTo>
                  <a:pt x="169828" y="203431"/>
                </a:lnTo>
                <a:lnTo>
                  <a:pt x="168948" y="220002"/>
                </a:lnTo>
                <a:lnTo>
                  <a:pt x="166928" y="260286"/>
                </a:lnTo>
                <a:lnTo>
                  <a:pt x="165220" y="301396"/>
                </a:lnTo>
                <a:lnTo>
                  <a:pt x="163757" y="327242"/>
                </a:lnTo>
                <a:close/>
              </a:path>
              <a:path w="258445" h="419735">
                <a:moveTo>
                  <a:pt x="136181" y="419298"/>
                </a:moveTo>
                <a:lnTo>
                  <a:pt x="119253" y="417995"/>
                </a:lnTo>
                <a:lnTo>
                  <a:pt x="91407" y="402522"/>
                </a:lnTo>
                <a:lnTo>
                  <a:pt x="70394" y="376742"/>
                </a:lnTo>
                <a:lnTo>
                  <a:pt x="60561" y="341889"/>
                </a:lnTo>
                <a:lnTo>
                  <a:pt x="66255" y="299199"/>
                </a:lnTo>
                <a:lnTo>
                  <a:pt x="66307" y="292598"/>
                </a:lnTo>
                <a:lnTo>
                  <a:pt x="66670" y="285997"/>
                </a:lnTo>
                <a:lnTo>
                  <a:pt x="67654" y="279396"/>
                </a:lnTo>
                <a:lnTo>
                  <a:pt x="69570" y="272796"/>
                </a:lnTo>
                <a:lnTo>
                  <a:pt x="75105" y="283381"/>
                </a:lnTo>
                <a:lnTo>
                  <a:pt x="81575" y="294792"/>
                </a:lnTo>
                <a:lnTo>
                  <a:pt x="88669" y="306203"/>
                </a:lnTo>
                <a:lnTo>
                  <a:pt x="96075" y="316788"/>
                </a:lnTo>
                <a:lnTo>
                  <a:pt x="104974" y="325934"/>
                </a:lnTo>
                <a:lnTo>
                  <a:pt x="115117" y="327242"/>
                </a:lnTo>
                <a:lnTo>
                  <a:pt x="163757" y="327242"/>
                </a:lnTo>
                <a:lnTo>
                  <a:pt x="162893" y="342506"/>
                </a:lnTo>
                <a:lnTo>
                  <a:pt x="159016" y="382790"/>
                </a:lnTo>
                <a:lnTo>
                  <a:pt x="155132" y="403761"/>
                </a:lnTo>
                <a:lnTo>
                  <a:pt x="147831" y="415242"/>
                </a:lnTo>
                <a:lnTo>
                  <a:pt x="136181" y="419298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0737" y="3175431"/>
            <a:ext cx="81354" cy="251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6736" y="3075177"/>
            <a:ext cx="99060" cy="381635"/>
          </a:xfrm>
          <a:custGeom>
            <a:avLst/>
            <a:gdLst/>
            <a:ahLst/>
            <a:cxnLst/>
            <a:rect l="l" t="t" r="r" b="b"/>
            <a:pathLst>
              <a:path w="99059" h="381635">
                <a:moveTo>
                  <a:pt x="17549" y="320382"/>
                </a:moveTo>
                <a:lnTo>
                  <a:pt x="4176" y="294055"/>
                </a:lnTo>
                <a:lnTo>
                  <a:pt x="1356" y="284109"/>
                </a:lnTo>
                <a:lnTo>
                  <a:pt x="0" y="273753"/>
                </a:lnTo>
                <a:lnTo>
                  <a:pt x="731" y="262575"/>
                </a:lnTo>
                <a:lnTo>
                  <a:pt x="4176" y="250164"/>
                </a:lnTo>
                <a:lnTo>
                  <a:pt x="13859" y="230343"/>
                </a:lnTo>
                <a:lnTo>
                  <a:pt x="23125" y="210113"/>
                </a:lnTo>
                <a:lnTo>
                  <a:pt x="32390" y="189062"/>
                </a:lnTo>
                <a:lnTo>
                  <a:pt x="42073" y="166776"/>
                </a:lnTo>
                <a:lnTo>
                  <a:pt x="48796" y="147023"/>
                </a:lnTo>
                <a:lnTo>
                  <a:pt x="55730" y="127273"/>
                </a:lnTo>
                <a:lnTo>
                  <a:pt x="63081" y="107522"/>
                </a:lnTo>
                <a:lnTo>
                  <a:pt x="71054" y="87769"/>
                </a:lnTo>
                <a:lnTo>
                  <a:pt x="74819" y="70625"/>
                </a:lnTo>
                <a:lnTo>
                  <a:pt x="76074" y="52660"/>
                </a:lnTo>
                <a:lnTo>
                  <a:pt x="74819" y="34695"/>
                </a:lnTo>
                <a:lnTo>
                  <a:pt x="71054" y="17551"/>
                </a:lnTo>
                <a:lnTo>
                  <a:pt x="68835" y="13163"/>
                </a:lnTo>
                <a:lnTo>
                  <a:pt x="68832" y="4381"/>
                </a:lnTo>
                <a:lnTo>
                  <a:pt x="95542" y="45597"/>
                </a:lnTo>
                <a:lnTo>
                  <a:pt x="98645" y="68570"/>
                </a:lnTo>
                <a:lnTo>
                  <a:pt x="97986" y="92367"/>
                </a:lnTo>
                <a:lnTo>
                  <a:pt x="93356" y="114109"/>
                </a:lnTo>
                <a:lnTo>
                  <a:pt x="86280" y="137219"/>
                </a:lnTo>
                <a:lnTo>
                  <a:pt x="78581" y="160740"/>
                </a:lnTo>
                <a:lnTo>
                  <a:pt x="70465" y="185086"/>
                </a:lnTo>
                <a:lnTo>
                  <a:pt x="62139" y="210667"/>
                </a:lnTo>
                <a:lnTo>
                  <a:pt x="62139" y="228219"/>
                </a:lnTo>
                <a:lnTo>
                  <a:pt x="64374" y="228219"/>
                </a:lnTo>
                <a:lnTo>
                  <a:pt x="74752" y="246941"/>
                </a:lnTo>
                <a:lnTo>
                  <a:pt x="75017" y="247969"/>
                </a:lnTo>
                <a:lnTo>
                  <a:pt x="54895" y="247969"/>
                </a:lnTo>
                <a:lnTo>
                  <a:pt x="51131" y="250984"/>
                </a:lnTo>
                <a:lnTo>
                  <a:pt x="46531" y="258940"/>
                </a:lnTo>
                <a:lnTo>
                  <a:pt x="39809" y="274712"/>
                </a:lnTo>
                <a:lnTo>
                  <a:pt x="32878" y="289661"/>
                </a:lnTo>
                <a:lnTo>
                  <a:pt x="25528" y="304610"/>
                </a:lnTo>
                <a:lnTo>
                  <a:pt x="17549" y="320382"/>
                </a:lnTo>
                <a:close/>
              </a:path>
              <a:path w="99059" h="381635">
                <a:moveTo>
                  <a:pt x="83243" y="381627"/>
                </a:moveTo>
                <a:lnTo>
                  <a:pt x="67433" y="345968"/>
                </a:lnTo>
                <a:lnTo>
                  <a:pt x="66180" y="312712"/>
                </a:lnTo>
                <a:lnTo>
                  <a:pt x="64928" y="296252"/>
                </a:lnTo>
                <a:lnTo>
                  <a:pt x="62841" y="279793"/>
                </a:lnTo>
                <a:lnTo>
                  <a:pt x="57823" y="251537"/>
                </a:lnTo>
                <a:lnTo>
                  <a:pt x="54895" y="247969"/>
                </a:lnTo>
                <a:lnTo>
                  <a:pt x="75017" y="247969"/>
                </a:lnTo>
                <a:lnTo>
                  <a:pt x="80533" y="269366"/>
                </a:lnTo>
                <a:lnTo>
                  <a:pt x="83807" y="294259"/>
                </a:lnTo>
                <a:lnTo>
                  <a:pt x="86663" y="320382"/>
                </a:lnTo>
                <a:lnTo>
                  <a:pt x="87948" y="331013"/>
                </a:lnTo>
                <a:lnTo>
                  <a:pt x="88607" y="342877"/>
                </a:lnTo>
                <a:lnTo>
                  <a:pt x="88850" y="355565"/>
                </a:lnTo>
                <a:lnTo>
                  <a:pt x="88885" y="368668"/>
                </a:lnTo>
                <a:lnTo>
                  <a:pt x="88119" y="376829"/>
                </a:lnTo>
                <a:lnTo>
                  <a:pt x="86099" y="381285"/>
                </a:lnTo>
                <a:lnTo>
                  <a:pt x="83243" y="38162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0997" y="3075177"/>
            <a:ext cx="55244" cy="78105"/>
          </a:xfrm>
          <a:custGeom>
            <a:avLst/>
            <a:gdLst/>
            <a:ahLst/>
            <a:cxnLst/>
            <a:rect l="l" t="t" r="r" b="b"/>
            <a:pathLst>
              <a:path w="55245" h="78105">
                <a:moveTo>
                  <a:pt x="35029" y="78049"/>
                </a:moveTo>
                <a:lnTo>
                  <a:pt x="6769" y="47574"/>
                </a:lnTo>
                <a:lnTo>
                  <a:pt x="0" y="0"/>
                </a:lnTo>
                <a:lnTo>
                  <a:pt x="12748" y="2496"/>
                </a:lnTo>
                <a:lnTo>
                  <a:pt x="24225" y="3778"/>
                </a:lnTo>
                <a:lnTo>
                  <a:pt x="34854" y="4250"/>
                </a:lnTo>
                <a:lnTo>
                  <a:pt x="45059" y="4318"/>
                </a:lnTo>
                <a:lnTo>
                  <a:pt x="50871" y="9319"/>
                </a:lnTo>
                <a:lnTo>
                  <a:pt x="54357" y="21618"/>
                </a:lnTo>
                <a:lnTo>
                  <a:pt x="54884" y="37161"/>
                </a:lnTo>
                <a:lnTo>
                  <a:pt x="51815" y="51892"/>
                </a:lnTo>
                <a:lnTo>
                  <a:pt x="47631" y="63852"/>
                </a:lnTo>
                <a:lnTo>
                  <a:pt x="41965" y="72977"/>
                </a:lnTo>
                <a:lnTo>
                  <a:pt x="35029" y="780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27022" y="3820414"/>
            <a:ext cx="190500" cy="439420"/>
          </a:xfrm>
          <a:custGeom>
            <a:avLst/>
            <a:gdLst/>
            <a:ahLst/>
            <a:cxnLst/>
            <a:rect l="l" t="t" r="r" b="b"/>
            <a:pathLst>
              <a:path w="190500" h="439420">
                <a:moveTo>
                  <a:pt x="111335" y="55258"/>
                </a:moveTo>
                <a:lnTo>
                  <a:pt x="88444" y="51071"/>
                </a:lnTo>
                <a:lnTo>
                  <a:pt x="73651" y="37823"/>
                </a:lnTo>
                <a:lnTo>
                  <a:pt x="69761" y="17576"/>
                </a:lnTo>
                <a:lnTo>
                  <a:pt x="89169" y="11122"/>
                </a:lnTo>
                <a:lnTo>
                  <a:pt x="107957" y="5492"/>
                </a:lnTo>
                <a:lnTo>
                  <a:pt x="126748" y="1510"/>
                </a:lnTo>
                <a:lnTo>
                  <a:pt x="146164" y="0"/>
                </a:lnTo>
                <a:lnTo>
                  <a:pt x="167855" y="3570"/>
                </a:lnTo>
                <a:lnTo>
                  <a:pt x="182699" y="18673"/>
                </a:lnTo>
                <a:lnTo>
                  <a:pt x="190069" y="42014"/>
                </a:lnTo>
                <a:lnTo>
                  <a:pt x="189907" y="48323"/>
                </a:lnTo>
                <a:lnTo>
                  <a:pt x="139522" y="48323"/>
                </a:lnTo>
                <a:lnTo>
                  <a:pt x="111335" y="55258"/>
                </a:lnTo>
                <a:close/>
              </a:path>
              <a:path w="190500" h="439420">
                <a:moveTo>
                  <a:pt x="186084" y="171348"/>
                </a:moveTo>
                <a:lnTo>
                  <a:pt x="142836" y="171348"/>
                </a:lnTo>
                <a:lnTo>
                  <a:pt x="142318" y="141620"/>
                </a:lnTo>
                <a:lnTo>
                  <a:pt x="140040" y="80522"/>
                </a:lnTo>
                <a:lnTo>
                  <a:pt x="139522" y="48323"/>
                </a:lnTo>
                <a:lnTo>
                  <a:pt x="189907" y="48323"/>
                </a:lnTo>
                <a:lnTo>
                  <a:pt x="189344" y="70294"/>
                </a:lnTo>
                <a:lnTo>
                  <a:pt x="187420" y="103935"/>
                </a:lnTo>
                <a:lnTo>
                  <a:pt x="186432" y="138398"/>
                </a:lnTo>
                <a:lnTo>
                  <a:pt x="186084" y="171348"/>
                </a:lnTo>
                <a:close/>
              </a:path>
              <a:path w="190500" h="439420">
                <a:moveTo>
                  <a:pt x="119206" y="348464"/>
                </a:moveTo>
                <a:lnTo>
                  <a:pt x="14894" y="348464"/>
                </a:lnTo>
                <a:lnTo>
                  <a:pt x="29479" y="345992"/>
                </a:lnTo>
                <a:lnTo>
                  <a:pt x="43441" y="335281"/>
                </a:lnTo>
                <a:lnTo>
                  <a:pt x="56464" y="316331"/>
                </a:lnTo>
                <a:lnTo>
                  <a:pt x="51430" y="312282"/>
                </a:lnTo>
                <a:lnTo>
                  <a:pt x="46086" y="307000"/>
                </a:lnTo>
                <a:lnTo>
                  <a:pt x="40121" y="300893"/>
                </a:lnTo>
                <a:lnTo>
                  <a:pt x="33223" y="294373"/>
                </a:lnTo>
                <a:lnTo>
                  <a:pt x="27511" y="287026"/>
                </a:lnTo>
                <a:lnTo>
                  <a:pt x="24914" y="278444"/>
                </a:lnTo>
                <a:lnTo>
                  <a:pt x="24807" y="269037"/>
                </a:lnTo>
                <a:lnTo>
                  <a:pt x="26568" y="259219"/>
                </a:lnTo>
                <a:lnTo>
                  <a:pt x="34563" y="219610"/>
                </a:lnTo>
                <a:lnTo>
                  <a:pt x="43179" y="179587"/>
                </a:lnTo>
                <a:lnTo>
                  <a:pt x="51861" y="138398"/>
                </a:lnTo>
                <a:lnTo>
                  <a:pt x="59791" y="96659"/>
                </a:lnTo>
                <a:lnTo>
                  <a:pt x="86372" y="70294"/>
                </a:lnTo>
                <a:lnTo>
                  <a:pt x="99968" y="75237"/>
                </a:lnTo>
                <a:lnTo>
                  <a:pt x="110450" y="83477"/>
                </a:lnTo>
                <a:lnTo>
                  <a:pt x="117196" y="95011"/>
                </a:lnTo>
                <a:lnTo>
                  <a:pt x="119583" y="109842"/>
                </a:lnTo>
                <a:lnTo>
                  <a:pt x="119482" y="132423"/>
                </a:lnTo>
                <a:lnTo>
                  <a:pt x="123737" y="147731"/>
                </a:lnTo>
                <a:lnTo>
                  <a:pt x="131729" y="160569"/>
                </a:lnTo>
                <a:lnTo>
                  <a:pt x="142836" y="171348"/>
                </a:lnTo>
                <a:lnTo>
                  <a:pt x="186084" y="171348"/>
                </a:lnTo>
                <a:lnTo>
                  <a:pt x="186044" y="188925"/>
                </a:lnTo>
                <a:lnTo>
                  <a:pt x="106299" y="188925"/>
                </a:lnTo>
                <a:lnTo>
                  <a:pt x="103805" y="211300"/>
                </a:lnTo>
                <a:lnTo>
                  <a:pt x="98823" y="254413"/>
                </a:lnTo>
                <a:lnTo>
                  <a:pt x="96329" y="276796"/>
                </a:lnTo>
                <a:lnTo>
                  <a:pt x="182702" y="276796"/>
                </a:lnTo>
                <a:lnTo>
                  <a:pt x="182182" y="283456"/>
                </a:lnTo>
                <a:lnTo>
                  <a:pt x="181038" y="290526"/>
                </a:lnTo>
                <a:lnTo>
                  <a:pt x="179894" y="298418"/>
                </a:lnTo>
                <a:lnTo>
                  <a:pt x="179374" y="307543"/>
                </a:lnTo>
                <a:lnTo>
                  <a:pt x="177406" y="333908"/>
                </a:lnTo>
                <a:lnTo>
                  <a:pt x="177181" y="338302"/>
                </a:lnTo>
                <a:lnTo>
                  <a:pt x="129552" y="338302"/>
                </a:lnTo>
                <a:lnTo>
                  <a:pt x="119206" y="348464"/>
                </a:lnTo>
                <a:close/>
              </a:path>
              <a:path w="190500" h="439420">
                <a:moveTo>
                  <a:pt x="182702" y="276796"/>
                </a:moveTo>
                <a:lnTo>
                  <a:pt x="96329" y="276796"/>
                </a:lnTo>
                <a:lnTo>
                  <a:pt x="117094" y="265742"/>
                </a:lnTo>
                <a:lnTo>
                  <a:pt x="130384" y="250982"/>
                </a:lnTo>
                <a:lnTo>
                  <a:pt x="137445" y="230456"/>
                </a:lnTo>
                <a:lnTo>
                  <a:pt x="139522" y="202107"/>
                </a:lnTo>
                <a:lnTo>
                  <a:pt x="131993" y="198812"/>
                </a:lnTo>
                <a:lnTo>
                  <a:pt x="124153" y="195516"/>
                </a:lnTo>
                <a:lnTo>
                  <a:pt x="115692" y="192220"/>
                </a:lnTo>
                <a:lnTo>
                  <a:pt x="106299" y="188925"/>
                </a:lnTo>
                <a:lnTo>
                  <a:pt x="186044" y="188925"/>
                </a:lnTo>
                <a:lnTo>
                  <a:pt x="186016" y="206501"/>
                </a:lnTo>
                <a:lnTo>
                  <a:pt x="186536" y="213159"/>
                </a:lnTo>
                <a:lnTo>
                  <a:pt x="187680" y="220227"/>
                </a:lnTo>
                <a:lnTo>
                  <a:pt x="188824" y="228118"/>
                </a:lnTo>
                <a:lnTo>
                  <a:pt x="189344" y="237248"/>
                </a:lnTo>
                <a:lnTo>
                  <a:pt x="188772" y="247135"/>
                </a:lnTo>
                <a:lnTo>
                  <a:pt x="187266" y="257022"/>
                </a:lnTo>
                <a:lnTo>
                  <a:pt x="185138" y="266909"/>
                </a:lnTo>
                <a:lnTo>
                  <a:pt x="182702" y="276796"/>
                </a:lnTo>
                <a:close/>
              </a:path>
              <a:path w="190500" h="439420">
                <a:moveTo>
                  <a:pt x="162775" y="439356"/>
                </a:moveTo>
                <a:lnTo>
                  <a:pt x="156121" y="439356"/>
                </a:lnTo>
                <a:lnTo>
                  <a:pt x="146164" y="434962"/>
                </a:lnTo>
                <a:lnTo>
                  <a:pt x="142836" y="426173"/>
                </a:lnTo>
                <a:lnTo>
                  <a:pt x="133703" y="416081"/>
                </a:lnTo>
                <a:lnTo>
                  <a:pt x="127058" y="404753"/>
                </a:lnTo>
                <a:lnTo>
                  <a:pt x="124150" y="390956"/>
                </a:lnTo>
                <a:lnTo>
                  <a:pt x="126225" y="373456"/>
                </a:lnTo>
                <a:lnTo>
                  <a:pt x="128148" y="366109"/>
                </a:lnTo>
                <a:lnTo>
                  <a:pt x="129136" y="357527"/>
                </a:lnTo>
                <a:lnTo>
                  <a:pt x="129487" y="348464"/>
                </a:lnTo>
                <a:lnTo>
                  <a:pt x="129552" y="338302"/>
                </a:lnTo>
                <a:lnTo>
                  <a:pt x="177181" y="338302"/>
                </a:lnTo>
                <a:lnTo>
                  <a:pt x="174708" y="386633"/>
                </a:lnTo>
                <a:lnTo>
                  <a:pt x="170245" y="427821"/>
                </a:lnTo>
                <a:lnTo>
                  <a:pt x="167133" y="434619"/>
                </a:lnTo>
                <a:lnTo>
                  <a:pt x="162775" y="439356"/>
                </a:lnTo>
                <a:close/>
              </a:path>
              <a:path w="190500" h="439420">
                <a:moveTo>
                  <a:pt x="41521" y="416836"/>
                </a:moveTo>
                <a:lnTo>
                  <a:pt x="8302" y="380595"/>
                </a:lnTo>
                <a:lnTo>
                  <a:pt x="0" y="342696"/>
                </a:lnTo>
                <a:lnTo>
                  <a:pt x="14894" y="348464"/>
                </a:lnTo>
                <a:lnTo>
                  <a:pt x="119206" y="348464"/>
                </a:lnTo>
                <a:lnTo>
                  <a:pt x="110188" y="357321"/>
                </a:lnTo>
                <a:lnTo>
                  <a:pt x="91760" y="375102"/>
                </a:lnTo>
                <a:lnTo>
                  <a:pt x="56464" y="408597"/>
                </a:lnTo>
                <a:lnTo>
                  <a:pt x="48994" y="415394"/>
                </a:lnTo>
                <a:lnTo>
                  <a:pt x="41521" y="416836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22445" y="3776573"/>
            <a:ext cx="175260" cy="527685"/>
          </a:xfrm>
          <a:custGeom>
            <a:avLst/>
            <a:gdLst/>
            <a:ahLst/>
            <a:cxnLst/>
            <a:rect l="l" t="t" r="r" b="b"/>
            <a:pathLst>
              <a:path w="175260" h="527685">
                <a:moveTo>
                  <a:pt x="36937" y="65951"/>
                </a:moveTo>
                <a:lnTo>
                  <a:pt x="33597" y="65951"/>
                </a:lnTo>
                <a:lnTo>
                  <a:pt x="26916" y="57150"/>
                </a:lnTo>
                <a:lnTo>
                  <a:pt x="26916" y="48361"/>
                </a:lnTo>
                <a:lnTo>
                  <a:pt x="23576" y="48361"/>
                </a:lnTo>
                <a:lnTo>
                  <a:pt x="64491" y="10993"/>
                </a:lnTo>
                <a:lnTo>
                  <a:pt x="100386" y="0"/>
                </a:lnTo>
                <a:lnTo>
                  <a:pt x="122246" y="5975"/>
                </a:lnTo>
                <a:lnTo>
                  <a:pt x="137533" y="18135"/>
                </a:lnTo>
                <a:lnTo>
                  <a:pt x="142955" y="30772"/>
                </a:lnTo>
                <a:lnTo>
                  <a:pt x="97046" y="30772"/>
                </a:lnTo>
                <a:lnTo>
                  <a:pt x="90366" y="35178"/>
                </a:lnTo>
                <a:lnTo>
                  <a:pt x="82852" y="39161"/>
                </a:lnTo>
                <a:lnTo>
                  <a:pt x="67831" y="48773"/>
                </a:lnTo>
                <a:lnTo>
                  <a:pt x="60317" y="52755"/>
                </a:lnTo>
                <a:lnTo>
                  <a:pt x="55255" y="56671"/>
                </a:lnTo>
                <a:lnTo>
                  <a:pt x="49880" y="61001"/>
                </a:lnTo>
                <a:lnTo>
                  <a:pt x="43878" y="64507"/>
                </a:lnTo>
                <a:lnTo>
                  <a:pt x="36937" y="65951"/>
                </a:lnTo>
                <a:close/>
              </a:path>
              <a:path w="175260" h="527685">
                <a:moveTo>
                  <a:pt x="145308" y="175856"/>
                </a:moveTo>
                <a:lnTo>
                  <a:pt x="63657" y="175856"/>
                </a:lnTo>
                <a:lnTo>
                  <a:pt x="70597" y="167478"/>
                </a:lnTo>
                <a:lnTo>
                  <a:pt x="76594" y="161569"/>
                </a:lnTo>
                <a:lnTo>
                  <a:pt x="81965" y="157308"/>
                </a:lnTo>
                <a:lnTo>
                  <a:pt x="87025" y="153873"/>
                </a:lnTo>
                <a:lnTo>
                  <a:pt x="94958" y="147968"/>
                </a:lnTo>
                <a:lnTo>
                  <a:pt x="115990" y="108810"/>
                </a:lnTo>
                <a:lnTo>
                  <a:pt x="116669" y="85731"/>
                </a:lnTo>
                <a:lnTo>
                  <a:pt x="114215" y="62649"/>
                </a:lnTo>
                <a:lnTo>
                  <a:pt x="107066" y="39573"/>
                </a:lnTo>
                <a:lnTo>
                  <a:pt x="107066" y="35178"/>
                </a:lnTo>
                <a:lnTo>
                  <a:pt x="97046" y="30772"/>
                </a:lnTo>
                <a:lnTo>
                  <a:pt x="142955" y="30772"/>
                </a:lnTo>
                <a:lnTo>
                  <a:pt x="145934" y="37715"/>
                </a:lnTo>
                <a:lnTo>
                  <a:pt x="147073" y="64507"/>
                </a:lnTo>
                <a:lnTo>
                  <a:pt x="146985" y="108810"/>
                </a:lnTo>
                <a:lnTo>
                  <a:pt x="146799" y="126401"/>
                </a:lnTo>
                <a:lnTo>
                  <a:pt x="146676" y="135536"/>
                </a:lnTo>
                <a:lnTo>
                  <a:pt x="145725" y="168574"/>
                </a:lnTo>
                <a:lnTo>
                  <a:pt x="145308" y="175856"/>
                </a:lnTo>
                <a:close/>
              </a:path>
              <a:path w="175260" h="527685">
                <a:moveTo>
                  <a:pt x="26916" y="457225"/>
                </a:moveTo>
                <a:lnTo>
                  <a:pt x="16909" y="457225"/>
                </a:lnTo>
                <a:lnTo>
                  <a:pt x="9602" y="456263"/>
                </a:lnTo>
                <a:lnTo>
                  <a:pt x="3548" y="452829"/>
                </a:lnTo>
                <a:lnTo>
                  <a:pt x="0" y="446097"/>
                </a:lnTo>
                <a:lnTo>
                  <a:pt x="208" y="435241"/>
                </a:lnTo>
                <a:lnTo>
                  <a:pt x="2191" y="418761"/>
                </a:lnTo>
                <a:lnTo>
                  <a:pt x="4905" y="385790"/>
                </a:lnTo>
                <a:lnTo>
                  <a:pt x="6888" y="369303"/>
                </a:lnTo>
                <a:lnTo>
                  <a:pt x="16551" y="316273"/>
                </a:lnTo>
                <a:lnTo>
                  <a:pt x="34120" y="214739"/>
                </a:lnTo>
                <a:lnTo>
                  <a:pt x="43617" y="162674"/>
                </a:lnTo>
                <a:lnTo>
                  <a:pt x="55725" y="107165"/>
                </a:lnTo>
                <a:lnTo>
                  <a:pt x="70338" y="48361"/>
                </a:lnTo>
                <a:lnTo>
                  <a:pt x="78524" y="55092"/>
                </a:lnTo>
                <a:lnTo>
                  <a:pt x="83270" y="62652"/>
                </a:lnTo>
                <a:lnTo>
                  <a:pt x="84886" y="71853"/>
                </a:lnTo>
                <a:lnTo>
                  <a:pt x="83685" y="83527"/>
                </a:lnTo>
                <a:lnTo>
                  <a:pt x="78683" y="104142"/>
                </a:lnTo>
                <a:lnTo>
                  <a:pt x="73676" y="126401"/>
                </a:lnTo>
                <a:lnTo>
                  <a:pt x="68667" y="150305"/>
                </a:lnTo>
                <a:lnTo>
                  <a:pt x="63657" y="175856"/>
                </a:lnTo>
                <a:lnTo>
                  <a:pt x="145308" y="175856"/>
                </a:lnTo>
                <a:lnTo>
                  <a:pt x="143794" y="202234"/>
                </a:lnTo>
                <a:lnTo>
                  <a:pt x="144473" y="213914"/>
                </a:lnTo>
                <a:lnTo>
                  <a:pt x="146717" y="223119"/>
                </a:lnTo>
                <a:lnTo>
                  <a:pt x="149713" y="228612"/>
                </a:lnTo>
                <a:lnTo>
                  <a:pt x="70338" y="228612"/>
                </a:lnTo>
                <a:lnTo>
                  <a:pt x="58856" y="270727"/>
                </a:lnTo>
                <a:lnTo>
                  <a:pt x="51132" y="311602"/>
                </a:lnTo>
                <a:lnTo>
                  <a:pt x="49671" y="351651"/>
                </a:lnTo>
                <a:lnTo>
                  <a:pt x="56977" y="391287"/>
                </a:lnTo>
                <a:lnTo>
                  <a:pt x="33597" y="391287"/>
                </a:lnTo>
                <a:lnTo>
                  <a:pt x="31666" y="403785"/>
                </a:lnTo>
                <a:lnTo>
                  <a:pt x="30674" y="415463"/>
                </a:lnTo>
                <a:lnTo>
                  <a:pt x="30309" y="427143"/>
                </a:lnTo>
                <a:lnTo>
                  <a:pt x="30256" y="439648"/>
                </a:lnTo>
                <a:lnTo>
                  <a:pt x="26916" y="448437"/>
                </a:lnTo>
                <a:lnTo>
                  <a:pt x="26916" y="457225"/>
                </a:lnTo>
                <a:close/>
              </a:path>
              <a:path w="175260" h="527685">
                <a:moveTo>
                  <a:pt x="83685" y="334124"/>
                </a:moveTo>
                <a:lnTo>
                  <a:pt x="77018" y="334124"/>
                </a:lnTo>
                <a:lnTo>
                  <a:pt x="73678" y="329730"/>
                </a:lnTo>
                <a:lnTo>
                  <a:pt x="73678" y="325335"/>
                </a:lnTo>
                <a:lnTo>
                  <a:pt x="77018" y="320941"/>
                </a:lnTo>
                <a:lnTo>
                  <a:pt x="83685" y="316547"/>
                </a:lnTo>
                <a:lnTo>
                  <a:pt x="87025" y="312153"/>
                </a:lnTo>
                <a:lnTo>
                  <a:pt x="92036" y="308781"/>
                </a:lnTo>
                <a:lnTo>
                  <a:pt x="97046" y="305001"/>
                </a:lnTo>
                <a:lnTo>
                  <a:pt x="102056" y="300400"/>
                </a:lnTo>
                <a:lnTo>
                  <a:pt x="107066" y="294563"/>
                </a:lnTo>
                <a:lnTo>
                  <a:pt x="113746" y="290169"/>
                </a:lnTo>
                <a:lnTo>
                  <a:pt x="113746" y="276974"/>
                </a:lnTo>
                <a:lnTo>
                  <a:pt x="103726" y="276974"/>
                </a:lnTo>
                <a:lnTo>
                  <a:pt x="92403" y="269419"/>
                </a:lnTo>
                <a:lnTo>
                  <a:pt x="83274" y="259389"/>
                </a:lnTo>
                <a:lnTo>
                  <a:pt x="76024" y="246061"/>
                </a:lnTo>
                <a:lnTo>
                  <a:pt x="70338" y="228612"/>
                </a:lnTo>
                <a:lnTo>
                  <a:pt x="149713" y="228612"/>
                </a:lnTo>
                <a:lnTo>
                  <a:pt x="150840" y="230677"/>
                </a:lnTo>
                <a:lnTo>
                  <a:pt x="157155" y="237413"/>
                </a:lnTo>
                <a:lnTo>
                  <a:pt x="170306" y="257128"/>
                </a:lnTo>
                <a:lnTo>
                  <a:pt x="174690" y="276431"/>
                </a:lnTo>
                <a:lnTo>
                  <a:pt x="170306" y="294910"/>
                </a:lnTo>
                <a:lnTo>
                  <a:pt x="157155" y="312153"/>
                </a:lnTo>
                <a:lnTo>
                  <a:pt x="150840" y="316273"/>
                </a:lnTo>
                <a:lnTo>
                  <a:pt x="146717" y="322041"/>
                </a:lnTo>
                <a:lnTo>
                  <a:pt x="144473" y="329460"/>
                </a:lnTo>
                <a:lnTo>
                  <a:pt x="144453" y="329730"/>
                </a:lnTo>
                <a:lnTo>
                  <a:pt x="93706" y="329730"/>
                </a:lnTo>
                <a:lnTo>
                  <a:pt x="83685" y="334124"/>
                </a:lnTo>
                <a:close/>
              </a:path>
              <a:path w="175260" h="527685">
                <a:moveTo>
                  <a:pt x="143965" y="470420"/>
                </a:moveTo>
                <a:lnTo>
                  <a:pt x="107066" y="470420"/>
                </a:lnTo>
                <a:lnTo>
                  <a:pt x="109049" y="437445"/>
                </a:lnTo>
                <a:lnTo>
                  <a:pt x="111763" y="371499"/>
                </a:lnTo>
                <a:lnTo>
                  <a:pt x="113746" y="338531"/>
                </a:lnTo>
                <a:lnTo>
                  <a:pt x="103726" y="329730"/>
                </a:lnTo>
                <a:lnTo>
                  <a:pt x="144453" y="329730"/>
                </a:lnTo>
                <a:lnTo>
                  <a:pt x="143794" y="338531"/>
                </a:lnTo>
                <a:lnTo>
                  <a:pt x="145075" y="371499"/>
                </a:lnTo>
                <a:lnTo>
                  <a:pt x="144952" y="415463"/>
                </a:lnTo>
                <a:lnTo>
                  <a:pt x="144291" y="446097"/>
                </a:lnTo>
                <a:lnTo>
                  <a:pt x="143965" y="470420"/>
                </a:lnTo>
                <a:close/>
              </a:path>
              <a:path w="175260" h="527685">
                <a:moveTo>
                  <a:pt x="133774" y="527570"/>
                </a:moveTo>
                <a:lnTo>
                  <a:pt x="86766" y="489104"/>
                </a:lnTo>
                <a:lnTo>
                  <a:pt x="55357" y="429753"/>
                </a:lnTo>
                <a:lnTo>
                  <a:pt x="40277" y="400075"/>
                </a:lnTo>
                <a:lnTo>
                  <a:pt x="36937" y="395681"/>
                </a:lnTo>
                <a:lnTo>
                  <a:pt x="36937" y="391287"/>
                </a:lnTo>
                <a:lnTo>
                  <a:pt x="56977" y="391287"/>
                </a:lnTo>
                <a:lnTo>
                  <a:pt x="66213" y="414778"/>
                </a:lnTo>
                <a:lnTo>
                  <a:pt x="78264" y="434149"/>
                </a:lnTo>
                <a:lnTo>
                  <a:pt x="92194" y="451873"/>
                </a:lnTo>
                <a:lnTo>
                  <a:pt x="107066" y="470420"/>
                </a:lnTo>
                <a:lnTo>
                  <a:pt x="143965" y="470420"/>
                </a:lnTo>
                <a:lnTo>
                  <a:pt x="143794" y="483603"/>
                </a:lnTo>
                <a:lnTo>
                  <a:pt x="143794" y="492404"/>
                </a:lnTo>
                <a:lnTo>
                  <a:pt x="147135" y="496798"/>
                </a:lnTo>
                <a:lnTo>
                  <a:pt x="143794" y="501192"/>
                </a:lnTo>
                <a:lnTo>
                  <a:pt x="141289" y="509021"/>
                </a:lnTo>
                <a:lnTo>
                  <a:pt x="138784" y="517677"/>
                </a:lnTo>
                <a:lnTo>
                  <a:pt x="136279" y="524685"/>
                </a:lnTo>
                <a:lnTo>
                  <a:pt x="133774" y="527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14640" y="2037909"/>
            <a:ext cx="424180" cy="671830"/>
          </a:xfrm>
          <a:custGeom>
            <a:avLst/>
            <a:gdLst/>
            <a:ahLst/>
            <a:cxnLst/>
            <a:rect l="l" t="t" r="r" b="b"/>
            <a:pathLst>
              <a:path w="424180" h="671830">
                <a:moveTo>
                  <a:pt x="232935" y="328930"/>
                </a:moveTo>
                <a:lnTo>
                  <a:pt x="179920" y="328930"/>
                </a:lnTo>
                <a:lnTo>
                  <a:pt x="209905" y="302260"/>
                </a:lnTo>
                <a:lnTo>
                  <a:pt x="203975" y="280670"/>
                </a:lnTo>
                <a:lnTo>
                  <a:pt x="207413" y="262890"/>
                </a:lnTo>
                <a:lnTo>
                  <a:pt x="214599" y="245110"/>
                </a:lnTo>
                <a:lnTo>
                  <a:pt x="219913" y="227330"/>
                </a:lnTo>
                <a:lnTo>
                  <a:pt x="211889" y="227330"/>
                </a:lnTo>
                <a:lnTo>
                  <a:pt x="194604" y="224790"/>
                </a:lnTo>
                <a:lnTo>
                  <a:pt x="163258" y="200660"/>
                </a:lnTo>
                <a:lnTo>
                  <a:pt x="163258" y="195580"/>
                </a:lnTo>
                <a:lnTo>
                  <a:pt x="166598" y="195580"/>
                </a:lnTo>
                <a:lnTo>
                  <a:pt x="178573" y="193040"/>
                </a:lnTo>
                <a:lnTo>
                  <a:pt x="201270" y="190500"/>
                </a:lnTo>
                <a:lnTo>
                  <a:pt x="213245" y="186690"/>
                </a:lnTo>
                <a:lnTo>
                  <a:pt x="222041" y="185420"/>
                </a:lnTo>
                <a:lnTo>
                  <a:pt x="228652" y="180340"/>
                </a:lnTo>
                <a:lnTo>
                  <a:pt x="233389" y="172720"/>
                </a:lnTo>
                <a:lnTo>
                  <a:pt x="246562" y="124460"/>
                </a:lnTo>
                <a:lnTo>
                  <a:pt x="266555" y="53340"/>
                </a:lnTo>
                <a:lnTo>
                  <a:pt x="276555" y="20320"/>
                </a:lnTo>
                <a:lnTo>
                  <a:pt x="278687" y="10160"/>
                </a:lnTo>
                <a:lnTo>
                  <a:pt x="281133" y="2540"/>
                </a:lnTo>
                <a:lnTo>
                  <a:pt x="285456" y="0"/>
                </a:lnTo>
                <a:lnTo>
                  <a:pt x="293217" y="2540"/>
                </a:lnTo>
                <a:lnTo>
                  <a:pt x="301805" y="11430"/>
                </a:lnTo>
                <a:lnTo>
                  <a:pt x="306958" y="21590"/>
                </a:lnTo>
                <a:lnTo>
                  <a:pt x="307740" y="33020"/>
                </a:lnTo>
                <a:lnTo>
                  <a:pt x="303212" y="41910"/>
                </a:lnTo>
                <a:lnTo>
                  <a:pt x="287645" y="71120"/>
                </a:lnTo>
                <a:lnTo>
                  <a:pt x="278638" y="102870"/>
                </a:lnTo>
                <a:lnTo>
                  <a:pt x="272755" y="138430"/>
                </a:lnTo>
                <a:lnTo>
                  <a:pt x="266560" y="173990"/>
                </a:lnTo>
                <a:lnTo>
                  <a:pt x="353186" y="173990"/>
                </a:lnTo>
                <a:lnTo>
                  <a:pt x="353186" y="179070"/>
                </a:lnTo>
                <a:lnTo>
                  <a:pt x="349859" y="186690"/>
                </a:lnTo>
                <a:lnTo>
                  <a:pt x="343192" y="186690"/>
                </a:lnTo>
                <a:lnTo>
                  <a:pt x="273215" y="213360"/>
                </a:lnTo>
                <a:lnTo>
                  <a:pt x="264941" y="214630"/>
                </a:lnTo>
                <a:lnTo>
                  <a:pt x="259476" y="217170"/>
                </a:lnTo>
                <a:lnTo>
                  <a:pt x="255884" y="223520"/>
                </a:lnTo>
                <a:lnTo>
                  <a:pt x="253225" y="231140"/>
                </a:lnTo>
                <a:lnTo>
                  <a:pt x="248746" y="243840"/>
                </a:lnTo>
                <a:lnTo>
                  <a:pt x="241041" y="266700"/>
                </a:lnTo>
                <a:lnTo>
                  <a:pt x="236562" y="279400"/>
                </a:lnTo>
                <a:lnTo>
                  <a:pt x="327341" y="279400"/>
                </a:lnTo>
                <a:lnTo>
                  <a:pt x="339864" y="284480"/>
                </a:lnTo>
                <a:lnTo>
                  <a:pt x="349648" y="288290"/>
                </a:lnTo>
                <a:lnTo>
                  <a:pt x="358182" y="295910"/>
                </a:lnTo>
                <a:lnTo>
                  <a:pt x="364219" y="304800"/>
                </a:lnTo>
                <a:lnTo>
                  <a:pt x="364410" y="306070"/>
                </a:lnTo>
                <a:lnTo>
                  <a:pt x="269887" y="306070"/>
                </a:lnTo>
                <a:lnTo>
                  <a:pt x="269887" y="314960"/>
                </a:lnTo>
                <a:lnTo>
                  <a:pt x="253225" y="314960"/>
                </a:lnTo>
                <a:lnTo>
                  <a:pt x="246301" y="318770"/>
                </a:lnTo>
                <a:lnTo>
                  <a:pt x="240314" y="322580"/>
                </a:lnTo>
                <a:lnTo>
                  <a:pt x="234953" y="326390"/>
                </a:lnTo>
                <a:lnTo>
                  <a:pt x="232935" y="328930"/>
                </a:lnTo>
                <a:close/>
              </a:path>
              <a:path w="424180" h="671830">
                <a:moveTo>
                  <a:pt x="44977" y="528320"/>
                </a:moveTo>
                <a:lnTo>
                  <a:pt x="14053" y="499110"/>
                </a:lnTo>
                <a:lnTo>
                  <a:pt x="117" y="448310"/>
                </a:lnTo>
                <a:lnTo>
                  <a:pt x="0" y="443230"/>
                </a:lnTo>
                <a:lnTo>
                  <a:pt x="3327" y="438150"/>
                </a:lnTo>
                <a:lnTo>
                  <a:pt x="3327" y="434340"/>
                </a:lnTo>
                <a:lnTo>
                  <a:pt x="18789" y="403860"/>
                </a:lnTo>
                <a:lnTo>
                  <a:pt x="34566" y="374650"/>
                </a:lnTo>
                <a:lnTo>
                  <a:pt x="49718" y="342900"/>
                </a:lnTo>
                <a:lnTo>
                  <a:pt x="70231" y="293370"/>
                </a:lnTo>
                <a:lnTo>
                  <a:pt x="81576" y="255270"/>
                </a:lnTo>
                <a:lnTo>
                  <a:pt x="86626" y="236220"/>
                </a:lnTo>
                <a:lnTo>
                  <a:pt x="89966" y="231140"/>
                </a:lnTo>
                <a:lnTo>
                  <a:pt x="83299" y="227330"/>
                </a:lnTo>
                <a:lnTo>
                  <a:pt x="83299" y="218440"/>
                </a:lnTo>
                <a:lnTo>
                  <a:pt x="70072" y="194310"/>
                </a:lnTo>
                <a:lnTo>
                  <a:pt x="64968" y="173990"/>
                </a:lnTo>
                <a:lnTo>
                  <a:pt x="67363" y="152400"/>
                </a:lnTo>
                <a:lnTo>
                  <a:pt x="76631" y="125730"/>
                </a:lnTo>
                <a:lnTo>
                  <a:pt x="99541" y="83820"/>
                </a:lnTo>
                <a:lnTo>
                  <a:pt x="129946" y="54610"/>
                </a:lnTo>
                <a:lnTo>
                  <a:pt x="144262" y="48260"/>
                </a:lnTo>
                <a:lnTo>
                  <a:pt x="157018" y="48260"/>
                </a:lnTo>
                <a:lnTo>
                  <a:pt x="167899" y="53340"/>
                </a:lnTo>
                <a:lnTo>
                  <a:pt x="176593" y="63500"/>
                </a:lnTo>
                <a:lnTo>
                  <a:pt x="182111" y="76200"/>
                </a:lnTo>
                <a:lnTo>
                  <a:pt x="183256" y="85090"/>
                </a:lnTo>
                <a:lnTo>
                  <a:pt x="179402" y="92710"/>
                </a:lnTo>
                <a:lnTo>
                  <a:pt x="169925" y="99060"/>
                </a:lnTo>
                <a:lnTo>
                  <a:pt x="154675" y="107950"/>
                </a:lnTo>
                <a:lnTo>
                  <a:pt x="142859" y="120650"/>
                </a:lnTo>
                <a:lnTo>
                  <a:pt x="132914" y="135890"/>
                </a:lnTo>
                <a:lnTo>
                  <a:pt x="123278" y="152400"/>
                </a:lnTo>
                <a:lnTo>
                  <a:pt x="121511" y="161290"/>
                </a:lnTo>
                <a:lnTo>
                  <a:pt x="121616" y="171450"/>
                </a:lnTo>
                <a:lnTo>
                  <a:pt x="124220" y="180340"/>
                </a:lnTo>
                <a:lnTo>
                  <a:pt x="129946" y="186690"/>
                </a:lnTo>
                <a:lnTo>
                  <a:pt x="136613" y="191770"/>
                </a:lnTo>
                <a:lnTo>
                  <a:pt x="139941" y="200660"/>
                </a:lnTo>
                <a:lnTo>
                  <a:pt x="143268" y="204470"/>
                </a:lnTo>
                <a:lnTo>
                  <a:pt x="161338" y="233680"/>
                </a:lnTo>
                <a:lnTo>
                  <a:pt x="170345" y="257810"/>
                </a:lnTo>
                <a:lnTo>
                  <a:pt x="169979" y="283210"/>
                </a:lnTo>
                <a:lnTo>
                  <a:pt x="159931" y="314960"/>
                </a:lnTo>
                <a:lnTo>
                  <a:pt x="179920" y="328930"/>
                </a:lnTo>
                <a:lnTo>
                  <a:pt x="232935" y="328930"/>
                </a:lnTo>
                <a:lnTo>
                  <a:pt x="229908" y="332740"/>
                </a:lnTo>
                <a:lnTo>
                  <a:pt x="226568" y="332740"/>
                </a:lnTo>
                <a:lnTo>
                  <a:pt x="223240" y="336550"/>
                </a:lnTo>
                <a:lnTo>
                  <a:pt x="143268" y="336550"/>
                </a:lnTo>
                <a:lnTo>
                  <a:pt x="113284" y="403860"/>
                </a:lnTo>
                <a:lnTo>
                  <a:pt x="109956" y="407670"/>
                </a:lnTo>
                <a:lnTo>
                  <a:pt x="109956" y="416560"/>
                </a:lnTo>
                <a:lnTo>
                  <a:pt x="113284" y="425450"/>
                </a:lnTo>
                <a:lnTo>
                  <a:pt x="113803" y="433070"/>
                </a:lnTo>
                <a:lnTo>
                  <a:pt x="116091" y="448310"/>
                </a:lnTo>
                <a:lnTo>
                  <a:pt x="116611" y="455930"/>
                </a:lnTo>
                <a:lnTo>
                  <a:pt x="108454" y="513080"/>
                </a:lnTo>
                <a:lnTo>
                  <a:pt x="66636" y="513080"/>
                </a:lnTo>
                <a:lnTo>
                  <a:pt x="55181" y="525780"/>
                </a:lnTo>
                <a:lnTo>
                  <a:pt x="44977" y="528320"/>
                </a:lnTo>
                <a:close/>
              </a:path>
              <a:path w="424180" h="671830">
                <a:moveTo>
                  <a:pt x="353186" y="173990"/>
                </a:moveTo>
                <a:lnTo>
                  <a:pt x="266560" y="173990"/>
                </a:lnTo>
                <a:lnTo>
                  <a:pt x="279571" y="167640"/>
                </a:lnTo>
                <a:lnTo>
                  <a:pt x="293211" y="161290"/>
                </a:lnTo>
                <a:lnTo>
                  <a:pt x="306851" y="156210"/>
                </a:lnTo>
                <a:lnTo>
                  <a:pt x="319862" y="152400"/>
                </a:lnTo>
                <a:lnTo>
                  <a:pt x="326529" y="147320"/>
                </a:lnTo>
                <a:lnTo>
                  <a:pt x="336524" y="147320"/>
                </a:lnTo>
                <a:lnTo>
                  <a:pt x="339864" y="152400"/>
                </a:lnTo>
                <a:lnTo>
                  <a:pt x="344753" y="156210"/>
                </a:lnTo>
                <a:lnTo>
                  <a:pt x="349021" y="161290"/>
                </a:lnTo>
                <a:lnTo>
                  <a:pt x="352041" y="167640"/>
                </a:lnTo>
                <a:lnTo>
                  <a:pt x="353186" y="173990"/>
                </a:lnTo>
                <a:close/>
              </a:path>
              <a:path w="424180" h="671830">
                <a:moveTo>
                  <a:pt x="327341" y="279400"/>
                </a:moveTo>
                <a:lnTo>
                  <a:pt x="236562" y="279400"/>
                </a:lnTo>
                <a:lnTo>
                  <a:pt x="263480" y="274320"/>
                </a:lnTo>
                <a:lnTo>
                  <a:pt x="289461" y="271780"/>
                </a:lnTo>
                <a:lnTo>
                  <a:pt x="314819" y="274320"/>
                </a:lnTo>
                <a:lnTo>
                  <a:pt x="327341" y="279400"/>
                </a:lnTo>
                <a:close/>
              </a:path>
              <a:path w="424180" h="671830">
                <a:moveTo>
                  <a:pt x="357532" y="389890"/>
                </a:moveTo>
                <a:lnTo>
                  <a:pt x="269887" y="389890"/>
                </a:lnTo>
                <a:lnTo>
                  <a:pt x="316534" y="328930"/>
                </a:lnTo>
                <a:lnTo>
                  <a:pt x="319191" y="318770"/>
                </a:lnTo>
                <a:lnTo>
                  <a:pt x="317785" y="312420"/>
                </a:lnTo>
                <a:lnTo>
                  <a:pt x="313255" y="307340"/>
                </a:lnTo>
                <a:lnTo>
                  <a:pt x="306539" y="306070"/>
                </a:lnTo>
                <a:lnTo>
                  <a:pt x="364410" y="306070"/>
                </a:lnTo>
                <a:lnTo>
                  <a:pt x="366509" y="320040"/>
                </a:lnTo>
                <a:lnTo>
                  <a:pt x="367138" y="335280"/>
                </a:lnTo>
                <a:lnTo>
                  <a:pt x="364015" y="349250"/>
                </a:lnTo>
                <a:lnTo>
                  <a:pt x="357142" y="359410"/>
                </a:lnTo>
                <a:lnTo>
                  <a:pt x="346519" y="368300"/>
                </a:lnTo>
                <a:lnTo>
                  <a:pt x="343192" y="368300"/>
                </a:lnTo>
                <a:lnTo>
                  <a:pt x="336524" y="377190"/>
                </a:lnTo>
                <a:lnTo>
                  <a:pt x="343192" y="381000"/>
                </a:lnTo>
                <a:lnTo>
                  <a:pt x="349859" y="381000"/>
                </a:lnTo>
                <a:lnTo>
                  <a:pt x="353186" y="386080"/>
                </a:lnTo>
                <a:lnTo>
                  <a:pt x="357532" y="389890"/>
                </a:lnTo>
                <a:close/>
              </a:path>
              <a:path w="424180" h="671830">
                <a:moveTo>
                  <a:pt x="365240" y="398780"/>
                </a:moveTo>
                <a:lnTo>
                  <a:pt x="226568" y="398780"/>
                </a:lnTo>
                <a:lnTo>
                  <a:pt x="239636" y="389890"/>
                </a:lnTo>
                <a:lnTo>
                  <a:pt x="248645" y="372110"/>
                </a:lnTo>
                <a:lnTo>
                  <a:pt x="253280" y="346710"/>
                </a:lnTo>
                <a:lnTo>
                  <a:pt x="253225" y="314960"/>
                </a:lnTo>
                <a:lnTo>
                  <a:pt x="269887" y="314960"/>
                </a:lnTo>
                <a:lnTo>
                  <a:pt x="269315" y="355600"/>
                </a:lnTo>
                <a:lnTo>
                  <a:pt x="263220" y="386080"/>
                </a:lnTo>
                <a:lnTo>
                  <a:pt x="266560" y="386080"/>
                </a:lnTo>
                <a:lnTo>
                  <a:pt x="266560" y="389890"/>
                </a:lnTo>
                <a:lnTo>
                  <a:pt x="357532" y="389890"/>
                </a:lnTo>
                <a:lnTo>
                  <a:pt x="361878" y="393700"/>
                </a:lnTo>
                <a:lnTo>
                  <a:pt x="365240" y="398780"/>
                </a:lnTo>
                <a:close/>
              </a:path>
              <a:path w="424180" h="671830">
                <a:moveTo>
                  <a:pt x="370118" y="420370"/>
                </a:moveTo>
                <a:lnTo>
                  <a:pt x="169925" y="420370"/>
                </a:lnTo>
                <a:lnTo>
                  <a:pt x="162949" y="398780"/>
                </a:lnTo>
                <a:lnTo>
                  <a:pt x="156597" y="377190"/>
                </a:lnTo>
                <a:lnTo>
                  <a:pt x="150244" y="356870"/>
                </a:lnTo>
                <a:lnTo>
                  <a:pt x="143268" y="336550"/>
                </a:lnTo>
                <a:lnTo>
                  <a:pt x="223240" y="336550"/>
                </a:lnTo>
                <a:lnTo>
                  <a:pt x="223283" y="342900"/>
                </a:lnTo>
                <a:lnTo>
                  <a:pt x="223543" y="350520"/>
                </a:lnTo>
                <a:lnTo>
                  <a:pt x="209905" y="350520"/>
                </a:lnTo>
                <a:lnTo>
                  <a:pt x="194083" y="359410"/>
                </a:lnTo>
                <a:lnTo>
                  <a:pt x="185754" y="365760"/>
                </a:lnTo>
                <a:lnTo>
                  <a:pt x="183671" y="372110"/>
                </a:lnTo>
                <a:lnTo>
                  <a:pt x="186588" y="381000"/>
                </a:lnTo>
                <a:lnTo>
                  <a:pt x="191743" y="397510"/>
                </a:lnTo>
                <a:lnTo>
                  <a:pt x="197832" y="405130"/>
                </a:lnTo>
                <a:lnTo>
                  <a:pt x="205796" y="407670"/>
                </a:lnTo>
                <a:lnTo>
                  <a:pt x="369142" y="407670"/>
                </a:lnTo>
                <a:lnTo>
                  <a:pt x="370523" y="412750"/>
                </a:lnTo>
                <a:lnTo>
                  <a:pt x="370118" y="420370"/>
                </a:lnTo>
                <a:close/>
              </a:path>
              <a:path w="424180" h="671830">
                <a:moveTo>
                  <a:pt x="369142" y="407670"/>
                </a:moveTo>
                <a:lnTo>
                  <a:pt x="205796" y="407670"/>
                </a:lnTo>
                <a:lnTo>
                  <a:pt x="216573" y="403860"/>
                </a:lnTo>
                <a:lnTo>
                  <a:pt x="214127" y="389890"/>
                </a:lnTo>
                <a:lnTo>
                  <a:pt x="211991" y="377190"/>
                </a:lnTo>
                <a:lnTo>
                  <a:pt x="210479" y="363220"/>
                </a:lnTo>
                <a:lnTo>
                  <a:pt x="209905" y="350520"/>
                </a:lnTo>
                <a:lnTo>
                  <a:pt x="223543" y="350520"/>
                </a:lnTo>
                <a:lnTo>
                  <a:pt x="223760" y="356870"/>
                </a:lnTo>
                <a:lnTo>
                  <a:pt x="224904" y="372110"/>
                </a:lnTo>
                <a:lnTo>
                  <a:pt x="226048" y="386080"/>
                </a:lnTo>
                <a:lnTo>
                  <a:pt x="226568" y="398780"/>
                </a:lnTo>
                <a:lnTo>
                  <a:pt x="365240" y="398780"/>
                </a:lnTo>
                <a:lnTo>
                  <a:pt x="367761" y="402590"/>
                </a:lnTo>
                <a:lnTo>
                  <a:pt x="369142" y="407670"/>
                </a:lnTo>
                <a:close/>
              </a:path>
              <a:path w="424180" h="671830">
                <a:moveTo>
                  <a:pt x="153687" y="495300"/>
                </a:moveTo>
                <a:lnTo>
                  <a:pt x="125361" y="453390"/>
                </a:lnTo>
                <a:lnTo>
                  <a:pt x="124891" y="436880"/>
                </a:lnTo>
                <a:lnTo>
                  <a:pt x="126606" y="420370"/>
                </a:lnTo>
                <a:lnTo>
                  <a:pt x="126606" y="416560"/>
                </a:lnTo>
                <a:lnTo>
                  <a:pt x="154933" y="416560"/>
                </a:lnTo>
                <a:lnTo>
                  <a:pt x="162429" y="417830"/>
                </a:lnTo>
                <a:lnTo>
                  <a:pt x="169925" y="420370"/>
                </a:lnTo>
                <a:lnTo>
                  <a:pt x="370118" y="420370"/>
                </a:lnTo>
                <a:lnTo>
                  <a:pt x="306539" y="452120"/>
                </a:lnTo>
                <a:lnTo>
                  <a:pt x="292431" y="458470"/>
                </a:lnTo>
                <a:lnTo>
                  <a:pt x="283187" y="469900"/>
                </a:lnTo>
                <a:lnTo>
                  <a:pt x="236562" y="469900"/>
                </a:lnTo>
                <a:lnTo>
                  <a:pt x="229066" y="472440"/>
                </a:lnTo>
                <a:lnTo>
                  <a:pt x="214074" y="474980"/>
                </a:lnTo>
                <a:lnTo>
                  <a:pt x="206578" y="478790"/>
                </a:lnTo>
                <a:lnTo>
                  <a:pt x="198562" y="481330"/>
                </a:lnTo>
                <a:lnTo>
                  <a:pt x="181282" y="487680"/>
                </a:lnTo>
                <a:lnTo>
                  <a:pt x="173266" y="491490"/>
                </a:lnTo>
                <a:lnTo>
                  <a:pt x="163319" y="494030"/>
                </a:lnTo>
                <a:lnTo>
                  <a:pt x="153687" y="495300"/>
                </a:lnTo>
                <a:close/>
              </a:path>
              <a:path w="424180" h="671830">
                <a:moveTo>
                  <a:pt x="360679" y="610870"/>
                </a:moveTo>
                <a:lnTo>
                  <a:pt x="313207" y="610870"/>
                </a:lnTo>
                <a:lnTo>
                  <a:pt x="293217" y="557530"/>
                </a:lnTo>
                <a:lnTo>
                  <a:pt x="286550" y="553720"/>
                </a:lnTo>
                <a:lnTo>
                  <a:pt x="283209" y="553720"/>
                </a:lnTo>
                <a:lnTo>
                  <a:pt x="255774" y="548640"/>
                </a:lnTo>
                <a:lnTo>
                  <a:pt x="241146" y="537210"/>
                </a:lnTo>
                <a:lnTo>
                  <a:pt x="235888" y="516890"/>
                </a:lnTo>
                <a:lnTo>
                  <a:pt x="236437" y="488950"/>
                </a:lnTo>
                <a:lnTo>
                  <a:pt x="236562" y="469900"/>
                </a:lnTo>
                <a:lnTo>
                  <a:pt x="283187" y="469900"/>
                </a:lnTo>
                <a:lnTo>
                  <a:pt x="281133" y="472440"/>
                </a:lnTo>
                <a:lnTo>
                  <a:pt x="274207" y="488950"/>
                </a:lnTo>
                <a:lnTo>
                  <a:pt x="273215" y="509270"/>
                </a:lnTo>
                <a:lnTo>
                  <a:pt x="423619" y="509270"/>
                </a:lnTo>
                <a:lnTo>
                  <a:pt x="423470" y="511810"/>
                </a:lnTo>
                <a:lnTo>
                  <a:pt x="419823" y="521970"/>
                </a:lnTo>
                <a:lnTo>
                  <a:pt x="359017" y="521970"/>
                </a:lnTo>
                <a:lnTo>
                  <a:pt x="340796" y="527050"/>
                </a:lnTo>
                <a:lnTo>
                  <a:pt x="323202" y="535940"/>
                </a:lnTo>
                <a:lnTo>
                  <a:pt x="333768" y="558800"/>
                </a:lnTo>
                <a:lnTo>
                  <a:pt x="345273" y="581660"/>
                </a:lnTo>
                <a:lnTo>
                  <a:pt x="357404" y="604520"/>
                </a:lnTo>
                <a:lnTo>
                  <a:pt x="360679" y="610870"/>
                </a:lnTo>
                <a:close/>
              </a:path>
              <a:path w="424180" h="671830">
                <a:moveTo>
                  <a:pt x="423619" y="509270"/>
                </a:moveTo>
                <a:lnTo>
                  <a:pt x="283209" y="509270"/>
                </a:lnTo>
                <a:lnTo>
                  <a:pt x="286550" y="504190"/>
                </a:lnTo>
                <a:lnTo>
                  <a:pt x="309090" y="490220"/>
                </a:lnTo>
                <a:lnTo>
                  <a:pt x="331944" y="481330"/>
                </a:lnTo>
                <a:lnTo>
                  <a:pt x="355424" y="474980"/>
                </a:lnTo>
                <a:lnTo>
                  <a:pt x="379844" y="473710"/>
                </a:lnTo>
                <a:lnTo>
                  <a:pt x="389264" y="477520"/>
                </a:lnTo>
                <a:lnTo>
                  <a:pt x="397748" y="480060"/>
                </a:lnTo>
                <a:lnTo>
                  <a:pt x="405608" y="483870"/>
                </a:lnTo>
                <a:lnTo>
                  <a:pt x="413156" y="486410"/>
                </a:lnTo>
                <a:lnTo>
                  <a:pt x="420761" y="494030"/>
                </a:lnTo>
                <a:lnTo>
                  <a:pt x="423991" y="502920"/>
                </a:lnTo>
                <a:lnTo>
                  <a:pt x="423619" y="509270"/>
                </a:lnTo>
                <a:close/>
              </a:path>
              <a:path w="424180" h="671830">
                <a:moveTo>
                  <a:pt x="86626" y="671830"/>
                </a:moveTo>
                <a:lnTo>
                  <a:pt x="67782" y="666750"/>
                </a:lnTo>
                <a:lnTo>
                  <a:pt x="55808" y="655320"/>
                </a:lnTo>
                <a:lnTo>
                  <a:pt x="50081" y="637540"/>
                </a:lnTo>
                <a:lnTo>
                  <a:pt x="49974" y="614680"/>
                </a:lnTo>
                <a:lnTo>
                  <a:pt x="54453" y="590550"/>
                </a:lnTo>
                <a:lnTo>
                  <a:pt x="58305" y="566420"/>
                </a:lnTo>
                <a:lnTo>
                  <a:pt x="62158" y="539750"/>
                </a:lnTo>
                <a:lnTo>
                  <a:pt x="66636" y="513080"/>
                </a:lnTo>
                <a:lnTo>
                  <a:pt x="108454" y="513080"/>
                </a:lnTo>
                <a:lnTo>
                  <a:pt x="102036" y="558800"/>
                </a:lnTo>
                <a:lnTo>
                  <a:pt x="95531" y="609600"/>
                </a:lnTo>
                <a:lnTo>
                  <a:pt x="89966" y="659130"/>
                </a:lnTo>
                <a:lnTo>
                  <a:pt x="86626" y="662940"/>
                </a:lnTo>
                <a:lnTo>
                  <a:pt x="86626" y="671830"/>
                </a:lnTo>
                <a:close/>
              </a:path>
              <a:path w="424180" h="671830">
                <a:moveTo>
                  <a:pt x="411081" y="533400"/>
                </a:moveTo>
                <a:lnTo>
                  <a:pt x="405302" y="533400"/>
                </a:lnTo>
                <a:lnTo>
                  <a:pt x="399834" y="530860"/>
                </a:lnTo>
                <a:lnTo>
                  <a:pt x="378489" y="521970"/>
                </a:lnTo>
                <a:lnTo>
                  <a:pt x="419823" y="521970"/>
                </a:lnTo>
                <a:lnTo>
                  <a:pt x="416234" y="529590"/>
                </a:lnTo>
                <a:lnTo>
                  <a:pt x="411081" y="533400"/>
                </a:lnTo>
                <a:close/>
              </a:path>
              <a:path w="424180" h="671830">
                <a:moveTo>
                  <a:pt x="369849" y="668020"/>
                </a:moveTo>
                <a:lnTo>
                  <a:pt x="349859" y="668020"/>
                </a:lnTo>
                <a:lnTo>
                  <a:pt x="315030" y="656590"/>
                </a:lnTo>
                <a:lnTo>
                  <a:pt x="249120" y="624840"/>
                </a:lnTo>
                <a:lnTo>
                  <a:pt x="210434" y="591820"/>
                </a:lnTo>
                <a:lnTo>
                  <a:pt x="192733" y="571500"/>
                </a:lnTo>
                <a:lnTo>
                  <a:pt x="183260" y="561340"/>
                </a:lnTo>
                <a:lnTo>
                  <a:pt x="176593" y="553720"/>
                </a:lnTo>
                <a:lnTo>
                  <a:pt x="176593" y="527050"/>
                </a:lnTo>
                <a:lnTo>
                  <a:pt x="193255" y="527050"/>
                </a:lnTo>
                <a:lnTo>
                  <a:pt x="199910" y="535940"/>
                </a:lnTo>
                <a:lnTo>
                  <a:pt x="203250" y="544830"/>
                </a:lnTo>
                <a:lnTo>
                  <a:pt x="226417" y="570230"/>
                </a:lnTo>
                <a:lnTo>
                  <a:pt x="251147" y="590550"/>
                </a:lnTo>
                <a:lnTo>
                  <a:pt x="277751" y="603250"/>
                </a:lnTo>
                <a:lnTo>
                  <a:pt x="306539" y="610870"/>
                </a:lnTo>
                <a:lnTo>
                  <a:pt x="360679" y="610870"/>
                </a:lnTo>
                <a:lnTo>
                  <a:pt x="369849" y="628650"/>
                </a:lnTo>
                <a:lnTo>
                  <a:pt x="371721" y="636270"/>
                </a:lnTo>
                <a:lnTo>
                  <a:pt x="372344" y="645160"/>
                </a:lnTo>
                <a:lnTo>
                  <a:pt x="371721" y="655320"/>
                </a:lnTo>
                <a:lnTo>
                  <a:pt x="369849" y="662940"/>
                </a:lnTo>
                <a:lnTo>
                  <a:pt x="369849" y="66802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31734" y="2561132"/>
            <a:ext cx="50800" cy="189230"/>
          </a:xfrm>
          <a:custGeom>
            <a:avLst/>
            <a:gdLst/>
            <a:ahLst/>
            <a:cxnLst/>
            <a:rect l="l" t="t" r="r" b="b"/>
            <a:pathLst>
              <a:path w="50800" h="189230">
                <a:moveTo>
                  <a:pt x="29819" y="189001"/>
                </a:moveTo>
                <a:lnTo>
                  <a:pt x="22933" y="183165"/>
                </a:lnTo>
                <a:lnTo>
                  <a:pt x="16981" y="178565"/>
                </a:lnTo>
                <a:lnTo>
                  <a:pt x="11651" y="174788"/>
                </a:lnTo>
                <a:lnTo>
                  <a:pt x="6629" y="171424"/>
                </a:lnTo>
                <a:lnTo>
                  <a:pt x="0" y="162636"/>
                </a:lnTo>
                <a:lnTo>
                  <a:pt x="0" y="153835"/>
                </a:lnTo>
                <a:lnTo>
                  <a:pt x="7456" y="116818"/>
                </a:lnTo>
                <a:lnTo>
                  <a:pt x="14909" y="78565"/>
                </a:lnTo>
                <a:lnTo>
                  <a:pt x="22363" y="39488"/>
                </a:lnTo>
                <a:lnTo>
                  <a:pt x="29819" y="0"/>
                </a:lnTo>
                <a:lnTo>
                  <a:pt x="41776" y="10024"/>
                </a:lnTo>
                <a:lnTo>
                  <a:pt x="48453" y="20874"/>
                </a:lnTo>
                <a:lnTo>
                  <a:pt x="50782" y="33373"/>
                </a:lnTo>
                <a:lnTo>
                  <a:pt x="49695" y="48348"/>
                </a:lnTo>
                <a:lnTo>
                  <a:pt x="43332" y="82070"/>
                </a:lnTo>
                <a:lnTo>
                  <a:pt x="38519" y="117027"/>
                </a:lnTo>
                <a:lnTo>
                  <a:pt x="34325" y="152808"/>
                </a:lnTo>
                <a:lnTo>
                  <a:pt x="29819" y="189001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92399" y="3075546"/>
            <a:ext cx="182245" cy="324485"/>
          </a:xfrm>
          <a:custGeom>
            <a:avLst/>
            <a:gdLst/>
            <a:ahLst/>
            <a:cxnLst/>
            <a:rect l="l" t="t" r="r" b="b"/>
            <a:pathLst>
              <a:path w="182244" h="324485">
                <a:moveTo>
                  <a:pt x="20816" y="271181"/>
                </a:moveTo>
                <a:lnTo>
                  <a:pt x="16604" y="268511"/>
                </a:lnTo>
                <a:lnTo>
                  <a:pt x="12080" y="262966"/>
                </a:lnTo>
                <a:lnTo>
                  <a:pt x="2760" y="245369"/>
                </a:lnTo>
                <a:lnTo>
                  <a:pt x="0" y="230646"/>
                </a:lnTo>
                <a:lnTo>
                  <a:pt x="4112" y="216744"/>
                </a:lnTo>
                <a:lnTo>
                  <a:pt x="15408" y="201612"/>
                </a:lnTo>
                <a:lnTo>
                  <a:pt x="32888" y="179286"/>
                </a:lnTo>
                <a:lnTo>
                  <a:pt x="67859" y="136282"/>
                </a:lnTo>
                <a:lnTo>
                  <a:pt x="85347" y="113957"/>
                </a:lnTo>
                <a:lnTo>
                  <a:pt x="97262" y="96834"/>
                </a:lnTo>
                <a:lnTo>
                  <a:pt x="108240" y="78892"/>
                </a:lnTo>
                <a:lnTo>
                  <a:pt x="118592" y="60950"/>
                </a:lnTo>
                <a:lnTo>
                  <a:pt x="128628" y="43827"/>
                </a:lnTo>
                <a:lnTo>
                  <a:pt x="128628" y="39446"/>
                </a:lnTo>
                <a:lnTo>
                  <a:pt x="131968" y="30683"/>
                </a:lnTo>
                <a:lnTo>
                  <a:pt x="131968" y="26301"/>
                </a:lnTo>
                <a:lnTo>
                  <a:pt x="131235" y="16646"/>
                </a:lnTo>
                <a:lnTo>
                  <a:pt x="133629" y="8221"/>
                </a:lnTo>
                <a:lnTo>
                  <a:pt x="138523" y="2261"/>
                </a:lnTo>
                <a:lnTo>
                  <a:pt x="145291" y="0"/>
                </a:lnTo>
                <a:lnTo>
                  <a:pt x="152727" y="823"/>
                </a:lnTo>
                <a:lnTo>
                  <a:pt x="181914" y="48763"/>
                </a:lnTo>
                <a:lnTo>
                  <a:pt x="179416" y="70469"/>
                </a:lnTo>
                <a:lnTo>
                  <a:pt x="171923" y="87655"/>
                </a:lnTo>
                <a:lnTo>
                  <a:pt x="158915" y="107379"/>
                </a:lnTo>
                <a:lnTo>
                  <a:pt x="131653" y="146823"/>
                </a:lnTo>
                <a:lnTo>
                  <a:pt x="118646" y="166547"/>
                </a:lnTo>
                <a:lnTo>
                  <a:pt x="132075" y="197436"/>
                </a:lnTo>
                <a:lnTo>
                  <a:pt x="92211" y="197436"/>
                </a:lnTo>
                <a:lnTo>
                  <a:pt x="85347" y="201612"/>
                </a:lnTo>
                <a:lnTo>
                  <a:pt x="72332" y="217360"/>
                </a:lnTo>
                <a:lnTo>
                  <a:pt x="45065" y="247218"/>
                </a:lnTo>
                <a:lnTo>
                  <a:pt x="32057" y="262966"/>
                </a:lnTo>
                <a:lnTo>
                  <a:pt x="25655" y="269743"/>
                </a:lnTo>
                <a:lnTo>
                  <a:pt x="20816" y="271181"/>
                </a:lnTo>
                <a:close/>
              </a:path>
              <a:path w="182244" h="324485">
                <a:moveTo>
                  <a:pt x="145964" y="324467"/>
                </a:moveTo>
                <a:lnTo>
                  <a:pt x="137377" y="318849"/>
                </a:lnTo>
                <a:lnTo>
                  <a:pt x="131911" y="308302"/>
                </a:lnTo>
                <a:lnTo>
                  <a:pt x="128628" y="293649"/>
                </a:lnTo>
                <a:lnTo>
                  <a:pt x="123115" y="273240"/>
                </a:lnTo>
                <a:lnTo>
                  <a:pt x="110799" y="230646"/>
                </a:lnTo>
                <a:lnTo>
                  <a:pt x="105324" y="210375"/>
                </a:lnTo>
                <a:lnTo>
                  <a:pt x="102202" y="202228"/>
                </a:lnTo>
                <a:lnTo>
                  <a:pt x="97831" y="197778"/>
                </a:lnTo>
                <a:lnTo>
                  <a:pt x="92211" y="197436"/>
                </a:lnTo>
                <a:lnTo>
                  <a:pt x="132075" y="197436"/>
                </a:lnTo>
                <a:lnTo>
                  <a:pt x="134722" y="203526"/>
                </a:lnTo>
                <a:lnTo>
                  <a:pt x="147369" y="242149"/>
                </a:lnTo>
                <a:lnTo>
                  <a:pt x="155645" y="282417"/>
                </a:lnTo>
                <a:lnTo>
                  <a:pt x="158613" y="324332"/>
                </a:lnTo>
                <a:lnTo>
                  <a:pt x="145964" y="32446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395304" y="3078835"/>
            <a:ext cx="141827" cy="3200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21041" y="4686876"/>
            <a:ext cx="328930" cy="627380"/>
          </a:xfrm>
          <a:custGeom>
            <a:avLst/>
            <a:gdLst/>
            <a:ahLst/>
            <a:cxnLst/>
            <a:rect l="l" t="t" r="r" b="b"/>
            <a:pathLst>
              <a:path w="328930" h="627379">
                <a:moveTo>
                  <a:pt x="107945" y="87915"/>
                </a:moveTo>
                <a:lnTo>
                  <a:pt x="98678" y="83420"/>
                </a:lnTo>
                <a:lnTo>
                  <a:pt x="90741" y="75407"/>
                </a:lnTo>
                <a:lnTo>
                  <a:pt x="82888" y="58900"/>
                </a:lnTo>
                <a:lnTo>
                  <a:pt x="81260" y="46495"/>
                </a:lnTo>
                <a:lnTo>
                  <a:pt x="86748" y="37606"/>
                </a:lnTo>
                <a:lnTo>
                  <a:pt x="100241" y="31643"/>
                </a:lnTo>
                <a:lnTo>
                  <a:pt x="132338" y="17972"/>
                </a:lnTo>
                <a:lnTo>
                  <a:pt x="164880" y="6643"/>
                </a:lnTo>
                <a:lnTo>
                  <a:pt x="198314" y="0"/>
                </a:lnTo>
                <a:lnTo>
                  <a:pt x="233083" y="388"/>
                </a:lnTo>
                <a:lnTo>
                  <a:pt x="259106" y="6738"/>
                </a:lnTo>
                <a:lnTo>
                  <a:pt x="281125" y="23053"/>
                </a:lnTo>
                <a:lnTo>
                  <a:pt x="300475" y="45228"/>
                </a:lnTo>
                <a:lnTo>
                  <a:pt x="303415" y="49134"/>
                </a:lnTo>
                <a:lnTo>
                  <a:pt x="202764" y="49134"/>
                </a:lnTo>
                <a:lnTo>
                  <a:pt x="176742" y="54314"/>
                </a:lnTo>
                <a:lnTo>
                  <a:pt x="151611" y="65354"/>
                </a:lnTo>
                <a:lnTo>
                  <a:pt x="128701" y="81668"/>
                </a:lnTo>
                <a:lnTo>
                  <a:pt x="118100" y="87721"/>
                </a:lnTo>
                <a:lnTo>
                  <a:pt x="107945" y="87915"/>
                </a:lnTo>
                <a:close/>
              </a:path>
              <a:path w="328930" h="627379">
                <a:moveTo>
                  <a:pt x="249696" y="256712"/>
                </a:moveTo>
                <a:lnTo>
                  <a:pt x="171399" y="256712"/>
                </a:lnTo>
                <a:lnTo>
                  <a:pt x="188010" y="246557"/>
                </a:lnTo>
                <a:lnTo>
                  <a:pt x="196759" y="240012"/>
                </a:lnTo>
                <a:lnTo>
                  <a:pt x="204622" y="231706"/>
                </a:lnTo>
                <a:lnTo>
                  <a:pt x="261556" y="119171"/>
                </a:lnTo>
                <a:lnTo>
                  <a:pt x="267043" y="95240"/>
                </a:lnTo>
                <a:lnTo>
                  <a:pt x="262743" y="73065"/>
                </a:lnTo>
                <a:lnTo>
                  <a:pt x="249547" y="56751"/>
                </a:lnTo>
                <a:lnTo>
                  <a:pt x="228345" y="50401"/>
                </a:lnTo>
                <a:lnTo>
                  <a:pt x="202764" y="49134"/>
                </a:lnTo>
                <a:lnTo>
                  <a:pt x="303415" y="49134"/>
                </a:lnTo>
                <a:lnTo>
                  <a:pt x="318490" y="69159"/>
                </a:lnTo>
                <a:lnTo>
                  <a:pt x="327755" y="85277"/>
                </a:lnTo>
                <a:lnTo>
                  <a:pt x="328540" y="103640"/>
                </a:lnTo>
                <a:lnTo>
                  <a:pt x="328542" y="104425"/>
                </a:lnTo>
                <a:lnTo>
                  <a:pt x="323157" y="124544"/>
                </a:lnTo>
                <a:lnTo>
                  <a:pt x="313740" y="144177"/>
                </a:lnTo>
                <a:lnTo>
                  <a:pt x="249696" y="256712"/>
                </a:lnTo>
                <a:close/>
              </a:path>
              <a:path w="328930" h="627379">
                <a:moveTo>
                  <a:pt x="200532" y="156687"/>
                </a:moveTo>
                <a:lnTo>
                  <a:pt x="90741" y="156687"/>
                </a:lnTo>
                <a:lnTo>
                  <a:pt x="111205" y="151901"/>
                </a:lnTo>
                <a:lnTo>
                  <a:pt x="129889" y="146527"/>
                </a:lnTo>
                <a:lnTo>
                  <a:pt x="168287" y="124942"/>
                </a:lnTo>
                <a:lnTo>
                  <a:pt x="179323" y="104325"/>
                </a:lnTo>
                <a:lnTo>
                  <a:pt x="185635" y="94165"/>
                </a:lnTo>
                <a:lnTo>
                  <a:pt x="195122" y="81668"/>
                </a:lnTo>
                <a:lnTo>
                  <a:pt x="199872" y="81668"/>
                </a:lnTo>
                <a:lnTo>
                  <a:pt x="202618" y="87428"/>
                </a:lnTo>
                <a:lnTo>
                  <a:pt x="203973" y="94655"/>
                </a:lnTo>
                <a:lnTo>
                  <a:pt x="204046" y="95240"/>
                </a:lnTo>
                <a:lnTo>
                  <a:pt x="204548" y="103640"/>
                </a:lnTo>
                <a:lnTo>
                  <a:pt x="204498" y="115271"/>
                </a:lnTo>
                <a:lnTo>
                  <a:pt x="203880" y="126991"/>
                </a:lnTo>
                <a:lnTo>
                  <a:pt x="200614" y="155123"/>
                </a:lnTo>
                <a:lnTo>
                  <a:pt x="200532" y="156687"/>
                </a:lnTo>
                <a:close/>
              </a:path>
              <a:path w="328930" h="627379">
                <a:moveTo>
                  <a:pt x="105056" y="310441"/>
                </a:moveTo>
                <a:lnTo>
                  <a:pt x="67017" y="262961"/>
                </a:lnTo>
                <a:lnTo>
                  <a:pt x="53364" y="194102"/>
                </a:lnTo>
                <a:lnTo>
                  <a:pt x="43294" y="125432"/>
                </a:lnTo>
                <a:lnTo>
                  <a:pt x="42186" y="115172"/>
                </a:lnTo>
                <a:lnTo>
                  <a:pt x="45079" y="104325"/>
                </a:lnTo>
                <a:lnTo>
                  <a:pt x="50638" y="94655"/>
                </a:lnTo>
                <a:lnTo>
                  <a:pt x="57538" y="87913"/>
                </a:lnTo>
                <a:lnTo>
                  <a:pt x="67318" y="83811"/>
                </a:lnTo>
                <a:lnTo>
                  <a:pt x="75327" y="87916"/>
                </a:lnTo>
                <a:lnTo>
                  <a:pt x="81553" y="96707"/>
                </a:lnTo>
                <a:lnTo>
                  <a:pt x="86004" y="106674"/>
                </a:lnTo>
                <a:lnTo>
                  <a:pt x="86744" y="119764"/>
                </a:lnTo>
                <a:lnTo>
                  <a:pt x="90001" y="143597"/>
                </a:lnTo>
                <a:lnTo>
                  <a:pt x="90741" y="156687"/>
                </a:lnTo>
                <a:lnTo>
                  <a:pt x="200532" y="156687"/>
                </a:lnTo>
                <a:lnTo>
                  <a:pt x="199872" y="169184"/>
                </a:lnTo>
                <a:lnTo>
                  <a:pt x="152425" y="169184"/>
                </a:lnTo>
                <a:lnTo>
                  <a:pt x="135820" y="179349"/>
                </a:lnTo>
                <a:lnTo>
                  <a:pt x="127072" y="185891"/>
                </a:lnTo>
                <a:lnTo>
                  <a:pt x="119194" y="194196"/>
                </a:lnTo>
                <a:lnTo>
                  <a:pt x="112321" y="196340"/>
                </a:lnTo>
                <a:lnTo>
                  <a:pt x="106762" y="202008"/>
                </a:lnTo>
                <a:lnTo>
                  <a:pt x="103870" y="210022"/>
                </a:lnTo>
                <a:lnTo>
                  <a:pt x="104978" y="219209"/>
                </a:lnTo>
                <a:lnTo>
                  <a:pt x="106534" y="228584"/>
                </a:lnTo>
                <a:lnTo>
                  <a:pt x="110315" y="237961"/>
                </a:lnTo>
                <a:lnTo>
                  <a:pt x="114986" y="247338"/>
                </a:lnTo>
                <a:lnTo>
                  <a:pt x="119214" y="256712"/>
                </a:lnTo>
                <a:lnTo>
                  <a:pt x="249696" y="256712"/>
                </a:lnTo>
                <a:lnTo>
                  <a:pt x="231902" y="287980"/>
                </a:lnTo>
                <a:lnTo>
                  <a:pt x="171399" y="287980"/>
                </a:lnTo>
                <a:lnTo>
                  <a:pt x="167918" y="293740"/>
                </a:lnTo>
                <a:lnTo>
                  <a:pt x="165195" y="300476"/>
                </a:lnTo>
                <a:lnTo>
                  <a:pt x="133451" y="300476"/>
                </a:lnTo>
                <a:lnTo>
                  <a:pt x="105056" y="310441"/>
                </a:lnTo>
                <a:close/>
              </a:path>
              <a:path w="328930" h="627379">
                <a:moveTo>
                  <a:pt x="171399" y="256712"/>
                </a:moveTo>
                <a:lnTo>
                  <a:pt x="119214" y="256712"/>
                </a:lnTo>
                <a:lnTo>
                  <a:pt x="124252" y="255638"/>
                </a:lnTo>
                <a:lnTo>
                  <a:pt x="131071" y="252807"/>
                </a:lnTo>
                <a:lnTo>
                  <a:pt x="150052" y="212173"/>
                </a:lnTo>
                <a:lnTo>
                  <a:pt x="157175" y="175445"/>
                </a:lnTo>
                <a:lnTo>
                  <a:pt x="152425" y="169184"/>
                </a:lnTo>
                <a:lnTo>
                  <a:pt x="199872" y="169184"/>
                </a:lnTo>
                <a:lnTo>
                  <a:pt x="184673" y="180032"/>
                </a:lnTo>
                <a:lnTo>
                  <a:pt x="177928" y="199670"/>
                </a:lnTo>
                <a:lnTo>
                  <a:pt x="173853" y="222823"/>
                </a:lnTo>
                <a:lnTo>
                  <a:pt x="166662" y="244215"/>
                </a:lnTo>
                <a:lnTo>
                  <a:pt x="166662" y="250464"/>
                </a:lnTo>
                <a:lnTo>
                  <a:pt x="171399" y="250464"/>
                </a:lnTo>
                <a:lnTo>
                  <a:pt x="171399" y="256712"/>
                </a:lnTo>
                <a:close/>
              </a:path>
              <a:path w="328930" h="627379">
                <a:moveTo>
                  <a:pt x="213510" y="311421"/>
                </a:moveTo>
                <a:lnTo>
                  <a:pt x="204984" y="310051"/>
                </a:lnTo>
                <a:lnTo>
                  <a:pt x="195122" y="300476"/>
                </a:lnTo>
                <a:lnTo>
                  <a:pt x="190085" y="295888"/>
                </a:lnTo>
                <a:lnTo>
                  <a:pt x="183265" y="291885"/>
                </a:lnTo>
                <a:lnTo>
                  <a:pt x="176443" y="289053"/>
                </a:lnTo>
                <a:lnTo>
                  <a:pt x="171399" y="287980"/>
                </a:lnTo>
                <a:lnTo>
                  <a:pt x="231902" y="287980"/>
                </a:lnTo>
                <a:lnTo>
                  <a:pt x="228345" y="294228"/>
                </a:lnTo>
                <a:lnTo>
                  <a:pt x="221149" y="305756"/>
                </a:lnTo>
                <a:lnTo>
                  <a:pt x="213510" y="311421"/>
                </a:lnTo>
                <a:close/>
              </a:path>
              <a:path w="328930" h="627379">
                <a:moveTo>
                  <a:pt x="38557" y="469272"/>
                </a:moveTo>
                <a:lnTo>
                  <a:pt x="2149" y="451007"/>
                </a:lnTo>
                <a:lnTo>
                  <a:pt x="0" y="441923"/>
                </a:lnTo>
                <a:lnTo>
                  <a:pt x="4079" y="434009"/>
                </a:lnTo>
                <a:lnTo>
                  <a:pt x="14833" y="425508"/>
                </a:lnTo>
                <a:lnTo>
                  <a:pt x="42487" y="411447"/>
                </a:lnTo>
                <a:lnTo>
                  <a:pt x="68805" y="397382"/>
                </a:lnTo>
                <a:lnTo>
                  <a:pt x="119214" y="369247"/>
                </a:lnTo>
                <a:lnTo>
                  <a:pt x="123952" y="369247"/>
                </a:lnTo>
                <a:lnTo>
                  <a:pt x="128698" y="356745"/>
                </a:lnTo>
                <a:lnTo>
                  <a:pt x="128701" y="350489"/>
                </a:lnTo>
                <a:lnTo>
                  <a:pt x="131447" y="340040"/>
                </a:lnTo>
                <a:lnTo>
                  <a:pt x="132857" y="327831"/>
                </a:lnTo>
                <a:lnTo>
                  <a:pt x="133377" y="314447"/>
                </a:lnTo>
                <a:lnTo>
                  <a:pt x="133451" y="300476"/>
                </a:lnTo>
                <a:lnTo>
                  <a:pt x="165195" y="300476"/>
                </a:lnTo>
                <a:lnTo>
                  <a:pt x="164879" y="301259"/>
                </a:lnTo>
                <a:lnTo>
                  <a:pt x="162752" y="309855"/>
                </a:lnTo>
                <a:lnTo>
                  <a:pt x="162599" y="311421"/>
                </a:lnTo>
                <a:lnTo>
                  <a:pt x="159692" y="344438"/>
                </a:lnTo>
                <a:lnTo>
                  <a:pt x="161918" y="356745"/>
                </a:lnTo>
                <a:lnTo>
                  <a:pt x="171259" y="359673"/>
                </a:lnTo>
                <a:lnTo>
                  <a:pt x="245603" y="359673"/>
                </a:lnTo>
                <a:lnTo>
                  <a:pt x="247319" y="362998"/>
                </a:lnTo>
                <a:lnTo>
                  <a:pt x="249991" y="373350"/>
                </a:lnTo>
                <a:lnTo>
                  <a:pt x="250882" y="384876"/>
                </a:lnTo>
                <a:lnTo>
                  <a:pt x="249991" y="396404"/>
                </a:lnTo>
                <a:lnTo>
                  <a:pt x="247319" y="406763"/>
                </a:lnTo>
                <a:lnTo>
                  <a:pt x="242943" y="415061"/>
                </a:lnTo>
                <a:lnTo>
                  <a:pt x="237234" y="421604"/>
                </a:lnTo>
                <a:lnTo>
                  <a:pt x="232441" y="425508"/>
                </a:lnTo>
                <a:lnTo>
                  <a:pt x="123952" y="425508"/>
                </a:lnTo>
                <a:lnTo>
                  <a:pt x="116836" y="426584"/>
                </a:lnTo>
                <a:lnTo>
                  <a:pt x="109721" y="429419"/>
                </a:lnTo>
                <a:lnTo>
                  <a:pt x="102606" y="433427"/>
                </a:lnTo>
                <a:lnTo>
                  <a:pt x="95491" y="438017"/>
                </a:lnTo>
                <a:lnTo>
                  <a:pt x="81258" y="443780"/>
                </a:lnTo>
                <a:lnTo>
                  <a:pt x="67024" y="451302"/>
                </a:lnTo>
                <a:lnTo>
                  <a:pt x="52789" y="459995"/>
                </a:lnTo>
                <a:lnTo>
                  <a:pt x="38557" y="469272"/>
                </a:lnTo>
                <a:close/>
              </a:path>
              <a:path w="328930" h="627379">
                <a:moveTo>
                  <a:pt x="245603" y="359673"/>
                </a:moveTo>
                <a:lnTo>
                  <a:pt x="171259" y="359673"/>
                </a:lnTo>
                <a:lnTo>
                  <a:pt x="190385" y="356737"/>
                </a:lnTo>
                <a:lnTo>
                  <a:pt x="198243" y="352246"/>
                </a:lnTo>
                <a:lnTo>
                  <a:pt x="206990" y="348927"/>
                </a:lnTo>
                <a:lnTo>
                  <a:pt x="215738" y="347951"/>
                </a:lnTo>
                <a:lnTo>
                  <a:pt x="223596" y="350489"/>
                </a:lnTo>
                <a:lnTo>
                  <a:pt x="231305" y="351563"/>
                </a:lnTo>
                <a:lnTo>
                  <a:pt x="239015" y="354396"/>
                </a:lnTo>
                <a:lnTo>
                  <a:pt x="244947" y="358402"/>
                </a:lnTo>
                <a:lnTo>
                  <a:pt x="245603" y="359673"/>
                </a:lnTo>
                <a:close/>
              </a:path>
              <a:path w="328930" h="627379">
                <a:moveTo>
                  <a:pt x="105872" y="626840"/>
                </a:moveTo>
                <a:lnTo>
                  <a:pt x="94308" y="621664"/>
                </a:lnTo>
                <a:lnTo>
                  <a:pt x="84523" y="610628"/>
                </a:lnTo>
                <a:lnTo>
                  <a:pt x="76517" y="594316"/>
                </a:lnTo>
                <a:lnTo>
                  <a:pt x="71767" y="594316"/>
                </a:lnTo>
                <a:lnTo>
                  <a:pt x="71767" y="588055"/>
                </a:lnTo>
                <a:lnTo>
                  <a:pt x="67017" y="581807"/>
                </a:lnTo>
                <a:lnTo>
                  <a:pt x="56641" y="544978"/>
                </a:lnTo>
                <a:lnTo>
                  <a:pt x="55160" y="521631"/>
                </a:lnTo>
                <a:lnTo>
                  <a:pt x="64355" y="501804"/>
                </a:lnTo>
                <a:lnTo>
                  <a:pt x="86004" y="475533"/>
                </a:lnTo>
                <a:lnTo>
                  <a:pt x="95939" y="465175"/>
                </a:lnTo>
                <a:lnTo>
                  <a:pt x="114023" y="442120"/>
                </a:lnTo>
                <a:lnTo>
                  <a:pt x="123952" y="431769"/>
                </a:lnTo>
                <a:lnTo>
                  <a:pt x="123952" y="425508"/>
                </a:lnTo>
                <a:lnTo>
                  <a:pt x="232441" y="425508"/>
                </a:lnTo>
                <a:lnTo>
                  <a:pt x="230637" y="426978"/>
                </a:lnTo>
                <a:lnTo>
                  <a:pt x="223596" y="431769"/>
                </a:lnTo>
                <a:lnTo>
                  <a:pt x="208771" y="445152"/>
                </a:lnTo>
                <a:lnTo>
                  <a:pt x="193944" y="459120"/>
                </a:lnTo>
                <a:lnTo>
                  <a:pt x="180894" y="476605"/>
                </a:lnTo>
                <a:lnTo>
                  <a:pt x="171399" y="500539"/>
                </a:lnTo>
                <a:lnTo>
                  <a:pt x="209359" y="500539"/>
                </a:lnTo>
                <a:lnTo>
                  <a:pt x="229601" y="503957"/>
                </a:lnTo>
                <a:lnTo>
                  <a:pt x="246727" y="513820"/>
                </a:lnTo>
                <a:lnTo>
                  <a:pt x="259403" y="529547"/>
                </a:lnTo>
                <a:lnTo>
                  <a:pt x="266293" y="550552"/>
                </a:lnTo>
                <a:lnTo>
                  <a:pt x="266518" y="569014"/>
                </a:lnTo>
                <a:lnTo>
                  <a:pt x="260959" y="585717"/>
                </a:lnTo>
                <a:lnTo>
                  <a:pt x="250952" y="598903"/>
                </a:lnTo>
                <a:lnTo>
                  <a:pt x="237832" y="606813"/>
                </a:lnTo>
                <a:lnTo>
                  <a:pt x="150423" y="620884"/>
                </a:lnTo>
                <a:lnTo>
                  <a:pt x="119214" y="625571"/>
                </a:lnTo>
                <a:lnTo>
                  <a:pt x="105872" y="62684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71485" y="4708097"/>
            <a:ext cx="178435" cy="610870"/>
          </a:xfrm>
          <a:custGeom>
            <a:avLst/>
            <a:gdLst/>
            <a:ahLst/>
            <a:cxnLst/>
            <a:rect l="l" t="t" r="r" b="b"/>
            <a:pathLst>
              <a:path w="178434" h="610870">
                <a:moveTo>
                  <a:pt x="41268" y="99221"/>
                </a:moveTo>
                <a:lnTo>
                  <a:pt x="30657" y="98927"/>
                </a:lnTo>
                <a:lnTo>
                  <a:pt x="20046" y="97460"/>
                </a:lnTo>
                <a:lnTo>
                  <a:pt x="9436" y="96579"/>
                </a:lnTo>
                <a:lnTo>
                  <a:pt x="5968" y="90896"/>
                </a:lnTo>
                <a:lnTo>
                  <a:pt x="2946" y="84038"/>
                </a:lnTo>
                <a:lnTo>
                  <a:pt x="810" y="77180"/>
                </a:lnTo>
                <a:lnTo>
                  <a:pt x="0" y="71497"/>
                </a:lnTo>
                <a:lnTo>
                  <a:pt x="9436" y="58962"/>
                </a:lnTo>
                <a:lnTo>
                  <a:pt x="14147" y="58962"/>
                </a:lnTo>
                <a:lnTo>
                  <a:pt x="29037" y="51617"/>
                </a:lnTo>
                <a:lnTo>
                  <a:pt x="44810" y="47210"/>
                </a:lnTo>
                <a:lnTo>
                  <a:pt x="60580" y="43976"/>
                </a:lnTo>
                <a:lnTo>
                  <a:pt x="75463" y="40153"/>
                </a:lnTo>
                <a:lnTo>
                  <a:pt x="86149" y="30850"/>
                </a:lnTo>
                <a:lnTo>
                  <a:pt x="97280" y="22133"/>
                </a:lnTo>
                <a:lnTo>
                  <a:pt x="109294" y="14591"/>
                </a:lnTo>
                <a:lnTo>
                  <a:pt x="122631" y="8810"/>
                </a:lnTo>
                <a:lnTo>
                  <a:pt x="131033" y="4308"/>
                </a:lnTo>
                <a:lnTo>
                  <a:pt x="140317" y="978"/>
                </a:lnTo>
                <a:lnTo>
                  <a:pt x="147832" y="0"/>
                </a:lnTo>
                <a:lnTo>
                  <a:pt x="150926" y="2548"/>
                </a:lnTo>
                <a:lnTo>
                  <a:pt x="157120" y="13028"/>
                </a:lnTo>
                <a:lnTo>
                  <a:pt x="161545" y="25270"/>
                </a:lnTo>
                <a:lnTo>
                  <a:pt x="164201" y="38687"/>
                </a:lnTo>
                <a:lnTo>
                  <a:pt x="165087" y="52688"/>
                </a:lnTo>
                <a:lnTo>
                  <a:pt x="169798" y="52688"/>
                </a:lnTo>
                <a:lnTo>
                  <a:pt x="160362" y="65236"/>
                </a:lnTo>
                <a:lnTo>
                  <a:pt x="157455" y="71497"/>
                </a:lnTo>
                <a:lnTo>
                  <a:pt x="108483" y="71497"/>
                </a:lnTo>
                <a:lnTo>
                  <a:pt x="94331" y="77180"/>
                </a:lnTo>
                <a:lnTo>
                  <a:pt x="66031" y="90896"/>
                </a:lnTo>
                <a:lnTo>
                  <a:pt x="51879" y="96579"/>
                </a:lnTo>
                <a:lnTo>
                  <a:pt x="41268" y="99221"/>
                </a:lnTo>
                <a:close/>
              </a:path>
              <a:path w="178434" h="610870">
                <a:moveTo>
                  <a:pt x="127455" y="235758"/>
                </a:moveTo>
                <a:lnTo>
                  <a:pt x="70311" y="235758"/>
                </a:lnTo>
                <a:lnTo>
                  <a:pt x="77828" y="230566"/>
                </a:lnTo>
                <a:lnTo>
                  <a:pt x="81807" y="219499"/>
                </a:lnTo>
                <a:lnTo>
                  <a:pt x="84899" y="203145"/>
                </a:lnTo>
                <a:lnTo>
                  <a:pt x="89245" y="171116"/>
                </a:lnTo>
                <a:lnTo>
                  <a:pt x="94919" y="139674"/>
                </a:lnTo>
                <a:lnTo>
                  <a:pt x="101480" y="107054"/>
                </a:lnTo>
                <a:lnTo>
                  <a:pt x="108483" y="71497"/>
                </a:lnTo>
                <a:lnTo>
                  <a:pt x="157455" y="71497"/>
                </a:lnTo>
                <a:lnTo>
                  <a:pt x="141943" y="104899"/>
                </a:lnTo>
                <a:lnTo>
                  <a:pt x="133248" y="147505"/>
                </a:lnTo>
                <a:lnTo>
                  <a:pt x="129859" y="191289"/>
                </a:lnTo>
                <a:lnTo>
                  <a:pt x="127355" y="234489"/>
                </a:lnTo>
                <a:lnTo>
                  <a:pt x="127455" y="235758"/>
                </a:lnTo>
                <a:close/>
              </a:path>
              <a:path w="178434" h="610870">
                <a:moveTo>
                  <a:pt x="177805" y="272093"/>
                </a:moveTo>
                <a:lnTo>
                  <a:pt x="141503" y="272093"/>
                </a:lnTo>
                <a:lnTo>
                  <a:pt x="148573" y="257891"/>
                </a:lnTo>
                <a:lnTo>
                  <a:pt x="155646" y="243102"/>
                </a:lnTo>
                <a:lnTo>
                  <a:pt x="162722" y="227138"/>
                </a:lnTo>
                <a:lnTo>
                  <a:pt x="169798" y="209406"/>
                </a:lnTo>
                <a:lnTo>
                  <a:pt x="173849" y="236639"/>
                </a:lnTo>
                <a:lnTo>
                  <a:pt x="177460" y="262692"/>
                </a:lnTo>
                <a:lnTo>
                  <a:pt x="177805" y="272093"/>
                </a:lnTo>
                <a:close/>
              </a:path>
              <a:path w="178434" h="610870">
                <a:moveTo>
                  <a:pt x="99047" y="610599"/>
                </a:moveTo>
                <a:lnTo>
                  <a:pt x="88510" y="606881"/>
                </a:lnTo>
                <a:lnTo>
                  <a:pt x="78414" y="604336"/>
                </a:lnTo>
                <a:lnTo>
                  <a:pt x="69202" y="601789"/>
                </a:lnTo>
                <a:lnTo>
                  <a:pt x="61315" y="598064"/>
                </a:lnTo>
                <a:lnTo>
                  <a:pt x="42155" y="585332"/>
                </a:lnTo>
                <a:lnTo>
                  <a:pt x="28300" y="566722"/>
                </a:lnTo>
                <a:lnTo>
                  <a:pt x="21519" y="543409"/>
                </a:lnTo>
                <a:lnTo>
                  <a:pt x="23583" y="516568"/>
                </a:lnTo>
                <a:lnTo>
                  <a:pt x="51879" y="384933"/>
                </a:lnTo>
                <a:lnTo>
                  <a:pt x="57704" y="355742"/>
                </a:lnTo>
                <a:lnTo>
                  <a:pt x="59550" y="325378"/>
                </a:lnTo>
                <a:lnTo>
                  <a:pt x="55204" y="295016"/>
                </a:lnTo>
                <a:lnTo>
                  <a:pt x="42456" y="265832"/>
                </a:lnTo>
                <a:lnTo>
                  <a:pt x="38696" y="250353"/>
                </a:lnTo>
                <a:lnTo>
                  <a:pt x="40686" y="240754"/>
                </a:lnTo>
                <a:lnTo>
                  <a:pt x="47097" y="235859"/>
                </a:lnTo>
                <a:lnTo>
                  <a:pt x="56603" y="234489"/>
                </a:lnTo>
                <a:lnTo>
                  <a:pt x="70311" y="235758"/>
                </a:lnTo>
                <a:lnTo>
                  <a:pt x="127455" y="235758"/>
                </a:lnTo>
                <a:lnTo>
                  <a:pt x="128091" y="243890"/>
                </a:lnTo>
                <a:lnTo>
                  <a:pt x="131331" y="262694"/>
                </a:lnTo>
                <a:lnTo>
                  <a:pt x="132067" y="272093"/>
                </a:lnTo>
                <a:lnTo>
                  <a:pt x="177805" y="272093"/>
                </a:lnTo>
                <a:lnTo>
                  <a:pt x="178417" y="288746"/>
                </a:lnTo>
                <a:lnTo>
                  <a:pt x="174510" y="315972"/>
                </a:lnTo>
                <a:lnTo>
                  <a:pt x="160364" y="363967"/>
                </a:lnTo>
                <a:lnTo>
                  <a:pt x="132066" y="462311"/>
                </a:lnTo>
                <a:lnTo>
                  <a:pt x="117919" y="510307"/>
                </a:lnTo>
                <a:lnTo>
                  <a:pt x="112316" y="533913"/>
                </a:lnTo>
                <a:lnTo>
                  <a:pt x="108483" y="558105"/>
                </a:lnTo>
                <a:lnTo>
                  <a:pt x="104649" y="583472"/>
                </a:lnTo>
                <a:lnTo>
                  <a:pt x="99047" y="6105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6615" y="515112"/>
            <a:ext cx="1722120" cy="504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195995" y="1355991"/>
            <a:ext cx="0" cy="4590415"/>
          </a:xfrm>
          <a:custGeom>
            <a:avLst/>
            <a:gdLst/>
            <a:ahLst/>
            <a:cxnLst/>
            <a:rect l="l" t="t" r="r" b="b"/>
            <a:pathLst>
              <a:path w="0" h="4590415">
                <a:moveTo>
                  <a:pt x="0" y="0"/>
                </a:moveTo>
                <a:lnTo>
                  <a:pt x="0" y="458984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41905" y="1400594"/>
            <a:ext cx="0" cy="4545330"/>
          </a:xfrm>
          <a:custGeom>
            <a:avLst/>
            <a:gdLst/>
            <a:ahLst/>
            <a:cxnLst/>
            <a:rect l="l" t="t" r="r" b="b"/>
            <a:pathLst>
              <a:path w="0" h="4545330">
                <a:moveTo>
                  <a:pt x="0" y="0"/>
                </a:moveTo>
                <a:lnTo>
                  <a:pt x="0" y="454524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740647" y="1774507"/>
            <a:ext cx="285115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b="1">
                <a:latin typeface="宋体"/>
                <a:cs typeface="宋体"/>
              </a:rPr>
              <a:t>第</a:t>
            </a:r>
            <a:r>
              <a:rPr dirty="0" sz="4500" b="1">
                <a:latin typeface="Georgia"/>
                <a:cs typeface="Georgia"/>
              </a:rPr>
              <a:t>8</a:t>
            </a:r>
            <a:r>
              <a:rPr dirty="0" sz="4500" spc="-20" b="1">
                <a:latin typeface="宋体"/>
                <a:cs typeface="宋体"/>
              </a:rPr>
              <a:t>章</a:t>
            </a:r>
            <a:r>
              <a:rPr dirty="0" sz="4500" spc="-1190" b="1">
                <a:latin typeface="宋体"/>
                <a:cs typeface="宋体"/>
              </a:rPr>
              <a:t> </a:t>
            </a:r>
            <a:r>
              <a:rPr dirty="0" sz="4500" b="1">
                <a:latin typeface="宋体"/>
                <a:cs typeface="宋体"/>
              </a:rPr>
              <a:t>集</a:t>
            </a:r>
            <a:r>
              <a:rPr dirty="0" sz="4500" spc="-20" b="1">
                <a:latin typeface="宋体"/>
                <a:cs typeface="宋体"/>
              </a:rPr>
              <a:t>合</a:t>
            </a:r>
            <a:endParaRPr sz="45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61907" y="3865397"/>
            <a:ext cx="5465445" cy="0"/>
          </a:xfrm>
          <a:custGeom>
            <a:avLst/>
            <a:gdLst/>
            <a:ahLst/>
            <a:cxnLst/>
            <a:rect l="l" t="t" r="r" b="b"/>
            <a:pathLst>
              <a:path w="5465445" h="0">
                <a:moveTo>
                  <a:pt x="0" y="0"/>
                </a:moveTo>
                <a:lnTo>
                  <a:pt x="546533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652" y="384670"/>
            <a:ext cx="3321685" cy="4551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宋体"/>
                <a:cs typeface="宋体"/>
              </a:rPr>
              <a:t>本章知识</a:t>
            </a:r>
            <a:r>
              <a:rPr dirty="0" sz="2100" spc="-10" b="1">
                <a:latin typeface="宋体"/>
                <a:cs typeface="宋体"/>
              </a:rPr>
              <a:t>点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>
              <a:latin typeface="宋体"/>
              <a:cs typeface="宋体"/>
            </a:endParaRPr>
          </a:p>
          <a:p>
            <a:pPr marL="198120" indent="-172085">
              <a:lnSpc>
                <a:spcPts val="3229"/>
              </a:lnSpc>
              <a:spcBef>
                <a:spcPts val="5"/>
              </a:spcBef>
              <a:buFont typeface="Arial"/>
              <a:buChar char="•"/>
              <a:tabLst>
                <a:tab pos="198755" algn="l"/>
              </a:tabLst>
            </a:pPr>
            <a:r>
              <a:rPr dirty="0" sz="2800" spc="-5">
                <a:latin typeface="Georgia"/>
                <a:cs typeface="Georgia"/>
              </a:rPr>
              <a:t>Java</a:t>
            </a:r>
            <a:r>
              <a:rPr dirty="0" sz="2800">
                <a:latin typeface="宋体"/>
                <a:cs typeface="宋体"/>
              </a:rPr>
              <a:t>集合框</a:t>
            </a:r>
            <a:r>
              <a:rPr dirty="0" sz="2800" spc="-5">
                <a:latin typeface="宋体"/>
                <a:cs typeface="宋体"/>
              </a:rPr>
              <a:t>架</a:t>
            </a:r>
            <a:endParaRPr sz="2800">
              <a:latin typeface="宋体"/>
              <a:cs typeface="宋体"/>
            </a:endParaRPr>
          </a:p>
          <a:p>
            <a:pPr marL="198120" indent="-172085">
              <a:lnSpc>
                <a:spcPts val="2980"/>
              </a:lnSpc>
              <a:buFont typeface="Arial"/>
              <a:buChar char="•"/>
              <a:tabLst>
                <a:tab pos="198755" algn="l"/>
              </a:tabLst>
            </a:pPr>
            <a:r>
              <a:rPr dirty="0" sz="2800" spc="-5">
                <a:latin typeface="Georgia"/>
                <a:cs typeface="Georgia"/>
              </a:rPr>
              <a:t>List</a:t>
            </a:r>
            <a:endParaRPr sz="2800">
              <a:latin typeface="Georgia"/>
              <a:cs typeface="Georgia"/>
            </a:endParaRPr>
          </a:p>
          <a:p>
            <a:pPr lvl="1" marL="541020" indent="-172085">
              <a:lnSpc>
                <a:spcPts val="2385"/>
              </a:lnSpc>
              <a:buFont typeface="Arial"/>
              <a:buChar char="•"/>
              <a:tabLst>
                <a:tab pos="541655" algn="l"/>
              </a:tabLst>
            </a:pPr>
            <a:r>
              <a:rPr dirty="0" sz="2400" spc="-5">
                <a:latin typeface="Georgia"/>
                <a:cs typeface="Georgia"/>
              </a:rPr>
              <a:t>ArrayList</a:t>
            </a:r>
            <a:endParaRPr sz="2400">
              <a:latin typeface="Georgia"/>
              <a:cs typeface="Georgia"/>
            </a:endParaRPr>
          </a:p>
          <a:p>
            <a:pPr lvl="1" marL="541020" indent="-172085">
              <a:lnSpc>
                <a:spcPts val="2505"/>
              </a:lnSpc>
              <a:buFont typeface="Arial"/>
              <a:buChar char="•"/>
              <a:tabLst>
                <a:tab pos="541655" algn="l"/>
              </a:tabLst>
            </a:pPr>
            <a:r>
              <a:rPr dirty="0" sz="2400" spc="-5">
                <a:latin typeface="Georgia"/>
                <a:cs typeface="Georgia"/>
              </a:rPr>
              <a:t>LinkedList</a:t>
            </a:r>
            <a:endParaRPr sz="2400">
              <a:latin typeface="Georgia"/>
              <a:cs typeface="Georgia"/>
            </a:endParaRPr>
          </a:p>
          <a:p>
            <a:pPr marL="198120" indent="-172085">
              <a:lnSpc>
                <a:spcPts val="2985"/>
              </a:lnSpc>
              <a:buFont typeface="Arial"/>
              <a:buChar char="•"/>
              <a:tabLst>
                <a:tab pos="198755" algn="l"/>
              </a:tabLst>
            </a:pPr>
            <a:r>
              <a:rPr dirty="0" sz="2800" spc="-5">
                <a:latin typeface="Georgia"/>
                <a:cs typeface="Georgia"/>
              </a:rPr>
              <a:t>Set</a:t>
            </a:r>
            <a:endParaRPr sz="2800">
              <a:latin typeface="Georgia"/>
              <a:cs typeface="Georgia"/>
            </a:endParaRPr>
          </a:p>
          <a:p>
            <a:pPr lvl="1" marL="541020" indent="-172085">
              <a:lnSpc>
                <a:spcPts val="2390"/>
              </a:lnSpc>
              <a:buFont typeface="Arial"/>
              <a:buChar char="•"/>
              <a:tabLst>
                <a:tab pos="541655" algn="l"/>
              </a:tabLst>
            </a:pPr>
            <a:r>
              <a:rPr dirty="0" sz="2400" spc="-5">
                <a:latin typeface="Georgia"/>
                <a:cs typeface="Georgia"/>
              </a:rPr>
              <a:t>HashSet</a:t>
            </a:r>
            <a:endParaRPr sz="2400">
              <a:latin typeface="Georgia"/>
              <a:cs typeface="Georgia"/>
            </a:endParaRPr>
          </a:p>
          <a:p>
            <a:pPr lvl="1" marL="541020" indent="-172085">
              <a:lnSpc>
                <a:spcPts val="2505"/>
              </a:lnSpc>
              <a:buFont typeface="Arial"/>
              <a:buChar char="•"/>
              <a:tabLst>
                <a:tab pos="541655" algn="l"/>
              </a:tabLst>
            </a:pPr>
            <a:r>
              <a:rPr dirty="0" sz="2400" spc="-5">
                <a:latin typeface="Georgia"/>
                <a:cs typeface="Georgia"/>
              </a:rPr>
              <a:t>TreeSet</a:t>
            </a:r>
            <a:endParaRPr sz="2400">
              <a:latin typeface="Georgia"/>
              <a:cs typeface="Georgia"/>
            </a:endParaRPr>
          </a:p>
          <a:p>
            <a:pPr marL="198120" indent="-172085">
              <a:lnSpc>
                <a:spcPts val="2985"/>
              </a:lnSpc>
              <a:buFont typeface="Arial"/>
              <a:buChar char="•"/>
              <a:tabLst>
                <a:tab pos="198755" algn="l"/>
              </a:tabLst>
            </a:pPr>
            <a:r>
              <a:rPr dirty="0" sz="2800" spc="-5">
                <a:latin typeface="Georgia"/>
                <a:cs typeface="Georgia"/>
              </a:rPr>
              <a:t>Map</a:t>
            </a:r>
            <a:endParaRPr sz="2800">
              <a:latin typeface="Georgia"/>
              <a:cs typeface="Georgia"/>
            </a:endParaRPr>
          </a:p>
          <a:p>
            <a:pPr lvl="1" marL="541020" indent="-172085">
              <a:lnSpc>
                <a:spcPts val="2505"/>
              </a:lnSpc>
              <a:buFont typeface="Arial"/>
              <a:buChar char="•"/>
              <a:tabLst>
                <a:tab pos="541655" algn="l"/>
              </a:tabLst>
            </a:pPr>
            <a:r>
              <a:rPr dirty="0" sz="2400" spc="-5">
                <a:latin typeface="Georgia"/>
                <a:cs typeface="Georgia"/>
              </a:rPr>
              <a:t>HashMap</a:t>
            </a:r>
            <a:endParaRPr sz="2400">
              <a:latin typeface="Georgia"/>
              <a:cs typeface="Georgia"/>
            </a:endParaRPr>
          </a:p>
          <a:p>
            <a:pPr marL="198120" indent="-172085">
              <a:lnSpc>
                <a:spcPts val="3229"/>
              </a:lnSpc>
              <a:buFont typeface="Arial"/>
              <a:buChar char="•"/>
              <a:tabLst>
                <a:tab pos="198755" algn="l"/>
              </a:tabLst>
            </a:pPr>
            <a:r>
              <a:rPr dirty="0" sz="2800">
                <a:latin typeface="宋体"/>
                <a:cs typeface="宋体"/>
              </a:rPr>
              <a:t>泛型和</a:t>
            </a:r>
            <a:r>
              <a:rPr dirty="0" sz="2800" spc="-5">
                <a:latin typeface="Georgia"/>
                <a:cs typeface="Georgia"/>
              </a:rPr>
              <a:t>lam</a:t>
            </a:r>
            <a:r>
              <a:rPr dirty="0" sz="2800">
                <a:latin typeface="Georgia"/>
                <a:cs typeface="Georgia"/>
              </a:rPr>
              <a:t>d</a:t>
            </a:r>
            <a:r>
              <a:rPr dirty="0" sz="2800" spc="-5">
                <a:latin typeface="Georgia"/>
                <a:cs typeface="Georgia"/>
              </a:rPr>
              <a:t>a</a:t>
            </a:r>
            <a:r>
              <a:rPr dirty="0" sz="2800">
                <a:latin typeface="宋体"/>
                <a:cs typeface="宋体"/>
              </a:rPr>
              <a:t>表达</a:t>
            </a:r>
            <a:r>
              <a:rPr dirty="0" sz="2800" spc="-5"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535" y="2126615"/>
            <a:ext cx="7023100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239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Java</a:t>
            </a:r>
            <a:r>
              <a:rPr dirty="0" sz="2100">
                <a:latin typeface="宋体"/>
                <a:cs typeface="宋体"/>
              </a:rPr>
              <a:t>为程序设计者封装了很多数据结构，它们位于</a:t>
            </a:r>
            <a:r>
              <a:rPr dirty="0" sz="2100" spc="-5">
                <a:latin typeface="Georgia"/>
                <a:cs typeface="Georgia"/>
              </a:rPr>
              <a:t>java.util</a:t>
            </a:r>
            <a:endParaRPr sz="2100">
              <a:latin typeface="Georgia"/>
              <a:cs typeface="Georgia"/>
            </a:endParaRPr>
          </a:p>
          <a:p>
            <a:pPr marL="184150">
              <a:lnSpc>
                <a:spcPts val="2390"/>
              </a:lnSpc>
            </a:pPr>
            <a:r>
              <a:rPr dirty="0" sz="2100">
                <a:latin typeface="宋体"/>
                <a:cs typeface="宋体"/>
              </a:rPr>
              <a:t>包下，称作</a:t>
            </a:r>
            <a:r>
              <a:rPr dirty="0" sz="2100" spc="-5">
                <a:latin typeface="Georgia"/>
                <a:cs typeface="Georgia"/>
              </a:rPr>
              <a:t>Java</a:t>
            </a:r>
            <a:r>
              <a:rPr dirty="0" sz="2100">
                <a:latin typeface="宋体"/>
                <a:cs typeface="宋体"/>
              </a:rPr>
              <a:t>的</a:t>
            </a:r>
            <a:r>
              <a:rPr dirty="0" sz="2100">
                <a:solidFill>
                  <a:srgbClr val="C00000"/>
                </a:solidFill>
                <a:latin typeface="宋体"/>
                <a:cs typeface="宋体"/>
              </a:rPr>
              <a:t>集合类</a:t>
            </a:r>
            <a:r>
              <a:rPr dirty="0" sz="2100">
                <a:latin typeface="宋体"/>
                <a:cs typeface="宋体"/>
              </a:rPr>
              <a:t>，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宋体"/>
                <a:cs typeface="宋体"/>
              </a:rPr>
              <a:t>常用的各种数据结构</a:t>
            </a:r>
            <a:r>
              <a:rPr dirty="0" sz="2100" spc="-5">
                <a:latin typeface="宋体"/>
                <a:cs typeface="宋体"/>
              </a:rPr>
              <a:t>：</a:t>
            </a:r>
            <a:r>
              <a:rPr dirty="0" sz="2100" spc="-5">
                <a:latin typeface="Georgia"/>
                <a:cs typeface="Georgia"/>
              </a:rPr>
              <a:t>List</a:t>
            </a:r>
            <a:r>
              <a:rPr dirty="0" sz="2100">
                <a:latin typeface="宋体"/>
                <a:cs typeface="宋体"/>
              </a:rPr>
              <a:t>表、</a:t>
            </a:r>
            <a:r>
              <a:rPr dirty="0" sz="2100" spc="-5">
                <a:latin typeface="Georgia"/>
                <a:cs typeface="Georgia"/>
              </a:rPr>
              <a:t>Set</a:t>
            </a:r>
            <a:r>
              <a:rPr dirty="0" sz="2100">
                <a:latin typeface="宋体"/>
                <a:cs typeface="宋体"/>
              </a:rPr>
              <a:t>集合、</a:t>
            </a:r>
            <a:r>
              <a:rPr dirty="0" sz="2100" spc="-5">
                <a:latin typeface="Georgia"/>
                <a:cs typeface="Georgia"/>
              </a:rPr>
              <a:t>Map</a:t>
            </a:r>
            <a:r>
              <a:rPr dirty="0" sz="2100">
                <a:latin typeface="宋体"/>
                <a:cs typeface="宋体"/>
              </a:rPr>
              <a:t>映射等。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17233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J</a:t>
            </a:r>
            <a:r>
              <a:rPr dirty="0" sz="2100" spc="-5" b="1">
                <a:latin typeface="Georgia"/>
                <a:cs typeface="Georgia"/>
              </a:rPr>
              <a:t>ava</a:t>
            </a:r>
            <a:r>
              <a:rPr dirty="0" sz="2100" b="1">
                <a:latin typeface="宋体"/>
                <a:cs typeface="宋体"/>
              </a:rPr>
              <a:t>中的集</a:t>
            </a:r>
            <a:r>
              <a:rPr dirty="0" sz="2100" spc="-10" b="1">
                <a:latin typeface="宋体"/>
                <a:cs typeface="宋体"/>
              </a:rPr>
              <a:t>合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317" y="380225"/>
            <a:ext cx="27940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73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.1	J</a:t>
            </a:r>
            <a:r>
              <a:rPr dirty="0" sz="2100" spc="-5" b="1">
                <a:latin typeface="Georgia"/>
                <a:cs typeface="Georgia"/>
              </a:rPr>
              <a:t>ava</a:t>
            </a:r>
            <a:r>
              <a:rPr dirty="0" sz="2100" b="1">
                <a:latin typeface="宋体"/>
                <a:cs typeface="宋体"/>
              </a:rPr>
              <a:t>中的集合框</a:t>
            </a:r>
            <a:r>
              <a:rPr dirty="0" sz="2100" spc="-10" b="1">
                <a:latin typeface="宋体"/>
                <a:cs typeface="宋体"/>
              </a:rPr>
              <a:t>架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5104"/>
            <a:ext cx="61931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Java</a:t>
            </a:r>
            <a:r>
              <a:rPr dirty="0" sz="2100">
                <a:latin typeface="宋体"/>
                <a:cs typeface="宋体"/>
              </a:rPr>
              <a:t>集合框架的根是两个接口</a:t>
            </a:r>
            <a:r>
              <a:rPr dirty="0" sz="2100" spc="-5">
                <a:latin typeface="宋体"/>
                <a:cs typeface="宋体"/>
              </a:rPr>
              <a:t>：</a:t>
            </a:r>
            <a:r>
              <a:rPr dirty="0" sz="2100" spc="-5">
                <a:latin typeface="Georgia"/>
                <a:cs typeface="Georgia"/>
              </a:rPr>
              <a:t>Collection</a:t>
            </a:r>
            <a:r>
              <a:rPr dirty="0" sz="2100">
                <a:latin typeface="宋体"/>
                <a:cs typeface="宋体"/>
              </a:rPr>
              <a:t>和</a:t>
            </a:r>
            <a:r>
              <a:rPr dirty="0" sz="2100" spc="-5">
                <a:latin typeface="Georgia"/>
                <a:cs typeface="Georgia"/>
              </a:rPr>
              <a:t>Map</a:t>
            </a:r>
            <a:r>
              <a:rPr dirty="0" sz="2100">
                <a:latin typeface="宋体"/>
                <a:cs typeface="宋体"/>
              </a:rPr>
              <a:t>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31889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17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.1.1	</a:t>
            </a:r>
            <a:r>
              <a:rPr dirty="0" sz="2100" b="1">
                <a:latin typeface="宋体"/>
                <a:cs typeface="宋体"/>
              </a:rPr>
              <a:t>集合框架的常用部</a:t>
            </a:r>
            <a:r>
              <a:rPr dirty="0" sz="2100" spc="-10" b="1">
                <a:latin typeface="宋体"/>
                <a:cs typeface="宋体"/>
              </a:rPr>
              <a:t>分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49691" y="2235631"/>
            <a:ext cx="1666239" cy="502920"/>
          </a:xfrm>
          <a:custGeom>
            <a:avLst/>
            <a:gdLst/>
            <a:ahLst/>
            <a:cxnLst/>
            <a:rect l="l" t="t" r="r" b="b"/>
            <a:pathLst>
              <a:path w="1666239" h="502919">
                <a:moveTo>
                  <a:pt x="0" y="0"/>
                </a:moveTo>
                <a:lnTo>
                  <a:pt x="1665858" y="0"/>
                </a:lnTo>
                <a:lnTo>
                  <a:pt x="1665858" y="502716"/>
                </a:lnTo>
                <a:lnTo>
                  <a:pt x="0" y="50271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49691" y="2235631"/>
            <a:ext cx="1666239" cy="502920"/>
          </a:xfrm>
          <a:custGeom>
            <a:avLst/>
            <a:gdLst/>
            <a:ahLst/>
            <a:cxnLst/>
            <a:rect l="l" t="t" r="r" b="b"/>
            <a:pathLst>
              <a:path w="1666239" h="502919">
                <a:moveTo>
                  <a:pt x="0" y="0"/>
                </a:moveTo>
                <a:lnTo>
                  <a:pt x="1665858" y="0"/>
                </a:lnTo>
                <a:lnTo>
                  <a:pt x="1665858" y="502716"/>
                </a:lnTo>
                <a:lnTo>
                  <a:pt x="0" y="502716"/>
                </a:lnTo>
                <a:lnTo>
                  <a:pt x="0" y="0"/>
                </a:lnTo>
                <a:close/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49691" y="2235631"/>
            <a:ext cx="1666239" cy="352425"/>
          </a:xfrm>
          <a:prstGeom prst="rect">
            <a:avLst/>
          </a:prstGeom>
          <a:solidFill>
            <a:srgbClr val="FFFFB8"/>
          </a:solidFill>
          <a:ln w="8763">
            <a:solidFill>
              <a:srgbClr val="8000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415"/>
              </a:spcBef>
            </a:pPr>
            <a:r>
              <a:rPr dirty="0" sz="850" spc="-110">
                <a:latin typeface="Tahoma"/>
                <a:cs typeface="Tahoma"/>
              </a:rPr>
              <a:t>&lt;&lt;interface&gt;&gt;</a:t>
            </a:r>
            <a:endParaRPr sz="850">
              <a:latin typeface="Tahoma"/>
              <a:cs typeface="Tahoma"/>
            </a:endParaRPr>
          </a:p>
          <a:p>
            <a:pPr algn="ctr" marL="14604">
              <a:lnSpc>
                <a:spcPct val="100000"/>
              </a:lnSpc>
              <a:spcBef>
                <a:spcPts val="10"/>
              </a:spcBef>
            </a:pPr>
            <a:r>
              <a:rPr dirty="0" sz="850" spc="-105" b="1">
                <a:latin typeface="Tahoma"/>
                <a:cs typeface="Tahoma"/>
              </a:rPr>
              <a:t>Collection</a:t>
            </a:r>
            <a:endParaRPr sz="8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49691" y="2587536"/>
            <a:ext cx="1673860" cy="0"/>
          </a:xfrm>
          <a:custGeom>
            <a:avLst/>
            <a:gdLst/>
            <a:ahLst/>
            <a:cxnLst/>
            <a:rect l="l" t="t" r="r" b="b"/>
            <a:pathLst>
              <a:path w="1673860" h="0">
                <a:moveTo>
                  <a:pt x="0" y="0"/>
                </a:moveTo>
                <a:lnTo>
                  <a:pt x="1673326" y="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44926" y="3241078"/>
            <a:ext cx="1098550" cy="513080"/>
          </a:xfrm>
          <a:custGeom>
            <a:avLst/>
            <a:gdLst/>
            <a:ahLst/>
            <a:cxnLst/>
            <a:rect l="l" t="t" r="r" b="b"/>
            <a:pathLst>
              <a:path w="1098550" h="513079">
                <a:moveTo>
                  <a:pt x="0" y="0"/>
                </a:moveTo>
                <a:lnTo>
                  <a:pt x="1098118" y="0"/>
                </a:lnTo>
                <a:lnTo>
                  <a:pt x="1098118" y="512775"/>
                </a:lnTo>
                <a:lnTo>
                  <a:pt x="0" y="512775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44926" y="3241078"/>
            <a:ext cx="1098550" cy="513080"/>
          </a:xfrm>
          <a:custGeom>
            <a:avLst/>
            <a:gdLst/>
            <a:ahLst/>
            <a:cxnLst/>
            <a:rect l="l" t="t" r="r" b="b"/>
            <a:pathLst>
              <a:path w="1098550" h="513079">
                <a:moveTo>
                  <a:pt x="0" y="0"/>
                </a:moveTo>
                <a:lnTo>
                  <a:pt x="1098118" y="0"/>
                </a:lnTo>
                <a:lnTo>
                  <a:pt x="1098118" y="512775"/>
                </a:lnTo>
                <a:lnTo>
                  <a:pt x="0" y="512775"/>
                </a:lnTo>
                <a:lnTo>
                  <a:pt x="0" y="0"/>
                </a:lnTo>
                <a:close/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44926" y="3241078"/>
            <a:ext cx="1098550" cy="352425"/>
          </a:xfrm>
          <a:prstGeom prst="rect">
            <a:avLst/>
          </a:prstGeom>
          <a:solidFill>
            <a:srgbClr val="FFFFB8"/>
          </a:solidFill>
          <a:ln w="8763">
            <a:solidFill>
              <a:srgbClr val="8000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algn="ctr" marL="14604">
              <a:lnSpc>
                <a:spcPct val="100000"/>
              </a:lnSpc>
              <a:spcBef>
                <a:spcPts val="415"/>
              </a:spcBef>
            </a:pPr>
            <a:r>
              <a:rPr dirty="0" sz="850" spc="-110">
                <a:latin typeface="Tahoma"/>
                <a:cs typeface="Tahoma"/>
              </a:rPr>
              <a:t>&lt;&lt;interface&gt;&gt;</a:t>
            </a:r>
            <a:endParaRPr sz="850">
              <a:latin typeface="Tahoma"/>
              <a:cs typeface="Tahoma"/>
            </a:endParaRPr>
          </a:p>
          <a:p>
            <a:pPr algn="ctr" marL="11430">
              <a:lnSpc>
                <a:spcPct val="100000"/>
              </a:lnSpc>
              <a:spcBef>
                <a:spcPts val="10"/>
              </a:spcBef>
            </a:pPr>
            <a:r>
              <a:rPr dirty="0" sz="850" spc="-105" b="1">
                <a:latin typeface="Tahoma"/>
                <a:cs typeface="Tahoma"/>
              </a:rPr>
              <a:t>Set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44926" y="3592982"/>
            <a:ext cx="1106170" cy="0"/>
          </a:xfrm>
          <a:custGeom>
            <a:avLst/>
            <a:gdLst/>
            <a:ahLst/>
            <a:cxnLst/>
            <a:rect l="l" t="t" r="r" b="b"/>
            <a:pathLst>
              <a:path w="1106170" h="0">
                <a:moveTo>
                  <a:pt x="0" y="0"/>
                </a:moveTo>
                <a:lnTo>
                  <a:pt x="1105585" y="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52080" y="3241078"/>
            <a:ext cx="941705" cy="513080"/>
          </a:xfrm>
          <a:custGeom>
            <a:avLst/>
            <a:gdLst/>
            <a:ahLst/>
            <a:cxnLst/>
            <a:rect l="l" t="t" r="r" b="b"/>
            <a:pathLst>
              <a:path w="941705" h="513079">
                <a:moveTo>
                  <a:pt x="0" y="0"/>
                </a:moveTo>
                <a:lnTo>
                  <a:pt x="941247" y="0"/>
                </a:lnTo>
                <a:lnTo>
                  <a:pt x="941247" y="512775"/>
                </a:lnTo>
                <a:lnTo>
                  <a:pt x="0" y="512775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52080" y="3241078"/>
            <a:ext cx="941705" cy="513080"/>
          </a:xfrm>
          <a:custGeom>
            <a:avLst/>
            <a:gdLst/>
            <a:ahLst/>
            <a:cxnLst/>
            <a:rect l="l" t="t" r="r" b="b"/>
            <a:pathLst>
              <a:path w="941705" h="513079">
                <a:moveTo>
                  <a:pt x="0" y="0"/>
                </a:moveTo>
                <a:lnTo>
                  <a:pt x="941247" y="0"/>
                </a:lnTo>
                <a:lnTo>
                  <a:pt x="941247" y="512775"/>
                </a:lnTo>
                <a:lnTo>
                  <a:pt x="0" y="512775"/>
                </a:lnTo>
                <a:lnTo>
                  <a:pt x="0" y="0"/>
                </a:lnTo>
                <a:close/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52080" y="3241078"/>
            <a:ext cx="941705" cy="352425"/>
          </a:xfrm>
          <a:prstGeom prst="rect">
            <a:avLst/>
          </a:prstGeom>
          <a:solidFill>
            <a:srgbClr val="FFFFB8"/>
          </a:solidFill>
          <a:ln w="8762">
            <a:solidFill>
              <a:srgbClr val="800000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415"/>
              </a:spcBef>
            </a:pPr>
            <a:r>
              <a:rPr dirty="0" sz="850" spc="-110">
                <a:latin typeface="Tahoma"/>
                <a:cs typeface="Tahoma"/>
              </a:rPr>
              <a:t>&lt;&lt;interface&gt;&gt;</a:t>
            </a:r>
            <a:endParaRPr sz="850">
              <a:latin typeface="Tahoma"/>
              <a:cs typeface="Tahoma"/>
            </a:endParaRPr>
          </a:p>
          <a:p>
            <a:pPr algn="ctr" marL="11430">
              <a:lnSpc>
                <a:spcPct val="100000"/>
              </a:lnSpc>
              <a:spcBef>
                <a:spcPts val="10"/>
              </a:spcBef>
            </a:pPr>
            <a:r>
              <a:rPr dirty="0" sz="850" spc="-100" b="1">
                <a:latin typeface="Tahoma"/>
                <a:cs typeface="Tahoma"/>
              </a:rPr>
              <a:t>List</a:t>
            </a:r>
            <a:endParaRPr sz="8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52080" y="3592982"/>
            <a:ext cx="949325" cy="0"/>
          </a:xfrm>
          <a:custGeom>
            <a:avLst/>
            <a:gdLst/>
            <a:ahLst/>
            <a:cxnLst/>
            <a:rect l="l" t="t" r="r" b="b"/>
            <a:pathLst>
              <a:path w="949325" h="0">
                <a:moveTo>
                  <a:pt x="0" y="0"/>
                </a:moveTo>
                <a:lnTo>
                  <a:pt x="948715" y="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09841" y="4161701"/>
          <a:ext cx="745490" cy="56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2155"/>
              </a:tblGrid>
              <a:tr h="221195"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50" spc="-95" b="1">
                          <a:latin typeface="Tahoma"/>
                          <a:cs typeface="Tahoma"/>
                        </a:rPr>
                        <a:t>ArrayList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04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41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745310" y="4161701"/>
          <a:ext cx="655955" cy="551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620"/>
              </a:tblGrid>
              <a:tr h="221195"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50" spc="-110" b="1">
                          <a:latin typeface="Tahoma"/>
                          <a:cs typeface="Tahoma"/>
                        </a:rPr>
                        <a:t>LinkedList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04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312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581973" y="5086705"/>
          <a:ext cx="670560" cy="551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</a:tblGrid>
              <a:tr h="221195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50" spc="-120" b="1">
                          <a:latin typeface="Tahoma"/>
                          <a:cs typeface="Tahoma"/>
                        </a:rPr>
                        <a:t>HashSet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312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825407" y="2748407"/>
            <a:ext cx="441325" cy="492759"/>
          </a:xfrm>
          <a:custGeom>
            <a:avLst/>
            <a:gdLst/>
            <a:ahLst/>
            <a:cxnLst/>
            <a:rect l="l" t="t" r="r" b="b"/>
            <a:pathLst>
              <a:path w="441325" h="492760">
                <a:moveTo>
                  <a:pt x="440740" y="492671"/>
                </a:moveTo>
                <a:lnTo>
                  <a:pt x="0" y="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25407" y="2748407"/>
            <a:ext cx="157480" cy="191135"/>
          </a:xfrm>
          <a:custGeom>
            <a:avLst/>
            <a:gdLst/>
            <a:ahLst/>
            <a:cxnLst/>
            <a:rect l="l" t="t" r="r" b="b"/>
            <a:pathLst>
              <a:path w="157480" h="191135">
                <a:moveTo>
                  <a:pt x="156870" y="60325"/>
                </a:moveTo>
                <a:lnTo>
                  <a:pt x="0" y="0"/>
                </a:lnTo>
                <a:lnTo>
                  <a:pt x="74701" y="191033"/>
                </a:lnTo>
                <a:lnTo>
                  <a:pt x="156870" y="60325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74483" y="3763898"/>
            <a:ext cx="269240" cy="402590"/>
          </a:xfrm>
          <a:custGeom>
            <a:avLst/>
            <a:gdLst/>
            <a:ahLst/>
            <a:cxnLst/>
            <a:rect l="l" t="t" r="r" b="b"/>
            <a:pathLst>
              <a:path w="269240" h="402589">
                <a:moveTo>
                  <a:pt x="0" y="402183"/>
                </a:moveTo>
                <a:lnTo>
                  <a:pt x="268935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01483" y="3763898"/>
            <a:ext cx="142240" cy="201295"/>
          </a:xfrm>
          <a:custGeom>
            <a:avLst/>
            <a:gdLst/>
            <a:ahLst/>
            <a:cxnLst/>
            <a:rect l="l" t="t" r="r" b="b"/>
            <a:pathLst>
              <a:path w="142240" h="201295">
                <a:moveTo>
                  <a:pt x="89636" y="201091"/>
                </a:moveTo>
                <a:lnTo>
                  <a:pt x="141935" y="0"/>
                </a:lnTo>
                <a:lnTo>
                  <a:pt x="0" y="90500"/>
                </a:lnTo>
                <a:lnTo>
                  <a:pt x="89636" y="201091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49691" y="3763898"/>
            <a:ext cx="194310" cy="402590"/>
          </a:xfrm>
          <a:custGeom>
            <a:avLst/>
            <a:gdLst/>
            <a:ahLst/>
            <a:cxnLst/>
            <a:rect l="l" t="t" r="r" b="b"/>
            <a:pathLst>
              <a:path w="194310" h="402589">
                <a:moveTo>
                  <a:pt x="194221" y="402183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749691" y="3763898"/>
            <a:ext cx="134620" cy="211454"/>
          </a:xfrm>
          <a:custGeom>
            <a:avLst/>
            <a:gdLst/>
            <a:ahLst/>
            <a:cxnLst/>
            <a:rect l="l" t="t" r="r" b="b"/>
            <a:pathLst>
              <a:path w="134619" h="211454">
                <a:moveTo>
                  <a:pt x="134467" y="120662"/>
                </a:moveTo>
                <a:lnTo>
                  <a:pt x="0" y="0"/>
                </a:lnTo>
                <a:lnTo>
                  <a:pt x="29883" y="211150"/>
                </a:lnTo>
                <a:lnTo>
                  <a:pt x="134467" y="120662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54590" y="3763898"/>
            <a:ext cx="239395" cy="402590"/>
          </a:xfrm>
          <a:custGeom>
            <a:avLst/>
            <a:gdLst/>
            <a:ahLst/>
            <a:cxnLst/>
            <a:rect l="l" t="t" r="r" b="b"/>
            <a:pathLst>
              <a:path w="239395" h="402589">
                <a:moveTo>
                  <a:pt x="239052" y="402183"/>
                </a:moveTo>
                <a:lnTo>
                  <a:pt x="0" y="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54590" y="3763898"/>
            <a:ext cx="142240" cy="211454"/>
          </a:xfrm>
          <a:custGeom>
            <a:avLst/>
            <a:gdLst/>
            <a:ahLst/>
            <a:cxnLst/>
            <a:rect l="l" t="t" r="r" b="b"/>
            <a:pathLst>
              <a:path w="142239" h="211454">
                <a:moveTo>
                  <a:pt x="141935" y="100545"/>
                </a:moveTo>
                <a:lnTo>
                  <a:pt x="0" y="0"/>
                </a:lnTo>
                <a:lnTo>
                  <a:pt x="44818" y="211150"/>
                </a:lnTo>
                <a:lnTo>
                  <a:pt x="141935" y="100545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538156" y="4161701"/>
          <a:ext cx="1021715" cy="1477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225"/>
                <a:gridCol w="354965"/>
                <a:gridCol w="347345"/>
                <a:gridCol w="156844"/>
              </a:tblGrid>
              <a:tr h="351904">
                <a:tc gridSpan="4"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50" spc="-110">
                          <a:latin typeface="Tahoma"/>
                          <a:cs typeface="Tahoma"/>
                        </a:rPr>
                        <a:t>&lt;&lt;interface&gt;&gt;</a:t>
                      </a:r>
                      <a:endParaRPr sz="850">
                        <a:latin typeface="Tahoma"/>
                        <a:cs typeface="Tahoma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 spc="-105" b="1">
                          <a:latin typeface="Tahoma"/>
                          <a:cs typeface="Tahoma"/>
                        </a:rPr>
                        <a:t>SortedSet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1033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8206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T w="9525">
                      <a:solidFill>
                        <a:srgbClr val="8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119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850" spc="-100" b="1">
                          <a:latin typeface="Tahoma"/>
                          <a:cs typeface="Tahoma"/>
                        </a:rPr>
                        <a:t>TreeSet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</a:tr>
              <a:tr h="905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</a:tr>
              <a:tr h="231241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9525">
                      <a:solidFill>
                        <a:srgbClr val="8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3986364" y="4714697"/>
            <a:ext cx="120815" cy="2098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69211" y="2748407"/>
            <a:ext cx="471170" cy="492759"/>
          </a:xfrm>
          <a:custGeom>
            <a:avLst/>
            <a:gdLst/>
            <a:ahLst/>
            <a:cxnLst/>
            <a:rect l="l" t="t" r="r" b="b"/>
            <a:pathLst>
              <a:path w="471169" h="492760">
                <a:moveTo>
                  <a:pt x="0" y="492671"/>
                </a:moveTo>
                <a:lnTo>
                  <a:pt x="470623" y="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82964" y="2748407"/>
            <a:ext cx="157480" cy="191135"/>
          </a:xfrm>
          <a:custGeom>
            <a:avLst/>
            <a:gdLst/>
            <a:ahLst/>
            <a:cxnLst/>
            <a:rect l="l" t="t" r="r" b="b"/>
            <a:pathLst>
              <a:path w="157480" h="191135">
                <a:moveTo>
                  <a:pt x="82168" y="191033"/>
                </a:moveTo>
                <a:lnTo>
                  <a:pt x="156870" y="0"/>
                </a:lnTo>
                <a:lnTo>
                  <a:pt x="0" y="50266"/>
                </a:lnTo>
                <a:lnTo>
                  <a:pt x="82168" y="191033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997212" y="3763898"/>
            <a:ext cx="418465" cy="1327785"/>
          </a:xfrm>
          <a:custGeom>
            <a:avLst/>
            <a:gdLst/>
            <a:ahLst/>
            <a:cxnLst/>
            <a:rect l="l" t="t" r="r" b="b"/>
            <a:pathLst>
              <a:path w="418464" h="1327785">
                <a:moveTo>
                  <a:pt x="0" y="1327188"/>
                </a:moveTo>
                <a:lnTo>
                  <a:pt x="418337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03498" y="3763898"/>
            <a:ext cx="112395" cy="211454"/>
          </a:xfrm>
          <a:custGeom>
            <a:avLst/>
            <a:gdLst/>
            <a:ahLst/>
            <a:cxnLst/>
            <a:rect l="l" t="t" r="r" b="b"/>
            <a:pathLst>
              <a:path w="112395" h="211454">
                <a:moveTo>
                  <a:pt x="112052" y="211150"/>
                </a:moveTo>
                <a:lnTo>
                  <a:pt x="112052" y="0"/>
                </a:lnTo>
                <a:lnTo>
                  <a:pt x="0" y="150825"/>
                </a:lnTo>
                <a:lnTo>
                  <a:pt x="112052" y="211150"/>
                </a:lnTo>
              </a:path>
            </a:pathLst>
          </a:custGeom>
          <a:ln w="876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30659" y="2243302"/>
            <a:ext cx="2737485" cy="501650"/>
          </a:xfrm>
          <a:custGeom>
            <a:avLst/>
            <a:gdLst/>
            <a:ahLst/>
            <a:cxnLst/>
            <a:rect l="l" t="t" r="r" b="b"/>
            <a:pathLst>
              <a:path w="2737484" h="501650">
                <a:moveTo>
                  <a:pt x="0" y="0"/>
                </a:moveTo>
                <a:lnTo>
                  <a:pt x="2736989" y="0"/>
                </a:lnTo>
                <a:lnTo>
                  <a:pt x="2736989" y="501599"/>
                </a:lnTo>
                <a:lnTo>
                  <a:pt x="0" y="501599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430659" y="2243302"/>
            <a:ext cx="2737485" cy="501650"/>
          </a:xfrm>
          <a:custGeom>
            <a:avLst/>
            <a:gdLst/>
            <a:ahLst/>
            <a:cxnLst/>
            <a:rect l="l" t="t" r="r" b="b"/>
            <a:pathLst>
              <a:path w="2737484" h="501650">
                <a:moveTo>
                  <a:pt x="0" y="0"/>
                </a:moveTo>
                <a:lnTo>
                  <a:pt x="2736989" y="0"/>
                </a:lnTo>
                <a:lnTo>
                  <a:pt x="2736989" y="501599"/>
                </a:lnTo>
                <a:lnTo>
                  <a:pt x="0" y="501599"/>
                </a:lnTo>
                <a:lnTo>
                  <a:pt x="0" y="0"/>
                </a:lnTo>
                <a:close/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430659" y="2243302"/>
            <a:ext cx="2737485" cy="344805"/>
          </a:xfrm>
          <a:prstGeom prst="rect">
            <a:avLst/>
          </a:prstGeom>
          <a:solidFill>
            <a:srgbClr val="FFFFB8"/>
          </a:solidFill>
          <a:ln w="9372">
            <a:solidFill>
              <a:srgbClr val="80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algn="ctr" marL="17780">
              <a:lnSpc>
                <a:spcPts val="1015"/>
              </a:lnSpc>
              <a:spcBef>
                <a:spcPts val="390"/>
              </a:spcBef>
            </a:pPr>
            <a:r>
              <a:rPr dirty="0" sz="850" spc="-40">
                <a:latin typeface="Tahoma"/>
                <a:cs typeface="Tahoma"/>
              </a:rPr>
              <a:t>&lt;&lt;interface&gt;&gt;</a:t>
            </a:r>
            <a:endParaRPr sz="850">
              <a:latin typeface="Tahoma"/>
              <a:cs typeface="Tahoma"/>
            </a:endParaRPr>
          </a:p>
          <a:p>
            <a:pPr algn="ctr" marL="7620">
              <a:lnSpc>
                <a:spcPts val="1015"/>
              </a:lnSpc>
            </a:pPr>
            <a:r>
              <a:rPr dirty="0" sz="850" spc="-45" b="1">
                <a:latin typeface="Tahoma"/>
                <a:cs typeface="Tahoma"/>
              </a:rPr>
              <a:t>Map</a:t>
            </a:r>
            <a:endParaRPr sz="85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30659" y="2587536"/>
            <a:ext cx="2746375" cy="0"/>
          </a:xfrm>
          <a:custGeom>
            <a:avLst/>
            <a:gdLst/>
            <a:ahLst/>
            <a:cxnLst/>
            <a:rect l="l" t="t" r="r" b="b"/>
            <a:pathLst>
              <a:path w="2746375" h="0">
                <a:moveTo>
                  <a:pt x="0" y="0"/>
                </a:moveTo>
                <a:lnTo>
                  <a:pt x="2745917" y="0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105031" y="4323676"/>
          <a:ext cx="798830" cy="541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225"/>
              </a:tblGrid>
              <a:tr h="216382"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850" spc="-50" b="1">
                          <a:latin typeface="Tahoma"/>
                          <a:cs typeface="Tahoma"/>
                        </a:rPr>
                        <a:t>HashMap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88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2261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6322199" y="3423526"/>
            <a:ext cx="989965" cy="531495"/>
          </a:xfrm>
          <a:custGeom>
            <a:avLst/>
            <a:gdLst/>
            <a:ahLst/>
            <a:cxnLst/>
            <a:rect l="l" t="t" r="r" b="b"/>
            <a:pathLst>
              <a:path w="989965" h="531495">
                <a:moveTo>
                  <a:pt x="0" y="0"/>
                </a:moveTo>
                <a:lnTo>
                  <a:pt x="989596" y="0"/>
                </a:lnTo>
                <a:lnTo>
                  <a:pt x="989596" y="531101"/>
                </a:lnTo>
                <a:lnTo>
                  <a:pt x="0" y="53110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322199" y="3423526"/>
            <a:ext cx="989965" cy="531495"/>
          </a:xfrm>
          <a:custGeom>
            <a:avLst/>
            <a:gdLst/>
            <a:ahLst/>
            <a:cxnLst/>
            <a:rect l="l" t="t" r="r" b="b"/>
            <a:pathLst>
              <a:path w="989965" h="531495">
                <a:moveTo>
                  <a:pt x="0" y="0"/>
                </a:moveTo>
                <a:lnTo>
                  <a:pt x="989596" y="0"/>
                </a:lnTo>
                <a:lnTo>
                  <a:pt x="989596" y="531101"/>
                </a:lnTo>
                <a:lnTo>
                  <a:pt x="0" y="531101"/>
                </a:lnTo>
                <a:lnTo>
                  <a:pt x="0" y="0"/>
                </a:lnTo>
                <a:close/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322199" y="3423526"/>
            <a:ext cx="989965" cy="344805"/>
          </a:xfrm>
          <a:prstGeom prst="rect">
            <a:avLst/>
          </a:prstGeom>
          <a:ln w="9372">
            <a:solidFill>
              <a:srgbClr val="80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168910">
              <a:lnSpc>
                <a:spcPts val="1015"/>
              </a:lnSpc>
              <a:spcBef>
                <a:spcPts val="390"/>
              </a:spcBef>
            </a:pPr>
            <a:r>
              <a:rPr dirty="0" sz="850" spc="-40">
                <a:latin typeface="Tahoma"/>
                <a:cs typeface="Tahoma"/>
              </a:rPr>
              <a:t>&lt;&lt;interface&gt;&gt;</a:t>
            </a:r>
            <a:endParaRPr sz="850">
              <a:latin typeface="Tahoma"/>
              <a:cs typeface="Tahoma"/>
            </a:endParaRPr>
          </a:p>
          <a:p>
            <a:pPr marL="222250">
              <a:lnSpc>
                <a:spcPts val="1015"/>
              </a:lnSpc>
            </a:pPr>
            <a:r>
              <a:rPr dirty="0" sz="850" spc="-35" b="1">
                <a:latin typeface="Tahoma"/>
                <a:cs typeface="Tahoma"/>
              </a:rPr>
              <a:t>SortedMap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322199" y="3767759"/>
            <a:ext cx="998855" cy="0"/>
          </a:xfrm>
          <a:custGeom>
            <a:avLst/>
            <a:gdLst/>
            <a:ahLst/>
            <a:cxnLst/>
            <a:rect l="l" t="t" r="r" b="b"/>
            <a:pathLst>
              <a:path w="998854" h="0">
                <a:moveTo>
                  <a:pt x="0" y="0"/>
                </a:moveTo>
                <a:lnTo>
                  <a:pt x="998499" y="0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393510" y="4289031"/>
            <a:ext cx="838200" cy="531495"/>
          </a:xfrm>
          <a:custGeom>
            <a:avLst/>
            <a:gdLst/>
            <a:ahLst/>
            <a:cxnLst/>
            <a:rect l="l" t="t" r="r" b="b"/>
            <a:pathLst>
              <a:path w="838200" h="531495">
                <a:moveTo>
                  <a:pt x="0" y="0"/>
                </a:moveTo>
                <a:lnTo>
                  <a:pt x="838034" y="0"/>
                </a:lnTo>
                <a:lnTo>
                  <a:pt x="838034" y="531101"/>
                </a:lnTo>
                <a:lnTo>
                  <a:pt x="0" y="53110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393510" y="4289031"/>
            <a:ext cx="838200" cy="531495"/>
          </a:xfrm>
          <a:custGeom>
            <a:avLst/>
            <a:gdLst/>
            <a:ahLst/>
            <a:cxnLst/>
            <a:rect l="l" t="t" r="r" b="b"/>
            <a:pathLst>
              <a:path w="838200" h="531495">
                <a:moveTo>
                  <a:pt x="0" y="0"/>
                </a:moveTo>
                <a:lnTo>
                  <a:pt x="838034" y="0"/>
                </a:lnTo>
                <a:lnTo>
                  <a:pt x="838034" y="531101"/>
                </a:lnTo>
                <a:lnTo>
                  <a:pt x="0" y="531101"/>
                </a:lnTo>
                <a:lnTo>
                  <a:pt x="0" y="0"/>
                </a:lnTo>
                <a:close/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393510" y="4289031"/>
            <a:ext cx="838200" cy="216535"/>
          </a:xfrm>
          <a:prstGeom prst="rect">
            <a:avLst/>
          </a:prstGeom>
          <a:ln w="9372">
            <a:solidFill>
              <a:srgbClr val="80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390"/>
              </a:spcBef>
            </a:pPr>
            <a:r>
              <a:rPr dirty="0" sz="850" spc="-35" b="1">
                <a:latin typeface="Tahoma"/>
                <a:cs typeface="Tahoma"/>
              </a:rPr>
              <a:t>TreeMap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393510" y="4505401"/>
            <a:ext cx="847090" cy="0"/>
          </a:xfrm>
          <a:custGeom>
            <a:avLst/>
            <a:gdLst/>
            <a:ahLst/>
            <a:cxnLst/>
            <a:rect l="l" t="t" r="r" b="b"/>
            <a:pathLst>
              <a:path w="847090" h="0">
                <a:moveTo>
                  <a:pt x="0" y="0"/>
                </a:moveTo>
                <a:lnTo>
                  <a:pt x="846963" y="0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393510" y="4593920"/>
            <a:ext cx="847090" cy="0"/>
          </a:xfrm>
          <a:custGeom>
            <a:avLst/>
            <a:gdLst/>
            <a:ahLst/>
            <a:cxnLst/>
            <a:rect l="l" t="t" r="r" b="b"/>
            <a:pathLst>
              <a:path w="847090" h="0">
                <a:moveTo>
                  <a:pt x="0" y="0"/>
                </a:moveTo>
                <a:lnTo>
                  <a:pt x="846963" y="0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12533" y="2754744"/>
            <a:ext cx="0" cy="669290"/>
          </a:xfrm>
          <a:custGeom>
            <a:avLst/>
            <a:gdLst/>
            <a:ahLst/>
            <a:cxnLst/>
            <a:rect l="l" t="t" r="r" b="b"/>
            <a:pathLst>
              <a:path w="0" h="669289">
                <a:moveTo>
                  <a:pt x="0" y="668782"/>
                </a:moveTo>
                <a:lnTo>
                  <a:pt x="0" y="0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736524" y="2750057"/>
            <a:ext cx="152019" cy="2060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812533" y="3964470"/>
            <a:ext cx="9525" cy="325120"/>
          </a:xfrm>
          <a:custGeom>
            <a:avLst/>
            <a:gdLst/>
            <a:ahLst/>
            <a:cxnLst/>
            <a:rect l="l" t="t" r="r" b="b"/>
            <a:pathLst>
              <a:path w="9525" h="325120">
                <a:moveTo>
                  <a:pt x="0" y="324561"/>
                </a:moveTo>
                <a:lnTo>
                  <a:pt x="8915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812533" y="3964470"/>
            <a:ext cx="9525" cy="325120"/>
          </a:xfrm>
          <a:custGeom>
            <a:avLst/>
            <a:gdLst/>
            <a:ahLst/>
            <a:cxnLst/>
            <a:rect l="l" t="t" r="r" b="b"/>
            <a:pathLst>
              <a:path w="9525" h="325120">
                <a:moveTo>
                  <a:pt x="0" y="324561"/>
                </a:moveTo>
                <a:lnTo>
                  <a:pt x="8915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736524" y="3959783"/>
            <a:ext cx="152019" cy="206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7743952" y="4323676"/>
          <a:ext cx="816610" cy="1367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320"/>
                <a:gridCol w="401320"/>
              </a:tblGrid>
              <a:tr h="216382">
                <a:tc gridSpan="2"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850" spc="-40" b="1">
                          <a:latin typeface="Tahoma"/>
                          <a:cs typeface="Tahoma"/>
                        </a:rPr>
                        <a:t>Hashtable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51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685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130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</a:tcPr>
                </a:tc>
              </a:tr>
              <a:tr h="216369">
                <a:tc gridSpan="2"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850" spc="-35" b="1">
                          <a:latin typeface="Tahoma"/>
                          <a:cs typeface="Tahoma"/>
                        </a:rPr>
                        <a:t>Properties</a:t>
                      </a:r>
                      <a:endParaRPr sz="850">
                        <a:latin typeface="Tahoma"/>
                        <a:cs typeface="Tahoma"/>
                      </a:endParaRPr>
                    </a:p>
                  </a:txBody>
                  <a:tcPr marL="0" marR="0" marB="0" marT="4953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851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75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3" name="object 53"/>
          <p:cNvSpPr/>
          <p:nvPr/>
        </p:nvSpPr>
        <p:spPr>
          <a:xfrm>
            <a:off x="8073821" y="4825276"/>
            <a:ext cx="152019" cy="2060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671375" y="2754744"/>
            <a:ext cx="972185" cy="1574165"/>
          </a:xfrm>
          <a:custGeom>
            <a:avLst/>
            <a:gdLst/>
            <a:ahLst/>
            <a:cxnLst/>
            <a:rect l="l" t="t" r="r" b="b"/>
            <a:pathLst>
              <a:path w="972184" h="1574164">
                <a:moveTo>
                  <a:pt x="0" y="1573618"/>
                </a:moveTo>
                <a:lnTo>
                  <a:pt x="971765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671375" y="2754744"/>
            <a:ext cx="972185" cy="1574165"/>
          </a:xfrm>
          <a:custGeom>
            <a:avLst/>
            <a:gdLst/>
            <a:ahLst/>
            <a:cxnLst/>
            <a:rect l="l" t="t" r="r" b="b"/>
            <a:pathLst>
              <a:path w="972184" h="1574164">
                <a:moveTo>
                  <a:pt x="0" y="1573618"/>
                </a:moveTo>
                <a:lnTo>
                  <a:pt x="971765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482664" y="2754744"/>
            <a:ext cx="160655" cy="207010"/>
          </a:xfrm>
          <a:custGeom>
            <a:avLst/>
            <a:gdLst/>
            <a:ahLst/>
            <a:cxnLst/>
            <a:rect l="l" t="t" r="r" b="b"/>
            <a:pathLst>
              <a:path w="160654" h="207010">
                <a:moveTo>
                  <a:pt x="124815" y="206527"/>
                </a:moveTo>
                <a:lnTo>
                  <a:pt x="160477" y="0"/>
                </a:lnTo>
                <a:lnTo>
                  <a:pt x="0" y="118021"/>
                </a:lnTo>
                <a:lnTo>
                  <a:pt x="124815" y="206527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973011" y="2754744"/>
            <a:ext cx="1016635" cy="1574165"/>
          </a:xfrm>
          <a:custGeom>
            <a:avLst/>
            <a:gdLst/>
            <a:ahLst/>
            <a:cxnLst/>
            <a:rect l="l" t="t" r="r" b="b"/>
            <a:pathLst>
              <a:path w="1016634" h="1574164">
                <a:moveTo>
                  <a:pt x="1016342" y="1573618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973011" y="2754744"/>
            <a:ext cx="1016635" cy="1574165"/>
          </a:xfrm>
          <a:custGeom>
            <a:avLst/>
            <a:gdLst/>
            <a:ahLst/>
            <a:cxnLst/>
            <a:rect l="l" t="t" r="r" b="b"/>
            <a:pathLst>
              <a:path w="1016634" h="1574164">
                <a:moveTo>
                  <a:pt x="1016342" y="1573618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973011" y="2754744"/>
            <a:ext cx="160655" cy="207010"/>
          </a:xfrm>
          <a:custGeom>
            <a:avLst/>
            <a:gdLst/>
            <a:ahLst/>
            <a:cxnLst/>
            <a:rect l="l" t="t" r="r" b="b"/>
            <a:pathLst>
              <a:path w="160654" h="207010">
                <a:moveTo>
                  <a:pt x="160477" y="108178"/>
                </a:moveTo>
                <a:lnTo>
                  <a:pt x="0" y="0"/>
                </a:lnTo>
                <a:lnTo>
                  <a:pt x="35661" y="206527"/>
                </a:lnTo>
                <a:lnTo>
                  <a:pt x="160477" y="108178"/>
                </a:lnTo>
              </a:path>
            </a:pathLst>
          </a:custGeom>
          <a:ln w="9372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31889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17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.1.1	</a:t>
            </a:r>
            <a:r>
              <a:rPr dirty="0" sz="2100" b="1">
                <a:latin typeface="宋体"/>
                <a:cs typeface="宋体"/>
              </a:rPr>
              <a:t>集合框架的常用部</a:t>
            </a:r>
            <a:r>
              <a:rPr dirty="0" sz="2100" spc="-10" b="1">
                <a:latin typeface="宋体"/>
                <a:cs typeface="宋体"/>
              </a:rPr>
              <a:t>分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1466" y="4078223"/>
            <a:ext cx="1771142" cy="1440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15364" y="1189990"/>
            <a:ext cx="6680200" cy="365569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84150" marR="224790" indent="-171450">
              <a:lnSpc>
                <a:spcPts val="2250"/>
              </a:lnSpc>
              <a:spcBef>
                <a:spcPts val="4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宋体"/>
                <a:cs typeface="宋体"/>
              </a:rPr>
              <a:t>根据</a:t>
            </a:r>
            <a:r>
              <a:rPr dirty="0" sz="2100">
                <a:latin typeface="Georgia"/>
                <a:cs typeface="Georgia"/>
              </a:rPr>
              <a:t>C</a:t>
            </a:r>
            <a:r>
              <a:rPr dirty="0" sz="2100" spc="-5">
                <a:latin typeface="Georgia"/>
                <a:cs typeface="Georgia"/>
              </a:rPr>
              <a:t>olle</a:t>
            </a:r>
            <a:r>
              <a:rPr dirty="0" sz="2100">
                <a:latin typeface="Georgia"/>
                <a:cs typeface="Georgia"/>
              </a:rPr>
              <a:t>ct</a:t>
            </a:r>
            <a:r>
              <a:rPr dirty="0" sz="2100" spc="-5">
                <a:latin typeface="Georgia"/>
                <a:cs typeface="Georgia"/>
              </a:rPr>
              <a:t>ion</a:t>
            </a:r>
            <a:r>
              <a:rPr dirty="0" sz="2100">
                <a:latin typeface="宋体"/>
                <a:cs typeface="宋体"/>
              </a:rPr>
              <a:t>和</a:t>
            </a:r>
            <a:r>
              <a:rPr dirty="0" sz="2100" spc="-5">
                <a:latin typeface="Georgia"/>
                <a:cs typeface="Georgia"/>
              </a:rPr>
              <a:t>M</a:t>
            </a:r>
            <a:r>
              <a:rPr dirty="0" sz="2100">
                <a:latin typeface="Georgia"/>
                <a:cs typeface="Georgia"/>
              </a:rPr>
              <a:t>ap</a:t>
            </a:r>
            <a:r>
              <a:rPr dirty="0" sz="2100">
                <a:latin typeface="宋体"/>
                <a:cs typeface="宋体"/>
              </a:rPr>
              <a:t>的架构，</a:t>
            </a:r>
            <a:r>
              <a:rPr dirty="0" sz="2100" spc="-5">
                <a:latin typeface="Georgia"/>
                <a:cs typeface="Georgia"/>
              </a:rPr>
              <a:t>J</a:t>
            </a:r>
            <a:r>
              <a:rPr dirty="0" sz="2100">
                <a:latin typeface="Georgia"/>
                <a:cs typeface="Georgia"/>
              </a:rPr>
              <a:t>ava</a:t>
            </a:r>
            <a:r>
              <a:rPr dirty="0" sz="2100">
                <a:latin typeface="宋体"/>
                <a:cs typeface="宋体"/>
              </a:rPr>
              <a:t>中的集合可以分为 三大类</a:t>
            </a:r>
            <a:endParaRPr sz="2100">
              <a:latin typeface="宋体"/>
              <a:cs typeface="宋体"/>
            </a:endParaRPr>
          </a:p>
          <a:p>
            <a:pPr lvl="1" marL="527050" marR="47625" indent="-171450">
              <a:lnSpc>
                <a:spcPts val="1930"/>
              </a:lnSpc>
              <a:spcBef>
                <a:spcPts val="40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Li</a:t>
            </a:r>
            <a:r>
              <a:rPr dirty="0" sz="1800">
                <a:solidFill>
                  <a:srgbClr val="FF0000"/>
                </a:solidFill>
                <a:latin typeface="Georgia"/>
                <a:cs typeface="Georgia"/>
              </a:rPr>
              <a:t>s</a:t>
            </a: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t</a:t>
            </a:r>
            <a:r>
              <a:rPr dirty="0" sz="1800">
                <a:latin typeface="宋体"/>
                <a:cs typeface="宋体"/>
              </a:rPr>
              <a:t>：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有序</a:t>
            </a:r>
            <a:r>
              <a:rPr dirty="0" sz="1800">
                <a:latin typeface="宋体"/>
                <a:cs typeface="宋体"/>
              </a:rPr>
              <a:t>集合，它会记录每次添加元素的顺序，元素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可以重 复</a:t>
            </a:r>
            <a:r>
              <a:rPr dirty="0" sz="1800"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  <a:p>
            <a:pPr lvl="1" marL="527050" marR="112395" indent="-171450">
              <a:lnSpc>
                <a:spcPts val="1930"/>
              </a:lnSpc>
              <a:spcBef>
                <a:spcPts val="39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solidFill>
                  <a:srgbClr val="FF0000"/>
                </a:solidFill>
                <a:latin typeface="Georgia"/>
                <a:cs typeface="Georgia"/>
              </a:rPr>
              <a:t>S</a:t>
            </a: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et</a:t>
            </a:r>
            <a:r>
              <a:rPr dirty="0" sz="1800">
                <a:latin typeface="宋体"/>
                <a:cs typeface="宋体"/>
              </a:rPr>
              <a:t>：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无序</a:t>
            </a:r>
            <a:r>
              <a:rPr dirty="0" sz="1800">
                <a:latin typeface="宋体"/>
                <a:cs typeface="宋体"/>
              </a:rPr>
              <a:t>集合（不准确），它不记录元素添加的顺序，元素 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不可重复</a:t>
            </a:r>
            <a:r>
              <a:rPr dirty="0" sz="1800">
                <a:latin typeface="宋体"/>
                <a:cs typeface="宋体"/>
              </a:rPr>
              <a:t>；</a:t>
            </a:r>
            <a:endParaRPr sz="1800">
              <a:latin typeface="宋体"/>
              <a:cs typeface="宋体"/>
            </a:endParaRPr>
          </a:p>
          <a:p>
            <a:pPr lvl="1" marL="527050" marR="5080" indent="-171450">
              <a:lnSpc>
                <a:spcPts val="1939"/>
              </a:lnSpc>
              <a:spcBef>
                <a:spcPts val="3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solidFill>
                  <a:srgbClr val="FF0000"/>
                </a:solidFill>
                <a:latin typeface="Georgia"/>
                <a:cs typeface="Georgia"/>
              </a:rPr>
              <a:t>M</a:t>
            </a: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dirty="0" sz="1800">
                <a:solidFill>
                  <a:srgbClr val="FF0000"/>
                </a:solidFill>
                <a:latin typeface="Georgia"/>
                <a:cs typeface="Georgia"/>
              </a:rPr>
              <a:t>p</a:t>
            </a:r>
            <a:r>
              <a:rPr dirty="0" sz="1800">
                <a:latin typeface="宋体"/>
                <a:cs typeface="宋体"/>
              </a:rPr>
              <a:t>：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键值对的集合</a:t>
            </a:r>
            <a:r>
              <a:rPr dirty="0" sz="1800">
                <a:latin typeface="宋体"/>
                <a:cs typeface="宋体"/>
              </a:rPr>
              <a:t>，它的每个元素都由键值</a:t>
            </a:r>
            <a:r>
              <a:rPr dirty="0" sz="1800">
                <a:latin typeface="Georgia"/>
                <a:cs typeface="Georgia"/>
              </a:rPr>
              <a:t>k</a:t>
            </a:r>
            <a:r>
              <a:rPr dirty="0" sz="1800" spc="-5">
                <a:latin typeface="Georgia"/>
                <a:cs typeface="Georgia"/>
              </a:rPr>
              <a:t>ey</a:t>
            </a:r>
            <a:r>
              <a:rPr dirty="0" sz="1800">
                <a:latin typeface="宋体"/>
                <a:cs typeface="宋体"/>
              </a:rPr>
              <a:t>和取值</a:t>
            </a:r>
            <a:r>
              <a:rPr dirty="0" sz="1800">
                <a:latin typeface="Georgia"/>
                <a:cs typeface="Georgia"/>
              </a:rPr>
              <a:t>v</a:t>
            </a:r>
            <a:r>
              <a:rPr dirty="0" sz="1800" spc="-5">
                <a:latin typeface="Georgia"/>
                <a:cs typeface="Georgia"/>
              </a:rPr>
              <a:t>a</a:t>
            </a:r>
            <a:r>
              <a:rPr dirty="0" sz="1800">
                <a:latin typeface="Georgia"/>
                <a:cs typeface="Georgia"/>
              </a:rPr>
              <a:t>l</a:t>
            </a:r>
            <a:r>
              <a:rPr dirty="0" sz="1800" spc="-5">
                <a:latin typeface="Georgia"/>
                <a:cs typeface="Georgia"/>
              </a:rPr>
              <a:t>u</a:t>
            </a:r>
            <a:r>
              <a:rPr dirty="0" sz="1800">
                <a:latin typeface="Georgia"/>
                <a:cs typeface="Georgia"/>
              </a:rPr>
              <a:t>e </a:t>
            </a:r>
            <a:r>
              <a:rPr dirty="0" sz="1800">
                <a:latin typeface="宋体"/>
                <a:cs typeface="宋体"/>
              </a:rPr>
              <a:t>对应组成，键值和取值分别存储，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键值是无序集合</a:t>
            </a: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Set</a:t>
            </a:r>
            <a:r>
              <a:rPr dirty="0" sz="1800" spc="-5">
                <a:solidFill>
                  <a:srgbClr val="FF0000"/>
                </a:solidFill>
                <a:latin typeface="宋体"/>
                <a:cs typeface="宋体"/>
              </a:rPr>
              <a:t>，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取值 是有序集合</a:t>
            </a: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List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Arial"/>
              <a:buChar char="•"/>
            </a:pPr>
            <a:endParaRPr sz="1750">
              <a:latin typeface="宋体"/>
              <a:cs typeface="宋体"/>
            </a:endParaRPr>
          </a:p>
          <a:p>
            <a:pPr algn="just" lvl="2" marL="2019935" marR="645160" indent="-171450">
              <a:lnSpc>
                <a:spcPct val="89900"/>
              </a:lnSpc>
              <a:buFont typeface="Arial"/>
              <a:buChar char="•"/>
              <a:tabLst>
                <a:tab pos="2019935" algn="l"/>
              </a:tabLst>
            </a:pPr>
            <a:r>
              <a:rPr dirty="0" sz="2100">
                <a:latin typeface="宋体"/>
                <a:cs typeface="宋体"/>
              </a:rPr>
              <a:t>集合与数组有一个明显的不同，就 是在</a:t>
            </a:r>
            <a:r>
              <a:rPr dirty="0" sz="2100" spc="-5">
                <a:solidFill>
                  <a:srgbClr val="FF0000"/>
                </a:solidFill>
                <a:latin typeface="Georgia"/>
                <a:cs typeface="Georgia"/>
              </a:rPr>
              <a:t>J</a:t>
            </a:r>
            <a:r>
              <a:rPr dirty="0" sz="2100">
                <a:solidFill>
                  <a:srgbClr val="FF0000"/>
                </a:solidFill>
                <a:latin typeface="Georgia"/>
                <a:cs typeface="Georgia"/>
              </a:rPr>
              <a:t>ava</a:t>
            </a:r>
            <a:r>
              <a:rPr dirty="0" sz="2100">
                <a:solidFill>
                  <a:srgbClr val="FF0000"/>
                </a:solidFill>
                <a:latin typeface="宋体"/>
                <a:cs typeface="宋体"/>
              </a:rPr>
              <a:t>的集合中只能存储对象， 而不能存储基本类型的数据</a:t>
            </a:r>
            <a:r>
              <a:rPr dirty="0" sz="2100">
                <a:latin typeface="宋体"/>
                <a:cs typeface="宋体"/>
              </a:rPr>
              <a:t>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7739" y="380225"/>
            <a:ext cx="6584315" cy="3982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  <a:tabLst>
                <a:tab pos="1117600" algn="l"/>
              </a:tabLst>
            </a:pPr>
            <a:r>
              <a:rPr dirty="0" sz="2100" spc="-5" b="1">
                <a:latin typeface="Georgia"/>
                <a:cs typeface="Georgia"/>
              </a:rPr>
              <a:t>8.1.2	</a:t>
            </a:r>
            <a:r>
              <a:rPr dirty="0" sz="2100" b="1">
                <a:latin typeface="宋体"/>
                <a:cs typeface="宋体"/>
              </a:rPr>
              <a:t>迭代器</a:t>
            </a:r>
            <a:r>
              <a:rPr dirty="0" sz="2100" spc="-5" b="1">
                <a:latin typeface="Georgia"/>
                <a:cs typeface="Georgia"/>
              </a:rPr>
              <a:t>Iterator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3200">
                <a:latin typeface="宋体"/>
                <a:cs typeface="宋体"/>
              </a:rPr>
              <a:t>接口中的</a:t>
            </a:r>
            <a:r>
              <a:rPr dirty="0" sz="3200" spc="-5">
                <a:latin typeface="Georgia"/>
                <a:cs typeface="Georgia"/>
              </a:rPr>
              <a:t>iterator()</a:t>
            </a:r>
            <a:r>
              <a:rPr dirty="0" sz="3200">
                <a:latin typeface="宋体"/>
                <a:cs typeface="宋体"/>
              </a:rPr>
              <a:t>方</a:t>
            </a:r>
            <a:r>
              <a:rPr dirty="0" sz="3200" spc="5">
                <a:latin typeface="宋体"/>
                <a:cs typeface="宋体"/>
              </a:rPr>
              <a:t>法</a:t>
            </a:r>
            <a:endParaRPr sz="3200">
              <a:latin typeface="宋体"/>
              <a:cs typeface="宋体"/>
            </a:endParaRPr>
          </a:p>
          <a:p>
            <a:pPr lvl="1" marL="527050" marR="5080" indent="-171450">
              <a:lnSpc>
                <a:spcPts val="3020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>
                <a:latin typeface="宋体"/>
                <a:cs typeface="宋体"/>
              </a:rPr>
              <a:t>“遍历”：按照某种次序将集合中的</a:t>
            </a:r>
            <a:r>
              <a:rPr dirty="0" sz="2800" spc="-5">
                <a:latin typeface="宋体"/>
                <a:cs typeface="宋体"/>
              </a:rPr>
              <a:t>元 </a:t>
            </a:r>
            <a:r>
              <a:rPr dirty="0" sz="2800">
                <a:latin typeface="宋体"/>
                <a:cs typeface="宋体"/>
              </a:rPr>
              <a:t>素全部访问到，且每个元素只访问一</a:t>
            </a:r>
            <a:r>
              <a:rPr dirty="0" sz="2800" spc="-5">
                <a:latin typeface="宋体"/>
                <a:cs typeface="宋体"/>
              </a:rPr>
              <a:t>次</a:t>
            </a:r>
            <a:endParaRPr sz="2800">
              <a:latin typeface="宋体"/>
              <a:cs typeface="宋体"/>
            </a:endParaRPr>
          </a:p>
          <a:p>
            <a:pPr marL="527050">
              <a:lnSpc>
                <a:spcPts val="2975"/>
              </a:lnSpc>
            </a:pP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 marL="527050" marR="11430" indent="-171450">
              <a:lnSpc>
                <a:spcPts val="3020"/>
              </a:lnSpc>
              <a:spcBef>
                <a:spcPts val="445"/>
              </a:spcBef>
              <a:buFont typeface="Arial"/>
              <a:buChar char="•"/>
              <a:tabLst>
                <a:tab pos="527050" algn="l"/>
                <a:tab pos="1915160" algn="l"/>
              </a:tabLst>
            </a:pPr>
            <a:r>
              <a:rPr dirty="0" sz="2800" spc="-5">
                <a:latin typeface="Georgia"/>
                <a:cs typeface="Georgia"/>
              </a:rPr>
              <a:t>Iterator</a:t>
            </a:r>
            <a:r>
              <a:rPr dirty="0" sz="2800" spc="-5">
                <a:latin typeface="Georgia"/>
                <a:cs typeface="Georgia"/>
              </a:rPr>
              <a:t>	</a:t>
            </a:r>
            <a:r>
              <a:rPr dirty="0" sz="2800" spc="-5">
                <a:latin typeface="Georgia"/>
                <a:cs typeface="Georgia"/>
              </a:rPr>
              <a:t>iterator()</a:t>
            </a:r>
            <a:r>
              <a:rPr dirty="0" sz="2800">
                <a:latin typeface="宋体"/>
                <a:cs typeface="宋体"/>
              </a:rPr>
              <a:t>方法：用于获取迭</a:t>
            </a:r>
            <a:r>
              <a:rPr dirty="0" sz="2800" spc="-5">
                <a:latin typeface="宋体"/>
                <a:cs typeface="宋体"/>
              </a:rPr>
              <a:t>代 </a:t>
            </a:r>
            <a:r>
              <a:rPr dirty="0" sz="2800">
                <a:latin typeface="宋体"/>
                <a:cs typeface="宋体"/>
              </a:rPr>
              <a:t>器，从而遍历</a:t>
            </a:r>
            <a:r>
              <a:rPr dirty="0" sz="2800" spc="-5">
                <a:latin typeface="Georgia"/>
                <a:cs typeface="Georgia"/>
              </a:rPr>
              <a:t>Collection</a:t>
            </a:r>
            <a:r>
              <a:rPr dirty="0" sz="2800">
                <a:latin typeface="宋体"/>
                <a:cs typeface="宋体"/>
              </a:rPr>
              <a:t>中的所有元</a:t>
            </a:r>
            <a:r>
              <a:rPr dirty="0" sz="2800" spc="-5">
                <a:latin typeface="宋体"/>
                <a:cs typeface="宋体"/>
              </a:rPr>
              <a:t>素</a:t>
            </a:r>
            <a:endParaRPr sz="2800">
              <a:latin typeface="宋体"/>
              <a:cs typeface="宋体"/>
            </a:endParaRPr>
          </a:p>
          <a:p>
            <a:pPr marL="527050">
              <a:lnSpc>
                <a:spcPts val="2950"/>
              </a:lnSpc>
            </a:pP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84120" y="824483"/>
            <a:ext cx="6042659" cy="5085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8580" y="114935"/>
            <a:ext cx="43148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3625" algn="l"/>
              </a:tabLst>
            </a:pPr>
            <a:r>
              <a:rPr dirty="0" spc="-5" b="1">
                <a:latin typeface="Georgia"/>
                <a:cs typeface="Georgia"/>
              </a:rPr>
              <a:t>8.1.2	</a:t>
            </a:r>
            <a:r>
              <a:rPr dirty="0" b="1">
                <a:latin typeface="宋体"/>
                <a:cs typeface="宋体"/>
              </a:rPr>
              <a:t>迭代器</a:t>
            </a:r>
            <a:r>
              <a:rPr dirty="0" spc="-5" b="1">
                <a:latin typeface="Georgia"/>
                <a:cs typeface="Georgia"/>
              </a:rPr>
              <a:t>Iterator</a:t>
            </a:r>
            <a:r>
              <a:rPr dirty="0" b="1">
                <a:latin typeface="宋体"/>
                <a:cs typeface="宋体"/>
              </a:rPr>
              <a:t>接</a:t>
            </a:r>
            <a:r>
              <a:rPr dirty="0" spc="-20" b="1">
                <a:latin typeface="宋体"/>
                <a:cs typeface="宋体"/>
              </a:rPr>
              <a:t>口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78739" y="1471294"/>
            <a:ext cx="2198370" cy="1243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8450" marR="5080" indent="-285750">
              <a:lnSpc>
                <a:spcPct val="99800"/>
              </a:lnSpc>
              <a:spcBef>
                <a:spcPts val="11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 spc="-5">
                <a:latin typeface="Georgia"/>
                <a:cs typeface="Georgia"/>
              </a:rPr>
              <a:t>Iterator</a:t>
            </a:r>
            <a:r>
              <a:rPr dirty="0" sz="2000">
                <a:latin typeface="宋体"/>
                <a:cs typeface="宋体"/>
              </a:rPr>
              <a:t>接口，</a:t>
            </a:r>
            <a:r>
              <a:rPr dirty="0" sz="2000">
                <a:latin typeface="宋体"/>
                <a:cs typeface="宋体"/>
              </a:rPr>
              <a:t>作 </a:t>
            </a:r>
            <a:r>
              <a:rPr dirty="0" sz="2000">
                <a:latin typeface="宋体"/>
                <a:cs typeface="宋体"/>
              </a:rPr>
              <a:t>为</a:t>
            </a:r>
            <a:r>
              <a:rPr dirty="0" sz="2000" spc="-5">
                <a:latin typeface="Georgia"/>
                <a:cs typeface="Georgia"/>
              </a:rPr>
              <a:t>Java</a:t>
            </a:r>
            <a:r>
              <a:rPr dirty="0" sz="2000">
                <a:latin typeface="宋体"/>
                <a:cs typeface="宋体"/>
              </a:rPr>
              <a:t>集合框</a:t>
            </a:r>
            <a:r>
              <a:rPr dirty="0" sz="2000" spc="5">
                <a:latin typeface="宋体"/>
                <a:cs typeface="宋体"/>
              </a:rPr>
              <a:t>架 </a:t>
            </a:r>
            <a:r>
              <a:rPr dirty="0" sz="2000">
                <a:latin typeface="宋体"/>
                <a:cs typeface="宋体"/>
              </a:rPr>
              <a:t>的成员，它的</a:t>
            </a:r>
            <a:r>
              <a:rPr dirty="0" sz="2000" spc="5">
                <a:latin typeface="宋体"/>
                <a:cs typeface="宋体"/>
              </a:rPr>
              <a:t>作 </a:t>
            </a:r>
            <a:r>
              <a:rPr dirty="0" sz="2000">
                <a:latin typeface="宋体"/>
                <a:cs typeface="宋体"/>
              </a:rPr>
              <a:t>用是遍历集合</a:t>
            </a:r>
            <a:r>
              <a:rPr dirty="0" sz="2000" spc="5">
                <a:latin typeface="宋体"/>
                <a:cs typeface="宋体"/>
              </a:rPr>
              <a:t>中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490" y="2688589"/>
            <a:ext cx="17913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的元素，而不</a:t>
            </a:r>
            <a:r>
              <a:rPr dirty="0" sz="2000" spc="5">
                <a:latin typeface="宋体"/>
                <a:cs typeface="宋体"/>
              </a:rPr>
              <a:t>必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665" y="3032125"/>
            <a:ext cx="1800225" cy="27241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 marL="9525">
              <a:lnSpc>
                <a:spcPts val="2145"/>
              </a:lnSpc>
            </a:pPr>
            <a:r>
              <a:rPr dirty="0" sz="2000">
                <a:latin typeface="宋体"/>
                <a:cs typeface="宋体"/>
              </a:rPr>
              <a:t>知道该序列的</a:t>
            </a:r>
            <a:r>
              <a:rPr dirty="0" sz="2000" spc="5">
                <a:latin typeface="宋体"/>
                <a:cs typeface="宋体"/>
              </a:rPr>
              <a:t>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7665" y="3336925"/>
            <a:ext cx="1038225" cy="27241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 marL="9525">
              <a:lnSpc>
                <a:spcPts val="2145"/>
              </a:lnSpc>
            </a:pPr>
            <a:r>
              <a:rPr dirty="0" sz="2000">
                <a:latin typeface="宋体"/>
                <a:cs typeface="宋体"/>
              </a:rPr>
              <a:t>层结构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616" y="1146581"/>
            <a:ext cx="1781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java.lang.Iterable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0540" y="2082546"/>
            <a:ext cx="1683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java.util.Iterator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7955"/>
            <a:ext cx="5260975" cy="727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  <a:tab pos="3359150" algn="l"/>
              </a:tabLst>
            </a:pPr>
            <a:r>
              <a:rPr dirty="0" sz="2100">
                <a:latin typeface="宋体"/>
                <a:cs typeface="宋体"/>
              </a:rPr>
              <a:t>集合获取迭代器：</a:t>
            </a:r>
            <a:r>
              <a:rPr dirty="0" sz="2100">
                <a:latin typeface="Georgia"/>
                <a:cs typeface="Georgia"/>
              </a:rPr>
              <a:t>It</a:t>
            </a:r>
            <a:r>
              <a:rPr dirty="0" sz="2100" spc="-5">
                <a:latin typeface="Georgia"/>
                <a:cs typeface="Georgia"/>
              </a:rPr>
              <a:t>er</a:t>
            </a:r>
            <a:r>
              <a:rPr dirty="0" sz="2100">
                <a:latin typeface="Georgia"/>
                <a:cs typeface="Georgia"/>
              </a:rPr>
              <a:t>at</a:t>
            </a:r>
            <a:r>
              <a:rPr dirty="0" sz="2100" spc="-5">
                <a:latin typeface="Georgia"/>
                <a:cs typeface="Georgia"/>
              </a:rPr>
              <a:t>o</a:t>
            </a:r>
            <a:r>
              <a:rPr dirty="0" sz="2100">
                <a:latin typeface="Georgia"/>
                <a:cs typeface="Georgia"/>
              </a:rPr>
              <a:t>r	</a:t>
            </a:r>
            <a:r>
              <a:rPr dirty="0" sz="2100" spc="-5">
                <a:latin typeface="Georgia"/>
                <a:cs typeface="Georgia"/>
              </a:rPr>
              <a:t>i</a:t>
            </a:r>
            <a:r>
              <a:rPr dirty="0" sz="2100">
                <a:latin typeface="Georgia"/>
                <a:cs typeface="Georgia"/>
              </a:rPr>
              <a:t>t</a:t>
            </a:r>
            <a:r>
              <a:rPr dirty="0" sz="2100" spc="-5">
                <a:latin typeface="Georgia"/>
                <a:cs typeface="Georgia"/>
              </a:rPr>
              <a:t>er</a:t>
            </a:r>
            <a:r>
              <a:rPr dirty="0" sz="2100">
                <a:latin typeface="Georgia"/>
                <a:cs typeface="Georgia"/>
              </a:rPr>
              <a:t>at</a:t>
            </a:r>
            <a:r>
              <a:rPr dirty="0" sz="2100" spc="-5">
                <a:latin typeface="Georgia"/>
                <a:cs typeface="Georgia"/>
              </a:rPr>
              <a:t>or</a:t>
            </a:r>
            <a:r>
              <a:rPr dirty="0" sz="2100">
                <a:latin typeface="Georgia"/>
                <a:cs typeface="Georgia"/>
              </a:rPr>
              <a:t>()</a:t>
            </a:r>
            <a:r>
              <a:rPr dirty="0" sz="2100">
                <a:latin typeface="宋体"/>
                <a:cs typeface="宋体"/>
              </a:rPr>
              <a:t>方法。  </a:t>
            </a:r>
            <a:r>
              <a:rPr dirty="0" sz="2100" spc="-5">
                <a:latin typeface="Georgia"/>
                <a:cs typeface="Georgia"/>
              </a:rPr>
              <a:t>Iterator</a:t>
            </a:r>
            <a:r>
              <a:rPr dirty="0" sz="2100">
                <a:latin typeface="宋体"/>
                <a:cs typeface="宋体"/>
              </a:rPr>
              <a:t>中的方法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969" y="315594"/>
            <a:ext cx="43148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3625" algn="l"/>
              </a:tabLst>
            </a:pPr>
            <a:r>
              <a:rPr dirty="0" spc="-5" b="1">
                <a:latin typeface="Georgia"/>
                <a:cs typeface="Georgia"/>
              </a:rPr>
              <a:t>8.1.2	</a:t>
            </a:r>
            <a:r>
              <a:rPr dirty="0" b="1">
                <a:latin typeface="宋体"/>
                <a:cs typeface="宋体"/>
              </a:rPr>
              <a:t>迭代器</a:t>
            </a:r>
            <a:r>
              <a:rPr dirty="0" spc="-5" b="1">
                <a:latin typeface="Georgia"/>
                <a:cs typeface="Georgia"/>
              </a:rPr>
              <a:t>Iterator</a:t>
            </a:r>
            <a:r>
              <a:rPr dirty="0" b="1">
                <a:latin typeface="宋体"/>
                <a:cs typeface="宋体"/>
              </a:rPr>
              <a:t>接</a:t>
            </a:r>
            <a:r>
              <a:rPr dirty="0" spc="-20" b="1">
                <a:latin typeface="宋体"/>
                <a:cs typeface="宋体"/>
              </a:rPr>
              <a:t>口</a:t>
            </a:r>
          </a:p>
        </p:txBody>
      </p:sp>
      <p:sp>
        <p:nvSpPr>
          <p:cNvPr id="4" name="object 4"/>
          <p:cNvSpPr/>
          <p:nvPr/>
        </p:nvSpPr>
        <p:spPr>
          <a:xfrm>
            <a:off x="2359151" y="1844039"/>
            <a:ext cx="5870448" cy="3211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83879" y="2766631"/>
            <a:ext cx="6221730" cy="1252855"/>
          </a:xfrm>
          <a:custGeom>
            <a:avLst/>
            <a:gdLst/>
            <a:ahLst/>
            <a:cxnLst/>
            <a:rect l="l" t="t" r="r" b="b"/>
            <a:pathLst>
              <a:path w="6221730" h="1252854">
                <a:moveTo>
                  <a:pt x="6221260" y="1252702"/>
                </a:moveTo>
                <a:lnTo>
                  <a:pt x="0" y="1252702"/>
                </a:lnTo>
                <a:lnTo>
                  <a:pt x="0" y="0"/>
                </a:lnTo>
                <a:lnTo>
                  <a:pt x="6221260" y="0"/>
                </a:lnTo>
                <a:lnTo>
                  <a:pt x="6221260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1224127"/>
                </a:lnTo>
                <a:lnTo>
                  <a:pt x="14287" y="1224127"/>
                </a:lnTo>
                <a:lnTo>
                  <a:pt x="28575" y="1238415"/>
                </a:lnTo>
                <a:lnTo>
                  <a:pt x="6221260" y="1238415"/>
                </a:lnTo>
                <a:lnTo>
                  <a:pt x="6221260" y="1252702"/>
                </a:lnTo>
                <a:close/>
              </a:path>
              <a:path w="6221730" h="1252854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6221730" h="1252854">
                <a:moveTo>
                  <a:pt x="6192685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6192685" y="14287"/>
                </a:lnTo>
                <a:lnTo>
                  <a:pt x="6192685" y="28574"/>
                </a:lnTo>
                <a:close/>
              </a:path>
              <a:path w="6221730" h="1252854">
                <a:moveTo>
                  <a:pt x="6192685" y="1238415"/>
                </a:moveTo>
                <a:lnTo>
                  <a:pt x="6192685" y="14287"/>
                </a:lnTo>
                <a:lnTo>
                  <a:pt x="6206972" y="28574"/>
                </a:lnTo>
                <a:lnTo>
                  <a:pt x="6221260" y="28574"/>
                </a:lnTo>
                <a:lnTo>
                  <a:pt x="6221260" y="1224127"/>
                </a:lnTo>
                <a:lnTo>
                  <a:pt x="6206972" y="1224127"/>
                </a:lnTo>
                <a:lnTo>
                  <a:pt x="6192685" y="1238415"/>
                </a:lnTo>
                <a:close/>
              </a:path>
              <a:path w="6221730" h="1252854">
                <a:moveTo>
                  <a:pt x="6221260" y="28574"/>
                </a:moveTo>
                <a:lnTo>
                  <a:pt x="6206972" y="28574"/>
                </a:lnTo>
                <a:lnTo>
                  <a:pt x="6192685" y="14287"/>
                </a:lnTo>
                <a:lnTo>
                  <a:pt x="6221260" y="14287"/>
                </a:lnTo>
                <a:lnTo>
                  <a:pt x="6221260" y="28574"/>
                </a:lnTo>
                <a:close/>
              </a:path>
              <a:path w="6221730" h="1252854">
                <a:moveTo>
                  <a:pt x="28575" y="1238415"/>
                </a:moveTo>
                <a:lnTo>
                  <a:pt x="14287" y="1224127"/>
                </a:lnTo>
                <a:lnTo>
                  <a:pt x="28575" y="1224127"/>
                </a:lnTo>
                <a:lnTo>
                  <a:pt x="28575" y="1238415"/>
                </a:lnTo>
                <a:close/>
              </a:path>
              <a:path w="6221730" h="1252854">
                <a:moveTo>
                  <a:pt x="6192685" y="1238415"/>
                </a:moveTo>
                <a:lnTo>
                  <a:pt x="28575" y="1238415"/>
                </a:lnTo>
                <a:lnTo>
                  <a:pt x="28575" y="1224127"/>
                </a:lnTo>
                <a:lnTo>
                  <a:pt x="6192685" y="1224127"/>
                </a:lnTo>
                <a:lnTo>
                  <a:pt x="6192685" y="1238415"/>
                </a:lnTo>
                <a:close/>
              </a:path>
              <a:path w="6221730" h="1252854">
                <a:moveTo>
                  <a:pt x="6221260" y="1238415"/>
                </a:moveTo>
                <a:lnTo>
                  <a:pt x="6192685" y="1238415"/>
                </a:lnTo>
                <a:lnTo>
                  <a:pt x="6206972" y="1224127"/>
                </a:lnTo>
                <a:lnTo>
                  <a:pt x="6221260" y="1224127"/>
                </a:lnTo>
                <a:lnTo>
                  <a:pt x="6221260" y="12384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0657"/>
            <a:ext cx="7852409" cy="90995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661035" indent="-648335">
              <a:lnSpc>
                <a:spcPct val="100000"/>
              </a:lnSpc>
              <a:spcBef>
                <a:spcPts val="290"/>
              </a:spcBef>
              <a:buSzPct val="95238"/>
              <a:buFont typeface=""/>
              <a:buAutoNum type="arabicPlain"/>
              <a:tabLst>
                <a:tab pos="661035" algn="l"/>
              </a:tabLst>
            </a:pPr>
            <a:r>
              <a:rPr dirty="0" sz="2100" spc="-5">
                <a:latin typeface="Georgia"/>
                <a:cs typeface="Georgia"/>
              </a:rPr>
              <a:t>next()</a:t>
            </a:r>
            <a:endParaRPr sz="2100">
              <a:latin typeface="Georgia"/>
              <a:cs typeface="Georgia"/>
            </a:endParaRPr>
          </a:p>
          <a:p>
            <a:pPr lvl="1" marL="417195" marR="5080" indent="-171450">
              <a:lnSpc>
                <a:spcPts val="1930"/>
              </a:lnSpc>
              <a:spcBef>
                <a:spcPts val="42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 spc="-5">
                <a:latin typeface="Georgia"/>
                <a:cs typeface="Georgia"/>
              </a:rPr>
              <a:t>Object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next()</a:t>
            </a:r>
            <a:r>
              <a:rPr dirty="0" sz="1800">
                <a:latin typeface="宋体"/>
                <a:cs typeface="宋体"/>
              </a:rPr>
              <a:t>。迭代器会记录迭代位置的变更，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它使用</a:t>
            </a:r>
            <a:r>
              <a:rPr dirty="0" sz="1800" spc="-5">
                <a:solidFill>
                  <a:srgbClr val="FF0000"/>
                </a:solidFill>
                <a:latin typeface="Georgia"/>
                <a:cs typeface="Georgia"/>
              </a:rPr>
              <a:t>next()</a:t>
            </a: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方法将迭代位 置向下一个元素移动，并返回刚刚越过的那个元素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969" y="316230"/>
            <a:ext cx="43148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3625" algn="l"/>
              </a:tabLst>
            </a:pPr>
            <a:r>
              <a:rPr dirty="0" spc="-5" b="1">
                <a:latin typeface="Georgia"/>
                <a:cs typeface="Georgia"/>
              </a:rPr>
              <a:t>8.1.2	</a:t>
            </a:r>
            <a:r>
              <a:rPr dirty="0" b="1">
                <a:latin typeface="宋体"/>
                <a:cs typeface="宋体"/>
              </a:rPr>
              <a:t>迭代器</a:t>
            </a:r>
            <a:r>
              <a:rPr dirty="0" spc="-5" b="1">
                <a:latin typeface="Georgia"/>
                <a:cs typeface="Georgia"/>
              </a:rPr>
              <a:t>Iterator</a:t>
            </a:r>
            <a:r>
              <a:rPr dirty="0" b="1">
                <a:latin typeface="宋体"/>
                <a:cs typeface="宋体"/>
              </a:rPr>
              <a:t>接</a:t>
            </a:r>
            <a:r>
              <a:rPr dirty="0" spc="-20" b="1">
                <a:latin typeface="宋体"/>
                <a:cs typeface="宋体"/>
              </a:rPr>
              <a:t>口</a:t>
            </a:r>
          </a:p>
        </p:txBody>
      </p:sp>
      <p:sp>
        <p:nvSpPr>
          <p:cNvPr id="4" name="object 4"/>
          <p:cNvSpPr/>
          <p:nvPr/>
        </p:nvSpPr>
        <p:spPr>
          <a:xfrm>
            <a:off x="2053536" y="3212592"/>
            <a:ext cx="5170241" cy="2014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3514"/>
            <a:ext cx="7937500" cy="2959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0" indent="-901700">
              <a:lnSpc>
                <a:spcPct val="100000"/>
              </a:lnSpc>
              <a:spcBef>
                <a:spcPts val="105"/>
              </a:spcBef>
              <a:buSzPct val="62500"/>
              <a:buFont typeface=""/>
              <a:buAutoNum type="arabicPlain" startAt="2"/>
              <a:tabLst>
                <a:tab pos="914400" algn="l"/>
              </a:tabLst>
            </a:pPr>
            <a:r>
              <a:rPr dirty="0" sz="3200" spc="-5">
                <a:latin typeface="Georgia"/>
                <a:cs typeface="Georgia"/>
              </a:rPr>
              <a:t>hasNext()</a:t>
            </a:r>
            <a:endParaRPr sz="3200">
              <a:latin typeface="Georgia"/>
              <a:cs typeface="Georgia"/>
            </a:endParaRPr>
          </a:p>
          <a:p>
            <a:pPr lvl="1" marL="417195" marR="5080" indent="-171450">
              <a:lnSpc>
                <a:spcPts val="3020"/>
              </a:lnSpc>
              <a:spcBef>
                <a:spcPts val="43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800" spc="-5">
                <a:latin typeface="Georgia"/>
                <a:cs typeface="Georgia"/>
              </a:rPr>
              <a:t>boolean</a:t>
            </a:r>
            <a:r>
              <a:rPr dirty="0" sz="2800" spc="-50">
                <a:latin typeface="Georgia"/>
                <a:cs typeface="Georgia"/>
              </a:rPr>
              <a:t> </a:t>
            </a:r>
            <a:r>
              <a:rPr dirty="0" sz="2800" spc="-5">
                <a:latin typeface="Georgia"/>
                <a:cs typeface="Georgia"/>
              </a:rPr>
              <a:t>hasNext()</a:t>
            </a:r>
            <a:r>
              <a:rPr dirty="0" sz="2800" spc="-5">
                <a:latin typeface="宋体"/>
                <a:cs typeface="宋体"/>
              </a:rPr>
              <a:t>：</a:t>
            </a:r>
            <a:r>
              <a:rPr dirty="0" sz="2800">
                <a:latin typeface="宋体"/>
                <a:cs typeface="宋体"/>
              </a:rPr>
              <a:t>如果集合中还有未被遍历</a:t>
            </a:r>
            <a:r>
              <a:rPr dirty="0" sz="2800" spc="-5">
                <a:latin typeface="宋体"/>
                <a:cs typeface="宋体"/>
              </a:rPr>
              <a:t>的 </a:t>
            </a:r>
            <a:r>
              <a:rPr dirty="0" sz="2800">
                <a:latin typeface="宋体"/>
                <a:cs typeface="宋体"/>
              </a:rPr>
              <a:t>元素，返回</a:t>
            </a:r>
            <a:r>
              <a:rPr dirty="0" sz="2800" spc="-5">
                <a:latin typeface="Georgia"/>
                <a:cs typeface="Georgia"/>
              </a:rPr>
              <a:t>true</a:t>
            </a:r>
            <a:r>
              <a:rPr dirty="0" sz="2800" spc="-5">
                <a:latin typeface="宋体"/>
                <a:cs typeface="宋体"/>
              </a:rPr>
              <a:t>，</a:t>
            </a:r>
            <a:r>
              <a:rPr dirty="0" sz="2800">
                <a:latin typeface="宋体"/>
                <a:cs typeface="宋体"/>
              </a:rPr>
              <a:t>即迭代器还可以继续向后移</a:t>
            </a:r>
            <a:r>
              <a:rPr dirty="0" sz="2800" spc="-5">
                <a:latin typeface="宋体"/>
                <a:cs typeface="宋体"/>
              </a:rPr>
              <a:t>动 </a:t>
            </a:r>
            <a:r>
              <a:rPr dirty="0" sz="2800">
                <a:latin typeface="宋体"/>
                <a:cs typeface="宋体"/>
              </a:rPr>
              <a:t>的时候返回</a:t>
            </a:r>
            <a:r>
              <a:rPr dirty="0" sz="2800" spc="-5">
                <a:latin typeface="Georgia"/>
                <a:cs typeface="Georgia"/>
              </a:rPr>
              <a:t>true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900">
              <a:latin typeface="宋体"/>
              <a:cs typeface="宋体"/>
            </a:endParaRPr>
          </a:p>
          <a:p>
            <a:pPr lvl="1" marL="417195" marR="161925" indent="-171450">
              <a:lnSpc>
                <a:spcPts val="3020"/>
              </a:lnSpc>
              <a:buFont typeface="Arial"/>
              <a:buChar char="•"/>
              <a:tabLst>
                <a:tab pos="417195" algn="l"/>
              </a:tabLst>
            </a:pPr>
            <a:r>
              <a:rPr dirty="0" sz="2800">
                <a:latin typeface="宋体"/>
                <a:cs typeface="宋体"/>
              </a:rPr>
              <a:t>遍历时，在</a:t>
            </a:r>
            <a:r>
              <a:rPr dirty="0" sz="2800" spc="-5">
                <a:latin typeface="Georgia"/>
                <a:cs typeface="Georgia"/>
              </a:rPr>
              <a:t>hasNext()</a:t>
            </a:r>
            <a:r>
              <a:rPr dirty="0" sz="2800">
                <a:latin typeface="宋体"/>
                <a:cs typeface="宋体"/>
              </a:rPr>
              <a:t>方法的控制下，通过反</a:t>
            </a:r>
            <a:r>
              <a:rPr dirty="0" sz="2800" spc="-5">
                <a:latin typeface="宋体"/>
                <a:cs typeface="宋体"/>
              </a:rPr>
              <a:t>复 </a:t>
            </a:r>
            <a:r>
              <a:rPr dirty="0" sz="2800">
                <a:latin typeface="宋体"/>
                <a:cs typeface="宋体"/>
              </a:rPr>
              <a:t>调用</a:t>
            </a:r>
            <a:r>
              <a:rPr dirty="0" sz="2800" spc="-5">
                <a:latin typeface="Georgia"/>
                <a:cs typeface="Georgia"/>
              </a:rPr>
              <a:t>next()</a:t>
            </a:r>
            <a:r>
              <a:rPr dirty="0" sz="2800">
                <a:latin typeface="宋体"/>
                <a:cs typeface="宋体"/>
              </a:rPr>
              <a:t>方法，逐个访问集合中的各个元素</a:t>
            </a:r>
            <a:r>
              <a:rPr dirty="0" sz="2800" spc="-5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277990"/>
            <a:ext cx="49269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14120" algn="l"/>
              </a:tabLst>
            </a:pPr>
            <a:r>
              <a:rPr dirty="0" sz="3200" spc="-5" b="1">
                <a:latin typeface="Georgia"/>
                <a:cs typeface="Georgia"/>
              </a:rPr>
              <a:t>8.1.2	</a:t>
            </a:r>
            <a:r>
              <a:rPr dirty="0" sz="3200" b="1">
                <a:latin typeface="宋体"/>
                <a:cs typeface="宋体"/>
              </a:rPr>
              <a:t>迭代器</a:t>
            </a:r>
            <a:r>
              <a:rPr dirty="0" sz="3200" spc="-5" b="1">
                <a:latin typeface="Georgia"/>
                <a:cs typeface="Georgia"/>
              </a:rPr>
              <a:t>Iterator</a:t>
            </a:r>
            <a:r>
              <a:rPr dirty="0" sz="3200" b="1">
                <a:latin typeface="宋体"/>
                <a:cs typeface="宋体"/>
              </a:rPr>
              <a:t>接</a:t>
            </a:r>
            <a:r>
              <a:rPr dirty="0" sz="3200" spc="-10" b="1">
                <a:latin typeface="宋体"/>
                <a:cs typeface="宋体"/>
              </a:rPr>
              <a:t>口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241477"/>
            <a:ext cx="55378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3980" algn="l"/>
              </a:tabLst>
            </a:pPr>
            <a:r>
              <a:rPr dirty="0" sz="3600" spc="-5" b="1">
                <a:latin typeface="Georgia"/>
                <a:cs typeface="Georgia"/>
              </a:rPr>
              <a:t>8.1.2	</a:t>
            </a:r>
            <a:r>
              <a:rPr dirty="0" sz="3600" b="1">
                <a:latin typeface="宋体"/>
                <a:cs typeface="宋体"/>
              </a:rPr>
              <a:t>迭代器</a:t>
            </a:r>
            <a:r>
              <a:rPr dirty="0" sz="3600" spc="-5" b="1">
                <a:latin typeface="Georgia"/>
                <a:cs typeface="Georgia"/>
              </a:rPr>
              <a:t>Iterator</a:t>
            </a:r>
            <a:r>
              <a:rPr dirty="0" sz="3600" b="1">
                <a:latin typeface="宋体"/>
                <a:cs typeface="宋体"/>
              </a:rPr>
              <a:t>接</a:t>
            </a:r>
            <a:r>
              <a:rPr dirty="0" sz="3600" spc="-15" b="1">
                <a:latin typeface="宋体"/>
                <a:cs typeface="宋体"/>
              </a:rPr>
              <a:t>口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1123" y="1434083"/>
            <a:ext cx="7776972" cy="1630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7745" y="1430566"/>
            <a:ext cx="7785100" cy="1637664"/>
          </a:xfrm>
          <a:custGeom>
            <a:avLst/>
            <a:gdLst/>
            <a:ahLst/>
            <a:cxnLst/>
            <a:rect l="l" t="t" r="r" b="b"/>
            <a:pathLst>
              <a:path w="7785100" h="1637664">
                <a:moveTo>
                  <a:pt x="7784490" y="1637664"/>
                </a:moveTo>
                <a:lnTo>
                  <a:pt x="0" y="1637664"/>
                </a:lnTo>
                <a:lnTo>
                  <a:pt x="0" y="0"/>
                </a:lnTo>
                <a:lnTo>
                  <a:pt x="7784490" y="0"/>
                </a:lnTo>
                <a:lnTo>
                  <a:pt x="778449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630044"/>
                </a:lnTo>
                <a:lnTo>
                  <a:pt x="3810" y="1630044"/>
                </a:lnTo>
                <a:lnTo>
                  <a:pt x="7620" y="1633854"/>
                </a:lnTo>
                <a:lnTo>
                  <a:pt x="7784490" y="1633854"/>
                </a:lnTo>
                <a:lnTo>
                  <a:pt x="7784490" y="1637664"/>
                </a:lnTo>
                <a:close/>
              </a:path>
              <a:path w="7785100" h="163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785100" h="1637664">
                <a:moveTo>
                  <a:pt x="777687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776870" y="3809"/>
                </a:lnTo>
                <a:lnTo>
                  <a:pt x="7776870" y="7619"/>
                </a:lnTo>
                <a:close/>
              </a:path>
              <a:path w="7785100" h="1637664">
                <a:moveTo>
                  <a:pt x="7776870" y="1633854"/>
                </a:moveTo>
                <a:lnTo>
                  <a:pt x="7776870" y="3809"/>
                </a:lnTo>
                <a:lnTo>
                  <a:pt x="7780680" y="7619"/>
                </a:lnTo>
                <a:lnTo>
                  <a:pt x="7784490" y="7619"/>
                </a:lnTo>
                <a:lnTo>
                  <a:pt x="7784490" y="1630044"/>
                </a:lnTo>
                <a:lnTo>
                  <a:pt x="7780680" y="1630044"/>
                </a:lnTo>
                <a:lnTo>
                  <a:pt x="7776870" y="1633854"/>
                </a:lnTo>
                <a:close/>
              </a:path>
              <a:path w="7785100" h="1637664">
                <a:moveTo>
                  <a:pt x="7784490" y="7619"/>
                </a:moveTo>
                <a:lnTo>
                  <a:pt x="7780680" y="7619"/>
                </a:lnTo>
                <a:lnTo>
                  <a:pt x="7776870" y="3809"/>
                </a:lnTo>
                <a:lnTo>
                  <a:pt x="7784490" y="3809"/>
                </a:lnTo>
                <a:lnTo>
                  <a:pt x="7784490" y="7619"/>
                </a:lnTo>
                <a:close/>
              </a:path>
              <a:path w="7785100" h="1637664">
                <a:moveTo>
                  <a:pt x="7620" y="1633854"/>
                </a:moveTo>
                <a:lnTo>
                  <a:pt x="3810" y="1630044"/>
                </a:lnTo>
                <a:lnTo>
                  <a:pt x="7620" y="1630044"/>
                </a:lnTo>
                <a:lnTo>
                  <a:pt x="7620" y="1633854"/>
                </a:lnTo>
                <a:close/>
              </a:path>
              <a:path w="7785100" h="1637664">
                <a:moveTo>
                  <a:pt x="7776870" y="1633854"/>
                </a:moveTo>
                <a:lnTo>
                  <a:pt x="7620" y="1633854"/>
                </a:lnTo>
                <a:lnTo>
                  <a:pt x="7620" y="1630044"/>
                </a:lnTo>
                <a:lnTo>
                  <a:pt x="7776870" y="1630044"/>
                </a:lnTo>
                <a:lnTo>
                  <a:pt x="7776870" y="1633854"/>
                </a:lnTo>
                <a:close/>
              </a:path>
              <a:path w="7785100" h="1637664">
                <a:moveTo>
                  <a:pt x="7784490" y="1633854"/>
                </a:moveTo>
                <a:lnTo>
                  <a:pt x="7776870" y="1633854"/>
                </a:lnTo>
                <a:lnTo>
                  <a:pt x="7780680" y="1630044"/>
                </a:lnTo>
                <a:lnTo>
                  <a:pt x="7784490" y="1630044"/>
                </a:lnTo>
                <a:lnTo>
                  <a:pt x="7784490" y="1633854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1123" y="1454695"/>
            <a:ext cx="7777480" cy="4632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  <a:tabLst>
                <a:tab pos="3749040" algn="l"/>
              </a:tabLst>
            </a:pPr>
            <a:r>
              <a:rPr dirty="0" sz="2000" spc="-5">
                <a:latin typeface="Georgia"/>
                <a:cs typeface="Georgia"/>
              </a:rPr>
              <a:t>Collection </a:t>
            </a:r>
            <a:r>
              <a:rPr dirty="0" sz="2000">
                <a:latin typeface="Georgia"/>
                <a:cs typeface="Georgia"/>
              </a:rPr>
              <a:t>c =</a:t>
            </a:r>
            <a:r>
              <a:rPr dirty="0" sz="2000" spc="5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new</a:t>
            </a:r>
            <a:r>
              <a:rPr dirty="0" sz="2000" spc="-25" b="1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ArrayList();	</a:t>
            </a:r>
            <a:r>
              <a:rPr dirty="0" sz="2000">
                <a:latin typeface="Georgia"/>
                <a:cs typeface="Georgia"/>
              </a:rPr>
              <a:t>//</a:t>
            </a:r>
            <a:r>
              <a:rPr dirty="0" sz="2000">
                <a:latin typeface="宋体"/>
                <a:cs typeface="宋体"/>
              </a:rPr>
              <a:t>创建一个</a:t>
            </a:r>
            <a:r>
              <a:rPr dirty="0" sz="2000" spc="-5">
                <a:latin typeface="Georgia"/>
                <a:cs typeface="Georgia"/>
              </a:rPr>
              <a:t>ArrayList</a:t>
            </a:r>
            <a:r>
              <a:rPr dirty="0" sz="2000">
                <a:latin typeface="宋体"/>
                <a:cs typeface="宋体"/>
              </a:rPr>
              <a:t>对</a:t>
            </a:r>
            <a:r>
              <a:rPr dirty="0" sz="2000" spc="5">
                <a:latin typeface="宋体"/>
                <a:cs typeface="宋体"/>
              </a:rPr>
              <a:t>象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2000" spc="-5">
                <a:latin typeface="Georgia"/>
                <a:cs typeface="Georgia"/>
              </a:rPr>
              <a:t>c.add("Java");</a:t>
            </a:r>
            <a:endParaRPr sz="2000">
              <a:latin typeface="Georgia"/>
              <a:cs typeface="Georgia"/>
            </a:endParaRPr>
          </a:p>
          <a:p>
            <a:pPr marL="9144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c.add("Struts");</a:t>
            </a:r>
            <a:endParaRPr sz="2000">
              <a:latin typeface="Georgia"/>
              <a:cs typeface="Georgia"/>
            </a:endParaRPr>
          </a:p>
          <a:p>
            <a:pPr marL="9144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c.add("Spring");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300">
              <a:latin typeface="Georgia"/>
              <a:cs typeface="Georgia"/>
            </a:endParaRPr>
          </a:p>
          <a:p>
            <a:pPr marL="193040" marR="1986280">
              <a:lnSpc>
                <a:spcPct val="127800"/>
              </a:lnSpc>
              <a:spcBef>
                <a:spcPts val="1639"/>
              </a:spcBef>
              <a:tabLst>
                <a:tab pos="2766695" algn="l"/>
              </a:tabLst>
            </a:pPr>
            <a:r>
              <a:rPr dirty="0" sz="1800" spc="-5">
                <a:latin typeface="Georgia"/>
                <a:cs typeface="Georgia"/>
              </a:rPr>
              <a:t>Iterato</a:t>
            </a:r>
            <a:r>
              <a:rPr dirty="0" sz="1800">
                <a:latin typeface="Georgia"/>
                <a:cs typeface="Georgia"/>
              </a:rPr>
              <a:t>r</a:t>
            </a:r>
            <a:r>
              <a:rPr dirty="0" sz="1800" spc="-5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i</a:t>
            </a:r>
            <a:r>
              <a:rPr dirty="0" sz="1800">
                <a:solidFill>
                  <a:srgbClr val="6A3D3D"/>
                </a:solidFill>
                <a:latin typeface="Georgia"/>
                <a:cs typeface="Georgia"/>
              </a:rPr>
              <a:t>t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= 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c</a:t>
            </a:r>
            <a:r>
              <a:rPr dirty="0" sz="1800" spc="-5">
                <a:latin typeface="Georgia"/>
                <a:cs typeface="Georgia"/>
              </a:rPr>
              <a:t>.iterator</a:t>
            </a:r>
            <a:r>
              <a:rPr dirty="0" sz="1800">
                <a:latin typeface="Georgia"/>
                <a:cs typeface="Georgia"/>
              </a:rPr>
              <a:t>();	</a:t>
            </a:r>
            <a:r>
              <a:rPr dirty="0" sz="1800">
                <a:solidFill>
                  <a:srgbClr val="3E7E5F"/>
                </a:solidFill>
                <a:latin typeface="Georgia"/>
                <a:cs typeface="Georgia"/>
              </a:rPr>
              <a:t>//(1)</a:t>
            </a:r>
            <a:r>
              <a:rPr dirty="0" sz="1800" spc="-5">
                <a:solidFill>
                  <a:srgbClr val="3E7E5F"/>
                </a:solidFill>
                <a:latin typeface="Georgia"/>
                <a:cs typeface="Georgia"/>
              </a:rPr>
              <a:t>iterator</a:t>
            </a:r>
            <a:r>
              <a:rPr dirty="0" sz="1800">
                <a:solidFill>
                  <a:srgbClr val="3E7E5F"/>
                </a:solidFill>
                <a:latin typeface="Georgia"/>
                <a:cs typeface="Georgia"/>
              </a:rPr>
              <a:t>()</a:t>
            </a:r>
            <a:r>
              <a:rPr dirty="0" sz="1800">
                <a:solidFill>
                  <a:srgbClr val="3E7E5F"/>
                </a:solidFill>
                <a:latin typeface="宋体"/>
                <a:cs typeface="宋体"/>
              </a:rPr>
              <a:t>方法获取迭代器  </a:t>
            </a:r>
            <a:r>
              <a:rPr dirty="0" sz="1800" spc="-5">
                <a:solidFill>
                  <a:srgbClr val="7E0054"/>
                </a:solidFill>
                <a:latin typeface="Georgia"/>
                <a:cs typeface="Georgia"/>
              </a:rPr>
              <a:t>while</a:t>
            </a:r>
            <a:r>
              <a:rPr dirty="0" sz="1800">
                <a:solidFill>
                  <a:srgbClr val="7E0054"/>
                </a:solidFill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(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it</a:t>
            </a:r>
            <a:r>
              <a:rPr dirty="0" sz="1800" spc="-5">
                <a:latin typeface="Georgia"/>
                <a:cs typeface="Georgia"/>
              </a:rPr>
              <a:t>.hasNext()){</a:t>
            </a:r>
            <a:r>
              <a:rPr dirty="0" sz="1800" spc="5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3E7E5F"/>
                </a:solidFill>
                <a:latin typeface="Georgia"/>
                <a:cs typeface="Georgia"/>
              </a:rPr>
              <a:t>//(2)hasNext()</a:t>
            </a:r>
            <a:r>
              <a:rPr dirty="0" sz="1800">
                <a:solidFill>
                  <a:srgbClr val="3E7E5F"/>
                </a:solidFill>
                <a:latin typeface="宋体"/>
                <a:cs typeface="宋体"/>
              </a:rPr>
              <a:t>方法控制迭代</a:t>
            </a:r>
            <a:endParaRPr sz="1800">
              <a:latin typeface="宋体"/>
              <a:cs typeface="宋体"/>
            </a:endParaRPr>
          </a:p>
          <a:p>
            <a:pPr marL="1107440" marR="3237865">
              <a:lnSpc>
                <a:spcPct val="127800"/>
              </a:lnSpc>
            </a:pPr>
            <a:r>
              <a:rPr dirty="0" sz="1800" spc="-5">
                <a:solidFill>
                  <a:srgbClr val="3E7E5F"/>
                </a:solidFill>
                <a:latin typeface="Georgia"/>
                <a:cs typeface="Georgia"/>
              </a:rPr>
              <a:t>//(3)next()</a:t>
            </a:r>
            <a:r>
              <a:rPr dirty="0" sz="1800">
                <a:solidFill>
                  <a:srgbClr val="3E7E5F"/>
                </a:solidFill>
                <a:latin typeface="宋体"/>
                <a:cs typeface="宋体"/>
              </a:rPr>
              <a:t>方法获取迭代元素 </a:t>
            </a:r>
            <a:r>
              <a:rPr dirty="0" sz="1800" spc="-5">
                <a:latin typeface="Georgia"/>
                <a:cs typeface="Georgia"/>
              </a:rPr>
              <a:t>String 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element </a:t>
            </a:r>
            <a:r>
              <a:rPr dirty="0" sz="1800">
                <a:latin typeface="Georgia"/>
                <a:cs typeface="Georgia"/>
              </a:rPr>
              <a:t>= </a:t>
            </a:r>
            <a:r>
              <a:rPr dirty="0" sz="1800" spc="-5">
                <a:latin typeface="Georgia"/>
                <a:cs typeface="Georgia"/>
              </a:rPr>
              <a:t>(String)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it</a:t>
            </a:r>
            <a:r>
              <a:rPr dirty="0" sz="1800" spc="-5">
                <a:latin typeface="Georgia"/>
                <a:cs typeface="Georgia"/>
              </a:rPr>
              <a:t>.next();  System.</a:t>
            </a:r>
            <a:r>
              <a:rPr dirty="0" sz="1800" spc="-5">
                <a:solidFill>
                  <a:srgbClr val="0000C0"/>
                </a:solidFill>
                <a:latin typeface="Georgia"/>
                <a:cs typeface="Georgia"/>
              </a:rPr>
              <a:t>out</a:t>
            </a:r>
            <a:r>
              <a:rPr dirty="0" sz="1800" spc="-5">
                <a:latin typeface="Georgia"/>
                <a:cs typeface="Georgia"/>
              </a:rPr>
              <a:t>.println(</a:t>
            </a:r>
            <a:r>
              <a:rPr dirty="0" sz="1800" spc="-5">
                <a:solidFill>
                  <a:srgbClr val="6A3D3D"/>
                </a:solidFill>
                <a:latin typeface="Georgia"/>
                <a:cs typeface="Georgia"/>
              </a:rPr>
              <a:t>element</a:t>
            </a:r>
            <a:r>
              <a:rPr dirty="0" sz="1800" spc="-5">
                <a:latin typeface="Georgia"/>
                <a:cs typeface="Georgia"/>
              </a:rPr>
              <a:t>);</a:t>
            </a:r>
            <a:endParaRPr sz="1800">
              <a:latin typeface="Georgia"/>
              <a:cs typeface="Georgia"/>
            </a:endParaRPr>
          </a:p>
          <a:p>
            <a:pPr marL="19304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93040">
              <a:lnSpc>
                <a:spcPct val="100000"/>
              </a:lnSpc>
              <a:spcBef>
                <a:spcPts val="570"/>
              </a:spcBef>
            </a:pPr>
            <a:r>
              <a:rPr dirty="0" sz="2400" spc="-5" b="1">
                <a:solidFill>
                  <a:srgbClr val="006C39"/>
                </a:solidFill>
                <a:latin typeface="Georgia"/>
                <a:cs typeface="Georgia"/>
              </a:rPr>
              <a:t>Sample:CrossContainerIteration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32416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1370" algn="l"/>
              </a:tabLst>
            </a:pPr>
            <a:r>
              <a:rPr dirty="0" sz="2100" spc="-5" b="1">
                <a:latin typeface="Georgia"/>
                <a:cs typeface="Georgia"/>
              </a:rPr>
              <a:t>8.1.2	</a:t>
            </a:r>
            <a:r>
              <a:rPr dirty="0" sz="2100" b="1">
                <a:latin typeface="宋体"/>
                <a:cs typeface="宋体"/>
              </a:rPr>
              <a:t>迭代器</a:t>
            </a:r>
            <a:r>
              <a:rPr dirty="0" sz="2100" spc="-5" b="1">
                <a:latin typeface="Georgia"/>
                <a:cs typeface="Georgia"/>
              </a:rPr>
              <a:t>Iterator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2311" y="3383279"/>
            <a:ext cx="1612391" cy="1973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84200" y="1165543"/>
            <a:ext cx="7765415" cy="297688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694055" indent="-681355">
              <a:lnSpc>
                <a:spcPct val="100000"/>
              </a:lnSpc>
              <a:spcBef>
                <a:spcPts val="290"/>
              </a:spcBef>
              <a:buSzPct val="95238"/>
              <a:buFont typeface=""/>
              <a:buAutoNum type="arabicPlain" startAt="3"/>
              <a:tabLst>
                <a:tab pos="694055" algn="l"/>
              </a:tabLst>
            </a:pPr>
            <a:r>
              <a:rPr dirty="0" sz="2100" spc="-5">
                <a:latin typeface="Georgia"/>
                <a:cs typeface="Georgia"/>
              </a:rPr>
              <a:t>remove()</a:t>
            </a:r>
            <a:endParaRPr sz="2100">
              <a:latin typeface="Georgia"/>
              <a:cs typeface="Georgia"/>
            </a:endParaRPr>
          </a:p>
          <a:p>
            <a:pPr lvl="1" marL="417195" indent="-17208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 spc="-5">
                <a:latin typeface="Georgia"/>
                <a:cs typeface="Georgia"/>
              </a:rPr>
              <a:t>void remove()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删除集合中上一次调用</a:t>
            </a:r>
            <a:r>
              <a:rPr dirty="0" sz="1800" spc="-5">
                <a:latin typeface="Georgia"/>
                <a:cs typeface="Georgia"/>
              </a:rPr>
              <a:t>next()</a:t>
            </a:r>
            <a:r>
              <a:rPr dirty="0" sz="1800">
                <a:latin typeface="宋体"/>
                <a:cs typeface="宋体"/>
              </a:rPr>
              <a:t>方法时返回的元素。</a:t>
            </a:r>
            <a:endParaRPr sz="1800">
              <a:latin typeface="宋体"/>
              <a:cs typeface="宋体"/>
            </a:endParaRPr>
          </a:p>
          <a:p>
            <a:pPr lvl="2" marL="2493010" marR="427990" indent="-285750">
              <a:lnSpc>
                <a:spcPct val="100000"/>
              </a:lnSpc>
              <a:spcBef>
                <a:spcPts val="1610"/>
              </a:spcBef>
              <a:buFont typeface="Arial"/>
              <a:buChar char="•"/>
              <a:tabLst>
                <a:tab pos="2492375" algn="l"/>
                <a:tab pos="2493010" algn="l"/>
              </a:tabLst>
            </a:pPr>
            <a:r>
              <a:rPr dirty="0" sz="2000">
                <a:latin typeface="宋体"/>
                <a:cs typeface="宋体"/>
              </a:rPr>
              <a:t>使用</a:t>
            </a:r>
            <a:r>
              <a:rPr dirty="0" sz="2000" spc="-5">
                <a:latin typeface="Georgia"/>
                <a:cs typeface="Georgia"/>
              </a:rPr>
              <a:t>re</a:t>
            </a:r>
            <a:r>
              <a:rPr dirty="0" sz="2000" spc="-10">
                <a:latin typeface="Georgia"/>
                <a:cs typeface="Georgia"/>
              </a:rPr>
              <a:t>m</a:t>
            </a:r>
            <a:r>
              <a:rPr dirty="0" sz="2000" spc="-5">
                <a:latin typeface="Georgia"/>
                <a:cs typeface="Georgia"/>
              </a:rPr>
              <a:t>ove()</a:t>
            </a:r>
            <a:r>
              <a:rPr dirty="0" sz="2000">
                <a:latin typeface="宋体"/>
                <a:cs typeface="宋体"/>
              </a:rPr>
              <a:t>删除某位置的元素时，必须</a:t>
            </a:r>
            <a:r>
              <a:rPr dirty="0" sz="2000">
                <a:latin typeface="宋体"/>
                <a:cs typeface="宋体"/>
              </a:rPr>
              <a:t>先 </a:t>
            </a:r>
            <a:r>
              <a:rPr dirty="0" sz="2000">
                <a:latin typeface="宋体"/>
                <a:cs typeface="宋体"/>
              </a:rPr>
              <a:t>调用</a:t>
            </a:r>
            <a:r>
              <a:rPr dirty="0" sz="2000" spc="-5">
                <a:latin typeface="Georgia"/>
                <a:cs typeface="Georgia"/>
              </a:rPr>
              <a:t>next()</a:t>
            </a:r>
            <a:r>
              <a:rPr dirty="0" sz="2000">
                <a:latin typeface="宋体"/>
                <a:cs typeface="宋体"/>
              </a:rPr>
              <a:t>方法使迭代器跳过该元素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宋体"/>
              <a:cs typeface="宋体"/>
            </a:endParaRPr>
          </a:p>
          <a:p>
            <a:pPr marL="2494915">
              <a:lnSpc>
                <a:spcPct val="100000"/>
              </a:lnSpc>
            </a:pPr>
            <a:r>
              <a:rPr dirty="0" sz="1800">
                <a:latin typeface="宋体"/>
                <a:cs typeface="宋体"/>
              </a:rPr>
              <a:t>设集合中已存在若干元素，删除第一个元素的方法：</a:t>
            </a:r>
            <a:endParaRPr sz="1800">
              <a:latin typeface="宋体"/>
              <a:cs typeface="宋体"/>
            </a:endParaRPr>
          </a:p>
          <a:p>
            <a:pPr marL="2494915" marR="2134870">
              <a:lnSpc>
                <a:spcPct val="100000"/>
              </a:lnSpc>
              <a:spcBef>
                <a:spcPts val="15"/>
              </a:spcBef>
              <a:tabLst>
                <a:tab pos="3716020" algn="l"/>
              </a:tabLst>
            </a:pPr>
            <a:r>
              <a:rPr dirty="0" sz="1800" spc="-5">
                <a:latin typeface="Georgia"/>
                <a:cs typeface="Georgia"/>
              </a:rPr>
              <a:t>Iterator it </a:t>
            </a:r>
            <a:r>
              <a:rPr dirty="0" sz="1800">
                <a:latin typeface="Georgia"/>
                <a:cs typeface="Georgia"/>
              </a:rPr>
              <a:t>= </a:t>
            </a:r>
            <a:r>
              <a:rPr dirty="0" sz="1800" spc="-5">
                <a:latin typeface="Georgia"/>
                <a:cs typeface="Georgia"/>
              </a:rPr>
              <a:t>c.iterator();  it.next();	</a:t>
            </a:r>
            <a:r>
              <a:rPr dirty="0" sz="1800">
                <a:latin typeface="Georgia"/>
                <a:cs typeface="Georgia"/>
              </a:rPr>
              <a:t>//</a:t>
            </a:r>
            <a:r>
              <a:rPr dirty="0" sz="1800">
                <a:latin typeface="宋体"/>
                <a:cs typeface="宋体"/>
              </a:rPr>
              <a:t>越过第一个元素 </a:t>
            </a:r>
            <a:r>
              <a:rPr dirty="0" sz="1800" spc="-5">
                <a:latin typeface="Georgia"/>
                <a:cs typeface="Georgia"/>
              </a:rPr>
              <a:t>it.remove();</a:t>
            </a:r>
            <a:r>
              <a:rPr dirty="0" sz="1800" spc="35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//</a:t>
            </a:r>
            <a:r>
              <a:rPr dirty="0" sz="1800">
                <a:latin typeface="宋体"/>
                <a:cs typeface="宋体"/>
              </a:rPr>
              <a:t>删除第一个元素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3492500" y="5338445"/>
            <a:ext cx="2900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Georgia"/>
                <a:cs typeface="Georgia"/>
              </a:rPr>
              <a:t>Example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:IteratorDemo.java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304736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宋体"/>
                <a:cs typeface="宋体"/>
              </a:rPr>
              <a:t>传统的</a:t>
            </a:r>
            <a:r>
              <a:rPr dirty="0" sz="2100" spc="-5" b="1">
                <a:latin typeface="Georgia"/>
                <a:cs typeface="Georgia"/>
              </a:rPr>
              <a:t>for-each</a:t>
            </a:r>
            <a:r>
              <a:rPr dirty="0" sz="2100" b="1">
                <a:latin typeface="宋体"/>
                <a:cs typeface="宋体"/>
              </a:rPr>
              <a:t>循环遍</a:t>
            </a:r>
            <a:r>
              <a:rPr dirty="0" sz="2100" spc="-10" b="1">
                <a:latin typeface="宋体"/>
                <a:cs typeface="宋体"/>
              </a:rPr>
              <a:t>历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2043" y="3642632"/>
            <a:ext cx="4185285" cy="155638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045844">
              <a:lnSpc>
                <a:spcPct val="100000"/>
              </a:lnSpc>
              <a:spcBef>
                <a:spcPts val="235"/>
              </a:spcBef>
              <a:tabLst>
                <a:tab pos="2153920" algn="l"/>
              </a:tabLst>
            </a:pPr>
            <a:r>
              <a:rPr dirty="0" baseline="1543" sz="2700" b="1">
                <a:solidFill>
                  <a:srgbClr val="FF0000"/>
                </a:solidFill>
                <a:latin typeface="宋体"/>
                <a:cs typeface="宋体"/>
              </a:rPr>
              <a:t>循环变</a:t>
            </a:r>
            <a:r>
              <a:rPr dirty="0" baseline="1543" sz="2700" spc="-15" b="1">
                <a:solidFill>
                  <a:srgbClr val="FF0000"/>
                </a:solidFill>
                <a:latin typeface="宋体"/>
                <a:cs typeface="宋体"/>
              </a:rPr>
              <a:t>量	</a:t>
            </a:r>
            <a:r>
              <a:rPr dirty="0" baseline="7716" sz="2700" b="1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dirty="0" baseline="7716" sz="2700" spc="397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集合对</a:t>
            </a:r>
            <a:r>
              <a:rPr dirty="0" sz="1800" spc="-10" b="1">
                <a:solidFill>
                  <a:srgbClr val="FF0000"/>
                </a:solidFill>
                <a:latin typeface="宋体"/>
                <a:cs typeface="宋体"/>
              </a:rPr>
              <a:t>象</a:t>
            </a:r>
            <a:endParaRPr sz="1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5"/>
              </a:spcBef>
            </a:pPr>
            <a:r>
              <a:rPr dirty="0" sz="2000" spc="-5" b="1">
                <a:solidFill>
                  <a:srgbClr val="7E0054"/>
                </a:solidFill>
                <a:latin typeface="Georgia"/>
                <a:cs typeface="Georgia"/>
              </a:rPr>
              <a:t>for</a:t>
            </a:r>
            <a:r>
              <a:rPr dirty="0" sz="2000" spc="-5" b="1">
                <a:latin typeface="Georgia"/>
                <a:cs typeface="Georgia"/>
              </a:rPr>
              <a:t>(Object </a:t>
            </a:r>
            <a:r>
              <a:rPr dirty="0" sz="2000" spc="-5" b="1">
                <a:solidFill>
                  <a:srgbClr val="6A3D3D"/>
                </a:solidFill>
                <a:latin typeface="Georgia"/>
                <a:cs typeface="Georgia"/>
              </a:rPr>
              <a:t>element</a:t>
            </a:r>
            <a:r>
              <a:rPr dirty="0" sz="2000" spc="-5" b="1">
                <a:latin typeface="Georgia"/>
                <a:cs typeface="Georgia"/>
              </a:rPr>
              <a:t>:</a:t>
            </a:r>
            <a:r>
              <a:rPr dirty="0" sz="2000" b="1">
                <a:latin typeface="Georgia"/>
                <a:cs typeface="Georgia"/>
              </a:rPr>
              <a:t> </a:t>
            </a:r>
            <a:r>
              <a:rPr dirty="0" sz="2000" spc="-5" b="1">
                <a:solidFill>
                  <a:srgbClr val="6A3D3D"/>
                </a:solidFill>
                <a:latin typeface="Georgia"/>
                <a:cs typeface="Georgia"/>
              </a:rPr>
              <a:t>c</a:t>
            </a:r>
            <a:r>
              <a:rPr dirty="0" sz="2000" spc="-5" b="1">
                <a:latin typeface="Georgia"/>
                <a:cs typeface="Georgia"/>
              </a:rPr>
              <a:t>){</a:t>
            </a:r>
            <a:endParaRPr sz="2000">
              <a:latin typeface="Georgia"/>
              <a:cs typeface="Georgia"/>
            </a:endParaRPr>
          </a:p>
          <a:p>
            <a:pPr marL="952500" marR="3048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String </a:t>
            </a:r>
            <a:r>
              <a:rPr dirty="0" sz="2000" spc="-5">
                <a:solidFill>
                  <a:srgbClr val="6A3D3D"/>
                </a:solidFill>
                <a:latin typeface="Georgia"/>
                <a:cs typeface="Georgia"/>
              </a:rPr>
              <a:t>str </a:t>
            </a:r>
            <a:r>
              <a:rPr dirty="0" sz="2000">
                <a:latin typeface="Georgia"/>
                <a:cs typeface="Georgia"/>
              </a:rPr>
              <a:t>= </a:t>
            </a:r>
            <a:r>
              <a:rPr dirty="0" sz="2000" spc="-5">
                <a:latin typeface="Georgia"/>
                <a:cs typeface="Georgia"/>
              </a:rPr>
              <a:t>(String)</a:t>
            </a:r>
            <a:r>
              <a:rPr dirty="0" sz="2000" spc="-5">
                <a:solidFill>
                  <a:srgbClr val="6A3D3D"/>
                </a:solidFill>
                <a:latin typeface="Georgia"/>
                <a:cs typeface="Georgia"/>
              </a:rPr>
              <a:t>element</a:t>
            </a:r>
            <a:r>
              <a:rPr dirty="0" sz="2000" spc="-5">
                <a:latin typeface="Georgia"/>
                <a:cs typeface="Georgia"/>
              </a:rPr>
              <a:t>;  System.</a:t>
            </a:r>
            <a:r>
              <a:rPr dirty="0" sz="2000" spc="-5" b="1">
                <a:solidFill>
                  <a:srgbClr val="0000C0"/>
                </a:solidFill>
                <a:latin typeface="Georgia"/>
                <a:cs typeface="Georgia"/>
              </a:rPr>
              <a:t>out</a:t>
            </a:r>
            <a:r>
              <a:rPr dirty="0" sz="2000" spc="-5" b="1">
                <a:latin typeface="Georgia"/>
                <a:cs typeface="Georgia"/>
              </a:rPr>
              <a:t>.println(</a:t>
            </a:r>
            <a:r>
              <a:rPr dirty="0" sz="2000" spc="-5" b="1">
                <a:solidFill>
                  <a:srgbClr val="6A3D3D"/>
                </a:solidFill>
                <a:latin typeface="Georgia"/>
                <a:cs typeface="Georgia"/>
              </a:rPr>
              <a:t>str</a:t>
            </a:r>
            <a:r>
              <a:rPr dirty="0" sz="2000" spc="-5" b="1">
                <a:latin typeface="Georgia"/>
                <a:cs typeface="Georgia"/>
              </a:rPr>
              <a:t>);</a:t>
            </a:r>
            <a:endParaRPr sz="20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</a:pPr>
            <a:r>
              <a:rPr dirty="0" sz="2000">
                <a:latin typeface="Georgia"/>
                <a:cs typeface="Georgia"/>
              </a:rPr>
              <a:t>}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123" y="1434083"/>
            <a:ext cx="7776972" cy="1630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7745" y="1430566"/>
            <a:ext cx="7785100" cy="1637664"/>
          </a:xfrm>
          <a:custGeom>
            <a:avLst/>
            <a:gdLst/>
            <a:ahLst/>
            <a:cxnLst/>
            <a:rect l="l" t="t" r="r" b="b"/>
            <a:pathLst>
              <a:path w="7785100" h="1637664">
                <a:moveTo>
                  <a:pt x="7784490" y="1637664"/>
                </a:moveTo>
                <a:lnTo>
                  <a:pt x="0" y="1637664"/>
                </a:lnTo>
                <a:lnTo>
                  <a:pt x="0" y="0"/>
                </a:lnTo>
                <a:lnTo>
                  <a:pt x="7784490" y="0"/>
                </a:lnTo>
                <a:lnTo>
                  <a:pt x="7784490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1630044"/>
                </a:lnTo>
                <a:lnTo>
                  <a:pt x="3810" y="1630044"/>
                </a:lnTo>
                <a:lnTo>
                  <a:pt x="7620" y="1633854"/>
                </a:lnTo>
                <a:lnTo>
                  <a:pt x="7784490" y="1633854"/>
                </a:lnTo>
                <a:lnTo>
                  <a:pt x="7784490" y="1637664"/>
                </a:lnTo>
                <a:close/>
              </a:path>
              <a:path w="7785100" h="1637664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7785100" h="1637664">
                <a:moveTo>
                  <a:pt x="7776870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7776870" y="3809"/>
                </a:lnTo>
                <a:lnTo>
                  <a:pt x="7776870" y="7619"/>
                </a:lnTo>
                <a:close/>
              </a:path>
              <a:path w="7785100" h="1637664">
                <a:moveTo>
                  <a:pt x="7776870" y="1633854"/>
                </a:moveTo>
                <a:lnTo>
                  <a:pt x="7776870" y="3809"/>
                </a:lnTo>
                <a:lnTo>
                  <a:pt x="7780680" y="7619"/>
                </a:lnTo>
                <a:lnTo>
                  <a:pt x="7784490" y="7619"/>
                </a:lnTo>
                <a:lnTo>
                  <a:pt x="7784490" y="1630044"/>
                </a:lnTo>
                <a:lnTo>
                  <a:pt x="7780680" y="1630044"/>
                </a:lnTo>
                <a:lnTo>
                  <a:pt x="7776870" y="1633854"/>
                </a:lnTo>
                <a:close/>
              </a:path>
              <a:path w="7785100" h="1637664">
                <a:moveTo>
                  <a:pt x="7784490" y="7619"/>
                </a:moveTo>
                <a:lnTo>
                  <a:pt x="7780680" y="7619"/>
                </a:lnTo>
                <a:lnTo>
                  <a:pt x="7776870" y="3809"/>
                </a:lnTo>
                <a:lnTo>
                  <a:pt x="7784490" y="3809"/>
                </a:lnTo>
                <a:lnTo>
                  <a:pt x="7784490" y="7619"/>
                </a:lnTo>
                <a:close/>
              </a:path>
              <a:path w="7785100" h="1637664">
                <a:moveTo>
                  <a:pt x="7620" y="1633854"/>
                </a:moveTo>
                <a:lnTo>
                  <a:pt x="3810" y="1630044"/>
                </a:lnTo>
                <a:lnTo>
                  <a:pt x="7620" y="1630044"/>
                </a:lnTo>
                <a:lnTo>
                  <a:pt x="7620" y="1633854"/>
                </a:lnTo>
                <a:close/>
              </a:path>
              <a:path w="7785100" h="1637664">
                <a:moveTo>
                  <a:pt x="7776870" y="1633854"/>
                </a:moveTo>
                <a:lnTo>
                  <a:pt x="7620" y="1633854"/>
                </a:lnTo>
                <a:lnTo>
                  <a:pt x="7620" y="1630044"/>
                </a:lnTo>
                <a:lnTo>
                  <a:pt x="7776870" y="1630044"/>
                </a:lnTo>
                <a:lnTo>
                  <a:pt x="7776870" y="1633854"/>
                </a:lnTo>
                <a:close/>
              </a:path>
              <a:path w="7785100" h="1637664">
                <a:moveTo>
                  <a:pt x="7784490" y="1633854"/>
                </a:moveTo>
                <a:lnTo>
                  <a:pt x="7776870" y="1633854"/>
                </a:lnTo>
                <a:lnTo>
                  <a:pt x="7780680" y="1630044"/>
                </a:lnTo>
                <a:lnTo>
                  <a:pt x="7784490" y="1630044"/>
                </a:lnTo>
                <a:lnTo>
                  <a:pt x="7784490" y="1633854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1123" y="1454695"/>
            <a:ext cx="7777480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  <a:tabLst>
                <a:tab pos="3749040" algn="l"/>
              </a:tabLst>
            </a:pPr>
            <a:r>
              <a:rPr dirty="0" sz="2000" spc="-5">
                <a:latin typeface="Georgia"/>
                <a:cs typeface="Georgia"/>
              </a:rPr>
              <a:t>Collection </a:t>
            </a:r>
            <a:r>
              <a:rPr dirty="0" sz="2000">
                <a:latin typeface="Georgia"/>
                <a:cs typeface="Georgia"/>
              </a:rPr>
              <a:t>c =</a:t>
            </a:r>
            <a:r>
              <a:rPr dirty="0" sz="2000" spc="5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new</a:t>
            </a:r>
            <a:r>
              <a:rPr dirty="0" sz="2000" spc="-25" b="1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ArrayList();	</a:t>
            </a:r>
            <a:r>
              <a:rPr dirty="0" sz="2000">
                <a:latin typeface="Georgia"/>
                <a:cs typeface="Georgia"/>
              </a:rPr>
              <a:t>//</a:t>
            </a:r>
            <a:r>
              <a:rPr dirty="0" sz="2000">
                <a:latin typeface="宋体"/>
                <a:cs typeface="宋体"/>
              </a:rPr>
              <a:t>创建一个</a:t>
            </a:r>
            <a:r>
              <a:rPr dirty="0" sz="2000" spc="-5">
                <a:latin typeface="Georgia"/>
                <a:cs typeface="Georgia"/>
              </a:rPr>
              <a:t>ArrayList</a:t>
            </a:r>
            <a:r>
              <a:rPr dirty="0" sz="2000">
                <a:latin typeface="宋体"/>
                <a:cs typeface="宋体"/>
              </a:rPr>
              <a:t>对</a:t>
            </a:r>
            <a:r>
              <a:rPr dirty="0" sz="2000" spc="5">
                <a:latin typeface="宋体"/>
                <a:cs typeface="宋体"/>
              </a:rPr>
              <a:t>象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2000" spc="-5">
                <a:latin typeface="Georgia"/>
                <a:cs typeface="Georgia"/>
              </a:rPr>
              <a:t>c.add("Java");</a:t>
            </a:r>
            <a:endParaRPr sz="2000">
              <a:latin typeface="Georgia"/>
              <a:cs typeface="Georgia"/>
            </a:endParaRPr>
          </a:p>
          <a:p>
            <a:pPr marL="9144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c.add("Struts");</a:t>
            </a:r>
            <a:endParaRPr sz="2000">
              <a:latin typeface="Georgia"/>
              <a:cs typeface="Georgia"/>
            </a:endParaRPr>
          </a:p>
          <a:p>
            <a:pPr marL="9144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c.add("Spring");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2540" y="3961041"/>
            <a:ext cx="2768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自动转化为使用迭代器循环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15411" y="3432047"/>
            <a:ext cx="2449195" cy="576580"/>
          </a:xfrm>
          <a:custGeom>
            <a:avLst/>
            <a:gdLst/>
            <a:ahLst/>
            <a:cxnLst/>
            <a:rect l="l" t="t" r="r" b="b"/>
            <a:pathLst>
              <a:path w="2449195" h="576579">
                <a:moveTo>
                  <a:pt x="144780" y="576072"/>
                </a:moveTo>
                <a:lnTo>
                  <a:pt x="0" y="576072"/>
                </a:lnTo>
                <a:lnTo>
                  <a:pt x="0" y="251460"/>
                </a:lnTo>
                <a:lnTo>
                  <a:pt x="4211" y="206358"/>
                </a:lnTo>
                <a:lnTo>
                  <a:pt x="16038" y="163876"/>
                </a:lnTo>
                <a:lnTo>
                  <a:pt x="34778" y="124730"/>
                </a:lnTo>
                <a:lnTo>
                  <a:pt x="59726" y="89636"/>
                </a:lnTo>
                <a:lnTo>
                  <a:pt x="90180" y="59310"/>
                </a:lnTo>
                <a:lnTo>
                  <a:pt x="125436" y="34467"/>
                </a:lnTo>
                <a:lnTo>
                  <a:pt x="164791" y="15824"/>
                </a:lnTo>
                <a:lnTo>
                  <a:pt x="207541" y="4096"/>
                </a:lnTo>
                <a:lnTo>
                  <a:pt x="252983" y="0"/>
                </a:lnTo>
                <a:lnTo>
                  <a:pt x="2124455" y="0"/>
                </a:lnTo>
                <a:lnTo>
                  <a:pt x="2169749" y="4096"/>
                </a:lnTo>
                <a:lnTo>
                  <a:pt x="2212375" y="15824"/>
                </a:lnTo>
                <a:lnTo>
                  <a:pt x="2251616" y="34467"/>
                </a:lnTo>
                <a:lnTo>
                  <a:pt x="2286758" y="59310"/>
                </a:lnTo>
                <a:lnTo>
                  <a:pt x="2317085" y="89636"/>
                </a:lnTo>
                <a:lnTo>
                  <a:pt x="2341879" y="124730"/>
                </a:lnTo>
                <a:lnTo>
                  <a:pt x="2351379" y="144779"/>
                </a:lnTo>
                <a:lnTo>
                  <a:pt x="252983" y="144779"/>
                </a:lnTo>
                <a:lnTo>
                  <a:pt x="210663" y="152867"/>
                </a:lnTo>
                <a:lnTo>
                  <a:pt x="176222" y="175741"/>
                </a:lnTo>
                <a:lnTo>
                  <a:pt x="153110" y="209804"/>
                </a:lnTo>
                <a:lnTo>
                  <a:pt x="144780" y="251460"/>
                </a:lnTo>
                <a:lnTo>
                  <a:pt x="144780" y="576072"/>
                </a:lnTo>
                <a:close/>
              </a:path>
              <a:path w="2449195" h="576579">
                <a:moveTo>
                  <a:pt x="2375916" y="288036"/>
                </a:moveTo>
                <a:lnTo>
                  <a:pt x="2232660" y="288036"/>
                </a:lnTo>
                <a:lnTo>
                  <a:pt x="2232660" y="251460"/>
                </a:lnTo>
                <a:lnTo>
                  <a:pt x="2224055" y="209804"/>
                </a:lnTo>
                <a:lnTo>
                  <a:pt x="2200851" y="175741"/>
                </a:lnTo>
                <a:lnTo>
                  <a:pt x="2166499" y="152867"/>
                </a:lnTo>
                <a:lnTo>
                  <a:pt x="2124455" y="144779"/>
                </a:lnTo>
                <a:lnTo>
                  <a:pt x="2351379" y="144779"/>
                </a:lnTo>
                <a:lnTo>
                  <a:pt x="2360427" y="163876"/>
                </a:lnTo>
                <a:lnTo>
                  <a:pt x="2372011" y="206358"/>
                </a:lnTo>
                <a:lnTo>
                  <a:pt x="2375916" y="251460"/>
                </a:lnTo>
                <a:lnTo>
                  <a:pt x="2375916" y="288036"/>
                </a:lnTo>
                <a:close/>
              </a:path>
              <a:path w="2449195" h="576579">
                <a:moveTo>
                  <a:pt x="2304288" y="432815"/>
                </a:moveTo>
                <a:lnTo>
                  <a:pt x="2161032" y="288036"/>
                </a:lnTo>
                <a:lnTo>
                  <a:pt x="2449067" y="288036"/>
                </a:lnTo>
                <a:lnTo>
                  <a:pt x="2304288" y="43281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09570" y="3425825"/>
            <a:ext cx="2470150" cy="588010"/>
          </a:xfrm>
          <a:custGeom>
            <a:avLst/>
            <a:gdLst/>
            <a:ahLst/>
            <a:cxnLst/>
            <a:rect l="l" t="t" r="r" b="b"/>
            <a:pathLst>
              <a:path w="2470150" h="588010">
                <a:moveTo>
                  <a:pt x="2156714" y="1270"/>
                </a:moveTo>
                <a:lnTo>
                  <a:pt x="231927" y="1270"/>
                </a:lnTo>
                <a:lnTo>
                  <a:pt x="238455" y="0"/>
                </a:lnTo>
                <a:lnTo>
                  <a:pt x="2150173" y="0"/>
                </a:lnTo>
                <a:lnTo>
                  <a:pt x="2156714" y="1270"/>
                </a:lnTo>
                <a:close/>
              </a:path>
              <a:path w="2470150" h="588010">
                <a:moveTo>
                  <a:pt x="156692" y="588010"/>
                </a:moveTo>
                <a:lnTo>
                  <a:pt x="0" y="588010"/>
                </a:lnTo>
                <a:lnTo>
                  <a:pt x="88" y="251460"/>
                </a:lnTo>
                <a:lnTo>
                  <a:pt x="4038" y="212089"/>
                </a:lnTo>
                <a:lnTo>
                  <a:pt x="13576" y="175260"/>
                </a:lnTo>
                <a:lnTo>
                  <a:pt x="15684" y="168910"/>
                </a:lnTo>
                <a:lnTo>
                  <a:pt x="37401" y="123189"/>
                </a:lnTo>
                <a:lnTo>
                  <a:pt x="58991" y="93979"/>
                </a:lnTo>
                <a:lnTo>
                  <a:pt x="67106" y="83820"/>
                </a:lnTo>
                <a:lnTo>
                  <a:pt x="103759" y="50800"/>
                </a:lnTo>
                <a:lnTo>
                  <a:pt x="146329" y="25400"/>
                </a:lnTo>
                <a:lnTo>
                  <a:pt x="157772" y="19050"/>
                </a:lnTo>
                <a:lnTo>
                  <a:pt x="169468" y="15239"/>
                </a:lnTo>
                <a:lnTo>
                  <a:pt x="175475" y="12700"/>
                </a:lnTo>
                <a:lnTo>
                  <a:pt x="181508" y="11429"/>
                </a:lnTo>
                <a:lnTo>
                  <a:pt x="187604" y="8889"/>
                </a:lnTo>
                <a:lnTo>
                  <a:pt x="225437" y="1270"/>
                </a:lnTo>
                <a:lnTo>
                  <a:pt x="2163203" y="1270"/>
                </a:lnTo>
                <a:lnTo>
                  <a:pt x="2201024" y="8889"/>
                </a:lnTo>
                <a:lnTo>
                  <a:pt x="2207120" y="11429"/>
                </a:lnTo>
                <a:lnTo>
                  <a:pt x="2213152" y="12700"/>
                </a:lnTo>
                <a:lnTo>
                  <a:pt x="233286" y="12700"/>
                </a:lnTo>
                <a:lnTo>
                  <a:pt x="226949" y="13970"/>
                </a:lnTo>
                <a:lnTo>
                  <a:pt x="227114" y="13970"/>
                </a:lnTo>
                <a:lnTo>
                  <a:pt x="220827" y="15239"/>
                </a:lnTo>
                <a:lnTo>
                  <a:pt x="220992" y="15239"/>
                </a:lnTo>
                <a:lnTo>
                  <a:pt x="214756" y="16510"/>
                </a:lnTo>
                <a:lnTo>
                  <a:pt x="208889" y="16510"/>
                </a:lnTo>
                <a:lnTo>
                  <a:pt x="202768" y="17779"/>
                </a:lnTo>
                <a:lnTo>
                  <a:pt x="202920" y="17779"/>
                </a:lnTo>
                <a:lnTo>
                  <a:pt x="196862" y="20320"/>
                </a:lnTo>
                <a:lnTo>
                  <a:pt x="197015" y="20320"/>
                </a:lnTo>
                <a:lnTo>
                  <a:pt x="191007" y="21589"/>
                </a:lnTo>
                <a:lnTo>
                  <a:pt x="191160" y="21589"/>
                </a:lnTo>
                <a:lnTo>
                  <a:pt x="185204" y="22860"/>
                </a:lnTo>
                <a:lnTo>
                  <a:pt x="185356" y="22860"/>
                </a:lnTo>
                <a:lnTo>
                  <a:pt x="179476" y="25400"/>
                </a:lnTo>
                <a:lnTo>
                  <a:pt x="179616" y="25400"/>
                </a:lnTo>
                <a:lnTo>
                  <a:pt x="173799" y="26670"/>
                </a:lnTo>
                <a:lnTo>
                  <a:pt x="174015" y="26670"/>
                </a:lnTo>
                <a:lnTo>
                  <a:pt x="162572" y="31750"/>
                </a:lnTo>
                <a:lnTo>
                  <a:pt x="162864" y="31750"/>
                </a:lnTo>
                <a:lnTo>
                  <a:pt x="151701" y="36829"/>
                </a:lnTo>
                <a:lnTo>
                  <a:pt x="151980" y="36829"/>
                </a:lnTo>
                <a:lnTo>
                  <a:pt x="141109" y="41910"/>
                </a:lnTo>
                <a:lnTo>
                  <a:pt x="141389" y="41910"/>
                </a:lnTo>
                <a:lnTo>
                  <a:pt x="132946" y="46989"/>
                </a:lnTo>
                <a:lnTo>
                  <a:pt x="131089" y="46989"/>
                </a:lnTo>
                <a:lnTo>
                  <a:pt x="122569" y="53339"/>
                </a:lnTo>
                <a:lnTo>
                  <a:pt x="121119" y="53339"/>
                </a:lnTo>
                <a:lnTo>
                  <a:pt x="111239" y="60960"/>
                </a:lnTo>
                <a:lnTo>
                  <a:pt x="111493" y="60960"/>
                </a:lnTo>
                <a:lnTo>
                  <a:pt x="101968" y="68579"/>
                </a:lnTo>
                <a:lnTo>
                  <a:pt x="102209" y="68579"/>
                </a:lnTo>
                <a:lnTo>
                  <a:pt x="93065" y="76200"/>
                </a:lnTo>
                <a:lnTo>
                  <a:pt x="93281" y="76200"/>
                </a:lnTo>
                <a:lnTo>
                  <a:pt x="84531" y="83820"/>
                </a:lnTo>
                <a:lnTo>
                  <a:pt x="84747" y="83820"/>
                </a:lnTo>
                <a:lnTo>
                  <a:pt x="76403" y="92710"/>
                </a:lnTo>
                <a:lnTo>
                  <a:pt x="76606" y="92710"/>
                </a:lnTo>
                <a:lnTo>
                  <a:pt x="68694" y="101600"/>
                </a:lnTo>
                <a:lnTo>
                  <a:pt x="68884" y="101600"/>
                </a:lnTo>
                <a:lnTo>
                  <a:pt x="61404" y="110489"/>
                </a:lnTo>
                <a:lnTo>
                  <a:pt x="61582" y="110489"/>
                </a:lnTo>
                <a:lnTo>
                  <a:pt x="54559" y="120650"/>
                </a:lnTo>
                <a:lnTo>
                  <a:pt x="54724" y="120650"/>
                </a:lnTo>
                <a:lnTo>
                  <a:pt x="48171" y="130810"/>
                </a:lnTo>
                <a:lnTo>
                  <a:pt x="48336" y="130810"/>
                </a:lnTo>
                <a:lnTo>
                  <a:pt x="42265" y="140970"/>
                </a:lnTo>
                <a:lnTo>
                  <a:pt x="42418" y="140970"/>
                </a:lnTo>
                <a:lnTo>
                  <a:pt x="36855" y="151129"/>
                </a:lnTo>
                <a:lnTo>
                  <a:pt x="31940" y="162560"/>
                </a:lnTo>
                <a:lnTo>
                  <a:pt x="28047" y="172720"/>
                </a:lnTo>
                <a:lnTo>
                  <a:pt x="27635" y="172720"/>
                </a:lnTo>
                <a:lnTo>
                  <a:pt x="25577" y="179070"/>
                </a:lnTo>
                <a:lnTo>
                  <a:pt x="23723" y="184150"/>
                </a:lnTo>
                <a:lnTo>
                  <a:pt x="21996" y="190500"/>
                </a:lnTo>
                <a:lnTo>
                  <a:pt x="20408" y="196850"/>
                </a:lnTo>
                <a:lnTo>
                  <a:pt x="18973" y="201929"/>
                </a:lnTo>
                <a:lnTo>
                  <a:pt x="17678" y="208279"/>
                </a:lnTo>
                <a:lnTo>
                  <a:pt x="16522" y="214629"/>
                </a:lnTo>
                <a:lnTo>
                  <a:pt x="15725" y="219710"/>
                </a:lnTo>
                <a:lnTo>
                  <a:pt x="15544" y="219710"/>
                </a:lnTo>
                <a:lnTo>
                  <a:pt x="14668" y="226060"/>
                </a:lnTo>
                <a:lnTo>
                  <a:pt x="13957" y="232410"/>
                </a:lnTo>
                <a:lnTo>
                  <a:pt x="13423" y="238760"/>
                </a:lnTo>
                <a:lnTo>
                  <a:pt x="13017" y="245110"/>
                </a:lnTo>
                <a:lnTo>
                  <a:pt x="12776" y="251460"/>
                </a:lnTo>
                <a:lnTo>
                  <a:pt x="12700" y="575310"/>
                </a:lnTo>
                <a:lnTo>
                  <a:pt x="6350" y="575310"/>
                </a:lnTo>
                <a:lnTo>
                  <a:pt x="12700" y="581660"/>
                </a:lnTo>
                <a:lnTo>
                  <a:pt x="156692" y="581660"/>
                </a:lnTo>
                <a:lnTo>
                  <a:pt x="156692" y="588010"/>
                </a:lnTo>
                <a:close/>
              </a:path>
              <a:path w="2470150" h="588010">
                <a:moveTo>
                  <a:pt x="233121" y="13970"/>
                </a:moveTo>
                <a:lnTo>
                  <a:pt x="233286" y="12700"/>
                </a:lnTo>
                <a:lnTo>
                  <a:pt x="239496" y="12700"/>
                </a:lnTo>
                <a:lnTo>
                  <a:pt x="233121" y="13970"/>
                </a:lnTo>
                <a:close/>
              </a:path>
              <a:path w="2470150" h="588010">
                <a:moveTo>
                  <a:pt x="2155507" y="13970"/>
                </a:moveTo>
                <a:lnTo>
                  <a:pt x="2149132" y="12700"/>
                </a:lnTo>
                <a:lnTo>
                  <a:pt x="2155342" y="12700"/>
                </a:lnTo>
                <a:lnTo>
                  <a:pt x="2155507" y="13970"/>
                </a:lnTo>
                <a:close/>
              </a:path>
              <a:path w="2470150" h="588010">
                <a:moveTo>
                  <a:pt x="2257793" y="48260"/>
                </a:moveTo>
                <a:lnTo>
                  <a:pt x="2247252" y="41910"/>
                </a:lnTo>
                <a:lnTo>
                  <a:pt x="2247519" y="41910"/>
                </a:lnTo>
                <a:lnTo>
                  <a:pt x="2236647" y="36829"/>
                </a:lnTo>
                <a:lnTo>
                  <a:pt x="2236927" y="36829"/>
                </a:lnTo>
                <a:lnTo>
                  <a:pt x="2225776" y="31750"/>
                </a:lnTo>
                <a:lnTo>
                  <a:pt x="2226056" y="31750"/>
                </a:lnTo>
                <a:lnTo>
                  <a:pt x="2214613" y="26670"/>
                </a:lnTo>
                <a:lnTo>
                  <a:pt x="2214829" y="26670"/>
                </a:lnTo>
                <a:lnTo>
                  <a:pt x="2209012" y="25400"/>
                </a:lnTo>
                <a:lnTo>
                  <a:pt x="2209165" y="25400"/>
                </a:lnTo>
                <a:lnTo>
                  <a:pt x="2203272" y="22860"/>
                </a:lnTo>
                <a:lnTo>
                  <a:pt x="2203424" y="22860"/>
                </a:lnTo>
                <a:lnTo>
                  <a:pt x="2197481" y="21589"/>
                </a:lnTo>
                <a:lnTo>
                  <a:pt x="2197633" y="21589"/>
                </a:lnTo>
                <a:lnTo>
                  <a:pt x="2191613" y="20320"/>
                </a:lnTo>
                <a:lnTo>
                  <a:pt x="2191778" y="20320"/>
                </a:lnTo>
                <a:lnTo>
                  <a:pt x="2185708" y="17779"/>
                </a:lnTo>
                <a:lnTo>
                  <a:pt x="2185860" y="17779"/>
                </a:lnTo>
                <a:lnTo>
                  <a:pt x="2179739" y="16510"/>
                </a:lnTo>
                <a:lnTo>
                  <a:pt x="2173871" y="16510"/>
                </a:lnTo>
                <a:lnTo>
                  <a:pt x="2167635" y="15239"/>
                </a:lnTo>
                <a:lnTo>
                  <a:pt x="2167801" y="15239"/>
                </a:lnTo>
                <a:lnTo>
                  <a:pt x="2161514" y="13970"/>
                </a:lnTo>
                <a:lnTo>
                  <a:pt x="2161679" y="13970"/>
                </a:lnTo>
                <a:lnTo>
                  <a:pt x="2155342" y="12700"/>
                </a:lnTo>
                <a:lnTo>
                  <a:pt x="2213152" y="12700"/>
                </a:lnTo>
                <a:lnTo>
                  <a:pt x="2219159" y="15239"/>
                </a:lnTo>
                <a:lnTo>
                  <a:pt x="2230856" y="19050"/>
                </a:lnTo>
                <a:lnTo>
                  <a:pt x="2242299" y="25400"/>
                </a:lnTo>
                <a:lnTo>
                  <a:pt x="2253449" y="30479"/>
                </a:lnTo>
                <a:lnTo>
                  <a:pt x="2264257" y="36829"/>
                </a:lnTo>
                <a:lnTo>
                  <a:pt x="2274747" y="43179"/>
                </a:lnTo>
                <a:lnTo>
                  <a:pt x="2279808" y="46989"/>
                </a:lnTo>
                <a:lnTo>
                  <a:pt x="2257539" y="46989"/>
                </a:lnTo>
                <a:lnTo>
                  <a:pt x="2257793" y="48260"/>
                </a:lnTo>
                <a:close/>
              </a:path>
              <a:path w="2470150" h="588010">
                <a:moveTo>
                  <a:pt x="130835" y="48260"/>
                </a:moveTo>
                <a:lnTo>
                  <a:pt x="131089" y="46989"/>
                </a:lnTo>
                <a:lnTo>
                  <a:pt x="132946" y="46989"/>
                </a:lnTo>
                <a:lnTo>
                  <a:pt x="130835" y="48260"/>
                </a:lnTo>
                <a:close/>
              </a:path>
              <a:path w="2470150" h="588010">
                <a:moveTo>
                  <a:pt x="2267762" y="54610"/>
                </a:moveTo>
                <a:lnTo>
                  <a:pt x="2257539" y="46989"/>
                </a:lnTo>
                <a:lnTo>
                  <a:pt x="2279808" y="46989"/>
                </a:lnTo>
                <a:lnTo>
                  <a:pt x="2284869" y="50800"/>
                </a:lnTo>
                <a:lnTo>
                  <a:pt x="2288120" y="53339"/>
                </a:lnTo>
                <a:lnTo>
                  <a:pt x="2267508" y="53339"/>
                </a:lnTo>
                <a:lnTo>
                  <a:pt x="2267762" y="54610"/>
                </a:lnTo>
                <a:close/>
              </a:path>
              <a:path w="2470150" h="588010">
                <a:moveTo>
                  <a:pt x="120865" y="54610"/>
                </a:moveTo>
                <a:lnTo>
                  <a:pt x="121119" y="53339"/>
                </a:lnTo>
                <a:lnTo>
                  <a:pt x="122569" y="53339"/>
                </a:lnTo>
                <a:lnTo>
                  <a:pt x="120865" y="54610"/>
                </a:lnTo>
                <a:close/>
              </a:path>
              <a:path w="2470150" h="588010">
                <a:moveTo>
                  <a:pt x="2361082" y="173989"/>
                </a:moveTo>
                <a:lnTo>
                  <a:pt x="2356573" y="162560"/>
                </a:lnTo>
                <a:lnTo>
                  <a:pt x="2351646" y="151129"/>
                </a:lnTo>
                <a:lnTo>
                  <a:pt x="2351785" y="151129"/>
                </a:lnTo>
                <a:lnTo>
                  <a:pt x="2346223" y="140970"/>
                </a:lnTo>
                <a:lnTo>
                  <a:pt x="2346363" y="140970"/>
                </a:lnTo>
                <a:lnTo>
                  <a:pt x="2340292" y="130810"/>
                </a:lnTo>
                <a:lnTo>
                  <a:pt x="2340457" y="130810"/>
                </a:lnTo>
                <a:lnTo>
                  <a:pt x="2333904" y="120650"/>
                </a:lnTo>
                <a:lnTo>
                  <a:pt x="2334069" y="120650"/>
                </a:lnTo>
                <a:lnTo>
                  <a:pt x="2327046" y="110489"/>
                </a:lnTo>
                <a:lnTo>
                  <a:pt x="2327224" y="110489"/>
                </a:lnTo>
                <a:lnTo>
                  <a:pt x="2319743" y="101600"/>
                </a:lnTo>
                <a:lnTo>
                  <a:pt x="2319947" y="101600"/>
                </a:lnTo>
                <a:lnTo>
                  <a:pt x="2312022" y="92710"/>
                </a:lnTo>
                <a:lnTo>
                  <a:pt x="2312225" y="92710"/>
                </a:lnTo>
                <a:lnTo>
                  <a:pt x="2303881" y="83820"/>
                </a:lnTo>
                <a:lnTo>
                  <a:pt x="2304097" y="83820"/>
                </a:lnTo>
                <a:lnTo>
                  <a:pt x="2295347" y="76200"/>
                </a:lnTo>
                <a:lnTo>
                  <a:pt x="2295575" y="76200"/>
                </a:lnTo>
                <a:lnTo>
                  <a:pt x="2286431" y="68579"/>
                </a:lnTo>
                <a:lnTo>
                  <a:pt x="2286660" y="68579"/>
                </a:lnTo>
                <a:lnTo>
                  <a:pt x="2277148" y="60960"/>
                </a:lnTo>
                <a:lnTo>
                  <a:pt x="2277389" y="60960"/>
                </a:lnTo>
                <a:lnTo>
                  <a:pt x="2267508" y="53339"/>
                </a:lnTo>
                <a:lnTo>
                  <a:pt x="2288120" y="53339"/>
                </a:lnTo>
                <a:lnTo>
                  <a:pt x="2321521" y="83820"/>
                </a:lnTo>
                <a:lnTo>
                  <a:pt x="2329637" y="93979"/>
                </a:lnTo>
                <a:lnTo>
                  <a:pt x="2337308" y="102870"/>
                </a:lnTo>
                <a:lnTo>
                  <a:pt x="2363152" y="146050"/>
                </a:lnTo>
                <a:lnTo>
                  <a:pt x="2374209" y="172720"/>
                </a:lnTo>
                <a:lnTo>
                  <a:pt x="2361006" y="172720"/>
                </a:lnTo>
                <a:lnTo>
                  <a:pt x="2361082" y="173989"/>
                </a:lnTo>
                <a:close/>
              </a:path>
              <a:path w="2470150" h="588010">
                <a:moveTo>
                  <a:pt x="143992" y="581660"/>
                </a:moveTo>
                <a:lnTo>
                  <a:pt x="144104" y="252729"/>
                </a:lnTo>
                <a:lnTo>
                  <a:pt x="152971" y="213360"/>
                </a:lnTo>
                <a:lnTo>
                  <a:pt x="163512" y="194310"/>
                </a:lnTo>
                <a:lnTo>
                  <a:pt x="166700" y="189229"/>
                </a:lnTo>
                <a:lnTo>
                  <a:pt x="170091" y="185420"/>
                </a:lnTo>
                <a:lnTo>
                  <a:pt x="173685" y="180339"/>
                </a:lnTo>
                <a:lnTo>
                  <a:pt x="177469" y="176529"/>
                </a:lnTo>
                <a:lnTo>
                  <a:pt x="181444" y="172720"/>
                </a:lnTo>
                <a:lnTo>
                  <a:pt x="185597" y="168910"/>
                </a:lnTo>
                <a:lnTo>
                  <a:pt x="189915" y="166370"/>
                </a:lnTo>
                <a:lnTo>
                  <a:pt x="194386" y="162560"/>
                </a:lnTo>
                <a:lnTo>
                  <a:pt x="229755" y="147320"/>
                </a:lnTo>
                <a:lnTo>
                  <a:pt x="246646" y="143510"/>
                </a:lnTo>
                <a:lnTo>
                  <a:pt x="2141994" y="143510"/>
                </a:lnTo>
                <a:lnTo>
                  <a:pt x="2179878" y="154939"/>
                </a:lnTo>
                <a:lnTo>
                  <a:pt x="2182342" y="156210"/>
                </a:lnTo>
                <a:lnTo>
                  <a:pt x="248081" y="156210"/>
                </a:lnTo>
                <a:lnTo>
                  <a:pt x="242684" y="157479"/>
                </a:lnTo>
                <a:lnTo>
                  <a:pt x="237985" y="157479"/>
                </a:lnTo>
                <a:lnTo>
                  <a:pt x="232765" y="158750"/>
                </a:lnTo>
                <a:lnTo>
                  <a:pt x="233070" y="158750"/>
                </a:lnTo>
                <a:lnTo>
                  <a:pt x="230511" y="160020"/>
                </a:lnTo>
                <a:lnTo>
                  <a:pt x="228244" y="160020"/>
                </a:lnTo>
                <a:lnTo>
                  <a:pt x="223227" y="162560"/>
                </a:lnTo>
                <a:lnTo>
                  <a:pt x="223519" y="162560"/>
                </a:lnTo>
                <a:lnTo>
                  <a:pt x="218617" y="163829"/>
                </a:lnTo>
                <a:lnTo>
                  <a:pt x="218909" y="163829"/>
                </a:lnTo>
                <a:lnTo>
                  <a:pt x="214122" y="166370"/>
                </a:lnTo>
                <a:lnTo>
                  <a:pt x="214401" y="166370"/>
                </a:lnTo>
                <a:lnTo>
                  <a:pt x="212070" y="167639"/>
                </a:lnTo>
                <a:lnTo>
                  <a:pt x="210019" y="167639"/>
                </a:lnTo>
                <a:lnTo>
                  <a:pt x="207005" y="170179"/>
                </a:lnTo>
                <a:lnTo>
                  <a:pt x="205752" y="170179"/>
                </a:lnTo>
                <a:lnTo>
                  <a:pt x="202831" y="172720"/>
                </a:lnTo>
                <a:lnTo>
                  <a:pt x="201625" y="172720"/>
                </a:lnTo>
                <a:lnTo>
                  <a:pt x="197396" y="176529"/>
                </a:lnTo>
                <a:lnTo>
                  <a:pt x="197637" y="176529"/>
                </a:lnTo>
                <a:lnTo>
                  <a:pt x="193560" y="179070"/>
                </a:lnTo>
                <a:lnTo>
                  <a:pt x="193789" y="179070"/>
                </a:lnTo>
                <a:lnTo>
                  <a:pt x="189877" y="182879"/>
                </a:lnTo>
                <a:lnTo>
                  <a:pt x="190093" y="182879"/>
                </a:lnTo>
                <a:lnTo>
                  <a:pt x="186347" y="185420"/>
                </a:lnTo>
                <a:lnTo>
                  <a:pt x="186562" y="185420"/>
                </a:lnTo>
                <a:lnTo>
                  <a:pt x="182981" y="189229"/>
                </a:lnTo>
                <a:lnTo>
                  <a:pt x="183184" y="189229"/>
                </a:lnTo>
                <a:lnTo>
                  <a:pt x="179793" y="193039"/>
                </a:lnTo>
                <a:lnTo>
                  <a:pt x="179984" y="193039"/>
                </a:lnTo>
                <a:lnTo>
                  <a:pt x="176784" y="196850"/>
                </a:lnTo>
                <a:lnTo>
                  <a:pt x="176961" y="196850"/>
                </a:lnTo>
                <a:lnTo>
                  <a:pt x="173951" y="200660"/>
                </a:lnTo>
                <a:lnTo>
                  <a:pt x="174129" y="200660"/>
                </a:lnTo>
                <a:lnTo>
                  <a:pt x="172015" y="204470"/>
                </a:lnTo>
                <a:lnTo>
                  <a:pt x="171475" y="204470"/>
                </a:lnTo>
                <a:lnTo>
                  <a:pt x="168871" y="209550"/>
                </a:lnTo>
                <a:lnTo>
                  <a:pt x="169024" y="209550"/>
                </a:lnTo>
                <a:lnTo>
                  <a:pt x="166636" y="213360"/>
                </a:lnTo>
                <a:lnTo>
                  <a:pt x="166776" y="213360"/>
                </a:lnTo>
                <a:lnTo>
                  <a:pt x="164604" y="218439"/>
                </a:lnTo>
                <a:lnTo>
                  <a:pt x="163283" y="222250"/>
                </a:lnTo>
                <a:lnTo>
                  <a:pt x="162902" y="222250"/>
                </a:lnTo>
                <a:lnTo>
                  <a:pt x="161201" y="227329"/>
                </a:lnTo>
                <a:lnTo>
                  <a:pt x="159842" y="232410"/>
                </a:lnTo>
                <a:lnTo>
                  <a:pt x="158711" y="237489"/>
                </a:lnTo>
                <a:lnTo>
                  <a:pt x="157835" y="242570"/>
                </a:lnTo>
                <a:lnTo>
                  <a:pt x="157187" y="247650"/>
                </a:lnTo>
                <a:lnTo>
                  <a:pt x="156819" y="252729"/>
                </a:lnTo>
                <a:lnTo>
                  <a:pt x="156679" y="257810"/>
                </a:lnTo>
                <a:lnTo>
                  <a:pt x="156692" y="575310"/>
                </a:lnTo>
                <a:lnTo>
                  <a:pt x="150342" y="575310"/>
                </a:lnTo>
                <a:lnTo>
                  <a:pt x="143992" y="581660"/>
                </a:lnTo>
                <a:close/>
              </a:path>
              <a:path w="2470150" h="588010">
                <a:moveTo>
                  <a:pt x="2160689" y="161289"/>
                </a:moveTo>
                <a:lnTo>
                  <a:pt x="2155558" y="158750"/>
                </a:lnTo>
                <a:lnTo>
                  <a:pt x="2155863" y="158750"/>
                </a:lnTo>
                <a:lnTo>
                  <a:pt x="2150643" y="157479"/>
                </a:lnTo>
                <a:lnTo>
                  <a:pt x="2145957" y="157479"/>
                </a:lnTo>
                <a:lnTo>
                  <a:pt x="2140546" y="156210"/>
                </a:lnTo>
                <a:lnTo>
                  <a:pt x="2182342" y="156210"/>
                </a:lnTo>
                <a:lnTo>
                  <a:pt x="2184806" y="157479"/>
                </a:lnTo>
                <a:lnTo>
                  <a:pt x="2189594" y="160020"/>
                </a:lnTo>
                <a:lnTo>
                  <a:pt x="2160384" y="160020"/>
                </a:lnTo>
                <a:lnTo>
                  <a:pt x="2160689" y="161289"/>
                </a:lnTo>
                <a:close/>
              </a:path>
              <a:path w="2470150" h="588010">
                <a:moveTo>
                  <a:pt x="237680" y="158750"/>
                </a:moveTo>
                <a:lnTo>
                  <a:pt x="237985" y="157479"/>
                </a:lnTo>
                <a:lnTo>
                  <a:pt x="243001" y="157479"/>
                </a:lnTo>
                <a:lnTo>
                  <a:pt x="237680" y="158750"/>
                </a:lnTo>
                <a:close/>
              </a:path>
              <a:path w="2470150" h="588010">
                <a:moveTo>
                  <a:pt x="2150948" y="158750"/>
                </a:moveTo>
                <a:lnTo>
                  <a:pt x="2145639" y="157479"/>
                </a:lnTo>
                <a:lnTo>
                  <a:pt x="2150643" y="157479"/>
                </a:lnTo>
                <a:lnTo>
                  <a:pt x="2150948" y="158750"/>
                </a:lnTo>
                <a:close/>
              </a:path>
              <a:path w="2470150" h="588010">
                <a:moveTo>
                  <a:pt x="227952" y="161289"/>
                </a:moveTo>
                <a:lnTo>
                  <a:pt x="228244" y="160020"/>
                </a:lnTo>
                <a:lnTo>
                  <a:pt x="230511" y="160020"/>
                </a:lnTo>
                <a:lnTo>
                  <a:pt x="227952" y="161289"/>
                </a:lnTo>
                <a:close/>
              </a:path>
              <a:path w="2470150" h="588010">
                <a:moveTo>
                  <a:pt x="2178888" y="168910"/>
                </a:moveTo>
                <a:lnTo>
                  <a:pt x="2174227" y="166370"/>
                </a:lnTo>
                <a:lnTo>
                  <a:pt x="2174506" y="166370"/>
                </a:lnTo>
                <a:lnTo>
                  <a:pt x="2169718" y="163829"/>
                </a:lnTo>
                <a:lnTo>
                  <a:pt x="2170010" y="163829"/>
                </a:lnTo>
                <a:lnTo>
                  <a:pt x="2165108" y="162560"/>
                </a:lnTo>
                <a:lnTo>
                  <a:pt x="2165400" y="162560"/>
                </a:lnTo>
                <a:lnTo>
                  <a:pt x="2160384" y="160020"/>
                </a:lnTo>
                <a:lnTo>
                  <a:pt x="2189594" y="160020"/>
                </a:lnTo>
                <a:lnTo>
                  <a:pt x="2194242" y="162560"/>
                </a:lnTo>
                <a:lnTo>
                  <a:pt x="2198725" y="166370"/>
                </a:lnTo>
                <a:lnTo>
                  <a:pt x="2200884" y="167639"/>
                </a:lnTo>
                <a:lnTo>
                  <a:pt x="2178608" y="167639"/>
                </a:lnTo>
                <a:lnTo>
                  <a:pt x="2178888" y="168910"/>
                </a:lnTo>
                <a:close/>
              </a:path>
              <a:path w="2470150" h="588010">
                <a:moveTo>
                  <a:pt x="209740" y="168910"/>
                </a:moveTo>
                <a:lnTo>
                  <a:pt x="210019" y="167639"/>
                </a:lnTo>
                <a:lnTo>
                  <a:pt x="212070" y="167639"/>
                </a:lnTo>
                <a:lnTo>
                  <a:pt x="209740" y="168910"/>
                </a:lnTo>
                <a:close/>
              </a:path>
              <a:path w="2470150" h="588010">
                <a:moveTo>
                  <a:pt x="2183142" y="171450"/>
                </a:moveTo>
                <a:lnTo>
                  <a:pt x="2178608" y="167639"/>
                </a:lnTo>
                <a:lnTo>
                  <a:pt x="2200884" y="167639"/>
                </a:lnTo>
                <a:lnTo>
                  <a:pt x="2203043" y="168910"/>
                </a:lnTo>
                <a:lnTo>
                  <a:pt x="2204423" y="170179"/>
                </a:lnTo>
                <a:lnTo>
                  <a:pt x="2182876" y="170179"/>
                </a:lnTo>
                <a:lnTo>
                  <a:pt x="2183142" y="171450"/>
                </a:lnTo>
                <a:close/>
              </a:path>
              <a:path w="2470150" h="588010">
                <a:moveTo>
                  <a:pt x="205498" y="171450"/>
                </a:moveTo>
                <a:lnTo>
                  <a:pt x="205752" y="170179"/>
                </a:lnTo>
                <a:lnTo>
                  <a:pt x="207005" y="170179"/>
                </a:lnTo>
                <a:lnTo>
                  <a:pt x="205498" y="171450"/>
                </a:lnTo>
                <a:close/>
              </a:path>
              <a:path w="2470150" h="588010">
                <a:moveTo>
                  <a:pt x="2187257" y="173989"/>
                </a:moveTo>
                <a:lnTo>
                  <a:pt x="2182876" y="170179"/>
                </a:lnTo>
                <a:lnTo>
                  <a:pt x="2204423" y="170179"/>
                </a:lnTo>
                <a:lnTo>
                  <a:pt x="2207183" y="172720"/>
                </a:lnTo>
                <a:lnTo>
                  <a:pt x="2187003" y="172720"/>
                </a:lnTo>
                <a:lnTo>
                  <a:pt x="2187257" y="173989"/>
                </a:lnTo>
                <a:close/>
              </a:path>
              <a:path w="2470150" h="588010">
                <a:moveTo>
                  <a:pt x="27546" y="173989"/>
                </a:moveTo>
                <a:lnTo>
                  <a:pt x="27635" y="172720"/>
                </a:lnTo>
                <a:lnTo>
                  <a:pt x="28047" y="172720"/>
                </a:lnTo>
                <a:lnTo>
                  <a:pt x="27546" y="173989"/>
                </a:lnTo>
                <a:close/>
              </a:path>
              <a:path w="2470150" h="588010">
                <a:moveTo>
                  <a:pt x="201371" y="173989"/>
                </a:moveTo>
                <a:lnTo>
                  <a:pt x="201625" y="172720"/>
                </a:lnTo>
                <a:lnTo>
                  <a:pt x="202831" y="172720"/>
                </a:lnTo>
                <a:lnTo>
                  <a:pt x="201371" y="173989"/>
                </a:lnTo>
                <a:close/>
              </a:path>
              <a:path w="2470150" h="588010">
                <a:moveTo>
                  <a:pt x="2217318" y="205739"/>
                </a:moveTo>
                <a:lnTo>
                  <a:pt x="2214511" y="200660"/>
                </a:lnTo>
                <a:lnTo>
                  <a:pt x="2214676" y="200660"/>
                </a:lnTo>
                <a:lnTo>
                  <a:pt x="2211666" y="196850"/>
                </a:lnTo>
                <a:lnTo>
                  <a:pt x="2211844" y="196850"/>
                </a:lnTo>
                <a:lnTo>
                  <a:pt x="2208644" y="193039"/>
                </a:lnTo>
                <a:lnTo>
                  <a:pt x="2208834" y="193039"/>
                </a:lnTo>
                <a:lnTo>
                  <a:pt x="2205443" y="189229"/>
                </a:lnTo>
                <a:lnTo>
                  <a:pt x="2205647" y="189229"/>
                </a:lnTo>
                <a:lnTo>
                  <a:pt x="2202065" y="185420"/>
                </a:lnTo>
                <a:lnTo>
                  <a:pt x="2202281" y="185420"/>
                </a:lnTo>
                <a:lnTo>
                  <a:pt x="2198535" y="182879"/>
                </a:lnTo>
                <a:lnTo>
                  <a:pt x="2198763" y="182879"/>
                </a:lnTo>
                <a:lnTo>
                  <a:pt x="2194839" y="179070"/>
                </a:lnTo>
                <a:lnTo>
                  <a:pt x="2195068" y="179070"/>
                </a:lnTo>
                <a:lnTo>
                  <a:pt x="2190991" y="176529"/>
                </a:lnTo>
                <a:lnTo>
                  <a:pt x="2191232" y="176529"/>
                </a:lnTo>
                <a:lnTo>
                  <a:pt x="2187003" y="172720"/>
                </a:lnTo>
                <a:lnTo>
                  <a:pt x="2207183" y="172720"/>
                </a:lnTo>
                <a:lnTo>
                  <a:pt x="2211158" y="176529"/>
                </a:lnTo>
                <a:lnTo>
                  <a:pt x="2214943" y="180339"/>
                </a:lnTo>
                <a:lnTo>
                  <a:pt x="2218537" y="185420"/>
                </a:lnTo>
                <a:lnTo>
                  <a:pt x="2221928" y="189229"/>
                </a:lnTo>
                <a:lnTo>
                  <a:pt x="2225116" y="194310"/>
                </a:lnTo>
                <a:lnTo>
                  <a:pt x="2228088" y="198120"/>
                </a:lnTo>
                <a:lnTo>
                  <a:pt x="2230843" y="203200"/>
                </a:lnTo>
                <a:lnTo>
                  <a:pt x="2231475" y="204470"/>
                </a:lnTo>
                <a:lnTo>
                  <a:pt x="2217153" y="204470"/>
                </a:lnTo>
                <a:lnTo>
                  <a:pt x="2217318" y="205739"/>
                </a:lnTo>
                <a:close/>
              </a:path>
              <a:path w="2470150" h="588010">
                <a:moveTo>
                  <a:pt x="2373109" y="220979"/>
                </a:moveTo>
                <a:lnTo>
                  <a:pt x="2372080" y="214629"/>
                </a:lnTo>
                <a:lnTo>
                  <a:pt x="2370924" y="208279"/>
                </a:lnTo>
                <a:lnTo>
                  <a:pt x="2369629" y="201929"/>
                </a:lnTo>
                <a:lnTo>
                  <a:pt x="2368181" y="196850"/>
                </a:lnTo>
                <a:lnTo>
                  <a:pt x="2366594" y="190500"/>
                </a:lnTo>
                <a:lnTo>
                  <a:pt x="2364867" y="184150"/>
                </a:lnTo>
                <a:lnTo>
                  <a:pt x="2363000" y="179070"/>
                </a:lnTo>
                <a:lnTo>
                  <a:pt x="2361006" y="172720"/>
                </a:lnTo>
                <a:lnTo>
                  <a:pt x="2374209" y="172720"/>
                </a:lnTo>
                <a:lnTo>
                  <a:pt x="2375052" y="175260"/>
                </a:lnTo>
                <a:lnTo>
                  <a:pt x="2377020" y="180339"/>
                </a:lnTo>
                <a:lnTo>
                  <a:pt x="2385656" y="218439"/>
                </a:lnTo>
                <a:lnTo>
                  <a:pt x="2385837" y="219710"/>
                </a:lnTo>
                <a:lnTo>
                  <a:pt x="2373083" y="219710"/>
                </a:lnTo>
                <a:lnTo>
                  <a:pt x="2373109" y="220979"/>
                </a:lnTo>
                <a:close/>
              </a:path>
              <a:path w="2470150" h="588010">
                <a:moveTo>
                  <a:pt x="171310" y="205739"/>
                </a:moveTo>
                <a:lnTo>
                  <a:pt x="171475" y="204470"/>
                </a:lnTo>
                <a:lnTo>
                  <a:pt x="172015" y="204470"/>
                </a:lnTo>
                <a:lnTo>
                  <a:pt x="171310" y="205739"/>
                </a:lnTo>
                <a:close/>
              </a:path>
              <a:path w="2470150" h="588010">
                <a:moveTo>
                  <a:pt x="2225840" y="223520"/>
                </a:moveTo>
                <a:lnTo>
                  <a:pt x="2223897" y="218439"/>
                </a:lnTo>
                <a:lnTo>
                  <a:pt x="2224024" y="218439"/>
                </a:lnTo>
                <a:lnTo>
                  <a:pt x="2221865" y="213360"/>
                </a:lnTo>
                <a:lnTo>
                  <a:pt x="2219604" y="209550"/>
                </a:lnTo>
                <a:lnTo>
                  <a:pt x="2219756" y="209550"/>
                </a:lnTo>
                <a:lnTo>
                  <a:pt x="2217153" y="204470"/>
                </a:lnTo>
                <a:lnTo>
                  <a:pt x="2231475" y="204470"/>
                </a:lnTo>
                <a:lnTo>
                  <a:pt x="2233371" y="208279"/>
                </a:lnTo>
                <a:lnTo>
                  <a:pt x="2235657" y="213360"/>
                </a:lnTo>
                <a:lnTo>
                  <a:pt x="2237701" y="218439"/>
                </a:lnTo>
                <a:lnTo>
                  <a:pt x="2239054" y="222250"/>
                </a:lnTo>
                <a:lnTo>
                  <a:pt x="2225725" y="222250"/>
                </a:lnTo>
                <a:lnTo>
                  <a:pt x="2225840" y="223520"/>
                </a:lnTo>
                <a:close/>
              </a:path>
              <a:path w="2470150" h="588010">
                <a:moveTo>
                  <a:pt x="15519" y="220979"/>
                </a:moveTo>
                <a:lnTo>
                  <a:pt x="15544" y="219710"/>
                </a:lnTo>
                <a:lnTo>
                  <a:pt x="15725" y="219710"/>
                </a:lnTo>
                <a:lnTo>
                  <a:pt x="15519" y="220979"/>
                </a:lnTo>
                <a:close/>
              </a:path>
              <a:path w="2470150" h="588010">
                <a:moveTo>
                  <a:pt x="2439585" y="299720"/>
                </a:moveTo>
                <a:lnTo>
                  <a:pt x="2375928" y="299720"/>
                </a:lnTo>
                <a:lnTo>
                  <a:pt x="2375852" y="251460"/>
                </a:lnTo>
                <a:lnTo>
                  <a:pt x="2375611" y="245110"/>
                </a:lnTo>
                <a:lnTo>
                  <a:pt x="2375204" y="238760"/>
                </a:lnTo>
                <a:lnTo>
                  <a:pt x="2374658" y="232410"/>
                </a:lnTo>
                <a:lnTo>
                  <a:pt x="2373947" y="226060"/>
                </a:lnTo>
                <a:lnTo>
                  <a:pt x="2373083" y="219710"/>
                </a:lnTo>
                <a:lnTo>
                  <a:pt x="2385837" y="219710"/>
                </a:lnTo>
                <a:lnTo>
                  <a:pt x="2386558" y="224789"/>
                </a:lnTo>
                <a:lnTo>
                  <a:pt x="2388628" y="287020"/>
                </a:lnTo>
                <a:lnTo>
                  <a:pt x="2382278" y="287020"/>
                </a:lnTo>
                <a:lnTo>
                  <a:pt x="2388628" y="293370"/>
                </a:lnTo>
                <a:lnTo>
                  <a:pt x="2445956" y="293370"/>
                </a:lnTo>
                <a:lnTo>
                  <a:pt x="2439585" y="299720"/>
                </a:lnTo>
                <a:close/>
              </a:path>
              <a:path w="2470150" h="588010">
                <a:moveTo>
                  <a:pt x="162801" y="223520"/>
                </a:moveTo>
                <a:lnTo>
                  <a:pt x="162902" y="222250"/>
                </a:lnTo>
                <a:lnTo>
                  <a:pt x="163283" y="222250"/>
                </a:lnTo>
                <a:lnTo>
                  <a:pt x="162801" y="223520"/>
                </a:lnTo>
                <a:close/>
              </a:path>
              <a:path w="2470150" h="588010">
                <a:moveTo>
                  <a:pt x="2231948" y="293370"/>
                </a:moveTo>
                <a:lnTo>
                  <a:pt x="2231948" y="257810"/>
                </a:lnTo>
                <a:lnTo>
                  <a:pt x="2231809" y="252729"/>
                </a:lnTo>
                <a:lnTo>
                  <a:pt x="2231402" y="247650"/>
                </a:lnTo>
                <a:lnTo>
                  <a:pt x="2230755" y="242570"/>
                </a:lnTo>
                <a:lnTo>
                  <a:pt x="2229853" y="237489"/>
                </a:lnTo>
                <a:lnTo>
                  <a:pt x="2228710" y="232410"/>
                </a:lnTo>
                <a:lnTo>
                  <a:pt x="2227326" y="227329"/>
                </a:lnTo>
                <a:lnTo>
                  <a:pt x="2225725" y="222250"/>
                </a:lnTo>
                <a:lnTo>
                  <a:pt x="2239054" y="222250"/>
                </a:lnTo>
                <a:lnTo>
                  <a:pt x="2239505" y="223520"/>
                </a:lnTo>
                <a:lnTo>
                  <a:pt x="2244648" y="287020"/>
                </a:lnTo>
                <a:lnTo>
                  <a:pt x="2238298" y="287020"/>
                </a:lnTo>
                <a:lnTo>
                  <a:pt x="2231948" y="293370"/>
                </a:lnTo>
                <a:close/>
              </a:path>
              <a:path w="2470150" h="588010">
                <a:moveTo>
                  <a:pt x="2310282" y="447039"/>
                </a:moveTo>
                <a:lnTo>
                  <a:pt x="2150973" y="287020"/>
                </a:lnTo>
                <a:lnTo>
                  <a:pt x="2231948" y="287020"/>
                </a:lnTo>
                <a:lnTo>
                  <a:pt x="2231948" y="289560"/>
                </a:lnTo>
                <a:lnTo>
                  <a:pt x="2170798" y="289560"/>
                </a:lnTo>
                <a:lnTo>
                  <a:pt x="2166302" y="299720"/>
                </a:lnTo>
                <a:lnTo>
                  <a:pt x="2180991" y="299720"/>
                </a:lnTo>
                <a:lnTo>
                  <a:pt x="2310288" y="428595"/>
                </a:lnTo>
                <a:lnTo>
                  <a:pt x="2305799" y="433070"/>
                </a:lnTo>
                <a:lnTo>
                  <a:pt x="2324191" y="433070"/>
                </a:lnTo>
                <a:lnTo>
                  <a:pt x="2310282" y="447039"/>
                </a:lnTo>
                <a:close/>
              </a:path>
              <a:path w="2470150" h="588010">
                <a:moveTo>
                  <a:pt x="2244648" y="293370"/>
                </a:moveTo>
                <a:lnTo>
                  <a:pt x="2231948" y="293370"/>
                </a:lnTo>
                <a:lnTo>
                  <a:pt x="2238298" y="287020"/>
                </a:lnTo>
                <a:lnTo>
                  <a:pt x="2244648" y="287020"/>
                </a:lnTo>
                <a:lnTo>
                  <a:pt x="2244648" y="293370"/>
                </a:lnTo>
                <a:close/>
              </a:path>
              <a:path w="2470150" h="588010">
                <a:moveTo>
                  <a:pt x="2388628" y="293370"/>
                </a:moveTo>
                <a:lnTo>
                  <a:pt x="2382278" y="287020"/>
                </a:lnTo>
                <a:lnTo>
                  <a:pt x="2388628" y="287020"/>
                </a:lnTo>
                <a:lnTo>
                  <a:pt x="2388628" y="293370"/>
                </a:lnTo>
                <a:close/>
              </a:path>
              <a:path w="2470150" h="588010">
                <a:moveTo>
                  <a:pt x="2445956" y="293370"/>
                </a:moveTo>
                <a:lnTo>
                  <a:pt x="2388628" y="293370"/>
                </a:lnTo>
                <a:lnTo>
                  <a:pt x="2388628" y="287020"/>
                </a:lnTo>
                <a:lnTo>
                  <a:pt x="2469603" y="287020"/>
                </a:lnTo>
                <a:lnTo>
                  <a:pt x="2467074" y="289560"/>
                </a:lnTo>
                <a:lnTo>
                  <a:pt x="2449779" y="289560"/>
                </a:lnTo>
                <a:lnTo>
                  <a:pt x="2445956" y="293370"/>
                </a:lnTo>
                <a:close/>
              </a:path>
              <a:path w="2470150" h="588010">
                <a:moveTo>
                  <a:pt x="2180991" y="299720"/>
                </a:moveTo>
                <a:lnTo>
                  <a:pt x="2166302" y="299720"/>
                </a:lnTo>
                <a:lnTo>
                  <a:pt x="2170798" y="289560"/>
                </a:lnTo>
                <a:lnTo>
                  <a:pt x="2180991" y="299720"/>
                </a:lnTo>
                <a:close/>
              </a:path>
              <a:path w="2470150" h="588010">
                <a:moveTo>
                  <a:pt x="2244648" y="299720"/>
                </a:moveTo>
                <a:lnTo>
                  <a:pt x="2180991" y="299720"/>
                </a:lnTo>
                <a:lnTo>
                  <a:pt x="2170798" y="289560"/>
                </a:lnTo>
                <a:lnTo>
                  <a:pt x="2231948" y="289560"/>
                </a:lnTo>
                <a:lnTo>
                  <a:pt x="2231948" y="293370"/>
                </a:lnTo>
                <a:lnTo>
                  <a:pt x="2244648" y="293370"/>
                </a:lnTo>
                <a:lnTo>
                  <a:pt x="2244648" y="299720"/>
                </a:lnTo>
                <a:close/>
              </a:path>
              <a:path w="2470150" h="588010">
                <a:moveTo>
                  <a:pt x="2324191" y="433070"/>
                </a:moveTo>
                <a:lnTo>
                  <a:pt x="2314778" y="433070"/>
                </a:lnTo>
                <a:lnTo>
                  <a:pt x="2310288" y="428595"/>
                </a:lnTo>
                <a:lnTo>
                  <a:pt x="2449779" y="289560"/>
                </a:lnTo>
                <a:lnTo>
                  <a:pt x="2454275" y="299720"/>
                </a:lnTo>
                <a:lnTo>
                  <a:pt x="2456959" y="299720"/>
                </a:lnTo>
                <a:lnTo>
                  <a:pt x="2324191" y="433070"/>
                </a:lnTo>
                <a:close/>
              </a:path>
              <a:path w="2470150" h="588010">
                <a:moveTo>
                  <a:pt x="2456959" y="299720"/>
                </a:moveTo>
                <a:lnTo>
                  <a:pt x="2454275" y="299720"/>
                </a:lnTo>
                <a:lnTo>
                  <a:pt x="2449779" y="289560"/>
                </a:lnTo>
                <a:lnTo>
                  <a:pt x="2467074" y="289560"/>
                </a:lnTo>
                <a:lnTo>
                  <a:pt x="2456959" y="299720"/>
                </a:lnTo>
                <a:close/>
              </a:path>
              <a:path w="2470150" h="588010">
                <a:moveTo>
                  <a:pt x="2314778" y="433070"/>
                </a:moveTo>
                <a:lnTo>
                  <a:pt x="2305799" y="433070"/>
                </a:lnTo>
                <a:lnTo>
                  <a:pt x="2310288" y="428595"/>
                </a:lnTo>
                <a:lnTo>
                  <a:pt x="2314778" y="433070"/>
                </a:lnTo>
                <a:close/>
              </a:path>
              <a:path w="2470150" h="588010">
                <a:moveTo>
                  <a:pt x="12700" y="581660"/>
                </a:moveTo>
                <a:lnTo>
                  <a:pt x="6350" y="575310"/>
                </a:lnTo>
                <a:lnTo>
                  <a:pt x="12700" y="575310"/>
                </a:lnTo>
                <a:lnTo>
                  <a:pt x="12700" y="581660"/>
                </a:lnTo>
                <a:close/>
              </a:path>
              <a:path w="2470150" h="588010">
                <a:moveTo>
                  <a:pt x="143992" y="581660"/>
                </a:moveTo>
                <a:lnTo>
                  <a:pt x="12700" y="581660"/>
                </a:lnTo>
                <a:lnTo>
                  <a:pt x="12700" y="575310"/>
                </a:lnTo>
                <a:lnTo>
                  <a:pt x="143992" y="575310"/>
                </a:lnTo>
                <a:lnTo>
                  <a:pt x="143992" y="581660"/>
                </a:lnTo>
                <a:close/>
              </a:path>
              <a:path w="2470150" h="588010">
                <a:moveTo>
                  <a:pt x="156692" y="581660"/>
                </a:moveTo>
                <a:lnTo>
                  <a:pt x="143992" y="581660"/>
                </a:lnTo>
                <a:lnTo>
                  <a:pt x="150342" y="575310"/>
                </a:lnTo>
                <a:lnTo>
                  <a:pt x="156692" y="575310"/>
                </a:lnTo>
                <a:lnTo>
                  <a:pt x="156692" y="581660"/>
                </a:lnTo>
                <a:close/>
              </a:path>
            </a:pathLst>
          </a:custGeom>
          <a:solidFill>
            <a:srgbClr val="0051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834" y="1046479"/>
            <a:ext cx="61290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Java</a:t>
            </a:r>
            <a:r>
              <a:rPr dirty="0" sz="2100" spc="-25">
                <a:latin typeface="Georgia"/>
                <a:cs typeface="Georgia"/>
              </a:rPr>
              <a:t> </a:t>
            </a:r>
            <a:r>
              <a:rPr dirty="0" sz="2100">
                <a:latin typeface="Georgia"/>
                <a:cs typeface="Georgia"/>
              </a:rPr>
              <a:t>SE</a:t>
            </a:r>
            <a:r>
              <a:rPr dirty="0" sz="2100" spc="-25">
                <a:latin typeface="Georgia"/>
                <a:cs typeface="Georgia"/>
              </a:rPr>
              <a:t> </a:t>
            </a:r>
            <a:r>
              <a:rPr dirty="0" sz="2100" spc="-5">
                <a:latin typeface="Georgia"/>
                <a:cs typeface="Georgia"/>
              </a:rPr>
              <a:t>8</a:t>
            </a:r>
            <a:r>
              <a:rPr dirty="0" sz="2100">
                <a:latin typeface="宋体"/>
                <a:cs typeface="宋体"/>
              </a:rPr>
              <a:t>开始</a:t>
            </a:r>
            <a:r>
              <a:rPr dirty="0" sz="2100" spc="-5">
                <a:latin typeface="宋体"/>
                <a:cs typeface="宋体"/>
              </a:rPr>
              <a:t>，</a:t>
            </a:r>
            <a:r>
              <a:rPr dirty="0" sz="2100" spc="-5">
                <a:latin typeface="Georgia"/>
                <a:cs typeface="Georgia"/>
              </a:rPr>
              <a:t>Iterable</a:t>
            </a:r>
            <a:r>
              <a:rPr dirty="0" sz="2100">
                <a:latin typeface="宋体"/>
                <a:cs typeface="宋体"/>
              </a:rPr>
              <a:t>接口中新增了</a:t>
            </a:r>
            <a:r>
              <a:rPr dirty="0" sz="2100" spc="-5">
                <a:solidFill>
                  <a:srgbClr val="FF0000"/>
                </a:solidFill>
                <a:latin typeface="Georgia"/>
                <a:cs typeface="Georgia"/>
              </a:rPr>
              <a:t>forEach</a:t>
            </a:r>
            <a:r>
              <a:rPr dirty="0" sz="2100">
                <a:solidFill>
                  <a:srgbClr val="FF0000"/>
                </a:solidFill>
                <a:latin typeface="宋体"/>
                <a:cs typeface="宋体"/>
              </a:rPr>
              <a:t>方法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834" y="3689123"/>
            <a:ext cx="6706870" cy="85979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宋体"/>
                <a:cs typeface="宋体"/>
              </a:rPr>
              <a:t>参数</a:t>
            </a:r>
            <a:r>
              <a:rPr dirty="0" sz="2100" spc="-5">
                <a:latin typeface="Georgia"/>
                <a:cs typeface="Georgia"/>
              </a:rPr>
              <a:t>action</a:t>
            </a:r>
            <a:r>
              <a:rPr dirty="0" sz="2100" spc="-5">
                <a:latin typeface="宋体"/>
                <a:cs typeface="宋体"/>
              </a:rPr>
              <a:t>：</a:t>
            </a:r>
            <a:r>
              <a:rPr dirty="0" sz="2100" spc="-5">
                <a:latin typeface="Georgia"/>
                <a:cs typeface="Georgia"/>
              </a:rPr>
              <a:t>lambda</a:t>
            </a:r>
            <a:r>
              <a:rPr dirty="0" sz="2100">
                <a:latin typeface="宋体"/>
                <a:cs typeface="宋体"/>
              </a:rPr>
              <a:t>表达式，描述遍历的行为</a:t>
            </a:r>
            <a:endParaRPr sz="21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 spc="-5">
                <a:latin typeface="Georgia"/>
                <a:cs typeface="Georgia"/>
              </a:rPr>
              <a:t>lamb</a:t>
            </a:r>
            <a:r>
              <a:rPr dirty="0" sz="2800">
                <a:latin typeface="Georgia"/>
                <a:cs typeface="Georgia"/>
              </a:rPr>
              <a:t>d</a:t>
            </a:r>
            <a:r>
              <a:rPr dirty="0" sz="2800" spc="-5">
                <a:latin typeface="Georgia"/>
                <a:cs typeface="Georgia"/>
              </a:rPr>
              <a:t>a</a:t>
            </a:r>
            <a:r>
              <a:rPr dirty="0" sz="2800">
                <a:latin typeface="宋体"/>
                <a:cs typeface="宋体"/>
              </a:rPr>
              <a:t>表达式能够将行为做为方法的参</a:t>
            </a:r>
            <a:r>
              <a:rPr dirty="0" sz="2800" spc="-5">
                <a:latin typeface="宋体"/>
                <a:cs typeface="宋体"/>
              </a:rPr>
              <a:t>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36271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foreach+lambda</a:t>
            </a:r>
            <a:r>
              <a:rPr dirty="0" sz="2100" b="1">
                <a:latin typeface="宋体"/>
                <a:cs typeface="宋体"/>
              </a:rPr>
              <a:t>表达式遍</a:t>
            </a:r>
            <a:r>
              <a:rPr dirty="0" sz="2100" spc="-10" b="1">
                <a:latin typeface="宋体"/>
                <a:cs typeface="宋体"/>
              </a:rPr>
              <a:t>历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5904" y="1629155"/>
            <a:ext cx="6696456" cy="2159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3930" y="1974799"/>
            <a:ext cx="6725920" cy="1108710"/>
          </a:xfrm>
          <a:custGeom>
            <a:avLst/>
            <a:gdLst/>
            <a:ahLst/>
            <a:cxnLst/>
            <a:rect l="l" t="t" r="r" b="b"/>
            <a:pathLst>
              <a:path w="6725920" h="1108710">
                <a:moveTo>
                  <a:pt x="6725323" y="1108697"/>
                </a:moveTo>
                <a:lnTo>
                  <a:pt x="0" y="1108697"/>
                </a:lnTo>
                <a:lnTo>
                  <a:pt x="0" y="0"/>
                </a:lnTo>
                <a:lnTo>
                  <a:pt x="6725323" y="0"/>
                </a:lnTo>
                <a:lnTo>
                  <a:pt x="672532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080122"/>
                </a:lnTo>
                <a:lnTo>
                  <a:pt x="14287" y="1080122"/>
                </a:lnTo>
                <a:lnTo>
                  <a:pt x="28575" y="1094409"/>
                </a:lnTo>
                <a:lnTo>
                  <a:pt x="6725323" y="1094409"/>
                </a:lnTo>
                <a:lnTo>
                  <a:pt x="6725323" y="1108697"/>
                </a:lnTo>
                <a:close/>
              </a:path>
              <a:path w="6725920" h="11087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725920" h="1108710">
                <a:moveTo>
                  <a:pt x="669674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696748" y="14287"/>
                </a:lnTo>
                <a:lnTo>
                  <a:pt x="6696748" y="28575"/>
                </a:lnTo>
                <a:close/>
              </a:path>
              <a:path w="6725920" h="1108710">
                <a:moveTo>
                  <a:pt x="6696748" y="1094409"/>
                </a:moveTo>
                <a:lnTo>
                  <a:pt x="6696748" y="14287"/>
                </a:lnTo>
                <a:lnTo>
                  <a:pt x="6711035" y="28575"/>
                </a:lnTo>
                <a:lnTo>
                  <a:pt x="6725323" y="28575"/>
                </a:lnTo>
                <a:lnTo>
                  <a:pt x="6725323" y="1080122"/>
                </a:lnTo>
                <a:lnTo>
                  <a:pt x="6711035" y="1080122"/>
                </a:lnTo>
                <a:lnTo>
                  <a:pt x="6696748" y="1094409"/>
                </a:lnTo>
                <a:close/>
              </a:path>
              <a:path w="6725920" h="1108710">
                <a:moveTo>
                  <a:pt x="6725323" y="28575"/>
                </a:moveTo>
                <a:lnTo>
                  <a:pt x="6711035" y="28575"/>
                </a:lnTo>
                <a:lnTo>
                  <a:pt x="6696748" y="14287"/>
                </a:lnTo>
                <a:lnTo>
                  <a:pt x="6725323" y="14287"/>
                </a:lnTo>
                <a:lnTo>
                  <a:pt x="6725323" y="28575"/>
                </a:lnTo>
                <a:close/>
              </a:path>
              <a:path w="6725920" h="1108710">
                <a:moveTo>
                  <a:pt x="28575" y="1094409"/>
                </a:moveTo>
                <a:lnTo>
                  <a:pt x="14287" y="1080122"/>
                </a:lnTo>
                <a:lnTo>
                  <a:pt x="28575" y="1080122"/>
                </a:lnTo>
                <a:lnTo>
                  <a:pt x="28575" y="1094409"/>
                </a:lnTo>
                <a:close/>
              </a:path>
              <a:path w="6725920" h="1108710">
                <a:moveTo>
                  <a:pt x="6696748" y="1094409"/>
                </a:moveTo>
                <a:lnTo>
                  <a:pt x="28575" y="1094409"/>
                </a:lnTo>
                <a:lnTo>
                  <a:pt x="28575" y="1080122"/>
                </a:lnTo>
                <a:lnTo>
                  <a:pt x="6696748" y="1080122"/>
                </a:lnTo>
                <a:lnTo>
                  <a:pt x="6696748" y="1094409"/>
                </a:lnTo>
                <a:close/>
              </a:path>
              <a:path w="6725920" h="1108710">
                <a:moveTo>
                  <a:pt x="6725323" y="1094409"/>
                </a:moveTo>
                <a:lnTo>
                  <a:pt x="6696748" y="1094409"/>
                </a:lnTo>
                <a:lnTo>
                  <a:pt x="6711035" y="1080122"/>
                </a:lnTo>
                <a:lnTo>
                  <a:pt x="6725323" y="1080122"/>
                </a:lnTo>
                <a:lnTo>
                  <a:pt x="6725323" y="10944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9355" y="1336801"/>
            <a:ext cx="6800850" cy="254635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5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600" b="1">
                <a:latin typeface="宋体"/>
                <a:cs typeface="宋体"/>
              </a:rPr>
              <a:t>需要函数式接口的支</a:t>
            </a:r>
            <a:r>
              <a:rPr dirty="0" sz="2600" spc="-10" b="1">
                <a:latin typeface="宋体"/>
                <a:cs typeface="宋体"/>
              </a:rPr>
              <a:t>持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3370579" algn="l"/>
              </a:tabLst>
            </a:pPr>
            <a:r>
              <a:rPr dirty="0" sz="2600" spc="-5">
                <a:latin typeface="Georgia"/>
                <a:cs typeface="Georgia"/>
              </a:rPr>
              <a:t>@FunctionalInterface	</a:t>
            </a:r>
            <a:r>
              <a:rPr dirty="0" sz="2600">
                <a:latin typeface="宋体"/>
                <a:cs typeface="宋体"/>
              </a:rPr>
              <a:t>函数式接</a:t>
            </a:r>
            <a:r>
              <a:rPr dirty="0" sz="2600" spc="5">
                <a:latin typeface="宋体"/>
                <a:cs typeface="宋体"/>
              </a:rPr>
              <a:t>口</a:t>
            </a:r>
            <a:endParaRPr sz="2600">
              <a:latin typeface="宋体"/>
              <a:cs typeface="宋体"/>
            </a:endParaRPr>
          </a:p>
          <a:p>
            <a:pPr marL="12700" marR="5080" indent="317500">
              <a:lnSpc>
                <a:spcPts val="2800"/>
              </a:lnSpc>
              <a:spcBef>
                <a:spcPts val="795"/>
              </a:spcBef>
            </a:pPr>
            <a:r>
              <a:rPr dirty="0" sz="2600">
                <a:latin typeface="宋体"/>
                <a:cs typeface="宋体"/>
              </a:rPr>
              <a:t>函数式接口有且只有一个</a:t>
            </a:r>
            <a:r>
              <a:rPr dirty="0" sz="2600" spc="-5">
                <a:latin typeface="Georgia"/>
                <a:cs typeface="Georgia"/>
              </a:rPr>
              <a:t>abs</a:t>
            </a:r>
            <a:r>
              <a:rPr dirty="0" sz="2600">
                <a:latin typeface="Georgia"/>
                <a:cs typeface="Georgia"/>
              </a:rPr>
              <a:t>t</a:t>
            </a:r>
            <a:r>
              <a:rPr dirty="0" sz="2600" spc="-5">
                <a:latin typeface="Georgia"/>
                <a:cs typeface="Georgia"/>
              </a:rPr>
              <a:t>rac</a:t>
            </a:r>
            <a:r>
              <a:rPr dirty="0" sz="2600">
                <a:latin typeface="Georgia"/>
                <a:cs typeface="Georgia"/>
              </a:rPr>
              <a:t>t</a:t>
            </a:r>
            <a:r>
              <a:rPr dirty="0" sz="2600">
                <a:latin typeface="宋体"/>
                <a:cs typeface="宋体"/>
              </a:rPr>
              <a:t>方法。但</a:t>
            </a:r>
            <a:r>
              <a:rPr dirty="0" sz="2600">
                <a:latin typeface="宋体"/>
                <a:cs typeface="宋体"/>
              </a:rPr>
              <a:t>可 </a:t>
            </a:r>
            <a:r>
              <a:rPr dirty="0" sz="2600">
                <a:latin typeface="宋体"/>
                <a:cs typeface="宋体"/>
              </a:rPr>
              <a:t>以有多个</a:t>
            </a:r>
            <a:r>
              <a:rPr dirty="0" sz="2600" spc="-5">
                <a:latin typeface="Georgia"/>
                <a:cs typeface="Georgia"/>
              </a:rPr>
              <a:t>static</a:t>
            </a:r>
            <a:r>
              <a:rPr dirty="0" sz="2600" spc="-15">
                <a:latin typeface="Georgia"/>
                <a:cs typeface="Georgia"/>
              </a:rPr>
              <a:t> </a:t>
            </a:r>
            <a:r>
              <a:rPr dirty="0" sz="2600">
                <a:latin typeface="宋体"/>
                <a:cs typeface="宋体"/>
              </a:rPr>
              <a:t>方法和</a:t>
            </a:r>
            <a:r>
              <a:rPr dirty="0" sz="2600" spc="-5">
                <a:latin typeface="Georgia"/>
                <a:cs typeface="Georgia"/>
              </a:rPr>
              <a:t>default </a:t>
            </a:r>
            <a:r>
              <a:rPr dirty="0" sz="2600">
                <a:latin typeface="宋体"/>
                <a:cs typeface="宋体"/>
              </a:rPr>
              <a:t>方法</a:t>
            </a:r>
            <a:r>
              <a:rPr dirty="0" sz="2600" spc="5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12700" marR="132080" indent="317500">
              <a:lnSpc>
                <a:spcPts val="2780"/>
              </a:lnSpc>
              <a:spcBef>
                <a:spcPts val="775"/>
              </a:spcBef>
              <a:tabLst>
                <a:tab pos="5339080" algn="l"/>
              </a:tabLst>
            </a:pPr>
            <a:r>
              <a:rPr dirty="0" sz="2600">
                <a:latin typeface="宋体"/>
                <a:cs typeface="宋体"/>
              </a:rPr>
              <a:t>如果接口用</a:t>
            </a:r>
            <a:r>
              <a:rPr dirty="0" sz="2600" spc="-5">
                <a:latin typeface="Georgia"/>
                <a:cs typeface="Georgia"/>
              </a:rPr>
              <a:t>@Func</a:t>
            </a:r>
            <a:r>
              <a:rPr dirty="0" sz="2600">
                <a:latin typeface="Georgia"/>
                <a:cs typeface="Georgia"/>
              </a:rPr>
              <a:t>t</a:t>
            </a:r>
            <a:r>
              <a:rPr dirty="0" sz="2600" spc="-5">
                <a:latin typeface="Georgia"/>
                <a:cs typeface="Georgia"/>
              </a:rPr>
              <a:t>ional</a:t>
            </a:r>
            <a:r>
              <a:rPr dirty="0" sz="2600">
                <a:latin typeface="Georgia"/>
                <a:cs typeface="Georgia"/>
              </a:rPr>
              <a:t>I</a:t>
            </a:r>
            <a:r>
              <a:rPr dirty="0" sz="2600" spc="-5">
                <a:latin typeface="Georgia"/>
                <a:cs typeface="Georgia"/>
              </a:rPr>
              <a:t>n</a:t>
            </a:r>
            <a:r>
              <a:rPr dirty="0" sz="2600">
                <a:latin typeface="Georgia"/>
                <a:cs typeface="Georgia"/>
              </a:rPr>
              <a:t>t</a:t>
            </a:r>
            <a:r>
              <a:rPr dirty="0" sz="2600" spc="-5">
                <a:latin typeface="Georgia"/>
                <a:cs typeface="Georgia"/>
              </a:rPr>
              <a:t>erfac</a:t>
            </a:r>
            <a:r>
              <a:rPr dirty="0" sz="2600">
                <a:latin typeface="Georgia"/>
                <a:cs typeface="Georgia"/>
              </a:rPr>
              <a:t>e</a:t>
            </a:r>
            <a:r>
              <a:rPr dirty="0" sz="2600">
                <a:latin typeface="Georgia"/>
                <a:cs typeface="Georgia"/>
              </a:rPr>
              <a:t>	</a:t>
            </a:r>
            <a:r>
              <a:rPr dirty="0" sz="2600">
                <a:latin typeface="宋体"/>
                <a:cs typeface="宋体"/>
              </a:rPr>
              <a:t>修饰，</a:t>
            </a:r>
            <a:r>
              <a:rPr dirty="0" sz="2600">
                <a:latin typeface="宋体"/>
                <a:cs typeface="宋体"/>
              </a:rPr>
              <a:t>并 </a:t>
            </a:r>
            <a:r>
              <a:rPr dirty="0" sz="2600">
                <a:latin typeface="宋体"/>
                <a:cs typeface="宋体"/>
              </a:rPr>
              <a:t>包括多个抽象方法，则编译时会报错</a:t>
            </a:r>
            <a:r>
              <a:rPr dirty="0" sz="2600" spc="5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8573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53075" y="3188970"/>
            <a:ext cx="456565" cy="414020"/>
          </a:xfrm>
          <a:custGeom>
            <a:avLst/>
            <a:gdLst/>
            <a:ahLst/>
            <a:cxnLst/>
            <a:rect l="l" t="t" r="r" b="b"/>
            <a:pathLst>
              <a:path w="456564" h="414020">
                <a:moveTo>
                  <a:pt x="0" y="0"/>
                </a:moveTo>
                <a:lnTo>
                  <a:pt x="456564" y="0"/>
                </a:lnTo>
                <a:lnTo>
                  <a:pt x="456564" y="414019"/>
                </a:lnTo>
                <a:lnTo>
                  <a:pt x="0" y="414019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4205" y="380225"/>
            <a:ext cx="7792084" cy="5677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183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lambda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600" spc="-5">
                <a:solidFill>
                  <a:srgbClr val="FF0000"/>
                </a:solidFill>
                <a:latin typeface="Georgia"/>
                <a:cs typeface="Georgia"/>
              </a:rPr>
              <a:t>lambda</a:t>
            </a:r>
            <a:r>
              <a:rPr dirty="0" sz="2600">
                <a:solidFill>
                  <a:srgbClr val="FF0000"/>
                </a:solidFill>
                <a:latin typeface="宋体"/>
                <a:cs typeface="宋体"/>
              </a:rPr>
              <a:t>表达式的本质是函数式接口的匿名内部</a:t>
            </a:r>
            <a:r>
              <a:rPr dirty="0" sz="2600" spc="5">
                <a:solidFill>
                  <a:srgbClr val="FF0000"/>
                </a:solidFill>
                <a:latin typeface="宋体"/>
                <a:cs typeface="宋体"/>
              </a:rPr>
              <a:t>类</a:t>
            </a:r>
            <a:endParaRPr sz="2600">
              <a:latin typeface="宋体"/>
              <a:cs typeface="宋体"/>
            </a:endParaRPr>
          </a:p>
          <a:p>
            <a:pPr marL="184150" marR="5080" indent="-171450">
              <a:lnSpc>
                <a:spcPts val="2800"/>
              </a:lnSpc>
              <a:spcBef>
                <a:spcPts val="77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600">
                <a:latin typeface="宋体"/>
                <a:cs typeface="宋体"/>
              </a:rPr>
              <a:t>只保留函数式接口抽象方法的参数列表和方法体，</a:t>
            </a:r>
            <a:r>
              <a:rPr dirty="0" sz="2600">
                <a:latin typeface="宋体"/>
                <a:cs typeface="宋体"/>
              </a:rPr>
              <a:t>并 </a:t>
            </a:r>
            <a:r>
              <a:rPr dirty="0" sz="2600">
                <a:latin typeface="宋体"/>
                <a:cs typeface="宋体"/>
              </a:rPr>
              <a:t>在参数列表和方法体间用箭头隔开</a:t>
            </a:r>
            <a:r>
              <a:rPr dirty="0" sz="2600" spc="5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2238375">
              <a:lnSpc>
                <a:spcPct val="100000"/>
              </a:lnSpc>
              <a:spcBef>
                <a:spcPts val="1055"/>
              </a:spcBef>
            </a:pPr>
            <a:r>
              <a:rPr dirty="0" sz="1800">
                <a:latin typeface="微软雅黑"/>
                <a:cs typeface="微软雅黑"/>
              </a:rPr>
              <a:t>函数式接口</a:t>
            </a:r>
            <a:endParaRPr sz="1800">
              <a:latin typeface="微软雅黑"/>
              <a:cs typeface="微软雅黑"/>
            </a:endParaRPr>
          </a:p>
          <a:p>
            <a:pPr marL="582930" marR="1295400">
              <a:lnSpc>
                <a:spcPct val="100000"/>
              </a:lnSpc>
              <a:spcBef>
                <a:spcPts val="1150"/>
              </a:spcBef>
            </a:pPr>
            <a:r>
              <a:rPr dirty="0" u="heavy" sz="2800" spc="-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eorgia"/>
                <a:cs typeface="Georgia"/>
              </a:rPr>
              <a:t>ReturnNoParam</a:t>
            </a:r>
            <a:r>
              <a:rPr dirty="0" sz="2800" spc="-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800" spc="-5">
                <a:latin typeface="Georgia"/>
                <a:cs typeface="Georgia"/>
              </a:rPr>
              <a:t>return = () -&gt;  System.out.print("ReturnNoParam");</a:t>
            </a:r>
            <a:endParaRPr sz="2800">
              <a:latin typeface="Georgia"/>
              <a:cs typeface="Georgia"/>
            </a:endParaRPr>
          </a:p>
          <a:p>
            <a:pPr marL="1611630">
              <a:lnSpc>
                <a:spcPct val="100000"/>
              </a:lnSpc>
            </a:pPr>
            <a:r>
              <a:rPr dirty="0" sz="2800" spc="-5">
                <a:latin typeface="Georgia"/>
                <a:cs typeface="Georgia"/>
              </a:rPr>
              <a:t>return 1;</a:t>
            </a:r>
            <a:endParaRPr sz="2800">
              <a:latin typeface="Georgia"/>
              <a:cs typeface="Georgia"/>
            </a:endParaRPr>
          </a:p>
          <a:p>
            <a:pPr marL="1268730">
              <a:lnSpc>
                <a:spcPct val="100000"/>
              </a:lnSpc>
            </a:pPr>
            <a:r>
              <a:rPr dirty="0" sz="2800" spc="-5">
                <a:latin typeface="Georgia"/>
                <a:cs typeface="Georgia"/>
              </a:rPr>
              <a:t>};</a:t>
            </a:r>
            <a:endParaRPr sz="2800">
              <a:latin typeface="Georgia"/>
              <a:cs typeface="Georgia"/>
            </a:endParaRPr>
          </a:p>
          <a:p>
            <a:pPr marL="2454275" marR="830580" indent="144145">
              <a:lnSpc>
                <a:spcPct val="122300"/>
              </a:lnSpc>
              <a:spcBef>
                <a:spcPts val="975"/>
              </a:spcBef>
            </a:pPr>
            <a:r>
              <a:rPr dirty="0" sz="2800" spc="-5">
                <a:solidFill>
                  <a:srgbClr val="006C39"/>
                </a:solidFill>
                <a:latin typeface="Georgia"/>
                <a:cs typeface="Georgia"/>
              </a:rPr>
              <a:t>LambdaExample.java  LambdaExampleSimple.java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45335" y="2835186"/>
            <a:ext cx="743673" cy="261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8573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48429" y="1241425"/>
            <a:ext cx="328930" cy="298450"/>
          </a:xfrm>
          <a:custGeom>
            <a:avLst/>
            <a:gdLst/>
            <a:ahLst/>
            <a:cxnLst/>
            <a:rect l="l" t="t" r="r" b="b"/>
            <a:pathLst>
              <a:path w="328929" h="298450">
                <a:moveTo>
                  <a:pt x="0" y="0"/>
                </a:moveTo>
                <a:lnTo>
                  <a:pt x="328929" y="0"/>
                </a:lnTo>
                <a:lnTo>
                  <a:pt x="328929" y="298450"/>
                </a:lnTo>
                <a:lnTo>
                  <a:pt x="0" y="29845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55591" y="2493264"/>
            <a:ext cx="76200" cy="576580"/>
          </a:xfrm>
          <a:custGeom>
            <a:avLst/>
            <a:gdLst/>
            <a:ahLst/>
            <a:cxnLst/>
            <a:rect l="l" t="t" r="r" b="b"/>
            <a:pathLst>
              <a:path w="76200" h="576580">
                <a:moveTo>
                  <a:pt x="57912" y="537972"/>
                </a:moveTo>
                <a:lnTo>
                  <a:pt x="19812" y="537972"/>
                </a:lnTo>
                <a:lnTo>
                  <a:pt x="19812" y="0"/>
                </a:lnTo>
                <a:lnTo>
                  <a:pt x="57912" y="0"/>
                </a:lnTo>
                <a:lnTo>
                  <a:pt x="57912" y="537972"/>
                </a:lnTo>
                <a:close/>
              </a:path>
              <a:path w="76200" h="576580">
                <a:moveTo>
                  <a:pt x="38100" y="576072"/>
                </a:moveTo>
                <a:lnTo>
                  <a:pt x="0" y="537972"/>
                </a:lnTo>
                <a:lnTo>
                  <a:pt x="76200" y="537972"/>
                </a:lnTo>
                <a:lnTo>
                  <a:pt x="38100" y="576072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0771" y="2486660"/>
            <a:ext cx="106680" cy="591820"/>
          </a:xfrm>
          <a:custGeom>
            <a:avLst/>
            <a:gdLst/>
            <a:ahLst/>
            <a:cxnLst/>
            <a:rect l="l" t="t" r="r" b="b"/>
            <a:pathLst>
              <a:path w="106679" h="591819">
                <a:moveTo>
                  <a:pt x="27863" y="544512"/>
                </a:moveTo>
                <a:lnTo>
                  <a:pt x="27863" y="0"/>
                </a:lnTo>
                <a:lnTo>
                  <a:pt x="78346" y="0"/>
                </a:lnTo>
                <a:lnTo>
                  <a:pt x="78346" y="6350"/>
                </a:lnTo>
                <a:lnTo>
                  <a:pt x="40563" y="6350"/>
                </a:lnTo>
                <a:lnTo>
                  <a:pt x="34213" y="12700"/>
                </a:lnTo>
                <a:lnTo>
                  <a:pt x="40563" y="12700"/>
                </a:lnTo>
                <a:lnTo>
                  <a:pt x="40563" y="538162"/>
                </a:lnTo>
                <a:lnTo>
                  <a:pt x="34213" y="538162"/>
                </a:lnTo>
                <a:lnTo>
                  <a:pt x="27863" y="544512"/>
                </a:lnTo>
                <a:close/>
              </a:path>
              <a:path w="106679" h="591819">
                <a:moveTo>
                  <a:pt x="40563" y="12700"/>
                </a:moveTo>
                <a:lnTo>
                  <a:pt x="34213" y="12700"/>
                </a:lnTo>
                <a:lnTo>
                  <a:pt x="40563" y="6350"/>
                </a:lnTo>
                <a:lnTo>
                  <a:pt x="40563" y="12700"/>
                </a:lnTo>
                <a:close/>
              </a:path>
              <a:path w="106679" h="591819">
                <a:moveTo>
                  <a:pt x="65646" y="12700"/>
                </a:moveTo>
                <a:lnTo>
                  <a:pt x="40563" y="12700"/>
                </a:lnTo>
                <a:lnTo>
                  <a:pt x="40563" y="6350"/>
                </a:lnTo>
                <a:lnTo>
                  <a:pt x="65646" y="6350"/>
                </a:lnTo>
                <a:lnTo>
                  <a:pt x="65646" y="12700"/>
                </a:lnTo>
                <a:close/>
              </a:path>
              <a:path w="106679" h="591819">
                <a:moveTo>
                  <a:pt x="75552" y="550862"/>
                </a:moveTo>
                <a:lnTo>
                  <a:pt x="65646" y="550862"/>
                </a:lnTo>
                <a:lnTo>
                  <a:pt x="65646" y="6350"/>
                </a:lnTo>
                <a:lnTo>
                  <a:pt x="71996" y="12700"/>
                </a:lnTo>
                <a:lnTo>
                  <a:pt x="78346" y="12700"/>
                </a:lnTo>
                <a:lnTo>
                  <a:pt x="78346" y="538162"/>
                </a:lnTo>
                <a:lnTo>
                  <a:pt x="71996" y="538162"/>
                </a:lnTo>
                <a:lnTo>
                  <a:pt x="78346" y="544512"/>
                </a:lnTo>
                <a:lnTo>
                  <a:pt x="81902" y="544512"/>
                </a:lnTo>
                <a:lnTo>
                  <a:pt x="75552" y="550862"/>
                </a:lnTo>
                <a:close/>
              </a:path>
              <a:path w="106679" h="591819">
                <a:moveTo>
                  <a:pt x="78346" y="12700"/>
                </a:moveTo>
                <a:lnTo>
                  <a:pt x="71996" y="12700"/>
                </a:lnTo>
                <a:lnTo>
                  <a:pt x="65646" y="6350"/>
                </a:lnTo>
                <a:lnTo>
                  <a:pt x="78346" y="6350"/>
                </a:lnTo>
                <a:lnTo>
                  <a:pt x="78346" y="12700"/>
                </a:lnTo>
                <a:close/>
              </a:path>
              <a:path w="106679" h="591819">
                <a:moveTo>
                  <a:pt x="53111" y="591273"/>
                </a:moveTo>
                <a:lnTo>
                  <a:pt x="0" y="538162"/>
                </a:lnTo>
                <a:lnTo>
                  <a:pt x="27863" y="538162"/>
                </a:lnTo>
                <a:lnTo>
                  <a:pt x="27863" y="540016"/>
                </a:lnTo>
                <a:lnTo>
                  <a:pt x="19824" y="540016"/>
                </a:lnTo>
                <a:lnTo>
                  <a:pt x="15328" y="550862"/>
                </a:lnTo>
                <a:lnTo>
                  <a:pt x="30670" y="550862"/>
                </a:lnTo>
                <a:lnTo>
                  <a:pt x="53111" y="573303"/>
                </a:lnTo>
                <a:lnTo>
                  <a:pt x="48615" y="577799"/>
                </a:lnTo>
                <a:lnTo>
                  <a:pt x="66586" y="577799"/>
                </a:lnTo>
                <a:lnTo>
                  <a:pt x="53111" y="591273"/>
                </a:lnTo>
                <a:close/>
              </a:path>
              <a:path w="106679" h="591819">
                <a:moveTo>
                  <a:pt x="40563" y="544512"/>
                </a:moveTo>
                <a:lnTo>
                  <a:pt x="27863" y="544512"/>
                </a:lnTo>
                <a:lnTo>
                  <a:pt x="34213" y="538162"/>
                </a:lnTo>
                <a:lnTo>
                  <a:pt x="40563" y="538162"/>
                </a:lnTo>
                <a:lnTo>
                  <a:pt x="40563" y="544512"/>
                </a:lnTo>
                <a:close/>
              </a:path>
              <a:path w="106679" h="591819">
                <a:moveTo>
                  <a:pt x="78346" y="544512"/>
                </a:moveTo>
                <a:lnTo>
                  <a:pt x="71996" y="538162"/>
                </a:lnTo>
                <a:lnTo>
                  <a:pt x="78346" y="538162"/>
                </a:lnTo>
                <a:lnTo>
                  <a:pt x="78346" y="544512"/>
                </a:lnTo>
                <a:close/>
              </a:path>
              <a:path w="106679" h="591819">
                <a:moveTo>
                  <a:pt x="81902" y="544512"/>
                </a:moveTo>
                <a:lnTo>
                  <a:pt x="78346" y="544512"/>
                </a:lnTo>
                <a:lnTo>
                  <a:pt x="78346" y="538162"/>
                </a:lnTo>
                <a:lnTo>
                  <a:pt x="106222" y="538162"/>
                </a:lnTo>
                <a:lnTo>
                  <a:pt x="104368" y="540016"/>
                </a:lnTo>
                <a:lnTo>
                  <a:pt x="86398" y="540016"/>
                </a:lnTo>
                <a:lnTo>
                  <a:pt x="81902" y="544512"/>
                </a:lnTo>
                <a:close/>
              </a:path>
              <a:path w="106679" h="591819">
                <a:moveTo>
                  <a:pt x="30670" y="550862"/>
                </a:moveTo>
                <a:lnTo>
                  <a:pt x="15328" y="550862"/>
                </a:lnTo>
                <a:lnTo>
                  <a:pt x="19824" y="540016"/>
                </a:lnTo>
                <a:lnTo>
                  <a:pt x="30670" y="550862"/>
                </a:lnTo>
                <a:close/>
              </a:path>
              <a:path w="106679" h="591819">
                <a:moveTo>
                  <a:pt x="40563" y="550862"/>
                </a:moveTo>
                <a:lnTo>
                  <a:pt x="30670" y="550862"/>
                </a:lnTo>
                <a:lnTo>
                  <a:pt x="19824" y="540016"/>
                </a:lnTo>
                <a:lnTo>
                  <a:pt x="27863" y="540016"/>
                </a:lnTo>
                <a:lnTo>
                  <a:pt x="27863" y="544512"/>
                </a:lnTo>
                <a:lnTo>
                  <a:pt x="40563" y="544512"/>
                </a:lnTo>
                <a:lnTo>
                  <a:pt x="40563" y="550862"/>
                </a:lnTo>
                <a:close/>
              </a:path>
              <a:path w="106679" h="591819">
                <a:moveTo>
                  <a:pt x="66586" y="577799"/>
                </a:moveTo>
                <a:lnTo>
                  <a:pt x="57607" y="577799"/>
                </a:lnTo>
                <a:lnTo>
                  <a:pt x="53111" y="573303"/>
                </a:lnTo>
                <a:lnTo>
                  <a:pt x="86398" y="540016"/>
                </a:lnTo>
                <a:lnTo>
                  <a:pt x="90893" y="550862"/>
                </a:lnTo>
                <a:lnTo>
                  <a:pt x="93522" y="550862"/>
                </a:lnTo>
                <a:lnTo>
                  <a:pt x="66586" y="577799"/>
                </a:lnTo>
                <a:close/>
              </a:path>
              <a:path w="106679" h="591819">
                <a:moveTo>
                  <a:pt x="93522" y="550862"/>
                </a:moveTo>
                <a:lnTo>
                  <a:pt x="90893" y="550862"/>
                </a:lnTo>
                <a:lnTo>
                  <a:pt x="86398" y="540016"/>
                </a:lnTo>
                <a:lnTo>
                  <a:pt x="104368" y="540016"/>
                </a:lnTo>
                <a:lnTo>
                  <a:pt x="93522" y="550862"/>
                </a:lnTo>
                <a:close/>
              </a:path>
              <a:path w="106679" h="591819">
                <a:moveTo>
                  <a:pt x="57607" y="577799"/>
                </a:moveTo>
                <a:lnTo>
                  <a:pt x="48615" y="577799"/>
                </a:lnTo>
                <a:lnTo>
                  <a:pt x="53111" y="573303"/>
                </a:lnTo>
                <a:lnTo>
                  <a:pt x="57607" y="577799"/>
                </a:lnTo>
                <a:close/>
              </a:path>
            </a:pathLst>
          </a:custGeom>
          <a:solidFill>
            <a:srgbClr val="0051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4389" y="1217294"/>
            <a:ext cx="7712709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472179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Georgia"/>
                <a:cs typeface="Georgia"/>
              </a:rPr>
              <a:t>ReturnNoParam return </a:t>
            </a:r>
            <a:r>
              <a:rPr dirty="0" sz="2000">
                <a:latin typeface="Georgia"/>
                <a:cs typeface="Georgia"/>
              </a:rPr>
              <a:t>= </a:t>
            </a:r>
            <a:r>
              <a:rPr dirty="0" sz="2000" spc="-5">
                <a:latin typeface="Georgia"/>
                <a:cs typeface="Georgia"/>
              </a:rPr>
              <a:t>() </a:t>
            </a:r>
            <a:r>
              <a:rPr dirty="0" sz="2000">
                <a:latin typeface="Georgia"/>
                <a:cs typeface="Georgia"/>
              </a:rPr>
              <a:t>-&gt;  </a:t>
            </a:r>
            <a:r>
              <a:rPr dirty="0" sz="2000" spc="-5">
                <a:latin typeface="Georgia"/>
                <a:cs typeface="Georgia"/>
              </a:rPr>
              <a:t>System.out.print("ReturnNoParam");</a:t>
            </a:r>
            <a:endParaRPr sz="2000">
              <a:latin typeface="Georgia"/>
              <a:cs typeface="Georgia"/>
            </a:endParaRPr>
          </a:p>
          <a:p>
            <a:pPr marL="743585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return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1;</a:t>
            </a:r>
            <a:endParaRPr sz="2000">
              <a:latin typeface="Georgia"/>
              <a:cs typeface="Georgia"/>
            </a:endParaRPr>
          </a:p>
          <a:p>
            <a:pPr marL="499745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};</a:t>
            </a:r>
            <a:endParaRPr sz="2000">
              <a:latin typeface="Georgia"/>
              <a:cs typeface="Georgia"/>
            </a:endParaRPr>
          </a:p>
          <a:p>
            <a:pPr algn="ctr" marL="1202690">
              <a:lnSpc>
                <a:spcPct val="100000"/>
              </a:lnSpc>
              <a:spcBef>
                <a:spcPts val="1225"/>
              </a:spcBef>
            </a:pPr>
            <a:r>
              <a:rPr dirty="0" sz="1800">
                <a:latin typeface="微软雅黑"/>
                <a:cs typeface="微软雅黑"/>
              </a:rPr>
              <a:t>等价于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微软雅黑"/>
              <a:cs typeface="微软雅黑"/>
            </a:endParaRPr>
          </a:p>
          <a:p>
            <a:pPr marL="993140" marR="2523490" indent="-17780">
              <a:lnSpc>
                <a:spcPct val="100000"/>
              </a:lnSpc>
              <a:tabLst>
                <a:tab pos="3346450" algn="l"/>
              </a:tabLst>
            </a:pPr>
            <a:r>
              <a:rPr dirty="0" sz="2400" spc="-5">
                <a:latin typeface="Arial"/>
                <a:cs typeface="Arial"/>
              </a:rPr>
              <a:t>ReturnNoParam	</a:t>
            </a:r>
            <a:r>
              <a:rPr dirty="0" sz="2400" spc="-5">
                <a:latin typeface="Georgia"/>
                <a:cs typeface="Georgia"/>
              </a:rPr>
              <a:t>return</a:t>
            </a:r>
            <a:r>
              <a:rPr dirty="0" sz="2400" spc="-5">
                <a:latin typeface="宋体"/>
                <a:cs typeface="宋体"/>
              </a:rPr>
              <a:t>；  </a:t>
            </a:r>
            <a:r>
              <a:rPr dirty="0" sz="2400" spc="-5">
                <a:latin typeface="Georgia"/>
                <a:cs typeface="Georgia"/>
              </a:rPr>
              <a:t>return</a:t>
            </a:r>
            <a:r>
              <a:rPr dirty="0" sz="2400" spc="-5">
                <a:latin typeface="Arial"/>
                <a:cs typeface="Arial"/>
              </a:rPr>
              <a:t>=new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ReturnNoParam(){</a:t>
            </a:r>
            <a:endParaRPr sz="2400">
              <a:latin typeface="Arial"/>
              <a:cs typeface="Arial"/>
            </a:endParaRPr>
          </a:p>
          <a:p>
            <a:pPr marL="2164080" marR="5080" indent="-513080">
              <a:lnSpc>
                <a:spcPts val="2880"/>
              </a:lnSpc>
              <a:spcBef>
                <a:spcPts val="90"/>
              </a:spcBef>
            </a:pPr>
            <a:r>
              <a:rPr dirty="0" sz="2400">
                <a:latin typeface="Arial"/>
                <a:cs typeface="Arial"/>
              </a:rPr>
              <a:t>public void </a:t>
            </a:r>
            <a:r>
              <a:rPr dirty="0" sz="2400" spc="-5">
                <a:latin typeface="Arial"/>
                <a:cs typeface="Arial"/>
              </a:rPr>
              <a:t>method(){  System.out.println("NoReturnNoParam");  return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1;</a:t>
            </a:r>
            <a:endParaRPr sz="2400">
              <a:latin typeface="Arial"/>
              <a:cs typeface="Arial"/>
            </a:endParaRPr>
          </a:p>
          <a:p>
            <a:pPr marL="1734820">
              <a:lnSpc>
                <a:spcPts val="2785"/>
              </a:lnSpc>
            </a:pPr>
            <a:r>
              <a:rPr dirty="0" sz="2400" spc="-5">
                <a:latin typeface="Arial"/>
                <a:cs typeface="Arial"/>
              </a:rPr>
              <a:t>};</a:t>
            </a:r>
            <a:endParaRPr sz="2400">
              <a:latin typeface="Arial"/>
              <a:cs typeface="Arial"/>
            </a:endParaRPr>
          </a:p>
          <a:p>
            <a:pPr marL="2580005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};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634" y="1584325"/>
            <a:ext cx="6555105" cy="339344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55575" marR="280924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latin typeface="Arial"/>
                <a:cs typeface="Arial"/>
              </a:rPr>
              <a:t>@FunctionalInterface//</a:t>
            </a:r>
            <a:r>
              <a:rPr dirty="0" sz="1800">
                <a:latin typeface="微软雅黑"/>
                <a:cs typeface="微软雅黑"/>
              </a:rPr>
              <a:t>函数式接口 </a:t>
            </a:r>
            <a:r>
              <a:rPr dirty="0" sz="1800" spc="-5">
                <a:latin typeface="Arial"/>
                <a:cs typeface="Arial"/>
              </a:rPr>
              <a:t>public interface ReturnMultiParam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070610">
              <a:lnSpc>
                <a:spcPts val="2100"/>
              </a:lnSpc>
            </a:pPr>
            <a:r>
              <a:rPr dirty="0" sz="1800" spc="-5">
                <a:latin typeface="Arial"/>
                <a:cs typeface="Arial"/>
              </a:rPr>
              <a:t>int method(int a, int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b);</a:t>
            </a:r>
            <a:endParaRPr sz="180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Arial"/>
              <a:cs typeface="Arial"/>
            </a:endParaRPr>
          </a:p>
          <a:p>
            <a:pPr marL="12700">
              <a:lnSpc>
                <a:spcPts val="2135"/>
              </a:lnSpc>
              <a:spcBef>
                <a:spcPts val="5"/>
              </a:spcBef>
            </a:pPr>
            <a:r>
              <a:rPr dirty="0" sz="1800" spc="-5">
                <a:latin typeface="Arial"/>
                <a:cs typeface="Arial"/>
              </a:rPr>
              <a:t>//</a:t>
            </a:r>
            <a:r>
              <a:rPr dirty="0" sz="1800">
                <a:latin typeface="微软雅黑"/>
                <a:cs typeface="微软雅黑"/>
              </a:rPr>
              <a:t>多个参数有返回值的</a:t>
            </a:r>
            <a:r>
              <a:rPr dirty="0" sz="1800" spc="-5">
                <a:latin typeface="Arial"/>
                <a:cs typeface="Arial"/>
              </a:rPr>
              <a:t>Lamda</a:t>
            </a:r>
            <a:r>
              <a:rPr dirty="0" sz="1800">
                <a:latin typeface="微软雅黑"/>
                <a:cs typeface="微软雅黑"/>
              </a:rPr>
              <a:t>表达式</a:t>
            </a:r>
            <a:endParaRPr sz="1800">
              <a:latin typeface="微软雅黑"/>
              <a:cs typeface="微软雅黑"/>
            </a:endParaRPr>
          </a:p>
          <a:p>
            <a:pPr marL="774700" marR="5080" indent="-254000">
              <a:lnSpc>
                <a:spcPts val="2160"/>
              </a:lnSpc>
              <a:spcBef>
                <a:spcPts val="45"/>
              </a:spcBef>
            </a:pPr>
            <a:r>
              <a:rPr dirty="0" sz="1800" spc="-5">
                <a:latin typeface="Arial"/>
                <a:cs typeface="Arial"/>
              </a:rPr>
              <a:t>ReturnMultiParam returnMultiParam </a:t>
            </a:r>
            <a:r>
              <a:rPr dirty="0" sz="1800">
                <a:latin typeface="Arial"/>
                <a:cs typeface="Arial"/>
              </a:rPr>
              <a:t>= </a:t>
            </a:r>
            <a:r>
              <a:rPr dirty="0" sz="1800" spc="-5">
                <a:latin typeface="Arial"/>
                <a:cs typeface="Arial"/>
              </a:rPr>
              <a:t>(int a, int b) </a:t>
            </a:r>
            <a:r>
              <a:rPr dirty="0" sz="1800">
                <a:latin typeface="Arial"/>
                <a:cs typeface="Arial"/>
              </a:rPr>
              <a:t>-&gt; {  </a:t>
            </a:r>
            <a:r>
              <a:rPr dirty="0" sz="1800" spc="-5">
                <a:latin typeface="Arial"/>
                <a:cs typeface="Arial"/>
              </a:rPr>
              <a:t>System.out.println("ReturnMultiParam param:" </a:t>
            </a:r>
            <a:r>
              <a:rPr dirty="0" sz="1800">
                <a:latin typeface="Arial"/>
                <a:cs typeface="Arial"/>
              </a:rPr>
              <a:t>+ </a:t>
            </a:r>
            <a:r>
              <a:rPr dirty="0" sz="1800" spc="-5">
                <a:latin typeface="Arial"/>
                <a:cs typeface="Arial"/>
              </a:rPr>
              <a:t>"{" </a:t>
            </a:r>
            <a:r>
              <a:rPr dirty="0" sz="1800">
                <a:latin typeface="Arial"/>
                <a:cs typeface="Arial"/>
              </a:rPr>
              <a:t>+ a +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90"/>
              </a:lnSpc>
            </a:pPr>
            <a:r>
              <a:rPr dirty="0" sz="1800" spc="-5">
                <a:latin typeface="Arial"/>
                <a:cs typeface="Arial"/>
              </a:rPr>
              <a:t>"," </a:t>
            </a:r>
            <a:r>
              <a:rPr dirty="0" sz="1800">
                <a:latin typeface="Arial"/>
                <a:cs typeface="Arial"/>
              </a:rPr>
              <a:t>+ b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+"}");</a:t>
            </a:r>
            <a:endParaRPr sz="1800">
              <a:latin typeface="Arial"/>
              <a:cs typeface="Arial"/>
            </a:endParaRPr>
          </a:p>
          <a:p>
            <a:pPr marL="77470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return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1;</a:t>
            </a:r>
            <a:endParaRPr sz="1800">
              <a:latin typeface="Arial"/>
              <a:cs typeface="Arial"/>
            </a:endParaRPr>
          </a:p>
          <a:p>
            <a:pPr marL="52070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680" y="1027430"/>
            <a:ext cx="3291840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5" b="1">
                <a:latin typeface="Georgia"/>
                <a:cs typeface="Georgia"/>
              </a:rPr>
              <a:t>lambda</a:t>
            </a:r>
            <a:r>
              <a:rPr dirty="0" sz="2600" b="1">
                <a:latin typeface="宋体"/>
                <a:cs typeface="宋体"/>
              </a:rPr>
              <a:t>表达式的简</a:t>
            </a:r>
            <a:r>
              <a:rPr dirty="0" sz="2600" spc="-10" b="1">
                <a:latin typeface="宋体"/>
                <a:cs typeface="宋体"/>
              </a:rPr>
              <a:t>化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83652" y="380225"/>
            <a:ext cx="18573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2680" y="1478914"/>
            <a:ext cx="6955790" cy="421830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4150" marR="287655" indent="-171450">
              <a:lnSpc>
                <a:spcPts val="2790"/>
              </a:lnSpc>
              <a:spcBef>
                <a:spcPts val="470"/>
              </a:spcBef>
              <a:buFont typeface="Arial"/>
              <a:buChar char="•"/>
              <a:tabLst>
                <a:tab pos="351790" algn="l"/>
              </a:tabLst>
            </a:pPr>
            <a:r>
              <a:rPr dirty="0"/>
              <a:t>	</a:t>
            </a:r>
            <a:r>
              <a:rPr dirty="0" sz="2600" b="1">
                <a:latin typeface="宋体"/>
                <a:cs typeface="宋体"/>
              </a:rPr>
              <a:t>不需要声明参数类型，编译器可以统一识</a:t>
            </a:r>
            <a:r>
              <a:rPr dirty="0" sz="2600" spc="-5" b="1">
                <a:latin typeface="宋体"/>
                <a:cs typeface="宋体"/>
              </a:rPr>
              <a:t>别 </a:t>
            </a:r>
            <a:r>
              <a:rPr dirty="0" sz="2600" b="1">
                <a:latin typeface="宋体"/>
                <a:cs typeface="宋体"/>
              </a:rPr>
              <a:t>参数</a:t>
            </a:r>
            <a:r>
              <a:rPr dirty="0" sz="2600" spc="-10" b="1">
                <a:latin typeface="宋体"/>
                <a:cs typeface="宋体"/>
              </a:rPr>
              <a:t>值</a:t>
            </a:r>
            <a:endParaRPr sz="2600">
              <a:latin typeface="宋体"/>
              <a:cs typeface="宋体"/>
            </a:endParaRPr>
          </a:p>
          <a:p>
            <a:pPr algn="just" marL="184150" indent="-17145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600" b="1">
                <a:latin typeface="宋体"/>
                <a:cs typeface="宋体"/>
              </a:rPr>
              <a:t>一个参数无需定义圆括</a:t>
            </a:r>
            <a:r>
              <a:rPr dirty="0" sz="2600" spc="-10" b="1">
                <a:latin typeface="宋体"/>
                <a:cs typeface="宋体"/>
              </a:rPr>
              <a:t>号</a:t>
            </a:r>
            <a:endParaRPr sz="2600">
              <a:latin typeface="宋体"/>
              <a:cs typeface="宋体"/>
            </a:endParaRPr>
          </a:p>
          <a:p>
            <a:pPr algn="just" marL="184150" marR="123189" indent="-171450">
              <a:lnSpc>
                <a:spcPts val="2800"/>
              </a:lnSpc>
              <a:spcBef>
                <a:spcPts val="7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600" b="1">
                <a:latin typeface="宋体"/>
                <a:cs typeface="宋体"/>
              </a:rPr>
              <a:t>如果方法体只包含了一条语句，就不需要使</a:t>
            </a:r>
            <a:r>
              <a:rPr dirty="0" sz="2600" spc="-10" b="1">
                <a:latin typeface="宋体"/>
                <a:cs typeface="宋体"/>
              </a:rPr>
              <a:t>用 </a:t>
            </a:r>
            <a:r>
              <a:rPr dirty="0" sz="2600" b="1">
                <a:latin typeface="宋体"/>
                <a:cs typeface="宋体"/>
              </a:rPr>
              <a:t>大括</a:t>
            </a:r>
            <a:r>
              <a:rPr dirty="0" sz="2600" spc="-10" b="1">
                <a:latin typeface="宋体"/>
                <a:cs typeface="宋体"/>
              </a:rPr>
              <a:t>号</a:t>
            </a:r>
            <a:endParaRPr sz="2600">
              <a:latin typeface="宋体"/>
              <a:cs typeface="宋体"/>
            </a:endParaRPr>
          </a:p>
          <a:p>
            <a:pPr algn="just" marL="184150" marR="5080" indent="-171450">
              <a:lnSpc>
                <a:spcPct val="89600"/>
              </a:lnSpc>
              <a:spcBef>
                <a:spcPts val="74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600" b="1">
                <a:latin typeface="宋体"/>
                <a:cs typeface="宋体"/>
              </a:rPr>
              <a:t>如果方法体只包含了一条语句且为</a:t>
            </a:r>
            <a:r>
              <a:rPr dirty="0" sz="2600" spc="-5" b="1">
                <a:latin typeface="Georgia"/>
                <a:cs typeface="Georgia"/>
              </a:rPr>
              <a:t>return</a:t>
            </a:r>
            <a:r>
              <a:rPr dirty="0" sz="2600" b="1">
                <a:latin typeface="宋体"/>
                <a:cs typeface="宋体"/>
              </a:rPr>
              <a:t>语</a:t>
            </a:r>
            <a:r>
              <a:rPr dirty="0" sz="2600" spc="-10" b="1">
                <a:latin typeface="宋体"/>
                <a:cs typeface="宋体"/>
              </a:rPr>
              <a:t>句 </a:t>
            </a:r>
            <a:r>
              <a:rPr dirty="0" sz="2600" b="1">
                <a:latin typeface="宋体"/>
                <a:cs typeface="宋体"/>
              </a:rPr>
              <a:t>除了不需要使用大括号还可以省略</a:t>
            </a:r>
            <a:r>
              <a:rPr dirty="0" sz="2600" spc="-5" b="1">
                <a:latin typeface="Georgia"/>
                <a:cs typeface="Georgia"/>
              </a:rPr>
              <a:t>return</a:t>
            </a:r>
            <a:r>
              <a:rPr dirty="0" sz="2600" b="1">
                <a:latin typeface="宋体"/>
                <a:cs typeface="宋体"/>
              </a:rPr>
              <a:t>关</a:t>
            </a:r>
            <a:r>
              <a:rPr dirty="0" sz="2600" spc="-10" b="1">
                <a:latin typeface="宋体"/>
                <a:cs typeface="宋体"/>
              </a:rPr>
              <a:t>键 </a:t>
            </a:r>
            <a:r>
              <a:rPr dirty="0" sz="2600" b="1">
                <a:latin typeface="宋体"/>
                <a:cs typeface="宋体"/>
              </a:rPr>
              <a:t>字</a:t>
            </a:r>
            <a:r>
              <a:rPr dirty="0" sz="2600" spc="-10" b="1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00">
              <a:latin typeface="宋体"/>
              <a:cs typeface="宋体"/>
            </a:endParaRPr>
          </a:p>
          <a:p>
            <a:pPr algn="ctr" marR="551815">
              <a:lnSpc>
                <a:spcPct val="100000"/>
              </a:lnSpc>
            </a:pPr>
            <a:r>
              <a:rPr dirty="0" sz="2800" spc="-5">
                <a:latin typeface="Georgia"/>
                <a:cs typeface="Georgia"/>
              </a:rPr>
              <a:t>LambdaExampleSimple.java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24851" y="0"/>
            <a:ext cx="0" cy="1043940"/>
          </a:xfrm>
          <a:custGeom>
            <a:avLst/>
            <a:gdLst/>
            <a:ahLst/>
            <a:cxnLst/>
            <a:rect l="l" t="t" r="r" b="b"/>
            <a:pathLst>
              <a:path w="0" h="1043940">
                <a:moveTo>
                  <a:pt x="0" y="0"/>
                </a:moveTo>
                <a:lnTo>
                  <a:pt x="0" y="104393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23544" y="976757"/>
            <a:ext cx="8364855" cy="140652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2000" spc="-5" b="1">
                <a:latin typeface="Georgia"/>
                <a:cs typeface="Georgia"/>
              </a:rPr>
              <a:t>lambda</a:t>
            </a:r>
            <a:r>
              <a:rPr dirty="0" sz="2000" b="1">
                <a:latin typeface="宋体"/>
                <a:cs typeface="宋体"/>
              </a:rPr>
              <a:t>表达式中的方法引用和构造器引</a:t>
            </a:r>
            <a:r>
              <a:rPr dirty="0" sz="2000" spc="-5" b="1">
                <a:latin typeface="宋体"/>
                <a:cs typeface="宋体"/>
              </a:rPr>
              <a:t>用</a:t>
            </a:r>
            <a:endParaRPr sz="2000">
              <a:latin typeface="宋体"/>
              <a:cs typeface="宋体"/>
            </a:endParaRPr>
          </a:p>
          <a:p>
            <a:pPr marL="184150" indent="-171450">
              <a:lnSpc>
                <a:spcPts val="228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000" b="1">
                <a:latin typeface="宋体"/>
                <a:cs typeface="宋体"/>
              </a:rPr>
              <a:t>只有当方法体只有一条代码时才可以使用，其本质是表达式的进一步简</a:t>
            </a:r>
            <a:r>
              <a:rPr dirty="0" sz="2000" spc="-5" b="1">
                <a:latin typeface="宋体"/>
                <a:cs typeface="宋体"/>
              </a:rPr>
              <a:t>化</a:t>
            </a:r>
            <a:endParaRPr sz="2000">
              <a:latin typeface="宋体"/>
              <a:cs typeface="宋体"/>
            </a:endParaRPr>
          </a:p>
          <a:p>
            <a:pPr marL="184150">
              <a:lnSpc>
                <a:spcPts val="2280"/>
              </a:lnSpc>
            </a:pPr>
            <a:r>
              <a:rPr dirty="0" sz="2000" b="1">
                <a:latin typeface="宋体"/>
                <a:cs typeface="宋体"/>
              </a:rPr>
              <a:t>，省略形参列表和箭</a:t>
            </a:r>
            <a:r>
              <a:rPr dirty="0" sz="2000" spc="-5" b="1">
                <a:latin typeface="宋体"/>
                <a:cs typeface="宋体"/>
              </a:rPr>
              <a:t>头</a:t>
            </a:r>
            <a:endParaRPr sz="2000">
              <a:latin typeface="宋体"/>
              <a:cs typeface="宋体"/>
            </a:endParaRPr>
          </a:p>
          <a:p>
            <a:pPr marL="44450">
              <a:lnSpc>
                <a:spcPct val="100000"/>
              </a:lnSpc>
              <a:spcBef>
                <a:spcPts val="525"/>
              </a:spcBef>
            </a:pP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2000" spc="-5">
                <a:latin typeface="Georgia"/>
                <a:cs typeface="Georgia"/>
              </a:rPr>
              <a:t>1</a:t>
            </a:r>
            <a:r>
              <a:rPr dirty="0" sz="2000" spc="-5">
                <a:latin typeface="宋体"/>
                <a:cs typeface="宋体"/>
              </a:rPr>
              <a:t>）</a:t>
            </a:r>
            <a:r>
              <a:rPr dirty="0" sz="2000">
                <a:latin typeface="宋体"/>
                <a:cs typeface="宋体"/>
              </a:rPr>
              <a:t>引用类方</a:t>
            </a:r>
            <a:r>
              <a:rPr dirty="0" sz="2000" spc="5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6074409" y="2421889"/>
            <a:ext cx="231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某个类：：某个方</a:t>
            </a:r>
            <a:r>
              <a:rPr dirty="0" sz="2000" spc="5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544" y="2357881"/>
            <a:ext cx="6159500" cy="3351529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610"/>
              </a:spcBef>
            </a:pPr>
            <a:r>
              <a:rPr dirty="0" sz="2000">
                <a:latin typeface="宋体"/>
                <a:cs typeface="宋体"/>
              </a:rPr>
              <a:t>（参数列表）</a:t>
            </a:r>
            <a:r>
              <a:rPr dirty="0" sz="2000">
                <a:latin typeface="Georgia"/>
                <a:cs typeface="Georgia"/>
              </a:rPr>
              <a:t>-&gt;</a:t>
            </a:r>
            <a:r>
              <a:rPr dirty="0" sz="2000">
                <a:latin typeface="宋体"/>
                <a:cs typeface="宋体"/>
              </a:rPr>
              <a:t>某个类</a:t>
            </a:r>
            <a:r>
              <a:rPr dirty="0" sz="2000" spc="-5">
                <a:latin typeface="Georgia"/>
                <a:cs typeface="Georgia"/>
              </a:rPr>
              <a:t>.</a:t>
            </a:r>
            <a:r>
              <a:rPr dirty="0" sz="2000">
                <a:latin typeface="宋体"/>
                <a:cs typeface="宋体"/>
              </a:rPr>
              <a:t>某个方法（参数列表）；</a:t>
            </a:r>
            <a:endParaRPr sz="2000">
              <a:latin typeface="宋体"/>
              <a:cs typeface="宋体"/>
            </a:endParaRPr>
          </a:p>
          <a:p>
            <a:pPr marL="73025">
              <a:lnSpc>
                <a:spcPct val="100000"/>
              </a:lnSpc>
              <a:spcBef>
                <a:spcPts val="509"/>
              </a:spcBef>
            </a:pPr>
            <a:r>
              <a:rPr dirty="0" sz="2000" spc="-5">
                <a:latin typeface="宋体"/>
                <a:cs typeface="宋体"/>
              </a:rPr>
              <a:t>（</a:t>
            </a:r>
            <a:r>
              <a:rPr dirty="0" sz="2000" spc="-5">
                <a:latin typeface="Georgia"/>
                <a:cs typeface="Georgia"/>
              </a:rPr>
              <a:t>2</a:t>
            </a:r>
            <a:r>
              <a:rPr dirty="0" sz="2000" spc="-5">
                <a:latin typeface="宋体"/>
                <a:cs typeface="宋体"/>
              </a:rPr>
              <a:t>）</a:t>
            </a:r>
            <a:r>
              <a:rPr dirty="0" sz="2000">
                <a:latin typeface="宋体"/>
                <a:cs typeface="宋体"/>
              </a:rPr>
              <a:t>引用实例的方</a:t>
            </a:r>
            <a:r>
              <a:rPr dirty="0" sz="2000" spc="5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134620" marR="5080" indent="-121920">
              <a:lnSpc>
                <a:spcPct val="121200"/>
              </a:lnSpc>
            </a:pPr>
            <a:r>
              <a:rPr dirty="0" sz="2000">
                <a:latin typeface="宋体"/>
                <a:cs typeface="宋体"/>
              </a:rPr>
              <a:t>（参数</a:t>
            </a:r>
            <a:r>
              <a:rPr dirty="0" sz="2000" spc="-5">
                <a:latin typeface="Georgia"/>
                <a:cs typeface="Georgia"/>
              </a:rPr>
              <a:t>1</a:t>
            </a:r>
            <a:r>
              <a:rPr dirty="0" sz="2000">
                <a:latin typeface="宋体"/>
                <a:cs typeface="宋体"/>
              </a:rPr>
              <a:t>，其他参数）</a:t>
            </a:r>
            <a:r>
              <a:rPr dirty="0" sz="2000">
                <a:latin typeface="Georgia"/>
                <a:cs typeface="Georgia"/>
              </a:rPr>
              <a:t>-</a:t>
            </a:r>
            <a:r>
              <a:rPr dirty="0" sz="2000" spc="-5">
                <a:latin typeface="Georgia"/>
                <a:cs typeface="Georgia"/>
              </a:rPr>
              <a:t>&gt;</a:t>
            </a:r>
            <a:r>
              <a:rPr dirty="0" sz="2000">
                <a:latin typeface="宋体"/>
                <a:cs typeface="宋体"/>
              </a:rPr>
              <a:t>参数</a:t>
            </a:r>
            <a:r>
              <a:rPr dirty="0" sz="2000" spc="-5">
                <a:latin typeface="Georgia"/>
                <a:cs typeface="Georgia"/>
              </a:rPr>
              <a:t>1.</a:t>
            </a:r>
            <a:r>
              <a:rPr dirty="0" sz="2000">
                <a:latin typeface="宋体"/>
                <a:cs typeface="宋体"/>
              </a:rPr>
              <a:t>某个方法（其他参数）</a:t>
            </a:r>
            <a:r>
              <a:rPr dirty="0" sz="2000">
                <a:latin typeface="宋体"/>
                <a:cs typeface="宋体"/>
              </a:rPr>
              <a:t>； 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参数</a:t>
            </a:r>
            <a:r>
              <a:rPr dirty="0" sz="2000" spc="-5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类型：：某个方</a:t>
            </a:r>
            <a:r>
              <a:rPr dirty="0" sz="2000" spc="5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134620">
              <a:lnSpc>
                <a:spcPct val="100000"/>
              </a:lnSpc>
              <a:spcBef>
                <a:spcPts val="509"/>
              </a:spcBef>
            </a:pPr>
            <a:r>
              <a:rPr dirty="0" sz="2000" spc="-5">
                <a:latin typeface="宋体"/>
                <a:cs typeface="宋体"/>
              </a:rPr>
              <a:t>（</a:t>
            </a:r>
            <a:r>
              <a:rPr dirty="0" sz="2000" spc="-5">
                <a:latin typeface="Georgia"/>
                <a:cs typeface="Georgia"/>
              </a:rPr>
              <a:t>3</a:t>
            </a:r>
            <a:r>
              <a:rPr dirty="0" sz="2000" spc="-5">
                <a:latin typeface="宋体"/>
                <a:cs typeface="宋体"/>
              </a:rPr>
              <a:t>）</a:t>
            </a:r>
            <a:r>
              <a:rPr dirty="0" sz="2000">
                <a:latin typeface="宋体"/>
                <a:cs typeface="宋体"/>
              </a:rPr>
              <a:t>引用特定对象的方</a:t>
            </a:r>
            <a:r>
              <a:rPr dirty="0" sz="2000" spc="5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255904" marR="355600" indent="-121920">
              <a:lnSpc>
                <a:spcPts val="2910"/>
              </a:lnSpc>
              <a:spcBef>
                <a:spcPts val="180"/>
              </a:spcBef>
            </a:pPr>
            <a:r>
              <a:rPr dirty="0" sz="2000">
                <a:latin typeface="宋体"/>
                <a:cs typeface="宋体"/>
              </a:rPr>
              <a:t>（参数列表）</a:t>
            </a:r>
            <a:r>
              <a:rPr dirty="0" sz="2000">
                <a:latin typeface="Georgia"/>
                <a:cs typeface="Georgia"/>
              </a:rPr>
              <a:t>-</a:t>
            </a:r>
            <a:r>
              <a:rPr dirty="0" sz="2000" spc="-5">
                <a:latin typeface="Georgia"/>
                <a:cs typeface="Georgia"/>
              </a:rPr>
              <a:t>&gt;</a:t>
            </a:r>
            <a:r>
              <a:rPr dirty="0" sz="2000">
                <a:latin typeface="宋体"/>
                <a:cs typeface="宋体"/>
              </a:rPr>
              <a:t>某个对象</a:t>
            </a:r>
            <a:r>
              <a:rPr dirty="0" sz="2000" spc="-5">
                <a:latin typeface="Georgia"/>
                <a:cs typeface="Georgia"/>
              </a:rPr>
              <a:t>.</a:t>
            </a:r>
            <a:r>
              <a:rPr dirty="0" sz="2000">
                <a:latin typeface="宋体"/>
                <a:cs typeface="宋体"/>
              </a:rPr>
              <a:t>某个方法（参数列表）</a:t>
            </a:r>
            <a:r>
              <a:rPr dirty="0" sz="2000">
                <a:latin typeface="宋体"/>
                <a:cs typeface="宋体"/>
              </a:rPr>
              <a:t>； 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某个对象：：某个方</a:t>
            </a:r>
            <a:r>
              <a:rPr dirty="0" sz="2000" spc="5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317500" marR="4217035" indent="-304800">
              <a:lnSpc>
                <a:spcPts val="2910"/>
              </a:lnSpc>
            </a:pPr>
            <a:r>
              <a:rPr dirty="0" sz="2000">
                <a:latin typeface="宋体"/>
                <a:cs typeface="宋体"/>
              </a:rPr>
              <a:t>（</a:t>
            </a:r>
            <a:r>
              <a:rPr dirty="0" sz="2000" spc="-5">
                <a:latin typeface="Georgia"/>
                <a:cs typeface="Georgia"/>
              </a:rPr>
              <a:t>4</a:t>
            </a:r>
            <a:r>
              <a:rPr dirty="0" sz="2000">
                <a:latin typeface="宋体"/>
                <a:cs typeface="宋体"/>
              </a:rPr>
              <a:t>）构造器引</a:t>
            </a:r>
            <a:r>
              <a:rPr dirty="0" sz="2000">
                <a:latin typeface="宋体"/>
                <a:cs typeface="宋体"/>
              </a:rPr>
              <a:t>用 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类名</a:t>
            </a:r>
            <a:r>
              <a:rPr dirty="0" sz="2000" spc="-5">
                <a:solidFill>
                  <a:srgbClr val="FF0000"/>
                </a:solidFill>
                <a:latin typeface="宋体"/>
                <a:cs typeface="宋体"/>
              </a:rPr>
              <a:t>：：</a:t>
            </a:r>
            <a:r>
              <a:rPr dirty="0" sz="2000" spc="-5">
                <a:solidFill>
                  <a:srgbClr val="FF0000"/>
                </a:solidFill>
                <a:latin typeface="Georgia"/>
                <a:cs typeface="Georgia"/>
              </a:rPr>
              <a:t>new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544" y="5748020"/>
            <a:ext cx="55473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23845" algn="l"/>
              </a:tabLst>
            </a:pPr>
            <a:r>
              <a:rPr dirty="0" sz="2000" spc="-5">
                <a:latin typeface="Georgia"/>
                <a:cs typeface="Georgia"/>
              </a:rPr>
              <a:t>LambdaReference.java	LambdaReference2.java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8573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4851" y="0"/>
            <a:ext cx="0" cy="1043940"/>
          </a:xfrm>
          <a:custGeom>
            <a:avLst/>
            <a:gdLst/>
            <a:ahLst/>
            <a:cxnLst/>
            <a:rect l="l" t="t" r="r" b="b"/>
            <a:pathLst>
              <a:path w="0" h="1043940">
                <a:moveTo>
                  <a:pt x="0" y="0"/>
                </a:moveTo>
                <a:lnTo>
                  <a:pt x="0" y="104393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3544" y="1031875"/>
            <a:ext cx="3114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Georgia"/>
                <a:cs typeface="Georgia"/>
              </a:rPr>
              <a:t>j</a:t>
            </a:r>
            <a:r>
              <a:rPr dirty="0" sz="2400" b="1">
                <a:latin typeface="Georgia"/>
                <a:cs typeface="Georgia"/>
              </a:rPr>
              <a:t>a</a:t>
            </a:r>
            <a:r>
              <a:rPr dirty="0" sz="2400" spc="-5" b="1">
                <a:latin typeface="Georgia"/>
                <a:cs typeface="Georgia"/>
              </a:rPr>
              <a:t>v</a:t>
            </a:r>
            <a:r>
              <a:rPr dirty="0" sz="2400" b="1">
                <a:latin typeface="Georgia"/>
                <a:cs typeface="Georgia"/>
              </a:rPr>
              <a:t>a</a:t>
            </a:r>
            <a:r>
              <a:rPr dirty="0" sz="2400" b="1">
                <a:latin typeface="宋体"/>
                <a:cs typeface="宋体"/>
              </a:rPr>
              <a:t>提供的函数式接</a:t>
            </a:r>
            <a:r>
              <a:rPr dirty="0" sz="2400" spc="-10" b="1">
                <a:latin typeface="宋体"/>
                <a:cs typeface="宋体"/>
              </a:rPr>
              <a:t>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3652" y="380225"/>
            <a:ext cx="18573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1123" y="1629155"/>
            <a:ext cx="7098792" cy="3707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82089" y="5318125"/>
            <a:ext cx="34664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Georgia"/>
                <a:cs typeface="Georgia"/>
              </a:rPr>
              <a:t>LambdaInterface.java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4851" y="0"/>
            <a:ext cx="0" cy="1043940"/>
          </a:xfrm>
          <a:custGeom>
            <a:avLst/>
            <a:gdLst/>
            <a:ahLst/>
            <a:cxnLst/>
            <a:rect l="l" t="t" r="r" b="b"/>
            <a:pathLst>
              <a:path w="0" h="1043940">
                <a:moveTo>
                  <a:pt x="0" y="0"/>
                </a:moveTo>
                <a:lnTo>
                  <a:pt x="0" y="104393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36244" y="1069875"/>
            <a:ext cx="3088640" cy="346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80"/>
              </a:lnSpc>
            </a:pPr>
            <a:r>
              <a:rPr dirty="0" sz="2400" spc="-5" b="1">
                <a:latin typeface="Georgia"/>
                <a:cs typeface="Georgia"/>
              </a:rPr>
              <a:t>j</a:t>
            </a:r>
            <a:r>
              <a:rPr dirty="0" sz="2400" b="1">
                <a:latin typeface="Georgia"/>
                <a:cs typeface="Georgia"/>
              </a:rPr>
              <a:t>a</a:t>
            </a:r>
            <a:r>
              <a:rPr dirty="0" sz="2400" spc="-5" b="1">
                <a:latin typeface="Georgia"/>
                <a:cs typeface="Georgia"/>
              </a:rPr>
              <a:t>v</a:t>
            </a:r>
            <a:r>
              <a:rPr dirty="0" sz="2400" b="1">
                <a:latin typeface="Georgia"/>
                <a:cs typeface="Georgia"/>
              </a:rPr>
              <a:t>a</a:t>
            </a:r>
            <a:r>
              <a:rPr dirty="0" sz="2400" b="1">
                <a:latin typeface="宋体"/>
                <a:cs typeface="宋体"/>
              </a:rPr>
              <a:t>提供的函数式接</a:t>
            </a:r>
            <a:r>
              <a:rPr dirty="0" sz="2400" spc="-10" b="1">
                <a:latin typeface="宋体"/>
                <a:cs typeface="宋体"/>
              </a:rPr>
              <a:t>口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8573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bda</a:t>
            </a:r>
            <a:r>
              <a:rPr dirty="0" sz="2100" b="1">
                <a:latin typeface="宋体"/>
                <a:cs typeface="宋体"/>
              </a:rPr>
              <a:t>表达</a:t>
            </a:r>
            <a:r>
              <a:rPr dirty="0" sz="2100" spc="-10" b="1">
                <a:latin typeface="宋体"/>
                <a:cs typeface="宋体"/>
              </a:rPr>
              <a:t>式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40" y="1124711"/>
            <a:ext cx="7632192" cy="5099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834" y="1046479"/>
            <a:ext cx="36449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Iterable</a:t>
            </a:r>
            <a:r>
              <a:rPr dirty="0" sz="2100">
                <a:latin typeface="宋体"/>
                <a:cs typeface="宋体"/>
              </a:rPr>
              <a:t>接口中的</a:t>
            </a:r>
            <a:r>
              <a:rPr dirty="0" sz="2100" spc="-5">
                <a:latin typeface="Georgia"/>
                <a:cs typeface="Georgia"/>
              </a:rPr>
              <a:t>forEach</a:t>
            </a:r>
            <a:r>
              <a:rPr dirty="0" sz="2100">
                <a:latin typeface="宋体"/>
                <a:cs typeface="宋体"/>
              </a:rPr>
              <a:t>方法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834" y="3726815"/>
            <a:ext cx="55403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宋体"/>
                <a:cs typeface="宋体"/>
              </a:rPr>
              <a:t>参数</a:t>
            </a:r>
            <a:r>
              <a:rPr dirty="0" sz="2100" spc="-5">
                <a:latin typeface="Georgia"/>
                <a:cs typeface="Georgia"/>
              </a:rPr>
              <a:t>action</a:t>
            </a:r>
            <a:r>
              <a:rPr dirty="0" sz="2100" spc="-5">
                <a:latin typeface="宋体"/>
                <a:cs typeface="宋体"/>
              </a:rPr>
              <a:t>：</a:t>
            </a:r>
            <a:r>
              <a:rPr dirty="0" sz="2100" spc="-5">
                <a:latin typeface="Georgia"/>
                <a:cs typeface="Georgia"/>
              </a:rPr>
              <a:t>lambda</a:t>
            </a:r>
            <a:r>
              <a:rPr dirty="0" sz="2100">
                <a:latin typeface="宋体"/>
                <a:cs typeface="宋体"/>
              </a:rPr>
              <a:t>表达式，描述遍历的行为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372808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for-each+lambda</a:t>
            </a:r>
            <a:r>
              <a:rPr dirty="0" sz="2100" b="1">
                <a:latin typeface="宋体"/>
                <a:cs typeface="宋体"/>
              </a:rPr>
              <a:t>表达式遍</a:t>
            </a:r>
            <a:r>
              <a:rPr dirty="0" sz="2100" spc="-10" b="1">
                <a:latin typeface="宋体"/>
                <a:cs typeface="宋体"/>
              </a:rPr>
              <a:t>历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5904" y="1629155"/>
            <a:ext cx="6696456" cy="2159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3930" y="1974799"/>
            <a:ext cx="6725920" cy="1108710"/>
          </a:xfrm>
          <a:custGeom>
            <a:avLst/>
            <a:gdLst/>
            <a:ahLst/>
            <a:cxnLst/>
            <a:rect l="l" t="t" r="r" b="b"/>
            <a:pathLst>
              <a:path w="6725920" h="1108710">
                <a:moveTo>
                  <a:pt x="6725323" y="1108697"/>
                </a:moveTo>
                <a:lnTo>
                  <a:pt x="0" y="1108697"/>
                </a:lnTo>
                <a:lnTo>
                  <a:pt x="0" y="0"/>
                </a:lnTo>
                <a:lnTo>
                  <a:pt x="6725323" y="0"/>
                </a:lnTo>
                <a:lnTo>
                  <a:pt x="6725323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080122"/>
                </a:lnTo>
                <a:lnTo>
                  <a:pt x="14287" y="1080122"/>
                </a:lnTo>
                <a:lnTo>
                  <a:pt x="28575" y="1094409"/>
                </a:lnTo>
                <a:lnTo>
                  <a:pt x="6725323" y="1094409"/>
                </a:lnTo>
                <a:lnTo>
                  <a:pt x="6725323" y="1108697"/>
                </a:lnTo>
                <a:close/>
              </a:path>
              <a:path w="6725920" h="11087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725920" h="1108710">
                <a:moveTo>
                  <a:pt x="669674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696748" y="14287"/>
                </a:lnTo>
                <a:lnTo>
                  <a:pt x="6696748" y="28575"/>
                </a:lnTo>
                <a:close/>
              </a:path>
              <a:path w="6725920" h="1108710">
                <a:moveTo>
                  <a:pt x="6696748" y="1094409"/>
                </a:moveTo>
                <a:lnTo>
                  <a:pt x="6696748" y="14287"/>
                </a:lnTo>
                <a:lnTo>
                  <a:pt x="6711035" y="28575"/>
                </a:lnTo>
                <a:lnTo>
                  <a:pt x="6725323" y="28575"/>
                </a:lnTo>
                <a:lnTo>
                  <a:pt x="6725323" y="1080122"/>
                </a:lnTo>
                <a:lnTo>
                  <a:pt x="6711035" y="1080122"/>
                </a:lnTo>
                <a:lnTo>
                  <a:pt x="6696748" y="1094409"/>
                </a:lnTo>
                <a:close/>
              </a:path>
              <a:path w="6725920" h="1108710">
                <a:moveTo>
                  <a:pt x="6725323" y="28575"/>
                </a:moveTo>
                <a:lnTo>
                  <a:pt x="6711035" y="28575"/>
                </a:lnTo>
                <a:lnTo>
                  <a:pt x="6696748" y="14287"/>
                </a:lnTo>
                <a:lnTo>
                  <a:pt x="6725323" y="14287"/>
                </a:lnTo>
                <a:lnTo>
                  <a:pt x="6725323" y="28575"/>
                </a:lnTo>
                <a:close/>
              </a:path>
              <a:path w="6725920" h="1108710">
                <a:moveTo>
                  <a:pt x="28575" y="1094409"/>
                </a:moveTo>
                <a:lnTo>
                  <a:pt x="14287" y="1080122"/>
                </a:lnTo>
                <a:lnTo>
                  <a:pt x="28575" y="1080122"/>
                </a:lnTo>
                <a:lnTo>
                  <a:pt x="28575" y="1094409"/>
                </a:lnTo>
                <a:close/>
              </a:path>
              <a:path w="6725920" h="1108710">
                <a:moveTo>
                  <a:pt x="6696748" y="1094409"/>
                </a:moveTo>
                <a:lnTo>
                  <a:pt x="28575" y="1094409"/>
                </a:lnTo>
                <a:lnTo>
                  <a:pt x="28575" y="1080122"/>
                </a:lnTo>
                <a:lnTo>
                  <a:pt x="6696748" y="1080122"/>
                </a:lnTo>
                <a:lnTo>
                  <a:pt x="6696748" y="1094409"/>
                </a:lnTo>
                <a:close/>
              </a:path>
              <a:path w="6725920" h="1108710">
                <a:moveTo>
                  <a:pt x="6725323" y="1094409"/>
                </a:moveTo>
                <a:lnTo>
                  <a:pt x="6696748" y="1094409"/>
                </a:lnTo>
                <a:lnTo>
                  <a:pt x="6711035" y="1080122"/>
                </a:lnTo>
                <a:lnTo>
                  <a:pt x="6725323" y="1080122"/>
                </a:lnTo>
                <a:lnTo>
                  <a:pt x="6725323" y="10944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36271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foreach+lambda</a:t>
            </a:r>
            <a:r>
              <a:rPr dirty="0" sz="2100" b="1">
                <a:latin typeface="宋体"/>
                <a:cs typeface="宋体"/>
              </a:rPr>
              <a:t>表达式遍</a:t>
            </a:r>
            <a:r>
              <a:rPr dirty="0" sz="2100" spc="-10" b="1">
                <a:latin typeface="宋体"/>
                <a:cs typeface="宋体"/>
              </a:rPr>
              <a:t>历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4276" y="1691639"/>
            <a:ext cx="7775448" cy="1629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9754" y="1687512"/>
            <a:ext cx="7785100" cy="1637664"/>
          </a:xfrm>
          <a:custGeom>
            <a:avLst/>
            <a:gdLst/>
            <a:ahLst/>
            <a:cxnLst/>
            <a:rect l="l" t="t" r="r" b="b"/>
            <a:pathLst>
              <a:path w="7785100" h="1637664">
                <a:moveTo>
                  <a:pt x="7784490" y="1637664"/>
                </a:moveTo>
                <a:lnTo>
                  <a:pt x="0" y="1637664"/>
                </a:lnTo>
                <a:lnTo>
                  <a:pt x="0" y="0"/>
                </a:lnTo>
                <a:lnTo>
                  <a:pt x="7784490" y="0"/>
                </a:lnTo>
                <a:lnTo>
                  <a:pt x="7784490" y="3810"/>
                </a:lnTo>
                <a:lnTo>
                  <a:pt x="7620" y="3810"/>
                </a:lnTo>
                <a:lnTo>
                  <a:pt x="3809" y="7619"/>
                </a:lnTo>
                <a:lnTo>
                  <a:pt x="7620" y="7619"/>
                </a:lnTo>
                <a:lnTo>
                  <a:pt x="7620" y="1630045"/>
                </a:lnTo>
                <a:lnTo>
                  <a:pt x="3809" y="1630045"/>
                </a:lnTo>
                <a:lnTo>
                  <a:pt x="7620" y="1633854"/>
                </a:lnTo>
                <a:lnTo>
                  <a:pt x="7784490" y="1633854"/>
                </a:lnTo>
                <a:lnTo>
                  <a:pt x="7784490" y="1637664"/>
                </a:lnTo>
                <a:close/>
              </a:path>
              <a:path w="7785100" h="1637664">
                <a:moveTo>
                  <a:pt x="7620" y="7619"/>
                </a:moveTo>
                <a:lnTo>
                  <a:pt x="3809" y="7619"/>
                </a:lnTo>
                <a:lnTo>
                  <a:pt x="7620" y="3810"/>
                </a:lnTo>
                <a:lnTo>
                  <a:pt x="7620" y="7619"/>
                </a:lnTo>
                <a:close/>
              </a:path>
              <a:path w="7785100" h="1637664">
                <a:moveTo>
                  <a:pt x="7776870" y="7619"/>
                </a:moveTo>
                <a:lnTo>
                  <a:pt x="7620" y="7619"/>
                </a:lnTo>
                <a:lnTo>
                  <a:pt x="7620" y="3810"/>
                </a:lnTo>
                <a:lnTo>
                  <a:pt x="7776870" y="3810"/>
                </a:lnTo>
                <a:lnTo>
                  <a:pt x="7776870" y="7619"/>
                </a:lnTo>
                <a:close/>
              </a:path>
              <a:path w="7785100" h="1637664">
                <a:moveTo>
                  <a:pt x="7776870" y="1633854"/>
                </a:moveTo>
                <a:lnTo>
                  <a:pt x="7776870" y="3810"/>
                </a:lnTo>
                <a:lnTo>
                  <a:pt x="7780680" y="7619"/>
                </a:lnTo>
                <a:lnTo>
                  <a:pt x="7784490" y="7619"/>
                </a:lnTo>
                <a:lnTo>
                  <a:pt x="7784490" y="1630045"/>
                </a:lnTo>
                <a:lnTo>
                  <a:pt x="7780680" y="1630045"/>
                </a:lnTo>
                <a:lnTo>
                  <a:pt x="7776870" y="1633854"/>
                </a:lnTo>
                <a:close/>
              </a:path>
              <a:path w="7785100" h="1637664">
                <a:moveTo>
                  <a:pt x="7784490" y="7619"/>
                </a:moveTo>
                <a:lnTo>
                  <a:pt x="7780680" y="7619"/>
                </a:lnTo>
                <a:lnTo>
                  <a:pt x="7776870" y="3810"/>
                </a:lnTo>
                <a:lnTo>
                  <a:pt x="7784490" y="3810"/>
                </a:lnTo>
                <a:lnTo>
                  <a:pt x="7784490" y="7619"/>
                </a:lnTo>
                <a:close/>
              </a:path>
              <a:path w="7785100" h="1637664">
                <a:moveTo>
                  <a:pt x="7620" y="1633854"/>
                </a:moveTo>
                <a:lnTo>
                  <a:pt x="3809" y="1630045"/>
                </a:lnTo>
                <a:lnTo>
                  <a:pt x="7620" y="1630045"/>
                </a:lnTo>
                <a:lnTo>
                  <a:pt x="7620" y="1633854"/>
                </a:lnTo>
                <a:close/>
              </a:path>
              <a:path w="7785100" h="1637664">
                <a:moveTo>
                  <a:pt x="7776870" y="1633854"/>
                </a:moveTo>
                <a:lnTo>
                  <a:pt x="7620" y="1633854"/>
                </a:lnTo>
                <a:lnTo>
                  <a:pt x="7620" y="1630045"/>
                </a:lnTo>
                <a:lnTo>
                  <a:pt x="7776870" y="1630045"/>
                </a:lnTo>
                <a:lnTo>
                  <a:pt x="7776870" y="1633854"/>
                </a:lnTo>
                <a:close/>
              </a:path>
              <a:path w="7785100" h="1637664">
                <a:moveTo>
                  <a:pt x="7784490" y="1633854"/>
                </a:moveTo>
                <a:lnTo>
                  <a:pt x="7776870" y="1633854"/>
                </a:lnTo>
                <a:lnTo>
                  <a:pt x="7780680" y="1630045"/>
                </a:lnTo>
                <a:lnTo>
                  <a:pt x="7784490" y="1630045"/>
                </a:lnTo>
                <a:lnTo>
                  <a:pt x="7784490" y="1633854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0263" y="1711642"/>
            <a:ext cx="8129905" cy="3893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4500">
              <a:lnSpc>
                <a:spcPct val="100000"/>
              </a:lnSpc>
              <a:spcBef>
                <a:spcPts val="105"/>
              </a:spcBef>
              <a:tabLst>
                <a:tab pos="4102100" algn="l"/>
              </a:tabLst>
            </a:pPr>
            <a:r>
              <a:rPr dirty="0" sz="2000" spc="-5">
                <a:latin typeface="Georgia"/>
                <a:cs typeface="Georgia"/>
              </a:rPr>
              <a:t>Collection </a:t>
            </a:r>
            <a:r>
              <a:rPr dirty="0" sz="2000">
                <a:latin typeface="Georgia"/>
                <a:cs typeface="Georgia"/>
              </a:rPr>
              <a:t>c =</a:t>
            </a:r>
            <a:r>
              <a:rPr dirty="0" sz="2000" spc="5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new</a:t>
            </a:r>
            <a:r>
              <a:rPr dirty="0" sz="2000" spc="-25" b="1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ArrayList();	</a:t>
            </a:r>
            <a:r>
              <a:rPr dirty="0" sz="2000">
                <a:latin typeface="Georgia"/>
                <a:cs typeface="Georgia"/>
              </a:rPr>
              <a:t>//</a:t>
            </a:r>
            <a:r>
              <a:rPr dirty="0" sz="2000">
                <a:latin typeface="宋体"/>
                <a:cs typeface="宋体"/>
              </a:rPr>
              <a:t>创建一个</a:t>
            </a:r>
            <a:r>
              <a:rPr dirty="0" sz="2000" spc="-5">
                <a:latin typeface="Georgia"/>
                <a:cs typeface="Georgia"/>
              </a:rPr>
              <a:t>ArrayList</a:t>
            </a:r>
            <a:r>
              <a:rPr dirty="0" sz="2000">
                <a:latin typeface="宋体"/>
                <a:cs typeface="宋体"/>
              </a:rPr>
              <a:t>对</a:t>
            </a:r>
            <a:r>
              <a:rPr dirty="0" sz="2000" spc="5">
                <a:latin typeface="宋体"/>
                <a:cs typeface="宋体"/>
              </a:rPr>
              <a:t>象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宋体"/>
              <a:cs typeface="宋体"/>
            </a:endParaRPr>
          </a:p>
          <a:p>
            <a:pPr marL="444500">
              <a:lnSpc>
                <a:spcPct val="100000"/>
              </a:lnSpc>
              <a:spcBef>
                <a:spcPts val="5"/>
              </a:spcBef>
            </a:pPr>
            <a:r>
              <a:rPr dirty="0" sz="2000" spc="-5">
                <a:latin typeface="Georgia"/>
                <a:cs typeface="Georgia"/>
              </a:rPr>
              <a:t>c.add("Java");</a:t>
            </a:r>
            <a:endParaRPr sz="2000">
              <a:latin typeface="Georgia"/>
              <a:cs typeface="Georgia"/>
            </a:endParaRPr>
          </a:p>
          <a:p>
            <a:pPr marL="44450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c.add("Struts");</a:t>
            </a:r>
            <a:endParaRPr sz="2000">
              <a:latin typeface="Georgia"/>
              <a:cs typeface="Georgia"/>
            </a:endParaRPr>
          </a:p>
          <a:p>
            <a:pPr marL="44450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c.add("Spring");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300">
              <a:latin typeface="Georgia"/>
              <a:cs typeface="Georgia"/>
            </a:endParaRPr>
          </a:p>
          <a:p>
            <a:pPr marL="431800">
              <a:lnSpc>
                <a:spcPct val="100000"/>
              </a:lnSpc>
              <a:spcBef>
                <a:spcPts val="1355"/>
              </a:spcBef>
            </a:pPr>
            <a:r>
              <a:rPr dirty="0" sz="2000" spc="-5">
                <a:solidFill>
                  <a:srgbClr val="6A3D3D"/>
                </a:solidFill>
                <a:latin typeface="Georgia"/>
                <a:cs typeface="Georgia"/>
              </a:rPr>
              <a:t>c</a:t>
            </a:r>
            <a:r>
              <a:rPr dirty="0" sz="2000" spc="-5">
                <a:latin typeface="Georgia"/>
                <a:cs typeface="Georgia"/>
              </a:rPr>
              <a:t>.forEach( </a:t>
            </a:r>
            <a:r>
              <a:rPr dirty="0" sz="2000" spc="-5">
                <a:solidFill>
                  <a:srgbClr val="6A3D3D"/>
                </a:solidFill>
                <a:latin typeface="Georgia"/>
                <a:cs typeface="Georgia"/>
              </a:rPr>
              <a:t>ele </a:t>
            </a:r>
            <a:r>
              <a:rPr dirty="0" sz="2000">
                <a:latin typeface="Georgia"/>
                <a:cs typeface="Georgia"/>
              </a:rPr>
              <a:t>-&gt; </a:t>
            </a:r>
            <a:r>
              <a:rPr dirty="0" sz="2000" spc="-5">
                <a:latin typeface="Georgia"/>
                <a:cs typeface="Georgia"/>
              </a:rPr>
              <a:t>System.</a:t>
            </a:r>
            <a:r>
              <a:rPr dirty="0" sz="2000" spc="-5" b="1">
                <a:solidFill>
                  <a:srgbClr val="0000C0"/>
                </a:solidFill>
                <a:latin typeface="Georgia"/>
                <a:cs typeface="Georgia"/>
              </a:rPr>
              <a:t>out</a:t>
            </a:r>
            <a:r>
              <a:rPr dirty="0" sz="2000" spc="-5" b="1">
                <a:latin typeface="Georgia"/>
                <a:cs typeface="Georgia"/>
              </a:rPr>
              <a:t>.println(</a:t>
            </a:r>
            <a:r>
              <a:rPr dirty="0" sz="2000" spc="-5" b="1">
                <a:solidFill>
                  <a:srgbClr val="6A3D3D"/>
                </a:solidFill>
                <a:latin typeface="Georgia"/>
                <a:cs typeface="Georgia"/>
              </a:rPr>
              <a:t>ele</a:t>
            </a:r>
            <a:r>
              <a:rPr dirty="0" sz="2000" spc="-5" b="1">
                <a:latin typeface="Georgia"/>
                <a:cs typeface="Georgia"/>
              </a:rPr>
              <a:t>)</a:t>
            </a:r>
            <a:r>
              <a:rPr dirty="0" sz="2000" spc="-15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);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1740535" algn="l"/>
                <a:tab pos="3037205" algn="l"/>
              </a:tabLst>
            </a:pP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集合对</a:t>
            </a:r>
            <a:r>
              <a:rPr dirty="0" sz="1800" spc="-10" b="1">
                <a:solidFill>
                  <a:srgbClr val="FF0000"/>
                </a:solidFill>
                <a:latin typeface="宋体"/>
                <a:cs typeface="宋体"/>
              </a:rPr>
              <a:t>象	</a:t>
            </a: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循环变</a:t>
            </a:r>
            <a:r>
              <a:rPr dirty="0" sz="1800" spc="-10" b="1">
                <a:solidFill>
                  <a:srgbClr val="FF0000"/>
                </a:solidFill>
                <a:latin typeface="宋体"/>
                <a:cs typeface="宋体"/>
              </a:rPr>
              <a:t>量	</a:t>
            </a:r>
            <a:r>
              <a:rPr dirty="0" sz="1800" spc="-5" b="1">
                <a:solidFill>
                  <a:srgbClr val="FF0000"/>
                </a:solidFill>
                <a:latin typeface="Georgia"/>
                <a:cs typeface="Georgia"/>
              </a:rPr>
              <a:t>-&gt;</a:t>
            </a:r>
            <a:endParaRPr sz="1800">
              <a:latin typeface="Georgia"/>
              <a:cs typeface="Georgia"/>
            </a:endParaRPr>
          </a:p>
          <a:p>
            <a:pPr marL="437515">
              <a:lnSpc>
                <a:spcPct val="100000"/>
              </a:lnSpc>
              <a:spcBef>
                <a:spcPts val="1695"/>
              </a:spcBef>
            </a:pPr>
            <a:r>
              <a:rPr dirty="0" sz="2000" spc="-5">
                <a:solidFill>
                  <a:srgbClr val="6A3D3D"/>
                </a:solidFill>
                <a:latin typeface="Georgia"/>
                <a:cs typeface="Georgia"/>
              </a:rPr>
              <a:t>c</a:t>
            </a:r>
            <a:r>
              <a:rPr dirty="0" sz="2000" spc="-5">
                <a:latin typeface="Georgia"/>
                <a:cs typeface="Georgia"/>
              </a:rPr>
              <a:t>.forEach( (</a:t>
            </a:r>
            <a:r>
              <a:rPr dirty="0" sz="2000" spc="-5">
                <a:solidFill>
                  <a:srgbClr val="6A3D3D"/>
                </a:solidFill>
                <a:latin typeface="Georgia"/>
                <a:cs typeface="Georgia"/>
              </a:rPr>
              <a:t>ele</a:t>
            </a:r>
            <a:r>
              <a:rPr dirty="0" sz="2000" spc="-5">
                <a:latin typeface="Georgia"/>
                <a:cs typeface="Georgia"/>
              </a:rPr>
              <a:t>) </a:t>
            </a:r>
            <a:r>
              <a:rPr dirty="0" sz="2000">
                <a:latin typeface="Georgia"/>
                <a:cs typeface="Georgia"/>
              </a:rPr>
              <a:t>-&gt; </a:t>
            </a:r>
            <a:r>
              <a:rPr dirty="0" sz="2000" spc="-5">
                <a:latin typeface="Georgia"/>
                <a:cs typeface="Georgia"/>
              </a:rPr>
              <a:t>{System.</a:t>
            </a:r>
            <a:r>
              <a:rPr dirty="0" sz="2000" spc="-5" b="1">
                <a:solidFill>
                  <a:srgbClr val="0000C0"/>
                </a:solidFill>
                <a:latin typeface="Georgia"/>
                <a:cs typeface="Georgia"/>
              </a:rPr>
              <a:t>out</a:t>
            </a:r>
            <a:r>
              <a:rPr dirty="0" sz="2000" spc="-5" b="1">
                <a:latin typeface="Georgia"/>
                <a:cs typeface="Georgia"/>
              </a:rPr>
              <a:t>.println(</a:t>
            </a:r>
            <a:r>
              <a:rPr dirty="0" sz="2000" spc="-5" b="1">
                <a:solidFill>
                  <a:srgbClr val="6A3D3D"/>
                </a:solidFill>
                <a:latin typeface="Georgia"/>
                <a:cs typeface="Georgia"/>
              </a:rPr>
              <a:t>ele</a:t>
            </a:r>
            <a:r>
              <a:rPr dirty="0" sz="2000" spc="-5" b="1">
                <a:latin typeface="Georgia"/>
                <a:cs typeface="Georgia"/>
              </a:rPr>
              <a:t>);}</a:t>
            </a:r>
            <a:r>
              <a:rPr dirty="0" sz="2000" spc="-15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);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Georgia"/>
              <a:cs typeface="Georgia"/>
            </a:endParaRPr>
          </a:p>
          <a:p>
            <a:pPr marL="130810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ForeachExample.java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06299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8.2</a:t>
            </a:r>
            <a:r>
              <a:rPr dirty="0" sz="2100" spc="-75" b="1">
                <a:latin typeface="Georgia"/>
                <a:cs typeface="Georgia"/>
              </a:rPr>
              <a:t> </a:t>
            </a:r>
            <a:r>
              <a:rPr dirty="0" sz="2100" b="1">
                <a:latin typeface="宋体"/>
                <a:cs typeface="宋体"/>
              </a:rPr>
              <a:t>泛</a:t>
            </a:r>
            <a:r>
              <a:rPr dirty="0" sz="2100" spc="-10" b="1">
                <a:latin typeface="宋体"/>
                <a:cs typeface="宋体"/>
              </a:rPr>
              <a:t>型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70255" y="1375409"/>
            <a:ext cx="7645400" cy="3474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宋体"/>
                <a:cs typeface="宋体"/>
              </a:rPr>
              <a:t>泛型的本质是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参数化类型</a:t>
            </a:r>
            <a:r>
              <a:rPr dirty="0" sz="2400">
                <a:latin typeface="宋体"/>
                <a:cs typeface="宋体"/>
              </a:rPr>
              <a:t>，即所操作的数据类型作为参数</a:t>
            </a:r>
            <a:endParaRPr sz="2400">
              <a:latin typeface="宋体"/>
              <a:cs typeface="宋体"/>
            </a:endParaRPr>
          </a:p>
          <a:p>
            <a:pPr marL="436880" marR="2481580">
              <a:lnSpc>
                <a:spcPct val="217600"/>
              </a:lnSpc>
              <a:spcBef>
                <a:spcPts val="1789"/>
              </a:spcBef>
            </a:pPr>
            <a:r>
              <a:rPr dirty="0" sz="2400">
                <a:latin typeface="宋体"/>
                <a:cs typeface="宋体"/>
              </a:rPr>
              <a:t>主要包括泛型类</a:t>
            </a:r>
            <a:r>
              <a:rPr dirty="0" sz="2400" spc="-67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泛型接口</a:t>
            </a:r>
            <a:r>
              <a:rPr dirty="0" sz="2400" spc="-670">
                <a:latin typeface="宋体"/>
                <a:cs typeface="宋体"/>
              </a:rPr>
              <a:t> </a:t>
            </a:r>
            <a:r>
              <a:rPr dirty="0" sz="2400">
                <a:latin typeface="宋体"/>
                <a:cs typeface="宋体"/>
              </a:rPr>
              <a:t>泛型方法 搭配通用符使用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宋体"/>
              <a:cs typeface="宋体"/>
            </a:endParaRPr>
          </a:p>
          <a:p>
            <a:pPr marL="220979" marR="711200">
              <a:lnSpc>
                <a:spcPct val="100000"/>
              </a:lnSpc>
            </a:pPr>
            <a:r>
              <a:rPr dirty="0" sz="2400">
                <a:latin typeface="宋体"/>
                <a:cs typeface="宋体"/>
              </a:rPr>
              <a:t>泛型初始化过程中，一旦给定了参数类型之后，参 数类型就会被限制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48145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.1</a:t>
            </a:r>
            <a:r>
              <a:rPr dirty="0" sz="2100" b="1">
                <a:latin typeface="宋体"/>
                <a:cs typeface="宋体"/>
              </a:rPr>
              <a:t>泛型</a:t>
            </a:r>
            <a:r>
              <a:rPr dirty="0" sz="2100" spc="-10" b="1">
                <a:latin typeface="宋体"/>
                <a:cs typeface="宋体"/>
              </a:rPr>
              <a:t>类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688022" y="1122806"/>
            <a:ext cx="7682865" cy="447040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宋体"/>
                <a:cs typeface="宋体"/>
              </a:rPr>
              <a:t>（</a:t>
            </a:r>
            <a:r>
              <a:rPr dirty="0" sz="2000" b="1">
                <a:latin typeface="Georgia"/>
                <a:cs typeface="Georgia"/>
              </a:rPr>
              <a:t>1</a:t>
            </a:r>
            <a:r>
              <a:rPr dirty="0" sz="2000" b="1">
                <a:latin typeface="宋体"/>
                <a:cs typeface="宋体"/>
              </a:rPr>
              <a:t>）泛型类声</a:t>
            </a:r>
            <a:r>
              <a:rPr dirty="0" sz="2000" spc="-5" b="1">
                <a:latin typeface="宋体"/>
                <a:cs typeface="宋体"/>
              </a:rPr>
              <a:t>明</a:t>
            </a:r>
            <a:endParaRPr sz="2000">
              <a:latin typeface="宋体"/>
              <a:cs typeface="宋体"/>
            </a:endParaRPr>
          </a:p>
          <a:p>
            <a:pPr algn="just" marL="142240" marR="4944745">
              <a:lnSpc>
                <a:spcPct val="145800"/>
              </a:lnSpc>
            </a:pPr>
            <a:r>
              <a:rPr dirty="0" sz="2000" b="1">
                <a:latin typeface="宋体"/>
                <a:cs typeface="宋体"/>
              </a:rPr>
              <a:t>型类的声明格式如下</a:t>
            </a:r>
            <a:r>
              <a:rPr dirty="0" sz="2000" spc="-5" b="1">
                <a:latin typeface="宋体"/>
                <a:cs typeface="宋体"/>
              </a:rPr>
              <a:t>：  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class</a:t>
            </a:r>
            <a:r>
              <a:rPr dirty="0" sz="2000" spc="-65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类名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&lt;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泛型列表</a:t>
            </a:r>
            <a:r>
              <a:rPr dirty="0" sz="2000" b="1">
                <a:solidFill>
                  <a:srgbClr val="FF0000"/>
                </a:solidFill>
                <a:latin typeface="Georgia"/>
                <a:cs typeface="Georgia"/>
              </a:rPr>
              <a:t>&gt;  </a:t>
            </a:r>
            <a:r>
              <a:rPr dirty="0" sz="2000" b="1">
                <a:latin typeface="宋体"/>
                <a:cs typeface="宋体"/>
              </a:rPr>
              <a:t>例如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algn="just" marL="142240">
              <a:lnSpc>
                <a:spcPct val="100000"/>
              </a:lnSpc>
              <a:spcBef>
                <a:spcPts val="1100"/>
              </a:spcBef>
            </a:pPr>
            <a:r>
              <a:rPr dirty="0" sz="2000" spc="-5" b="1">
                <a:latin typeface="Georgia"/>
                <a:cs typeface="Georgia"/>
              </a:rPr>
              <a:t>class</a:t>
            </a:r>
            <a:r>
              <a:rPr dirty="0" sz="2000" spc="-10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A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&lt;E&gt;</a:t>
            </a:r>
            <a:r>
              <a:rPr dirty="0" sz="2000" spc="-5" b="1">
                <a:latin typeface="Georgia"/>
                <a:cs typeface="Georgia"/>
              </a:rPr>
              <a:t>{…}</a:t>
            </a:r>
            <a:endParaRPr sz="2000">
              <a:latin typeface="Georgia"/>
              <a:cs typeface="Georgia"/>
            </a:endParaRPr>
          </a:p>
          <a:p>
            <a:pPr algn="just" marL="12700" marR="5080" indent="129539">
              <a:lnSpc>
                <a:spcPct val="145800"/>
              </a:lnSpc>
            </a:pPr>
            <a:r>
              <a:rPr dirty="0" sz="2000" b="1">
                <a:latin typeface="宋体"/>
                <a:cs typeface="宋体"/>
              </a:rPr>
              <a:t>其中</a:t>
            </a:r>
            <a:r>
              <a:rPr dirty="0" sz="2000" spc="-5" b="1">
                <a:latin typeface="宋体"/>
                <a:cs typeface="宋体"/>
              </a:rPr>
              <a:t>，</a:t>
            </a:r>
            <a:r>
              <a:rPr dirty="0" sz="2000" spc="-5" b="1">
                <a:latin typeface="Georgia"/>
                <a:cs typeface="Georgia"/>
              </a:rPr>
              <a:t>A</a:t>
            </a:r>
            <a:r>
              <a:rPr dirty="0" sz="2000" b="1">
                <a:latin typeface="宋体"/>
                <a:cs typeface="宋体"/>
              </a:rPr>
              <a:t>是泛型类的名称</a:t>
            </a:r>
            <a:r>
              <a:rPr dirty="0" sz="2000" spc="-5" b="1">
                <a:latin typeface="宋体"/>
                <a:cs typeface="宋体"/>
              </a:rPr>
              <a:t>，</a:t>
            </a:r>
            <a:r>
              <a:rPr dirty="0" sz="2000" spc="-5" b="1">
                <a:latin typeface="Georgia"/>
                <a:cs typeface="Georgia"/>
              </a:rPr>
              <a:t>E</a:t>
            </a:r>
            <a:r>
              <a:rPr dirty="0" sz="2000" b="1">
                <a:latin typeface="宋体"/>
                <a:cs typeface="宋体"/>
              </a:rPr>
              <a:t>是其中的泛型列表中一个类型参数，</a:t>
            </a:r>
            <a:r>
              <a:rPr dirty="0" sz="2000" spc="-5" b="1">
                <a:latin typeface="宋体"/>
                <a:cs typeface="宋体"/>
              </a:rPr>
              <a:t>它 </a:t>
            </a:r>
            <a:r>
              <a:rPr dirty="0" sz="2000" b="1">
                <a:latin typeface="宋体"/>
                <a:cs typeface="宋体"/>
              </a:rPr>
              <a:t>可以是任何类或接口，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但不能是基本数据类型</a:t>
            </a:r>
            <a:r>
              <a:rPr dirty="0" sz="2000" b="1">
                <a:latin typeface="宋体"/>
                <a:cs typeface="宋体"/>
              </a:rPr>
              <a:t>。泛型声明时</a:t>
            </a:r>
            <a:r>
              <a:rPr dirty="0" sz="2000" spc="-5" b="1">
                <a:latin typeface="宋体"/>
                <a:cs typeface="宋体"/>
              </a:rPr>
              <a:t>，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E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可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以 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作为类的成员变量的类型</a:t>
            </a:r>
            <a:r>
              <a:rPr dirty="0" sz="2000" b="1">
                <a:latin typeface="宋体"/>
                <a:cs typeface="宋体"/>
              </a:rPr>
              <a:t>、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方法的返回类型以及局部变量的类型</a:t>
            </a:r>
            <a:r>
              <a:rPr dirty="0" sz="2000" b="1">
                <a:latin typeface="宋体"/>
                <a:cs typeface="宋体"/>
              </a:rPr>
              <a:t>。</a:t>
            </a:r>
            <a:r>
              <a:rPr dirty="0" sz="2000" spc="-5" b="1">
                <a:latin typeface="宋体"/>
                <a:cs typeface="宋体"/>
              </a:rPr>
              <a:t>泛 </a:t>
            </a:r>
            <a:r>
              <a:rPr dirty="0" sz="2000" b="1">
                <a:latin typeface="宋体"/>
                <a:cs typeface="宋体"/>
              </a:rPr>
              <a:t>型列表也可以有多个</a:t>
            </a:r>
            <a:r>
              <a:rPr dirty="0" sz="2000" spc="-5" b="1">
                <a:latin typeface="Georgia"/>
                <a:cs typeface="Georgia"/>
              </a:rPr>
              <a:t>,</a:t>
            </a:r>
            <a:r>
              <a:rPr dirty="0" sz="2000" b="1">
                <a:latin typeface="宋体"/>
                <a:cs typeface="宋体"/>
              </a:rPr>
              <a:t>必须用逗号隔开，格式如下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algn="just" marL="206375">
              <a:lnSpc>
                <a:spcPct val="100000"/>
              </a:lnSpc>
              <a:spcBef>
                <a:spcPts val="1100"/>
              </a:spcBef>
            </a:pPr>
            <a:r>
              <a:rPr dirty="0" sz="2000" spc="-5" b="1">
                <a:latin typeface="Georgia"/>
                <a:cs typeface="Georgia"/>
              </a:rPr>
              <a:t>class</a:t>
            </a:r>
            <a:r>
              <a:rPr dirty="0" sz="2000" spc="-10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A&lt;E,F&gt;{…}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7627" y="240525"/>
            <a:ext cx="148145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.1</a:t>
            </a:r>
            <a:r>
              <a:rPr dirty="0" sz="2100" b="1">
                <a:latin typeface="宋体"/>
                <a:cs typeface="宋体"/>
              </a:rPr>
              <a:t>泛型</a:t>
            </a:r>
            <a:r>
              <a:rPr dirty="0" sz="2100" spc="-10" b="1">
                <a:latin typeface="宋体"/>
                <a:cs typeface="宋体"/>
              </a:rPr>
              <a:t>类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827405" y="1021570"/>
            <a:ext cx="7564120" cy="501396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5"/>
              </a:spcBef>
            </a:pPr>
            <a:r>
              <a:rPr dirty="0" sz="2000" b="1">
                <a:latin typeface="宋体"/>
                <a:cs typeface="宋体"/>
              </a:rPr>
              <a:t>泛型类的结构和普通类完全类似，由成员变量和方法构成。例如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158750">
              <a:lnSpc>
                <a:spcPct val="100000"/>
              </a:lnSpc>
              <a:spcBef>
                <a:spcPts val="810"/>
              </a:spcBef>
            </a:pPr>
            <a:r>
              <a:rPr dirty="0" sz="1800" spc="-5" b="1">
                <a:latin typeface="Georgia"/>
                <a:cs typeface="Georgia"/>
              </a:rPr>
              <a:t>class Pair&lt;T&gt;{</a:t>
            </a:r>
            <a:endParaRPr sz="1800">
              <a:latin typeface="Georgia"/>
              <a:cs typeface="Georgia"/>
            </a:endParaRPr>
          </a:p>
          <a:p>
            <a:pPr marL="927100" marR="4612005">
              <a:lnSpc>
                <a:spcPct val="138900"/>
              </a:lnSpc>
            </a:pPr>
            <a:r>
              <a:rPr dirty="0" sz="1800" spc="-5" b="1">
                <a:latin typeface="Georgia"/>
                <a:cs typeface="Georgia"/>
              </a:rPr>
              <a:t>private </a:t>
            </a:r>
            <a:r>
              <a:rPr dirty="0" sz="1800" b="1">
                <a:latin typeface="Georgia"/>
                <a:cs typeface="Georgia"/>
              </a:rPr>
              <a:t>T </a:t>
            </a:r>
            <a:r>
              <a:rPr dirty="0" sz="1800" spc="-5" b="1">
                <a:latin typeface="Georgia"/>
                <a:cs typeface="Georgia"/>
              </a:rPr>
              <a:t>first;  private </a:t>
            </a:r>
            <a:r>
              <a:rPr dirty="0" sz="1800" b="1">
                <a:latin typeface="Georgia"/>
                <a:cs typeface="Georgia"/>
              </a:rPr>
              <a:t>T</a:t>
            </a:r>
            <a:r>
              <a:rPr dirty="0" sz="1800" spc="-7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second;</a:t>
            </a:r>
            <a:endParaRPr sz="1800">
              <a:latin typeface="Georgia"/>
              <a:cs typeface="Georgia"/>
            </a:endParaRPr>
          </a:p>
          <a:p>
            <a:pPr marL="927100" marR="1438910">
              <a:lnSpc>
                <a:spcPct val="138900"/>
              </a:lnSpc>
            </a:pPr>
            <a:r>
              <a:rPr dirty="0" sz="1800" spc="-5" b="1">
                <a:latin typeface="Georgia"/>
                <a:cs typeface="Georgia"/>
              </a:rPr>
              <a:t>public Pair(){first=null; second=null;}  public Pair(T first,T</a:t>
            </a:r>
            <a:r>
              <a:rPr dirty="0" sz="180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second){this.first=first;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-5" b="1">
                <a:latin typeface="Georgia"/>
                <a:cs typeface="Georgia"/>
              </a:rPr>
              <a:t>this.second=second;}</a:t>
            </a:r>
            <a:endParaRPr sz="1800">
              <a:latin typeface="Georgia"/>
              <a:cs typeface="Georgia"/>
            </a:endParaRPr>
          </a:p>
          <a:p>
            <a:pPr marL="927100" marR="2244725">
              <a:lnSpc>
                <a:spcPct val="138900"/>
              </a:lnSpc>
            </a:pPr>
            <a:r>
              <a:rPr dirty="0" sz="1800" spc="-5" b="1">
                <a:latin typeface="Georgia"/>
                <a:cs typeface="Georgia"/>
              </a:rPr>
              <a:t>public </a:t>
            </a:r>
            <a:r>
              <a:rPr dirty="0" sz="1800" b="1">
                <a:latin typeface="Georgia"/>
                <a:cs typeface="Georgia"/>
              </a:rPr>
              <a:t>T </a:t>
            </a:r>
            <a:r>
              <a:rPr dirty="0" sz="1800" spc="-5" b="1">
                <a:latin typeface="Georgia"/>
                <a:cs typeface="Georgia"/>
              </a:rPr>
              <a:t>getFirst(){return first;}  public </a:t>
            </a:r>
            <a:r>
              <a:rPr dirty="0" sz="1800" b="1">
                <a:latin typeface="Georgia"/>
                <a:cs typeface="Georgia"/>
              </a:rPr>
              <a:t>T </a:t>
            </a:r>
            <a:r>
              <a:rPr dirty="0" sz="1800" spc="-5" b="1">
                <a:latin typeface="Georgia"/>
                <a:cs typeface="Georgia"/>
              </a:rPr>
              <a:t>getSecond(){return</a:t>
            </a:r>
            <a:r>
              <a:rPr dirty="0" sz="1800" spc="-1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second;}</a:t>
            </a:r>
            <a:endParaRPr sz="1800">
              <a:latin typeface="Georgia"/>
              <a:cs typeface="Georgia"/>
            </a:endParaRPr>
          </a:p>
          <a:p>
            <a:pPr marL="927100" marR="662940">
              <a:lnSpc>
                <a:spcPct val="138900"/>
              </a:lnSpc>
            </a:pPr>
            <a:r>
              <a:rPr dirty="0" sz="1800" spc="-5" b="1">
                <a:latin typeface="Georgia"/>
                <a:cs typeface="Georgia"/>
              </a:rPr>
              <a:t>public void setFirst(T newValue){first=newValue;}  public void setSecond(T newValue)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 spc="-5" b="1">
                <a:latin typeface="Georgia"/>
                <a:cs typeface="Georgia"/>
              </a:rPr>
              <a:t>{second=newValue;}</a:t>
            </a:r>
            <a:endParaRPr sz="1800">
              <a:latin typeface="Georgia"/>
              <a:cs typeface="Georgia"/>
            </a:endParaRPr>
          </a:p>
          <a:p>
            <a:pPr marL="185420">
              <a:lnSpc>
                <a:spcPct val="100000"/>
              </a:lnSpc>
              <a:spcBef>
                <a:spcPts val="84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48145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.1</a:t>
            </a:r>
            <a:r>
              <a:rPr dirty="0" sz="2100" b="1">
                <a:latin typeface="宋体"/>
                <a:cs typeface="宋体"/>
              </a:rPr>
              <a:t>泛型</a:t>
            </a:r>
            <a:r>
              <a:rPr dirty="0" sz="2100" spc="-10" b="1">
                <a:latin typeface="宋体"/>
                <a:cs typeface="宋体"/>
              </a:rPr>
              <a:t>类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24902" y="1114234"/>
            <a:ext cx="7557134" cy="505904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700"/>
              </a:spcBef>
            </a:pPr>
            <a:r>
              <a:rPr dirty="0" sz="2000" b="1">
                <a:latin typeface="宋体"/>
                <a:cs typeface="宋体"/>
              </a:rPr>
              <a:t>（</a:t>
            </a:r>
            <a:r>
              <a:rPr dirty="0" sz="2000" b="1">
                <a:latin typeface="Georgia"/>
                <a:cs typeface="Georgia"/>
              </a:rPr>
              <a:t>2</a:t>
            </a:r>
            <a:r>
              <a:rPr dirty="0" sz="2000" b="1">
                <a:latin typeface="宋体"/>
                <a:cs typeface="宋体"/>
              </a:rPr>
              <a:t>）使用泛型类声明对</a:t>
            </a:r>
            <a:r>
              <a:rPr dirty="0" sz="2000" spc="-5" b="1">
                <a:latin typeface="宋体"/>
                <a:cs typeface="宋体"/>
              </a:rPr>
              <a:t>象</a:t>
            </a:r>
            <a:endParaRPr sz="2000">
              <a:latin typeface="宋体"/>
              <a:cs typeface="宋体"/>
            </a:endParaRPr>
          </a:p>
          <a:p>
            <a:pPr marL="12700" marR="5080" indent="129539">
              <a:lnSpc>
                <a:spcPct val="125000"/>
              </a:lnSpc>
            </a:pPr>
            <a:r>
              <a:rPr dirty="0" sz="2000" b="1">
                <a:latin typeface="宋体"/>
                <a:cs typeface="宋体"/>
              </a:rPr>
              <a:t>与普通类不同的是，使用泛型类型声明和创建对象时，类名后多</a:t>
            </a:r>
            <a:r>
              <a:rPr dirty="0" sz="2000" spc="-5" b="1">
                <a:latin typeface="宋体"/>
                <a:cs typeface="宋体"/>
              </a:rPr>
              <a:t>了 </a:t>
            </a:r>
            <a:r>
              <a:rPr dirty="0" sz="2000" b="1">
                <a:latin typeface="宋体"/>
                <a:cs typeface="宋体"/>
              </a:rPr>
              <a:t>一对“</a:t>
            </a:r>
            <a:r>
              <a:rPr dirty="0" sz="2000" b="1">
                <a:latin typeface="Georgia"/>
                <a:cs typeface="Georgia"/>
              </a:rPr>
              <a:t>&lt;</a:t>
            </a:r>
            <a:r>
              <a:rPr dirty="0" sz="2000" spc="-20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&gt;”</a:t>
            </a:r>
            <a:r>
              <a:rPr dirty="0" sz="2000" b="1">
                <a:latin typeface="宋体"/>
                <a:cs typeface="宋体"/>
              </a:rPr>
              <a:t>符号。而且要用具体的类型替换泛型类中的泛型。如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206375">
              <a:lnSpc>
                <a:spcPct val="100000"/>
              </a:lnSpc>
              <a:spcBef>
                <a:spcPts val="600"/>
              </a:spcBef>
            </a:pPr>
            <a:r>
              <a:rPr dirty="0" sz="2000" spc="-5" b="1">
                <a:latin typeface="Georgia"/>
                <a:cs typeface="Georgia"/>
              </a:rPr>
              <a:t>Pair&lt;String&gt;</a:t>
            </a:r>
            <a:r>
              <a:rPr dirty="0" sz="2000" spc="-10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pair1;//</a:t>
            </a:r>
            <a:r>
              <a:rPr dirty="0" sz="2000" b="1">
                <a:latin typeface="宋体"/>
                <a:cs typeface="宋体"/>
              </a:rPr>
              <a:t>声明一个泛型对</a:t>
            </a:r>
            <a:r>
              <a:rPr dirty="0" sz="2000" spc="-5" b="1">
                <a:latin typeface="宋体"/>
                <a:cs typeface="宋体"/>
              </a:rPr>
              <a:t>象</a:t>
            </a:r>
            <a:endParaRPr sz="2000">
              <a:latin typeface="宋体"/>
              <a:cs typeface="宋体"/>
            </a:endParaRPr>
          </a:p>
          <a:p>
            <a:pPr marL="271145" marR="109220" indent="-64769">
              <a:lnSpc>
                <a:spcPct val="125000"/>
              </a:lnSpc>
            </a:pPr>
            <a:r>
              <a:rPr dirty="0" sz="2000" spc="-5" b="1">
                <a:latin typeface="Georgia"/>
                <a:cs typeface="Georgia"/>
              </a:rPr>
              <a:t>pair1= </a:t>
            </a:r>
            <a:r>
              <a:rPr dirty="0" sz="2000" b="1">
                <a:latin typeface="Georgia"/>
                <a:cs typeface="Georgia"/>
              </a:rPr>
              <a:t>new </a:t>
            </a:r>
            <a:r>
              <a:rPr dirty="0" sz="2000" spc="-5" b="1">
                <a:latin typeface="Georgia"/>
                <a:cs typeface="Georgia"/>
              </a:rPr>
              <a:t>Pair&lt;String&gt;("Hello","Java");//</a:t>
            </a:r>
            <a:r>
              <a:rPr dirty="0" sz="2000" b="1">
                <a:latin typeface="宋体"/>
                <a:cs typeface="宋体"/>
              </a:rPr>
              <a:t>创建泛型对</a:t>
            </a:r>
            <a:r>
              <a:rPr dirty="0" sz="2000" spc="-5" b="1">
                <a:latin typeface="宋体"/>
                <a:cs typeface="宋体"/>
              </a:rPr>
              <a:t>象 </a:t>
            </a:r>
            <a:r>
              <a:rPr dirty="0" sz="2000" b="1">
                <a:latin typeface="宋体"/>
                <a:cs typeface="宋体"/>
              </a:rPr>
              <a:t>泛型类的应用</a:t>
            </a:r>
            <a:r>
              <a:rPr dirty="0" sz="2000" spc="-5" b="1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58750">
              <a:lnSpc>
                <a:spcPct val="100000"/>
              </a:lnSpc>
              <a:spcBef>
                <a:spcPts val="185"/>
              </a:spcBef>
            </a:pPr>
            <a:r>
              <a:rPr dirty="0" sz="1600" spc="-5">
                <a:latin typeface="Georgia"/>
                <a:cs typeface="Georgia"/>
              </a:rPr>
              <a:t>public class</a:t>
            </a:r>
            <a:r>
              <a:rPr dirty="0" sz="1600" spc="-55">
                <a:latin typeface="Georgia"/>
                <a:cs typeface="Georgia"/>
              </a:rPr>
              <a:t> </a:t>
            </a:r>
            <a:r>
              <a:rPr dirty="0" sz="1600" spc="-5">
                <a:latin typeface="Georgia"/>
                <a:cs typeface="Georgia"/>
              </a:rPr>
              <a:t>PairTest{</a:t>
            </a:r>
            <a:endParaRPr sz="1600">
              <a:latin typeface="Georgia"/>
              <a:cs typeface="Georgia"/>
            </a:endParaRPr>
          </a:p>
          <a:p>
            <a:pPr marL="25654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public static void main(String[]</a:t>
            </a:r>
            <a:r>
              <a:rPr dirty="0" sz="1600">
                <a:latin typeface="Georgia"/>
                <a:cs typeface="Georgia"/>
              </a:rPr>
              <a:t> </a:t>
            </a:r>
            <a:r>
              <a:rPr dirty="0" sz="1600" spc="-5">
                <a:latin typeface="Georgia"/>
                <a:cs typeface="Georgia"/>
              </a:rPr>
              <a:t>args){</a:t>
            </a:r>
            <a:endParaRPr sz="1600">
              <a:latin typeface="Georgia"/>
              <a:cs typeface="Georgia"/>
            </a:endParaRPr>
          </a:p>
          <a:p>
            <a:pPr marL="975360" marR="2129155" indent="-572135">
              <a:lnSpc>
                <a:spcPct val="104200"/>
              </a:lnSpc>
            </a:pPr>
            <a:r>
              <a:rPr dirty="0" sz="1600" spc="-5">
                <a:latin typeface="Georgia"/>
                <a:cs typeface="Georgia"/>
              </a:rPr>
              <a:t>Pair&lt;String&gt; pair=new Pair&lt;String&gt;("Hello","Java");  System.out.println("first="+pair.getFirst());  System.out.println("second="+pair.getSecond());</a:t>
            </a:r>
            <a:endParaRPr sz="1600">
              <a:latin typeface="Georgia"/>
              <a:cs typeface="Georgia"/>
            </a:endParaRPr>
          </a:p>
          <a:p>
            <a:pPr marL="25654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15875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Georgia"/>
              <a:cs typeface="Georgia"/>
            </a:endParaRPr>
          </a:p>
          <a:p>
            <a:pPr marL="1233170">
              <a:lnSpc>
                <a:spcPct val="100000"/>
              </a:lnSpc>
            </a:pPr>
            <a:r>
              <a:rPr dirty="0" sz="2000" spc="-5" b="1">
                <a:latin typeface="Georgia"/>
                <a:cs typeface="Georgia"/>
              </a:rPr>
              <a:t>Example</a:t>
            </a:r>
            <a:r>
              <a:rPr dirty="0" sz="2000" spc="-5" b="1">
                <a:latin typeface="宋体"/>
                <a:cs typeface="宋体"/>
              </a:rPr>
              <a:t>：</a:t>
            </a:r>
            <a:r>
              <a:rPr dirty="0" sz="2000" spc="-5" b="1">
                <a:latin typeface="Georgia"/>
                <a:cs typeface="Georgia"/>
              </a:rPr>
              <a:t>PairTest.java</a:t>
            </a:r>
            <a:endParaRPr sz="2000">
              <a:latin typeface="Georgia"/>
              <a:cs typeface="Georgia"/>
            </a:endParaRPr>
          </a:p>
          <a:p>
            <a:pPr marL="1233170">
              <a:lnSpc>
                <a:spcPct val="100000"/>
              </a:lnSpc>
            </a:pPr>
            <a:r>
              <a:rPr dirty="0" sz="2000" spc="-5" b="1">
                <a:latin typeface="宋体"/>
                <a:cs typeface="宋体"/>
              </a:rPr>
              <a:t>（</a:t>
            </a:r>
            <a:r>
              <a:rPr dirty="0" sz="2000" spc="-5" b="1">
                <a:latin typeface="Georgia"/>
                <a:cs typeface="Georgia"/>
              </a:rPr>
              <a:t>cn.yhn.generic</a:t>
            </a:r>
            <a:r>
              <a:rPr dirty="0" sz="2000" spc="-5" b="1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7856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宋体"/>
                <a:cs typeface="宋体"/>
              </a:rPr>
              <a:t>泛型方</a:t>
            </a:r>
            <a:r>
              <a:rPr dirty="0" sz="2100" spc="-10" b="1">
                <a:latin typeface="宋体"/>
                <a:cs typeface="宋体"/>
              </a:rPr>
              <a:t>法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4902" y="1889760"/>
            <a:ext cx="6151245" cy="1472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宋体"/>
                <a:cs typeface="宋体"/>
              </a:rPr>
              <a:t>可以定义一个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带有参数类型的方法即泛型方法</a:t>
            </a:r>
            <a:r>
              <a:rPr dirty="0" sz="2000" spc="-5" b="1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ts val="4500"/>
              </a:lnSpc>
              <a:spcBef>
                <a:spcPts val="484"/>
              </a:spcBef>
            </a:pPr>
            <a:r>
              <a:rPr dirty="0" sz="2000" b="1">
                <a:latin typeface="宋体"/>
                <a:cs typeface="宋体"/>
              </a:rPr>
              <a:t>泛型方法所在的类可以是泛型类，也可以不是泛型类</a:t>
            </a:r>
            <a:r>
              <a:rPr dirty="0" sz="2000" spc="-5" b="1">
                <a:latin typeface="宋体"/>
                <a:cs typeface="宋体"/>
              </a:rPr>
              <a:t>。 </a:t>
            </a:r>
            <a:r>
              <a:rPr dirty="0" sz="2000" b="1">
                <a:latin typeface="宋体"/>
                <a:cs typeface="宋体"/>
              </a:rPr>
              <a:t>创建一个泛型方法常用的形式如下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4902" y="3604260"/>
            <a:ext cx="34251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[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访问修饰符</a:t>
            </a:r>
            <a:r>
              <a:rPr dirty="0" sz="2000" b="1">
                <a:solidFill>
                  <a:srgbClr val="FF0000"/>
                </a:solidFill>
                <a:latin typeface="Georgia"/>
                <a:cs typeface="Georgia"/>
              </a:rPr>
              <a:t>]</a:t>
            </a:r>
            <a:r>
              <a:rPr dirty="0" sz="2000" spc="-20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[static]</a:t>
            </a:r>
            <a:r>
              <a:rPr dirty="0" sz="2000" spc="-15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[final]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1547" y="3604260"/>
            <a:ext cx="26790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返回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值</a:t>
            </a:r>
            <a:r>
              <a:rPr dirty="0" sz="2000" spc="-530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方法名</a:t>
            </a:r>
            <a:r>
              <a:rPr dirty="0" sz="2000" b="1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dirty="0" sz="2000" spc="-35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[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形式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4902" y="4175760"/>
            <a:ext cx="10839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数列表</a:t>
            </a:r>
            <a:r>
              <a:rPr dirty="0" sz="2000" b="1">
                <a:solidFill>
                  <a:srgbClr val="FF0000"/>
                </a:solidFill>
                <a:latin typeface="Georgia"/>
                <a:cs typeface="Georgia"/>
              </a:rPr>
              <a:t>]</a:t>
            </a:r>
            <a:r>
              <a:rPr dirty="0" sz="2000" spc="-75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000" b="1">
                <a:solidFill>
                  <a:srgbClr val="FF0000"/>
                </a:solidFill>
                <a:latin typeface="Georgia"/>
                <a:cs typeface="Georgia"/>
              </a:rPr>
              <a:t>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27562" y="3729354"/>
            <a:ext cx="123825" cy="1409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89716" y="3667125"/>
            <a:ext cx="233184" cy="2203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52783" y="3662045"/>
            <a:ext cx="220510" cy="223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05132" y="3665220"/>
            <a:ext cx="219532" cy="2292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54548" y="3662045"/>
            <a:ext cx="234162" cy="2324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29617" y="3729354"/>
            <a:ext cx="123825" cy="1409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7856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宋体"/>
                <a:cs typeface="宋体"/>
              </a:rPr>
              <a:t>泛型方</a:t>
            </a:r>
            <a:r>
              <a:rPr dirty="0" sz="2100" spc="-10" b="1">
                <a:latin typeface="宋体"/>
                <a:cs typeface="宋体"/>
              </a:rPr>
              <a:t>法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24902" y="1104582"/>
            <a:ext cx="6934834" cy="38747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58775" marR="3917950" indent="-70485">
              <a:lnSpc>
                <a:spcPct val="101200"/>
              </a:lnSpc>
              <a:spcBef>
                <a:spcPts val="75"/>
              </a:spcBef>
            </a:pPr>
            <a:r>
              <a:rPr dirty="0" sz="1800" spc="-5" b="1">
                <a:latin typeface="Georgia"/>
                <a:cs typeface="Georgia"/>
              </a:rPr>
              <a:t>class GenericMethod{  public &lt;T&gt; void </a:t>
            </a:r>
            <a:r>
              <a:rPr dirty="0" sz="1800" b="1">
                <a:latin typeface="Georgia"/>
                <a:cs typeface="Georgia"/>
              </a:rPr>
              <a:t>f(T</a:t>
            </a:r>
            <a:r>
              <a:rPr dirty="0" sz="1800" spc="-70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x){</a:t>
            </a:r>
            <a:endParaRPr sz="1800">
              <a:latin typeface="Georgia"/>
              <a:cs typeface="Georgia"/>
            </a:endParaRPr>
          </a:p>
          <a:p>
            <a:pPr marL="1100455">
              <a:lnSpc>
                <a:spcPts val="1920"/>
              </a:lnSpc>
            </a:pPr>
            <a:r>
              <a:rPr dirty="0" sz="1800" spc="-5" b="1">
                <a:latin typeface="Georgia"/>
                <a:cs typeface="Georgia"/>
              </a:rPr>
              <a:t>System.out.println(x.getClass().getName());</a:t>
            </a:r>
            <a:endParaRPr sz="1800">
              <a:latin typeface="Georgia"/>
              <a:cs typeface="Georgia"/>
            </a:endParaRPr>
          </a:p>
          <a:p>
            <a:pPr marL="358775">
              <a:lnSpc>
                <a:spcPts val="2000"/>
              </a:lnSpc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85420">
              <a:lnSpc>
                <a:spcPts val="2000"/>
              </a:lnSpc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85420">
              <a:lnSpc>
                <a:spcPts val="2000"/>
              </a:lnSpc>
            </a:pPr>
            <a:r>
              <a:rPr dirty="0" sz="1800" spc="-5" b="1">
                <a:latin typeface="Georgia"/>
                <a:cs typeface="Georgia"/>
              </a:rPr>
              <a:t>public class GenericMethodTest{</a:t>
            </a:r>
            <a:endParaRPr sz="1800">
              <a:latin typeface="Georgia"/>
              <a:cs typeface="Georgia"/>
            </a:endParaRPr>
          </a:p>
          <a:p>
            <a:pPr marL="1841500" marR="5080" indent="-914400">
              <a:lnSpc>
                <a:spcPts val="2000"/>
              </a:lnSpc>
              <a:spcBef>
                <a:spcPts val="120"/>
              </a:spcBef>
            </a:pPr>
            <a:r>
              <a:rPr dirty="0" sz="1800" spc="-5" b="1">
                <a:latin typeface="Georgia"/>
                <a:cs typeface="Georgia"/>
              </a:rPr>
              <a:t>public static void main(String[] args){  GenericMethod gm=new GenericMethod();  gm.f(" </a:t>
            </a:r>
            <a:r>
              <a:rPr dirty="0" sz="1800" b="1">
                <a:latin typeface="Georgia"/>
                <a:cs typeface="Georgia"/>
              </a:rPr>
              <a:t>");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ts val="1880"/>
              </a:lnSpc>
            </a:pPr>
            <a:r>
              <a:rPr dirty="0" sz="1800" spc="-5" b="1">
                <a:latin typeface="Georgia"/>
                <a:cs typeface="Georgia"/>
              </a:rPr>
              <a:t>gm.f(1);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ts val="2000"/>
              </a:lnSpc>
            </a:pPr>
            <a:r>
              <a:rPr dirty="0" sz="1800" spc="-5" b="1">
                <a:latin typeface="Georgia"/>
                <a:cs typeface="Georgia"/>
              </a:rPr>
              <a:t>gm.f(1.0f);</a:t>
            </a:r>
            <a:endParaRPr sz="1800">
              <a:latin typeface="Georgia"/>
              <a:cs typeface="Georgia"/>
            </a:endParaRPr>
          </a:p>
          <a:p>
            <a:pPr marL="1841500" marR="3903345">
              <a:lnSpc>
                <a:spcPts val="2000"/>
              </a:lnSpc>
              <a:spcBef>
                <a:spcPts val="120"/>
              </a:spcBef>
            </a:pPr>
            <a:r>
              <a:rPr dirty="0" sz="1800" spc="-5" b="1">
                <a:latin typeface="Georgia"/>
                <a:cs typeface="Georgia"/>
              </a:rPr>
              <a:t>gm.f('c');  </a:t>
            </a:r>
            <a:r>
              <a:rPr dirty="0" sz="1800" b="1">
                <a:latin typeface="Georgia"/>
                <a:cs typeface="Georgia"/>
              </a:rPr>
              <a:t>gm</a:t>
            </a:r>
            <a:r>
              <a:rPr dirty="0" sz="1800" spc="-5" b="1">
                <a:latin typeface="Georgia"/>
                <a:cs typeface="Georgia"/>
              </a:rPr>
              <a:t>.</a:t>
            </a:r>
            <a:r>
              <a:rPr dirty="0" sz="1800" b="1">
                <a:latin typeface="Georgia"/>
                <a:cs typeface="Georgia"/>
              </a:rPr>
              <a:t>f(gm);</a:t>
            </a:r>
            <a:endParaRPr sz="1800">
              <a:latin typeface="Georgia"/>
              <a:cs typeface="Georgia"/>
            </a:endParaRPr>
          </a:p>
          <a:p>
            <a:pPr marL="926465">
              <a:lnSpc>
                <a:spcPts val="1960"/>
              </a:lnSpc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78498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b="1">
                <a:latin typeface="宋体"/>
                <a:cs typeface="宋体"/>
              </a:rPr>
              <a:t>泛型接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124902" y="1641601"/>
            <a:ext cx="6406515" cy="314071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2000" b="1">
                <a:latin typeface="宋体"/>
                <a:cs typeface="宋体"/>
              </a:rPr>
              <a:t>泛型接口的定义与泛型类非常相似，它的声明形式如下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142240">
              <a:lnSpc>
                <a:spcPct val="100000"/>
              </a:lnSpc>
              <a:spcBef>
                <a:spcPts val="1115"/>
              </a:spcBef>
            </a:pP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interface 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接口名</a:t>
            </a:r>
            <a:r>
              <a:rPr dirty="0" sz="2000" spc="-5" b="1">
                <a:solidFill>
                  <a:srgbClr val="FF0000"/>
                </a:solidFill>
                <a:latin typeface="Georgia"/>
                <a:cs typeface="Georgia"/>
              </a:rPr>
              <a:t>&lt;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泛型列表</a:t>
            </a:r>
            <a:r>
              <a:rPr dirty="0" sz="2000" b="1">
                <a:solidFill>
                  <a:srgbClr val="FF0000"/>
                </a:solidFill>
                <a:latin typeface="Georgia"/>
                <a:cs typeface="Georgia"/>
              </a:rPr>
              <a:t>&gt;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dirty="0" sz="2000" spc="-5" b="1">
                <a:latin typeface="Georgia"/>
                <a:cs typeface="Georgia"/>
              </a:rPr>
              <a:t>interface MinMax&lt;T</a:t>
            </a:r>
            <a:r>
              <a:rPr dirty="0" sz="2000" b="1">
                <a:latin typeface="Georgia"/>
                <a:cs typeface="Georgia"/>
              </a:rPr>
              <a:t> &gt;{</a:t>
            </a:r>
            <a:endParaRPr sz="2000">
              <a:latin typeface="Georgia"/>
              <a:cs typeface="Georgia"/>
            </a:endParaRPr>
          </a:p>
          <a:p>
            <a:pPr marL="926465">
              <a:lnSpc>
                <a:spcPct val="100000"/>
              </a:lnSpc>
              <a:spcBef>
                <a:spcPts val="1100"/>
              </a:spcBef>
            </a:pP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5" b="1">
                <a:latin typeface="Georgia"/>
                <a:cs typeface="Georgia"/>
              </a:rPr>
              <a:t> min();</a:t>
            </a:r>
            <a:endParaRPr sz="2000">
              <a:latin typeface="Georgia"/>
              <a:cs typeface="Georgia"/>
            </a:endParaRPr>
          </a:p>
          <a:p>
            <a:pPr marL="926465">
              <a:lnSpc>
                <a:spcPct val="100000"/>
              </a:lnSpc>
              <a:spcBef>
                <a:spcPts val="1100"/>
              </a:spcBef>
            </a:pP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5" b="1">
                <a:latin typeface="Georgia"/>
                <a:cs typeface="Georgia"/>
              </a:rPr>
              <a:t> max();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000" b="1">
                <a:latin typeface="Georgia"/>
                <a:cs typeface="Georgia"/>
              </a:rPr>
              <a:t>}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27" y="787326"/>
            <a:ext cx="6807834" cy="534225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430"/>
              </a:spcBef>
            </a:pPr>
            <a:r>
              <a:rPr dirty="0" sz="2000" b="1">
                <a:latin typeface="宋体"/>
                <a:cs typeface="宋体"/>
              </a:rPr>
              <a:t>定义一个类</a:t>
            </a:r>
            <a:r>
              <a:rPr dirty="0" sz="2000" spc="-5" b="1">
                <a:latin typeface="Georgia"/>
                <a:cs typeface="Georgia"/>
              </a:rPr>
              <a:t>MyClass</a:t>
            </a:r>
            <a:r>
              <a:rPr dirty="0" sz="2000" b="1">
                <a:latin typeface="宋体"/>
                <a:cs typeface="宋体"/>
              </a:rPr>
              <a:t>来实现这个接口，代码如下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927100" marR="5080" indent="-784860">
              <a:lnSpc>
                <a:spcPct val="104900"/>
              </a:lnSpc>
              <a:spcBef>
                <a:spcPts val="160"/>
              </a:spcBef>
            </a:pPr>
            <a:r>
              <a:rPr dirty="0" sz="1600" spc="-5">
                <a:latin typeface="Georgia"/>
                <a:cs typeface="Georgia"/>
              </a:rPr>
              <a:t>class MyClass&lt;</a:t>
            </a:r>
            <a:r>
              <a:rPr dirty="0" sz="1600" spc="-5" b="1">
                <a:solidFill>
                  <a:srgbClr val="C00000"/>
                </a:solidFill>
                <a:latin typeface="Georgia"/>
                <a:cs typeface="Georgia"/>
              </a:rPr>
              <a:t>T extends Comparable&lt;T&gt;</a:t>
            </a:r>
            <a:r>
              <a:rPr dirty="0" sz="1600" spc="-5">
                <a:latin typeface="Georgia"/>
                <a:cs typeface="Georgia"/>
              </a:rPr>
              <a:t>&gt; implements MinMax&lt;T&gt;{  T[] vals;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MyClass(T[] ob){</a:t>
            </a:r>
            <a:endParaRPr sz="16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vals = ob;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public T min(){</a:t>
            </a:r>
            <a:endParaRPr sz="16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T val =</a:t>
            </a:r>
            <a:r>
              <a:rPr dirty="0" sz="1600" spc="5">
                <a:latin typeface="Georgia"/>
                <a:cs typeface="Georgia"/>
              </a:rPr>
              <a:t> </a:t>
            </a:r>
            <a:r>
              <a:rPr dirty="0" sz="1600" spc="-5">
                <a:latin typeface="Georgia"/>
                <a:cs typeface="Georgia"/>
              </a:rPr>
              <a:t>vals[0];</a:t>
            </a:r>
            <a:endParaRPr sz="16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for(int i=1; i&lt;vals.length;</a:t>
            </a:r>
            <a:r>
              <a:rPr dirty="0" sz="1600">
                <a:latin typeface="Georgia"/>
                <a:cs typeface="Georgia"/>
              </a:rPr>
              <a:t> </a:t>
            </a:r>
            <a:r>
              <a:rPr dirty="0" sz="1600" spc="-5">
                <a:latin typeface="Georgia"/>
                <a:cs typeface="Georgia"/>
              </a:rPr>
              <a:t>++i)</a:t>
            </a:r>
            <a:endParaRPr sz="1600">
              <a:latin typeface="Georgia"/>
              <a:cs typeface="Georgia"/>
            </a:endParaRPr>
          </a:p>
          <a:p>
            <a:pPr marL="1841500" marR="446405" indent="914400">
              <a:lnSpc>
                <a:spcPct val="104200"/>
              </a:lnSpc>
            </a:pPr>
            <a:r>
              <a:rPr dirty="0" sz="1600" spc="-5">
                <a:latin typeface="Georgia"/>
                <a:cs typeface="Georgia"/>
              </a:rPr>
              <a:t>if(vals[i].compareTo(val)&lt;0)val=vals[i];  return val;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public T max(){</a:t>
            </a:r>
            <a:endParaRPr sz="16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T val =</a:t>
            </a:r>
            <a:r>
              <a:rPr dirty="0" sz="1600" spc="5">
                <a:latin typeface="Georgia"/>
                <a:cs typeface="Georgia"/>
              </a:rPr>
              <a:t> </a:t>
            </a:r>
            <a:r>
              <a:rPr dirty="0" sz="1600" spc="-5">
                <a:latin typeface="Georgia"/>
                <a:cs typeface="Georgia"/>
              </a:rPr>
              <a:t>vals[0];</a:t>
            </a:r>
            <a:endParaRPr sz="16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for(int</a:t>
            </a:r>
            <a:r>
              <a:rPr dirty="0" sz="1600" spc="-10">
                <a:latin typeface="Georgia"/>
                <a:cs typeface="Georgia"/>
              </a:rPr>
              <a:t> </a:t>
            </a:r>
            <a:r>
              <a:rPr dirty="0" sz="1600" spc="-5">
                <a:latin typeface="Georgia"/>
                <a:cs typeface="Georgia"/>
              </a:rPr>
              <a:t>i=1;i&lt;vals.length;++i)</a:t>
            </a:r>
            <a:endParaRPr sz="1600">
              <a:latin typeface="Georgia"/>
              <a:cs typeface="Georgia"/>
            </a:endParaRPr>
          </a:p>
          <a:p>
            <a:pPr marL="1841500" marR="397510" indent="914400">
              <a:lnSpc>
                <a:spcPct val="104200"/>
              </a:lnSpc>
            </a:pPr>
            <a:r>
              <a:rPr dirty="0" sz="1600" spc="-5">
                <a:latin typeface="Georgia"/>
                <a:cs typeface="Georgia"/>
              </a:rPr>
              <a:t>if (vals[i].compareTo(val)&gt;0)val=vals[i];  return val;</a:t>
            </a:r>
            <a:endParaRPr sz="16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600" spc="-5">
                <a:latin typeface="Georgia"/>
                <a:cs typeface="Georgia"/>
              </a:rPr>
              <a:t>}</a:t>
            </a:r>
            <a:endParaRPr sz="1600">
              <a:latin typeface="Georgia"/>
              <a:cs typeface="Georgia"/>
            </a:endParaRPr>
          </a:p>
          <a:p>
            <a:pPr marL="221615">
              <a:lnSpc>
                <a:spcPct val="100000"/>
              </a:lnSpc>
              <a:spcBef>
                <a:spcPts val="540"/>
              </a:spcBef>
            </a:pPr>
            <a:r>
              <a:rPr dirty="0" sz="2000" b="1">
                <a:latin typeface="宋体"/>
                <a:cs typeface="宋体"/>
              </a:rPr>
              <a:t>泛型接口的应用</a:t>
            </a:r>
            <a:r>
              <a:rPr dirty="0" sz="2000" spc="-5" b="1">
                <a:latin typeface="宋体"/>
                <a:cs typeface="宋体"/>
              </a:rPr>
              <a:t>：</a:t>
            </a:r>
            <a:r>
              <a:rPr dirty="0" sz="2000" spc="-5" b="1">
                <a:latin typeface="Georgia"/>
                <a:cs typeface="Georgia"/>
              </a:rPr>
              <a:t>MyClassTest.java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0335" y="279400"/>
            <a:ext cx="20370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Georgia"/>
                <a:cs typeface="Georgia"/>
              </a:rPr>
              <a:t>8.2.3</a:t>
            </a:r>
            <a:r>
              <a:rPr dirty="0" sz="2400" b="1">
                <a:latin typeface="宋体"/>
                <a:cs typeface="宋体"/>
              </a:rPr>
              <a:t>泛型接</a:t>
            </a:r>
            <a:r>
              <a:rPr dirty="0" sz="2400" spc="-10" b="1">
                <a:latin typeface="宋体"/>
                <a:cs typeface="宋体"/>
              </a:rPr>
              <a:t>口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7919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Georgia"/>
                <a:cs typeface="Georgia"/>
              </a:rPr>
              <a:t>.4</a:t>
            </a:r>
            <a:r>
              <a:rPr dirty="0" sz="2100" b="1">
                <a:latin typeface="宋体"/>
                <a:cs typeface="宋体"/>
              </a:rPr>
              <a:t>受限泛</a:t>
            </a:r>
            <a:r>
              <a:rPr dirty="0" sz="2100" spc="-10" b="1">
                <a:latin typeface="宋体"/>
                <a:cs typeface="宋体"/>
              </a:rPr>
              <a:t>型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62634" y="1358900"/>
            <a:ext cx="6864350" cy="3415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299085">
              <a:lnSpc>
                <a:spcPct val="99700"/>
              </a:lnSpc>
              <a:spcBef>
                <a:spcPts val="105"/>
              </a:spcBef>
            </a:pPr>
            <a:r>
              <a:rPr dirty="0" sz="2400">
                <a:latin typeface="宋体"/>
                <a:cs typeface="宋体"/>
              </a:rPr>
              <a:t>使用</a:t>
            </a:r>
            <a:r>
              <a:rPr dirty="0" sz="2400" spc="-5">
                <a:latin typeface="Georgia"/>
                <a:cs typeface="Georgia"/>
              </a:rPr>
              <a:t>extends</a:t>
            </a:r>
            <a:r>
              <a:rPr dirty="0" sz="2400">
                <a:latin typeface="宋体"/>
                <a:cs typeface="宋体"/>
              </a:rPr>
              <a:t>关键字指定泛型实例化参数只能是指 定类或指定类的子类，</a:t>
            </a:r>
            <a:r>
              <a:rPr dirty="0" sz="2400" spc="-5">
                <a:latin typeface="Georgia"/>
                <a:cs typeface="Georgia"/>
              </a:rPr>
              <a:t>supe</a:t>
            </a:r>
            <a:r>
              <a:rPr dirty="0" sz="2400">
                <a:latin typeface="Georgia"/>
                <a:cs typeface="Georgia"/>
              </a:rPr>
              <a:t>r</a:t>
            </a:r>
            <a:r>
              <a:rPr dirty="0" sz="2400">
                <a:latin typeface="宋体"/>
                <a:cs typeface="宋体"/>
              </a:rPr>
              <a:t>关键字可以指定泛型 实例化时的参数只能是指定类或指定类的父类。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宋体"/>
              <a:cs typeface="宋体"/>
            </a:endParaRPr>
          </a:p>
          <a:p>
            <a:pPr algn="just" marL="426084" marR="5080">
              <a:lnSpc>
                <a:spcPts val="2160"/>
              </a:lnSpc>
            </a:pPr>
            <a:r>
              <a:rPr dirty="0" sz="2000" spc="10" b="1">
                <a:latin typeface="宋体"/>
                <a:cs typeface="宋体"/>
              </a:rPr>
              <a:t>“</a:t>
            </a:r>
            <a:r>
              <a:rPr dirty="0" sz="2000" spc="10" b="1">
                <a:latin typeface="Georgia"/>
                <a:cs typeface="Georgia"/>
              </a:rPr>
              <a:t>&lt;? extends</a:t>
            </a:r>
            <a:r>
              <a:rPr dirty="0" sz="2000" spc="15" b="1">
                <a:latin typeface="Georgia"/>
                <a:cs typeface="Georgia"/>
              </a:rPr>
              <a:t> </a:t>
            </a:r>
            <a:r>
              <a:rPr dirty="0" sz="2000" spc="10" b="1">
                <a:latin typeface="Georgia"/>
                <a:cs typeface="Georgia"/>
              </a:rPr>
              <a:t>E&gt;</a:t>
            </a:r>
            <a:r>
              <a:rPr dirty="0" sz="2000" spc="10" b="1">
                <a:latin typeface="宋体"/>
                <a:cs typeface="宋体"/>
              </a:rPr>
              <a:t>”</a:t>
            </a:r>
            <a:r>
              <a:rPr dirty="0" sz="2000" spc="-5" b="1">
                <a:latin typeface="宋体"/>
                <a:cs typeface="宋体"/>
              </a:rPr>
              <a:t>中</a:t>
            </a:r>
            <a:r>
              <a:rPr dirty="0" sz="2000" spc="-480" b="1">
                <a:latin typeface="宋体"/>
                <a:cs typeface="宋体"/>
              </a:rPr>
              <a:t> </a:t>
            </a:r>
            <a:r>
              <a:rPr dirty="0" sz="2000" spc="15" b="1">
                <a:latin typeface="宋体"/>
                <a:cs typeface="宋体"/>
              </a:rPr>
              <a:t>“？”</a:t>
            </a:r>
            <a:r>
              <a:rPr dirty="0" sz="2000" spc="20" b="1">
                <a:latin typeface="宋体"/>
                <a:cs typeface="宋体"/>
              </a:rPr>
              <a:t>表示通配</a:t>
            </a:r>
            <a:r>
              <a:rPr dirty="0" sz="2000" spc="15" b="1">
                <a:latin typeface="宋体"/>
                <a:cs typeface="宋体"/>
              </a:rPr>
              <a:t>，“</a:t>
            </a:r>
            <a:r>
              <a:rPr dirty="0" sz="2000" spc="15" b="1">
                <a:latin typeface="Georgia"/>
                <a:cs typeface="Georgia"/>
              </a:rPr>
              <a:t>&lt;?</a:t>
            </a:r>
            <a:r>
              <a:rPr dirty="0" sz="2000" spc="25" b="1">
                <a:latin typeface="Georgia"/>
                <a:cs typeface="Georgia"/>
              </a:rPr>
              <a:t> </a:t>
            </a:r>
            <a:r>
              <a:rPr dirty="0" sz="2000" spc="15" b="1">
                <a:latin typeface="Georgia"/>
                <a:cs typeface="Georgia"/>
              </a:rPr>
              <a:t>extends  </a:t>
            </a:r>
            <a:r>
              <a:rPr dirty="0" sz="2000" spc="50" b="1">
                <a:latin typeface="Georgia"/>
                <a:cs typeface="Georgia"/>
              </a:rPr>
              <a:t>E</a:t>
            </a:r>
            <a:r>
              <a:rPr dirty="0" sz="2000" spc="55" b="1">
                <a:latin typeface="Georgia"/>
                <a:cs typeface="Georgia"/>
              </a:rPr>
              <a:t>&gt;</a:t>
            </a:r>
            <a:r>
              <a:rPr dirty="0" sz="2000" spc="60" b="1">
                <a:latin typeface="宋体"/>
                <a:cs typeface="宋体"/>
              </a:rPr>
              <a:t>”是“上界</a:t>
            </a:r>
            <a:r>
              <a:rPr dirty="0" sz="2000" spc="65" b="1">
                <a:latin typeface="宋体"/>
                <a:cs typeface="宋体"/>
              </a:rPr>
              <a:t>通配符”，表示该类型的上限是</a:t>
            </a:r>
            <a:r>
              <a:rPr dirty="0" sz="2000" spc="55" b="1">
                <a:latin typeface="Georgia"/>
                <a:cs typeface="Georgia"/>
              </a:rPr>
              <a:t>E</a:t>
            </a:r>
            <a:r>
              <a:rPr dirty="0" sz="2000" spc="65" b="1">
                <a:latin typeface="宋体"/>
                <a:cs typeface="宋体"/>
              </a:rPr>
              <a:t>。“</a:t>
            </a:r>
            <a:r>
              <a:rPr dirty="0" sz="2000" spc="60" b="1">
                <a:latin typeface="Georgia"/>
                <a:cs typeface="Georgia"/>
              </a:rPr>
              <a:t>&lt;</a:t>
            </a:r>
            <a:r>
              <a:rPr dirty="0" sz="2000" b="1">
                <a:latin typeface="Georgia"/>
                <a:cs typeface="Georgia"/>
              </a:rPr>
              <a:t>?  </a:t>
            </a:r>
            <a:r>
              <a:rPr dirty="0" sz="2000" spc="45" b="1">
                <a:latin typeface="Georgia"/>
                <a:cs typeface="Georgia"/>
              </a:rPr>
              <a:t>super</a:t>
            </a:r>
            <a:r>
              <a:rPr dirty="0" sz="2000" spc="70" b="1">
                <a:latin typeface="Georgia"/>
                <a:cs typeface="Georgia"/>
              </a:rPr>
              <a:t> </a:t>
            </a:r>
            <a:r>
              <a:rPr dirty="0" sz="2000" spc="60" b="1">
                <a:latin typeface="Georgia"/>
                <a:cs typeface="Georgia"/>
              </a:rPr>
              <a:t>E&gt;</a:t>
            </a:r>
            <a:r>
              <a:rPr dirty="0" sz="2000" spc="60" b="1">
                <a:latin typeface="宋体"/>
                <a:cs typeface="宋体"/>
              </a:rPr>
              <a:t>”</a:t>
            </a:r>
            <a:r>
              <a:rPr dirty="0" sz="2000" spc="65" b="1">
                <a:latin typeface="宋体"/>
                <a:cs typeface="宋体"/>
              </a:rPr>
              <a:t>是“下界通配符”，表示该类型的下限是</a:t>
            </a:r>
            <a:r>
              <a:rPr dirty="0" sz="2000" b="1">
                <a:latin typeface="Georgia"/>
                <a:cs typeface="Georgia"/>
              </a:rPr>
              <a:t>E</a:t>
            </a:r>
            <a:endParaRPr sz="2000">
              <a:latin typeface="Georgia"/>
              <a:cs typeface="Georgia"/>
            </a:endParaRPr>
          </a:p>
          <a:p>
            <a:pPr marL="426084">
              <a:lnSpc>
                <a:spcPts val="2115"/>
              </a:lnSpc>
            </a:pPr>
            <a:r>
              <a:rPr dirty="0" sz="2000" spc="-5" b="1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宋体"/>
              <a:cs typeface="宋体"/>
            </a:endParaRPr>
          </a:p>
          <a:p>
            <a:pPr marL="1236345">
              <a:lnSpc>
                <a:spcPct val="100000"/>
              </a:lnSpc>
              <a:spcBef>
                <a:spcPts val="1555"/>
              </a:spcBef>
            </a:pPr>
            <a:r>
              <a:rPr dirty="0" sz="2400" spc="-5">
                <a:latin typeface="Georgia"/>
                <a:cs typeface="Georgia"/>
              </a:rPr>
              <a:t>ConvariantArrays.java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9687" y="468147"/>
            <a:ext cx="657860" cy="23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8161" y="438302"/>
            <a:ext cx="1042631" cy="246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1895" y="4506467"/>
            <a:ext cx="6161532" cy="1476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5819" y="1073149"/>
            <a:ext cx="7144384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在泛型出现之前，一旦将一个对象放在</a:t>
            </a:r>
            <a:r>
              <a:rPr dirty="0" sz="2000" spc="-5">
                <a:latin typeface="Georgia"/>
                <a:cs typeface="Georgia"/>
              </a:rPr>
              <a:t>Java</a:t>
            </a:r>
            <a:r>
              <a:rPr dirty="0" sz="2000"/>
              <a:t>的集合中，集合就</a:t>
            </a:r>
            <a:r>
              <a:rPr dirty="0" sz="2000"/>
              <a:t>会 </a:t>
            </a:r>
            <a:r>
              <a:rPr dirty="0" sz="2000"/>
              <a:t>忘记对象的类型，所有对象都被当做</a:t>
            </a:r>
            <a:r>
              <a:rPr dirty="0" sz="2000" spc="-5">
                <a:latin typeface="Georgia"/>
                <a:cs typeface="Georgia"/>
              </a:rPr>
              <a:t>Object</a:t>
            </a:r>
            <a:r>
              <a:rPr dirty="0" sz="2000"/>
              <a:t>处理</a:t>
            </a:r>
            <a:r>
              <a:rPr dirty="0" sz="2000" spc="5"/>
              <a:t>。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845819" y="1680844"/>
            <a:ext cx="5868035" cy="2523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当从集合中取出对象后，就需要进行强制类型转换</a:t>
            </a:r>
            <a:r>
              <a:rPr dirty="0" sz="2000">
                <a:latin typeface="宋体"/>
                <a:cs typeface="宋体"/>
              </a:rPr>
              <a:t>。 </a:t>
            </a:r>
            <a:r>
              <a:rPr dirty="0" sz="2000">
                <a:latin typeface="宋体"/>
                <a:cs typeface="宋体"/>
              </a:rPr>
              <a:t>使用泛型后，不需要强制转换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288925">
              <a:lnSpc>
                <a:spcPct val="100000"/>
              </a:lnSpc>
              <a:spcBef>
                <a:spcPts val="229"/>
              </a:spcBef>
            </a:pPr>
            <a:r>
              <a:rPr dirty="0" sz="2000" spc="-5">
                <a:latin typeface="Georgia"/>
                <a:cs typeface="Georgia"/>
              </a:rPr>
              <a:t>Collection&lt;String&gt; </a:t>
            </a:r>
            <a:r>
              <a:rPr dirty="0" sz="2000">
                <a:latin typeface="Georgia"/>
                <a:cs typeface="Georgia"/>
              </a:rPr>
              <a:t>c = </a:t>
            </a:r>
            <a:r>
              <a:rPr dirty="0" sz="2000" spc="-5">
                <a:latin typeface="Georgia"/>
                <a:cs typeface="Georgia"/>
              </a:rPr>
              <a:t>new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ArrayList&lt;String&gt;();</a:t>
            </a:r>
            <a:endParaRPr sz="2000">
              <a:latin typeface="Georgia"/>
              <a:cs typeface="Georgia"/>
            </a:endParaRPr>
          </a:p>
          <a:p>
            <a:pPr marL="360680">
              <a:lnSpc>
                <a:spcPct val="100000"/>
              </a:lnSpc>
              <a:spcBef>
                <a:spcPts val="1960"/>
              </a:spcBef>
            </a:pPr>
            <a:r>
              <a:rPr dirty="0" sz="2000" spc="-5">
                <a:latin typeface="Georgia"/>
                <a:cs typeface="Georgia"/>
              </a:rPr>
              <a:t>Iterator&lt;String&gt; it </a:t>
            </a:r>
            <a:r>
              <a:rPr dirty="0" sz="2000">
                <a:latin typeface="Georgia"/>
                <a:cs typeface="Georgia"/>
              </a:rPr>
              <a:t>=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c.iterator();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3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Georgia"/>
              <a:cs typeface="Georgia"/>
            </a:endParaRPr>
          </a:p>
          <a:p>
            <a:pPr marL="316865" indent="-171450">
              <a:lnSpc>
                <a:spcPct val="100000"/>
              </a:lnSpc>
              <a:buFont typeface="Arial"/>
              <a:buChar char="•"/>
              <a:tabLst>
                <a:tab pos="316865" algn="l"/>
              </a:tabLst>
            </a:pPr>
            <a:r>
              <a:rPr dirty="0" sz="2400" spc="-5">
                <a:latin typeface="Georgia"/>
                <a:cs typeface="Georgia"/>
              </a:rPr>
              <a:t>ArrayList</a:t>
            </a:r>
            <a:r>
              <a:rPr dirty="0" sz="2400">
                <a:latin typeface="宋体"/>
                <a:cs typeface="宋体"/>
              </a:rPr>
              <a:t>类的</a:t>
            </a:r>
            <a:r>
              <a:rPr dirty="0" sz="2400" spc="-5">
                <a:latin typeface="Georgia"/>
                <a:cs typeface="Georgia"/>
              </a:rPr>
              <a:t>API</a:t>
            </a:r>
            <a:r>
              <a:rPr dirty="0" sz="2400">
                <a:latin typeface="宋体"/>
                <a:cs typeface="宋体"/>
              </a:rPr>
              <a:t>文档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9687" y="468147"/>
            <a:ext cx="657860" cy="23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58161" y="438302"/>
            <a:ext cx="1042631" cy="246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56644" y="2692196"/>
            <a:ext cx="335915" cy="298450"/>
          </a:xfrm>
          <a:custGeom>
            <a:avLst/>
            <a:gdLst/>
            <a:ahLst/>
            <a:cxnLst/>
            <a:rect l="l" t="t" r="r" b="b"/>
            <a:pathLst>
              <a:path w="335914" h="298450">
                <a:moveTo>
                  <a:pt x="0" y="0"/>
                </a:moveTo>
                <a:lnTo>
                  <a:pt x="335914" y="0"/>
                </a:lnTo>
                <a:lnTo>
                  <a:pt x="335914" y="298449"/>
                </a:lnTo>
                <a:lnTo>
                  <a:pt x="0" y="298449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1469390"/>
            <a:ext cx="8000365" cy="152971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84150" marR="5080" indent="-171450">
              <a:lnSpc>
                <a:spcPts val="2570"/>
              </a:lnSpc>
              <a:spcBef>
                <a:spcPts val="44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宋体"/>
                <a:cs typeface="宋体"/>
              </a:rPr>
              <a:t>【说明】从</a:t>
            </a:r>
            <a:r>
              <a:rPr dirty="0" sz="2400" spc="-5">
                <a:latin typeface="Georgia"/>
                <a:cs typeface="Georgia"/>
              </a:rPr>
              <a:t>Java</a:t>
            </a:r>
            <a:r>
              <a:rPr dirty="0" sz="2400" spc="-45">
                <a:latin typeface="Georgia"/>
                <a:cs typeface="Georgia"/>
              </a:rPr>
              <a:t> </a:t>
            </a:r>
            <a:r>
              <a:rPr dirty="0" sz="2400" spc="-5">
                <a:latin typeface="Georgia"/>
                <a:cs typeface="Georgia"/>
              </a:rPr>
              <a:t>SE</a:t>
            </a:r>
            <a:r>
              <a:rPr dirty="0" sz="2400" spc="-40">
                <a:latin typeface="Georgia"/>
                <a:cs typeface="Georgia"/>
              </a:rPr>
              <a:t> </a:t>
            </a:r>
            <a:r>
              <a:rPr dirty="0" sz="2400" spc="-5">
                <a:latin typeface="Georgia"/>
                <a:cs typeface="Georgia"/>
              </a:rPr>
              <a:t>8</a:t>
            </a:r>
            <a:r>
              <a:rPr dirty="0" sz="2400">
                <a:latin typeface="宋体"/>
                <a:cs typeface="宋体"/>
              </a:rPr>
              <a:t>开始，等号右侧的“</a:t>
            </a:r>
            <a:r>
              <a:rPr dirty="0" sz="2400">
                <a:latin typeface="Georgia"/>
                <a:cs typeface="Georgia"/>
              </a:rPr>
              <a:t>&lt;&gt;</a:t>
            </a:r>
            <a:r>
              <a:rPr dirty="0" sz="2400">
                <a:latin typeface="宋体"/>
                <a:cs typeface="宋体"/>
              </a:rPr>
              <a:t>”中的泛型可 以不写，类型进行自动推断。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50">
              <a:latin typeface="宋体"/>
              <a:cs typeface="宋体"/>
            </a:endParaRPr>
          </a:p>
          <a:p>
            <a:pPr marL="1002030">
              <a:lnSpc>
                <a:spcPct val="100000"/>
              </a:lnSpc>
            </a:pPr>
            <a:r>
              <a:rPr dirty="0" sz="2000" spc="-5">
                <a:latin typeface="Georgia"/>
                <a:cs typeface="Georgia"/>
              </a:rPr>
              <a:t>Collection&lt;String&gt; </a:t>
            </a:r>
            <a:r>
              <a:rPr dirty="0" sz="2000">
                <a:latin typeface="Georgia"/>
                <a:cs typeface="Georgia"/>
              </a:rPr>
              <a:t>c = </a:t>
            </a:r>
            <a:r>
              <a:rPr dirty="0" sz="2000" spc="-5">
                <a:latin typeface="Georgia"/>
                <a:cs typeface="Georgia"/>
              </a:rPr>
              <a:t>new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ArrayList&lt;&gt;();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1103553" y="3189656"/>
            <a:ext cx="3719195" cy="116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35">
              <a:lnSpc>
                <a:spcPct val="125000"/>
              </a:lnSpc>
              <a:spcBef>
                <a:spcPts val="95"/>
              </a:spcBef>
            </a:pPr>
            <a:r>
              <a:rPr dirty="0" sz="2000" spc="-5">
                <a:latin typeface="Georgia"/>
                <a:cs typeface="Georgia"/>
              </a:rPr>
              <a:t>Iterator&lt;String&gt; it </a:t>
            </a:r>
            <a:r>
              <a:rPr dirty="0" sz="2000">
                <a:latin typeface="Georgia"/>
                <a:cs typeface="Georgia"/>
              </a:rPr>
              <a:t>= </a:t>
            </a:r>
            <a:r>
              <a:rPr dirty="0" sz="2000" spc="-5">
                <a:latin typeface="Georgia"/>
                <a:cs typeface="Georgia"/>
              </a:rPr>
              <a:t>c.iterator();  while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(it.hasNext()){</a:t>
            </a:r>
            <a:endParaRPr sz="2000">
              <a:latin typeface="Georgia"/>
              <a:cs typeface="Georgia"/>
            </a:endParaRPr>
          </a:p>
          <a:p>
            <a:pPr marL="657225">
              <a:lnSpc>
                <a:spcPct val="100000"/>
              </a:lnSpc>
              <a:spcBef>
                <a:spcPts val="600"/>
              </a:spcBef>
            </a:pPr>
            <a:r>
              <a:rPr dirty="0" sz="2000" spc="-5">
                <a:latin typeface="Georgia"/>
                <a:cs typeface="Georgia"/>
              </a:rPr>
              <a:t>String element </a:t>
            </a:r>
            <a:r>
              <a:rPr dirty="0" sz="2000">
                <a:latin typeface="Georgia"/>
                <a:cs typeface="Georgia"/>
              </a:rPr>
              <a:t>=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5">
                <a:latin typeface="Georgia"/>
                <a:cs typeface="Georgia"/>
              </a:rPr>
              <a:t>it.next();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6093" y="4027093"/>
            <a:ext cx="15347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0000"/>
                </a:solidFill>
                <a:latin typeface="Georgia"/>
                <a:cs typeface="Georgia"/>
              </a:rPr>
              <a:t>//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不需要强</a:t>
            </a:r>
            <a:r>
              <a:rPr dirty="0" sz="2000" spc="5">
                <a:solidFill>
                  <a:srgbClr val="FF0000"/>
                </a:solidFill>
                <a:latin typeface="宋体"/>
                <a:cs typeface="宋体"/>
              </a:rPr>
              <a:t>转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283" y="4332655"/>
            <a:ext cx="3945890" cy="787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658495">
              <a:lnSpc>
                <a:spcPct val="100000"/>
              </a:lnSpc>
              <a:spcBef>
                <a:spcPts val="700"/>
              </a:spcBef>
            </a:pPr>
            <a:r>
              <a:rPr dirty="0" sz="2000" spc="-5">
                <a:latin typeface="Georgia"/>
                <a:cs typeface="Georgia"/>
              </a:rPr>
              <a:t>System.out.println(element);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000">
                <a:latin typeface="Georgia"/>
                <a:cs typeface="Georgia"/>
              </a:rPr>
              <a:t>}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60" y="1988820"/>
            <a:ext cx="6408420" cy="4177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34121" y="4932260"/>
            <a:ext cx="3836035" cy="307340"/>
          </a:xfrm>
          <a:custGeom>
            <a:avLst/>
            <a:gdLst/>
            <a:ahLst/>
            <a:cxnLst/>
            <a:rect l="l" t="t" r="r" b="b"/>
            <a:pathLst>
              <a:path w="3836035" h="307339">
                <a:moveTo>
                  <a:pt x="3835476" y="307086"/>
                </a:moveTo>
                <a:lnTo>
                  <a:pt x="0" y="307086"/>
                </a:lnTo>
                <a:lnTo>
                  <a:pt x="0" y="0"/>
                </a:lnTo>
                <a:lnTo>
                  <a:pt x="3835476" y="0"/>
                </a:lnTo>
                <a:lnTo>
                  <a:pt x="383547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88036"/>
                </a:lnTo>
                <a:lnTo>
                  <a:pt x="9525" y="288036"/>
                </a:lnTo>
                <a:lnTo>
                  <a:pt x="19050" y="297561"/>
                </a:lnTo>
                <a:lnTo>
                  <a:pt x="3835476" y="297561"/>
                </a:lnTo>
                <a:lnTo>
                  <a:pt x="3835476" y="307086"/>
                </a:lnTo>
                <a:close/>
              </a:path>
              <a:path w="3836035" h="307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836035" h="307339">
                <a:moveTo>
                  <a:pt x="381642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816426" y="9525"/>
                </a:lnTo>
                <a:lnTo>
                  <a:pt x="3816426" y="19050"/>
                </a:lnTo>
                <a:close/>
              </a:path>
              <a:path w="3836035" h="307339">
                <a:moveTo>
                  <a:pt x="3816426" y="297561"/>
                </a:moveTo>
                <a:lnTo>
                  <a:pt x="3816426" y="9525"/>
                </a:lnTo>
                <a:lnTo>
                  <a:pt x="3825951" y="19050"/>
                </a:lnTo>
                <a:lnTo>
                  <a:pt x="3835476" y="19050"/>
                </a:lnTo>
                <a:lnTo>
                  <a:pt x="3835476" y="288036"/>
                </a:lnTo>
                <a:lnTo>
                  <a:pt x="3825951" y="288036"/>
                </a:lnTo>
                <a:lnTo>
                  <a:pt x="3816426" y="297561"/>
                </a:lnTo>
                <a:close/>
              </a:path>
              <a:path w="3836035" h="307339">
                <a:moveTo>
                  <a:pt x="3835476" y="19050"/>
                </a:moveTo>
                <a:lnTo>
                  <a:pt x="3825951" y="19050"/>
                </a:lnTo>
                <a:lnTo>
                  <a:pt x="3816426" y="9525"/>
                </a:lnTo>
                <a:lnTo>
                  <a:pt x="3835476" y="9525"/>
                </a:lnTo>
                <a:lnTo>
                  <a:pt x="3835476" y="19050"/>
                </a:lnTo>
                <a:close/>
              </a:path>
              <a:path w="3836035" h="307339">
                <a:moveTo>
                  <a:pt x="19050" y="297561"/>
                </a:moveTo>
                <a:lnTo>
                  <a:pt x="9525" y="288036"/>
                </a:lnTo>
                <a:lnTo>
                  <a:pt x="19050" y="288036"/>
                </a:lnTo>
                <a:lnTo>
                  <a:pt x="19050" y="297561"/>
                </a:lnTo>
                <a:close/>
              </a:path>
              <a:path w="3836035" h="307339">
                <a:moveTo>
                  <a:pt x="3816426" y="297561"/>
                </a:moveTo>
                <a:lnTo>
                  <a:pt x="19050" y="297561"/>
                </a:lnTo>
                <a:lnTo>
                  <a:pt x="19050" y="288036"/>
                </a:lnTo>
                <a:lnTo>
                  <a:pt x="3816426" y="288036"/>
                </a:lnTo>
                <a:lnTo>
                  <a:pt x="3816426" y="297561"/>
                </a:lnTo>
                <a:close/>
              </a:path>
              <a:path w="3836035" h="307339">
                <a:moveTo>
                  <a:pt x="3835476" y="297561"/>
                </a:moveTo>
                <a:lnTo>
                  <a:pt x="3816426" y="297561"/>
                </a:lnTo>
                <a:lnTo>
                  <a:pt x="3825951" y="288036"/>
                </a:lnTo>
                <a:lnTo>
                  <a:pt x="3835476" y="288036"/>
                </a:lnTo>
                <a:lnTo>
                  <a:pt x="3835476" y="297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3969" y="1459230"/>
            <a:ext cx="1974214" cy="1313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800">
                <a:latin typeface="宋体"/>
                <a:cs typeface="宋体"/>
              </a:rPr>
              <a:t>线性表结</a:t>
            </a:r>
            <a:r>
              <a:rPr dirty="0" sz="2800" spc="-5">
                <a:latin typeface="宋体"/>
                <a:cs typeface="宋体"/>
              </a:rPr>
              <a:t>构</a:t>
            </a:r>
            <a:endParaRPr sz="28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>
                <a:latin typeface="宋体"/>
                <a:cs typeface="宋体"/>
              </a:rPr>
              <a:t>顺序</a:t>
            </a:r>
            <a:r>
              <a:rPr dirty="0" sz="2800" spc="-5">
                <a:latin typeface="宋体"/>
                <a:cs typeface="宋体"/>
              </a:rPr>
              <a:t>表</a:t>
            </a:r>
            <a:endParaRPr sz="28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800">
                <a:latin typeface="宋体"/>
                <a:cs typeface="宋体"/>
              </a:rPr>
              <a:t>链</a:t>
            </a:r>
            <a:r>
              <a:rPr dirty="0" sz="2800" spc="-5">
                <a:latin typeface="宋体"/>
                <a:cs typeface="宋体"/>
              </a:rPr>
              <a:t>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45364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229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.3	L</a:t>
            </a:r>
            <a:r>
              <a:rPr dirty="0" sz="2100" spc="-5" b="1">
                <a:latin typeface="Georgia"/>
                <a:cs typeface="Georgia"/>
              </a:rPr>
              <a:t>is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及其实现</a:t>
            </a:r>
            <a:r>
              <a:rPr dirty="0" sz="2100" spc="-10" b="1">
                <a:latin typeface="宋体"/>
                <a:cs typeface="宋体"/>
              </a:rPr>
              <a:t>类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49070"/>
            <a:ext cx="8054340" cy="330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249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List</a:t>
            </a:r>
            <a:r>
              <a:rPr dirty="0" sz="2100">
                <a:latin typeface="宋体"/>
                <a:cs typeface="宋体"/>
              </a:rPr>
              <a:t>接口添加的</a:t>
            </a:r>
            <a:r>
              <a:rPr dirty="0" sz="2100" b="1">
                <a:latin typeface="宋体"/>
                <a:cs typeface="宋体"/>
              </a:rPr>
              <a:t>面向位置</a:t>
            </a:r>
            <a:r>
              <a:rPr dirty="0" sz="2100">
                <a:latin typeface="宋体"/>
                <a:cs typeface="宋体"/>
              </a:rPr>
              <a:t>的方法</a:t>
            </a:r>
            <a:endParaRPr sz="2100">
              <a:latin typeface="宋体"/>
              <a:cs typeface="宋体"/>
            </a:endParaRPr>
          </a:p>
          <a:p>
            <a:pPr lvl="1" marL="527050" marR="722630" indent="-171450">
              <a:lnSpc>
                <a:spcPct val="79900"/>
              </a:lnSpc>
              <a:spcBef>
                <a:spcPts val="40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void</a:t>
            </a:r>
            <a:r>
              <a:rPr dirty="0" sz="1800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add</a:t>
            </a:r>
            <a:r>
              <a:rPr dirty="0" sz="1800" spc="-5">
                <a:latin typeface="Georgia"/>
                <a:cs typeface="Georgia"/>
              </a:rPr>
              <a:t>(</a:t>
            </a:r>
            <a:r>
              <a:rPr dirty="0" sz="1800" spc="-5" b="1">
                <a:latin typeface="Georgia"/>
                <a:cs typeface="Georgia"/>
              </a:rPr>
              <a:t>int index</a:t>
            </a:r>
            <a:r>
              <a:rPr dirty="0" sz="1800" spc="-5">
                <a:latin typeface="Georgia"/>
                <a:cs typeface="Georgia"/>
              </a:rPr>
              <a:t>,</a:t>
            </a:r>
            <a:r>
              <a:rPr dirty="0" sz="1800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Object element)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在指定位置</a:t>
            </a:r>
            <a:r>
              <a:rPr dirty="0" sz="1800" spc="-5">
                <a:latin typeface="Georgia"/>
                <a:cs typeface="Georgia"/>
              </a:rPr>
              <a:t>index</a:t>
            </a:r>
            <a:r>
              <a:rPr dirty="0" sz="1800">
                <a:latin typeface="宋体"/>
                <a:cs typeface="宋体"/>
              </a:rPr>
              <a:t>上插入元素 </a:t>
            </a:r>
            <a:r>
              <a:rPr dirty="0" sz="1800" spc="-5">
                <a:latin typeface="Georgia"/>
                <a:cs typeface="Georgia"/>
              </a:rPr>
              <a:t>element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lvl="1" marL="527050" marR="87630" indent="-171450">
              <a:lnSpc>
                <a:spcPct val="7990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boolean</a:t>
            </a:r>
            <a:r>
              <a:rPr dirty="0" sz="1800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addAll</a:t>
            </a:r>
            <a:r>
              <a:rPr dirty="0" sz="1800" spc="-5">
                <a:latin typeface="Georgia"/>
                <a:cs typeface="Georgia"/>
              </a:rPr>
              <a:t>(</a:t>
            </a:r>
            <a:r>
              <a:rPr dirty="0" sz="1800" spc="-5" b="1">
                <a:latin typeface="Georgia"/>
                <a:cs typeface="Georgia"/>
              </a:rPr>
              <a:t>int index</a:t>
            </a:r>
            <a:r>
              <a:rPr dirty="0" sz="1800" spc="-5">
                <a:latin typeface="Georgia"/>
                <a:cs typeface="Georgia"/>
              </a:rPr>
              <a:t>,</a:t>
            </a:r>
            <a:r>
              <a:rPr dirty="0" sz="1800" spc="5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Collection</a:t>
            </a:r>
            <a:r>
              <a:rPr dirty="0" sz="1800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c)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指定位置</a:t>
            </a:r>
            <a:r>
              <a:rPr dirty="0" sz="1800" spc="-5">
                <a:latin typeface="Georgia"/>
                <a:cs typeface="Georgia"/>
              </a:rPr>
              <a:t>index</a:t>
            </a:r>
            <a:r>
              <a:rPr dirty="0" sz="1800">
                <a:latin typeface="宋体"/>
                <a:cs typeface="宋体"/>
              </a:rPr>
              <a:t>上插入集合</a:t>
            </a:r>
            <a:r>
              <a:rPr dirty="0" sz="1800" spc="-5">
                <a:latin typeface="Georgia"/>
                <a:cs typeface="Georgia"/>
              </a:rPr>
              <a:t>c</a:t>
            </a:r>
            <a:r>
              <a:rPr dirty="0" sz="1800">
                <a:latin typeface="宋体"/>
                <a:cs typeface="宋体"/>
              </a:rPr>
              <a:t>中的 所有元素，如果</a:t>
            </a:r>
            <a:r>
              <a:rPr dirty="0" sz="1800" spc="-5">
                <a:latin typeface="Georgia"/>
                <a:cs typeface="Georgia"/>
              </a:rPr>
              <a:t>List</a:t>
            </a:r>
            <a:r>
              <a:rPr dirty="0" sz="1800">
                <a:latin typeface="宋体"/>
                <a:cs typeface="宋体"/>
              </a:rPr>
              <a:t>对象发生变化返回</a:t>
            </a:r>
            <a:r>
              <a:rPr dirty="0" sz="1800" spc="-5">
                <a:latin typeface="Georgia"/>
                <a:cs typeface="Georgia"/>
              </a:rPr>
              <a:t>true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lvl="1" marL="527050" indent="-171450">
              <a:lnSpc>
                <a:spcPts val="207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Object</a:t>
            </a:r>
            <a:r>
              <a:rPr dirty="0" sz="1800" spc="-10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get</a:t>
            </a:r>
            <a:r>
              <a:rPr dirty="0" sz="1800" spc="-5">
                <a:latin typeface="Georgia"/>
                <a:cs typeface="Georgia"/>
              </a:rPr>
              <a:t>(</a:t>
            </a:r>
            <a:r>
              <a:rPr dirty="0" sz="1800" spc="-5" b="1">
                <a:latin typeface="Georgia"/>
                <a:cs typeface="Georgia"/>
              </a:rPr>
              <a:t>int index</a:t>
            </a:r>
            <a:r>
              <a:rPr dirty="0" sz="1800" spc="-5">
                <a:latin typeface="Georgia"/>
                <a:cs typeface="Georgia"/>
              </a:rPr>
              <a:t>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返回指定位置</a:t>
            </a:r>
            <a:r>
              <a:rPr dirty="0" sz="1800" spc="-5">
                <a:latin typeface="Georgia"/>
                <a:cs typeface="Georgia"/>
              </a:rPr>
              <a:t>index</a:t>
            </a:r>
            <a:r>
              <a:rPr dirty="0" sz="1800">
                <a:latin typeface="宋体"/>
                <a:cs typeface="宋体"/>
              </a:rPr>
              <a:t>上的元素。</a:t>
            </a:r>
            <a:endParaRPr sz="1800">
              <a:latin typeface="宋体"/>
              <a:cs typeface="宋体"/>
            </a:endParaRPr>
          </a:p>
          <a:p>
            <a:pPr lvl="1" marL="527050" indent="-171450">
              <a:lnSpc>
                <a:spcPts val="210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Object</a:t>
            </a:r>
            <a:r>
              <a:rPr dirty="0" sz="1800" spc="-10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remove</a:t>
            </a:r>
            <a:r>
              <a:rPr dirty="0" sz="1800" spc="-5">
                <a:latin typeface="Georgia"/>
                <a:cs typeface="Georgia"/>
              </a:rPr>
              <a:t>(</a:t>
            </a:r>
            <a:r>
              <a:rPr dirty="0" sz="1800" spc="-5" b="1">
                <a:latin typeface="Georgia"/>
                <a:cs typeface="Georgia"/>
              </a:rPr>
              <a:t>int index</a:t>
            </a:r>
            <a:r>
              <a:rPr dirty="0" sz="1800" spc="-5">
                <a:latin typeface="Georgia"/>
                <a:cs typeface="Georgia"/>
              </a:rPr>
              <a:t>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删除指定位置</a:t>
            </a:r>
            <a:r>
              <a:rPr dirty="0" sz="1800" spc="-5">
                <a:latin typeface="Georgia"/>
                <a:cs typeface="Georgia"/>
              </a:rPr>
              <a:t>index</a:t>
            </a:r>
            <a:r>
              <a:rPr dirty="0" sz="1800">
                <a:latin typeface="宋体"/>
                <a:cs typeface="宋体"/>
              </a:rPr>
              <a:t>上的元素。</a:t>
            </a:r>
            <a:endParaRPr sz="1800">
              <a:latin typeface="宋体"/>
              <a:cs typeface="宋体"/>
            </a:endParaRPr>
          </a:p>
          <a:p>
            <a:pPr lvl="1" marL="527050" marR="5080" indent="-171450">
              <a:lnSpc>
                <a:spcPct val="7920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Object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set</a:t>
            </a:r>
            <a:r>
              <a:rPr dirty="0" sz="1800" spc="-5">
                <a:latin typeface="Georgia"/>
                <a:cs typeface="Georgia"/>
              </a:rPr>
              <a:t>(</a:t>
            </a:r>
            <a:r>
              <a:rPr dirty="0" sz="1800" spc="-5" b="1">
                <a:latin typeface="Georgia"/>
                <a:cs typeface="Georgia"/>
              </a:rPr>
              <a:t>int index</a:t>
            </a:r>
            <a:r>
              <a:rPr dirty="0" sz="1800" spc="-5">
                <a:latin typeface="Georgia"/>
                <a:cs typeface="Georgia"/>
              </a:rPr>
              <a:t>,</a:t>
            </a:r>
            <a:r>
              <a:rPr dirty="0" sz="1800" spc="5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Object element)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用元素</a:t>
            </a:r>
            <a:r>
              <a:rPr dirty="0" sz="1800" spc="-5">
                <a:latin typeface="Georgia"/>
                <a:cs typeface="Georgia"/>
              </a:rPr>
              <a:t>element</a:t>
            </a:r>
            <a:r>
              <a:rPr dirty="0" sz="1800">
                <a:latin typeface="宋体"/>
                <a:cs typeface="宋体"/>
              </a:rPr>
              <a:t>取代位置</a:t>
            </a:r>
            <a:r>
              <a:rPr dirty="0" sz="1800" spc="-5">
                <a:latin typeface="Georgia"/>
                <a:cs typeface="Georgia"/>
              </a:rPr>
              <a:t>index</a:t>
            </a:r>
            <a:r>
              <a:rPr dirty="0" sz="1800">
                <a:latin typeface="宋体"/>
                <a:cs typeface="宋体"/>
              </a:rPr>
              <a:t>上的 元素，并且返回旧元素的取值。</a:t>
            </a:r>
            <a:endParaRPr sz="1800">
              <a:latin typeface="宋体"/>
              <a:cs typeface="宋体"/>
            </a:endParaRPr>
          </a:p>
          <a:p>
            <a:pPr lvl="1" marL="527050" marR="14604" indent="-171450">
              <a:lnSpc>
                <a:spcPct val="79900"/>
              </a:lnSpc>
              <a:spcBef>
                <a:spcPts val="39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public</a:t>
            </a:r>
            <a:r>
              <a:rPr dirty="0" sz="1800" spc="-10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int</a:t>
            </a:r>
            <a:r>
              <a:rPr dirty="0" sz="1800" spc="-30" b="1">
                <a:latin typeface="Georgia"/>
                <a:cs typeface="Georgia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indexOf</a:t>
            </a:r>
            <a:r>
              <a:rPr dirty="0" sz="1800" spc="-5">
                <a:latin typeface="Georgia"/>
                <a:cs typeface="Georgia"/>
              </a:rPr>
              <a:t>(Object obj)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从列表的头部开始向后搜索元素</a:t>
            </a:r>
            <a:r>
              <a:rPr dirty="0" sz="1800" spc="-5">
                <a:latin typeface="Georgia"/>
                <a:cs typeface="Georgia"/>
              </a:rPr>
              <a:t>obj</a:t>
            </a:r>
            <a:r>
              <a:rPr dirty="0" sz="1800" spc="-5">
                <a:latin typeface="宋体"/>
                <a:cs typeface="宋体"/>
              </a:rPr>
              <a:t>，</a:t>
            </a:r>
            <a:r>
              <a:rPr dirty="0" sz="1800">
                <a:latin typeface="宋体"/>
                <a:cs typeface="宋体"/>
              </a:rPr>
              <a:t>返回 第一个出现元素</a:t>
            </a:r>
            <a:r>
              <a:rPr dirty="0" sz="1800" spc="-5">
                <a:latin typeface="Georgia"/>
                <a:cs typeface="Georgia"/>
              </a:rPr>
              <a:t>obj</a:t>
            </a:r>
            <a:r>
              <a:rPr dirty="0" sz="1800">
                <a:latin typeface="宋体"/>
                <a:cs typeface="宋体"/>
              </a:rPr>
              <a:t>的位置，否则返回</a:t>
            </a:r>
            <a:r>
              <a:rPr dirty="0" sz="1800">
                <a:latin typeface="Georgia"/>
                <a:cs typeface="Georgia"/>
              </a:rPr>
              <a:t>-1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lvl="1" marL="527050" marR="33655" indent="-171450">
              <a:lnSpc>
                <a:spcPct val="79900"/>
              </a:lnSpc>
              <a:spcBef>
                <a:spcPts val="37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public</a:t>
            </a:r>
            <a:r>
              <a:rPr dirty="0" sz="1800" spc="-10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int </a:t>
            </a:r>
            <a:r>
              <a:rPr dirty="0" sz="1800" spc="-5">
                <a:solidFill>
                  <a:srgbClr val="C00000"/>
                </a:solidFill>
                <a:latin typeface="Georgia"/>
                <a:cs typeface="Georgia"/>
              </a:rPr>
              <a:t>lastIndexOf</a:t>
            </a:r>
            <a:r>
              <a:rPr dirty="0" sz="1800" spc="-5">
                <a:latin typeface="Georgia"/>
                <a:cs typeface="Georgia"/>
              </a:rPr>
              <a:t>(Object obj)</a:t>
            </a:r>
            <a:r>
              <a:rPr dirty="0" sz="1800">
                <a:latin typeface="Georgia"/>
                <a:cs typeface="Georgia"/>
              </a:rPr>
              <a:t> </a:t>
            </a:r>
            <a:r>
              <a:rPr dirty="0" sz="1800">
                <a:latin typeface="宋体"/>
                <a:cs typeface="宋体"/>
              </a:rPr>
              <a:t>：从列表的尾部开始向前搜索元素</a:t>
            </a:r>
            <a:r>
              <a:rPr dirty="0" sz="1800" spc="-5">
                <a:latin typeface="Georgia"/>
                <a:cs typeface="Georgia"/>
              </a:rPr>
              <a:t>obj</a:t>
            </a:r>
            <a:r>
              <a:rPr dirty="0" sz="1800" spc="-5">
                <a:latin typeface="宋体"/>
                <a:cs typeface="宋体"/>
              </a:rPr>
              <a:t>，  </a:t>
            </a:r>
            <a:r>
              <a:rPr dirty="0" sz="1800">
                <a:latin typeface="宋体"/>
                <a:cs typeface="宋体"/>
              </a:rPr>
              <a:t>返回第一个出现元素</a:t>
            </a:r>
            <a:r>
              <a:rPr dirty="0" sz="1800" spc="-5">
                <a:latin typeface="Georgia"/>
                <a:cs typeface="Georgia"/>
              </a:rPr>
              <a:t>obj</a:t>
            </a:r>
            <a:r>
              <a:rPr dirty="0" sz="1800">
                <a:latin typeface="宋体"/>
                <a:cs typeface="宋体"/>
              </a:rPr>
              <a:t>的位置，否则返回</a:t>
            </a:r>
            <a:r>
              <a:rPr dirty="0" sz="1800">
                <a:latin typeface="Georgia"/>
                <a:cs typeface="Georgia"/>
              </a:rPr>
              <a:t>-1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8681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073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b="1">
                <a:latin typeface="Georgia"/>
                <a:cs typeface="Georgia"/>
              </a:rPr>
              <a:t>.1	L</a:t>
            </a:r>
            <a:r>
              <a:rPr dirty="0" sz="2100" spc="-5" b="1">
                <a:latin typeface="Georgia"/>
                <a:cs typeface="Georgia"/>
              </a:rPr>
              <a:t>is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86817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073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b="1">
                <a:latin typeface="Georgia"/>
                <a:cs typeface="Georgia"/>
              </a:rPr>
              <a:t>.1	L</a:t>
            </a:r>
            <a:r>
              <a:rPr dirty="0" sz="2100" spc="-5" b="1">
                <a:latin typeface="Georgia"/>
                <a:cs typeface="Georgia"/>
              </a:rPr>
              <a:t>is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88595" y="1450657"/>
            <a:ext cx="7898765" cy="157353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2100">
                <a:latin typeface="宋体"/>
                <a:cs typeface="宋体"/>
              </a:rPr>
              <a:t>【例</a:t>
            </a:r>
            <a:r>
              <a:rPr dirty="0" sz="2100" spc="-5">
                <a:latin typeface="Georgia"/>
                <a:cs typeface="Georgia"/>
              </a:rPr>
              <a:t>8-2</a:t>
            </a:r>
            <a:r>
              <a:rPr dirty="0" sz="2100">
                <a:latin typeface="宋体"/>
                <a:cs typeface="宋体"/>
              </a:rPr>
              <a:t>】示范</a:t>
            </a:r>
            <a:r>
              <a:rPr dirty="0" sz="2100" spc="-5">
                <a:latin typeface="Georgia"/>
                <a:cs typeface="Georgia"/>
              </a:rPr>
              <a:t>List</a:t>
            </a:r>
            <a:r>
              <a:rPr dirty="0" sz="2100">
                <a:latin typeface="宋体"/>
                <a:cs typeface="宋体"/>
              </a:rPr>
              <a:t>的常规用法。</a:t>
            </a:r>
            <a:endParaRPr sz="2100">
              <a:latin typeface="宋体"/>
              <a:cs typeface="宋体"/>
            </a:endParaRPr>
          </a:p>
          <a:p>
            <a:pPr marL="417195" marR="5080" indent="-171450">
              <a:lnSpc>
                <a:spcPts val="1930"/>
              </a:lnSpc>
              <a:spcBef>
                <a:spcPts val="42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宋体"/>
                <a:cs typeface="宋体"/>
              </a:rPr>
              <a:t>向</a:t>
            </a:r>
            <a:r>
              <a:rPr dirty="0" sz="1800" spc="-5">
                <a:latin typeface="Georgia"/>
                <a:cs typeface="Georgia"/>
              </a:rPr>
              <a:t>Li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t</a:t>
            </a:r>
            <a:r>
              <a:rPr dirty="0" sz="1800">
                <a:latin typeface="宋体"/>
                <a:cs typeface="宋体"/>
              </a:rPr>
              <a:t>集合添加几个字符串，按索引位置进行插入、修改、删除、查找等操 作，并打印集合（根据索引位置遍历集合中的元素）。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宋体"/>
              <a:cs typeface="宋体"/>
            </a:endParaRPr>
          </a:p>
          <a:p>
            <a:pPr marL="653415">
              <a:lnSpc>
                <a:spcPct val="100000"/>
              </a:lnSpc>
            </a:pPr>
            <a:r>
              <a:rPr dirty="0" sz="1800" spc="-5">
                <a:latin typeface="Georgia"/>
                <a:cs typeface="Georgia"/>
              </a:rPr>
              <a:t>Example:ListDemo.java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0657"/>
            <a:ext cx="7959090" cy="263017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 b="1">
                <a:latin typeface="Georgia"/>
                <a:cs typeface="Georgia"/>
              </a:rPr>
              <a:t>1</a:t>
            </a:r>
            <a:r>
              <a:rPr dirty="0" sz="2100" spc="-5" b="1">
                <a:latin typeface="宋体"/>
                <a:cs typeface="宋体"/>
              </a:rPr>
              <a:t>．</a:t>
            </a:r>
            <a:r>
              <a:rPr dirty="0" sz="2100" spc="-5" b="1">
                <a:latin typeface="Georgia"/>
                <a:cs typeface="Georgia"/>
              </a:rPr>
              <a:t>ArrayList</a:t>
            </a:r>
            <a:r>
              <a:rPr dirty="0" sz="2100" b="1">
                <a:latin typeface="宋体"/>
                <a:cs typeface="宋体"/>
              </a:rPr>
              <a:t>的底</a:t>
            </a:r>
            <a:r>
              <a:rPr dirty="0" sz="2100" spc="-10" b="1">
                <a:latin typeface="宋体"/>
                <a:cs typeface="宋体"/>
              </a:rPr>
              <a:t>层</a:t>
            </a:r>
            <a:endParaRPr sz="21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ArrayList</a:t>
            </a:r>
            <a:r>
              <a:rPr dirty="0" sz="1800">
                <a:latin typeface="宋体"/>
                <a:cs typeface="宋体"/>
              </a:rPr>
              <a:t>是</a:t>
            </a:r>
            <a:r>
              <a:rPr dirty="0" sz="1800" spc="-5">
                <a:latin typeface="Georgia"/>
                <a:cs typeface="Georgia"/>
              </a:rPr>
              <a:t>List</a:t>
            </a:r>
            <a:r>
              <a:rPr dirty="0" sz="1800">
                <a:latin typeface="宋体"/>
                <a:cs typeface="宋体"/>
              </a:rPr>
              <a:t>的实现类，它封装了一个可以动态再分配的</a:t>
            </a:r>
            <a:r>
              <a:rPr dirty="0" sz="1800" spc="-5">
                <a:latin typeface="Georgia"/>
                <a:cs typeface="Georgia"/>
              </a:rPr>
              <a:t>Object[]</a:t>
            </a:r>
            <a:r>
              <a:rPr dirty="0" sz="1800">
                <a:latin typeface="宋体"/>
                <a:cs typeface="宋体"/>
              </a:rPr>
              <a:t>数组。</a:t>
            </a:r>
            <a:endParaRPr sz="1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19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ArrayList</a:t>
            </a:r>
            <a:r>
              <a:rPr dirty="0" sz="1800">
                <a:latin typeface="宋体"/>
                <a:cs typeface="宋体"/>
              </a:rPr>
              <a:t>中的常用方法包括：</a:t>
            </a:r>
            <a:endParaRPr sz="1800">
              <a:latin typeface="宋体"/>
              <a:cs typeface="宋体"/>
            </a:endParaRPr>
          </a:p>
          <a:p>
            <a:pPr lvl="2" marL="1107440" indent="-464184">
              <a:lnSpc>
                <a:spcPts val="1710"/>
              </a:lnSpc>
              <a:spcBef>
                <a:spcPts val="200"/>
              </a:spcBef>
              <a:buSzPct val="93333"/>
              <a:buFont typeface=""/>
              <a:buAutoNum type="arabicPlain"/>
              <a:tabLst>
                <a:tab pos="1107440" algn="l"/>
              </a:tabLst>
            </a:pPr>
            <a:r>
              <a:rPr dirty="0" sz="1500" spc="-5">
                <a:latin typeface="Georgia"/>
                <a:cs typeface="Georgia"/>
              </a:rPr>
              <a:t>ArrayList()</a:t>
            </a:r>
            <a:r>
              <a:rPr dirty="0" sz="1500" spc="-5">
                <a:latin typeface="宋体"/>
                <a:cs typeface="宋体"/>
              </a:rPr>
              <a:t>：</a:t>
            </a:r>
            <a:r>
              <a:rPr dirty="0" sz="1500">
                <a:latin typeface="宋体"/>
                <a:cs typeface="宋体"/>
              </a:rPr>
              <a:t>从</a:t>
            </a:r>
            <a:r>
              <a:rPr dirty="0" sz="1500" spc="-5">
                <a:latin typeface="Georgia"/>
                <a:cs typeface="Georgia"/>
              </a:rPr>
              <a:t>Java SE </a:t>
            </a:r>
            <a:r>
              <a:rPr dirty="0" sz="1500">
                <a:latin typeface="Georgia"/>
                <a:cs typeface="Georgia"/>
              </a:rPr>
              <a:t>8</a:t>
            </a:r>
            <a:r>
              <a:rPr dirty="0" sz="1500" spc="-5">
                <a:latin typeface="Georgia"/>
                <a:cs typeface="Georgia"/>
              </a:rPr>
              <a:t> </a:t>
            </a:r>
            <a:r>
              <a:rPr dirty="0" sz="1500">
                <a:latin typeface="宋体"/>
                <a:cs typeface="宋体"/>
              </a:rPr>
              <a:t>开始</a:t>
            </a:r>
            <a:r>
              <a:rPr dirty="0" sz="1500" spc="-5">
                <a:latin typeface="宋体"/>
                <a:cs typeface="宋体"/>
              </a:rPr>
              <a:t>，</a:t>
            </a:r>
            <a:r>
              <a:rPr dirty="0" sz="1500" spc="-5">
                <a:latin typeface="Georgia"/>
                <a:cs typeface="Georgia"/>
              </a:rPr>
              <a:t>ArrayList()</a:t>
            </a:r>
            <a:r>
              <a:rPr dirty="0" sz="1500">
                <a:latin typeface="宋体"/>
                <a:cs typeface="宋体"/>
              </a:rPr>
              <a:t>初始化时得到一个空数组，在第一次</a:t>
            </a:r>
            <a:endParaRPr sz="1500">
              <a:latin typeface="宋体"/>
              <a:cs typeface="宋体"/>
            </a:endParaRPr>
          </a:p>
          <a:p>
            <a:pPr marL="643255">
              <a:lnSpc>
                <a:spcPts val="1710"/>
              </a:lnSpc>
            </a:pPr>
            <a:r>
              <a:rPr dirty="0" sz="1500" spc="-5">
                <a:latin typeface="Georgia"/>
                <a:cs typeface="Georgia"/>
              </a:rPr>
              <a:t>add()</a:t>
            </a:r>
            <a:r>
              <a:rPr dirty="0" sz="1500">
                <a:latin typeface="宋体"/>
                <a:cs typeface="宋体"/>
              </a:rPr>
              <a:t>运算时将数组扩容为</a:t>
            </a:r>
            <a:r>
              <a:rPr dirty="0" sz="1500" spc="-5">
                <a:latin typeface="Georgia"/>
                <a:cs typeface="Georgia"/>
              </a:rPr>
              <a:t>10</a:t>
            </a:r>
            <a:r>
              <a:rPr dirty="0" sz="1500">
                <a:latin typeface="宋体"/>
                <a:cs typeface="宋体"/>
              </a:rPr>
              <a:t>。</a:t>
            </a:r>
            <a:endParaRPr sz="1500">
              <a:latin typeface="宋体"/>
              <a:cs typeface="宋体"/>
            </a:endParaRPr>
          </a:p>
          <a:p>
            <a:pPr lvl="2" marL="1132205" indent="-488950">
              <a:lnSpc>
                <a:spcPts val="1710"/>
              </a:lnSpc>
              <a:spcBef>
                <a:spcPts val="195"/>
              </a:spcBef>
              <a:buSzPct val="93333"/>
              <a:buFont typeface=""/>
              <a:buAutoNum type="arabicPlain" startAt="2"/>
              <a:tabLst>
                <a:tab pos="1132205" algn="l"/>
              </a:tabLst>
            </a:pPr>
            <a:r>
              <a:rPr dirty="0" sz="1500" spc="-5">
                <a:latin typeface="Georgia"/>
                <a:cs typeface="Georgia"/>
              </a:rPr>
              <a:t>ArrayList(int</a:t>
            </a:r>
            <a:r>
              <a:rPr dirty="0" sz="1500" spc="20">
                <a:latin typeface="Georgia"/>
                <a:cs typeface="Georgia"/>
              </a:rPr>
              <a:t> </a:t>
            </a:r>
            <a:r>
              <a:rPr dirty="0" sz="1500" spc="-5">
                <a:latin typeface="Georgia"/>
                <a:cs typeface="Georgia"/>
              </a:rPr>
              <a:t>initialCapacity)</a:t>
            </a:r>
            <a:r>
              <a:rPr dirty="0" sz="1500" spc="-5">
                <a:latin typeface="宋体"/>
                <a:cs typeface="宋体"/>
              </a:rPr>
              <a:t>：</a:t>
            </a:r>
            <a:r>
              <a:rPr dirty="0" sz="1500">
                <a:latin typeface="宋体"/>
                <a:cs typeface="宋体"/>
              </a:rPr>
              <a:t>创建</a:t>
            </a:r>
            <a:r>
              <a:rPr dirty="0" sz="1500" spc="-5">
                <a:latin typeface="Georgia"/>
                <a:cs typeface="Georgia"/>
              </a:rPr>
              <a:t>ArrayList</a:t>
            </a:r>
            <a:r>
              <a:rPr dirty="0" sz="1500" spc="25">
                <a:latin typeface="Georgia"/>
                <a:cs typeface="Georgia"/>
              </a:rPr>
              <a:t> </a:t>
            </a:r>
            <a:r>
              <a:rPr dirty="0" sz="1500">
                <a:latin typeface="宋体"/>
                <a:cs typeface="宋体"/>
              </a:rPr>
              <a:t>对象，使用参数</a:t>
            </a:r>
            <a:r>
              <a:rPr dirty="0" sz="1500" spc="-5">
                <a:latin typeface="Georgia"/>
                <a:cs typeface="Georgia"/>
              </a:rPr>
              <a:t>initialCapacity</a:t>
            </a:r>
            <a:r>
              <a:rPr dirty="0" sz="1500">
                <a:latin typeface="宋体"/>
                <a:cs typeface="宋体"/>
              </a:rPr>
              <a:t>设置</a:t>
            </a:r>
            <a:endParaRPr sz="1500">
              <a:latin typeface="宋体"/>
              <a:cs typeface="宋体"/>
            </a:endParaRPr>
          </a:p>
          <a:p>
            <a:pPr marL="643255">
              <a:lnSpc>
                <a:spcPts val="1710"/>
              </a:lnSpc>
            </a:pPr>
            <a:r>
              <a:rPr dirty="0" sz="1500" spc="-5">
                <a:latin typeface="Georgia"/>
                <a:cs typeface="Georgia"/>
              </a:rPr>
              <a:t>Object[]</a:t>
            </a:r>
            <a:r>
              <a:rPr dirty="0" sz="1500">
                <a:latin typeface="宋体"/>
                <a:cs typeface="宋体"/>
              </a:rPr>
              <a:t>数组的长度。</a:t>
            </a:r>
            <a:endParaRPr sz="1500">
              <a:latin typeface="宋体"/>
              <a:cs typeface="宋体"/>
            </a:endParaRPr>
          </a:p>
          <a:p>
            <a:pPr lvl="2" marL="643255" marR="30480">
              <a:lnSpc>
                <a:spcPts val="1610"/>
              </a:lnSpc>
              <a:spcBef>
                <a:spcPts val="409"/>
              </a:spcBef>
              <a:buSzPct val="93333"/>
              <a:buFont typeface=""/>
              <a:buAutoNum type="arabicPlain" startAt="3"/>
              <a:tabLst>
                <a:tab pos="1130935" algn="l"/>
              </a:tabLst>
            </a:pPr>
            <a:r>
              <a:rPr dirty="0" sz="1500" spc="-5">
                <a:latin typeface="Georgia"/>
                <a:cs typeface="Georgia"/>
              </a:rPr>
              <a:t>ensureCapacity():</a:t>
            </a:r>
            <a:r>
              <a:rPr dirty="0" sz="1500">
                <a:latin typeface="宋体"/>
                <a:cs typeface="宋体"/>
              </a:rPr>
              <a:t>如果要向</a:t>
            </a:r>
            <a:r>
              <a:rPr dirty="0" sz="1500" spc="-5">
                <a:latin typeface="Georgia"/>
                <a:cs typeface="Georgia"/>
              </a:rPr>
              <a:t>ArrayList</a:t>
            </a:r>
            <a:r>
              <a:rPr dirty="0" sz="1500">
                <a:latin typeface="宋体"/>
                <a:cs typeface="宋体"/>
              </a:rPr>
              <a:t>中添加大量元素，可使用此方法对</a:t>
            </a:r>
            <a:r>
              <a:rPr dirty="0" sz="1500" spc="-5">
                <a:latin typeface="Georgia"/>
                <a:cs typeface="Georgia"/>
              </a:rPr>
              <a:t>Object[]</a:t>
            </a:r>
            <a:r>
              <a:rPr dirty="0" sz="1500">
                <a:latin typeface="宋体"/>
                <a:cs typeface="宋体"/>
              </a:rPr>
              <a:t>数 组进行指定的扩容。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15709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93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b="1">
                <a:latin typeface="Georgia"/>
                <a:cs typeface="Georgia"/>
              </a:rPr>
              <a:t>.2	</a:t>
            </a:r>
            <a:r>
              <a:rPr dirty="0" sz="2100" spc="-5" b="1">
                <a:latin typeface="Georgia"/>
                <a:cs typeface="Georgia"/>
              </a:rPr>
              <a:t>Array</a:t>
            </a: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is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0657"/>
            <a:ext cx="3817620" cy="117284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447675" indent="-434975">
              <a:lnSpc>
                <a:spcPct val="100000"/>
              </a:lnSpc>
              <a:spcBef>
                <a:spcPts val="290"/>
              </a:spcBef>
              <a:buSzPct val="95238"/>
              <a:buFont typeface="Georgia"/>
              <a:buAutoNum type="arabicPeriod" startAt="2"/>
              <a:tabLst>
                <a:tab pos="447675" algn="l"/>
              </a:tabLst>
            </a:pPr>
            <a:r>
              <a:rPr dirty="0" sz="2100" b="1">
                <a:latin typeface="宋体"/>
                <a:cs typeface="宋体"/>
              </a:rPr>
              <a:t>关于</a:t>
            </a:r>
            <a:r>
              <a:rPr dirty="0" sz="2100" spc="-5" b="1">
                <a:latin typeface="Georgia"/>
                <a:cs typeface="Georgia"/>
              </a:rPr>
              <a:t>remove()</a:t>
            </a:r>
            <a:r>
              <a:rPr dirty="0" sz="2100" b="1">
                <a:latin typeface="宋体"/>
                <a:cs typeface="宋体"/>
              </a:rPr>
              <a:t>方</a:t>
            </a:r>
            <a:r>
              <a:rPr dirty="0" sz="2100" spc="-10" b="1">
                <a:latin typeface="宋体"/>
                <a:cs typeface="宋体"/>
              </a:rPr>
              <a:t>法</a:t>
            </a:r>
            <a:endParaRPr sz="2100">
              <a:latin typeface="宋体"/>
              <a:cs typeface="宋体"/>
            </a:endParaRPr>
          </a:p>
          <a:p>
            <a:pPr lvl="1" marL="417195" indent="-171450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 spc="-5">
                <a:latin typeface="Georgia"/>
                <a:cs typeface="Georgia"/>
              </a:rPr>
              <a:t>Collection</a:t>
            </a:r>
            <a:r>
              <a:rPr dirty="0" sz="1800">
                <a:latin typeface="宋体"/>
                <a:cs typeface="宋体"/>
              </a:rPr>
              <a:t>接口中的</a:t>
            </a:r>
            <a:r>
              <a:rPr dirty="0" sz="1800" spc="-5">
                <a:latin typeface="Georgia"/>
                <a:cs typeface="Georgia"/>
              </a:rPr>
              <a:t>remove()</a:t>
            </a:r>
            <a:r>
              <a:rPr dirty="0" sz="1800">
                <a:latin typeface="宋体"/>
                <a:cs typeface="宋体"/>
              </a:rPr>
              <a:t>方法</a:t>
            </a:r>
            <a:endParaRPr sz="1800">
              <a:latin typeface="宋体"/>
              <a:cs typeface="宋体"/>
            </a:endParaRPr>
          </a:p>
          <a:p>
            <a:pPr lvl="2" marL="760095" indent="-17145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1500" spc="-5">
                <a:latin typeface="Georgia"/>
                <a:cs typeface="Georgia"/>
              </a:rPr>
              <a:t>boolean </a:t>
            </a:r>
            <a:r>
              <a:rPr dirty="0" sz="1500" spc="-5" b="1">
                <a:latin typeface="Georgia"/>
                <a:cs typeface="Georgia"/>
              </a:rPr>
              <a:t>remove</a:t>
            </a:r>
            <a:r>
              <a:rPr dirty="0" sz="1500" spc="-5">
                <a:latin typeface="Georgia"/>
                <a:cs typeface="Georgia"/>
              </a:rPr>
              <a:t>(Object obj)</a:t>
            </a:r>
            <a:endParaRPr sz="1500">
              <a:latin typeface="Georgia"/>
              <a:cs typeface="Georgia"/>
            </a:endParaRPr>
          </a:p>
          <a:p>
            <a:pPr lvl="2" marL="760095" indent="-171450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1500" spc="-5">
                <a:latin typeface="Georgia"/>
                <a:cs typeface="Georgia"/>
              </a:rPr>
              <a:t>boolean</a:t>
            </a:r>
            <a:r>
              <a:rPr dirty="0" sz="1500" spc="-10">
                <a:latin typeface="Georgia"/>
                <a:cs typeface="Georgia"/>
              </a:rPr>
              <a:t> </a:t>
            </a:r>
            <a:r>
              <a:rPr dirty="0" sz="1500" spc="-5" b="1">
                <a:latin typeface="Georgia"/>
                <a:cs typeface="Georgia"/>
              </a:rPr>
              <a:t>removeAll</a:t>
            </a:r>
            <a:r>
              <a:rPr dirty="0" sz="1500" spc="-5">
                <a:latin typeface="Georgia"/>
                <a:cs typeface="Georgia"/>
              </a:rPr>
              <a:t>(Collection c)</a:t>
            </a:r>
            <a:r>
              <a:rPr dirty="0" sz="1500">
                <a:latin typeface="宋体"/>
                <a:cs typeface="宋体"/>
              </a:rPr>
              <a:t>。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15709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93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</a:t>
            </a: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b="1">
                <a:latin typeface="Georgia"/>
                <a:cs typeface="Georgia"/>
              </a:rPr>
              <a:t>.2	</a:t>
            </a:r>
            <a:r>
              <a:rPr dirty="0" sz="2100" spc="-5" b="1">
                <a:latin typeface="Georgia"/>
                <a:cs typeface="Georgia"/>
              </a:rPr>
              <a:t>Array</a:t>
            </a:r>
            <a:r>
              <a:rPr dirty="0" sz="2100" b="1">
                <a:latin typeface="Georgia"/>
                <a:cs typeface="Georgia"/>
              </a:rPr>
              <a:t>L</a:t>
            </a:r>
            <a:r>
              <a:rPr dirty="0" sz="2100" spc="-5" b="1">
                <a:latin typeface="Georgia"/>
                <a:cs typeface="Georgia"/>
              </a:rPr>
              <a:t>is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868" y="3933444"/>
            <a:ext cx="1853183" cy="2031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06370" y="3447415"/>
            <a:ext cx="5573395" cy="1857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002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使用迭代器循环迭代的过程中，是不能用这</a:t>
            </a:r>
            <a:r>
              <a:rPr dirty="0" sz="2000" spc="5">
                <a:solidFill>
                  <a:srgbClr val="FF0000"/>
                </a:solidFill>
                <a:latin typeface="宋体"/>
                <a:cs typeface="宋体"/>
              </a:rPr>
              <a:t>些 </a:t>
            </a:r>
            <a:r>
              <a:rPr dirty="0" sz="2000" spc="-5">
                <a:solidFill>
                  <a:srgbClr val="FF0000"/>
                </a:solidFill>
                <a:latin typeface="Georgia"/>
                <a:cs typeface="Georgia"/>
              </a:rPr>
              <a:t>remove()</a:t>
            </a:r>
            <a:r>
              <a:rPr dirty="0" sz="2000">
                <a:solidFill>
                  <a:srgbClr val="FF0000"/>
                </a:solidFill>
                <a:latin typeface="宋体"/>
                <a:cs typeface="宋体"/>
              </a:rPr>
              <a:t>方法删除集合元素的</a:t>
            </a:r>
            <a:r>
              <a:rPr dirty="0" sz="2000">
                <a:latin typeface="宋体"/>
                <a:cs typeface="宋体"/>
              </a:rPr>
              <a:t>，因为</a:t>
            </a:r>
            <a:r>
              <a:rPr dirty="0" sz="2000" spc="-5">
                <a:latin typeface="Georgia"/>
                <a:cs typeface="Georgia"/>
              </a:rPr>
              <a:t>Collection  </a:t>
            </a:r>
            <a:r>
              <a:rPr dirty="0" sz="2000">
                <a:latin typeface="宋体"/>
                <a:cs typeface="宋体"/>
              </a:rPr>
              <a:t>和</a:t>
            </a:r>
            <a:r>
              <a:rPr dirty="0" sz="2000" spc="-5">
                <a:latin typeface="Georgia"/>
                <a:cs typeface="Georgia"/>
              </a:rPr>
              <a:t>List</a:t>
            </a:r>
            <a:r>
              <a:rPr dirty="0" sz="2000">
                <a:latin typeface="宋体"/>
                <a:cs typeface="宋体"/>
              </a:rPr>
              <a:t>中定义的</a:t>
            </a:r>
            <a:r>
              <a:rPr dirty="0" sz="2000" spc="-5">
                <a:latin typeface="Georgia"/>
                <a:cs typeface="Georgia"/>
              </a:rPr>
              <a:t>re</a:t>
            </a:r>
            <a:r>
              <a:rPr dirty="0" sz="2000" spc="-10">
                <a:latin typeface="Georgia"/>
                <a:cs typeface="Georgia"/>
              </a:rPr>
              <a:t>m</a:t>
            </a:r>
            <a:r>
              <a:rPr dirty="0" sz="2000" spc="-5">
                <a:latin typeface="Georgia"/>
                <a:cs typeface="Georgia"/>
              </a:rPr>
              <a:t>ove()</a:t>
            </a:r>
            <a:r>
              <a:rPr dirty="0" sz="2000">
                <a:latin typeface="宋体"/>
                <a:cs typeface="宋体"/>
              </a:rPr>
              <a:t>方法对迭代器的修改</a:t>
            </a:r>
            <a:r>
              <a:rPr dirty="0" sz="2000">
                <a:latin typeface="宋体"/>
                <a:cs typeface="宋体"/>
              </a:rPr>
              <a:t>， </a:t>
            </a:r>
            <a:r>
              <a:rPr dirty="0" sz="2000">
                <a:latin typeface="宋体"/>
                <a:cs typeface="宋体"/>
              </a:rPr>
              <a:t>与迭代器本身的管理不能同步，从而会引</a:t>
            </a:r>
            <a:r>
              <a:rPr dirty="0" sz="2000" spc="5">
                <a:latin typeface="宋体"/>
                <a:cs typeface="宋体"/>
              </a:rPr>
              <a:t>发 </a:t>
            </a:r>
            <a:r>
              <a:rPr dirty="0" sz="2000" spc="-5">
                <a:latin typeface="Georgia"/>
                <a:cs typeface="Georgia"/>
              </a:rPr>
              <a:t>ConcurrentModificationException</a:t>
            </a:r>
            <a:r>
              <a:rPr dirty="0" sz="2000">
                <a:latin typeface="宋体"/>
                <a:cs typeface="宋体"/>
              </a:rPr>
              <a:t>异常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 spc="-5">
                <a:latin typeface="Georgia"/>
                <a:cs typeface="Georgia"/>
              </a:rPr>
              <a:t>RemoveDemo.java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73200"/>
            <a:ext cx="7931150" cy="101790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宋体"/>
                <a:cs typeface="宋体"/>
              </a:rPr>
              <a:t>链表：采用“按需分配”的原则为每个对象分配独立的存储空间（ 称为结点），并在每个结点中存放序列中下一个结点的引用。</a:t>
            </a:r>
            <a:endParaRPr sz="21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Java</a:t>
            </a:r>
            <a:r>
              <a:rPr dirty="0" sz="2100">
                <a:latin typeface="宋体"/>
                <a:cs typeface="宋体"/>
              </a:rPr>
              <a:t>中的链表是双链表，每个结点还存放它前面结点的引用。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23272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294" algn="l"/>
              </a:tabLst>
            </a:pPr>
            <a:r>
              <a:rPr dirty="0" sz="2100" spc="-5" b="1">
                <a:latin typeface="Georgia"/>
                <a:cs typeface="Georgia"/>
              </a:rPr>
              <a:t>8.3.3	LinkedList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5567" y="3933444"/>
            <a:ext cx="6498315" cy="9481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805" y="2276475"/>
            <a:ext cx="7628255" cy="108648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  <a:buSzPct val="94444"/>
              <a:buAutoNum type="arabicPlain"/>
              <a:tabLst>
                <a:tab pos="568960" algn="l"/>
              </a:tabLst>
            </a:pPr>
            <a:r>
              <a:rPr dirty="0" sz="1800">
                <a:latin typeface="宋体"/>
                <a:cs typeface="宋体"/>
              </a:rPr>
              <a:t>如果经常要存取</a:t>
            </a:r>
            <a:r>
              <a:rPr dirty="0" sz="1800" spc="-5">
                <a:latin typeface="Georgia"/>
                <a:cs typeface="Georgia"/>
              </a:rPr>
              <a:t>Li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t</a:t>
            </a:r>
            <a:r>
              <a:rPr dirty="0" sz="1800">
                <a:latin typeface="宋体"/>
                <a:cs typeface="宋体"/>
              </a:rPr>
              <a:t>集合中的元素，那么使用</a:t>
            </a:r>
            <a:r>
              <a:rPr dirty="0" sz="1800">
                <a:latin typeface="Georgia"/>
                <a:cs typeface="Georgia"/>
              </a:rPr>
              <a:t>A</a:t>
            </a:r>
            <a:r>
              <a:rPr dirty="0" sz="1800" spc="-5">
                <a:latin typeface="Georgia"/>
                <a:cs typeface="Georgia"/>
              </a:rPr>
              <a:t>rrayLi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t</a:t>
            </a:r>
            <a:r>
              <a:rPr dirty="0" sz="1800">
                <a:latin typeface="宋体"/>
                <a:cs typeface="宋体"/>
              </a:rPr>
              <a:t>采用随机访问的 形式</a:t>
            </a: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Georgia"/>
                <a:cs typeface="Georgia"/>
              </a:rPr>
              <a:t>get(index)</a:t>
            </a:r>
            <a:r>
              <a:rPr dirty="0" sz="1800" spc="-5">
                <a:latin typeface="宋体"/>
                <a:cs typeface="宋体"/>
              </a:rPr>
              <a:t>，</a:t>
            </a:r>
            <a:r>
              <a:rPr dirty="0" sz="1800" spc="-5">
                <a:latin typeface="Georgia"/>
                <a:cs typeface="Georgia"/>
              </a:rPr>
              <a:t>set(index ,Object element)</a:t>
            </a:r>
            <a:r>
              <a:rPr dirty="0" sz="1800" spc="-5">
                <a:latin typeface="宋体"/>
                <a:cs typeface="宋体"/>
              </a:rPr>
              <a:t>）</a:t>
            </a:r>
            <a:r>
              <a:rPr dirty="0" sz="1800">
                <a:latin typeface="宋体"/>
                <a:cs typeface="宋体"/>
              </a:rPr>
              <a:t>性能更好。</a:t>
            </a:r>
            <a:endParaRPr sz="1800">
              <a:latin typeface="宋体"/>
              <a:cs typeface="宋体"/>
            </a:endParaRPr>
          </a:p>
          <a:p>
            <a:pPr marL="12700" marR="11430">
              <a:lnSpc>
                <a:spcPts val="1939"/>
              </a:lnSpc>
              <a:spcBef>
                <a:spcPts val="375"/>
              </a:spcBef>
              <a:buSzPct val="94444"/>
              <a:buAutoNum type="arabicPlain"/>
              <a:tabLst>
                <a:tab pos="598170" algn="l"/>
              </a:tabLst>
            </a:pPr>
            <a:r>
              <a:rPr dirty="0" sz="1800">
                <a:latin typeface="宋体"/>
                <a:cs typeface="宋体"/>
              </a:rPr>
              <a:t>如果要经常执行插入、删除操作，或者改变</a:t>
            </a:r>
            <a:r>
              <a:rPr dirty="0" sz="1800" spc="-5">
                <a:latin typeface="Georgia"/>
                <a:cs typeface="Georgia"/>
              </a:rPr>
              <a:t>Li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t</a:t>
            </a:r>
            <a:r>
              <a:rPr dirty="0" sz="1800">
                <a:latin typeface="宋体"/>
                <a:cs typeface="宋体"/>
              </a:rPr>
              <a:t>集合的大小，则应该使 用</a:t>
            </a:r>
            <a:r>
              <a:rPr dirty="0" sz="1800" spc="-5">
                <a:latin typeface="Georgia"/>
                <a:cs typeface="Georgia"/>
              </a:rPr>
              <a:t>LinkedList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32727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294" algn="l"/>
              </a:tabLst>
            </a:pPr>
            <a:r>
              <a:rPr dirty="0" sz="2100" spc="-5" b="1">
                <a:latin typeface="Georgia"/>
                <a:cs typeface="Georgia"/>
              </a:rPr>
              <a:t>8.3.3	LinkedList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304" y="1508975"/>
            <a:ext cx="53282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选择</a:t>
            </a:r>
            <a:r>
              <a:rPr dirty="0" sz="2800" spc="-5">
                <a:latin typeface="Georgia"/>
                <a:cs typeface="Georgia"/>
              </a:rPr>
              <a:t>ArrayList</a:t>
            </a:r>
            <a:r>
              <a:rPr dirty="0" sz="2800">
                <a:latin typeface="宋体"/>
                <a:cs typeface="宋体"/>
              </a:rPr>
              <a:t>还是</a:t>
            </a:r>
            <a:r>
              <a:rPr dirty="0" sz="2800" spc="-5">
                <a:latin typeface="Georgia"/>
                <a:cs typeface="Georgia"/>
              </a:rPr>
              <a:t>LinkedList</a:t>
            </a:r>
            <a:r>
              <a:rPr dirty="0" sz="2800" spc="-5">
                <a:latin typeface="宋体"/>
                <a:cs typeface="宋体"/>
              </a:rPr>
              <a:t>？？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14144"/>
            <a:ext cx="6701790" cy="13785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Georgia"/>
                <a:cs typeface="Georgia"/>
              </a:rPr>
              <a:t>S</a:t>
            </a:r>
            <a:r>
              <a:rPr dirty="0" sz="2100" spc="-5">
                <a:latin typeface="Georgia"/>
                <a:cs typeface="Georgia"/>
              </a:rPr>
              <a:t>e</a:t>
            </a:r>
            <a:r>
              <a:rPr dirty="0" sz="2100">
                <a:latin typeface="Georgia"/>
                <a:cs typeface="Georgia"/>
              </a:rPr>
              <a:t>t</a:t>
            </a:r>
            <a:r>
              <a:rPr dirty="0" sz="2100">
                <a:latin typeface="宋体"/>
                <a:cs typeface="宋体"/>
              </a:rPr>
              <a:t>按照无序（不太准确）、不允许重复的方式存放对象</a:t>
            </a:r>
            <a:endParaRPr sz="21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宋体"/>
                <a:cs typeface="宋体"/>
              </a:rPr>
              <a:t>实现类</a:t>
            </a:r>
            <a:endParaRPr sz="21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HashSet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基于散列结构</a:t>
            </a:r>
            <a:endParaRPr sz="18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TreeSet</a:t>
            </a:r>
            <a:r>
              <a:rPr dirty="0" sz="1800" spc="-5">
                <a:latin typeface="宋体"/>
                <a:cs typeface="宋体"/>
              </a:rPr>
              <a:t>：</a:t>
            </a:r>
            <a:r>
              <a:rPr dirty="0" sz="1800">
                <a:latin typeface="宋体"/>
                <a:cs typeface="宋体"/>
              </a:rPr>
              <a:t>基于查找树结构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237299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	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及其实现</a:t>
            </a:r>
            <a:r>
              <a:rPr dirty="0" sz="2100" spc="-10" b="1">
                <a:latin typeface="宋体"/>
                <a:cs typeface="宋体"/>
              </a:rPr>
              <a:t>类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4435" y="1475104"/>
            <a:ext cx="5756910" cy="1878964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84150" marR="5080" indent="-171450">
              <a:lnSpc>
                <a:spcPct val="89600"/>
              </a:lnSpc>
              <a:spcBef>
                <a:spcPts val="36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Set</a:t>
            </a:r>
            <a:r>
              <a:rPr dirty="0" sz="2100">
                <a:latin typeface="宋体"/>
                <a:cs typeface="宋体"/>
              </a:rPr>
              <a:t>接口继承自</a:t>
            </a:r>
            <a:r>
              <a:rPr dirty="0" sz="2100" spc="-5">
                <a:latin typeface="Georgia"/>
                <a:cs typeface="Georgia"/>
              </a:rPr>
              <a:t>Collection</a:t>
            </a:r>
            <a:r>
              <a:rPr dirty="0" sz="2100" spc="-25">
                <a:latin typeface="Georgia"/>
                <a:cs typeface="Georgia"/>
              </a:rPr>
              <a:t> </a:t>
            </a:r>
            <a:r>
              <a:rPr dirty="0" sz="2100">
                <a:latin typeface="宋体"/>
                <a:cs typeface="宋体"/>
              </a:rPr>
              <a:t>接口，它没有引入新 方法，所以</a:t>
            </a:r>
            <a:r>
              <a:rPr dirty="0" sz="2100">
                <a:latin typeface="Georgia"/>
                <a:cs typeface="Georgia"/>
              </a:rPr>
              <a:t>S</a:t>
            </a:r>
            <a:r>
              <a:rPr dirty="0" sz="2100" spc="-5">
                <a:latin typeface="Georgia"/>
                <a:cs typeface="Georgia"/>
              </a:rPr>
              <a:t>e</a:t>
            </a:r>
            <a:r>
              <a:rPr dirty="0" sz="2100">
                <a:latin typeface="Georgia"/>
                <a:cs typeface="Georgia"/>
              </a:rPr>
              <a:t>t</a:t>
            </a:r>
            <a:r>
              <a:rPr dirty="0" sz="2100">
                <a:latin typeface="宋体"/>
                <a:cs typeface="宋体"/>
              </a:rPr>
              <a:t>就是一个</a:t>
            </a:r>
            <a:r>
              <a:rPr dirty="0" sz="2100">
                <a:latin typeface="Georgia"/>
                <a:cs typeface="Georgia"/>
              </a:rPr>
              <a:t>C</a:t>
            </a:r>
            <a:r>
              <a:rPr dirty="0" sz="2100" spc="-5">
                <a:latin typeface="Georgia"/>
                <a:cs typeface="Georgia"/>
              </a:rPr>
              <a:t>olle</a:t>
            </a:r>
            <a:r>
              <a:rPr dirty="0" sz="2100">
                <a:latin typeface="Georgia"/>
                <a:cs typeface="Georgia"/>
              </a:rPr>
              <a:t>ct</a:t>
            </a:r>
            <a:r>
              <a:rPr dirty="0" sz="2100" spc="-5">
                <a:latin typeface="Georgia"/>
                <a:cs typeface="Georgia"/>
              </a:rPr>
              <a:t>ion</a:t>
            </a:r>
            <a:r>
              <a:rPr dirty="0" sz="2100">
                <a:latin typeface="宋体"/>
                <a:cs typeface="宋体"/>
              </a:rPr>
              <a:t>，只是行为方 式不同。</a:t>
            </a:r>
            <a:endParaRPr sz="2100">
              <a:latin typeface="宋体"/>
              <a:cs typeface="宋体"/>
            </a:endParaRPr>
          </a:p>
          <a:p>
            <a:pPr marL="184150" marR="127000" indent="-171450">
              <a:lnSpc>
                <a:spcPct val="89900"/>
              </a:lnSpc>
              <a:spcBef>
                <a:spcPts val="76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Georgia"/>
                <a:cs typeface="Georgia"/>
              </a:rPr>
              <a:t>S</a:t>
            </a:r>
            <a:r>
              <a:rPr dirty="0" sz="2100" spc="-5">
                <a:latin typeface="Georgia"/>
                <a:cs typeface="Georgia"/>
              </a:rPr>
              <a:t>e</a:t>
            </a:r>
            <a:r>
              <a:rPr dirty="0" sz="2100">
                <a:latin typeface="Georgia"/>
                <a:cs typeface="Georgia"/>
              </a:rPr>
              <a:t>t</a:t>
            </a:r>
            <a:r>
              <a:rPr dirty="0" sz="2100">
                <a:latin typeface="宋体"/>
                <a:cs typeface="宋体"/>
              </a:rPr>
              <a:t>不允许集合中存在重复项，如果试图将两个 相同的元素加入同一个集合，则添加无效，  </a:t>
            </a:r>
            <a:r>
              <a:rPr dirty="0" sz="2100" spc="-5">
                <a:latin typeface="Georgia"/>
                <a:cs typeface="Georgia"/>
              </a:rPr>
              <a:t>add()</a:t>
            </a:r>
            <a:r>
              <a:rPr dirty="0" sz="2100">
                <a:latin typeface="宋体"/>
                <a:cs typeface="宋体"/>
              </a:rPr>
              <a:t>方法返回</a:t>
            </a:r>
            <a:r>
              <a:rPr dirty="0" sz="2100" spc="-5">
                <a:latin typeface="Georgia"/>
                <a:cs typeface="Georgia"/>
              </a:rPr>
              <a:t>false</a:t>
            </a:r>
            <a:r>
              <a:rPr dirty="0" sz="2100">
                <a:latin typeface="宋体"/>
                <a:cs typeface="宋体"/>
              </a:rPr>
              <a:t>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178752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772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.4.1	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178752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772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.4.1	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450657"/>
            <a:ext cx="8195945" cy="275399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Set</a:t>
            </a:r>
            <a:r>
              <a:rPr dirty="0" sz="2100">
                <a:latin typeface="宋体"/>
                <a:cs typeface="宋体"/>
              </a:rPr>
              <a:t>依赖数据元素的</a:t>
            </a:r>
            <a:r>
              <a:rPr dirty="0" sz="2100" spc="-5">
                <a:latin typeface="Georgia"/>
                <a:cs typeface="Georgia"/>
              </a:rPr>
              <a:t>equals()</a:t>
            </a:r>
            <a:r>
              <a:rPr dirty="0" sz="2100">
                <a:latin typeface="宋体"/>
                <a:cs typeface="宋体"/>
              </a:rPr>
              <a:t>方法检查对象的唯一性</a:t>
            </a:r>
            <a:endParaRPr sz="2100">
              <a:latin typeface="宋体"/>
              <a:cs typeface="宋体"/>
            </a:endParaRPr>
          </a:p>
          <a:p>
            <a:pPr lvl="1" marL="527050" marR="165100" indent="-171450">
              <a:lnSpc>
                <a:spcPts val="193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宋体"/>
                <a:cs typeface="宋体"/>
              </a:rPr>
              <a:t>只要两个对象使用</a:t>
            </a:r>
            <a:r>
              <a:rPr dirty="0" sz="1800" spc="-5">
                <a:latin typeface="Georgia"/>
                <a:cs typeface="Georgia"/>
              </a:rPr>
              <a:t>equa</a:t>
            </a:r>
            <a:r>
              <a:rPr dirty="0" sz="1800">
                <a:latin typeface="Georgia"/>
                <a:cs typeface="Georgia"/>
              </a:rPr>
              <a:t>ls()</a:t>
            </a:r>
            <a:r>
              <a:rPr dirty="0" sz="1800">
                <a:latin typeface="宋体"/>
                <a:cs typeface="宋体"/>
              </a:rPr>
              <a:t>方法比较的结果为</a:t>
            </a:r>
            <a:r>
              <a:rPr dirty="0" sz="1800" spc="-5">
                <a:latin typeface="Georgia"/>
                <a:cs typeface="Georgia"/>
              </a:rPr>
              <a:t>true</a:t>
            </a:r>
            <a:r>
              <a:rPr dirty="0" sz="1800">
                <a:latin typeface="宋体"/>
                <a:cs typeface="宋体"/>
              </a:rPr>
              <a:t>，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宋体"/>
                <a:cs typeface="宋体"/>
              </a:rPr>
              <a:t>就会拒绝后一个对象 的加入（哪怕它们实际上是不同的对象）；</a:t>
            </a:r>
            <a:endParaRPr sz="1800">
              <a:latin typeface="宋体"/>
              <a:cs typeface="宋体"/>
            </a:endParaRPr>
          </a:p>
          <a:p>
            <a:pPr lvl="1" marL="527050" marR="343535" indent="-171450">
              <a:lnSpc>
                <a:spcPts val="1930"/>
              </a:lnSpc>
              <a:spcBef>
                <a:spcPts val="39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宋体"/>
                <a:cs typeface="宋体"/>
              </a:rPr>
              <a:t>只要两个对象使用</a:t>
            </a:r>
            <a:r>
              <a:rPr dirty="0" sz="1800" spc="-5">
                <a:latin typeface="Georgia"/>
                <a:cs typeface="Georgia"/>
              </a:rPr>
              <a:t>equa</a:t>
            </a:r>
            <a:r>
              <a:rPr dirty="0" sz="1800">
                <a:latin typeface="Georgia"/>
                <a:cs typeface="Georgia"/>
              </a:rPr>
              <a:t>ls()</a:t>
            </a:r>
            <a:r>
              <a:rPr dirty="0" sz="1800">
                <a:latin typeface="宋体"/>
                <a:cs typeface="宋体"/>
              </a:rPr>
              <a:t>方法比较的结果为</a:t>
            </a:r>
            <a:r>
              <a:rPr dirty="0" sz="1800" spc="-5">
                <a:latin typeface="Georgia"/>
                <a:cs typeface="Georgia"/>
              </a:rPr>
              <a:t>fa</a:t>
            </a:r>
            <a:r>
              <a:rPr dirty="0" sz="1800">
                <a:latin typeface="Georgia"/>
                <a:cs typeface="Georgia"/>
              </a:rPr>
              <a:t>ls</a:t>
            </a:r>
            <a:r>
              <a:rPr dirty="0" sz="1800" spc="-5">
                <a:latin typeface="Georgia"/>
                <a:cs typeface="Georgia"/>
              </a:rPr>
              <a:t>e</a:t>
            </a:r>
            <a:r>
              <a:rPr dirty="0" sz="1800">
                <a:latin typeface="宋体"/>
                <a:cs typeface="宋体"/>
              </a:rPr>
              <a:t>，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宋体"/>
                <a:cs typeface="宋体"/>
              </a:rPr>
              <a:t>就会接纳后一个对 象（哪怕它们实际上是相同的对象）。</a:t>
            </a:r>
            <a:endParaRPr sz="1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1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1650">
              <a:latin typeface="宋体"/>
              <a:cs typeface="宋体"/>
            </a:endParaRPr>
          </a:p>
          <a:p>
            <a:pPr lvl="2" marL="2821305" marR="5080" indent="-342900">
              <a:lnSpc>
                <a:spcPct val="100000"/>
              </a:lnSpc>
              <a:buFont typeface="Arial"/>
              <a:buChar char="•"/>
              <a:tabLst>
                <a:tab pos="2820670" algn="l"/>
                <a:tab pos="2821940" algn="l"/>
              </a:tabLst>
            </a:pPr>
            <a:r>
              <a:rPr dirty="0" sz="2400">
                <a:solidFill>
                  <a:srgbClr val="C00000"/>
                </a:solidFill>
                <a:latin typeface="宋体"/>
                <a:cs typeface="宋体"/>
              </a:rPr>
              <a:t>使用</a:t>
            </a:r>
            <a:r>
              <a:rPr dirty="0" sz="2400" spc="-5">
                <a:solidFill>
                  <a:srgbClr val="C00000"/>
                </a:solidFill>
                <a:latin typeface="Georgia"/>
                <a:cs typeface="Georgia"/>
              </a:rPr>
              <a:t>Set</a:t>
            </a:r>
            <a:r>
              <a:rPr dirty="0" sz="2400">
                <a:solidFill>
                  <a:srgbClr val="C00000"/>
                </a:solidFill>
                <a:latin typeface="宋体"/>
                <a:cs typeface="宋体"/>
              </a:rPr>
              <a:t>存放对象时，重写该对象所在类 的</a:t>
            </a:r>
            <a:r>
              <a:rPr dirty="0" sz="2400" spc="-5">
                <a:solidFill>
                  <a:srgbClr val="C00000"/>
                </a:solidFill>
                <a:latin typeface="Georgia"/>
                <a:cs typeface="Georgia"/>
              </a:rPr>
              <a:t>e</a:t>
            </a:r>
            <a:r>
              <a:rPr dirty="0" sz="2400">
                <a:solidFill>
                  <a:srgbClr val="C00000"/>
                </a:solidFill>
                <a:latin typeface="Georgia"/>
                <a:cs typeface="Georgia"/>
              </a:rPr>
              <a:t>q</a:t>
            </a:r>
            <a:r>
              <a:rPr dirty="0" sz="2400" spc="-5">
                <a:solidFill>
                  <a:srgbClr val="C00000"/>
                </a:solidFill>
                <a:latin typeface="Georgia"/>
                <a:cs typeface="Georgia"/>
              </a:rPr>
              <a:t>u</a:t>
            </a:r>
            <a:r>
              <a:rPr dirty="0" sz="2400">
                <a:solidFill>
                  <a:srgbClr val="C00000"/>
                </a:solidFill>
                <a:latin typeface="Georgia"/>
                <a:cs typeface="Georgia"/>
              </a:rPr>
              <a:t>a</a:t>
            </a:r>
            <a:r>
              <a:rPr dirty="0" sz="2400" spc="-5">
                <a:solidFill>
                  <a:srgbClr val="C00000"/>
                </a:solidFill>
                <a:latin typeface="Georgia"/>
                <a:cs typeface="Georgia"/>
              </a:rPr>
              <a:t>ls</a:t>
            </a:r>
            <a:r>
              <a:rPr dirty="0" sz="2400">
                <a:solidFill>
                  <a:srgbClr val="C00000"/>
                </a:solidFill>
                <a:latin typeface="Georgia"/>
                <a:cs typeface="Georgia"/>
              </a:rPr>
              <a:t>()</a:t>
            </a:r>
            <a:r>
              <a:rPr dirty="0" sz="2400">
                <a:solidFill>
                  <a:srgbClr val="C00000"/>
                </a:solidFill>
                <a:latin typeface="宋体"/>
                <a:cs typeface="宋体"/>
              </a:rPr>
              <a:t>方法、制定正确的比较规则。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2311" y="4509515"/>
            <a:ext cx="1292352" cy="1415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1480820"/>
            <a:ext cx="7544434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2045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 spc="-5">
                <a:latin typeface="Georgia"/>
                <a:cs typeface="Georgia"/>
              </a:rPr>
              <a:t>HashSet</a:t>
            </a:r>
            <a:r>
              <a:rPr dirty="0" sz="1800">
                <a:latin typeface="宋体"/>
                <a:cs typeface="宋体"/>
              </a:rPr>
              <a:t>是</a:t>
            </a:r>
            <a:r>
              <a:rPr dirty="0" sz="1800" spc="-5">
                <a:latin typeface="Georgia"/>
                <a:cs typeface="Georgia"/>
              </a:rPr>
              <a:t>Set</a:t>
            </a:r>
            <a:r>
              <a:rPr dirty="0" sz="1800">
                <a:latin typeface="宋体"/>
                <a:cs typeface="宋体"/>
              </a:rPr>
              <a:t>的实现类，它基于可以实现快速查找的散列表</a:t>
            </a:r>
            <a:r>
              <a:rPr dirty="0" sz="1800" spc="-5">
                <a:latin typeface="宋体"/>
                <a:cs typeface="宋体"/>
              </a:rPr>
              <a:t>（</a:t>
            </a:r>
            <a:r>
              <a:rPr dirty="0" sz="1800" spc="-5">
                <a:latin typeface="Georgia"/>
                <a:cs typeface="Georgia"/>
              </a:rPr>
              <a:t>Hash</a:t>
            </a:r>
            <a:r>
              <a:rPr dirty="0" sz="1800" spc="-35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Table</a:t>
            </a:r>
            <a:endParaRPr sz="1800">
              <a:latin typeface="Georgia"/>
              <a:cs typeface="Georgia"/>
            </a:endParaRPr>
          </a:p>
          <a:p>
            <a:pPr marL="184150">
              <a:lnSpc>
                <a:spcPts val="2045"/>
              </a:lnSpc>
            </a:pPr>
            <a:r>
              <a:rPr dirty="0" sz="1800">
                <a:latin typeface="宋体"/>
                <a:cs typeface="宋体"/>
              </a:rPr>
              <a:t>）结构。</a:t>
            </a:r>
            <a:endParaRPr sz="1800">
              <a:latin typeface="宋体"/>
              <a:cs typeface="宋体"/>
            </a:endParaRPr>
          </a:p>
          <a:p>
            <a:pPr marL="184150" marR="36830" indent="-171450">
              <a:lnSpc>
                <a:spcPts val="1939"/>
              </a:lnSpc>
              <a:spcBef>
                <a:spcPts val="4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宋体"/>
                <a:cs typeface="宋体"/>
              </a:rPr>
              <a:t>散列表采用按照数据的取值计算数据存储地址的策略，实现对象的“定位  ”存放，相应也提高了查找效率。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51523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r>
              <a:rPr dirty="0" sz="2100" b="1">
                <a:latin typeface="宋体"/>
                <a:cs typeface="宋体"/>
              </a:rPr>
              <a:t>的底层结</a:t>
            </a:r>
            <a:r>
              <a:rPr dirty="0" sz="2100" spc="-10" b="1">
                <a:latin typeface="宋体"/>
                <a:cs typeface="宋体"/>
              </a:rPr>
              <a:t>构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9451" y="3259835"/>
            <a:ext cx="4036492" cy="2709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59503" y="3937660"/>
            <a:ext cx="3880485" cy="17392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9259" indent="-416559">
              <a:lnSpc>
                <a:spcPct val="100000"/>
              </a:lnSpc>
              <a:spcBef>
                <a:spcPts val="105"/>
              </a:spcBef>
              <a:buFont typeface="Georgia"/>
              <a:buAutoNum type="arabicParenBoth"/>
              <a:tabLst>
                <a:tab pos="429259" algn="l"/>
              </a:tabLst>
            </a:pPr>
            <a:r>
              <a:rPr dirty="0" sz="2000" b="1">
                <a:latin typeface="宋体"/>
                <a:cs typeface="宋体"/>
              </a:rPr>
              <a:t>对象定位</a:t>
            </a:r>
            <a:r>
              <a:rPr dirty="0" sz="2000" b="1">
                <a:latin typeface="Georgia"/>
                <a:cs typeface="Georgia"/>
              </a:rPr>
              <a:t>--</a:t>
            </a:r>
            <a:r>
              <a:rPr dirty="0" sz="2000" spc="-20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hashCode()</a:t>
            </a:r>
            <a:r>
              <a:rPr dirty="0" sz="2000" b="1">
                <a:latin typeface="宋体"/>
                <a:cs typeface="宋体"/>
              </a:rPr>
              <a:t>方</a:t>
            </a:r>
            <a:r>
              <a:rPr dirty="0" sz="2000" spc="-5" b="1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 marL="464184" indent="-451484">
              <a:lnSpc>
                <a:spcPct val="100000"/>
              </a:lnSpc>
              <a:spcBef>
                <a:spcPts val="1475"/>
              </a:spcBef>
              <a:buFont typeface="Georgia"/>
              <a:buAutoNum type="arabicParenBoth"/>
              <a:tabLst>
                <a:tab pos="464184" algn="l"/>
              </a:tabLst>
            </a:pPr>
            <a:r>
              <a:rPr dirty="0" sz="2000" b="1">
                <a:latin typeface="宋体"/>
                <a:cs typeface="宋体"/>
              </a:rPr>
              <a:t>对象查重</a:t>
            </a:r>
            <a:r>
              <a:rPr dirty="0" sz="2000" b="1">
                <a:latin typeface="Georgia"/>
                <a:cs typeface="Georgia"/>
              </a:rPr>
              <a:t>--</a:t>
            </a:r>
            <a:r>
              <a:rPr dirty="0" sz="2000" spc="-10" b="1">
                <a:latin typeface="Georgia"/>
                <a:cs typeface="Georgia"/>
              </a:rPr>
              <a:t> </a:t>
            </a:r>
            <a:r>
              <a:rPr dirty="0" sz="2000" spc="-5" b="1">
                <a:latin typeface="Georgia"/>
                <a:cs typeface="Georgia"/>
              </a:rPr>
              <a:t>equals()</a:t>
            </a:r>
            <a:r>
              <a:rPr dirty="0" sz="2000" b="1">
                <a:latin typeface="宋体"/>
                <a:cs typeface="宋体"/>
              </a:rPr>
              <a:t>方</a:t>
            </a:r>
            <a:r>
              <a:rPr dirty="0" sz="2000" spc="-5" b="1">
                <a:latin typeface="宋体"/>
                <a:cs typeface="宋体"/>
              </a:rPr>
              <a:t>法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宋体"/>
              <a:cs typeface="宋体"/>
            </a:endParaRPr>
          </a:p>
          <a:p>
            <a:pPr marL="38735" marR="5080">
              <a:lnSpc>
                <a:spcPct val="100000"/>
              </a:lnSpc>
            </a:pP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注意：重写两个方法，保证二者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的 </a:t>
            </a:r>
            <a:r>
              <a:rPr dirty="0" sz="2000" b="1">
                <a:solidFill>
                  <a:srgbClr val="FF0000"/>
                </a:solidFill>
                <a:latin typeface="宋体"/>
                <a:cs typeface="宋体"/>
              </a:rPr>
              <a:t>计算依据相</a:t>
            </a:r>
            <a:r>
              <a:rPr dirty="0" sz="2000" spc="-5" b="1">
                <a:solidFill>
                  <a:srgbClr val="FF0000"/>
                </a:solidFill>
                <a:latin typeface="宋体"/>
                <a:cs typeface="宋体"/>
              </a:rPr>
              <a:t>同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00850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91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595" y="1475104"/>
            <a:ext cx="8062595" cy="290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7675" indent="-434975">
              <a:lnSpc>
                <a:spcPct val="100000"/>
              </a:lnSpc>
              <a:spcBef>
                <a:spcPts val="100"/>
              </a:spcBef>
              <a:buSzPct val="95238"/>
              <a:buFont typeface="Georgia"/>
              <a:buAutoNum type="arabicPeriod" startAt="2"/>
              <a:tabLst>
                <a:tab pos="447675" algn="l"/>
              </a:tabLst>
            </a:pPr>
            <a:r>
              <a:rPr dirty="0" sz="2100" b="1">
                <a:latin typeface="宋体"/>
                <a:cs typeface="宋体"/>
              </a:rPr>
              <a:t>散列码和</a:t>
            </a:r>
            <a:r>
              <a:rPr dirty="0" sz="2100" spc="-5" b="1">
                <a:latin typeface="Georgia"/>
                <a:cs typeface="Georgia"/>
              </a:rPr>
              <a:t>hashCode()</a:t>
            </a:r>
            <a:r>
              <a:rPr dirty="0" sz="2100" b="1">
                <a:latin typeface="宋体"/>
                <a:cs typeface="宋体"/>
              </a:rPr>
              <a:t>方</a:t>
            </a:r>
            <a:r>
              <a:rPr dirty="0" sz="2100" spc="-10" b="1">
                <a:latin typeface="宋体"/>
                <a:cs typeface="宋体"/>
              </a:rPr>
              <a:t>法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buFont typeface="Georgia"/>
              <a:buAutoNum type="arabicPeriod" startAt="2"/>
            </a:pPr>
            <a:endParaRPr sz="2650">
              <a:latin typeface="宋体"/>
              <a:cs typeface="宋体"/>
            </a:endParaRPr>
          </a:p>
          <a:p>
            <a:pPr algn="just" lvl="1" marL="2945765" marR="35560" indent="-342900">
              <a:lnSpc>
                <a:spcPct val="99700"/>
              </a:lnSpc>
              <a:buFont typeface="Arial"/>
              <a:buChar char="•"/>
              <a:tabLst>
                <a:tab pos="2945765" algn="l"/>
              </a:tabLst>
            </a:pPr>
            <a:r>
              <a:rPr dirty="0" sz="2000">
                <a:latin typeface="宋体"/>
                <a:cs typeface="宋体"/>
              </a:rPr>
              <a:t>要将对象存储在基于散列结构的</a:t>
            </a:r>
            <a:r>
              <a:rPr dirty="0" sz="2000" spc="-5">
                <a:latin typeface="Georgia"/>
                <a:cs typeface="Georgia"/>
              </a:rPr>
              <a:t>HashSet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 spc="5">
                <a:latin typeface="宋体"/>
                <a:cs typeface="宋体"/>
              </a:rPr>
              <a:t>自 </a:t>
            </a:r>
            <a:r>
              <a:rPr dirty="0" sz="2000">
                <a:latin typeface="宋体"/>
                <a:cs typeface="宋体"/>
              </a:rPr>
              <a:t>定义类必须按规则重写</a:t>
            </a:r>
            <a:r>
              <a:rPr dirty="0" sz="2000" spc="-5">
                <a:latin typeface="Georgia"/>
                <a:cs typeface="Georgia"/>
              </a:rPr>
              <a:t>Object</a:t>
            </a:r>
            <a:r>
              <a:rPr dirty="0" sz="2000">
                <a:latin typeface="宋体"/>
                <a:cs typeface="宋体"/>
              </a:rPr>
              <a:t>中的</a:t>
            </a:r>
            <a:r>
              <a:rPr dirty="0" sz="2000" spc="-5">
                <a:solidFill>
                  <a:srgbClr val="C00000"/>
                </a:solidFill>
                <a:latin typeface="Georgia"/>
                <a:cs typeface="Georgia"/>
              </a:rPr>
              <a:t>hashCode</a:t>
            </a:r>
            <a:r>
              <a:rPr dirty="0" sz="2000" spc="-5">
                <a:latin typeface="Georgia"/>
                <a:cs typeface="Georgia"/>
              </a:rPr>
              <a:t>(</a:t>
            </a:r>
            <a:r>
              <a:rPr dirty="0" sz="2000">
                <a:latin typeface="Georgia"/>
                <a:cs typeface="Georgia"/>
              </a:rPr>
              <a:t>) </a:t>
            </a:r>
            <a:r>
              <a:rPr dirty="0" sz="2000">
                <a:latin typeface="宋体"/>
                <a:cs typeface="宋体"/>
              </a:rPr>
              <a:t>方法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1" marL="2945765" marR="5080" indent="-342900">
              <a:lnSpc>
                <a:spcPct val="99800"/>
              </a:lnSpc>
              <a:spcBef>
                <a:spcPts val="20"/>
              </a:spcBef>
              <a:buFont typeface="Arial"/>
              <a:buChar char="•"/>
              <a:tabLst>
                <a:tab pos="2945130" algn="l"/>
                <a:tab pos="2945765" algn="l"/>
              </a:tabLst>
            </a:pPr>
            <a:r>
              <a:rPr dirty="0" sz="2000">
                <a:latin typeface="宋体"/>
                <a:cs typeface="宋体"/>
              </a:rPr>
              <a:t>所谓的规则就是要</a:t>
            </a:r>
            <a:r>
              <a:rPr dirty="0" sz="2000">
                <a:solidFill>
                  <a:srgbClr val="C00000"/>
                </a:solidFill>
                <a:latin typeface="宋体"/>
                <a:cs typeface="宋体"/>
              </a:rPr>
              <a:t>保证</a:t>
            </a:r>
            <a:r>
              <a:rPr dirty="0" sz="2000" spc="-5">
                <a:solidFill>
                  <a:srgbClr val="C00000"/>
                </a:solidFill>
                <a:latin typeface="Georgia"/>
                <a:cs typeface="Georgia"/>
              </a:rPr>
              <a:t>hashCode()</a:t>
            </a:r>
            <a:r>
              <a:rPr dirty="0" sz="2000">
                <a:solidFill>
                  <a:srgbClr val="C00000"/>
                </a:solidFill>
                <a:latin typeface="宋体"/>
                <a:cs typeface="宋体"/>
              </a:rPr>
              <a:t>方法与重</a:t>
            </a:r>
            <a:r>
              <a:rPr dirty="0" sz="2000">
                <a:solidFill>
                  <a:srgbClr val="C00000"/>
                </a:solidFill>
                <a:latin typeface="宋体"/>
                <a:cs typeface="宋体"/>
              </a:rPr>
              <a:t>写 </a:t>
            </a:r>
            <a:r>
              <a:rPr dirty="0" sz="2000">
                <a:solidFill>
                  <a:srgbClr val="C00000"/>
                </a:solidFill>
                <a:latin typeface="宋体"/>
                <a:cs typeface="宋体"/>
              </a:rPr>
              <a:t>的</a:t>
            </a:r>
            <a:r>
              <a:rPr dirty="0" sz="2000" spc="-5">
                <a:solidFill>
                  <a:srgbClr val="C00000"/>
                </a:solidFill>
                <a:latin typeface="Georgia"/>
                <a:cs typeface="Georgia"/>
              </a:rPr>
              <a:t>equals()</a:t>
            </a:r>
            <a:r>
              <a:rPr dirty="0" sz="2000">
                <a:solidFill>
                  <a:srgbClr val="C00000"/>
                </a:solidFill>
                <a:latin typeface="宋体"/>
                <a:cs typeface="宋体"/>
              </a:rPr>
              <a:t>方法完全兼容</a:t>
            </a:r>
            <a:r>
              <a:rPr dirty="0" sz="2000">
                <a:latin typeface="宋体"/>
                <a:cs typeface="宋体"/>
              </a:rPr>
              <a:t>，即如果</a:t>
            </a:r>
            <a:r>
              <a:rPr dirty="0" sz="2000" spc="-5">
                <a:latin typeface="Georgia"/>
                <a:cs typeface="Georgia"/>
              </a:rPr>
              <a:t>a.equals(b)  </a:t>
            </a:r>
            <a:r>
              <a:rPr dirty="0" sz="2000">
                <a:latin typeface="宋体"/>
                <a:cs typeface="宋体"/>
              </a:rPr>
              <a:t>为</a:t>
            </a:r>
            <a:r>
              <a:rPr dirty="0" sz="2000" spc="-5">
                <a:latin typeface="Georgia"/>
                <a:cs typeface="Georgia"/>
              </a:rPr>
              <a:t>true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那么</a:t>
            </a:r>
            <a:r>
              <a:rPr dirty="0" sz="2000" spc="-5">
                <a:latin typeface="Georgia"/>
                <a:cs typeface="Georgia"/>
              </a:rPr>
              <a:t>a</a:t>
            </a:r>
            <a:r>
              <a:rPr dirty="0" sz="2000">
                <a:latin typeface="宋体"/>
                <a:cs typeface="宋体"/>
              </a:rPr>
              <a:t>和</a:t>
            </a:r>
            <a:r>
              <a:rPr dirty="0" sz="2000" spc="-5">
                <a:latin typeface="Georgia"/>
                <a:cs typeface="Georgia"/>
              </a:rPr>
              <a:t>b</a:t>
            </a:r>
            <a:r>
              <a:rPr dirty="0" sz="2000">
                <a:latin typeface="宋体"/>
                <a:cs typeface="宋体"/>
              </a:rPr>
              <a:t>也必须通过</a:t>
            </a:r>
            <a:r>
              <a:rPr dirty="0" sz="2000" spc="-5">
                <a:latin typeface="Georgia"/>
                <a:cs typeface="Georgia"/>
              </a:rPr>
              <a:t>hashCode()</a:t>
            </a:r>
            <a:r>
              <a:rPr dirty="0" sz="2000">
                <a:latin typeface="宋体"/>
                <a:cs typeface="宋体"/>
              </a:rPr>
              <a:t>方</a:t>
            </a:r>
            <a:r>
              <a:rPr dirty="0" sz="2000" spc="5">
                <a:latin typeface="宋体"/>
                <a:cs typeface="宋体"/>
              </a:rPr>
              <a:t>法 </a:t>
            </a:r>
            <a:r>
              <a:rPr dirty="0" sz="2000">
                <a:latin typeface="宋体"/>
                <a:cs typeface="宋体"/>
              </a:rPr>
              <a:t>得到相同的散列码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9160" y="2941320"/>
            <a:ext cx="1292352" cy="1415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0657"/>
            <a:ext cx="7835900" cy="345567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290"/>
              </a:spcBef>
              <a:buSzPct val="95238"/>
              <a:buFont typeface="Georgia"/>
              <a:buAutoNum type="arabicPeriod" startAt="3"/>
              <a:tabLst>
                <a:tab pos="447040" algn="l"/>
              </a:tabLst>
            </a:pPr>
            <a:r>
              <a:rPr dirty="0" sz="2100" b="1">
                <a:latin typeface="宋体"/>
                <a:cs typeface="宋体"/>
              </a:rPr>
              <a:t>向</a:t>
            </a:r>
            <a:r>
              <a:rPr dirty="0" sz="2100" spc="-5" b="1">
                <a:latin typeface="Georgia"/>
                <a:cs typeface="Georgia"/>
              </a:rPr>
              <a:t>HashSet</a:t>
            </a:r>
            <a:r>
              <a:rPr dirty="0" sz="2100" b="1">
                <a:latin typeface="宋体"/>
                <a:cs typeface="宋体"/>
              </a:rPr>
              <a:t>中添加元</a:t>
            </a:r>
            <a:r>
              <a:rPr dirty="0" sz="2100" spc="-10" b="1">
                <a:latin typeface="宋体"/>
                <a:cs typeface="宋体"/>
              </a:rPr>
              <a:t>素</a:t>
            </a:r>
            <a:endParaRPr sz="2100">
              <a:latin typeface="宋体"/>
              <a:cs typeface="宋体"/>
            </a:endParaRPr>
          </a:p>
          <a:p>
            <a:pPr lvl="1" marL="417195" marR="67310" indent="-171450">
              <a:lnSpc>
                <a:spcPts val="1930"/>
              </a:lnSpc>
              <a:spcBef>
                <a:spcPts val="42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 spc="-5">
                <a:latin typeface="Georgia"/>
                <a:cs typeface="Georgia"/>
              </a:rPr>
              <a:t>Ha</a:t>
            </a:r>
            <a:r>
              <a:rPr dirty="0" sz="1800">
                <a:latin typeface="Georgia"/>
                <a:cs typeface="Georgia"/>
              </a:rPr>
              <a:t>shS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宋体"/>
                <a:cs typeface="宋体"/>
              </a:rPr>
              <a:t>中不允许存在重复的元素，因此</a:t>
            </a:r>
            <a:r>
              <a:rPr dirty="0" sz="1800" spc="-5">
                <a:latin typeface="Georgia"/>
                <a:cs typeface="Georgia"/>
              </a:rPr>
              <a:t>a</a:t>
            </a:r>
            <a:r>
              <a:rPr dirty="0" sz="1800">
                <a:latin typeface="Georgia"/>
                <a:cs typeface="Georgia"/>
              </a:rPr>
              <a:t>dd()</a:t>
            </a:r>
            <a:r>
              <a:rPr dirty="0" sz="1800">
                <a:latin typeface="宋体"/>
                <a:cs typeface="宋体"/>
              </a:rPr>
              <a:t>方法首先尝试查找要添加的 对象，只有在该对象不存在的情况下才执行添加。</a:t>
            </a:r>
            <a:endParaRPr sz="1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100">
              <a:latin typeface="宋体"/>
              <a:cs typeface="宋体"/>
            </a:endParaRPr>
          </a:p>
          <a:p>
            <a:pPr lvl="2" marL="534035" marR="5080">
              <a:lnSpc>
                <a:spcPts val="2380"/>
              </a:lnSpc>
              <a:buSzPct val="95454"/>
              <a:buAutoNum type="arabicPlain"/>
              <a:tabLst>
                <a:tab pos="1212850" algn="l"/>
              </a:tabLst>
            </a:pPr>
            <a:r>
              <a:rPr dirty="0" sz="2200">
                <a:latin typeface="宋体"/>
                <a:cs typeface="宋体"/>
              </a:rPr>
              <a:t>依据自定义类的</a:t>
            </a:r>
            <a:r>
              <a:rPr dirty="0" sz="2200" spc="-5">
                <a:latin typeface="Georgia"/>
                <a:cs typeface="Georgia"/>
              </a:rPr>
              <a:t>hashCode()</a:t>
            </a:r>
            <a:r>
              <a:rPr dirty="0" sz="2200">
                <a:latin typeface="宋体"/>
                <a:cs typeface="宋体"/>
              </a:rPr>
              <a:t>方法计算得到对象</a:t>
            </a:r>
            <a:r>
              <a:rPr dirty="0" sz="2200" spc="-5">
                <a:latin typeface="Georgia"/>
                <a:cs typeface="Georgia"/>
              </a:rPr>
              <a:t>obj</a:t>
            </a:r>
            <a:r>
              <a:rPr dirty="0" sz="2200">
                <a:latin typeface="宋体"/>
                <a:cs typeface="宋体"/>
              </a:rPr>
              <a:t>的</a:t>
            </a:r>
            <a:r>
              <a:rPr dirty="0" sz="2200" spc="-5">
                <a:latin typeface="宋体"/>
                <a:cs typeface="宋体"/>
              </a:rPr>
              <a:t>散 </a:t>
            </a:r>
            <a:r>
              <a:rPr dirty="0" sz="2200">
                <a:latin typeface="宋体"/>
                <a:cs typeface="宋体"/>
              </a:rPr>
              <a:t>列码，它是一个整数。（</a:t>
            </a:r>
            <a:r>
              <a:rPr dirty="0" sz="2200">
                <a:solidFill>
                  <a:srgbClr val="C00000"/>
                </a:solidFill>
                <a:latin typeface="宋体"/>
                <a:cs typeface="宋体"/>
              </a:rPr>
              <a:t>需要自定义类重写</a:t>
            </a:r>
            <a:r>
              <a:rPr dirty="0" sz="2200" spc="-5">
                <a:solidFill>
                  <a:srgbClr val="C00000"/>
                </a:solidFill>
                <a:latin typeface="Georgia"/>
                <a:cs typeface="Georgia"/>
              </a:rPr>
              <a:t>hash</a:t>
            </a:r>
            <a:r>
              <a:rPr dirty="0" sz="2200">
                <a:solidFill>
                  <a:srgbClr val="C00000"/>
                </a:solidFill>
                <a:latin typeface="Georgia"/>
                <a:cs typeface="Georgia"/>
              </a:rPr>
              <a:t>C</a:t>
            </a:r>
            <a:r>
              <a:rPr dirty="0" sz="2200" spc="-5">
                <a:solidFill>
                  <a:srgbClr val="C00000"/>
                </a:solidFill>
                <a:latin typeface="Georgia"/>
                <a:cs typeface="Georgia"/>
              </a:rPr>
              <a:t>ode()</a:t>
            </a:r>
            <a:r>
              <a:rPr dirty="0" sz="2200">
                <a:solidFill>
                  <a:srgbClr val="C00000"/>
                </a:solidFill>
                <a:latin typeface="宋体"/>
                <a:cs typeface="宋体"/>
              </a:rPr>
              <a:t>方</a:t>
            </a:r>
            <a:r>
              <a:rPr dirty="0" sz="2200" spc="-5">
                <a:solidFill>
                  <a:srgbClr val="C00000"/>
                </a:solidFill>
                <a:latin typeface="宋体"/>
                <a:cs typeface="宋体"/>
              </a:rPr>
              <a:t>法</a:t>
            </a:r>
            <a:endParaRPr sz="2200">
              <a:latin typeface="宋体"/>
              <a:cs typeface="宋体"/>
            </a:endParaRPr>
          </a:p>
          <a:p>
            <a:pPr marL="534035">
              <a:lnSpc>
                <a:spcPts val="2315"/>
              </a:lnSpc>
            </a:pPr>
            <a:r>
              <a:rPr dirty="0" sz="2200" spc="-5"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  <a:p>
            <a:pPr lvl="2" marL="534035" marR="154305">
              <a:lnSpc>
                <a:spcPts val="2380"/>
              </a:lnSpc>
              <a:spcBef>
                <a:spcPts val="425"/>
              </a:spcBef>
              <a:buSzPct val="95454"/>
              <a:buAutoNum type="arabicPlain" startAt="2"/>
              <a:tabLst>
                <a:tab pos="1249045" algn="l"/>
              </a:tabLst>
            </a:pPr>
            <a:r>
              <a:rPr dirty="0" sz="2200">
                <a:latin typeface="宋体"/>
                <a:cs typeface="宋体"/>
              </a:rPr>
              <a:t>将散列码对表长求余，得到对象在散列表中的存储</a:t>
            </a:r>
            <a:r>
              <a:rPr dirty="0" sz="2200" spc="-5">
                <a:latin typeface="宋体"/>
                <a:cs typeface="宋体"/>
              </a:rPr>
              <a:t>位 </a:t>
            </a:r>
            <a:r>
              <a:rPr dirty="0" sz="2200">
                <a:latin typeface="宋体"/>
                <a:cs typeface="宋体"/>
              </a:rPr>
              <a:t>置</a:t>
            </a:r>
            <a:r>
              <a:rPr dirty="0" sz="2200" spc="-5">
                <a:latin typeface="Georgia"/>
                <a:cs typeface="Georgia"/>
              </a:rPr>
              <a:t>p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lvl="2" marL="534035" marR="8255">
              <a:lnSpc>
                <a:spcPts val="2350"/>
              </a:lnSpc>
              <a:spcBef>
                <a:spcPts val="390"/>
              </a:spcBef>
              <a:buSzPct val="95454"/>
              <a:buAutoNum type="arabicPlain" startAt="2"/>
              <a:tabLst>
                <a:tab pos="1247140" algn="l"/>
              </a:tabLst>
            </a:pPr>
            <a:r>
              <a:rPr dirty="0" sz="2200">
                <a:latin typeface="宋体"/>
                <a:cs typeface="宋体"/>
              </a:rPr>
              <a:t>如果</a:t>
            </a:r>
            <a:r>
              <a:rPr dirty="0" sz="2200" spc="-5">
                <a:latin typeface="Georgia"/>
                <a:cs typeface="Georgia"/>
              </a:rPr>
              <a:t>p</a:t>
            </a:r>
            <a:r>
              <a:rPr dirty="0" sz="2200">
                <a:latin typeface="宋体"/>
                <a:cs typeface="宋体"/>
              </a:rPr>
              <a:t>位置不发生冲突，则将对象</a:t>
            </a:r>
            <a:r>
              <a:rPr dirty="0" sz="2200" spc="-5">
                <a:latin typeface="Georgia"/>
                <a:cs typeface="Georgia"/>
              </a:rPr>
              <a:t>ob</a:t>
            </a:r>
            <a:r>
              <a:rPr dirty="0" sz="2200" spc="-10">
                <a:latin typeface="Georgia"/>
                <a:cs typeface="Georgia"/>
              </a:rPr>
              <a:t>j</a:t>
            </a:r>
            <a:r>
              <a:rPr dirty="0" sz="2200">
                <a:latin typeface="宋体"/>
                <a:cs typeface="宋体"/>
              </a:rPr>
              <a:t>插入在</a:t>
            </a:r>
            <a:r>
              <a:rPr dirty="0" sz="2200" spc="-5">
                <a:latin typeface="Georgia"/>
                <a:cs typeface="Georgia"/>
              </a:rPr>
              <a:t>p</a:t>
            </a:r>
            <a:r>
              <a:rPr dirty="0" sz="2200">
                <a:latin typeface="宋体"/>
                <a:cs typeface="宋体"/>
              </a:rPr>
              <a:t>位置的</a:t>
            </a:r>
            <a:r>
              <a:rPr dirty="0" sz="2200" spc="-5">
                <a:latin typeface="宋体"/>
                <a:cs typeface="宋体"/>
              </a:rPr>
              <a:t>链 </a:t>
            </a:r>
            <a:r>
              <a:rPr dirty="0" sz="2200">
                <a:latin typeface="宋体"/>
                <a:cs typeface="宋体"/>
              </a:rPr>
              <a:t>表中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00850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91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5104"/>
            <a:ext cx="7819390" cy="2981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7040" indent="-434340">
              <a:lnSpc>
                <a:spcPct val="100000"/>
              </a:lnSpc>
              <a:spcBef>
                <a:spcPts val="100"/>
              </a:spcBef>
              <a:buSzPct val="95238"/>
              <a:buFont typeface="Georgia"/>
              <a:buAutoNum type="arabicPeriod" startAt="3"/>
              <a:tabLst>
                <a:tab pos="447040" algn="l"/>
              </a:tabLst>
            </a:pPr>
            <a:r>
              <a:rPr dirty="0" sz="2100" b="1">
                <a:latin typeface="宋体"/>
                <a:cs typeface="宋体"/>
              </a:rPr>
              <a:t>向</a:t>
            </a:r>
            <a:r>
              <a:rPr dirty="0" sz="2100" spc="-5" b="1">
                <a:latin typeface="Georgia"/>
                <a:cs typeface="Georgia"/>
              </a:rPr>
              <a:t>HashSet</a:t>
            </a:r>
            <a:r>
              <a:rPr dirty="0" sz="2100" b="1">
                <a:latin typeface="宋体"/>
                <a:cs typeface="宋体"/>
              </a:rPr>
              <a:t>中添加元</a:t>
            </a:r>
            <a:r>
              <a:rPr dirty="0" sz="2100" spc="-10" b="1">
                <a:latin typeface="宋体"/>
                <a:cs typeface="宋体"/>
              </a:rPr>
              <a:t>素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Georgia"/>
              <a:buAutoNum type="arabicPeriod" startAt="3"/>
            </a:pPr>
            <a:endParaRPr sz="2650">
              <a:latin typeface="宋体"/>
              <a:cs typeface="宋体"/>
            </a:endParaRPr>
          </a:p>
          <a:p>
            <a:pPr lvl="1" marL="534035" marR="20320">
              <a:lnSpc>
                <a:spcPts val="2380"/>
              </a:lnSpc>
              <a:buSzPct val="95454"/>
              <a:buAutoNum type="arabicPlain" startAt="4"/>
              <a:tabLst>
                <a:tab pos="1250950" algn="l"/>
              </a:tabLst>
            </a:pPr>
            <a:r>
              <a:rPr dirty="0" sz="2200">
                <a:latin typeface="宋体"/>
                <a:cs typeface="宋体"/>
              </a:rPr>
              <a:t>如果</a:t>
            </a:r>
            <a:r>
              <a:rPr dirty="0" sz="2200" spc="-5">
                <a:latin typeface="Georgia"/>
                <a:cs typeface="Georgia"/>
              </a:rPr>
              <a:t>p</a:t>
            </a:r>
            <a:r>
              <a:rPr dirty="0" sz="2200">
                <a:latin typeface="宋体"/>
                <a:cs typeface="宋体"/>
              </a:rPr>
              <a:t>位置发生冲突，在</a:t>
            </a:r>
            <a:r>
              <a:rPr dirty="0" sz="2200" spc="-5">
                <a:latin typeface="Georgia"/>
                <a:cs typeface="Georgia"/>
              </a:rPr>
              <a:t>p</a:t>
            </a:r>
            <a:r>
              <a:rPr dirty="0" sz="2200">
                <a:latin typeface="宋体"/>
                <a:cs typeface="宋体"/>
              </a:rPr>
              <a:t>位置对应的链表中利</a:t>
            </a:r>
            <a:r>
              <a:rPr dirty="0" sz="2200" spc="-5">
                <a:latin typeface="宋体"/>
                <a:cs typeface="宋体"/>
              </a:rPr>
              <a:t>用 </a:t>
            </a:r>
            <a:r>
              <a:rPr dirty="0" sz="2200" spc="-5">
                <a:latin typeface="Georgia"/>
                <a:cs typeface="Georgia"/>
              </a:rPr>
              <a:t>equals()</a:t>
            </a:r>
            <a:r>
              <a:rPr dirty="0" sz="2200">
                <a:latin typeface="宋体"/>
                <a:cs typeface="宋体"/>
              </a:rPr>
              <a:t>方法查找是否已存在</a:t>
            </a:r>
            <a:r>
              <a:rPr dirty="0" sz="2200" spc="-5">
                <a:latin typeface="Georgia"/>
                <a:cs typeface="Georgia"/>
              </a:rPr>
              <a:t>ob</a:t>
            </a:r>
            <a:r>
              <a:rPr dirty="0" sz="2200" spc="-10">
                <a:latin typeface="Georgia"/>
                <a:cs typeface="Georgia"/>
              </a:rPr>
              <a:t>j</a:t>
            </a:r>
            <a:r>
              <a:rPr dirty="0" sz="2200">
                <a:latin typeface="宋体"/>
                <a:cs typeface="宋体"/>
              </a:rPr>
              <a:t>对象。（</a:t>
            </a:r>
            <a:r>
              <a:rPr dirty="0" sz="2200">
                <a:solidFill>
                  <a:srgbClr val="C00000"/>
                </a:solidFill>
                <a:latin typeface="宋体"/>
                <a:cs typeface="宋体"/>
              </a:rPr>
              <a:t>需要自定义类重</a:t>
            </a:r>
            <a:r>
              <a:rPr dirty="0" sz="2200" spc="-5">
                <a:solidFill>
                  <a:srgbClr val="C00000"/>
                </a:solidFill>
                <a:latin typeface="宋体"/>
                <a:cs typeface="宋体"/>
              </a:rPr>
              <a:t>写  </a:t>
            </a:r>
            <a:r>
              <a:rPr dirty="0" sz="2200" spc="-5">
                <a:solidFill>
                  <a:srgbClr val="C00000"/>
                </a:solidFill>
                <a:latin typeface="Georgia"/>
                <a:cs typeface="Georgia"/>
              </a:rPr>
              <a:t>equals()</a:t>
            </a:r>
            <a:r>
              <a:rPr dirty="0" sz="2200">
                <a:solidFill>
                  <a:srgbClr val="C00000"/>
                </a:solidFill>
                <a:latin typeface="宋体"/>
                <a:cs typeface="宋体"/>
              </a:rPr>
              <a:t>方法，规则要与</a:t>
            </a:r>
            <a:r>
              <a:rPr dirty="0" sz="2200" spc="-5">
                <a:solidFill>
                  <a:srgbClr val="C00000"/>
                </a:solidFill>
                <a:latin typeface="Georgia"/>
                <a:cs typeface="Georgia"/>
              </a:rPr>
              <a:t>hashCode()</a:t>
            </a:r>
            <a:r>
              <a:rPr dirty="0" sz="2200">
                <a:solidFill>
                  <a:srgbClr val="C00000"/>
                </a:solidFill>
                <a:latin typeface="宋体"/>
                <a:cs typeface="宋体"/>
              </a:rPr>
              <a:t>方法互相匹配</a:t>
            </a:r>
            <a:r>
              <a:rPr dirty="0" sz="2200" spc="-5"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  <a:p>
            <a:pPr lvl="2" marL="760095" marR="5080" indent="-171450">
              <a:lnSpc>
                <a:spcPts val="2360"/>
              </a:lnSpc>
              <a:spcBef>
                <a:spcPts val="37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2200" spc="-5">
                <a:latin typeface="Georgia"/>
                <a:cs typeface="Georgia"/>
              </a:rPr>
              <a:t>1</a:t>
            </a:r>
            <a:r>
              <a:rPr dirty="0" sz="2200">
                <a:latin typeface="宋体"/>
                <a:cs typeface="宋体"/>
              </a:rPr>
              <a:t>）如果某个</a:t>
            </a:r>
            <a:r>
              <a:rPr dirty="0" sz="2200" spc="-5">
                <a:latin typeface="Georgia"/>
                <a:cs typeface="Georgia"/>
              </a:rPr>
              <a:t>equals()</a:t>
            </a:r>
            <a:r>
              <a:rPr dirty="0" sz="2200">
                <a:latin typeface="宋体"/>
                <a:cs typeface="宋体"/>
              </a:rPr>
              <a:t>比较的结果为</a:t>
            </a:r>
            <a:r>
              <a:rPr dirty="0" sz="2200" spc="-5">
                <a:latin typeface="Georgia"/>
                <a:cs typeface="Georgia"/>
              </a:rPr>
              <a:t>true</a:t>
            </a:r>
            <a:r>
              <a:rPr dirty="0" sz="2200">
                <a:latin typeface="宋体"/>
                <a:cs typeface="宋体"/>
              </a:rPr>
              <a:t>，说明</a:t>
            </a:r>
            <a:r>
              <a:rPr dirty="0" sz="2200" spc="-5">
                <a:latin typeface="Georgia"/>
                <a:cs typeface="Georgia"/>
              </a:rPr>
              <a:t>ob</a:t>
            </a:r>
            <a:r>
              <a:rPr dirty="0" sz="2200" spc="-10">
                <a:latin typeface="Georgia"/>
                <a:cs typeface="Georgia"/>
              </a:rPr>
              <a:t>j</a:t>
            </a:r>
            <a:r>
              <a:rPr dirty="0" sz="2200">
                <a:latin typeface="宋体"/>
                <a:cs typeface="宋体"/>
              </a:rPr>
              <a:t>对象已</a:t>
            </a:r>
            <a:r>
              <a:rPr dirty="0" sz="2200" spc="-5">
                <a:latin typeface="宋体"/>
                <a:cs typeface="宋体"/>
              </a:rPr>
              <a:t>存 </a:t>
            </a:r>
            <a:r>
              <a:rPr dirty="0" sz="2200">
                <a:latin typeface="宋体"/>
                <a:cs typeface="宋体"/>
              </a:rPr>
              <a:t>在，将其舍弃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lvl="2" marL="760095" indent="-171450">
              <a:lnSpc>
                <a:spcPts val="2505"/>
              </a:lnSpc>
              <a:spcBef>
                <a:spcPts val="9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2200" spc="-5">
                <a:latin typeface="Georgia"/>
                <a:cs typeface="Georgia"/>
              </a:rPr>
              <a:t>2</a:t>
            </a:r>
            <a:r>
              <a:rPr dirty="0" sz="2200" spc="-5">
                <a:latin typeface="宋体"/>
                <a:cs typeface="宋体"/>
              </a:rPr>
              <a:t>）</a:t>
            </a:r>
            <a:r>
              <a:rPr dirty="0" sz="2200">
                <a:latin typeface="宋体"/>
                <a:cs typeface="宋体"/>
              </a:rPr>
              <a:t>如果与链表中所有对象的</a:t>
            </a:r>
            <a:r>
              <a:rPr dirty="0" sz="2200" spc="-5">
                <a:latin typeface="Georgia"/>
                <a:cs typeface="Georgia"/>
              </a:rPr>
              <a:t>equals()</a:t>
            </a:r>
            <a:r>
              <a:rPr dirty="0" sz="2200">
                <a:latin typeface="宋体"/>
                <a:cs typeface="宋体"/>
              </a:rPr>
              <a:t>比较的结果均为</a:t>
            </a:r>
            <a:r>
              <a:rPr dirty="0" sz="2200" spc="-5">
                <a:latin typeface="Georgia"/>
                <a:cs typeface="Georgia"/>
              </a:rPr>
              <a:t>false</a:t>
            </a:r>
            <a:endParaRPr sz="2200">
              <a:latin typeface="Georgia"/>
              <a:cs typeface="Georgia"/>
            </a:endParaRPr>
          </a:p>
          <a:p>
            <a:pPr marL="760095">
              <a:lnSpc>
                <a:spcPts val="2510"/>
              </a:lnSpc>
            </a:pPr>
            <a:r>
              <a:rPr dirty="0" sz="2200">
                <a:latin typeface="宋体"/>
                <a:cs typeface="宋体"/>
              </a:rPr>
              <a:t>，说明</a:t>
            </a:r>
            <a:r>
              <a:rPr dirty="0" sz="2200" spc="-5">
                <a:latin typeface="Georgia"/>
                <a:cs typeface="Georgia"/>
              </a:rPr>
              <a:t>obj</a:t>
            </a:r>
            <a:r>
              <a:rPr dirty="0" sz="2200">
                <a:latin typeface="宋体"/>
                <a:cs typeface="宋体"/>
              </a:rPr>
              <a:t>对象尚未存在</a:t>
            </a:r>
            <a:r>
              <a:rPr dirty="0" sz="2200" spc="-5">
                <a:latin typeface="宋体"/>
                <a:cs typeface="宋体"/>
              </a:rPr>
              <a:t>，</a:t>
            </a:r>
            <a:r>
              <a:rPr dirty="0" sz="2200" spc="-5">
                <a:latin typeface="Georgia"/>
                <a:cs typeface="Georgia"/>
              </a:rPr>
              <a:t>obj</a:t>
            </a:r>
            <a:r>
              <a:rPr dirty="0" sz="2200">
                <a:latin typeface="宋体"/>
                <a:cs typeface="宋体"/>
              </a:rPr>
              <a:t>插入该链表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00850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91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00850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91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88595" y="1475104"/>
            <a:ext cx="7484109" cy="148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00"/>
              </a:spcBef>
            </a:pPr>
            <a:r>
              <a:rPr dirty="0" sz="2100">
                <a:latin typeface="宋体"/>
                <a:cs typeface="宋体"/>
              </a:rPr>
              <a:t>【例</a:t>
            </a:r>
            <a:r>
              <a:rPr dirty="0" sz="2100" spc="-5">
                <a:latin typeface="Georgia"/>
                <a:cs typeface="Georgia"/>
              </a:rPr>
              <a:t>8-4</a:t>
            </a:r>
            <a:r>
              <a:rPr dirty="0" sz="2100">
                <a:latin typeface="宋体"/>
                <a:cs typeface="宋体"/>
              </a:rPr>
              <a:t>】定义一个</a:t>
            </a:r>
            <a:r>
              <a:rPr dirty="0" sz="2100" spc="-5">
                <a:latin typeface="Georgia"/>
                <a:cs typeface="Georgia"/>
              </a:rPr>
              <a:t>Student</a:t>
            </a:r>
            <a:r>
              <a:rPr dirty="0" sz="2100">
                <a:latin typeface="宋体"/>
                <a:cs typeface="宋体"/>
              </a:rPr>
              <a:t>类（具有</a:t>
            </a:r>
            <a:r>
              <a:rPr dirty="0" sz="2100" spc="-5">
                <a:latin typeface="Georgia"/>
                <a:cs typeface="Georgia"/>
              </a:rPr>
              <a:t>name</a:t>
            </a:r>
            <a:r>
              <a:rPr dirty="0" sz="2100">
                <a:latin typeface="宋体"/>
                <a:cs typeface="宋体"/>
              </a:rPr>
              <a:t>和</a:t>
            </a:r>
            <a:r>
              <a:rPr dirty="0" sz="2100" spc="-5">
                <a:latin typeface="Georgia"/>
                <a:cs typeface="Georgia"/>
              </a:rPr>
              <a:t>age</a:t>
            </a:r>
            <a:r>
              <a:rPr dirty="0" sz="2100">
                <a:latin typeface="宋体"/>
                <a:cs typeface="宋体"/>
              </a:rPr>
              <a:t>两个属性），向</a:t>
            </a:r>
            <a:endParaRPr sz="2100">
              <a:latin typeface="宋体"/>
              <a:cs typeface="宋体"/>
            </a:endParaRPr>
          </a:p>
          <a:p>
            <a:pPr marL="12700">
              <a:lnSpc>
                <a:spcPts val="2390"/>
              </a:lnSpc>
            </a:pPr>
            <a:r>
              <a:rPr dirty="0" sz="2100" spc="-5">
                <a:latin typeface="Georgia"/>
                <a:cs typeface="Georgia"/>
              </a:rPr>
              <a:t>HashSet</a:t>
            </a:r>
            <a:r>
              <a:rPr dirty="0" sz="2100">
                <a:latin typeface="宋体"/>
                <a:cs typeface="宋体"/>
              </a:rPr>
              <a:t>集合中添加几个</a:t>
            </a:r>
            <a:r>
              <a:rPr dirty="0" sz="2100" spc="-5">
                <a:latin typeface="Georgia"/>
                <a:cs typeface="Georgia"/>
              </a:rPr>
              <a:t>Student</a:t>
            </a:r>
            <a:r>
              <a:rPr dirty="0" sz="2100">
                <a:latin typeface="宋体"/>
                <a:cs typeface="宋体"/>
              </a:rPr>
              <a:t>对象，并打印该集合。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宋体"/>
              <a:cs typeface="宋体"/>
            </a:endParaRPr>
          </a:p>
          <a:p>
            <a:pPr marL="1276985">
              <a:lnSpc>
                <a:spcPct val="100000"/>
              </a:lnSpc>
            </a:pPr>
            <a:r>
              <a:rPr dirty="0" sz="1800" spc="-5">
                <a:latin typeface="Georgia"/>
                <a:cs typeface="Georgia"/>
              </a:rPr>
              <a:t>Example :HashSetDemo.java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8394" y="1457812"/>
            <a:ext cx="6723380" cy="215011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235"/>
              </a:spcBef>
              <a:buSzPct val="95238"/>
              <a:buAutoNum type="arabicPeriod"/>
              <a:tabLst>
                <a:tab pos="411480" algn="l"/>
              </a:tabLst>
            </a:pPr>
            <a:r>
              <a:rPr dirty="0" sz="2100" spc="-5" b="1">
                <a:latin typeface="Georgia"/>
                <a:cs typeface="Georgia"/>
              </a:rPr>
              <a:t>TreeSet</a:t>
            </a:r>
            <a:r>
              <a:rPr dirty="0" sz="2100" b="1">
                <a:latin typeface="宋体"/>
                <a:cs typeface="宋体"/>
              </a:rPr>
              <a:t>的底层结</a:t>
            </a:r>
            <a:r>
              <a:rPr dirty="0" sz="2100" spc="-10" b="1">
                <a:latin typeface="宋体"/>
                <a:cs typeface="宋体"/>
              </a:rPr>
              <a:t>构</a:t>
            </a:r>
            <a:endParaRPr sz="2100">
              <a:latin typeface="宋体"/>
              <a:cs typeface="宋体"/>
            </a:endParaRPr>
          </a:p>
          <a:p>
            <a:pPr algn="just" lvl="1" marL="417195" marR="5080" indent="-171450">
              <a:lnSpc>
                <a:spcPct val="89700"/>
              </a:lnSpc>
              <a:spcBef>
                <a:spcPts val="38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 spc="-10">
                <a:latin typeface="Georgia"/>
                <a:cs typeface="Georgia"/>
              </a:rPr>
              <a:t>T</a:t>
            </a:r>
            <a:r>
              <a:rPr dirty="0" sz="2000" spc="-5">
                <a:latin typeface="Georgia"/>
                <a:cs typeface="Georgia"/>
              </a:rPr>
              <a:t>reeSet</a:t>
            </a:r>
            <a:r>
              <a:rPr dirty="0" sz="2000">
                <a:latin typeface="宋体"/>
                <a:cs typeface="宋体"/>
              </a:rPr>
              <a:t>如其名字一样，是一种基于树的集合。</a:t>
            </a:r>
            <a:r>
              <a:rPr dirty="0" sz="2000" spc="-10">
                <a:latin typeface="Georgia"/>
                <a:cs typeface="Georgia"/>
              </a:rPr>
              <a:t>T</a:t>
            </a:r>
            <a:r>
              <a:rPr dirty="0" sz="2000" spc="-5">
                <a:latin typeface="Georgia"/>
                <a:cs typeface="Georgia"/>
              </a:rPr>
              <a:t>reeSet</a:t>
            </a:r>
            <a:r>
              <a:rPr dirty="0" sz="2000">
                <a:latin typeface="宋体"/>
                <a:cs typeface="宋体"/>
              </a:rPr>
              <a:t>是  </a:t>
            </a:r>
            <a:r>
              <a:rPr dirty="0" sz="2000" spc="-5">
                <a:latin typeface="Georgia"/>
                <a:cs typeface="Georgia"/>
              </a:rPr>
              <a:t>Set</a:t>
            </a:r>
            <a:r>
              <a:rPr dirty="0" sz="2000">
                <a:latin typeface="宋体"/>
                <a:cs typeface="宋体"/>
              </a:rPr>
              <a:t>接口的实现类，秉承了</a:t>
            </a:r>
            <a:r>
              <a:rPr dirty="0" sz="2000" spc="-5">
                <a:latin typeface="Georgia"/>
                <a:cs typeface="Georgia"/>
              </a:rPr>
              <a:t>Set</a:t>
            </a:r>
            <a:r>
              <a:rPr dirty="0" sz="2000">
                <a:latin typeface="宋体"/>
                <a:cs typeface="宋体"/>
              </a:rPr>
              <a:t>不记录对象在集合中出现</a:t>
            </a:r>
            <a:r>
              <a:rPr dirty="0" sz="2000">
                <a:latin typeface="宋体"/>
                <a:cs typeface="宋体"/>
              </a:rPr>
              <a:t>顺 </a:t>
            </a:r>
            <a:r>
              <a:rPr dirty="0" sz="2000">
                <a:latin typeface="宋体"/>
                <a:cs typeface="宋体"/>
              </a:rPr>
              <a:t>序的特点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just" lvl="1" marL="417195" indent="-17145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>
                <a:latin typeface="宋体"/>
                <a:cs typeface="宋体"/>
              </a:rPr>
              <a:t>是有序的，红黑树结</a:t>
            </a:r>
            <a:r>
              <a:rPr dirty="0" sz="2000" spc="5">
                <a:latin typeface="宋体"/>
                <a:cs typeface="宋体"/>
              </a:rPr>
              <a:t>构</a:t>
            </a:r>
            <a:endParaRPr sz="2000">
              <a:latin typeface="宋体"/>
              <a:cs typeface="宋体"/>
            </a:endParaRPr>
          </a:p>
          <a:p>
            <a:pPr algn="just" lvl="1" marL="417195" marR="105410" indent="-171450">
              <a:lnSpc>
                <a:spcPts val="2140"/>
              </a:lnSpc>
              <a:spcBef>
                <a:spcPts val="44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2000">
                <a:latin typeface="宋体"/>
                <a:cs typeface="宋体"/>
              </a:rPr>
              <a:t>对象进入</a:t>
            </a:r>
            <a:r>
              <a:rPr dirty="0" sz="2000" spc="-10">
                <a:latin typeface="Georgia"/>
                <a:cs typeface="Georgia"/>
              </a:rPr>
              <a:t>T</a:t>
            </a:r>
            <a:r>
              <a:rPr dirty="0" sz="2000" spc="-5">
                <a:latin typeface="Georgia"/>
                <a:cs typeface="Georgia"/>
              </a:rPr>
              <a:t>reeSet</a:t>
            </a:r>
            <a:r>
              <a:rPr dirty="0" sz="2000">
                <a:latin typeface="宋体"/>
                <a:cs typeface="宋体"/>
              </a:rPr>
              <a:t>需要进行一系列比较才能找到正确的</a:t>
            </a:r>
            <a:r>
              <a:rPr dirty="0" sz="2000">
                <a:latin typeface="宋体"/>
                <a:cs typeface="宋体"/>
              </a:rPr>
              <a:t>位 </a:t>
            </a:r>
            <a:r>
              <a:rPr dirty="0" sz="2000">
                <a:latin typeface="宋体"/>
                <a:cs typeface="宋体"/>
              </a:rPr>
              <a:t>置插入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8969" y="1450657"/>
            <a:ext cx="7501255" cy="3415029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557530" indent="-435609">
              <a:lnSpc>
                <a:spcPct val="100000"/>
              </a:lnSpc>
              <a:spcBef>
                <a:spcPts val="290"/>
              </a:spcBef>
              <a:buSzPct val="95238"/>
              <a:buAutoNum type="arabicPeriod" startAt="2"/>
              <a:tabLst>
                <a:tab pos="557530" algn="l"/>
              </a:tabLst>
            </a:pPr>
            <a:r>
              <a:rPr dirty="0" sz="2100" spc="-5" b="1">
                <a:latin typeface="Georgia"/>
                <a:cs typeface="Georgia"/>
              </a:rPr>
              <a:t>TreeSet</a:t>
            </a:r>
            <a:r>
              <a:rPr dirty="0" sz="2100" b="1">
                <a:latin typeface="宋体"/>
                <a:cs typeface="宋体"/>
              </a:rPr>
              <a:t>中对象的比较方法：自然比较法和比较器</a:t>
            </a:r>
            <a:r>
              <a:rPr dirty="0" sz="2100" spc="-10" b="1">
                <a:latin typeface="宋体"/>
                <a:cs typeface="宋体"/>
              </a:rPr>
              <a:t>法</a:t>
            </a:r>
            <a:endParaRPr sz="2100">
              <a:latin typeface="宋体"/>
              <a:cs typeface="宋体"/>
            </a:endParaRPr>
          </a:p>
          <a:p>
            <a:pPr lvl="1" marL="527050" indent="-172085">
              <a:lnSpc>
                <a:spcPct val="100000"/>
              </a:lnSpc>
              <a:spcBef>
                <a:spcPts val="16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Java</a:t>
            </a:r>
            <a:r>
              <a:rPr dirty="0" sz="1800">
                <a:latin typeface="宋体"/>
                <a:cs typeface="宋体"/>
              </a:rPr>
              <a:t>提供了两种比较方式：</a:t>
            </a: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自然比较法和比较器</a:t>
            </a:r>
            <a:r>
              <a:rPr dirty="0" sz="1800" spc="-10" b="1">
                <a:solidFill>
                  <a:srgbClr val="FF0000"/>
                </a:solidFill>
                <a:latin typeface="宋体"/>
                <a:cs typeface="宋体"/>
              </a:rPr>
              <a:t>法</a:t>
            </a:r>
            <a:endParaRPr sz="1800">
              <a:latin typeface="宋体"/>
              <a:cs typeface="宋体"/>
            </a:endParaRPr>
          </a:p>
          <a:p>
            <a:pPr lvl="1" marL="527050" indent="-172085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 b="1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1800" spc="-5" b="1">
                <a:solidFill>
                  <a:srgbClr val="FF0000"/>
                </a:solidFill>
                <a:latin typeface="Georgia"/>
                <a:cs typeface="Georgia"/>
              </a:rPr>
              <a:t>1</a:t>
            </a:r>
            <a:r>
              <a:rPr dirty="0" sz="1800" spc="-5" b="1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sz="1800" spc="-5" b="1">
                <a:solidFill>
                  <a:srgbClr val="FF0000"/>
                </a:solidFill>
                <a:latin typeface="Georgia"/>
                <a:cs typeface="Georgia"/>
              </a:rPr>
              <a:t>the </a:t>
            </a:r>
            <a:r>
              <a:rPr dirty="0" sz="1800" spc="-5" b="1" i="1">
                <a:solidFill>
                  <a:srgbClr val="FF0000"/>
                </a:solidFill>
                <a:latin typeface="Georgia"/>
                <a:cs typeface="Georgia"/>
              </a:rPr>
              <a:t>natural comparison method</a:t>
            </a:r>
            <a:r>
              <a:rPr dirty="0" sz="1800" b="1" i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1800" b="1">
                <a:solidFill>
                  <a:srgbClr val="FF0000"/>
                </a:solidFill>
                <a:latin typeface="宋体"/>
                <a:cs typeface="宋体"/>
              </a:rPr>
              <a:t>自然比较法</a:t>
            </a:r>
            <a:r>
              <a:rPr dirty="0" sz="1800">
                <a:latin typeface="Georgia"/>
                <a:cs typeface="Georgia"/>
              </a:rPr>
              <a:t>----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400">
              <a:latin typeface="Georgia"/>
              <a:cs typeface="Georgia"/>
            </a:endParaRPr>
          </a:p>
          <a:p>
            <a:pPr marL="12700" marR="106680">
              <a:lnSpc>
                <a:spcPts val="193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1800" spc="-5">
                <a:latin typeface="Georgia"/>
                <a:cs typeface="Georgia"/>
              </a:rPr>
              <a:t>TreeSet</a:t>
            </a:r>
            <a:r>
              <a:rPr dirty="0" sz="1800">
                <a:latin typeface="宋体"/>
                <a:cs typeface="宋体"/>
              </a:rPr>
              <a:t>存储对象所在类要实现</a:t>
            </a:r>
            <a:r>
              <a:rPr dirty="0" sz="1800" spc="-5">
                <a:latin typeface="Georgia"/>
                <a:cs typeface="Georgia"/>
              </a:rPr>
              <a:t>Comparable</a:t>
            </a:r>
            <a:r>
              <a:rPr dirty="0" sz="1800">
                <a:latin typeface="宋体"/>
                <a:cs typeface="宋体"/>
              </a:rPr>
              <a:t>接口，在</a:t>
            </a:r>
            <a:r>
              <a:rPr dirty="0" sz="1800" spc="-5">
                <a:latin typeface="Georgia"/>
                <a:cs typeface="Georgia"/>
              </a:rPr>
              <a:t>compareTo()</a:t>
            </a:r>
            <a:r>
              <a:rPr dirty="0" sz="1800">
                <a:latin typeface="宋体"/>
                <a:cs typeface="宋体"/>
              </a:rPr>
              <a:t>方法中 定义对象比较的规则。</a:t>
            </a:r>
            <a:endParaRPr sz="1800">
              <a:latin typeface="宋体"/>
              <a:cs typeface="宋体"/>
            </a:endParaRPr>
          </a:p>
          <a:p>
            <a:pPr lvl="1" marL="527050" indent="-172085">
              <a:lnSpc>
                <a:spcPts val="2045"/>
              </a:lnSpc>
              <a:spcBef>
                <a:spcPts val="14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 spc="-5">
                <a:latin typeface="Georgia"/>
                <a:cs typeface="Georgia"/>
              </a:rPr>
              <a:t>implement the </a:t>
            </a:r>
            <a:r>
              <a:rPr dirty="0" sz="1800" spc="-5" b="1">
                <a:latin typeface="Georgia"/>
                <a:cs typeface="Georgia"/>
              </a:rPr>
              <a:t>java.lang.</a:t>
            </a:r>
            <a:r>
              <a:rPr dirty="0" sz="1800" spc="-5" b="1">
                <a:solidFill>
                  <a:srgbClr val="967A2C"/>
                </a:solidFill>
                <a:latin typeface="Georgia"/>
                <a:cs typeface="Georgia"/>
              </a:rPr>
              <a:t>Comparable </a:t>
            </a:r>
            <a:r>
              <a:rPr dirty="0" sz="1800" spc="-5">
                <a:latin typeface="Georgia"/>
                <a:cs typeface="Georgia"/>
              </a:rPr>
              <a:t>interface </a:t>
            </a:r>
            <a:r>
              <a:rPr dirty="0" sz="1800">
                <a:latin typeface="Georgia"/>
                <a:cs typeface="Georgia"/>
              </a:rPr>
              <a:t>( </a:t>
            </a:r>
            <a:r>
              <a:rPr dirty="0" sz="1800" spc="-5">
                <a:solidFill>
                  <a:srgbClr val="967A2C"/>
                </a:solidFill>
                <a:latin typeface="Georgia"/>
                <a:cs typeface="Georgia"/>
              </a:rPr>
              <a:t>compareTo(</a:t>
            </a:r>
            <a:r>
              <a:rPr dirty="0" sz="1800" spc="-10">
                <a:solidFill>
                  <a:srgbClr val="967A2C"/>
                </a:solidFill>
                <a:latin typeface="Georgia"/>
                <a:cs typeface="Georgia"/>
              </a:rPr>
              <a:t> </a:t>
            </a:r>
            <a:r>
              <a:rPr dirty="0" sz="1800">
                <a:solidFill>
                  <a:srgbClr val="967A2C"/>
                </a:solidFill>
                <a:latin typeface="Georgia"/>
                <a:cs typeface="Georgia"/>
              </a:rPr>
              <a:t>)</a:t>
            </a:r>
            <a:r>
              <a:rPr dirty="0" sz="1800">
                <a:latin typeface="Georgia"/>
                <a:cs typeface="Georgia"/>
              </a:rPr>
              <a:t>).</a:t>
            </a:r>
            <a:endParaRPr sz="1800">
              <a:latin typeface="Georgia"/>
              <a:cs typeface="Georgia"/>
            </a:endParaRPr>
          </a:p>
          <a:p>
            <a:pPr marL="526415">
              <a:lnSpc>
                <a:spcPts val="2039"/>
              </a:lnSpc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内部比较器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宋体"/>
              <a:cs typeface="宋体"/>
            </a:endParaRPr>
          </a:p>
          <a:p>
            <a:pPr lvl="1" marL="526415" marR="5080" indent="-171450">
              <a:lnSpc>
                <a:spcPts val="1939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宋体"/>
                <a:cs typeface="宋体"/>
              </a:rPr>
              <a:t>有一部分类已实现了</a:t>
            </a:r>
            <a:r>
              <a:rPr dirty="0" sz="1800" spc="-5">
                <a:latin typeface="Georgia"/>
                <a:cs typeface="Georgia"/>
              </a:rPr>
              <a:t>java.lang.Comparable</a:t>
            </a:r>
            <a:r>
              <a:rPr dirty="0" sz="1800">
                <a:latin typeface="宋体"/>
                <a:cs typeface="宋体"/>
              </a:rPr>
              <a:t>接口，如基本类型的包装 类、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tri</a:t>
            </a:r>
            <a:r>
              <a:rPr dirty="0" sz="1800">
                <a:latin typeface="Georgia"/>
                <a:cs typeface="Georgia"/>
              </a:rPr>
              <a:t>n</a:t>
            </a:r>
            <a:r>
              <a:rPr dirty="0" sz="1800" spc="-5">
                <a:latin typeface="Georgia"/>
                <a:cs typeface="Georgia"/>
              </a:rPr>
              <a:t>g</a:t>
            </a:r>
            <a:r>
              <a:rPr dirty="0" sz="1800">
                <a:latin typeface="宋体"/>
                <a:cs typeface="宋体"/>
              </a:rPr>
              <a:t>类等，它们在</a:t>
            </a:r>
            <a:r>
              <a:rPr dirty="0" sz="1800" spc="-5">
                <a:latin typeface="Georgia"/>
                <a:cs typeface="Georgia"/>
              </a:rPr>
              <a:t>com</a:t>
            </a:r>
            <a:r>
              <a:rPr dirty="0" sz="1800">
                <a:latin typeface="Georgia"/>
                <a:cs typeface="Georgia"/>
              </a:rPr>
              <a:t>p</a:t>
            </a:r>
            <a:r>
              <a:rPr dirty="0" sz="1800" spc="-5">
                <a:latin typeface="Georgia"/>
                <a:cs typeface="Georgia"/>
              </a:rPr>
              <a:t>are</a:t>
            </a:r>
            <a:r>
              <a:rPr dirty="0" sz="1800">
                <a:latin typeface="Georgia"/>
                <a:cs typeface="Georgia"/>
              </a:rPr>
              <a:t>T</a:t>
            </a:r>
            <a:r>
              <a:rPr dirty="0" sz="1800" spc="-5">
                <a:latin typeface="Georgia"/>
                <a:cs typeface="Georgia"/>
              </a:rPr>
              <a:t>o</a:t>
            </a:r>
            <a:r>
              <a:rPr dirty="0" sz="1800">
                <a:latin typeface="Georgia"/>
                <a:cs typeface="Georgia"/>
              </a:rPr>
              <a:t>()</a:t>
            </a:r>
            <a:r>
              <a:rPr dirty="0" sz="1800">
                <a:latin typeface="宋体"/>
                <a:cs typeface="宋体"/>
              </a:rPr>
              <a:t>方法中定义好了比较对象的规则</a:t>
            </a:r>
            <a:endParaRPr sz="1800">
              <a:latin typeface="宋体"/>
              <a:cs typeface="宋体"/>
            </a:endParaRPr>
          </a:p>
          <a:p>
            <a:pPr marL="526415">
              <a:lnSpc>
                <a:spcPts val="1910"/>
              </a:lnSpc>
            </a:pPr>
            <a:r>
              <a:rPr dirty="0" sz="1800">
                <a:latin typeface="宋体"/>
                <a:cs typeface="宋体"/>
              </a:rPr>
              <a:t>。像这样的对象可以直接插入</a:t>
            </a:r>
            <a:r>
              <a:rPr dirty="0" sz="1800" spc="-5">
                <a:latin typeface="Georgia"/>
                <a:cs typeface="Georgia"/>
              </a:rPr>
              <a:t>TreeSet</a:t>
            </a:r>
            <a:r>
              <a:rPr dirty="0" sz="1800">
                <a:latin typeface="宋体"/>
                <a:cs typeface="宋体"/>
              </a:rPr>
              <a:t>集合</a:t>
            </a:r>
            <a:r>
              <a:rPr dirty="0" sz="1800"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57809" y="1647190"/>
            <a:ext cx="8172450" cy="415544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81940">
              <a:lnSpc>
                <a:spcPct val="100000"/>
              </a:lnSpc>
              <a:spcBef>
                <a:spcPts val="700"/>
              </a:spcBef>
            </a:pPr>
            <a:r>
              <a:rPr dirty="0" sz="1800" spc="-5" b="1">
                <a:latin typeface="Georgia"/>
                <a:cs typeface="Georgia"/>
              </a:rPr>
              <a:t>public class </a:t>
            </a:r>
            <a:r>
              <a:rPr dirty="0" sz="1800" spc="-5">
                <a:latin typeface="Georgia"/>
                <a:cs typeface="Georgia"/>
              </a:rPr>
              <a:t>Student </a:t>
            </a:r>
            <a:r>
              <a:rPr dirty="0" sz="1800" spc="-5" b="1">
                <a:latin typeface="Georgia"/>
                <a:cs typeface="Georgia"/>
              </a:rPr>
              <a:t>implements</a:t>
            </a:r>
            <a:r>
              <a:rPr dirty="0" sz="1800" spc="-55" b="1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Comparable{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private </a:t>
            </a:r>
            <a:r>
              <a:rPr dirty="0" sz="1800" spc="-5">
                <a:latin typeface="Georgia"/>
                <a:cs typeface="Georgia"/>
              </a:rPr>
              <a:t>String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name;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private int</a:t>
            </a:r>
            <a:r>
              <a:rPr dirty="0" sz="1800" spc="-50" b="1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age;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public int </a:t>
            </a:r>
            <a:r>
              <a:rPr dirty="0" sz="1800" spc="-5">
                <a:latin typeface="Georgia"/>
                <a:cs typeface="Georgia"/>
              </a:rPr>
              <a:t>compareTo(Object obj)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if</a:t>
            </a:r>
            <a:r>
              <a:rPr dirty="0" sz="1800" spc="-5">
                <a:latin typeface="Georgia"/>
                <a:cs typeface="Georgia"/>
              </a:rPr>
              <a:t>(obj </a:t>
            </a:r>
            <a:r>
              <a:rPr dirty="0" sz="1800" spc="-5" b="1">
                <a:latin typeface="Georgia"/>
                <a:cs typeface="Georgia"/>
              </a:rPr>
              <a:t>instanceof</a:t>
            </a:r>
            <a:r>
              <a:rPr dirty="0" sz="1800" spc="-20" b="1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Student){</a:t>
            </a:r>
            <a:endParaRPr sz="1800">
              <a:latin typeface="Georgia"/>
              <a:cs typeface="Georgia"/>
            </a:endParaRPr>
          </a:p>
          <a:p>
            <a:pPr marL="2755900">
              <a:lnSpc>
                <a:spcPct val="100000"/>
              </a:lnSpc>
              <a:spcBef>
                <a:spcPts val="600"/>
              </a:spcBef>
            </a:pPr>
            <a:r>
              <a:rPr dirty="0" sz="1800" spc="-5">
                <a:latin typeface="Georgia"/>
                <a:cs typeface="Georgia"/>
              </a:rPr>
              <a:t>Student stu </a:t>
            </a:r>
            <a:r>
              <a:rPr dirty="0" sz="1800">
                <a:latin typeface="Georgia"/>
                <a:cs typeface="Georgia"/>
              </a:rPr>
              <a:t>= </a:t>
            </a:r>
            <a:r>
              <a:rPr dirty="0" sz="1800" spc="-5">
                <a:latin typeface="Georgia"/>
                <a:cs typeface="Georgia"/>
              </a:rPr>
              <a:t>(Student)obj;</a:t>
            </a:r>
            <a:endParaRPr sz="1800">
              <a:latin typeface="Georgia"/>
              <a:cs typeface="Georgia"/>
            </a:endParaRPr>
          </a:p>
          <a:p>
            <a:pPr marL="27559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return</a:t>
            </a:r>
            <a:r>
              <a:rPr dirty="0" sz="1800" spc="-45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this</a:t>
            </a:r>
            <a:r>
              <a:rPr dirty="0" sz="1800" spc="-5">
                <a:latin typeface="Georgia"/>
                <a:cs typeface="Georgia"/>
              </a:rPr>
              <a:t>.name.compareTo(stu.name);//</a:t>
            </a:r>
            <a:r>
              <a:rPr dirty="0" sz="1800">
                <a:latin typeface="宋体"/>
                <a:cs typeface="宋体"/>
              </a:rPr>
              <a:t>当前对象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Georgia"/>
                <a:cs typeface="Georgia"/>
              </a:rPr>
              <a:t>-</a:t>
            </a:r>
            <a:r>
              <a:rPr dirty="0" sz="1800">
                <a:latin typeface="宋体"/>
                <a:cs typeface="宋体"/>
              </a:rPr>
              <a:t>传入对象</a:t>
            </a:r>
            <a:endParaRPr sz="1800">
              <a:latin typeface="宋体"/>
              <a:cs typeface="宋体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return</a:t>
            </a:r>
            <a:r>
              <a:rPr dirty="0" sz="1800" spc="-30" b="1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0;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280035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789" y="1439545"/>
            <a:ext cx="7263765" cy="3013710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 marR="5080">
              <a:lnSpc>
                <a:spcPct val="79500"/>
              </a:lnSpc>
              <a:spcBef>
                <a:spcPts val="690"/>
              </a:spcBef>
            </a:pPr>
            <a:r>
              <a:rPr dirty="0" sz="2400" spc="-5">
                <a:latin typeface="宋体"/>
                <a:cs typeface="宋体"/>
              </a:rPr>
              <a:t>（</a:t>
            </a:r>
            <a:r>
              <a:rPr dirty="0" sz="2400" spc="-5">
                <a:latin typeface="Georgia"/>
                <a:cs typeface="Georgia"/>
              </a:rPr>
              <a:t>2</a:t>
            </a:r>
            <a:r>
              <a:rPr dirty="0" sz="2400" spc="-5">
                <a:latin typeface="宋体"/>
                <a:cs typeface="宋体"/>
              </a:rPr>
              <a:t>） </a:t>
            </a:r>
            <a:r>
              <a:rPr dirty="0" sz="2400" spc="-5">
                <a:latin typeface="Georgia"/>
                <a:cs typeface="Georgia"/>
              </a:rPr>
              <a:t>Create </a:t>
            </a:r>
            <a:r>
              <a:rPr dirty="0" sz="2400">
                <a:latin typeface="Georgia"/>
                <a:cs typeface="Georgia"/>
              </a:rPr>
              <a:t>a </a:t>
            </a:r>
            <a:r>
              <a:rPr dirty="0" sz="2400" spc="-5">
                <a:latin typeface="Georgia"/>
                <a:cs typeface="Georgia"/>
              </a:rPr>
              <a:t>separate class that implements the </a:t>
            </a: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Georgia"/>
                <a:cs typeface="Georgia"/>
              </a:rPr>
              <a:t>Comparator</a:t>
            </a:r>
            <a:r>
              <a:rPr dirty="0" sz="2400" spc="-30" b="1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400" spc="-5">
                <a:latin typeface="Georgia"/>
                <a:cs typeface="Georgia"/>
              </a:rPr>
              <a:t>interface. </a:t>
            </a:r>
            <a:r>
              <a:rPr dirty="0" sz="2400">
                <a:latin typeface="Georgia"/>
                <a:cs typeface="Georgia"/>
              </a:rPr>
              <a:t>(</a:t>
            </a:r>
            <a:r>
              <a:rPr dirty="0" sz="2400" spc="5">
                <a:latin typeface="Georgia"/>
                <a:cs typeface="Georgia"/>
              </a:rPr>
              <a:t> </a:t>
            </a: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compare(</a:t>
            </a:r>
            <a:r>
              <a:rPr dirty="0" sz="2400">
                <a:solidFill>
                  <a:srgbClr val="FF0000"/>
                </a:solidFill>
                <a:latin typeface="Georgia"/>
                <a:cs typeface="Georgia"/>
              </a:rPr>
              <a:t> )</a:t>
            </a:r>
            <a:r>
              <a:rPr dirty="0" sz="2400" spc="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2400">
                <a:solidFill>
                  <a:srgbClr val="FF0000"/>
                </a:solidFill>
                <a:latin typeface="Georgia"/>
                <a:cs typeface="Georgia"/>
              </a:rPr>
              <a:t>and </a:t>
            </a: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equals(</a:t>
            </a:r>
            <a:r>
              <a:rPr dirty="0" sz="2400">
                <a:solidFill>
                  <a:srgbClr val="FF0000"/>
                </a:solidFill>
                <a:latin typeface="Georgia"/>
                <a:cs typeface="Georgia"/>
              </a:rPr>
              <a:t> ))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比 较器法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50">
              <a:latin typeface="宋体"/>
              <a:cs typeface="宋体"/>
            </a:endParaRPr>
          </a:p>
          <a:p>
            <a:pPr marL="12700" marR="49530">
              <a:lnSpc>
                <a:spcPct val="79900"/>
              </a:lnSpc>
              <a:spcBef>
                <a:spcPts val="5"/>
              </a:spcBef>
            </a:pPr>
            <a:r>
              <a:rPr dirty="0" sz="2400">
                <a:latin typeface="宋体"/>
                <a:cs typeface="宋体"/>
              </a:rPr>
              <a:t>【例</a:t>
            </a:r>
            <a:r>
              <a:rPr dirty="0" sz="2400" spc="-5">
                <a:latin typeface="Georgia"/>
                <a:cs typeface="Georgia"/>
              </a:rPr>
              <a:t>8-7</a:t>
            </a:r>
            <a:r>
              <a:rPr dirty="0" sz="2400">
                <a:latin typeface="宋体"/>
                <a:cs typeface="宋体"/>
              </a:rPr>
              <a:t>】为</a:t>
            </a:r>
            <a:r>
              <a:rPr dirty="0" sz="2400" spc="-5">
                <a:latin typeface="Georgia"/>
                <a:cs typeface="Georgia"/>
              </a:rPr>
              <a:t>Student</a:t>
            </a:r>
            <a:r>
              <a:rPr dirty="0" sz="2400">
                <a:latin typeface="宋体"/>
                <a:cs typeface="宋体"/>
              </a:rPr>
              <a:t>类定义两个比较器 </a:t>
            </a:r>
            <a:r>
              <a:rPr dirty="0" sz="2400" spc="-5">
                <a:latin typeface="Georgia"/>
                <a:cs typeface="Georgia"/>
              </a:rPr>
              <a:t>ComparatorName</a:t>
            </a:r>
            <a:r>
              <a:rPr dirty="0" sz="2400">
                <a:latin typeface="宋体"/>
                <a:cs typeface="宋体"/>
              </a:rPr>
              <a:t>和</a:t>
            </a:r>
            <a:r>
              <a:rPr dirty="0" sz="2400" spc="-5">
                <a:latin typeface="Georgia"/>
                <a:cs typeface="Georgia"/>
              </a:rPr>
              <a:t>ComparatorNameAge</a:t>
            </a:r>
            <a:r>
              <a:rPr dirty="0" sz="2400">
                <a:latin typeface="宋体"/>
                <a:cs typeface="宋体"/>
              </a:rPr>
              <a:t>。 </a:t>
            </a:r>
            <a:r>
              <a:rPr dirty="0" sz="2400" spc="-5">
                <a:latin typeface="Georgia"/>
                <a:cs typeface="Georgia"/>
              </a:rPr>
              <a:t>ComparatorName </a:t>
            </a:r>
            <a:r>
              <a:rPr dirty="0" sz="2400">
                <a:latin typeface="宋体"/>
                <a:cs typeface="宋体"/>
              </a:rPr>
              <a:t>按 </a:t>
            </a:r>
            <a:r>
              <a:rPr dirty="0" sz="2400" spc="-5">
                <a:latin typeface="Georgia"/>
                <a:cs typeface="Georgia"/>
              </a:rPr>
              <a:t>name </a:t>
            </a:r>
            <a:r>
              <a:rPr dirty="0" sz="2400">
                <a:latin typeface="宋体"/>
                <a:cs typeface="宋体"/>
              </a:rPr>
              <a:t>排 序 ，  </a:t>
            </a:r>
            <a:r>
              <a:rPr dirty="0" sz="2400" spc="-5">
                <a:latin typeface="Georgia"/>
                <a:cs typeface="Georgia"/>
              </a:rPr>
              <a:t>ComparatorNameAge</a:t>
            </a:r>
            <a:r>
              <a:rPr dirty="0" sz="2400">
                <a:latin typeface="宋体"/>
                <a:cs typeface="宋体"/>
              </a:rPr>
              <a:t>在</a:t>
            </a:r>
            <a:r>
              <a:rPr dirty="0" sz="2400" spc="-5">
                <a:latin typeface="Georgia"/>
                <a:cs typeface="Georgia"/>
              </a:rPr>
              <a:t>name</a:t>
            </a:r>
            <a:r>
              <a:rPr dirty="0" sz="2400">
                <a:latin typeface="宋体"/>
                <a:cs typeface="宋体"/>
              </a:rPr>
              <a:t>相同时继续按</a:t>
            </a:r>
            <a:r>
              <a:rPr dirty="0" sz="2400" spc="-5">
                <a:latin typeface="Georgia"/>
                <a:cs typeface="Georgia"/>
              </a:rPr>
              <a:t>age</a:t>
            </a:r>
            <a:r>
              <a:rPr dirty="0" sz="2400">
                <a:latin typeface="宋体"/>
                <a:cs typeface="宋体"/>
              </a:rPr>
              <a:t>排序。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58127" y="1046479"/>
            <a:ext cx="8130540" cy="5274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spc="-5" b="1">
                <a:latin typeface="宋体"/>
                <a:cs typeface="宋体"/>
              </a:rPr>
              <a:t>．</a:t>
            </a:r>
            <a:r>
              <a:rPr dirty="0" sz="2100" b="1">
                <a:latin typeface="宋体"/>
                <a:cs typeface="宋体"/>
              </a:rPr>
              <a:t>向</a:t>
            </a:r>
            <a:r>
              <a:rPr dirty="0" sz="2100" spc="-5" b="1">
                <a:latin typeface="Georgia"/>
                <a:cs typeface="Georgia"/>
              </a:rPr>
              <a:t>TreeSet</a:t>
            </a:r>
            <a:r>
              <a:rPr dirty="0" sz="2100" b="1">
                <a:latin typeface="宋体"/>
                <a:cs typeface="宋体"/>
              </a:rPr>
              <a:t>注入比较</a:t>
            </a:r>
            <a:r>
              <a:rPr dirty="0" sz="2100" spc="-10" b="1">
                <a:latin typeface="宋体"/>
                <a:cs typeface="宋体"/>
              </a:rPr>
              <a:t>器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宋体"/>
              <a:cs typeface="宋体"/>
            </a:endParaRPr>
          </a:p>
          <a:p>
            <a:pPr marL="281940">
              <a:lnSpc>
                <a:spcPts val="2155"/>
              </a:lnSpc>
            </a:pPr>
            <a:r>
              <a:rPr dirty="0" sz="1800" spc="-5" b="1">
                <a:latin typeface="Georgia"/>
                <a:cs typeface="Georgia"/>
              </a:rPr>
              <a:t>public</a:t>
            </a:r>
            <a:r>
              <a:rPr dirty="0" sz="180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class</a:t>
            </a:r>
            <a:r>
              <a:rPr dirty="0" sz="1800" spc="5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ComparatorName</a:t>
            </a:r>
            <a:r>
              <a:rPr dirty="0" sz="1800" spc="5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implements</a:t>
            </a:r>
            <a:r>
              <a:rPr dirty="0" sz="1800" spc="5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Comparator{</a:t>
            </a:r>
            <a:r>
              <a:rPr dirty="0" sz="1800" spc="15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//</a:t>
            </a:r>
            <a:r>
              <a:rPr dirty="0" sz="1800" b="1">
                <a:latin typeface="宋体"/>
                <a:cs typeface="宋体"/>
              </a:rPr>
              <a:t>按</a:t>
            </a:r>
            <a:r>
              <a:rPr dirty="0" sz="1800" spc="-5" b="1">
                <a:latin typeface="Georgia"/>
                <a:cs typeface="Georgia"/>
              </a:rPr>
              <a:t>name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55"/>
              </a:lnSpc>
            </a:pPr>
            <a:r>
              <a:rPr dirty="0" sz="1800" b="1">
                <a:latin typeface="宋体"/>
                <a:cs typeface="宋体"/>
              </a:rPr>
              <a:t>进行排</a:t>
            </a:r>
            <a:r>
              <a:rPr dirty="0" sz="1800" spc="-10" b="1">
                <a:latin typeface="宋体"/>
                <a:cs typeface="宋体"/>
              </a:rPr>
              <a:t>序</a:t>
            </a:r>
            <a:endParaRPr sz="1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15"/>
              </a:spcBef>
            </a:pPr>
            <a:r>
              <a:rPr dirty="0" sz="1800" spc="-5" b="1">
                <a:latin typeface="Georgia"/>
                <a:cs typeface="Georgia"/>
              </a:rPr>
              <a:t>public int compare(Object obj1, Object obj2) </a:t>
            </a:r>
            <a:r>
              <a:rPr dirty="0" sz="1800" b="1"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if(obj1 instanceof Student </a:t>
            </a:r>
            <a:r>
              <a:rPr dirty="0" sz="1800" b="1">
                <a:latin typeface="Georgia"/>
                <a:cs typeface="Georgia"/>
              </a:rPr>
              <a:t>&amp;&amp; </a:t>
            </a:r>
            <a:r>
              <a:rPr dirty="0" sz="1800" spc="-5" b="1">
                <a:latin typeface="Georgia"/>
                <a:cs typeface="Georgia"/>
              </a:rPr>
              <a:t>obj2</a:t>
            </a:r>
            <a:r>
              <a:rPr dirty="0" sz="180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instanceof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latin typeface="Georgia"/>
                <a:cs typeface="Georgia"/>
              </a:rPr>
              <a:t>Student){</a:t>
            </a:r>
            <a:endParaRPr sz="1800">
              <a:latin typeface="Georgia"/>
              <a:cs typeface="Georgia"/>
            </a:endParaRPr>
          </a:p>
          <a:p>
            <a:pPr marL="2755900" marR="2117090">
              <a:lnSpc>
                <a:spcPct val="127800"/>
              </a:lnSpc>
            </a:pPr>
            <a:r>
              <a:rPr dirty="0" sz="1800" spc="-5" b="1">
                <a:latin typeface="Georgia"/>
                <a:cs typeface="Georgia"/>
              </a:rPr>
              <a:t>Student </a:t>
            </a:r>
            <a:r>
              <a:rPr dirty="0" sz="1800" b="1">
                <a:latin typeface="Georgia"/>
                <a:cs typeface="Georgia"/>
              </a:rPr>
              <a:t>s1 = </a:t>
            </a:r>
            <a:r>
              <a:rPr dirty="0" sz="1800" spc="-5" b="1">
                <a:latin typeface="Georgia"/>
                <a:cs typeface="Georgia"/>
              </a:rPr>
              <a:t>(Student)obj1;  Student </a:t>
            </a:r>
            <a:r>
              <a:rPr dirty="0" sz="1800" b="1">
                <a:latin typeface="Georgia"/>
                <a:cs typeface="Georgia"/>
              </a:rPr>
              <a:t>s2 =</a:t>
            </a:r>
            <a:r>
              <a:rPr dirty="0" sz="1800" spc="-3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(Student)obj2;</a:t>
            </a:r>
            <a:endParaRPr sz="1800">
              <a:latin typeface="Georgia"/>
              <a:cs typeface="Georgia"/>
            </a:endParaRPr>
          </a:p>
          <a:p>
            <a:pPr marL="2755900" marR="3345815">
              <a:lnSpc>
                <a:spcPct val="127800"/>
              </a:lnSpc>
            </a:pPr>
            <a:r>
              <a:rPr dirty="0" sz="1800" b="1">
                <a:latin typeface="Georgia"/>
                <a:cs typeface="Georgia"/>
              </a:rPr>
              <a:t>//</a:t>
            </a:r>
            <a:r>
              <a:rPr dirty="0" sz="1800" b="1">
                <a:latin typeface="宋体"/>
                <a:cs typeface="宋体"/>
              </a:rPr>
              <a:t>按</a:t>
            </a:r>
            <a:r>
              <a:rPr dirty="0" sz="1800" spc="-5" b="1">
                <a:latin typeface="Georgia"/>
                <a:cs typeface="Georgia"/>
              </a:rPr>
              <a:t>na</a:t>
            </a:r>
            <a:r>
              <a:rPr dirty="0" sz="1800" b="1">
                <a:latin typeface="Georgia"/>
                <a:cs typeface="Georgia"/>
              </a:rPr>
              <a:t>me</a:t>
            </a:r>
            <a:r>
              <a:rPr dirty="0" sz="1800" b="1">
                <a:latin typeface="宋体"/>
                <a:cs typeface="宋体"/>
              </a:rPr>
              <a:t>进行比</a:t>
            </a:r>
            <a:r>
              <a:rPr dirty="0" sz="1800" spc="-5" b="1">
                <a:latin typeface="宋体"/>
                <a:cs typeface="宋体"/>
              </a:rPr>
              <a:t>较  </a:t>
            </a:r>
            <a:r>
              <a:rPr dirty="0" sz="1800" spc="-5" b="1">
                <a:latin typeface="Georgia"/>
                <a:cs typeface="Georgia"/>
              </a:rPr>
              <a:t>return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latin typeface="Georgia"/>
                <a:cs typeface="Georgia"/>
              </a:rPr>
              <a:t>s1.getName().compareTo(s2.getName());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return</a:t>
            </a:r>
            <a:r>
              <a:rPr dirty="0" sz="1800" spc="-1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0;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281940">
              <a:lnSpc>
                <a:spcPct val="100000"/>
              </a:lnSpc>
              <a:spcBef>
                <a:spcPts val="60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58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739" y="1475104"/>
            <a:ext cx="8795385" cy="481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spc="-5" b="1">
                <a:latin typeface="宋体"/>
                <a:cs typeface="宋体"/>
              </a:rPr>
              <a:t>．</a:t>
            </a:r>
            <a:r>
              <a:rPr dirty="0" sz="2100" b="1">
                <a:latin typeface="宋体"/>
                <a:cs typeface="宋体"/>
              </a:rPr>
              <a:t>向</a:t>
            </a:r>
            <a:r>
              <a:rPr dirty="0" sz="2100" spc="-5" b="1">
                <a:latin typeface="Georgia"/>
                <a:cs typeface="Georgia"/>
              </a:rPr>
              <a:t>TreeSet</a:t>
            </a:r>
            <a:r>
              <a:rPr dirty="0" sz="2100" b="1">
                <a:latin typeface="宋体"/>
                <a:cs typeface="宋体"/>
              </a:rPr>
              <a:t>注入比较</a:t>
            </a:r>
            <a:r>
              <a:rPr dirty="0" sz="2100" spc="-10" b="1">
                <a:latin typeface="宋体"/>
                <a:cs typeface="宋体"/>
              </a:rPr>
              <a:t>器</a:t>
            </a:r>
            <a:endParaRPr sz="2100">
              <a:latin typeface="宋体"/>
              <a:cs typeface="宋体"/>
            </a:endParaRPr>
          </a:p>
          <a:p>
            <a:pPr marL="12700" marR="5080" indent="269240">
              <a:lnSpc>
                <a:spcPct val="100000"/>
              </a:lnSpc>
              <a:spcBef>
                <a:spcPts val="1700"/>
              </a:spcBef>
            </a:pPr>
            <a:r>
              <a:rPr dirty="0" sz="1800" spc="-5" b="1">
                <a:latin typeface="Georgia"/>
                <a:cs typeface="Georgia"/>
              </a:rPr>
              <a:t>public</a:t>
            </a:r>
            <a:r>
              <a:rPr dirty="0" sz="1800" spc="5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class</a:t>
            </a:r>
            <a:r>
              <a:rPr dirty="0" sz="1800" spc="1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ComparatorNameAge</a:t>
            </a:r>
            <a:r>
              <a:rPr dirty="0" sz="1800" spc="2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implements</a:t>
            </a:r>
            <a:r>
              <a:rPr dirty="0" sz="1800" spc="1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Comparator{</a:t>
            </a:r>
            <a:r>
              <a:rPr dirty="0" sz="1800" spc="5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//</a:t>
            </a:r>
            <a:r>
              <a:rPr dirty="0" sz="1800" b="1">
                <a:latin typeface="宋体"/>
                <a:cs typeface="宋体"/>
              </a:rPr>
              <a:t>按</a:t>
            </a:r>
            <a:r>
              <a:rPr dirty="0" sz="1800" spc="-5" b="1">
                <a:latin typeface="Georgia"/>
                <a:cs typeface="Georgia"/>
              </a:rPr>
              <a:t>name</a:t>
            </a:r>
            <a:r>
              <a:rPr dirty="0" sz="1800" spc="-10" b="1">
                <a:latin typeface="宋体"/>
                <a:cs typeface="宋体"/>
              </a:rPr>
              <a:t>和 </a:t>
            </a:r>
            <a:r>
              <a:rPr dirty="0" sz="1800" spc="-5" b="1">
                <a:latin typeface="Georgia"/>
                <a:cs typeface="Georgia"/>
              </a:rPr>
              <a:t>age</a:t>
            </a:r>
            <a:r>
              <a:rPr dirty="0" sz="1800" b="1">
                <a:latin typeface="宋体"/>
                <a:cs typeface="宋体"/>
              </a:rPr>
              <a:t>进行排</a:t>
            </a:r>
            <a:r>
              <a:rPr dirty="0" sz="1800" spc="-10" b="1">
                <a:latin typeface="宋体"/>
                <a:cs typeface="宋体"/>
              </a:rPr>
              <a:t>序</a:t>
            </a:r>
            <a:endParaRPr sz="18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public int compare(Object obj1, Object obj2) </a:t>
            </a:r>
            <a:r>
              <a:rPr dirty="0" sz="1800" b="1">
                <a:latin typeface="Georgia"/>
                <a:cs typeface="Georgia"/>
              </a:rPr>
              <a:t>{</a:t>
            </a:r>
            <a:endParaRPr sz="1800">
              <a:latin typeface="Georgia"/>
              <a:cs typeface="Georgia"/>
            </a:endParaRPr>
          </a:p>
          <a:p>
            <a:pPr marL="2755900" marR="439420" indent="-914400">
              <a:lnSpc>
                <a:spcPct val="127800"/>
              </a:lnSpc>
            </a:pPr>
            <a:r>
              <a:rPr dirty="0" sz="1800" spc="-5" b="1">
                <a:latin typeface="Georgia"/>
                <a:cs typeface="Georgia"/>
              </a:rPr>
              <a:t>if(obj1 instanceof Student </a:t>
            </a:r>
            <a:r>
              <a:rPr dirty="0" sz="1800" b="1">
                <a:latin typeface="Georgia"/>
                <a:cs typeface="Georgia"/>
              </a:rPr>
              <a:t>&amp;&amp; </a:t>
            </a:r>
            <a:r>
              <a:rPr dirty="0" sz="1800" spc="-5" b="1">
                <a:latin typeface="Georgia"/>
                <a:cs typeface="Georgia"/>
              </a:rPr>
              <a:t>obj2 instanceof Student){  Student </a:t>
            </a:r>
            <a:r>
              <a:rPr dirty="0" sz="1800" b="1">
                <a:latin typeface="Georgia"/>
                <a:cs typeface="Georgia"/>
              </a:rPr>
              <a:t>s1 =</a:t>
            </a:r>
            <a:r>
              <a:rPr dirty="0" sz="1800" spc="-15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(Student)obj1;</a:t>
            </a:r>
            <a:endParaRPr sz="1800">
              <a:latin typeface="Georgia"/>
              <a:cs typeface="Georgia"/>
            </a:endParaRPr>
          </a:p>
          <a:p>
            <a:pPr marL="2755900" marR="1358900">
              <a:lnSpc>
                <a:spcPct val="127800"/>
              </a:lnSpc>
            </a:pPr>
            <a:r>
              <a:rPr dirty="0" sz="1800" spc="-5" b="1">
                <a:latin typeface="Georgia"/>
                <a:cs typeface="Georgia"/>
              </a:rPr>
              <a:t>Student </a:t>
            </a:r>
            <a:r>
              <a:rPr dirty="0" sz="1800" b="1">
                <a:latin typeface="Georgia"/>
                <a:cs typeface="Georgia"/>
              </a:rPr>
              <a:t>s2 = </a:t>
            </a:r>
            <a:r>
              <a:rPr dirty="0" sz="1800" spc="-5" b="1">
                <a:latin typeface="Georgia"/>
                <a:cs typeface="Georgia"/>
              </a:rPr>
              <a:t>(Student)obj2;  if(s1.getName().equals(s2.getName())){</a:t>
            </a:r>
            <a:endParaRPr sz="1800">
              <a:latin typeface="Georgia"/>
              <a:cs typeface="Georgia"/>
            </a:endParaRPr>
          </a:p>
          <a:p>
            <a:pPr marL="36703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return s1.getAge()-s2.getAge();</a:t>
            </a:r>
            <a:endParaRPr sz="1800">
              <a:latin typeface="Georgia"/>
              <a:cs typeface="Georgia"/>
            </a:endParaRPr>
          </a:p>
          <a:p>
            <a:pPr marL="3670300">
              <a:lnSpc>
                <a:spcPct val="100000"/>
              </a:lnSpc>
            </a:pPr>
            <a:r>
              <a:rPr dirty="0" sz="1800" b="1">
                <a:latin typeface="Georgia"/>
                <a:cs typeface="Georgia"/>
              </a:rPr>
              <a:t>}else{</a:t>
            </a:r>
            <a:endParaRPr sz="1800">
              <a:latin typeface="Georgia"/>
              <a:cs typeface="Georgia"/>
            </a:endParaRPr>
          </a:p>
          <a:p>
            <a:pPr marL="12700" marR="431165" indent="3657600">
              <a:lnSpc>
                <a:spcPct val="100000"/>
              </a:lnSpc>
              <a:spcBef>
                <a:spcPts val="600"/>
              </a:spcBef>
              <a:tabLst>
                <a:tab pos="8241665" algn="l"/>
              </a:tabLst>
            </a:pPr>
            <a:r>
              <a:rPr dirty="0" sz="1800" spc="-5" b="1">
                <a:latin typeface="Georgia"/>
                <a:cs typeface="Georgia"/>
              </a:rPr>
              <a:t>return  </a:t>
            </a:r>
            <a:r>
              <a:rPr dirty="0" sz="1800" b="1">
                <a:latin typeface="Georgia"/>
                <a:cs typeface="Georgia"/>
              </a:rPr>
              <a:t>s</a:t>
            </a:r>
            <a:r>
              <a:rPr dirty="0" sz="1800" spc="-5" b="1">
                <a:latin typeface="Georgia"/>
                <a:cs typeface="Georgia"/>
              </a:rPr>
              <a:t>1.</a:t>
            </a:r>
            <a:r>
              <a:rPr dirty="0" sz="1800" b="1">
                <a:latin typeface="Georgia"/>
                <a:cs typeface="Georgia"/>
              </a:rPr>
              <a:t>ge</a:t>
            </a:r>
            <a:r>
              <a:rPr dirty="0" sz="1800" spc="-5" b="1">
                <a:latin typeface="Georgia"/>
                <a:cs typeface="Georgia"/>
              </a:rPr>
              <a:t>tNa</a:t>
            </a:r>
            <a:r>
              <a:rPr dirty="0" sz="1800" b="1">
                <a:latin typeface="Georgia"/>
                <a:cs typeface="Georgia"/>
              </a:rPr>
              <a:t>me()</a:t>
            </a:r>
            <a:r>
              <a:rPr dirty="0" sz="1800" spc="-5" b="1">
                <a:latin typeface="Georgia"/>
                <a:cs typeface="Georgia"/>
              </a:rPr>
              <a:t>.c</a:t>
            </a:r>
            <a:r>
              <a:rPr dirty="0" sz="1800" b="1">
                <a:latin typeface="Georgia"/>
                <a:cs typeface="Georgia"/>
              </a:rPr>
              <a:t>omp</a:t>
            </a:r>
            <a:r>
              <a:rPr dirty="0" sz="1800" spc="-5" b="1">
                <a:latin typeface="Georgia"/>
                <a:cs typeface="Georgia"/>
              </a:rPr>
              <a:t>ar</a:t>
            </a:r>
            <a:r>
              <a:rPr dirty="0" sz="1800" b="1">
                <a:latin typeface="Georgia"/>
                <a:cs typeface="Georgia"/>
              </a:rPr>
              <a:t>e</a:t>
            </a:r>
            <a:r>
              <a:rPr dirty="0" sz="1800" spc="-5" b="1">
                <a:latin typeface="Georgia"/>
                <a:cs typeface="Georgia"/>
              </a:rPr>
              <a:t>T</a:t>
            </a:r>
            <a:r>
              <a:rPr dirty="0" sz="1800" b="1">
                <a:latin typeface="Georgia"/>
                <a:cs typeface="Georgia"/>
              </a:rPr>
              <a:t>o(s2</a:t>
            </a:r>
            <a:r>
              <a:rPr dirty="0" sz="1800" spc="-5" b="1">
                <a:latin typeface="Georgia"/>
                <a:cs typeface="Georgia"/>
              </a:rPr>
              <a:t>.</a:t>
            </a:r>
            <a:r>
              <a:rPr dirty="0" sz="1800" b="1">
                <a:latin typeface="Georgia"/>
                <a:cs typeface="Georgia"/>
              </a:rPr>
              <a:t>ge</a:t>
            </a:r>
            <a:r>
              <a:rPr dirty="0" sz="1800" spc="-5" b="1">
                <a:latin typeface="Georgia"/>
                <a:cs typeface="Georgia"/>
              </a:rPr>
              <a:t>tNa</a:t>
            </a:r>
            <a:r>
              <a:rPr dirty="0" sz="1800" b="1">
                <a:latin typeface="Georgia"/>
                <a:cs typeface="Georgia"/>
              </a:rPr>
              <a:t>me());	}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</a:pPr>
            <a:r>
              <a:rPr dirty="0" sz="1800" spc="-5" b="1">
                <a:latin typeface="Georgia"/>
                <a:cs typeface="Georgia"/>
              </a:rPr>
              <a:t>return</a:t>
            </a:r>
            <a:r>
              <a:rPr dirty="0" sz="1800" spc="-10" b="1">
                <a:latin typeface="Georgia"/>
                <a:cs typeface="Georgia"/>
              </a:rPr>
              <a:t> </a:t>
            </a:r>
            <a:r>
              <a:rPr dirty="0" sz="1800" spc="-5" b="1">
                <a:latin typeface="Georgia"/>
                <a:cs typeface="Georgia"/>
              </a:rPr>
              <a:t>0;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3139" y="633923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6709" y="668975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88595" y="1475104"/>
            <a:ext cx="8338184" cy="34309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3</a:t>
            </a:r>
            <a:r>
              <a:rPr dirty="0" sz="2100" spc="-5" b="1">
                <a:latin typeface="宋体"/>
                <a:cs typeface="宋体"/>
              </a:rPr>
              <a:t>．</a:t>
            </a:r>
            <a:r>
              <a:rPr dirty="0" sz="2100" b="1">
                <a:latin typeface="宋体"/>
                <a:cs typeface="宋体"/>
              </a:rPr>
              <a:t>向</a:t>
            </a:r>
            <a:r>
              <a:rPr dirty="0" sz="2100" spc="-5" b="1">
                <a:latin typeface="Georgia"/>
                <a:cs typeface="Georgia"/>
              </a:rPr>
              <a:t>TreeSet</a:t>
            </a:r>
            <a:r>
              <a:rPr dirty="0" sz="2100" b="1">
                <a:latin typeface="宋体"/>
                <a:cs typeface="宋体"/>
              </a:rPr>
              <a:t>注入比较</a:t>
            </a:r>
            <a:r>
              <a:rPr dirty="0" sz="2100" spc="-10" b="1">
                <a:latin typeface="宋体"/>
                <a:cs typeface="宋体"/>
              </a:rPr>
              <a:t>器</a:t>
            </a:r>
            <a:endParaRPr sz="21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 marL="154305" marR="5080" indent="281305">
              <a:lnSpc>
                <a:spcPct val="100000"/>
              </a:lnSpc>
              <a:spcBef>
                <a:spcPts val="2014"/>
              </a:spcBef>
              <a:tabLst>
                <a:tab pos="3010535" algn="l"/>
                <a:tab pos="4615815" algn="l"/>
                <a:tab pos="4951730" algn="l"/>
                <a:tab pos="5741670" algn="l"/>
              </a:tabLst>
            </a:pPr>
            <a:r>
              <a:rPr dirty="0" sz="2000" b="1">
                <a:latin typeface="Georgia"/>
                <a:cs typeface="Georgia"/>
              </a:rPr>
              <a:t>S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&lt;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4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u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d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&gt;	s</a:t>
            </a:r>
            <a:r>
              <a:rPr dirty="0" sz="2000" spc="-15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4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u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d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	=	n</a:t>
            </a:r>
            <a:r>
              <a:rPr dirty="0" sz="2000" spc="-15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w	T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r</a:t>
            </a:r>
            <a:r>
              <a:rPr dirty="0" sz="2000" spc="-15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&lt;</a:t>
            </a:r>
            <a:r>
              <a:rPr dirty="0" sz="2000" spc="-15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&gt;</a:t>
            </a:r>
            <a:r>
              <a:rPr dirty="0" sz="2000" spc="-15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(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</a:t>
            </a:r>
            <a:r>
              <a:rPr dirty="0" sz="2000" spc="-15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4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w  </a:t>
            </a:r>
            <a:r>
              <a:rPr dirty="0" sz="2000" spc="-5" b="1">
                <a:latin typeface="Georgia"/>
                <a:cs typeface="Georgia"/>
              </a:rPr>
              <a:t>ComparatorName())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>
              <a:latin typeface="Georgia"/>
              <a:cs typeface="Georgia"/>
            </a:endParaRPr>
          </a:p>
          <a:p>
            <a:pPr marL="424180">
              <a:lnSpc>
                <a:spcPct val="100000"/>
              </a:lnSpc>
            </a:pPr>
            <a:r>
              <a:rPr dirty="0" sz="2000" b="1">
                <a:latin typeface="宋体"/>
                <a:cs typeface="宋体"/>
              </a:rPr>
              <a:t>或者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宋体"/>
              <a:cs typeface="宋体"/>
            </a:endParaRPr>
          </a:p>
          <a:p>
            <a:pPr marL="154305" marR="5080" indent="269875">
              <a:lnSpc>
                <a:spcPct val="100000"/>
              </a:lnSpc>
              <a:tabLst>
                <a:tab pos="2929255" algn="l"/>
                <a:tab pos="4563110" algn="l"/>
                <a:tab pos="4905375" algn="l"/>
                <a:tab pos="5708015" algn="l"/>
              </a:tabLst>
            </a:pPr>
            <a:r>
              <a:rPr dirty="0" sz="2000" b="1">
                <a:latin typeface="Georgia"/>
                <a:cs typeface="Georgia"/>
              </a:rPr>
              <a:t>S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14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&lt;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14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u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d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&gt;	s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u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d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	=	n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w	T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r</a:t>
            </a:r>
            <a:r>
              <a:rPr dirty="0" sz="2000" spc="-13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t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&lt;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&gt;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(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n</a:t>
            </a:r>
            <a:r>
              <a:rPr dirty="0" sz="2000" spc="-12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e</a:t>
            </a:r>
            <a:r>
              <a:rPr dirty="0" sz="2000" spc="-1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w  </a:t>
            </a:r>
            <a:r>
              <a:rPr dirty="0" sz="2000" spc="-5" b="1">
                <a:latin typeface="Georgia"/>
                <a:cs typeface="Georgia"/>
              </a:rPr>
              <a:t>ComparatorNameAge());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2879"/>
            <a:ext cx="7832725" cy="16941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430530" indent="-417830">
              <a:lnSpc>
                <a:spcPct val="100000"/>
              </a:lnSpc>
              <a:spcBef>
                <a:spcPts val="275"/>
              </a:spcBef>
              <a:buSzPct val="95238"/>
              <a:buAutoNum type="arabicPeriod" startAt="4"/>
              <a:tabLst>
                <a:tab pos="430530" algn="l"/>
              </a:tabLst>
            </a:pPr>
            <a:r>
              <a:rPr dirty="0" sz="2100" spc="-5">
                <a:latin typeface="Georgia"/>
                <a:cs typeface="Georgia"/>
              </a:rPr>
              <a:t>HashSet</a:t>
            </a:r>
            <a:r>
              <a:rPr dirty="0" sz="2100">
                <a:latin typeface="宋体"/>
                <a:cs typeface="宋体"/>
              </a:rPr>
              <a:t>和</a:t>
            </a:r>
            <a:r>
              <a:rPr dirty="0" sz="2100" spc="-5">
                <a:latin typeface="Georgia"/>
                <a:cs typeface="Georgia"/>
              </a:rPr>
              <a:t>TreeSet</a:t>
            </a:r>
            <a:r>
              <a:rPr dirty="0" sz="2100">
                <a:latin typeface="宋体"/>
                <a:cs typeface="宋体"/>
              </a:rPr>
              <a:t>的选用</a:t>
            </a:r>
            <a:endParaRPr sz="2100">
              <a:latin typeface="宋体"/>
              <a:cs typeface="宋体"/>
            </a:endParaRPr>
          </a:p>
          <a:p>
            <a:pPr lvl="1" marL="417195" marR="93345" indent="-171450">
              <a:lnSpc>
                <a:spcPts val="1950"/>
              </a:lnSpc>
              <a:spcBef>
                <a:spcPts val="39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宋体"/>
                <a:cs typeface="宋体"/>
              </a:rPr>
              <a:t>原则：取决于集合中存放的对象，如果不需要对对象进行排序，那么就没 有理由在排序上花费不必要的开销，使用</a:t>
            </a:r>
            <a:r>
              <a:rPr dirty="0" sz="1800" spc="-5">
                <a:latin typeface="Georgia"/>
                <a:cs typeface="Georgia"/>
              </a:rPr>
              <a:t>HashSet</a:t>
            </a:r>
            <a:r>
              <a:rPr dirty="0" sz="1800">
                <a:latin typeface="宋体"/>
                <a:cs typeface="宋体"/>
              </a:rPr>
              <a:t>即可。</a:t>
            </a:r>
            <a:endParaRPr sz="1800">
              <a:latin typeface="宋体"/>
              <a:cs typeface="宋体"/>
            </a:endParaRPr>
          </a:p>
          <a:p>
            <a:pPr lvl="1" marL="417195" marR="5080" indent="-171450">
              <a:lnSpc>
                <a:spcPct val="89500"/>
              </a:lnSpc>
              <a:spcBef>
                <a:spcPts val="35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宋体"/>
                <a:cs typeface="宋体"/>
              </a:rPr>
              <a:t>散列的规则通常更容易定义，只需要打散排列各个对象就行。而</a:t>
            </a:r>
            <a:r>
              <a:rPr dirty="0" sz="1800">
                <a:latin typeface="Georgia"/>
                <a:cs typeface="Georgia"/>
              </a:rPr>
              <a:t>T</a:t>
            </a:r>
            <a:r>
              <a:rPr dirty="0" sz="1800" spc="-5">
                <a:latin typeface="Georgia"/>
                <a:cs typeface="Georgia"/>
              </a:rPr>
              <a:t>ree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宋体"/>
                <a:cs typeface="宋体"/>
              </a:rPr>
              <a:t>要 求任何两个对象都必须具有可比性，可是在有的应用中比较的规则会很难 定义。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1913889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.4.3	</a:t>
            </a:r>
            <a:r>
              <a:rPr dirty="0" sz="2100" spc="-5" b="1">
                <a:latin typeface="Georgia"/>
                <a:cs typeface="Georgia"/>
              </a:rPr>
              <a:t>Tree</a:t>
            </a:r>
            <a:r>
              <a:rPr dirty="0" sz="2100" b="1">
                <a:latin typeface="Georgia"/>
                <a:cs typeface="Georgia"/>
              </a:rPr>
              <a:t>S</a:t>
            </a:r>
            <a:r>
              <a:rPr dirty="0" sz="2100" spc="-5" b="1">
                <a:latin typeface="Georgia"/>
                <a:cs typeface="Georgia"/>
              </a:rPr>
              <a:t>e</a:t>
            </a:r>
            <a:r>
              <a:rPr dirty="0" sz="2100" b="1">
                <a:latin typeface="Georgia"/>
                <a:cs typeface="Georgia"/>
              </a:rPr>
              <a:t>t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445" y="1113154"/>
            <a:ext cx="7935595" cy="170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0" indent="-17145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用于保存具有映射关系的数据，它们以键值对</a:t>
            </a:r>
            <a:endParaRPr sz="2400">
              <a:latin typeface="宋体"/>
              <a:cs typeface="宋体"/>
            </a:endParaRPr>
          </a:p>
          <a:p>
            <a:pPr algn="just" marL="184150" marR="5080">
              <a:lnSpc>
                <a:spcPts val="2590"/>
              </a:lnSpc>
              <a:spcBef>
                <a:spcPts val="180"/>
              </a:spcBef>
            </a:pPr>
            <a:r>
              <a:rPr dirty="0" sz="2400" spc="-5">
                <a:latin typeface="Georgia"/>
                <a:cs typeface="Georgia"/>
              </a:rPr>
              <a:t>&lt;key,value&gt;</a:t>
            </a:r>
            <a:r>
              <a:rPr dirty="0" sz="2400">
                <a:latin typeface="宋体"/>
                <a:cs typeface="宋体"/>
              </a:rPr>
              <a:t>的形式存在</a:t>
            </a:r>
            <a:r>
              <a:rPr dirty="0" sz="2400" spc="-5">
                <a:latin typeface="宋体"/>
                <a:cs typeface="宋体"/>
              </a:rPr>
              <a:t>，</a:t>
            </a:r>
            <a:r>
              <a:rPr dirty="0" sz="2400" spc="-5">
                <a:latin typeface="Georgia"/>
                <a:cs typeface="Georgia"/>
              </a:rPr>
              <a:t>key</a:t>
            </a:r>
            <a:r>
              <a:rPr dirty="0" sz="2400">
                <a:latin typeface="宋体"/>
                <a:cs typeface="宋体"/>
              </a:rPr>
              <a:t>与</a:t>
            </a:r>
            <a:r>
              <a:rPr dirty="0" sz="2400" spc="-5">
                <a:latin typeface="Georgia"/>
                <a:cs typeface="Georgia"/>
              </a:rPr>
              <a:t>value</a:t>
            </a:r>
            <a:r>
              <a:rPr dirty="0" sz="2400">
                <a:latin typeface="宋体"/>
                <a:cs typeface="宋体"/>
              </a:rPr>
              <a:t>之间存在一对一的关 系，多组键值对信息存放于</a:t>
            </a: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集合中。</a:t>
            </a: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集合将键、 值分别存放，键的集合用</a:t>
            </a:r>
            <a:r>
              <a:rPr dirty="0" sz="2400" spc="-5">
                <a:latin typeface="Georgia"/>
                <a:cs typeface="Georgia"/>
              </a:rPr>
              <a:t>Se</a:t>
            </a:r>
            <a:r>
              <a:rPr dirty="0" sz="2400">
                <a:latin typeface="Georgia"/>
                <a:cs typeface="Georgia"/>
              </a:rPr>
              <a:t>t</a:t>
            </a:r>
            <a:r>
              <a:rPr dirty="0" sz="2400">
                <a:latin typeface="宋体"/>
                <a:cs typeface="宋体"/>
              </a:rPr>
              <a:t>存储，不允许重复、无序；值 的集合用</a:t>
            </a:r>
            <a:r>
              <a:rPr dirty="0" sz="2400" spc="-5">
                <a:latin typeface="Georgia"/>
                <a:cs typeface="Georgia"/>
              </a:rPr>
              <a:t>List</a:t>
            </a:r>
            <a:r>
              <a:rPr dirty="0" sz="2400">
                <a:latin typeface="宋体"/>
                <a:cs typeface="宋体"/>
              </a:rPr>
              <a:t>存储，与</a:t>
            </a:r>
            <a:r>
              <a:rPr dirty="0" sz="2400" spc="-5">
                <a:latin typeface="Georgia"/>
                <a:cs typeface="Georgia"/>
              </a:rPr>
              <a:t>Set</a:t>
            </a:r>
            <a:r>
              <a:rPr dirty="0" sz="2400">
                <a:latin typeface="宋体"/>
                <a:cs typeface="宋体"/>
              </a:rPr>
              <a:t>对应、可以重复、有序。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253492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594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	M</a:t>
            </a:r>
            <a:r>
              <a:rPr dirty="0" sz="2100" spc="-5" b="1">
                <a:latin typeface="Georgia"/>
                <a:cs typeface="Georgia"/>
              </a:rPr>
              <a:t>ap</a:t>
            </a:r>
            <a:r>
              <a:rPr dirty="0" sz="2100" b="1">
                <a:latin typeface="宋体"/>
                <a:cs typeface="宋体"/>
              </a:rPr>
              <a:t>及其实现</a:t>
            </a:r>
            <a:r>
              <a:rPr dirty="0" sz="2100" spc="-10" b="1">
                <a:latin typeface="宋体"/>
                <a:cs typeface="宋体"/>
              </a:rPr>
              <a:t>类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4455" y="2912568"/>
            <a:ext cx="3883211" cy="3108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9247"/>
            <a:ext cx="194945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438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.5.1	M</a:t>
            </a:r>
            <a:r>
              <a:rPr dirty="0" sz="2100" spc="-5" b="1">
                <a:latin typeface="Georgia"/>
                <a:cs typeface="Georgia"/>
              </a:rPr>
              <a:t>ap</a:t>
            </a:r>
            <a:r>
              <a:rPr dirty="0" sz="2100" b="1">
                <a:latin typeface="宋体"/>
                <a:cs typeface="宋体"/>
              </a:rPr>
              <a:t>接</a:t>
            </a:r>
            <a:r>
              <a:rPr dirty="0" sz="2100" spc="-10" b="1">
                <a:latin typeface="宋体"/>
                <a:cs typeface="宋体"/>
              </a:rPr>
              <a:t>口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7532" y="2493264"/>
            <a:ext cx="810768" cy="1316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1469390"/>
            <a:ext cx="8389620" cy="219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>
                <a:latin typeface="Georgia"/>
                <a:cs typeface="Georgia"/>
              </a:rPr>
              <a:t>Map</a:t>
            </a:r>
            <a:r>
              <a:rPr dirty="0" sz="2100">
                <a:latin typeface="宋体"/>
                <a:cs typeface="宋体"/>
              </a:rPr>
              <a:t>接口中的常用方法：</a:t>
            </a:r>
            <a:r>
              <a:rPr dirty="0" sz="2400">
                <a:latin typeface="宋体"/>
                <a:cs typeface="宋体"/>
              </a:rPr>
              <a:t>查看</a:t>
            </a:r>
            <a:r>
              <a:rPr dirty="0" sz="2400" spc="-5">
                <a:latin typeface="Georgia"/>
                <a:cs typeface="Georgia"/>
              </a:rPr>
              <a:t>API</a:t>
            </a:r>
            <a:r>
              <a:rPr dirty="0" sz="2400">
                <a:latin typeface="宋体"/>
                <a:cs typeface="宋体"/>
              </a:rPr>
              <a:t>文档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700">
              <a:latin typeface="宋体"/>
              <a:cs typeface="宋体"/>
            </a:endParaRPr>
          </a:p>
          <a:p>
            <a:pPr marL="2136140" marR="5080">
              <a:lnSpc>
                <a:spcPct val="100000"/>
              </a:lnSpc>
              <a:spcBef>
                <a:spcPts val="2065"/>
              </a:spcBef>
            </a:pPr>
            <a:r>
              <a:rPr dirty="0" sz="2400">
                <a:latin typeface="宋体"/>
                <a:cs typeface="宋体"/>
              </a:rPr>
              <a:t>事实上</a:t>
            </a:r>
            <a:r>
              <a:rPr dirty="0" sz="2400" spc="-5">
                <a:latin typeface="宋体"/>
                <a:cs typeface="宋体"/>
              </a:rPr>
              <a:t>，</a:t>
            </a:r>
            <a:r>
              <a:rPr dirty="0" sz="2400" spc="-5">
                <a:latin typeface="Georgia"/>
                <a:cs typeface="Georgia"/>
              </a:rPr>
              <a:t>Java</a:t>
            </a:r>
            <a:r>
              <a:rPr dirty="0" sz="2400">
                <a:latin typeface="宋体"/>
                <a:cs typeface="宋体"/>
              </a:rPr>
              <a:t>是先实现了</a:t>
            </a: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 spc="-5">
                <a:latin typeface="宋体"/>
                <a:cs typeface="宋体"/>
              </a:rPr>
              <a:t>，</a:t>
            </a:r>
            <a:r>
              <a:rPr dirty="0" sz="2400">
                <a:latin typeface="宋体"/>
                <a:cs typeface="宋体"/>
              </a:rPr>
              <a:t>然后通过包装 一个所有</a:t>
            </a:r>
            <a:r>
              <a:rPr dirty="0" sz="2400" spc="-5">
                <a:latin typeface="Georgia"/>
                <a:cs typeface="Georgia"/>
              </a:rPr>
              <a:t>v</a:t>
            </a:r>
            <a:r>
              <a:rPr dirty="0" sz="2400">
                <a:latin typeface="Georgia"/>
                <a:cs typeface="Georgia"/>
              </a:rPr>
              <a:t>a</a:t>
            </a:r>
            <a:r>
              <a:rPr dirty="0" sz="2400" spc="-5">
                <a:latin typeface="Georgia"/>
                <a:cs typeface="Georgia"/>
              </a:rPr>
              <a:t>lue</a:t>
            </a:r>
            <a:r>
              <a:rPr dirty="0" sz="2400">
                <a:latin typeface="宋体"/>
                <a:cs typeface="宋体"/>
              </a:rPr>
              <a:t>都为</a:t>
            </a:r>
            <a:r>
              <a:rPr dirty="0" sz="2400">
                <a:latin typeface="Georgia"/>
                <a:cs typeface="Georgia"/>
              </a:rPr>
              <a:t>n</a:t>
            </a:r>
            <a:r>
              <a:rPr dirty="0" sz="2400" spc="-5">
                <a:latin typeface="Georgia"/>
                <a:cs typeface="Georgia"/>
              </a:rPr>
              <a:t>ull</a:t>
            </a:r>
            <a:r>
              <a:rPr dirty="0" sz="2400">
                <a:latin typeface="宋体"/>
                <a:cs typeface="宋体"/>
              </a:rPr>
              <a:t>的</a:t>
            </a:r>
            <a:r>
              <a:rPr dirty="0" sz="2400" spc="-5">
                <a:latin typeface="Georgia"/>
                <a:cs typeface="Georgia"/>
              </a:rPr>
              <a:t>M</a:t>
            </a:r>
            <a:r>
              <a:rPr dirty="0" sz="2400">
                <a:latin typeface="Georgia"/>
                <a:cs typeface="Georgia"/>
              </a:rPr>
              <a:t>a</a:t>
            </a:r>
            <a:r>
              <a:rPr dirty="0" sz="2400" spc="-5">
                <a:latin typeface="Georgia"/>
                <a:cs typeface="Georgia"/>
              </a:rPr>
              <a:t>p</a:t>
            </a:r>
            <a:r>
              <a:rPr dirty="0" sz="2400">
                <a:latin typeface="宋体"/>
                <a:cs typeface="宋体"/>
              </a:rPr>
              <a:t>实现了</a:t>
            </a:r>
            <a:r>
              <a:rPr dirty="0" sz="2400" spc="-5">
                <a:latin typeface="Georgia"/>
                <a:cs typeface="Georgia"/>
              </a:rPr>
              <a:t>Se</a:t>
            </a:r>
            <a:r>
              <a:rPr dirty="0" sz="2400">
                <a:latin typeface="Georgia"/>
                <a:cs typeface="Georgia"/>
              </a:rPr>
              <a:t>t</a:t>
            </a:r>
            <a:r>
              <a:rPr dirty="0" sz="2400">
                <a:latin typeface="宋体"/>
                <a:cs typeface="宋体"/>
              </a:rPr>
              <a:t>，在底 层只有</a:t>
            </a: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5104"/>
            <a:ext cx="7734934" cy="63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0"/>
              </a:lnSpc>
              <a:spcBef>
                <a:spcPts val="100"/>
              </a:spcBef>
            </a:pPr>
            <a:r>
              <a:rPr dirty="0" sz="2100">
                <a:latin typeface="宋体"/>
                <a:cs typeface="宋体"/>
              </a:rPr>
              <a:t>【例</a:t>
            </a:r>
            <a:r>
              <a:rPr dirty="0" sz="2100" spc="-5">
                <a:latin typeface="Georgia"/>
                <a:cs typeface="Georgia"/>
              </a:rPr>
              <a:t>8-8</a:t>
            </a:r>
            <a:r>
              <a:rPr dirty="0" sz="2100">
                <a:latin typeface="宋体"/>
                <a:cs typeface="宋体"/>
              </a:rPr>
              <a:t>】假设有一份学生名单，键是学生的</a:t>
            </a:r>
            <a:r>
              <a:rPr dirty="0" sz="2100" spc="-5">
                <a:latin typeface="Georgia"/>
                <a:cs typeface="Georgia"/>
              </a:rPr>
              <a:t>id</a:t>
            </a:r>
            <a:r>
              <a:rPr dirty="0" sz="2100" spc="-5">
                <a:latin typeface="宋体"/>
                <a:cs typeface="宋体"/>
              </a:rPr>
              <a:t>，</a:t>
            </a:r>
            <a:r>
              <a:rPr dirty="0" sz="2100">
                <a:latin typeface="宋体"/>
                <a:cs typeface="宋体"/>
              </a:rPr>
              <a:t>值是</a:t>
            </a:r>
            <a:r>
              <a:rPr dirty="0" sz="2100" spc="-5">
                <a:latin typeface="Georgia"/>
                <a:cs typeface="Georgia"/>
              </a:rPr>
              <a:t>Student</a:t>
            </a:r>
            <a:r>
              <a:rPr dirty="0" sz="2100">
                <a:latin typeface="宋体"/>
                <a:cs typeface="宋体"/>
              </a:rPr>
              <a:t>对象</a:t>
            </a:r>
            <a:endParaRPr sz="2100">
              <a:latin typeface="宋体"/>
              <a:cs typeface="宋体"/>
            </a:endParaRPr>
          </a:p>
          <a:p>
            <a:pPr marL="12700">
              <a:lnSpc>
                <a:spcPts val="2390"/>
              </a:lnSpc>
            </a:pPr>
            <a:r>
              <a:rPr dirty="0" sz="2100">
                <a:latin typeface="宋体"/>
                <a:cs typeface="宋体"/>
              </a:rPr>
              <a:t>（包括</a:t>
            </a:r>
            <a:r>
              <a:rPr dirty="0" sz="2100" spc="-5">
                <a:latin typeface="Georgia"/>
                <a:cs typeface="Georgia"/>
              </a:rPr>
              <a:t>name</a:t>
            </a:r>
            <a:r>
              <a:rPr dirty="0" sz="2100">
                <a:latin typeface="宋体"/>
                <a:cs typeface="宋体"/>
              </a:rPr>
              <a:t>和</a:t>
            </a:r>
            <a:r>
              <a:rPr dirty="0" sz="2100" spc="-5">
                <a:latin typeface="Georgia"/>
                <a:cs typeface="Georgia"/>
              </a:rPr>
              <a:t>age</a:t>
            </a:r>
            <a:r>
              <a:rPr dirty="0" sz="2100">
                <a:latin typeface="宋体"/>
                <a:cs typeface="宋体"/>
              </a:rPr>
              <a:t>信息）。建立</a:t>
            </a:r>
            <a:r>
              <a:rPr dirty="0" sz="2100" spc="-5">
                <a:latin typeface="Georgia"/>
                <a:cs typeface="Georgia"/>
              </a:rPr>
              <a:t>HashMap</a:t>
            </a:r>
            <a:r>
              <a:rPr dirty="0" sz="2100">
                <a:latin typeface="宋体"/>
                <a:cs typeface="宋体"/>
              </a:rPr>
              <a:t>对学生信息进行管理。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17106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p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8531" y="3303396"/>
            <a:ext cx="577024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Georgia"/>
                <a:cs typeface="Georgia"/>
              </a:rPr>
              <a:t>HashMap</a:t>
            </a:r>
            <a:r>
              <a:rPr dirty="0" sz="2400">
                <a:latin typeface="宋体"/>
                <a:cs typeface="宋体"/>
              </a:rPr>
              <a:t>的键在使用时，需要遵守与 </a:t>
            </a:r>
            <a:r>
              <a:rPr dirty="0" sz="2400" spc="-5">
                <a:latin typeface="Georgia"/>
                <a:cs typeface="Georgia"/>
              </a:rPr>
              <a:t>HashSet</a:t>
            </a:r>
            <a:r>
              <a:rPr dirty="0" sz="2400">
                <a:latin typeface="宋体"/>
                <a:cs typeface="宋体"/>
              </a:rPr>
              <a:t>一样的规则：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如果需要重写 </a:t>
            </a: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equals()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方法，那么同时重写</a:t>
            </a:r>
            <a:r>
              <a:rPr dirty="0" sz="2400" spc="-5">
                <a:solidFill>
                  <a:srgbClr val="FF0000"/>
                </a:solidFill>
                <a:latin typeface="Georgia"/>
                <a:cs typeface="Georgia"/>
              </a:rPr>
              <a:t>hashCode()  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方法，并保证两个方法判断标准是一致 </a:t>
            </a:r>
            <a:r>
              <a:rPr dirty="0" sz="2400">
                <a:latin typeface="宋体"/>
                <a:cs typeface="宋体"/>
              </a:rPr>
              <a:t>的，因为</a:t>
            </a:r>
            <a:r>
              <a:rPr dirty="0" sz="2400" spc="-5">
                <a:latin typeface="Georgia"/>
                <a:cs typeface="Georgia"/>
              </a:rPr>
              <a:t>H</a:t>
            </a:r>
            <a:r>
              <a:rPr dirty="0" sz="2400">
                <a:latin typeface="Georgia"/>
                <a:cs typeface="Georgia"/>
              </a:rPr>
              <a:t>a</a:t>
            </a:r>
            <a:r>
              <a:rPr dirty="0" sz="2400" spc="-5">
                <a:latin typeface="Georgia"/>
                <a:cs typeface="Georgia"/>
              </a:rPr>
              <a:t>shM</a:t>
            </a:r>
            <a:r>
              <a:rPr dirty="0" sz="2400">
                <a:latin typeface="Georgia"/>
                <a:cs typeface="Georgia"/>
              </a:rPr>
              <a:t>a</a:t>
            </a:r>
            <a:r>
              <a:rPr dirty="0" sz="2400" spc="-5">
                <a:latin typeface="Georgia"/>
                <a:cs typeface="Georgia"/>
              </a:rPr>
              <a:t>p</a:t>
            </a:r>
            <a:r>
              <a:rPr dirty="0" sz="2400">
                <a:latin typeface="宋体"/>
                <a:cs typeface="宋体"/>
              </a:rPr>
              <a:t>的键集就是一个</a:t>
            </a:r>
            <a:r>
              <a:rPr dirty="0" sz="2400" spc="-5">
                <a:latin typeface="Georgia"/>
                <a:cs typeface="Georgia"/>
              </a:rPr>
              <a:t>Se</a:t>
            </a:r>
            <a:r>
              <a:rPr dirty="0" sz="2400">
                <a:latin typeface="Georgia"/>
                <a:cs typeface="Georgia"/>
              </a:rPr>
              <a:t>t</a:t>
            </a:r>
            <a:r>
              <a:rPr dirty="0" sz="240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6" y="3378708"/>
            <a:ext cx="1292352" cy="1415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019" y="1475104"/>
            <a:ext cx="7386320" cy="2033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spc="-5" b="1">
                <a:latin typeface="宋体"/>
                <a:cs typeface="宋体"/>
              </a:rPr>
              <a:t>．</a:t>
            </a:r>
            <a:r>
              <a:rPr dirty="0" sz="2100" spc="-5" b="1">
                <a:latin typeface="Georgia"/>
                <a:cs typeface="Georgia"/>
              </a:rPr>
              <a:t>HashMap</a:t>
            </a:r>
            <a:r>
              <a:rPr dirty="0" sz="2100" b="1">
                <a:latin typeface="宋体"/>
                <a:cs typeface="宋体"/>
              </a:rPr>
              <a:t>迭代的方</a:t>
            </a:r>
            <a:r>
              <a:rPr dirty="0" sz="2100" spc="-10" b="1">
                <a:latin typeface="宋体"/>
                <a:cs typeface="宋体"/>
              </a:rPr>
              <a:t>法</a:t>
            </a:r>
            <a:endParaRPr sz="2100">
              <a:latin typeface="宋体"/>
              <a:cs typeface="宋体"/>
            </a:endParaRPr>
          </a:p>
          <a:p>
            <a:pPr lvl="1" marL="526415" marR="5080" indent="-171450">
              <a:lnSpc>
                <a:spcPct val="89800"/>
              </a:lnSpc>
              <a:spcBef>
                <a:spcPts val="36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的迭代方法较</a:t>
            </a:r>
            <a:r>
              <a:rPr dirty="0" sz="2400" spc="-5">
                <a:latin typeface="Georgia"/>
                <a:cs typeface="Georgia"/>
              </a:rPr>
              <a:t>List</a:t>
            </a:r>
            <a:r>
              <a:rPr dirty="0" sz="2400">
                <a:latin typeface="宋体"/>
                <a:cs typeface="宋体"/>
              </a:rPr>
              <a:t>和</a:t>
            </a:r>
            <a:r>
              <a:rPr dirty="0" sz="2400" spc="-5">
                <a:latin typeface="Georgia"/>
                <a:cs typeface="Georgia"/>
              </a:rPr>
              <a:t>Set</a:t>
            </a:r>
            <a:r>
              <a:rPr dirty="0" sz="2400">
                <a:latin typeface="宋体"/>
                <a:cs typeface="宋体"/>
              </a:rPr>
              <a:t>稍微复杂些，因为它本 身是不能迭代的（未实现</a:t>
            </a:r>
            <a:r>
              <a:rPr dirty="0" sz="2400" spc="-5">
                <a:latin typeface="Georgia"/>
                <a:cs typeface="Georgia"/>
              </a:rPr>
              <a:t>I</a:t>
            </a:r>
            <a:r>
              <a:rPr dirty="0" sz="2400">
                <a:latin typeface="Georgia"/>
                <a:cs typeface="Georgia"/>
              </a:rPr>
              <a:t>t</a:t>
            </a:r>
            <a:r>
              <a:rPr dirty="0" sz="2400" spc="-5">
                <a:latin typeface="Georgia"/>
                <a:cs typeface="Georgia"/>
              </a:rPr>
              <a:t>e</a:t>
            </a:r>
            <a:r>
              <a:rPr dirty="0" sz="2400">
                <a:latin typeface="Georgia"/>
                <a:cs typeface="Georgia"/>
              </a:rPr>
              <a:t>rab</a:t>
            </a:r>
            <a:r>
              <a:rPr dirty="0" sz="2400" spc="-5">
                <a:latin typeface="Georgia"/>
                <a:cs typeface="Georgia"/>
              </a:rPr>
              <a:t>le</a:t>
            </a:r>
            <a:r>
              <a:rPr dirty="0" sz="2400">
                <a:latin typeface="宋体"/>
                <a:cs typeface="宋体"/>
              </a:rPr>
              <a:t>接口，不能用迭代 器访问）。但从</a:t>
            </a: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出发可以得到三个集合，即键 集合、值集合、以及键值对集合，它们都可以被迭 代。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17106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p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1461135"/>
            <a:ext cx="7521575" cy="8597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latin typeface="宋体"/>
                <a:cs typeface="宋体"/>
              </a:rPr>
              <a:t>（</a:t>
            </a:r>
            <a:r>
              <a:rPr dirty="0" sz="1800">
                <a:latin typeface="Georgia"/>
                <a:cs typeface="Georgia"/>
              </a:rPr>
              <a:t>1</a:t>
            </a:r>
            <a:r>
              <a:rPr dirty="0" sz="1800">
                <a:latin typeface="宋体"/>
                <a:cs typeface="宋体"/>
              </a:rPr>
              <a:t>）按键集合迭代</a:t>
            </a:r>
            <a:endParaRPr sz="1800">
              <a:latin typeface="宋体"/>
              <a:cs typeface="宋体"/>
            </a:endParaRPr>
          </a:p>
          <a:p>
            <a:pPr marL="184150" marR="5080" indent="-171450">
              <a:lnSpc>
                <a:spcPts val="1939"/>
              </a:lnSpc>
              <a:spcBef>
                <a:spcPts val="4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宋体"/>
                <a:cs typeface="宋体"/>
              </a:rPr>
              <a:t>使用</a:t>
            </a:r>
            <a:r>
              <a:rPr dirty="0" sz="1800">
                <a:latin typeface="Georgia"/>
                <a:cs typeface="Georgia"/>
              </a:rPr>
              <a:t>k</a:t>
            </a:r>
            <a:r>
              <a:rPr dirty="0" sz="1800" spc="-5">
                <a:latin typeface="Georgia"/>
                <a:cs typeface="Georgia"/>
              </a:rPr>
              <a:t>ey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Georgia"/>
                <a:cs typeface="Georgia"/>
              </a:rPr>
              <a:t>()</a:t>
            </a:r>
            <a:r>
              <a:rPr dirty="0" sz="1800">
                <a:latin typeface="宋体"/>
                <a:cs typeface="宋体"/>
              </a:rPr>
              <a:t>方法可以从</a:t>
            </a:r>
            <a:r>
              <a:rPr dirty="0" sz="1800">
                <a:latin typeface="Georgia"/>
                <a:cs typeface="Georgia"/>
              </a:rPr>
              <a:t>M</a:t>
            </a:r>
            <a:r>
              <a:rPr dirty="0" sz="1800" spc="-5">
                <a:latin typeface="Georgia"/>
                <a:cs typeface="Georgia"/>
              </a:rPr>
              <a:t>a</a:t>
            </a:r>
            <a:r>
              <a:rPr dirty="0" sz="1800">
                <a:latin typeface="Georgia"/>
                <a:cs typeface="Georgia"/>
              </a:rPr>
              <a:t>p</a:t>
            </a:r>
            <a:r>
              <a:rPr dirty="0" sz="1800">
                <a:latin typeface="宋体"/>
                <a:cs typeface="宋体"/>
              </a:rPr>
              <a:t>获取键集，因为键集是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宋体"/>
                <a:cs typeface="宋体"/>
              </a:rPr>
              <a:t>，所以可以使用迭 代器。在迭代过程中，使用</a:t>
            </a:r>
            <a:r>
              <a:rPr dirty="0" sz="1800" spc="-5">
                <a:latin typeface="Georgia"/>
                <a:cs typeface="Georgia"/>
              </a:rPr>
              <a:t>get()</a:t>
            </a:r>
            <a:r>
              <a:rPr dirty="0" sz="1800">
                <a:latin typeface="宋体"/>
                <a:cs typeface="宋体"/>
              </a:rPr>
              <a:t>方法从</a:t>
            </a:r>
            <a:r>
              <a:rPr dirty="0" sz="1800" spc="-5">
                <a:latin typeface="Georgia"/>
                <a:cs typeface="Georgia"/>
              </a:rPr>
              <a:t>Map</a:t>
            </a:r>
            <a:r>
              <a:rPr dirty="0" sz="1800">
                <a:latin typeface="宋体"/>
                <a:cs typeface="宋体"/>
              </a:rPr>
              <a:t>中按</a:t>
            </a:r>
            <a:r>
              <a:rPr dirty="0" sz="1800" spc="-5">
                <a:latin typeface="Georgia"/>
                <a:cs typeface="Georgia"/>
              </a:rPr>
              <a:t>key</a:t>
            </a:r>
            <a:r>
              <a:rPr dirty="0" sz="1800">
                <a:latin typeface="宋体"/>
                <a:cs typeface="宋体"/>
              </a:rPr>
              <a:t>获取到</a:t>
            </a:r>
            <a:r>
              <a:rPr dirty="0" sz="1800" spc="-5">
                <a:latin typeface="Georgia"/>
                <a:cs typeface="Georgia"/>
              </a:rPr>
              <a:t>value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17106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p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204" y="3255264"/>
            <a:ext cx="9000744" cy="2307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695" y="3251758"/>
            <a:ext cx="9008745" cy="2314575"/>
          </a:xfrm>
          <a:custGeom>
            <a:avLst/>
            <a:gdLst/>
            <a:ahLst/>
            <a:cxnLst/>
            <a:rect l="l" t="t" r="r" b="b"/>
            <a:pathLst>
              <a:path w="9008745" h="2314575">
                <a:moveTo>
                  <a:pt x="9008618" y="2314575"/>
                </a:moveTo>
                <a:lnTo>
                  <a:pt x="0" y="2314575"/>
                </a:lnTo>
                <a:lnTo>
                  <a:pt x="0" y="0"/>
                </a:lnTo>
                <a:lnTo>
                  <a:pt x="9008618" y="0"/>
                </a:lnTo>
                <a:lnTo>
                  <a:pt x="9008618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306954"/>
                </a:lnTo>
                <a:lnTo>
                  <a:pt x="3809" y="2306954"/>
                </a:lnTo>
                <a:lnTo>
                  <a:pt x="7620" y="2310765"/>
                </a:lnTo>
                <a:lnTo>
                  <a:pt x="9008618" y="2310765"/>
                </a:lnTo>
                <a:lnTo>
                  <a:pt x="9008618" y="2314575"/>
                </a:lnTo>
                <a:close/>
              </a:path>
              <a:path w="9008745" h="231457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9008745" h="2314575">
                <a:moveTo>
                  <a:pt x="9000998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9000998" y="3810"/>
                </a:lnTo>
                <a:lnTo>
                  <a:pt x="9000998" y="7620"/>
                </a:lnTo>
                <a:close/>
              </a:path>
              <a:path w="9008745" h="2314575">
                <a:moveTo>
                  <a:pt x="9000998" y="2310765"/>
                </a:moveTo>
                <a:lnTo>
                  <a:pt x="9000998" y="3810"/>
                </a:lnTo>
                <a:lnTo>
                  <a:pt x="9004808" y="7620"/>
                </a:lnTo>
                <a:lnTo>
                  <a:pt x="9008618" y="7620"/>
                </a:lnTo>
                <a:lnTo>
                  <a:pt x="9008618" y="2306954"/>
                </a:lnTo>
                <a:lnTo>
                  <a:pt x="9004808" y="2306954"/>
                </a:lnTo>
                <a:lnTo>
                  <a:pt x="9000998" y="2310765"/>
                </a:lnTo>
                <a:close/>
              </a:path>
              <a:path w="9008745" h="2314575">
                <a:moveTo>
                  <a:pt x="9008618" y="7620"/>
                </a:moveTo>
                <a:lnTo>
                  <a:pt x="9004808" y="7620"/>
                </a:lnTo>
                <a:lnTo>
                  <a:pt x="9000998" y="3810"/>
                </a:lnTo>
                <a:lnTo>
                  <a:pt x="9008618" y="3810"/>
                </a:lnTo>
                <a:lnTo>
                  <a:pt x="9008618" y="7620"/>
                </a:lnTo>
                <a:close/>
              </a:path>
              <a:path w="9008745" h="2314575">
                <a:moveTo>
                  <a:pt x="7620" y="2310765"/>
                </a:moveTo>
                <a:lnTo>
                  <a:pt x="3809" y="2306954"/>
                </a:lnTo>
                <a:lnTo>
                  <a:pt x="7620" y="2306954"/>
                </a:lnTo>
                <a:lnTo>
                  <a:pt x="7620" y="2310765"/>
                </a:lnTo>
                <a:close/>
              </a:path>
              <a:path w="9008745" h="2314575">
                <a:moveTo>
                  <a:pt x="9000998" y="2310765"/>
                </a:moveTo>
                <a:lnTo>
                  <a:pt x="7620" y="2310765"/>
                </a:lnTo>
                <a:lnTo>
                  <a:pt x="7620" y="2306954"/>
                </a:lnTo>
                <a:lnTo>
                  <a:pt x="9000998" y="2306954"/>
                </a:lnTo>
                <a:lnTo>
                  <a:pt x="9000998" y="2310765"/>
                </a:lnTo>
                <a:close/>
              </a:path>
              <a:path w="9008745" h="2314575">
                <a:moveTo>
                  <a:pt x="9008618" y="2310765"/>
                </a:moveTo>
                <a:lnTo>
                  <a:pt x="9000998" y="2310765"/>
                </a:lnTo>
                <a:lnTo>
                  <a:pt x="9004808" y="2306954"/>
                </a:lnTo>
                <a:lnTo>
                  <a:pt x="9008618" y="2306954"/>
                </a:lnTo>
                <a:lnTo>
                  <a:pt x="9008618" y="231076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6245" y="3277793"/>
            <a:ext cx="808228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15615">
              <a:lnSpc>
                <a:spcPct val="100000"/>
              </a:lnSpc>
              <a:spcBef>
                <a:spcPts val="100"/>
              </a:spcBef>
              <a:tabLst>
                <a:tab pos="2755265" algn="l"/>
              </a:tabLst>
            </a:pP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</a:t>
            </a:r>
            <a:r>
              <a:rPr dirty="0" sz="1800">
                <a:latin typeface="Georgia"/>
                <a:cs typeface="Georgia"/>
              </a:rPr>
              <a:t>t</a:t>
            </a:r>
            <a:r>
              <a:rPr dirty="0" sz="1800" spc="-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k</a:t>
            </a:r>
            <a:r>
              <a:rPr dirty="0" sz="1800" spc="-5">
                <a:latin typeface="Georgia"/>
                <a:cs typeface="Georgia"/>
              </a:rPr>
              <a:t>ey</a:t>
            </a:r>
            <a:r>
              <a:rPr dirty="0" sz="1800">
                <a:latin typeface="Georgia"/>
                <a:cs typeface="Georgia"/>
              </a:rPr>
              <a:t>s = </a:t>
            </a:r>
            <a:r>
              <a:rPr dirty="0" sz="1800" spc="-5">
                <a:latin typeface="Georgia"/>
                <a:cs typeface="Georgia"/>
              </a:rPr>
              <a:t>ma</a:t>
            </a:r>
            <a:r>
              <a:rPr dirty="0" sz="1800">
                <a:latin typeface="Georgia"/>
                <a:cs typeface="Georgia"/>
              </a:rPr>
              <a:t>p</a:t>
            </a:r>
            <a:r>
              <a:rPr dirty="0" sz="1800" spc="-5">
                <a:latin typeface="Georgia"/>
                <a:cs typeface="Georgia"/>
              </a:rPr>
              <a:t>.</a:t>
            </a:r>
            <a:r>
              <a:rPr dirty="0" sz="1800">
                <a:latin typeface="Georgia"/>
                <a:cs typeface="Georgia"/>
              </a:rPr>
              <a:t>k</a:t>
            </a:r>
            <a:r>
              <a:rPr dirty="0" sz="1800" spc="-5">
                <a:latin typeface="Georgia"/>
                <a:cs typeface="Georgia"/>
              </a:rPr>
              <a:t>ey</a:t>
            </a:r>
            <a:r>
              <a:rPr dirty="0" sz="1800">
                <a:latin typeface="Georgia"/>
                <a:cs typeface="Georgia"/>
              </a:rPr>
              <a:t>S</a:t>
            </a:r>
            <a:r>
              <a:rPr dirty="0" sz="1800" spc="-5">
                <a:latin typeface="Georgia"/>
                <a:cs typeface="Georgia"/>
              </a:rPr>
              <a:t>et</a:t>
            </a:r>
            <a:r>
              <a:rPr dirty="0" sz="1800">
                <a:latin typeface="Georgia"/>
                <a:cs typeface="Georgia"/>
              </a:rPr>
              <a:t>();	//(1)</a:t>
            </a:r>
            <a:r>
              <a:rPr dirty="0" sz="1800">
                <a:latin typeface="宋体"/>
                <a:cs typeface="宋体"/>
              </a:rPr>
              <a:t>取出</a:t>
            </a:r>
            <a:r>
              <a:rPr dirty="0" sz="1800" spc="-5">
                <a:latin typeface="Georgia"/>
                <a:cs typeface="Georgia"/>
              </a:rPr>
              <a:t>ma</a:t>
            </a:r>
            <a:r>
              <a:rPr dirty="0" sz="1800">
                <a:latin typeface="Georgia"/>
                <a:cs typeface="Georgia"/>
              </a:rPr>
              <a:t>p</a:t>
            </a:r>
            <a:r>
              <a:rPr dirty="0" sz="1800">
                <a:latin typeface="宋体"/>
                <a:cs typeface="宋体"/>
              </a:rPr>
              <a:t>中的键集  </a:t>
            </a:r>
            <a:r>
              <a:rPr dirty="0" sz="1800" spc="-5">
                <a:latin typeface="Georgia"/>
                <a:cs typeface="Georgia"/>
              </a:rPr>
              <a:t>Iterator it </a:t>
            </a:r>
            <a:r>
              <a:rPr dirty="0" sz="1800">
                <a:latin typeface="Georgia"/>
                <a:cs typeface="Georgia"/>
              </a:rPr>
              <a:t>=</a:t>
            </a:r>
            <a:r>
              <a:rPr dirty="0" sz="1800" spc="-5">
                <a:latin typeface="Georgia"/>
                <a:cs typeface="Georgia"/>
              </a:rPr>
              <a:t> keys.iterator();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latin typeface="Georgia"/>
                <a:cs typeface="Georgia"/>
              </a:rPr>
              <a:t>while</a:t>
            </a:r>
            <a:r>
              <a:rPr dirty="0" sz="1800" spc="-5">
                <a:latin typeface="Georgia"/>
                <a:cs typeface="Georgia"/>
              </a:rPr>
              <a:t>(it.hasNext()){</a:t>
            </a:r>
            <a:endParaRPr sz="1800">
              <a:latin typeface="Georgia"/>
              <a:cs typeface="Georgia"/>
            </a:endParaRPr>
          </a:p>
          <a:p>
            <a:pPr marL="927100">
              <a:lnSpc>
                <a:spcPct val="100000"/>
              </a:lnSpc>
            </a:pPr>
            <a:r>
              <a:rPr dirty="0" sz="1800" spc="-5">
                <a:latin typeface="Georgia"/>
                <a:cs typeface="Georgia"/>
              </a:rPr>
              <a:t>String key </a:t>
            </a:r>
            <a:r>
              <a:rPr dirty="0" sz="1800">
                <a:latin typeface="Georgia"/>
                <a:cs typeface="Georgia"/>
              </a:rPr>
              <a:t>=</a:t>
            </a:r>
            <a:r>
              <a:rPr dirty="0" sz="1800" spc="-5">
                <a:latin typeface="Georgia"/>
                <a:cs typeface="Georgia"/>
              </a:rPr>
              <a:t> (String)it.next();</a:t>
            </a:r>
            <a:endParaRPr sz="1800">
              <a:latin typeface="Georgia"/>
              <a:cs typeface="Georgia"/>
            </a:endParaRPr>
          </a:p>
          <a:p>
            <a:pPr marL="927100" marR="5080">
              <a:lnSpc>
                <a:spcPct val="100000"/>
              </a:lnSpc>
            </a:pPr>
            <a:r>
              <a:rPr dirty="0" sz="1800" spc="-5">
                <a:latin typeface="Georgia"/>
                <a:cs typeface="Georgia"/>
              </a:rPr>
              <a:t>Student stu</a:t>
            </a:r>
            <a:r>
              <a:rPr dirty="0" sz="1800">
                <a:latin typeface="Georgia"/>
                <a:cs typeface="Georgia"/>
              </a:rPr>
              <a:t> = </a:t>
            </a:r>
            <a:r>
              <a:rPr dirty="0" sz="1800" spc="-5">
                <a:latin typeface="Georgia"/>
                <a:cs typeface="Georgia"/>
              </a:rPr>
              <a:t>(Student)map.get(key);</a:t>
            </a:r>
            <a:r>
              <a:rPr dirty="0" sz="1800" spc="5">
                <a:latin typeface="Georgia"/>
                <a:cs typeface="Georgia"/>
              </a:rPr>
              <a:t> </a:t>
            </a:r>
            <a:r>
              <a:rPr dirty="0" sz="1800" spc="-5">
                <a:latin typeface="Georgia"/>
                <a:cs typeface="Georgia"/>
              </a:rPr>
              <a:t>//(2)</a:t>
            </a:r>
            <a:r>
              <a:rPr dirty="0" sz="1800">
                <a:latin typeface="宋体"/>
                <a:cs typeface="宋体"/>
              </a:rPr>
              <a:t>按键从</a:t>
            </a:r>
            <a:r>
              <a:rPr dirty="0" sz="1800" spc="-5">
                <a:latin typeface="Georgia"/>
                <a:cs typeface="Georgia"/>
              </a:rPr>
              <a:t>map</a:t>
            </a:r>
            <a:r>
              <a:rPr dirty="0" sz="1800">
                <a:latin typeface="宋体"/>
                <a:cs typeface="宋体"/>
              </a:rPr>
              <a:t>中获取对应的值 </a:t>
            </a:r>
            <a:r>
              <a:rPr dirty="0" sz="1800" spc="-5">
                <a:latin typeface="Georgia"/>
                <a:cs typeface="Georgia"/>
              </a:rPr>
              <a:t>System.</a:t>
            </a:r>
            <a:r>
              <a:rPr dirty="0" sz="1800" spc="-5" i="1">
                <a:latin typeface="Georgia"/>
                <a:cs typeface="Georgia"/>
              </a:rPr>
              <a:t>out</a:t>
            </a:r>
            <a:r>
              <a:rPr dirty="0" sz="1800" spc="-5">
                <a:latin typeface="Georgia"/>
                <a:cs typeface="Georgia"/>
              </a:rPr>
              <a:t>.println(key+":"+"("+stu.getName()+","+stu.getAge()+")");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Georgia"/>
                <a:cs typeface="Georgia"/>
              </a:rPr>
              <a:t>}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（</a:t>
            </a:r>
            <a:r>
              <a:rPr dirty="0" spc="-5">
                <a:latin typeface="Georgia"/>
                <a:cs typeface="Georgia"/>
              </a:rPr>
              <a:t>2</a:t>
            </a:r>
            <a:r>
              <a:rPr dirty="0"/>
              <a:t>）迭代键值对集</a:t>
            </a:r>
            <a:r>
              <a:rPr dirty="0" spc="-5"/>
              <a:t>合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21640" y="1900554"/>
            <a:ext cx="7475855" cy="2868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内部定义了一个</a:t>
            </a:r>
            <a:r>
              <a:rPr dirty="0" sz="2400" spc="-5">
                <a:latin typeface="Georgia"/>
                <a:cs typeface="Georgia"/>
              </a:rPr>
              <a:t>Entry</a:t>
            </a:r>
            <a:r>
              <a:rPr dirty="0" sz="2400">
                <a:latin typeface="宋体"/>
                <a:cs typeface="宋体"/>
              </a:rPr>
              <a:t>类，它封装了一个键值对。</a:t>
            </a:r>
            <a:endParaRPr sz="240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宋体"/>
                <a:cs typeface="宋体"/>
              </a:rPr>
              <a:t>使用</a:t>
            </a:r>
            <a:r>
              <a:rPr dirty="0" sz="2400" spc="-5">
                <a:latin typeface="Georgia"/>
                <a:cs typeface="Georgia"/>
              </a:rPr>
              <a:t>Map</a:t>
            </a:r>
            <a:r>
              <a:rPr dirty="0" sz="2400">
                <a:latin typeface="宋体"/>
                <a:cs typeface="宋体"/>
              </a:rPr>
              <a:t>的</a:t>
            </a:r>
            <a:r>
              <a:rPr dirty="0" sz="2400" spc="-5">
                <a:latin typeface="Georgia"/>
                <a:cs typeface="Georgia"/>
              </a:rPr>
              <a:t>entrySet()</a:t>
            </a:r>
            <a:r>
              <a:rPr dirty="0" sz="2400">
                <a:latin typeface="宋体"/>
                <a:cs typeface="宋体"/>
              </a:rPr>
              <a:t>方法可以获取键值对集合。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350">
              <a:latin typeface="宋体"/>
              <a:cs typeface="宋体"/>
            </a:endParaRPr>
          </a:p>
          <a:p>
            <a:pPr marL="184150" indent="-1714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 spc="-5">
                <a:latin typeface="Georgia"/>
                <a:cs typeface="Georgia"/>
              </a:rPr>
              <a:t>Entry</a:t>
            </a:r>
            <a:r>
              <a:rPr dirty="0" sz="2400">
                <a:latin typeface="宋体"/>
                <a:cs typeface="宋体"/>
              </a:rPr>
              <a:t>中有</a:t>
            </a:r>
            <a:r>
              <a:rPr dirty="0" sz="2400">
                <a:latin typeface="Georgia"/>
                <a:cs typeface="Georgia"/>
              </a:rPr>
              <a:t>3</a:t>
            </a:r>
            <a:r>
              <a:rPr dirty="0" sz="2400">
                <a:latin typeface="宋体"/>
                <a:cs typeface="宋体"/>
              </a:rPr>
              <a:t>个方法，对每个键值对进行操作：</a:t>
            </a:r>
            <a:endParaRPr sz="24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1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200" spc="-5">
                <a:latin typeface="Georgia"/>
                <a:cs typeface="Georgia"/>
              </a:rPr>
              <a:t>Object getKey()</a:t>
            </a:r>
            <a:r>
              <a:rPr dirty="0" sz="2200" spc="-5">
                <a:latin typeface="宋体"/>
                <a:cs typeface="宋体"/>
              </a:rPr>
              <a:t>：</a:t>
            </a:r>
            <a:r>
              <a:rPr dirty="0" sz="2200">
                <a:latin typeface="宋体"/>
                <a:cs typeface="宋体"/>
              </a:rPr>
              <a:t>返回</a:t>
            </a:r>
            <a:r>
              <a:rPr dirty="0" sz="2200" spc="-5">
                <a:latin typeface="Georgia"/>
                <a:cs typeface="Georgia"/>
              </a:rPr>
              <a:t>Entry</a:t>
            </a:r>
            <a:r>
              <a:rPr dirty="0" sz="2200">
                <a:latin typeface="宋体"/>
                <a:cs typeface="宋体"/>
              </a:rPr>
              <a:t>对象的</a:t>
            </a:r>
            <a:r>
              <a:rPr dirty="0" sz="2200" spc="-5">
                <a:latin typeface="Georgia"/>
                <a:cs typeface="Georgia"/>
              </a:rPr>
              <a:t>key</a:t>
            </a:r>
            <a:r>
              <a:rPr dirty="0" sz="2200">
                <a:latin typeface="宋体"/>
                <a:cs typeface="宋体"/>
              </a:rPr>
              <a:t>值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lvl="1" marL="527050" indent="-17145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200" spc="-5">
                <a:latin typeface="Georgia"/>
                <a:cs typeface="Georgia"/>
              </a:rPr>
              <a:t>Object getValue()</a:t>
            </a:r>
            <a:r>
              <a:rPr dirty="0" sz="2200" spc="-5">
                <a:latin typeface="宋体"/>
                <a:cs typeface="宋体"/>
              </a:rPr>
              <a:t>：</a:t>
            </a:r>
            <a:r>
              <a:rPr dirty="0" sz="2200">
                <a:latin typeface="宋体"/>
                <a:cs typeface="宋体"/>
              </a:rPr>
              <a:t>返回</a:t>
            </a:r>
            <a:r>
              <a:rPr dirty="0" sz="2200" spc="-5">
                <a:latin typeface="Georgia"/>
                <a:cs typeface="Georgia"/>
              </a:rPr>
              <a:t>Entry</a:t>
            </a:r>
            <a:r>
              <a:rPr dirty="0" sz="2200">
                <a:latin typeface="宋体"/>
                <a:cs typeface="宋体"/>
              </a:rPr>
              <a:t>对象的</a:t>
            </a:r>
            <a:r>
              <a:rPr dirty="0" sz="2200" spc="-5">
                <a:latin typeface="Georgia"/>
                <a:cs typeface="Georgia"/>
              </a:rPr>
              <a:t>value</a:t>
            </a:r>
            <a:r>
              <a:rPr dirty="0" sz="2200">
                <a:latin typeface="宋体"/>
                <a:cs typeface="宋体"/>
              </a:rPr>
              <a:t>值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lvl="1" marL="527050" marR="5080" indent="-171450">
              <a:lnSpc>
                <a:spcPts val="2360"/>
              </a:lnSpc>
              <a:spcBef>
                <a:spcPts val="42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200" spc="-5">
                <a:latin typeface="Georgia"/>
                <a:cs typeface="Georgia"/>
              </a:rPr>
              <a:t>setValue(Object</a:t>
            </a:r>
            <a:r>
              <a:rPr dirty="0" sz="2200" spc="-20">
                <a:latin typeface="Georgia"/>
                <a:cs typeface="Georgia"/>
              </a:rPr>
              <a:t> </a:t>
            </a:r>
            <a:r>
              <a:rPr dirty="0" sz="2200" spc="-5">
                <a:latin typeface="Georgia"/>
                <a:cs typeface="Georgia"/>
              </a:rPr>
              <a:t>value)</a:t>
            </a:r>
            <a:r>
              <a:rPr dirty="0" sz="2200" spc="-5">
                <a:latin typeface="宋体"/>
                <a:cs typeface="宋体"/>
              </a:rPr>
              <a:t>：</a:t>
            </a:r>
            <a:r>
              <a:rPr dirty="0" sz="2200">
                <a:latin typeface="宋体"/>
                <a:cs typeface="宋体"/>
              </a:rPr>
              <a:t>设置</a:t>
            </a:r>
            <a:r>
              <a:rPr dirty="0" sz="2200" spc="-5">
                <a:latin typeface="Georgia"/>
                <a:cs typeface="Georgia"/>
              </a:rPr>
              <a:t>Entry</a:t>
            </a:r>
            <a:r>
              <a:rPr dirty="0" sz="2200">
                <a:latin typeface="宋体"/>
                <a:cs typeface="宋体"/>
              </a:rPr>
              <a:t>对象的</a:t>
            </a:r>
            <a:r>
              <a:rPr dirty="0" sz="2200" spc="-5">
                <a:latin typeface="Georgia"/>
                <a:cs typeface="Georgia"/>
              </a:rPr>
              <a:t>value</a:t>
            </a:r>
            <a:r>
              <a:rPr dirty="0" sz="2200">
                <a:latin typeface="宋体"/>
                <a:cs typeface="宋体"/>
              </a:rPr>
              <a:t>值，并</a:t>
            </a:r>
            <a:r>
              <a:rPr dirty="0" sz="2200" spc="-5">
                <a:latin typeface="宋体"/>
                <a:cs typeface="宋体"/>
              </a:rPr>
              <a:t>将 </a:t>
            </a:r>
            <a:r>
              <a:rPr dirty="0" sz="2200">
                <a:latin typeface="宋体"/>
                <a:cs typeface="宋体"/>
              </a:rPr>
              <a:t>新值返回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3652" y="380225"/>
            <a:ext cx="21710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p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62405"/>
            <a:ext cx="34239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（</a:t>
            </a:r>
            <a:r>
              <a:rPr dirty="0" sz="2800" spc="-5">
                <a:latin typeface="Georgia"/>
                <a:cs typeface="Georgia"/>
              </a:rPr>
              <a:t>2</a:t>
            </a:r>
            <a:r>
              <a:rPr dirty="0" sz="2800">
                <a:latin typeface="宋体"/>
                <a:cs typeface="宋体"/>
              </a:rPr>
              <a:t>）迭代键值对集</a:t>
            </a:r>
            <a:r>
              <a:rPr dirty="0" sz="2800" spc="-5">
                <a:latin typeface="宋体"/>
                <a:cs typeface="宋体"/>
              </a:rPr>
              <a:t>合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17106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0580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.5.2	</a:t>
            </a:r>
            <a:r>
              <a:rPr dirty="0" sz="2100" spc="-5" b="1">
                <a:latin typeface="Georgia"/>
                <a:cs typeface="Georgia"/>
              </a:rPr>
              <a:t>Hash</a:t>
            </a:r>
            <a:r>
              <a:rPr dirty="0" sz="2100" b="1">
                <a:latin typeface="Georgia"/>
                <a:cs typeface="Georgia"/>
              </a:rPr>
              <a:t>M</a:t>
            </a:r>
            <a:r>
              <a:rPr dirty="0" sz="2100" spc="-5" b="1">
                <a:latin typeface="Georgia"/>
                <a:cs typeface="Georgia"/>
              </a:rPr>
              <a:t>a</a:t>
            </a:r>
            <a:r>
              <a:rPr dirty="0" sz="2100" b="1">
                <a:latin typeface="Georgia"/>
                <a:cs typeface="Georgia"/>
              </a:rPr>
              <a:t>p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255" y="2348483"/>
            <a:ext cx="9000744" cy="2584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9192" y="2345067"/>
            <a:ext cx="9004935" cy="2592070"/>
          </a:xfrm>
          <a:custGeom>
            <a:avLst/>
            <a:gdLst/>
            <a:ahLst/>
            <a:cxnLst/>
            <a:rect l="l" t="t" r="r" b="b"/>
            <a:pathLst>
              <a:path w="9004935" h="2592070">
                <a:moveTo>
                  <a:pt x="9004808" y="2592069"/>
                </a:moveTo>
                <a:lnTo>
                  <a:pt x="0" y="2592069"/>
                </a:lnTo>
                <a:lnTo>
                  <a:pt x="0" y="0"/>
                </a:lnTo>
                <a:lnTo>
                  <a:pt x="9004808" y="0"/>
                </a:lnTo>
                <a:lnTo>
                  <a:pt x="9004808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2584450"/>
                </a:lnTo>
                <a:lnTo>
                  <a:pt x="3809" y="2584450"/>
                </a:lnTo>
                <a:lnTo>
                  <a:pt x="7619" y="2588260"/>
                </a:lnTo>
                <a:lnTo>
                  <a:pt x="9004808" y="2588260"/>
                </a:lnTo>
                <a:lnTo>
                  <a:pt x="9004808" y="2592069"/>
                </a:lnTo>
                <a:close/>
              </a:path>
              <a:path w="9004935" h="2592070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9004935" h="2592070">
                <a:moveTo>
                  <a:pt x="9000998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9000998" y="3809"/>
                </a:lnTo>
                <a:lnTo>
                  <a:pt x="9000998" y="7619"/>
                </a:lnTo>
                <a:close/>
              </a:path>
              <a:path w="9004935" h="2592070">
                <a:moveTo>
                  <a:pt x="9000998" y="2588260"/>
                </a:moveTo>
                <a:lnTo>
                  <a:pt x="9000998" y="3809"/>
                </a:lnTo>
                <a:lnTo>
                  <a:pt x="9004808" y="7619"/>
                </a:lnTo>
                <a:lnTo>
                  <a:pt x="9004808" y="2584450"/>
                </a:lnTo>
                <a:lnTo>
                  <a:pt x="9000998" y="2588260"/>
                </a:lnTo>
                <a:close/>
              </a:path>
              <a:path w="9004935" h="2592070">
                <a:moveTo>
                  <a:pt x="9004808" y="7619"/>
                </a:moveTo>
                <a:lnTo>
                  <a:pt x="9000998" y="3809"/>
                </a:lnTo>
                <a:lnTo>
                  <a:pt x="9004808" y="3809"/>
                </a:lnTo>
                <a:lnTo>
                  <a:pt x="9004808" y="7619"/>
                </a:lnTo>
                <a:close/>
              </a:path>
              <a:path w="9004935" h="2592070">
                <a:moveTo>
                  <a:pt x="7619" y="2588260"/>
                </a:moveTo>
                <a:lnTo>
                  <a:pt x="3809" y="2584450"/>
                </a:lnTo>
                <a:lnTo>
                  <a:pt x="7619" y="2584450"/>
                </a:lnTo>
                <a:lnTo>
                  <a:pt x="7619" y="2588260"/>
                </a:lnTo>
                <a:close/>
              </a:path>
              <a:path w="9004935" h="2592070">
                <a:moveTo>
                  <a:pt x="9000998" y="2588260"/>
                </a:moveTo>
                <a:lnTo>
                  <a:pt x="7619" y="2588260"/>
                </a:lnTo>
                <a:lnTo>
                  <a:pt x="7619" y="2584450"/>
                </a:lnTo>
                <a:lnTo>
                  <a:pt x="9000998" y="2584450"/>
                </a:lnTo>
                <a:lnTo>
                  <a:pt x="9000998" y="2588260"/>
                </a:lnTo>
                <a:close/>
              </a:path>
              <a:path w="9004935" h="2592070">
                <a:moveTo>
                  <a:pt x="9004808" y="2588260"/>
                </a:moveTo>
                <a:lnTo>
                  <a:pt x="9000998" y="2588260"/>
                </a:lnTo>
                <a:lnTo>
                  <a:pt x="9004808" y="2584450"/>
                </a:lnTo>
                <a:lnTo>
                  <a:pt x="9004808" y="258826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79341" y="2371102"/>
            <a:ext cx="25158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Georgia"/>
                <a:cs typeface="Georgia"/>
              </a:rPr>
              <a:t>//</a:t>
            </a:r>
            <a:r>
              <a:rPr dirty="0" sz="1800">
                <a:latin typeface="宋体"/>
                <a:cs typeface="宋体"/>
              </a:rPr>
              <a:t>从</a:t>
            </a:r>
            <a:r>
              <a:rPr dirty="0" sz="1800" spc="-5">
                <a:latin typeface="Georgia"/>
                <a:cs typeface="Georgia"/>
              </a:rPr>
              <a:t>ma</a:t>
            </a:r>
            <a:r>
              <a:rPr dirty="0" sz="1800">
                <a:latin typeface="Georgia"/>
                <a:cs typeface="Georgia"/>
              </a:rPr>
              <a:t>p</a:t>
            </a:r>
            <a:r>
              <a:rPr dirty="0" sz="1800">
                <a:latin typeface="宋体"/>
                <a:cs typeface="宋体"/>
              </a:rPr>
              <a:t>获取键值对集合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221741" y="2371102"/>
            <a:ext cx="31775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Georgia"/>
                <a:cs typeface="Georgia"/>
              </a:rPr>
              <a:t>Set entrySet </a:t>
            </a:r>
            <a:r>
              <a:rPr dirty="0" sz="1800">
                <a:latin typeface="Georgia"/>
                <a:cs typeface="Georgia"/>
              </a:rPr>
              <a:t>= </a:t>
            </a:r>
            <a:r>
              <a:rPr dirty="0" sz="1800" spc="-5">
                <a:latin typeface="Georgia"/>
                <a:cs typeface="Georgia"/>
              </a:rPr>
              <a:t>map.entrySet();  Iterator it </a:t>
            </a:r>
            <a:r>
              <a:rPr dirty="0" sz="1800">
                <a:latin typeface="Georgia"/>
                <a:cs typeface="Georgia"/>
              </a:rPr>
              <a:t>= </a:t>
            </a:r>
            <a:r>
              <a:rPr dirty="0" sz="1800" spc="-5">
                <a:latin typeface="Georgia"/>
                <a:cs typeface="Georgia"/>
              </a:rPr>
              <a:t>entrySet.iterator();  </a:t>
            </a:r>
            <a:r>
              <a:rPr dirty="0" sz="1800" spc="-5" b="1">
                <a:latin typeface="Georgia"/>
                <a:cs typeface="Georgia"/>
              </a:rPr>
              <a:t>while</a:t>
            </a:r>
            <a:r>
              <a:rPr dirty="0" sz="1800" spc="-5">
                <a:latin typeface="Georgia"/>
                <a:cs typeface="Georgia"/>
              </a:rPr>
              <a:t>(it.hasNext()){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7100" marR="1174115">
              <a:lnSpc>
                <a:spcPct val="100000"/>
              </a:lnSpc>
              <a:spcBef>
                <a:spcPts val="100"/>
              </a:spcBef>
              <a:tabLst>
                <a:tab pos="4584065" algn="l"/>
              </a:tabLst>
            </a:pPr>
            <a:r>
              <a:rPr dirty="0" spc="-5"/>
              <a:t>E</a:t>
            </a:r>
            <a:r>
              <a:rPr dirty="0"/>
              <a:t>n</a:t>
            </a:r>
            <a:r>
              <a:rPr dirty="0" spc="-5"/>
              <a:t>tr</a:t>
            </a:r>
            <a:r>
              <a:rPr dirty="0"/>
              <a:t>y</a:t>
            </a:r>
            <a:r>
              <a:rPr dirty="0" spc="-5"/>
              <a:t> e</a:t>
            </a:r>
            <a:r>
              <a:rPr dirty="0"/>
              <a:t>n</a:t>
            </a:r>
            <a:r>
              <a:rPr dirty="0" spc="-5"/>
              <a:t>tr</a:t>
            </a:r>
            <a:r>
              <a:rPr dirty="0"/>
              <a:t>y</a:t>
            </a:r>
            <a:r>
              <a:rPr dirty="0" spc="-5"/>
              <a:t> </a:t>
            </a:r>
            <a:r>
              <a:rPr dirty="0"/>
              <a:t>= (</a:t>
            </a:r>
            <a:r>
              <a:rPr dirty="0" spc="-5"/>
              <a:t>E</a:t>
            </a:r>
            <a:r>
              <a:rPr dirty="0"/>
              <a:t>n</a:t>
            </a:r>
            <a:r>
              <a:rPr dirty="0" spc="-5"/>
              <a:t>try</a:t>
            </a:r>
            <a:r>
              <a:rPr dirty="0"/>
              <a:t>)</a:t>
            </a:r>
            <a:r>
              <a:rPr dirty="0" spc="-5"/>
              <a:t>it.</a:t>
            </a:r>
            <a:r>
              <a:rPr dirty="0"/>
              <a:t>n</a:t>
            </a:r>
            <a:r>
              <a:rPr dirty="0" spc="-5"/>
              <a:t>e</a:t>
            </a:r>
            <a:r>
              <a:rPr dirty="0"/>
              <a:t>x</a:t>
            </a:r>
            <a:r>
              <a:rPr dirty="0" spc="-5"/>
              <a:t>t</a:t>
            </a:r>
            <a:r>
              <a:rPr dirty="0"/>
              <a:t>();	//</a:t>
            </a:r>
            <a:r>
              <a:rPr dirty="0">
                <a:latin typeface="宋体"/>
                <a:cs typeface="宋体"/>
              </a:rPr>
              <a:t>获取一个键值对对象  </a:t>
            </a:r>
            <a:r>
              <a:rPr dirty="0" spc="-5"/>
              <a:t>String</a:t>
            </a:r>
            <a:r>
              <a:rPr dirty="0" spc="-10"/>
              <a:t> </a:t>
            </a:r>
            <a:r>
              <a:rPr dirty="0" spc="-5"/>
              <a:t>key</a:t>
            </a:r>
            <a:r>
              <a:rPr dirty="0" spc="-10"/>
              <a:t> </a:t>
            </a:r>
            <a:r>
              <a:rPr dirty="0"/>
              <a:t>= </a:t>
            </a:r>
            <a:r>
              <a:rPr dirty="0" spc="-5"/>
              <a:t>(String)entry.getKey();</a:t>
            </a:r>
            <a:r>
              <a:rPr dirty="0" spc="100"/>
              <a:t> </a:t>
            </a:r>
            <a:r>
              <a:rPr dirty="0"/>
              <a:t>//</a:t>
            </a:r>
            <a:r>
              <a:rPr dirty="0">
                <a:latin typeface="宋体"/>
                <a:cs typeface="宋体"/>
              </a:rPr>
              <a:t>从键值对中获取</a:t>
            </a:r>
            <a:r>
              <a:rPr dirty="0" spc="-5"/>
              <a:t>key</a:t>
            </a:r>
          </a:p>
          <a:p>
            <a:pPr marL="927100" marR="5080">
              <a:lnSpc>
                <a:spcPct val="100000"/>
              </a:lnSpc>
              <a:tabLst>
                <a:tab pos="5498465" algn="l"/>
              </a:tabLst>
            </a:pPr>
            <a:r>
              <a:rPr dirty="0" spc="-5"/>
              <a:t>Student stu</a:t>
            </a:r>
            <a:r>
              <a:rPr dirty="0" spc="25"/>
              <a:t> </a:t>
            </a:r>
            <a:r>
              <a:rPr dirty="0"/>
              <a:t>=</a:t>
            </a:r>
            <a:r>
              <a:rPr dirty="0" spc="15"/>
              <a:t> </a:t>
            </a:r>
            <a:r>
              <a:rPr dirty="0" spc="-5"/>
              <a:t>(Student)entry.getValue();	</a:t>
            </a:r>
            <a:r>
              <a:rPr dirty="0"/>
              <a:t>//</a:t>
            </a:r>
            <a:r>
              <a:rPr dirty="0">
                <a:latin typeface="宋体"/>
                <a:cs typeface="宋体"/>
              </a:rPr>
              <a:t>从键值对中获取</a:t>
            </a:r>
            <a:r>
              <a:rPr dirty="0" spc="-5"/>
              <a:t>value  System.</a:t>
            </a:r>
            <a:r>
              <a:rPr dirty="0" spc="-5" i="1">
                <a:latin typeface="Georgia"/>
                <a:cs typeface="Georgia"/>
              </a:rPr>
              <a:t>out</a:t>
            </a:r>
            <a:r>
              <a:rPr dirty="0" spc="-5"/>
              <a:t>.println(key+":"+"("+stu.getName()+","+stu.getAge()+")");</a:t>
            </a:r>
          </a:p>
          <a:p>
            <a:pPr marL="12700">
              <a:lnSpc>
                <a:spcPct val="100000"/>
              </a:lnSpc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76796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" b="1">
                <a:latin typeface="Georgia"/>
                <a:cs typeface="Georgia"/>
              </a:rPr>
              <a:t>8.6</a:t>
            </a:r>
            <a:r>
              <a:rPr dirty="0" sz="2100" spc="-65" b="1">
                <a:latin typeface="Georgia"/>
                <a:cs typeface="Georgia"/>
              </a:rPr>
              <a:t> </a:t>
            </a:r>
            <a:r>
              <a:rPr dirty="0" sz="2100" b="1">
                <a:latin typeface="宋体"/>
                <a:cs typeface="宋体"/>
              </a:rPr>
              <a:t>回首</a:t>
            </a:r>
            <a:r>
              <a:rPr dirty="0" sz="2100" spc="-5" b="1">
                <a:latin typeface="Georgia"/>
                <a:cs typeface="Georgia"/>
              </a:rPr>
              <a:t>Java</a:t>
            </a:r>
            <a:r>
              <a:rPr dirty="0" sz="2100" b="1">
                <a:latin typeface="宋体"/>
                <a:cs typeface="宋体"/>
              </a:rPr>
              <a:t>集合框</a:t>
            </a:r>
            <a:r>
              <a:rPr dirty="0" sz="2100" spc="-10" b="1">
                <a:latin typeface="宋体"/>
                <a:cs typeface="宋体"/>
              </a:rPr>
              <a:t>架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199" y="1626725"/>
            <a:ext cx="7997395" cy="4412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59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41702" y="6413852"/>
            <a:ext cx="179070" cy="2012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69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7447" y="5757671"/>
            <a:ext cx="934719" cy="768350"/>
          </a:xfrm>
          <a:custGeom>
            <a:avLst/>
            <a:gdLst/>
            <a:ahLst/>
            <a:cxnLst/>
            <a:rect l="l" t="t" r="r" b="b"/>
            <a:pathLst>
              <a:path w="934719" h="768350">
                <a:moveTo>
                  <a:pt x="0" y="0"/>
                </a:moveTo>
                <a:lnTo>
                  <a:pt x="934212" y="0"/>
                </a:lnTo>
                <a:lnTo>
                  <a:pt x="934212" y="768096"/>
                </a:lnTo>
                <a:lnTo>
                  <a:pt x="0" y="768096"/>
                </a:lnTo>
                <a:lnTo>
                  <a:pt x="0" y="0"/>
                </a:lnTo>
                <a:close/>
              </a:path>
            </a:pathLst>
          </a:custGeom>
          <a:solidFill>
            <a:srgbClr val="CAD3C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51660" y="5757671"/>
            <a:ext cx="1066800" cy="768350"/>
          </a:xfrm>
          <a:custGeom>
            <a:avLst/>
            <a:gdLst/>
            <a:ahLst/>
            <a:cxnLst/>
            <a:rect l="l" t="t" r="r" b="b"/>
            <a:pathLst>
              <a:path w="1066800" h="768350">
                <a:moveTo>
                  <a:pt x="0" y="0"/>
                </a:moveTo>
                <a:lnTo>
                  <a:pt x="1066800" y="0"/>
                </a:lnTo>
                <a:lnTo>
                  <a:pt x="1066800" y="768096"/>
                </a:lnTo>
                <a:lnTo>
                  <a:pt x="0" y="768096"/>
                </a:lnTo>
                <a:lnTo>
                  <a:pt x="0" y="0"/>
                </a:lnTo>
                <a:close/>
              </a:path>
            </a:pathLst>
          </a:custGeom>
          <a:solidFill>
            <a:srgbClr val="CAD3CE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424815" y="1334135"/>
          <a:ext cx="8722360" cy="552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/>
                <a:gridCol w="934085"/>
                <a:gridCol w="1066800"/>
                <a:gridCol w="1893569"/>
                <a:gridCol w="1672589"/>
                <a:gridCol w="1882774"/>
                <a:gridCol w="535304"/>
                <a:gridCol w="239395"/>
              </a:tblGrid>
              <a:tr h="459739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接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口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实现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类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存储方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优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缺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其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他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6C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243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ts val="1550"/>
                        </a:lnSpc>
                      </a:pPr>
                      <a:r>
                        <a:rPr dirty="0" sz="1600" spc="-5" b="1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List</a:t>
                      </a:r>
                      <a:endParaRPr sz="1600">
                        <a:latin typeface="Georgia"/>
                        <a:cs typeface="Georgia"/>
                      </a:endParaRPr>
                    </a:p>
                    <a:p>
                      <a:pPr marL="38100">
                        <a:lnSpc>
                          <a:spcPts val="1550"/>
                        </a:lnSpc>
                      </a:pPr>
                      <a:r>
                        <a:rPr dirty="0" sz="1600" spc="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有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600" spc="-5">
                          <a:latin typeface="Georgia"/>
                          <a:cs typeface="Georgia"/>
                        </a:rPr>
                        <a:t>ArrayList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952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数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组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按位置索引存取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933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插入、删除、查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找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慢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gridSpan="3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148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marL="431800" marR="11430" indent="-412750">
                        <a:lnSpc>
                          <a:spcPts val="1920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Georgia"/>
                          <a:cs typeface="Georgia"/>
                        </a:rPr>
                        <a:t>LinkedLis  </a:t>
                      </a:r>
                      <a:r>
                        <a:rPr dirty="0" sz="1600" spc="-5">
                          <a:latin typeface="Georgia"/>
                          <a:cs typeface="Georgia"/>
                        </a:rPr>
                        <a:t>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双链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123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插入、删除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123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45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按位置存取、查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找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慢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334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ts val="1550"/>
                        </a:lnSpc>
                        <a:spcBef>
                          <a:spcPts val="1410"/>
                        </a:spcBef>
                      </a:pPr>
                      <a:r>
                        <a:rPr dirty="0" sz="1600" spc="-5" b="1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Set</a:t>
                      </a:r>
                      <a:endParaRPr sz="1600">
                        <a:latin typeface="Georgia"/>
                        <a:cs typeface="Georgia"/>
                      </a:endParaRPr>
                    </a:p>
                    <a:p>
                      <a:pPr marL="38100">
                        <a:lnSpc>
                          <a:spcPts val="155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无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Georgia"/>
                          <a:cs typeface="Georgia"/>
                        </a:rPr>
                        <a:t>HashSet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12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散列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插入、删除、查找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125855" marR="31115" indent="-1084580">
                        <a:lnSpc>
                          <a:spcPts val="1910"/>
                        </a:lnSpc>
                        <a:spcBef>
                          <a:spcPts val="960"/>
                        </a:spcBef>
                      </a:pPr>
                      <a:r>
                        <a:rPr dirty="0" sz="1600" spc="5">
                          <a:latin typeface="宋体"/>
                          <a:cs typeface="宋体"/>
                        </a:rPr>
                        <a:t>需重写</a:t>
                      </a:r>
                      <a:r>
                        <a:rPr dirty="0" sz="1600">
                          <a:latin typeface="Georgia"/>
                          <a:cs typeface="Georgia"/>
                        </a:rPr>
                        <a:t>equals()</a:t>
                      </a:r>
                      <a:r>
                        <a:rPr dirty="0" sz="1600" spc="5">
                          <a:latin typeface="宋体"/>
                          <a:cs typeface="宋体"/>
                        </a:rPr>
                        <a:t>和</a:t>
                      </a:r>
                      <a:r>
                        <a:rPr dirty="0" sz="1600">
                          <a:latin typeface="Georgia"/>
                          <a:cs typeface="Georgia"/>
                        </a:rPr>
                        <a:t>hashC</a:t>
                      </a:r>
                      <a:r>
                        <a:rPr dirty="0" sz="1600" spc="5">
                          <a:latin typeface="Georgia"/>
                          <a:cs typeface="Georgia"/>
                        </a:rPr>
                        <a:t>o</a:t>
                      </a:r>
                      <a:r>
                        <a:rPr dirty="0" sz="1600">
                          <a:latin typeface="Georgia"/>
                          <a:cs typeface="Georgia"/>
                        </a:rPr>
                        <a:t>de() 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方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法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7978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Georgia"/>
                          <a:cs typeface="Georgia"/>
                        </a:rPr>
                        <a:t>TreeSet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二叉排序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树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marL="540385" marR="26034" indent="-50800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600" spc="5">
                          <a:latin typeface="宋体"/>
                          <a:cs typeface="宋体"/>
                        </a:rPr>
                        <a:t>插入、删除、查找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快 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有序排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列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34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速度慢于</a:t>
                      </a:r>
                      <a:r>
                        <a:rPr dirty="0" sz="1600" spc="-5">
                          <a:latin typeface="Georgia"/>
                          <a:cs typeface="Georgia"/>
                        </a:rPr>
                        <a:t>HashSet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61785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需制定比较规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则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88694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0795">
                        <a:lnSpc>
                          <a:spcPts val="1550"/>
                        </a:lnSpc>
                      </a:pPr>
                      <a:r>
                        <a:rPr dirty="0" sz="1600" spc="5" b="1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M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ap</a:t>
                      </a:r>
                      <a:endParaRPr sz="1600">
                        <a:latin typeface="Georgia"/>
                        <a:cs typeface="Georgia"/>
                      </a:endParaRPr>
                    </a:p>
                    <a:p>
                      <a:pPr marL="38100">
                        <a:lnSpc>
                          <a:spcPts val="1550"/>
                        </a:lnSpc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映</a:t>
                      </a:r>
                      <a:r>
                        <a:rPr dirty="0" sz="1600" spc="-1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Georgia"/>
                          <a:cs typeface="Georgia"/>
                        </a:rPr>
                        <a:t>HashMap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散列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插入、删除、查找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快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迭代效率较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低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键需重写</a:t>
                      </a:r>
                      <a:r>
                        <a:rPr dirty="0" sz="1600" spc="-5">
                          <a:latin typeface="Georgia"/>
                          <a:cs typeface="Georgia"/>
                        </a:rPr>
                        <a:t>equals()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和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Georgia"/>
                          <a:cs typeface="Georgia"/>
                        </a:rPr>
                        <a:t>hashCode()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方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法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08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600">
                          <a:latin typeface="Georgia"/>
                          <a:cs typeface="Georgia"/>
                        </a:rPr>
                        <a:t>Pr</a:t>
                      </a:r>
                      <a:r>
                        <a:rPr dirty="0" sz="1600" spc="5">
                          <a:latin typeface="Georgia"/>
                          <a:cs typeface="Georgia"/>
                        </a:rPr>
                        <a:t>o</a:t>
                      </a:r>
                      <a:r>
                        <a:rPr dirty="0" sz="1600">
                          <a:latin typeface="Georgia"/>
                          <a:cs typeface="Georgia"/>
                        </a:rPr>
                        <a:t>per</a:t>
                      </a:r>
                      <a:r>
                        <a:rPr dirty="0" sz="1600" spc="-5">
                          <a:latin typeface="Georgia"/>
                          <a:cs typeface="Georgia"/>
                        </a:rPr>
                        <a:t>t</a:t>
                      </a:r>
                      <a:r>
                        <a:rPr dirty="0" sz="1600">
                          <a:latin typeface="Georgia"/>
                          <a:cs typeface="Georgia"/>
                        </a:rPr>
                        <a:t>ies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1136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散列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读取属性文件便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利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46735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键、值均为</a:t>
                      </a:r>
                      <a:r>
                        <a:rPr dirty="0" sz="1600" spc="-5">
                          <a:latin typeface="Georgia"/>
                          <a:cs typeface="Georgia"/>
                        </a:rPr>
                        <a:t>String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113665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E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6834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Georgia"/>
                          <a:cs typeface="Georgia"/>
                        </a:rPr>
                        <a:t>TreeMap</a:t>
                      </a:r>
                      <a:endParaRPr sz="1600">
                        <a:latin typeface="Georgia"/>
                        <a:cs typeface="Georgia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二叉排序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树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185" marR="26034" indent="-30480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600" spc="5">
                          <a:latin typeface="宋体"/>
                          <a:cs typeface="宋体"/>
                        </a:rPr>
                        <a:t>插入、删除、查找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快 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键值有序排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列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327660" marR="321945" indent="1016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速度慢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于 </a:t>
                      </a:r>
                      <a:r>
                        <a:rPr dirty="0" sz="1600" spc="-5">
                          <a:latin typeface="Georgia"/>
                          <a:cs typeface="Georgia"/>
                        </a:rPr>
                        <a:t>HashMap  </a:t>
                      </a:r>
                      <a:r>
                        <a:rPr dirty="0" sz="1600" spc="5">
                          <a:latin typeface="宋体"/>
                          <a:cs typeface="宋体"/>
                        </a:rPr>
                        <a:t>迭代效率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低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1625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键需制定比较规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则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D3C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274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A03E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283652" y="380225"/>
            <a:ext cx="28359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645" algn="l"/>
              </a:tabLst>
            </a:pPr>
            <a:r>
              <a:rPr dirty="0" sz="2100" spc="-5" b="1">
                <a:latin typeface="Georgia"/>
                <a:cs typeface="Georgia"/>
              </a:rPr>
              <a:t>8</a:t>
            </a:r>
            <a:r>
              <a:rPr dirty="0" sz="2100" b="1">
                <a:latin typeface="Georgia"/>
                <a:cs typeface="Georgia"/>
              </a:rPr>
              <a:t>.6	</a:t>
            </a:r>
            <a:r>
              <a:rPr dirty="0" sz="2100" b="1">
                <a:latin typeface="宋体"/>
                <a:cs typeface="宋体"/>
              </a:rPr>
              <a:t>回首</a:t>
            </a:r>
            <a:r>
              <a:rPr dirty="0" sz="2100" b="1">
                <a:latin typeface="Georgia"/>
                <a:cs typeface="Georgia"/>
              </a:rPr>
              <a:t>J</a:t>
            </a:r>
            <a:r>
              <a:rPr dirty="0" sz="2100" spc="-5" b="1">
                <a:latin typeface="Georgia"/>
                <a:cs typeface="Georgia"/>
              </a:rPr>
              <a:t>ava</a:t>
            </a:r>
            <a:r>
              <a:rPr dirty="0" sz="2100" b="1">
                <a:latin typeface="宋体"/>
                <a:cs typeface="宋体"/>
              </a:rPr>
              <a:t>集合框</a:t>
            </a:r>
            <a:r>
              <a:rPr dirty="0" sz="2100" spc="-10" b="1">
                <a:latin typeface="宋体"/>
                <a:cs typeface="宋体"/>
              </a:rPr>
              <a:t>架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9687" y="468147"/>
            <a:ext cx="403860" cy="23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61451" y="437032"/>
            <a:ext cx="1350060" cy="246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32137" y="438302"/>
            <a:ext cx="2121661" cy="246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35465" y="1595958"/>
            <a:ext cx="2811780" cy="1208405"/>
          </a:xfrm>
          <a:custGeom>
            <a:avLst/>
            <a:gdLst/>
            <a:ahLst/>
            <a:cxnLst/>
            <a:rect l="l" t="t" r="r" b="b"/>
            <a:pathLst>
              <a:path w="2811779" h="1208405">
                <a:moveTo>
                  <a:pt x="0" y="0"/>
                </a:moveTo>
                <a:lnTo>
                  <a:pt x="2811322" y="0"/>
                </a:lnTo>
                <a:lnTo>
                  <a:pt x="2811322" y="1207973"/>
                </a:lnTo>
                <a:lnTo>
                  <a:pt x="0" y="1207973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35465" y="1595958"/>
            <a:ext cx="2811780" cy="1208405"/>
          </a:xfrm>
          <a:custGeom>
            <a:avLst/>
            <a:gdLst/>
            <a:ahLst/>
            <a:cxnLst/>
            <a:rect l="l" t="t" r="r" b="b"/>
            <a:pathLst>
              <a:path w="2811779" h="1208405">
                <a:moveTo>
                  <a:pt x="0" y="0"/>
                </a:moveTo>
                <a:lnTo>
                  <a:pt x="2811322" y="0"/>
                </a:lnTo>
                <a:lnTo>
                  <a:pt x="2811322" y="1207973"/>
                </a:lnTo>
                <a:lnTo>
                  <a:pt x="0" y="1207973"/>
                </a:lnTo>
                <a:lnTo>
                  <a:pt x="0" y="0"/>
                </a:lnTo>
                <a:close/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35465" y="1595958"/>
            <a:ext cx="2811780" cy="197485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algn="ctr" marL="17780">
              <a:lnSpc>
                <a:spcPct val="100000"/>
              </a:lnSpc>
              <a:spcBef>
                <a:spcPts val="375"/>
              </a:spcBef>
            </a:pPr>
            <a:r>
              <a:rPr dirty="0" sz="750" spc="15" b="1">
                <a:latin typeface="Tahoma"/>
                <a:cs typeface="Tahoma"/>
              </a:rPr>
              <a:t>Question</a:t>
            </a:r>
            <a:endParaRPr sz="7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5465" y="1792820"/>
            <a:ext cx="2811780" cy="429895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sz="750">
                <a:latin typeface="Tahoma"/>
                <a:cs typeface="Tahoma"/>
              </a:rPr>
              <a:t>-title: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String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5">
                <a:latin typeface="Tahoma"/>
                <a:cs typeface="Tahoma"/>
              </a:rPr>
              <a:t>-options: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List&lt;String&gt;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20"/>
              </a:spcBef>
            </a:pPr>
            <a:r>
              <a:rPr dirty="0" sz="750" spc="10">
                <a:latin typeface="Tahoma"/>
                <a:cs typeface="Tahoma"/>
              </a:rPr>
              <a:t>-answer: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String</a:t>
            </a:r>
            <a:endParaRPr sz="7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5465" y="2222322"/>
            <a:ext cx="2811780" cy="581660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sz="750" spc="5">
                <a:latin typeface="Tahoma"/>
                <a:cs typeface="Tahoma"/>
              </a:rPr>
              <a:t>+Question()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5">
                <a:latin typeface="Tahoma"/>
                <a:cs typeface="Tahoma"/>
              </a:rPr>
              <a:t>+Question(String </a:t>
            </a:r>
            <a:r>
              <a:rPr dirty="0" sz="750" spc="10">
                <a:latin typeface="Tahoma"/>
                <a:cs typeface="Tahoma"/>
              </a:rPr>
              <a:t>subject, </a:t>
            </a:r>
            <a:r>
              <a:rPr dirty="0" sz="750">
                <a:latin typeface="Tahoma"/>
                <a:cs typeface="Tahoma"/>
              </a:rPr>
              <a:t>List&lt;String&gt; </a:t>
            </a:r>
            <a:r>
              <a:rPr dirty="0" sz="750" spc="5">
                <a:latin typeface="Tahoma"/>
                <a:cs typeface="Tahoma"/>
              </a:rPr>
              <a:t>option, </a:t>
            </a:r>
            <a:r>
              <a:rPr dirty="0" sz="750">
                <a:latin typeface="Tahoma"/>
                <a:cs typeface="Tahoma"/>
              </a:rPr>
              <a:t>String</a:t>
            </a:r>
            <a:r>
              <a:rPr dirty="0" sz="750" spc="-45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answer)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20"/>
              </a:spcBef>
            </a:pPr>
            <a:r>
              <a:rPr dirty="0" sz="750" spc="5">
                <a:latin typeface="Tahoma"/>
                <a:cs typeface="Tahoma"/>
              </a:rPr>
              <a:t>+showQuestion():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10">
                <a:latin typeface="Tahoma"/>
                <a:cs typeface="Tahoma"/>
              </a:rPr>
              <a:t>+getAnswer():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>
                <a:latin typeface="Tahoma"/>
                <a:cs typeface="Tahoma"/>
              </a:rPr>
              <a:t>String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65220" y="3313963"/>
            <a:ext cx="2023745" cy="1181735"/>
          </a:xfrm>
          <a:custGeom>
            <a:avLst/>
            <a:gdLst/>
            <a:ahLst/>
            <a:cxnLst/>
            <a:rect l="l" t="t" r="r" b="b"/>
            <a:pathLst>
              <a:path w="2023745" h="1181735">
                <a:moveTo>
                  <a:pt x="0" y="0"/>
                </a:moveTo>
                <a:lnTo>
                  <a:pt x="2023440" y="0"/>
                </a:lnTo>
                <a:lnTo>
                  <a:pt x="2023440" y="1181125"/>
                </a:lnTo>
                <a:lnTo>
                  <a:pt x="0" y="1181125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65220" y="3313963"/>
            <a:ext cx="2023745" cy="1181735"/>
          </a:xfrm>
          <a:custGeom>
            <a:avLst/>
            <a:gdLst/>
            <a:ahLst/>
            <a:cxnLst/>
            <a:rect l="l" t="t" r="r" b="b"/>
            <a:pathLst>
              <a:path w="2023745" h="1181735">
                <a:moveTo>
                  <a:pt x="0" y="0"/>
                </a:moveTo>
                <a:lnTo>
                  <a:pt x="2023440" y="0"/>
                </a:lnTo>
                <a:lnTo>
                  <a:pt x="2023440" y="1181125"/>
                </a:lnTo>
                <a:lnTo>
                  <a:pt x="0" y="1181125"/>
                </a:lnTo>
                <a:lnTo>
                  <a:pt x="0" y="0"/>
                </a:lnTo>
                <a:close/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65220" y="3313963"/>
            <a:ext cx="2023745" cy="196850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375"/>
              </a:spcBef>
            </a:pPr>
            <a:r>
              <a:rPr dirty="0" sz="750" spc="20" b="1">
                <a:latin typeface="Tahoma"/>
                <a:cs typeface="Tahoma"/>
              </a:rPr>
              <a:t>Paper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5220" y="3510813"/>
            <a:ext cx="2023745" cy="313690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sz="750" spc="5">
                <a:latin typeface="Tahoma"/>
                <a:cs typeface="Tahoma"/>
              </a:rPr>
              <a:t>-questions:</a:t>
            </a:r>
            <a:r>
              <a:rPr dirty="0" sz="750" spc="-15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Map&lt;Integer,Question&gt;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10">
                <a:latin typeface="Tahoma"/>
                <a:cs typeface="Tahoma"/>
              </a:rPr>
              <a:t>-count: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int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5220" y="3823995"/>
            <a:ext cx="2023745" cy="671195"/>
          </a:xfrm>
          <a:prstGeom prst="rect">
            <a:avLst/>
          </a:prstGeom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sz="750" spc="5">
                <a:latin typeface="Tahoma"/>
                <a:cs typeface="Tahoma"/>
              </a:rPr>
              <a:t>+Paper(int</a:t>
            </a:r>
            <a:r>
              <a:rPr dirty="0" sz="750" spc="-1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count)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5">
                <a:latin typeface="Tahoma"/>
                <a:cs typeface="Tahoma"/>
              </a:rPr>
              <a:t>+addQuestion(int index):</a:t>
            </a:r>
            <a:r>
              <a:rPr dirty="0" sz="750" spc="-3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20"/>
              </a:spcBef>
            </a:pPr>
            <a:r>
              <a:rPr dirty="0" sz="750" spc="10">
                <a:latin typeface="Tahoma"/>
                <a:cs typeface="Tahoma"/>
              </a:rPr>
              <a:t>+getQuestions():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Map&lt;Integer,Question&gt;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10">
                <a:latin typeface="Tahoma"/>
                <a:cs typeface="Tahoma"/>
              </a:rPr>
              <a:t>+getCount():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-10">
                <a:latin typeface="Tahoma"/>
                <a:cs typeface="Tahoma"/>
              </a:rPr>
              <a:t>int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5">
                <a:latin typeface="Tahoma"/>
                <a:cs typeface="Tahoma"/>
              </a:rPr>
              <a:t>+showPaper():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910903" y="3309486"/>
          <a:ext cx="1894205" cy="957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0235"/>
              </a:tblGrid>
              <a:tr h="196850">
                <a:tc>
                  <a:txBody>
                    <a:bodyPr/>
                    <a:lstStyle/>
                    <a:p>
                      <a:pPr marL="6083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750" spc="20" b="1">
                          <a:latin typeface="Tahoma"/>
                          <a:cs typeface="Tahoma"/>
                        </a:rPr>
                        <a:t>AnswerSheet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6862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-answers: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Map&lt;Integer,String&gt;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554774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+AnswerSheet()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50" spc="5">
                          <a:latin typeface="Tahoma"/>
                          <a:cs typeface="Tahoma"/>
                        </a:rPr>
                        <a:t>+addAnswer(int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key, </a:t>
                      </a:r>
                      <a:r>
                        <a:rPr dirty="0" sz="750">
                          <a:latin typeface="Tahoma"/>
                          <a:cs typeface="Tahoma"/>
                        </a:rPr>
                        <a:t>String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answer):</a:t>
                      </a:r>
                      <a:r>
                        <a:rPr dirty="0" sz="750" spc="-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void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+getAnswers():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10">
                          <a:latin typeface="Tahoma"/>
                          <a:cs typeface="Tahoma"/>
                        </a:rPr>
                        <a:t>Map&lt;Integer,String&gt;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086150" y="4817211"/>
            <a:ext cx="2390775" cy="1414145"/>
          </a:xfrm>
          <a:custGeom>
            <a:avLst/>
            <a:gdLst/>
            <a:ahLst/>
            <a:cxnLst/>
            <a:rect l="l" t="t" r="r" b="b"/>
            <a:pathLst>
              <a:path w="2390775" h="1414145">
                <a:moveTo>
                  <a:pt x="0" y="0"/>
                </a:moveTo>
                <a:lnTo>
                  <a:pt x="2390521" y="0"/>
                </a:lnTo>
                <a:lnTo>
                  <a:pt x="2390521" y="1413776"/>
                </a:lnTo>
                <a:lnTo>
                  <a:pt x="0" y="1413776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86150" y="4817211"/>
            <a:ext cx="2390775" cy="1414145"/>
          </a:xfrm>
          <a:custGeom>
            <a:avLst/>
            <a:gdLst/>
            <a:ahLst/>
            <a:cxnLst/>
            <a:rect l="l" t="t" r="r" b="b"/>
            <a:pathLst>
              <a:path w="2390775" h="1414145">
                <a:moveTo>
                  <a:pt x="0" y="0"/>
                </a:moveTo>
                <a:lnTo>
                  <a:pt x="2390521" y="0"/>
                </a:lnTo>
                <a:lnTo>
                  <a:pt x="2390521" y="1413776"/>
                </a:lnTo>
                <a:lnTo>
                  <a:pt x="0" y="1413776"/>
                </a:lnTo>
                <a:lnTo>
                  <a:pt x="0" y="0"/>
                </a:lnTo>
                <a:close/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86150" y="4817211"/>
            <a:ext cx="2390775" cy="197485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algn="ctr" marL="13335">
              <a:lnSpc>
                <a:spcPct val="100000"/>
              </a:lnSpc>
              <a:spcBef>
                <a:spcPts val="375"/>
              </a:spcBef>
            </a:pPr>
            <a:r>
              <a:rPr dirty="0" sz="750" spc="15" b="1">
                <a:latin typeface="Tahoma"/>
                <a:cs typeface="Tahoma"/>
              </a:rPr>
              <a:t>Exam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86150" y="5014074"/>
            <a:ext cx="2390775" cy="429895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sz="750" spc="10">
                <a:latin typeface="Tahoma"/>
                <a:cs typeface="Tahoma"/>
              </a:rPr>
              <a:t>-student: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Student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10">
                <a:latin typeface="Tahoma"/>
                <a:cs typeface="Tahoma"/>
              </a:rPr>
              <a:t>-paper: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Paper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20"/>
              </a:spcBef>
            </a:pPr>
            <a:r>
              <a:rPr dirty="0" sz="750" spc="10">
                <a:latin typeface="Tahoma"/>
                <a:cs typeface="Tahoma"/>
              </a:rPr>
              <a:t>+answerSheet:</a:t>
            </a:r>
            <a:r>
              <a:rPr dirty="0" sz="750" spc="-15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AnswerSheet</a:t>
            </a:r>
            <a:endParaRPr sz="7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86150" y="5443575"/>
            <a:ext cx="2390775" cy="788035"/>
          </a:xfrm>
          <a:prstGeom prst="rect">
            <a:avLst/>
          </a:prstGeom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sz="750">
                <a:latin typeface="Tahoma"/>
                <a:cs typeface="Tahoma"/>
              </a:rPr>
              <a:t>+Exam()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5">
                <a:latin typeface="Tahoma"/>
                <a:cs typeface="Tahoma"/>
              </a:rPr>
              <a:t>+Exam(Student</a:t>
            </a:r>
            <a:r>
              <a:rPr dirty="0" sz="750" spc="-1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student)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20"/>
              </a:spcBef>
            </a:pPr>
            <a:r>
              <a:rPr dirty="0" sz="750" spc="10">
                <a:latin typeface="Tahoma"/>
                <a:cs typeface="Tahoma"/>
              </a:rPr>
              <a:t>-createPaper():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10">
                <a:latin typeface="Tahoma"/>
                <a:cs typeface="Tahoma"/>
              </a:rPr>
              <a:t>-answerQuestions():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10">
                <a:latin typeface="Tahoma"/>
                <a:cs typeface="Tahoma"/>
              </a:rPr>
              <a:t>-showScoreOfPaper():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  <a:p>
            <a:pPr marL="44450">
              <a:lnSpc>
                <a:spcPct val="100000"/>
              </a:lnSpc>
              <a:spcBef>
                <a:spcPts val="15"/>
              </a:spcBef>
            </a:pPr>
            <a:r>
              <a:rPr dirty="0" sz="750" spc="5">
                <a:latin typeface="Tahoma"/>
                <a:cs typeface="Tahoma"/>
              </a:rPr>
              <a:t>+exam():</a:t>
            </a:r>
            <a:r>
              <a:rPr dirty="0" sz="750" spc="-20">
                <a:latin typeface="Tahoma"/>
                <a:cs typeface="Tahoma"/>
              </a:rPr>
              <a:t> </a:t>
            </a:r>
            <a:r>
              <a:rPr dirty="0" sz="750" spc="10"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326838" y="3309486"/>
          <a:ext cx="1320800" cy="850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7465"/>
              </a:tblGrid>
              <a:tr h="196850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750" spc="20" b="1">
                          <a:latin typeface="Tahoma"/>
                          <a:cs typeface="Tahoma"/>
                        </a:rPr>
                        <a:t>Student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196862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-name: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  <a:tr h="447395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750" spc="10">
                          <a:latin typeface="Tahoma"/>
                          <a:cs typeface="Tahoma"/>
                        </a:rPr>
                        <a:t>+Student()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750" spc="5">
                          <a:latin typeface="Tahoma"/>
                          <a:cs typeface="Tahoma"/>
                        </a:rPr>
                        <a:t>+Student(String</a:t>
                      </a:r>
                      <a:r>
                        <a:rPr dirty="0" sz="750" spc="-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 spc="-5">
                          <a:latin typeface="Tahoma"/>
                          <a:cs typeface="Tahoma"/>
                        </a:rPr>
                        <a:t>name)</a:t>
                      </a:r>
                      <a:endParaRPr sz="750">
                        <a:latin typeface="Tahoma"/>
                        <a:cs typeface="Tahoma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50">
                          <a:latin typeface="Tahoma"/>
                          <a:cs typeface="Tahoma"/>
                        </a:rPr>
                        <a:t>+getName():</a:t>
                      </a:r>
                      <a:r>
                        <a:rPr dirty="0" sz="75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750">
                          <a:latin typeface="Tahoma"/>
                          <a:cs typeface="Tahoma"/>
                        </a:rPr>
                        <a:t>String</a:t>
                      </a:r>
                      <a:endParaRPr sz="750">
                        <a:latin typeface="Tahoma"/>
                        <a:cs typeface="Tahoma"/>
                      </a:endParaRPr>
                    </a:p>
                  </a:txBody>
                  <a:tcPr marL="0" marR="0" marB="0" marT="47625">
                    <a:lnL w="9525">
                      <a:solidFill>
                        <a:srgbClr val="800000"/>
                      </a:solidFill>
                      <a:prstDash val="solid"/>
                    </a:lnL>
                    <a:lnR w="9525">
                      <a:solidFill>
                        <a:srgbClr val="800000"/>
                      </a:solidFill>
                      <a:prstDash val="solid"/>
                    </a:lnR>
                    <a:lnT w="9525">
                      <a:solidFill>
                        <a:srgbClr val="800000"/>
                      </a:solidFill>
                      <a:prstDash val="solid"/>
                    </a:lnT>
                    <a:lnB w="9525">
                      <a:solidFill>
                        <a:srgbClr val="800000"/>
                      </a:solidFill>
                      <a:prstDash val="solid"/>
                    </a:lnB>
                    <a:solidFill>
                      <a:srgbClr val="FFFFB8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4285894" y="4504042"/>
            <a:ext cx="0" cy="313690"/>
          </a:xfrm>
          <a:custGeom>
            <a:avLst/>
            <a:gdLst/>
            <a:ahLst/>
            <a:cxnLst/>
            <a:rect l="l" t="t" r="r" b="b"/>
            <a:pathLst>
              <a:path w="0" h="313689">
                <a:moveTo>
                  <a:pt x="0" y="313169"/>
                </a:moveTo>
                <a:lnTo>
                  <a:pt x="0" y="0"/>
                </a:lnTo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45603" y="4499565"/>
            <a:ext cx="80581" cy="1968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33428" y="4271390"/>
            <a:ext cx="805815" cy="546100"/>
          </a:xfrm>
          <a:custGeom>
            <a:avLst/>
            <a:gdLst/>
            <a:ahLst/>
            <a:cxnLst/>
            <a:rect l="l" t="t" r="r" b="b"/>
            <a:pathLst>
              <a:path w="805814" h="546100">
                <a:moveTo>
                  <a:pt x="0" y="545820"/>
                </a:moveTo>
                <a:lnTo>
                  <a:pt x="805789" y="0"/>
                </a:lnTo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73578" y="4266914"/>
            <a:ext cx="170116" cy="116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31059" y="4164012"/>
            <a:ext cx="842010" cy="653415"/>
          </a:xfrm>
          <a:custGeom>
            <a:avLst/>
            <a:gdLst/>
            <a:ahLst/>
            <a:cxnLst/>
            <a:rect l="l" t="t" r="r" b="b"/>
            <a:pathLst>
              <a:path w="842010" h="653414">
                <a:moveTo>
                  <a:pt x="841603" y="653199"/>
                </a:moveTo>
                <a:lnTo>
                  <a:pt x="0" y="0"/>
                </a:lnTo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26582" y="4159535"/>
            <a:ext cx="161150" cy="1252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59033" y="2812884"/>
            <a:ext cx="0" cy="501650"/>
          </a:xfrm>
          <a:custGeom>
            <a:avLst/>
            <a:gdLst/>
            <a:ahLst/>
            <a:cxnLst/>
            <a:rect l="l" t="t" r="r" b="b"/>
            <a:pathLst>
              <a:path w="0" h="501650">
                <a:moveTo>
                  <a:pt x="0" y="501078"/>
                </a:moveTo>
                <a:lnTo>
                  <a:pt x="0" y="0"/>
                </a:lnTo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18743" y="2808408"/>
            <a:ext cx="80581" cy="1968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987008" y="4960378"/>
            <a:ext cx="1665605" cy="698500"/>
          </a:xfrm>
          <a:custGeom>
            <a:avLst/>
            <a:gdLst/>
            <a:ahLst/>
            <a:cxnLst/>
            <a:rect l="l" t="t" r="r" b="b"/>
            <a:pathLst>
              <a:path w="1665604" h="698500">
                <a:moveTo>
                  <a:pt x="0" y="0"/>
                </a:moveTo>
                <a:lnTo>
                  <a:pt x="1665300" y="0"/>
                </a:lnTo>
                <a:lnTo>
                  <a:pt x="1665300" y="697941"/>
                </a:lnTo>
                <a:lnTo>
                  <a:pt x="0" y="697941"/>
                </a:lnTo>
                <a:lnTo>
                  <a:pt x="0" y="0"/>
                </a:lnTo>
                <a:close/>
              </a:path>
            </a:pathLst>
          </a:custGeom>
          <a:solidFill>
            <a:srgbClr val="FFFF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987008" y="4960378"/>
            <a:ext cx="1665605" cy="698500"/>
          </a:xfrm>
          <a:custGeom>
            <a:avLst/>
            <a:gdLst/>
            <a:ahLst/>
            <a:cxnLst/>
            <a:rect l="l" t="t" r="r" b="b"/>
            <a:pathLst>
              <a:path w="1665604" h="698500">
                <a:moveTo>
                  <a:pt x="0" y="0"/>
                </a:moveTo>
                <a:lnTo>
                  <a:pt x="1665300" y="0"/>
                </a:lnTo>
                <a:lnTo>
                  <a:pt x="1665300" y="697941"/>
                </a:lnTo>
                <a:lnTo>
                  <a:pt x="0" y="697941"/>
                </a:lnTo>
                <a:lnTo>
                  <a:pt x="0" y="0"/>
                </a:lnTo>
                <a:close/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987008" y="4960378"/>
            <a:ext cx="1665605" cy="197485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algn="ctr" marL="13335">
              <a:lnSpc>
                <a:spcPct val="100000"/>
              </a:lnSpc>
              <a:spcBef>
                <a:spcPts val="375"/>
              </a:spcBef>
            </a:pPr>
            <a:r>
              <a:rPr dirty="0" sz="750" spc="25" b="1">
                <a:latin typeface="Tahoma"/>
                <a:cs typeface="Tahoma"/>
              </a:rPr>
              <a:t>TestExam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87008" y="5157241"/>
            <a:ext cx="1674495" cy="0"/>
          </a:xfrm>
          <a:custGeom>
            <a:avLst/>
            <a:gdLst/>
            <a:ahLst/>
            <a:cxnLst/>
            <a:rect l="l" t="t" r="r" b="b"/>
            <a:pathLst>
              <a:path w="1674495" h="0">
                <a:moveTo>
                  <a:pt x="0" y="0"/>
                </a:moveTo>
                <a:lnTo>
                  <a:pt x="1674253" y="0"/>
                </a:lnTo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987008" y="5237772"/>
            <a:ext cx="1665605" cy="421005"/>
          </a:xfrm>
          <a:prstGeom prst="rect">
            <a:avLst/>
          </a:prstGeom>
          <a:solidFill>
            <a:srgbClr val="FFFFB8"/>
          </a:solidFill>
          <a:ln w="8953">
            <a:solidFill>
              <a:srgbClr val="80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375"/>
              </a:spcBef>
            </a:pPr>
            <a:r>
              <a:rPr dirty="0" u="sng" sz="75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+main():</a:t>
            </a:r>
            <a:r>
              <a:rPr dirty="0" u="sng" sz="75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75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void</a:t>
            </a:r>
            <a:endParaRPr sz="750"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485625" y="5246713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 h="0">
                <a:moveTo>
                  <a:pt x="501383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85625" y="5246713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 h="0">
                <a:moveTo>
                  <a:pt x="501383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800000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85625" y="5210924"/>
            <a:ext cx="89535" cy="71755"/>
          </a:xfrm>
          <a:custGeom>
            <a:avLst/>
            <a:gdLst/>
            <a:ahLst/>
            <a:cxnLst/>
            <a:rect l="l" t="t" r="r" b="b"/>
            <a:pathLst>
              <a:path w="89535" h="71754">
                <a:moveTo>
                  <a:pt x="89534" y="0"/>
                </a:moveTo>
                <a:lnTo>
                  <a:pt x="0" y="35788"/>
                </a:lnTo>
                <a:lnTo>
                  <a:pt x="89534" y="71589"/>
                </a:lnTo>
              </a:path>
            </a:pathLst>
          </a:custGeom>
          <a:ln w="8953">
            <a:solidFill>
              <a:srgbClr val="8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70</a:t>
            </a:fld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320" y="1417319"/>
            <a:ext cx="8593836" cy="3744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09687" y="468147"/>
            <a:ext cx="403860" cy="238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61451" y="437032"/>
            <a:ext cx="1350060" cy="246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32137" y="438302"/>
            <a:ext cx="2121661" cy="2463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70</a:t>
            </a:fld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4655" y="1474469"/>
            <a:ext cx="561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数组和集合的区别是什么？分别适用于什么场景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70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1283652" y="380225"/>
            <a:ext cx="17989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宋体"/>
                <a:cs typeface="宋体"/>
              </a:rPr>
              <a:t>作业</a:t>
            </a:r>
            <a:r>
              <a:rPr dirty="0" sz="2100" spc="-5" b="1">
                <a:latin typeface="Georgia"/>
                <a:cs typeface="Georgia"/>
              </a:rPr>
              <a:t>2</a:t>
            </a:r>
            <a:r>
              <a:rPr dirty="0" sz="2100" b="1">
                <a:latin typeface="宋体"/>
                <a:cs typeface="宋体"/>
              </a:rPr>
              <a:t>：客观</a:t>
            </a:r>
            <a:r>
              <a:rPr dirty="0" sz="2100" spc="-10" b="1">
                <a:latin typeface="宋体"/>
                <a:cs typeface="宋体"/>
              </a:rPr>
              <a:t>题</a:t>
            </a:r>
            <a:endParaRPr sz="2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2024-05-06T06:07:44Z</dcterms:created>
  <dcterms:modified xsi:type="dcterms:W3CDTF">2024-05-06T06:07:44Z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2024-05-06T00:00:00Z</vt:filetime>
  </property>
</Properties>
</file>
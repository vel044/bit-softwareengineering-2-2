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Default Extension="jpg" ContentType="image/jpg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3652" y="370700"/>
            <a:ext cx="6576695" cy="345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7E0054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393435" y="132587"/>
            <a:ext cx="3750564" cy="6536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484375"/>
            <a:ext cx="2197735" cy="4364990"/>
          </a:xfrm>
          <a:custGeom>
            <a:avLst/>
            <a:gdLst/>
            <a:ahLst/>
            <a:cxnLst/>
            <a:rect l="l" t="t" r="r" b="b"/>
            <a:pathLst>
              <a:path w="2197735" h="4364990">
                <a:moveTo>
                  <a:pt x="0" y="0"/>
                </a:moveTo>
                <a:lnTo>
                  <a:pt x="2197608" y="0"/>
                </a:lnTo>
                <a:lnTo>
                  <a:pt x="2197608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8644128" y="1484375"/>
            <a:ext cx="500380" cy="4364990"/>
          </a:xfrm>
          <a:custGeom>
            <a:avLst/>
            <a:gdLst/>
            <a:ahLst/>
            <a:cxnLst/>
            <a:rect l="l" t="t" r="r" b="b"/>
            <a:pathLst>
              <a:path w="500379" h="4364990">
                <a:moveTo>
                  <a:pt x="0" y="0"/>
                </a:moveTo>
                <a:lnTo>
                  <a:pt x="499872" y="0"/>
                </a:lnTo>
                <a:lnTo>
                  <a:pt x="499872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196083" y="1484375"/>
            <a:ext cx="283845" cy="4364990"/>
          </a:xfrm>
          <a:custGeom>
            <a:avLst/>
            <a:gdLst/>
            <a:ahLst/>
            <a:cxnLst/>
            <a:rect l="l" t="t" r="r" b="b"/>
            <a:pathLst>
              <a:path w="283844" h="4364990">
                <a:moveTo>
                  <a:pt x="0" y="0"/>
                </a:moveTo>
                <a:lnTo>
                  <a:pt x="283463" y="0"/>
                </a:lnTo>
                <a:lnTo>
                  <a:pt x="283463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8340852" y="1484375"/>
            <a:ext cx="303530" cy="4364990"/>
          </a:xfrm>
          <a:custGeom>
            <a:avLst/>
            <a:gdLst/>
            <a:ahLst/>
            <a:cxnLst/>
            <a:rect l="l" t="t" r="r" b="b"/>
            <a:pathLst>
              <a:path w="303529" h="4364990">
                <a:moveTo>
                  <a:pt x="0" y="0"/>
                </a:moveTo>
                <a:lnTo>
                  <a:pt x="303275" y="0"/>
                </a:lnTo>
                <a:lnTo>
                  <a:pt x="303275" y="4364736"/>
                </a:lnTo>
                <a:lnTo>
                  <a:pt x="0" y="436473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bk object 25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bk object 26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bk object 27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bk object 28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k object 29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k object 30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bk object 31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bk object 32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bk object 33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bk object 34"/>
          <p:cNvSpPr/>
          <p:nvPr/>
        </p:nvSpPr>
        <p:spPr>
          <a:xfrm>
            <a:off x="8366556" y="6119786"/>
            <a:ext cx="0" cy="738505"/>
          </a:xfrm>
          <a:custGeom>
            <a:avLst/>
            <a:gdLst/>
            <a:ahLst/>
            <a:cxnLst/>
            <a:rect l="l" t="t" r="r" b="b"/>
            <a:pathLst>
              <a:path w="0" h="738504">
                <a:moveTo>
                  <a:pt x="0" y="0"/>
                </a:moveTo>
                <a:lnTo>
                  <a:pt x="0" y="738212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29746" y="579589"/>
            <a:ext cx="2207259" cy="2997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6179" y="2892081"/>
            <a:ext cx="8647430" cy="3881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7E0054"/>
                </a:solidFill>
                <a:latin typeface="Consolas"/>
                <a:cs typeface="Consola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503602" y="6401152"/>
            <a:ext cx="255270" cy="226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F1F1F1"/>
                </a:solidFill>
                <a:latin typeface="微软雅黑"/>
                <a:cs typeface="微软雅黑"/>
              </a:defRPr>
            </a:lvl1pPr>
          </a:lstStyle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2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41.png"/><Relationship Id="rId11" Type="http://schemas.openxmlformats.org/officeDocument/2006/relationships/image" Target="../media/image30.png"/><Relationship Id="rId12" Type="http://schemas.openxmlformats.org/officeDocument/2006/relationships/image" Target="../media/image44.png"/><Relationship Id="rId13" Type="http://schemas.openxmlformats.org/officeDocument/2006/relationships/image" Target="../media/image32.png"/><Relationship Id="rId14" Type="http://schemas.openxmlformats.org/officeDocument/2006/relationships/image" Target="../media/image45.png"/><Relationship Id="rId15" Type="http://schemas.openxmlformats.org/officeDocument/2006/relationships/image" Target="../media/image34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2987" y="2545155"/>
            <a:ext cx="143510" cy="2219960"/>
          </a:xfrm>
          <a:prstGeom prst="rect">
            <a:avLst/>
          </a:prstGeom>
        </p:spPr>
        <p:txBody>
          <a:bodyPr wrap="square" lIns="0" tIns="635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00" spc="70" b="1">
                <a:solidFill>
                  <a:srgbClr val="FFFFFF"/>
                </a:solidFill>
                <a:latin typeface="Arial"/>
                <a:cs typeface="Arial"/>
              </a:rPr>
              <a:t>BEIJING INSTITUTE </a:t>
            </a:r>
            <a:r>
              <a:rPr dirty="0" sz="800" spc="5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80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80" b="1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66029" y="3754005"/>
            <a:ext cx="409575" cy="623570"/>
          </a:xfrm>
          <a:custGeom>
            <a:avLst/>
            <a:gdLst/>
            <a:ahLst/>
            <a:cxnLst/>
            <a:rect l="l" t="t" r="r" b="b"/>
            <a:pathLst>
              <a:path w="409575" h="623570">
                <a:moveTo>
                  <a:pt x="203495" y="189229"/>
                </a:moveTo>
                <a:lnTo>
                  <a:pt x="197313" y="189229"/>
                </a:lnTo>
                <a:lnTo>
                  <a:pt x="191755" y="185420"/>
                </a:lnTo>
                <a:lnTo>
                  <a:pt x="185264" y="175260"/>
                </a:lnTo>
                <a:lnTo>
                  <a:pt x="205203" y="162560"/>
                </a:lnTo>
                <a:lnTo>
                  <a:pt x="220157" y="154939"/>
                </a:lnTo>
                <a:lnTo>
                  <a:pt x="235111" y="148589"/>
                </a:lnTo>
                <a:lnTo>
                  <a:pt x="250066" y="140970"/>
                </a:lnTo>
                <a:lnTo>
                  <a:pt x="265020" y="130810"/>
                </a:lnTo>
                <a:lnTo>
                  <a:pt x="271675" y="130810"/>
                </a:lnTo>
                <a:lnTo>
                  <a:pt x="274989" y="121920"/>
                </a:lnTo>
                <a:lnTo>
                  <a:pt x="278317" y="118110"/>
                </a:lnTo>
                <a:lnTo>
                  <a:pt x="282780" y="97789"/>
                </a:lnTo>
                <a:lnTo>
                  <a:pt x="290465" y="54610"/>
                </a:lnTo>
                <a:lnTo>
                  <a:pt x="294928" y="34289"/>
                </a:lnTo>
                <a:lnTo>
                  <a:pt x="296020" y="27939"/>
                </a:lnTo>
                <a:lnTo>
                  <a:pt x="298670" y="20320"/>
                </a:lnTo>
                <a:lnTo>
                  <a:pt x="301942" y="12700"/>
                </a:lnTo>
                <a:lnTo>
                  <a:pt x="304898" y="7620"/>
                </a:lnTo>
                <a:lnTo>
                  <a:pt x="308225" y="0"/>
                </a:lnTo>
                <a:lnTo>
                  <a:pt x="321522" y="0"/>
                </a:lnTo>
                <a:lnTo>
                  <a:pt x="321522" y="3810"/>
                </a:lnTo>
                <a:lnTo>
                  <a:pt x="324837" y="16510"/>
                </a:lnTo>
                <a:lnTo>
                  <a:pt x="324837" y="21589"/>
                </a:lnTo>
                <a:lnTo>
                  <a:pt x="313726" y="45720"/>
                </a:lnTo>
                <a:lnTo>
                  <a:pt x="308224" y="69850"/>
                </a:lnTo>
                <a:lnTo>
                  <a:pt x="305215" y="96520"/>
                </a:lnTo>
                <a:lnTo>
                  <a:pt x="301583" y="121920"/>
                </a:lnTo>
                <a:lnTo>
                  <a:pt x="317055" y="127000"/>
                </a:lnTo>
                <a:lnTo>
                  <a:pt x="358084" y="127000"/>
                </a:lnTo>
                <a:lnTo>
                  <a:pt x="364715" y="130810"/>
                </a:lnTo>
                <a:lnTo>
                  <a:pt x="359629" y="140970"/>
                </a:lnTo>
                <a:lnTo>
                  <a:pt x="353920" y="148589"/>
                </a:lnTo>
                <a:lnTo>
                  <a:pt x="334806" y="148589"/>
                </a:lnTo>
                <a:lnTo>
                  <a:pt x="313625" y="152400"/>
                </a:lnTo>
                <a:lnTo>
                  <a:pt x="312255" y="153670"/>
                </a:lnTo>
                <a:lnTo>
                  <a:pt x="271675" y="153670"/>
                </a:lnTo>
                <a:lnTo>
                  <a:pt x="255317" y="162560"/>
                </a:lnTo>
                <a:lnTo>
                  <a:pt x="240518" y="170179"/>
                </a:lnTo>
                <a:lnTo>
                  <a:pt x="226344" y="177800"/>
                </a:lnTo>
                <a:lnTo>
                  <a:pt x="211858" y="184150"/>
                </a:lnTo>
                <a:lnTo>
                  <a:pt x="203495" y="189229"/>
                </a:lnTo>
                <a:close/>
              </a:path>
              <a:path w="409575" h="623570">
                <a:moveTo>
                  <a:pt x="116431" y="144779"/>
                </a:moveTo>
                <a:lnTo>
                  <a:pt x="88896" y="144779"/>
                </a:lnTo>
                <a:lnTo>
                  <a:pt x="105463" y="130810"/>
                </a:lnTo>
                <a:lnTo>
                  <a:pt x="119224" y="115570"/>
                </a:lnTo>
                <a:lnTo>
                  <a:pt x="128623" y="95250"/>
                </a:lnTo>
                <a:lnTo>
                  <a:pt x="132102" y="69850"/>
                </a:lnTo>
                <a:lnTo>
                  <a:pt x="133192" y="59689"/>
                </a:lnTo>
                <a:lnTo>
                  <a:pt x="135839" y="48260"/>
                </a:lnTo>
                <a:lnTo>
                  <a:pt x="139110" y="36829"/>
                </a:lnTo>
                <a:lnTo>
                  <a:pt x="142071" y="25400"/>
                </a:lnTo>
                <a:lnTo>
                  <a:pt x="145386" y="21589"/>
                </a:lnTo>
                <a:lnTo>
                  <a:pt x="155355" y="12700"/>
                </a:lnTo>
                <a:lnTo>
                  <a:pt x="158683" y="12700"/>
                </a:lnTo>
                <a:lnTo>
                  <a:pt x="170884" y="19050"/>
                </a:lnTo>
                <a:lnTo>
                  <a:pt x="181530" y="30479"/>
                </a:lnTo>
                <a:lnTo>
                  <a:pt x="189062" y="46989"/>
                </a:lnTo>
                <a:lnTo>
                  <a:pt x="191919" y="64770"/>
                </a:lnTo>
                <a:lnTo>
                  <a:pt x="191919" y="78739"/>
                </a:lnTo>
                <a:lnTo>
                  <a:pt x="195233" y="82550"/>
                </a:lnTo>
                <a:lnTo>
                  <a:pt x="221512" y="113029"/>
                </a:lnTo>
                <a:lnTo>
                  <a:pt x="225975" y="127000"/>
                </a:lnTo>
                <a:lnTo>
                  <a:pt x="176492" y="127000"/>
                </a:lnTo>
                <a:lnTo>
                  <a:pt x="169899" y="128270"/>
                </a:lnTo>
                <a:lnTo>
                  <a:pt x="165174" y="135889"/>
                </a:lnTo>
                <a:lnTo>
                  <a:pt x="164225" y="139700"/>
                </a:lnTo>
                <a:lnTo>
                  <a:pt x="118805" y="139700"/>
                </a:lnTo>
                <a:lnTo>
                  <a:pt x="116431" y="144779"/>
                </a:lnTo>
                <a:close/>
              </a:path>
              <a:path w="409575" h="623570">
                <a:moveTo>
                  <a:pt x="72285" y="250189"/>
                </a:moveTo>
                <a:lnTo>
                  <a:pt x="64808" y="247650"/>
                </a:lnTo>
                <a:lnTo>
                  <a:pt x="49853" y="243839"/>
                </a:lnTo>
                <a:lnTo>
                  <a:pt x="42376" y="241300"/>
                </a:lnTo>
                <a:lnTo>
                  <a:pt x="31831" y="233679"/>
                </a:lnTo>
                <a:lnTo>
                  <a:pt x="25339" y="222250"/>
                </a:lnTo>
                <a:lnTo>
                  <a:pt x="23210" y="208279"/>
                </a:lnTo>
                <a:lnTo>
                  <a:pt x="25752" y="193039"/>
                </a:lnTo>
                <a:lnTo>
                  <a:pt x="27728" y="185420"/>
                </a:lnTo>
                <a:lnTo>
                  <a:pt x="30431" y="167639"/>
                </a:lnTo>
                <a:lnTo>
                  <a:pt x="49849" y="114300"/>
                </a:lnTo>
                <a:lnTo>
                  <a:pt x="82254" y="87629"/>
                </a:lnTo>
                <a:lnTo>
                  <a:pt x="85832" y="85089"/>
                </a:lnTo>
                <a:lnTo>
                  <a:pt x="90971" y="86360"/>
                </a:lnTo>
                <a:lnTo>
                  <a:pt x="96736" y="90170"/>
                </a:lnTo>
                <a:lnTo>
                  <a:pt x="102193" y="96520"/>
                </a:lnTo>
                <a:lnTo>
                  <a:pt x="104943" y="100329"/>
                </a:lnTo>
                <a:lnTo>
                  <a:pt x="104268" y="105410"/>
                </a:lnTo>
                <a:lnTo>
                  <a:pt x="101724" y="111760"/>
                </a:lnTo>
                <a:lnTo>
                  <a:pt x="98866" y="118110"/>
                </a:lnTo>
                <a:lnTo>
                  <a:pt x="94974" y="123189"/>
                </a:lnTo>
                <a:lnTo>
                  <a:pt x="92638" y="129539"/>
                </a:lnTo>
                <a:lnTo>
                  <a:pt x="90924" y="137160"/>
                </a:lnTo>
                <a:lnTo>
                  <a:pt x="88896" y="144779"/>
                </a:lnTo>
                <a:lnTo>
                  <a:pt x="116431" y="144779"/>
                </a:lnTo>
                <a:lnTo>
                  <a:pt x="106344" y="166370"/>
                </a:lnTo>
                <a:lnTo>
                  <a:pt x="81418" y="217170"/>
                </a:lnTo>
                <a:lnTo>
                  <a:pt x="68957" y="241300"/>
                </a:lnTo>
                <a:lnTo>
                  <a:pt x="68957" y="245110"/>
                </a:lnTo>
                <a:lnTo>
                  <a:pt x="72285" y="250189"/>
                </a:lnTo>
                <a:close/>
              </a:path>
              <a:path w="409575" h="623570">
                <a:moveTo>
                  <a:pt x="358084" y="127000"/>
                </a:moveTo>
                <a:lnTo>
                  <a:pt x="317055" y="127000"/>
                </a:lnTo>
                <a:lnTo>
                  <a:pt x="333149" y="123189"/>
                </a:lnTo>
                <a:lnTo>
                  <a:pt x="349243" y="121920"/>
                </a:lnTo>
                <a:lnTo>
                  <a:pt x="358084" y="127000"/>
                </a:lnTo>
                <a:close/>
              </a:path>
              <a:path w="409575" h="623570">
                <a:moveTo>
                  <a:pt x="217671" y="144779"/>
                </a:moveTo>
                <a:lnTo>
                  <a:pt x="208530" y="144779"/>
                </a:lnTo>
                <a:lnTo>
                  <a:pt x="203495" y="140970"/>
                </a:lnTo>
                <a:lnTo>
                  <a:pt x="198145" y="138429"/>
                </a:lnTo>
                <a:lnTo>
                  <a:pt x="192171" y="134620"/>
                </a:lnTo>
                <a:lnTo>
                  <a:pt x="185264" y="130810"/>
                </a:lnTo>
                <a:lnTo>
                  <a:pt x="176492" y="127000"/>
                </a:lnTo>
                <a:lnTo>
                  <a:pt x="225975" y="127000"/>
                </a:lnTo>
                <a:lnTo>
                  <a:pt x="227224" y="134620"/>
                </a:lnTo>
                <a:lnTo>
                  <a:pt x="224318" y="142239"/>
                </a:lnTo>
                <a:lnTo>
                  <a:pt x="217671" y="144779"/>
                </a:lnTo>
                <a:close/>
              </a:path>
              <a:path w="409575" h="623570">
                <a:moveTo>
                  <a:pt x="47356" y="377189"/>
                </a:moveTo>
                <a:lnTo>
                  <a:pt x="29910" y="368300"/>
                </a:lnTo>
                <a:lnTo>
                  <a:pt x="12468" y="355600"/>
                </a:lnTo>
                <a:lnTo>
                  <a:pt x="3117" y="347979"/>
                </a:lnTo>
                <a:lnTo>
                  <a:pt x="0" y="339089"/>
                </a:lnTo>
                <a:lnTo>
                  <a:pt x="3117" y="330200"/>
                </a:lnTo>
                <a:lnTo>
                  <a:pt x="12468" y="320039"/>
                </a:lnTo>
                <a:lnTo>
                  <a:pt x="37335" y="303529"/>
                </a:lnTo>
                <a:lnTo>
                  <a:pt x="61895" y="284479"/>
                </a:lnTo>
                <a:lnTo>
                  <a:pt x="85832" y="265429"/>
                </a:lnTo>
                <a:lnTo>
                  <a:pt x="108835" y="245110"/>
                </a:lnTo>
                <a:lnTo>
                  <a:pt x="112163" y="241300"/>
                </a:lnTo>
                <a:lnTo>
                  <a:pt x="118805" y="237489"/>
                </a:lnTo>
                <a:lnTo>
                  <a:pt x="118805" y="228600"/>
                </a:lnTo>
                <a:lnTo>
                  <a:pt x="120728" y="207010"/>
                </a:lnTo>
                <a:lnTo>
                  <a:pt x="121716" y="186689"/>
                </a:lnTo>
                <a:lnTo>
                  <a:pt x="122016" y="168910"/>
                </a:lnTo>
                <a:lnTo>
                  <a:pt x="122132" y="139700"/>
                </a:lnTo>
                <a:lnTo>
                  <a:pt x="164225" y="139700"/>
                </a:lnTo>
                <a:lnTo>
                  <a:pt x="162010" y="148589"/>
                </a:lnTo>
                <a:lnTo>
                  <a:pt x="157437" y="185420"/>
                </a:lnTo>
                <a:lnTo>
                  <a:pt x="155433" y="219710"/>
                </a:lnTo>
                <a:lnTo>
                  <a:pt x="155462" y="222250"/>
                </a:lnTo>
                <a:lnTo>
                  <a:pt x="158267" y="256539"/>
                </a:lnTo>
                <a:lnTo>
                  <a:pt x="168652" y="289560"/>
                </a:lnTo>
                <a:lnTo>
                  <a:pt x="206282" y="289560"/>
                </a:lnTo>
                <a:lnTo>
                  <a:pt x="206817" y="290829"/>
                </a:lnTo>
                <a:lnTo>
                  <a:pt x="211858" y="302260"/>
                </a:lnTo>
                <a:lnTo>
                  <a:pt x="388813" y="302260"/>
                </a:lnTo>
                <a:lnTo>
                  <a:pt x="381334" y="306070"/>
                </a:lnTo>
                <a:lnTo>
                  <a:pt x="371366" y="309879"/>
                </a:lnTo>
                <a:lnTo>
                  <a:pt x="361400" y="311150"/>
                </a:lnTo>
                <a:lnTo>
                  <a:pt x="288286" y="311150"/>
                </a:lnTo>
                <a:lnTo>
                  <a:pt x="278316" y="321310"/>
                </a:lnTo>
                <a:lnTo>
                  <a:pt x="268347" y="328929"/>
                </a:lnTo>
                <a:lnTo>
                  <a:pt x="258379" y="335279"/>
                </a:lnTo>
                <a:lnTo>
                  <a:pt x="248408" y="342900"/>
                </a:lnTo>
                <a:lnTo>
                  <a:pt x="235430" y="351789"/>
                </a:lnTo>
                <a:lnTo>
                  <a:pt x="230328" y="355600"/>
                </a:lnTo>
                <a:lnTo>
                  <a:pt x="82254" y="355600"/>
                </a:lnTo>
                <a:lnTo>
                  <a:pt x="64805" y="374650"/>
                </a:lnTo>
                <a:lnTo>
                  <a:pt x="47356" y="377189"/>
                </a:lnTo>
                <a:close/>
              </a:path>
              <a:path w="409575" h="623570">
                <a:moveTo>
                  <a:pt x="346963" y="153670"/>
                </a:moveTo>
                <a:lnTo>
                  <a:pt x="338134" y="153670"/>
                </a:lnTo>
                <a:lnTo>
                  <a:pt x="338134" y="148589"/>
                </a:lnTo>
                <a:lnTo>
                  <a:pt x="353920" y="148589"/>
                </a:lnTo>
                <a:lnTo>
                  <a:pt x="346963" y="153670"/>
                </a:lnTo>
                <a:close/>
              </a:path>
              <a:path w="409575" h="623570">
                <a:moveTo>
                  <a:pt x="294550" y="205739"/>
                </a:moveTo>
                <a:lnTo>
                  <a:pt x="265020" y="205739"/>
                </a:lnTo>
                <a:lnTo>
                  <a:pt x="265592" y="195579"/>
                </a:lnTo>
                <a:lnTo>
                  <a:pt x="267100" y="182879"/>
                </a:lnTo>
                <a:lnTo>
                  <a:pt x="269231" y="168910"/>
                </a:lnTo>
                <a:lnTo>
                  <a:pt x="271675" y="153670"/>
                </a:lnTo>
                <a:lnTo>
                  <a:pt x="312255" y="153670"/>
                </a:lnTo>
                <a:lnTo>
                  <a:pt x="299918" y="165100"/>
                </a:lnTo>
                <a:lnTo>
                  <a:pt x="293685" y="185420"/>
                </a:lnTo>
                <a:lnTo>
                  <a:pt x="294550" y="205739"/>
                </a:lnTo>
                <a:close/>
              </a:path>
              <a:path w="409575" h="623570">
                <a:moveTo>
                  <a:pt x="388813" y="302260"/>
                </a:moveTo>
                <a:lnTo>
                  <a:pt x="211858" y="302260"/>
                </a:lnTo>
                <a:lnTo>
                  <a:pt x="248408" y="254000"/>
                </a:lnTo>
                <a:lnTo>
                  <a:pt x="245081" y="245110"/>
                </a:lnTo>
                <a:lnTo>
                  <a:pt x="245081" y="241300"/>
                </a:lnTo>
                <a:lnTo>
                  <a:pt x="241607" y="234950"/>
                </a:lnTo>
                <a:lnTo>
                  <a:pt x="233406" y="223520"/>
                </a:lnTo>
                <a:lnTo>
                  <a:pt x="231797" y="219710"/>
                </a:lnTo>
                <a:lnTo>
                  <a:pt x="235427" y="210820"/>
                </a:lnTo>
                <a:lnTo>
                  <a:pt x="240928" y="205739"/>
                </a:lnTo>
                <a:lnTo>
                  <a:pt x="247677" y="204470"/>
                </a:lnTo>
                <a:lnTo>
                  <a:pt x="255050" y="205739"/>
                </a:lnTo>
                <a:lnTo>
                  <a:pt x="294550" y="205739"/>
                </a:lnTo>
                <a:lnTo>
                  <a:pt x="294928" y="214629"/>
                </a:lnTo>
                <a:lnTo>
                  <a:pt x="297994" y="224789"/>
                </a:lnTo>
                <a:lnTo>
                  <a:pt x="301993" y="234950"/>
                </a:lnTo>
                <a:lnTo>
                  <a:pt x="306616" y="246379"/>
                </a:lnTo>
                <a:lnTo>
                  <a:pt x="311553" y="259079"/>
                </a:lnTo>
                <a:lnTo>
                  <a:pt x="394061" y="259079"/>
                </a:lnTo>
                <a:lnTo>
                  <a:pt x="404606" y="267970"/>
                </a:lnTo>
                <a:lnTo>
                  <a:pt x="408290" y="274320"/>
                </a:lnTo>
                <a:lnTo>
                  <a:pt x="409171" y="281939"/>
                </a:lnTo>
                <a:lnTo>
                  <a:pt x="406938" y="289560"/>
                </a:lnTo>
                <a:lnTo>
                  <a:pt x="401278" y="294639"/>
                </a:lnTo>
                <a:lnTo>
                  <a:pt x="391306" y="300989"/>
                </a:lnTo>
                <a:lnTo>
                  <a:pt x="388813" y="302260"/>
                </a:lnTo>
                <a:close/>
              </a:path>
              <a:path w="409575" h="623570">
                <a:moveTo>
                  <a:pt x="394061" y="259079"/>
                </a:moveTo>
                <a:lnTo>
                  <a:pt x="311553" y="259079"/>
                </a:lnTo>
                <a:lnTo>
                  <a:pt x="333565" y="256539"/>
                </a:lnTo>
                <a:lnTo>
                  <a:pt x="345664" y="252729"/>
                </a:lnTo>
                <a:lnTo>
                  <a:pt x="358073" y="250189"/>
                </a:lnTo>
                <a:lnTo>
                  <a:pt x="370482" y="248920"/>
                </a:lnTo>
                <a:lnTo>
                  <a:pt x="382582" y="252729"/>
                </a:lnTo>
                <a:lnTo>
                  <a:pt x="394061" y="259079"/>
                </a:lnTo>
                <a:close/>
              </a:path>
              <a:path w="409575" h="623570">
                <a:moveTo>
                  <a:pt x="206282" y="289560"/>
                </a:moveTo>
                <a:lnTo>
                  <a:pt x="168652" y="289560"/>
                </a:lnTo>
                <a:lnTo>
                  <a:pt x="173636" y="283210"/>
                </a:lnTo>
                <a:lnTo>
                  <a:pt x="178622" y="275589"/>
                </a:lnTo>
                <a:lnTo>
                  <a:pt x="183608" y="266700"/>
                </a:lnTo>
                <a:lnTo>
                  <a:pt x="188591" y="254000"/>
                </a:lnTo>
                <a:lnTo>
                  <a:pt x="195497" y="266700"/>
                </a:lnTo>
                <a:lnTo>
                  <a:pt x="201468" y="278129"/>
                </a:lnTo>
                <a:lnTo>
                  <a:pt x="206282" y="289560"/>
                </a:lnTo>
                <a:close/>
              </a:path>
              <a:path w="409575" h="623570">
                <a:moveTo>
                  <a:pt x="265020" y="527050"/>
                </a:moveTo>
                <a:lnTo>
                  <a:pt x="250589" y="519429"/>
                </a:lnTo>
                <a:lnTo>
                  <a:pt x="241761" y="506729"/>
                </a:lnTo>
                <a:lnTo>
                  <a:pt x="237918" y="492760"/>
                </a:lnTo>
                <a:lnTo>
                  <a:pt x="238439" y="474979"/>
                </a:lnTo>
                <a:lnTo>
                  <a:pt x="247162" y="431800"/>
                </a:lnTo>
                <a:lnTo>
                  <a:pt x="258376" y="391160"/>
                </a:lnTo>
                <a:lnTo>
                  <a:pt x="272084" y="351789"/>
                </a:lnTo>
                <a:lnTo>
                  <a:pt x="288286" y="311150"/>
                </a:lnTo>
                <a:lnTo>
                  <a:pt x="361400" y="311150"/>
                </a:lnTo>
                <a:lnTo>
                  <a:pt x="345664" y="312420"/>
                </a:lnTo>
                <a:lnTo>
                  <a:pt x="332733" y="321310"/>
                </a:lnTo>
                <a:lnTo>
                  <a:pt x="321674" y="332739"/>
                </a:lnTo>
                <a:lnTo>
                  <a:pt x="311553" y="346710"/>
                </a:lnTo>
                <a:lnTo>
                  <a:pt x="319496" y="349250"/>
                </a:lnTo>
                <a:lnTo>
                  <a:pt x="327750" y="351789"/>
                </a:lnTo>
                <a:lnTo>
                  <a:pt x="335382" y="354329"/>
                </a:lnTo>
                <a:lnTo>
                  <a:pt x="341461" y="359410"/>
                </a:lnTo>
                <a:lnTo>
                  <a:pt x="346391" y="364489"/>
                </a:lnTo>
                <a:lnTo>
                  <a:pt x="351010" y="372110"/>
                </a:lnTo>
                <a:lnTo>
                  <a:pt x="354341" y="378460"/>
                </a:lnTo>
                <a:lnTo>
                  <a:pt x="318192" y="378460"/>
                </a:lnTo>
                <a:lnTo>
                  <a:pt x="308117" y="381000"/>
                </a:lnTo>
                <a:lnTo>
                  <a:pt x="294928" y="394970"/>
                </a:lnTo>
                <a:lnTo>
                  <a:pt x="301371" y="403860"/>
                </a:lnTo>
                <a:lnTo>
                  <a:pt x="309057" y="410210"/>
                </a:lnTo>
                <a:lnTo>
                  <a:pt x="315495" y="419100"/>
                </a:lnTo>
                <a:lnTo>
                  <a:pt x="315945" y="421639"/>
                </a:lnTo>
                <a:lnTo>
                  <a:pt x="288286" y="421639"/>
                </a:lnTo>
                <a:lnTo>
                  <a:pt x="280911" y="433070"/>
                </a:lnTo>
                <a:lnTo>
                  <a:pt x="279144" y="440689"/>
                </a:lnTo>
                <a:lnTo>
                  <a:pt x="283609" y="445770"/>
                </a:lnTo>
                <a:lnTo>
                  <a:pt x="294928" y="452120"/>
                </a:lnTo>
                <a:lnTo>
                  <a:pt x="305993" y="463550"/>
                </a:lnTo>
                <a:lnTo>
                  <a:pt x="313628" y="474979"/>
                </a:lnTo>
                <a:lnTo>
                  <a:pt x="271675" y="474979"/>
                </a:lnTo>
                <a:lnTo>
                  <a:pt x="269699" y="487679"/>
                </a:lnTo>
                <a:lnTo>
                  <a:pt x="266996" y="514350"/>
                </a:lnTo>
                <a:lnTo>
                  <a:pt x="265020" y="527050"/>
                </a:lnTo>
                <a:close/>
              </a:path>
              <a:path w="409575" h="623570">
                <a:moveTo>
                  <a:pt x="76069" y="530860"/>
                </a:moveTo>
                <a:lnTo>
                  <a:pt x="65630" y="527050"/>
                </a:lnTo>
                <a:lnTo>
                  <a:pt x="55610" y="518160"/>
                </a:lnTo>
                <a:lnTo>
                  <a:pt x="50263" y="505460"/>
                </a:lnTo>
                <a:lnTo>
                  <a:pt x="49278" y="490220"/>
                </a:lnTo>
                <a:lnTo>
                  <a:pt x="52346" y="474979"/>
                </a:lnTo>
                <a:lnTo>
                  <a:pt x="74777" y="387350"/>
                </a:lnTo>
                <a:lnTo>
                  <a:pt x="82254" y="355600"/>
                </a:lnTo>
                <a:lnTo>
                  <a:pt x="230328" y="355600"/>
                </a:lnTo>
                <a:lnTo>
                  <a:pt x="208219" y="372110"/>
                </a:lnTo>
                <a:lnTo>
                  <a:pt x="195233" y="382270"/>
                </a:lnTo>
                <a:lnTo>
                  <a:pt x="191919" y="382270"/>
                </a:lnTo>
                <a:lnTo>
                  <a:pt x="185264" y="386079"/>
                </a:lnTo>
                <a:lnTo>
                  <a:pt x="175294" y="386079"/>
                </a:lnTo>
                <a:lnTo>
                  <a:pt x="159825" y="430529"/>
                </a:lnTo>
                <a:lnTo>
                  <a:pt x="158683" y="443229"/>
                </a:lnTo>
                <a:lnTo>
                  <a:pt x="159112" y="466089"/>
                </a:lnTo>
                <a:lnTo>
                  <a:pt x="118805" y="466089"/>
                </a:lnTo>
                <a:lnTo>
                  <a:pt x="115791" y="474979"/>
                </a:lnTo>
                <a:lnTo>
                  <a:pt x="108521" y="491489"/>
                </a:lnTo>
                <a:lnTo>
                  <a:pt x="105508" y="500379"/>
                </a:lnTo>
                <a:lnTo>
                  <a:pt x="96941" y="516889"/>
                </a:lnTo>
                <a:lnTo>
                  <a:pt x="86817" y="527050"/>
                </a:lnTo>
                <a:lnTo>
                  <a:pt x="76069" y="530860"/>
                </a:lnTo>
                <a:close/>
              </a:path>
              <a:path w="409575" h="623570">
                <a:moveTo>
                  <a:pt x="367159" y="571500"/>
                </a:moveTo>
                <a:lnTo>
                  <a:pt x="328164" y="571500"/>
                </a:lnTo>
                <a:lnTo>
                  <a:pt x="328164" y="566420"/>
                </a:lnTo>
                <a:lnTo>
                  <a:pt x="331492" y="566420"/>
                </a:lnTo>
                <a:lnTo>
                  <a:pt x="331492" y="403860"/>
                </a:lnTo>
                <a:lnTo>
                  <a:pt x="325775" y="386079"/>
                </a:lnTo>
                <a:lnTo>
                  <a:pt x="318192" y="378460"/>
                </a:lnTo>
                <a:lnTo>
                  <a:pt x="354341" y="378460"/>
                </a:lnTo>
                <a:lnTo>
                  <a:pt x="355008" y="379729"/>
                </a:lnTo>
                <a:lnTo>
                  <a:pt x="358073" y="386079"/>
                </a:lnTo>
                <a:lnTo>
                  <a:pt x="360940" y="445770"/>
                </a:lnTo>
                <a:lnTo>
                  <a:pt x="367159" y="571500"/>
                </a:lnTo>
                <a:close/>
              </a:path>
              <a:path w="409575" h="623570">
                <a:moveTo>
                  <a:pt x="318195" y="434339"/>
                </a:moveTo>
                <a:lnTo>
                  <a:pt x="288286" y="421639"/>
                </a:lnTo>
                <a:lnTo>
                  <a:pt x="315945" y="421639"/>
                </a:lnTo>
                <a:lnTo>
                  <a:pt x="318195" y="434339"/>
                </a:lnTo>
                <a:close/>
              </a:path>
              <a:path w="409575" h="623570">
                <a:moveTo>
                  <a:pt x="165325" y="601979"/>
                </a:moveTo>
                <a:lnTo>
                  <a:pt x="131474" y="581660"/>
                </a:lnTo>
                <a:lnTo>
                  <a:pt x="121922" y="563879"/>
                </a:lnTo>
                <a:lnTo>
                  <a:pt x="122132" y="548639"/>
                </a:lnTo>
                <a:lnTo>
                  <a:pt x="125452" y="529589"/>
                </a:lnTo>
                <a:lnTo>
                  <a:pt x="126280" y="509270"/>
                </a:lnTo>
                <a:lnTo>
                  <a:pt x="125447" y="469900"/>
                </a:lnTo>
                <a:lnTo>
                  <a:pt x="122132" y="469900"/>
                </a:lnTo>
                <a:lnTo>
                  <a:pt x="118805" y="466089"/>
                </a:lnTo>
                <a:lnTo>
                  <a:pt x="159112" y="466089"/>
                </a:lnTo>
                <a:lnTo>
                  <a:pt x="159255" y="473710"/>
                </a:lnTo>
                <a:lnTo>
                  <a:pt x="160761" y="502920"/>
                </a:lnTo>
                <a:lnTo>
                  <a:pt x="162889" y="532129"/>
                </a:lnTo>
                <a:lnTo>
                  <a:pt x="165325" y="562610"/>
                </a:lnTo>
                <a:lnTo>
                  <a:pt x="165325" y="601979"/>
                </a:lnTo>
                <a:close/>
              </a:path>
              <a:path w="409575" h="623570">
                <a:moveTo>
                  <a:pt x="305474" y="497839"/>
                </a:moveTo>
                <a:lnTo>
                  <a:pt x="297013" y="495300"/>
                </a:lnTo>
                <a:lnTo>
                  <a:pt x="289173" y="490220"/>
                </a:lnTo>
                <a:lnTo>
                  <a:pt x="281644" y="482600"/>
                </a:lnTo>
                <a:lnTo>
                  <a:pt x="278317" y="482600"/>
                </a:lnTo>
                <a:lnTo>
                  <a:pt x="271675" y="474979"/>
                </a:lnTo>
                <a:lnTo>
                  <a:pt x="313628" y="474979"/>
                </a:lnTo>
                <a:lnTo>
                  <a:pt x="316897" y="486410"/>
                </a:lnTo>
                <a:lnTo>
                  <a:pt x="314867" y="491489"/>
                </a:lnTo>
                <a:lnTo>
                  <a:pt x="305474" y="497839"/>
                </a:lnTo>
                <a:close/>
              </a:path>
              <a:path w="409575" h="623570">
                <a:moveTo>
                  <a:pt x="361400" y="623570"/>
                </a:moveTo>
                <a:lnTo>
                  <a:pt x="353975" y="621029"/>
                </a:lnTo>
                <a:lnTo>
                  <a:pt x="346860" y="619760"/>
                </a:lnTo>
                <a:lnTo>
                  <a:pt x="340367" y="617220"/>
                </a:lnTo>
                <a:lnTo>
                  <a:pt x="312377" y="586739"/>
                </a:lnTo>
                <a:lnTo>
                  <a:pt x="294928" y="557529"/>
                </a:lnTo>
                <a:lnTo>
                  <a:pt x="291614" y="553720"/>
                </a:lnTo>
                <a:lnTo>
                  <a:pt x="291614" y="539750"/>
                </a:lnTo>
                <a:lnTo>
                  <a:pt x="299661" y="547370"/>
                </a:lnTo>
                <a:lnTo>
                  <a:pt x="308641" y="553720"/>
                </a:lnTo>
                <a:lnTo>
                  <a:pt x="318246" y="562610"/>
                </a:lnTo>
                <a:lnTo>
                  <a:pt x="328164" y="571500"/>
                </a:lnTo>
                <a:lnTo>
                  <a:pt x="367159" y="571500"/>
                </a:lnTo>
                <a:lnTo>
                  <a:pt x="368042" y="589279"/>
                </a:lnTo>
                <a:lnTo>
                  <a:pt x="367004" y="598170"/>
                </a:lnTo>
                <a:lnTo>
                  <a:pt x="364721" y="608329"/>
                </a:lnTo>
                <a:lnTo>
                  <a:pt x="362438" y="615950"/>
                </a:lnTo>
                <a:lnTo>
                  <a:pt x="361400" y="623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53402" y="4802526"/>
            <a:ext cx="229870" cy="461009"/>
          </a:xfrm>
          <a:custGeom>
            <a:avLst/>
            <a:gdLst/>
            <a:ahLst/>
            <a:cxnLst/>
            <a:rect l="l" t="t" r="r" b="b"/>
            <a:pathLst>
              <a:path w="229870" h="461010">
                <a:moveTo>
                  <a:pt x="72342" y="460712"/>
                </a:moveTo>
                <a:lnTo>
                  <a:pt x="31705" y="429614"/>
                </a:lnTo>
                <a:lnTo>
                  <a:pt x="7729" y="370729"/>
                </a:lnTo>
                <a:lnTo>
                  <a:pt x="1346" y="337989"/>
                </a:lnTo>
                <a:lnTo>
                  <a:pt x="0" y="331380"/>
                </a:lnTo>
                <a:lnTo>
                  <a:pt x="519" y="324776"/>
                </a:lnTo>
                <a:lnTo>
                  <a:pt x="2284" y="318174"/>
                </a:lnTo>
                <a:lnTo>
                  <a:pt x="5135" y="310330"/>
                </a:lnTo>
                <a:lnTo>
                  <a:pt x="22112" y="264652"/>
                </a:lnTo>
                <a:lnTo>
                  <a:pt x="56983" y="169162"/>
                </a:lnTo>
                <a:lnTo>
                  <a:pt x="74422" y="122241"/>
                </a:lnTo>
                <a:lnTo>
                  <a:pt x="74422" y="109033"/>
                </a:lnTo>
                <a:lnTo>
                  <a:pt x="71094" y="100232"/>
                </a:lnTo>
                <a:lnTo>
                  <a:pt x="63107" y="90257"/>
                </a:lnTo>
                <a:lnTo>
                  <a:pt x="54494" y="79869"/>
                </a:lnTo>
                <a:lnTo>
                  <a:pt x="45879" y="68655"/>
                </a:lnTo>
                <a:lnTo>
                  <a:pt x="37884" y="56201"/>
                </a:lnTo>
                <a:lnTo>
                  <a:pt x="34771" y="47121"/>
                </a:lnTo>
                <a:lnTo>
                  <a:pt x="35396" y="39693"/>
                </a:lnTo>
                <a:lnTo>
                  <a:pt x="39757" y="33914"/>
                </a:lnTo>
                <a:lnTo>
                  <a:pt x="47853" y="29785"/>
                </a:lnTo>
                <a:lnTo>
                  <a:pt x="62278" y="25730"/>
                </a:lnTo>
                <a:lnTo>
                  <a:pt x="76079" y="20433"/>
                </a:lnTo>
                <a:lnTo>
                  <a:pt x="104305" y="7776"/>
                </a:lnTo>
                <a:lnTo>
                  <a:pt x="134253" y="0"/>
                </a:lnTo>
                <a:lnTo>
                  <a:pt x="162017" y="8325"/>
                </a:lnTo>
                <a:lnTo>
                  <a:pt x="184175" y="30686"/>
                </a:lnTo>
                <a:lnTo>
                  <a:pt x="197307" y="65015"/>
                </a:lnTo>
                <a:lnTo>
                  <a:pt x="198653" y="74852"/>
                </a:lnTo>
                <a:lnTo>
                  <a:pt x="198134" y="84276"/>
                </a:lnTo>
                <a:lnTo>
                  <a:pt x="196369" y="92874"/>
                </a:lnTo>
                <a:lnTo>
                  <a:pt x="193979" y="100232"/>
                </a:lnTo>
                <a:lnTo>
                  <a:pt x="188480" y="110826"/>
                </a:lnTo>
                <a:lnTo>
                  <a:pt x="176238" y="133668"/>
                </a:lnTo>
                <a:lnTo>
                  <a:pt x="170738" y="144263"/>
                </a:lnTo>
                <a:lnTo>
                  <a:pt x="110947" y="302759"/>
                </a:lnTo>
                <a:lnTo>
                  <a:pt x="110947" y="311573"/>
                </a:lnTo>
                <a:lnTo>
                  <a:pt x="107632" y="320374"/>
                </a:lnTo>
                <a:lnTo>
                  <a:pt x="215604" y="320374"/>
                </a:lnTo>
                <a:lnTo>
                  <a:pt x="223045" y="334682"/>
                </a:lnTo>
                <a:lnTo>
                  <a:pt x="229482" y="363989"/>
                </a:lnTo>
                <a:lnTo>
                  <a:pt x="227203" y="390821"/>
                </a:lnTo>
                <a:lnTo>
                  <a:pt x="220561" y="399622"/>
                </a:lnTo>
                <a:lnTo>
                  <a:pt x="217233" y="399622"/>
                </a:lnTo>
                <a:lnTo>
                  <a:pt x="202340" y="401619"/>
                </a:lnTo>
                <a:lnTo>
                  <a:pt x="160769" y="408435"/>
                </a:lnTo>
                <a:lnTo>
                  <a:pt x="125900" y="428797"/>
                </a:lnTo>
                <a:lnTo>
                  <a:pt x="91021" y="452454"/>
                </a:lnTo>
                <a:lnTo>
                  <a:pt x="81525" y="458029"/>
                </a:lnTo>
                <a:lnTo>
                  <a:pt x="72342" y="460712"/>
                </a:lnTo>
                <a:close/>
              </a:path>
              <a:path w="229870" h="461010">
                <a:moveTo>
                  <a:pt x="215604" y="320374"/>
                </a:moveTo>
                <a:lnTo>
                  <a:pt x="107632" y="320374"/>
                </a:lnTo>
                <a:lnTo>
                  <a:pt x="117077" y="314597"/>
                </a:lnTo>
                <a:lnTo>
                  <a:pt x="125901" y="310469"/>
                </a:lnTo>
                <a:lnTo>
                  <a:pt x="134725" y="307992"/>
                </a:lnTo>
                <a:lnTo>
                  <a:pt x="144170" y="307166"/>
                </a:lnTo>
                <a:lnTo>
                  <a:pt x="156621" y="303931"/>
                </a:lnTo>
                <a:lnTo>
                  <a:pt x="169075" y="301113"/>
                </a:lnTo>
                <a:lnTo>
                  <a:pt x="181528" y="299120"/>
                </a:lnTo>
                <a:lnTo>
                  <a:pt x="193979" y="298365"/>
                </a:lnTo>
                <a:lnTo>
                  <a:pt x="210381" y="310330"/>
                </a:lnTo>
                <a:lnTo>
                  <a:pt x="215604" y="32037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8863" y="2075091"/>
            <a:ext cx="418465" cy="462280"/>
          </a:xfrm>
          <a:custGeom>
            <a:avLst/>
            <a:gdLst/>
            <a:ahLst/>
            <a:cxnLst/>
            <a:rect l="l" t="t" r="r" b="b"/>
            <a:pathLst>
              <a:path w="418465" h="462280">
                <a:moveTo>
                  <a:pt x="225920" y="62610"/>
                </a:moveTo>
                <a:lnTo>
                  <a:pt x="192902" y="62610"/>
                </a:lnTo>
                <a:lnTo>
                  <a:pt x="197680" y="59928"/>
                </a:lnTo>
                <a:lnTo>
                  <a:pt x="202455" y="54774"/>
                </a:lnTo>
                <a:lnTo>
                  <a:pt x="240041" y="14297"/>
                </a:lnTo>
                <a:lnTo>
                  <a:pt x="279082" y="0"/>
                </a:lnTo>
                <a:lnTo>
                  <a:pt x="290917" y="1718"/>
                </a:lnTo>
                <a:lnTo>
                  <a:pt x="301505" y="7148"/>
                </a:lnTo>
                <a:lnTo>
                  <a:pt x="310848" y="16700"/>
                </a:lnTo>
                <a:lnTo>
                  <a:pt x="318947" y="30784"/>
                </a:lnTo>
                <a:lnTo>
                  <a:pt x="324059" y="43980"/>
                </a:lnTo>
                <a:lnTo>
                  <a:pt x="239204" y="43980"/>
                </a:lnTo>
                <a:lnTo>
                  <a:pt x="232562" y="52781"/>
                </a:lnTo>
                <a:lnTo>
                  <a:pt x="225920" y="57175"/>
                </a:lnTo>
                <a:lnTo>
                  <a:pt x="225920" y="62610"/>
                </a:lnTo>
                <a:close/>
              </a:path>
              <a:path w="418465" h="462280">
                <a:moveTo>
                  <a:pt x="132429" y="198753"/>
                </a:moveTo>
                <a:lnTo>
                  <a:pt x="102997" y="171538"/>
                </a:lnTo>
                <a:lnTo>
                  <a:pt x="90375" y="120203"/>
                </a:lnTo>
                <a:lnTo>
                  <a:pt x="96342" y="101168"/>
                </a:lnTo>
                <a:lnTo>
                  <a:pt x="100293" y="91271"/>
                </a:lnTo>
                <a:lnTo>
                  <a:pt x="105695" y="71478"/>
                </a:lnTo>
                <a:lnTo>
                  <a:pt x="109641" y="61575"/>
                </a:lnTo>
                <a:lnTo>
                  <a:pt x="112953" y="52781"/>
                </a:lnTo>
                <a:lnTo>
                  <a:pt x="116281" y="39585"/>
                </a:lnTo>
                <a:lnTo>
                  <a:pt x="119608" y="39585"/>
                </a:lnTo>
                <a:lnTo>
                  <a:pt x="142862" y="65976"/>
                </a:lnTo>
                <a:lnTo>
                  <a:pt x="146189" y="70370"/>
                </a:lnTo>
                <a:lnTo>
                  <a:pt x="224985" y="70370"/>
                </a:lnTo>
                <a:lnTo>
                  <a:pt x="224516" y="72575"/>
                </a:lnTo>
                <a:lnTo>
                  <a:pt x="224672" y="79171"/>
                </a:lnTo>
                <a:lnTo>
                  <a:pt x="225452" y="85768"/>
                </a:lnTo>
                <a:lnTo>
                  <a:pt x="225920" y="92367"/>
                </a:lnTo>
                <a:lnTo>
                  <a:pt x="226567" y="105562"/>
                </a:lnTo>
                <a:lnTo>
                  <a:pt x="156146" y="105562"/>
                </a:lnTo>
                <a:lnTo>
                  <a:pt x="156249" y="154974"/>
                </a:lnTo>
                <a:lnTo>
                  <a:pt x="156406" y="163291"/>
                </a:lnTo>
                <a:lnTo>
                  <a:pt x="155733" y="177036"/>
                </a:lnTo>
                <a:lnTo>
                  <a:pt x="151945" y="189131"/>
                </a:lnTo>
                <a:lnTo>
                  <a:pt x="142862" y="197929"/>
                </a:lnTo>
                <a:lnTo>
                  <a:pt x="132429" y="198753"/>
                </a:lnTo>
                <a:close/>
              </a:path>
              <a:path w="418465" h="462280">
                <a:moveTo>
                  <a:pt x="251367" y="243700"/>
                </a:moveTo>
                <a:lnTo>
                  <a:pt x="123138" y="243700"/>
                </a:lnTo>
                <a:lnTo>
                  <a:pt x="129578" y="241909"/>
                </a:lnTo>
                <a:lnTo>
                  <a:pt x="169129" y="219165"/>
                </a:lnTo>
                <a:lnTo>
                  <a:pt x="199340" y="185283"/>
                </a:lnTo>
                <a:lnTo>
                  <a:pt x="222077" y="142329"/>
                </a:lnTo>
                <a:lnTo>
                  <a:pt x="239204" y="92367"/>
                </a:lnTo>
                <a:lnTo>
                  <a:pt x="239204" y="87972"/>
                </a:lnTo>
                <a:lnTo>
                  <a:pt x="245859" y="70370"/>
                </a:lnTo>
                <a:lnTo>
                  <a:pt x="245859" y="48386"/>
                </a:lnTo>
                <a:lnTo>
                  <a:pt x="239204" y="43980"/>
                </a:lnTo>
                <a:lnTo>
                  <a:pt x="324059" y="43980"/>
                </a:lnTo>
                <a:lnTo>
                  <a:pt x="325177" y="57731"/>
                </a:lnTo>
                <a:lnTo>
                  <a:pt x="323151" y="72232"/>
                </a:lnTo>
                <a:lnTo>
                  <a:pt x="318947" y="87972"/>
                </a:lnTo>
                <a:lnTo>
                  <a:pt x="307059" y="111818"/>
                </a:lnTo>
                <a:lnTo>
                  <a:pt x="296103" y="136902"/>
                </a:lnTo>
                <a:lnTo>
                  <a:pt x="285772" y="162810"/>
                </a:lnTo>
                <a:lnTo>
                  <a:pt x="275755" y="189128"/>
                </a:lnTo>
                <a:lnTo>
                  <a:pt x="287072" y="189816"/>
                </a:lnTo>
                <a:lnTo>
                  <a:pt x="296521" y="191331"/>
                </a:lnTo>
                <a:lnTo>
                  <a:pt x="304724" y="192846"/>
                </a:lnTo>
                <a:lnTo>
                  <a:pt x="312305" y="193535"/>
                </a:lnTo>
                <a:lnTo>
                  <a:pt x="338983" y="201984"/>
                </a:lnTo>
                <a:lnTo>
                  <a:pt x="363794" y="214974"/>
                </a:lnTo>
                <a:lnTo>
                  <a:pt x="386114" y="233738"/>
                </a:lnTo>
                <a:lnTo>
                  <a:pt x="386468" y="234213"/>
                </a:lnTo>
                <a:lnTo>
                  <a:pt x="290709" y="234213"/>
                </a:lnTo>
                <a:lnTo>
                  <a:pt x="266415" y="236552"/>
                </a:lnTo>
                <a:lnTo>
                  <a:pt x="251367" y="243700"/>
                </a:lnTo>
                <a:close/>
              </a:path>
              <a:path w="418465" h="462280">
                <a:moveTo>
                  <a:pt x="224985" y="70370"/>
                </a:moveTo>
                <a:lnTo>
                  <a:pt x="146189" y="70370"/>
                </a:lnTo>
                <a:lnTo>
                  <a:pt x="156204" y="61575"/>
                </a:lnTo>
                <a:lnTo>
                  <a:pt x="166531" y="56080"/>
                </a:lnTo>
                <a:lnTo>
                  <a:pt x="177482" y="55533"/>
                </a:lnTo>
                <a:lnTo>
                  <a:pt x="189369" y="61582"/>
                </a:lnTo>
                <a:lnTo>
                  <a:pt x="192902" y="62610"/>
                </a:lnTo>
                <a:lnTo>
                  <a:pt x="225920" y="62610"/>
                </a:lnTo>
                <a:lnTo>
                  <a:pt x="225920" y="65976"/>
                </a:lnTo>
                <a:lnTo>
                  <a:pt x="224985" y="70370"/>
                </a:lnTo>
                <a:close/>
              </a:path>
              <a:path w="418465" h="462280">
                <a:moveTo>
                  <a:pt x="213775" y="128243"/>
                </a:moveTo>
                <a:lnTo>
                  <a:pt x="196024" y="127558"/>
                </a:lnTo>
                <a:lnTo>
                  <a:pt x="189369" y="127558"/>
                </a:lnTo>
                <a:lnTo>
                  <a:pt x="156146" y="105562"/>
                </a:lnTo>
                <a:lnTo>
                  <a:pt x="226567" y="105562"/>
                </a:lnTo>
                <a:lnTo>
                  <a:pt x="226856" y="111471"/>
                </a:lnTo>
                <a:lnTo>
                  <a:pt x="223431" y="123155"/>
                </a:lnTo>
                <a:lnTo>
                  <a:pt x="213775" y="128243"/>
                </a:lnTo>
                <a:close/>
              </a:path>
              <a:path w="418465" h="462280">
                <a:moveTo>
                  <a:pt x="46507" y="461835"/>
                </a:moveTo>
                <a:lnTo>
                  <a:pt x="43192" y="457428"/>
                </a:lnTo>
                <a:lnTo>
                  <a:pt x="33222" y="452688"/>
                </a:lnTo>
                <a:lnTo>
                  <a:pt x="23255" y="445885"/>
                </a:lnTo>
                <a:lnTo>
                  <a:pt x="13290" y="438256"/>
                </a:lnTo>
                <a:lnTo>
                  <a:pt x="3327" y="431037"/>
                </a:lnTo>
                <a:lnTo>
                  <a:pt x="0" y="426643"/>
                </a:lnTo>
                <a:lnTo>
                  <a:pt x="0" y="409054"/>
                </a:lnTo>
                <a:lnTo>
                  <a:pt x="49834" y="263905"/>
                </a:lnTo>
                <a:lnTo>
                  <a:pt x="49834" y="259511"/>
                </a:lnTo>
                <a:lnTo>
                  <a:pt x="53162" y="259511"/>
                </a:lnTo>
                <a:lnTo>
                  <a:pt x="53162" y="255104"/>
                </a:lnTo>
                <a:lnTo>
                  <a:pt x="57572" y="247273"/>
                </a:lnTo>
                <a:lnTo>
                  <a:pt x="61047" y="238613"/>
                </a:lnTo>
                <a:lnTo>
                  <a:pt x="63901" y="231601"/>
                </a:lnTo>
                <a:lnTo>
                  <a:pt x="66446" y="228714"/>
                </a:lnTo>
                <a:lnTo>
                  <a:pt x="76877" y="228851"/>
                </a:lnTo>
                <a:lnTo>
                  <a:pt x="87622" y="229814"/>
                </a:lnTo>
                <a:lnTo>
                  <a:pt x="97744" y="232427"/>
                </a:lnTo>
                <a:lnTo>
                  <a:pt x="106311" y="237515"/>
                </a:lnTo>
                <a:lnTo>
                  <a:pt x="112750" y="240675"/>
                </a:lnTo>
                <a:lnTo>
                  <a:pt x="117944" y="243012"/>
                </a:lnTo>
                <a:lnTo>
                  <a:pt x="123138" y="243700"/>
                </a:lnTo>
                <a:lnTo>
                  <a:pt x="251367" y="243700"/>
                </a:lnTo>
                <a:lnTo>
                  <a:pt x="245859" y="246316"/>
                </a:lnTo>
                <a:lnTo>
                  <a:pt x="243831" y="248994"/>
                </a:lnTo>
                <a:lnTo>
                  <a:pt x="211486" y="248994"/>
                </a:lnTo>
                <a:lnTo>
                  <a:pt x="197677" y="250163"/>
                </a:lnTo>
                <a:lnTo>
                  <a:pt x="119608" y="285889"/>
                </a:lnTo>
                <a:lnTo>
                  <a:pt x="93027" y="321081"/>
                </a:lnTo>
                <a:lnTo>
                  <a:pt x="83057" y="351526"/>
                </a:lnTo>
                <a:lnTo>
                  <a:pt x="73090" y="383208"/>
                </a:lnTo>
                <a:lnTo>
                  <a:pt x="63125" y="415716"/>
                </a:lnTo>
                <a:lnTo>
                  <a:pt x="53162" y="448640"/>
                </a:lnTo>
                <a:lnTo>
                  <a:pt x="53162" y="453034"/>
                </a:lnTo>
                <a:lnTo>
                  <a:pt x="46507" y="461835"/>
                </a:lnTo>
                <a:close/>
              </a:path>
              <a:path w="418465" h="462280">
                <a:moveTo>
                  <a:pt x="362134" y="334273"/>
                </a:moveTo>
                <a:lnTo>
                  <a:pt x="343550" y="330975"/>
                </a:lnTo>
                <a:lnTo>
                  <a:pt x="325589" y="321081"/>
                </a:lnTo>
                <a:lnTo>
                  <a:pt x="319930" y="314413"/>
                </a:lnTo>
                <a:lnTo>
                  <a:pt x="317696" y="307336"/>
                </a:lnTo>
                <a:lnTo>
                  <a:pt x="318578" y="299435"/>
                </a:lnTo>
                <a:lnTo>
                  <a:pt x="322262" y="290296"/>
                </a:lnTo>
                <a:lnTo>
                  <a:pt x="325275" y="282940"/>
                </a:lnTo>
                <a:lnTo>
                  <a:pt x="328910" y="274348"/>
                </a:lnTo>
                <a:lnTo>
                  <a:pt x="332545" y="264932"/>
                </a:lnTo>
                <a:lnTo>
                  <a:pt x="335559" y="255104"/>
                </a:lnTo>
                <a:lnTo>
                  <a:pt x="315003" y="240122"/>
                </a:lnTo>
                <a:lnTo>
                  <a:pt x="290709" y="234213"/>
                </a:lnTo>
                <a:lnTo>
                  <a:pt x="386468" y="234213"/>
                </a:lnTo>
                <a:lnTo>
                  <a:pt x="405320" y="259511"/>
                </a:lnTo>
                <a:lnTo>
                  <a:pt x="415966" y="277166"/>
                </a:lnTo>
                <a:lnTo>
                  <a:pt x="418201" y="291939"/>
                </a:lnTo>
                <a:lnTo>
                  <a:pt x="412335" y="305890"/>
                </a:lnTo>
                <a:lnTo>
                  <a:pt x="398678" y="321081"/>
                </a:lnTo>
                <a:lnTo>
                  <a:pt x="380718" y="330975"/>
                </a:lnTo>
                <a:lnTo>
                  <a:pt x="362134" y="334273"/>
                </a:lnTo>
                <a:close/>
              </a:path>
              <a:path w="418465" h="462280">
                <a:moveTo>
                  <a:pt x="232562" y="255104"/>
                </a:moveTo>
                <a:lnTo>
                  <a:pt x="225920" y="250710"/>
                </a:lnTo>
                <a:lnTo>
                  <a:pt x="211486" y="248994"/>
                </a:lnTo>
                <a:lnTo>
                  <a:pt x="243831" y="248994"/>
                </a:lnTo>
                <a:lnTo>
                  <a:pt x="242531" y="250710"/>
                </a:lnTo>
                <a:lnTo>
                  <a:pt x="232562" y="255104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2157" y="2356129"/>
            <a:ext cx="258445" cy="419734"/>
          </a:xfrm>
          <a:custGeom>
            <a:avLst/>
            <a:gdLst/>
            <a:ahLst/>
            <a:cxnLst/>
            <a:rect l="l" t="t" r="r" b="b"/>
            <a:pathLst>
              <a:path w="258445" h="419735">
                <a:moveTo>
                  <a:pt x="27331" y="112749"/>
                </a:moveTo>
                <a:lnTo>
                  <a:pt x="19357" y="108691"/>
                </a:lnTo>
                <a:lnTo>
                  <a:pt x="13246" y="96799"/>
                </a:lnTo>
                <a:lnTo>
                  <a:pt x="10715" y="90887"/>
                </a:lnTo>
                <a:lnTo>
                  <a:pt x="7870" y="85801"/>
                </a:lnTo>
                <a:lnTo>
                  <a:pt x="4402" y="80715"/>
                </a:lnTo>
                <a:lnTo>
                  <a:pt x="0" y="74803"/>
                </a:lnTo>
                <a:lnTo>
                  <a:pt x="29761" y="57685"/>
                </a:lnTo>
                <a:lnTo>
                  <a:pt x="88046" y="23446"/>
                </a:lnTo>
                <a:lnTo>
                  <a:pt x="131375" y="3712"/>
                </a:lnTo>
                <a:lnTo>
                  <a:pt x="178892" y="0"/>
                </a:lnTo>
                <a:lnTo>
                  <a:pt x="184323" y="2887"/>
                </a:lnTo>
                <a:lnTo>
                  <a:pt x="190068" y="9901"/>
                </a:lnTo>
                <a:lnTo>
                  <a:pt x="195194" y="18564"/>
                </a:lnTo>
                <a:lnTo>
                  <a:pt x="198767" y="26403"/>
                </a:lnTo>
                <a:lnTo>
                  <a:pt x="200062" y="33690"/>
                </a:lnTo>
                <a:lnTo>
                  <a:pt x="199182" y="41802"/>
                </a:lnTo>
                <a:lnTo>
                  <a:pt x="198436" y="44005"/>
                </a:lnTo>
                <a:lnTo>
                  <a:pt x="145757" y="44005"/>
                </a:lnTo>
                <a:lnTo>
                  <a:pt x="128934" y="53146"/>
                </a:lnTo>
                <a:lnTo>
                  <a:pt x="113044" y="61052"/>
                </a:lnTo>
                <a:lnTo>
                  <a:pt x="97775" y="68133"/>
                </a:lnTo>
                <a:lnTo>
                  <a:pt x="82816" y="74803"/>
                </a:lnTo>
                <a:lnTo>
                  <a:pt x="72931" y="82090"/>
                </a:lnTo>
                <a:lnTo>
                  <a:pt x="63355" y="90201"/>
                </a:lnTo>
                <a:lnTo>
                  <a:pt x="46380" y="105600"/>
                </a:lnTo>
                <a:lnTo>
                  <a:pt x="36547" y="111031"/>
                </a:lnTo>
                <a:lnTo>
                  <a:pt x="27331" y="112749"/>
                </a:lnTo>
                <a:close/>
              </a:path>
              <a:path w="258445" h="419735">
                <a:moveTo>
                  <a:pt x="256302" y="165001"/>
                </a:moveTo>
                <a:lnTo>
                  <a:pt x="35403" y="165001"/>
                </a:lnTo>
                <a:lnTo>
                  <a:pt x="53003" y="160601"/>
                </a:lnTo>
                <a:lnTo>
                  <a:pt x="70603" y="152900"/>
                </a:lnTo>
                <a:lnTo>
                  <a:pt x="89446" y="145199"/>
                </a:lnTo>
                <a:lnTo>
                  <a:pt x="92760" y="145199"/>
                </a:lnTo>
                <a:lnTo>
                  <a:pt x="99377" y="140804"/>
                </a:lnTo>
                <a:lnTo>
                  <a:pt x="106006" y="140804"/>
                </a:lnTo>
                <a:lnTo>
                  <a:pt x="102433" y="125881"/>
                </a:lnTo>
                <a:lnTo>
                  <a:pt x="102277" y="113849"/>
                </a:lnTo>
                <a:lnTo>
                  <a:pt x="106473" y="104293"/>
                </a:lnTo>
                <a:lnTo>
                  <a:pt x="115951" y="96799"/>
                </a:lnTo>
                <a:lnTo>
                  <a:pt x="123453" y="86214"/>
                </a:lnTo>
                <a:lnTo>
                  <a:pt x="131268" y="74803"/>
                </a:lnTo>
                <a:lnTo>
                  <a:pt x="139705" y="63391"/>
                </a:lnTo>
                <a:lnTo>
                  <a:pt x="149072" y="52806"/>
                </a:lnTo>
                <a:lnTo>
                  <a:pt x="145757" y="48399"/>
                </a:lnTo>
                <a:lnTo>
                  <a:pt x="145757" y="44005"/>
                </a:lnTo>
                <a:lnTo>
                  <a:pt x="198436" y="44005"/>
                </a:lnTo>
                <a:lnTo>
                  <a:pt x="171764" y="90887"/>
                </a:lnTo>
                <a:lnTo>
                  <a:pt x="149072" y="127596"/>
                </a:lnTo>
                <a:lnTo>
                  <a:pt x="165895" y="130693"/>
                </a:lnTo>
                <a:lnTo>
                  <a:pt x="181786" y="132549"/>
                </a:lnTo>
                <a:lnTo>
                  <a:pt x="234715" y="132549"/>
                </a:lnTo>
                <a:lnTo>
                  <a:pt x="243900" y="139150"/>
                </a:lnTo>
                <a:lnTo>
                  <a:pt x="255340" y="157922"/>
                </a:lnTo>
                <a:lnTo>
                  <a:pt x="256302" y="165001"/>
                </a:lnTo>
                <a:close/>
              </a:path>
              <a:path w="258445" h="419735">
                <a:moveTo>
                  <a:pt x="234715" y="132549"/>
                </a:moveTo>
                <a:lnTo>
                  <a:pt x="181786" y="132549"/>
                </a:lnTo>
                <a:lnTo>
                  <a:pt x="197055" y="131929"/>
                </a:lnTo>
                <a:lnTo>
                  <a:pt x="212013" y="127596"/>
                </a:lnTo>
                <a:lnTo>
                  <a:pt x="228111" y="127804"/>
                </a:lnTo>
                <a:lnTo>
                  <a:pt x="234715" y="132549"/>
                </a:lnTo>
                <a:close/>
              </a:path>
              <a:path w="258445" h="419735">
                <a:moveTo>
                  <a:pt x="38098" y="249145"/>
                </a:moveTo>
                <a:lnTo>
                  <a:pt x="3727" y="208446"/>
                </a:lnTo>
                <a:lnTo>
                  <a:pt x="1191" y="191191"/>
                </a:lnTo>
                <a:lnTo>
                  <a:pt x="3314" y="175996"/>
                </a:lnTo>
                <a:lnTo>
                  <a:pt x="3314" y="171602"/>
                </a:lnTo>
                <a:lnTo>
                  <a:pt x="13246" y="162801"/>
                </a:lnTo>
                <a:lnTo>
                  <a:pt x="16560" y="162801"/>
                </a:lnTo>
                <a:lnTo>
                  <a:pt x="35403" y="165001"/>
                </a:lnTo>
                <a:lnTo>
                  <a:pt x="256302" y="165001"/>
                </a:lnTo>
                <a:lnTo>
                  <a:pt x="258394" y="180403"/>
                </a:lnTo>
                <a:lnTo>
                  <a:pt x="258394" y="184797"/>
                </a:lnTo>
                <a:lnTo>
                  <a:pt x="250165" y="188444"/>
                </a:lnTo>
                <a:lnTo>
                  <a:pt x="181528" y="188444"/>
                </a:lnTo>
                <a:lnTo>
                  <a:pt x="173504" y="193049"/>
                </a:lnTo>
                <a:lnTo>
                  <a:pt x="170193" y="202399"/>
                </a:lnTo>
                <a:lnTo>
                  <a:pt x="139141" y="202399"/>
                </a:lnTo>
                <a:lnTo>
                  <a:pt x="120919" y="202808"/>
                </a:lnTo>
                <a:lnTo>
                  <a:pt x="105182" y="208995"/>
                </a:lnTo>
                <a:lnTo>
                  <a:pt x="90686" y="218485"/>
                </a:lnTo>
                <a:lnTo>
                  <a:pt x="76187" y="228803"/>
                </a:lnTo>
                <a:lnTo>
                  <a:pt x="69570" y="228803"/>
                </a:lnTo>
                <a:lnTo>
                  <a:pt x="66255" y="237591"/>
                </a:lnTo>
                <a:lnTo>
                  <a:pt x="59626" y="237591"/>
                </a:lnTo>
                <a:lnTo>
                  <a:pt x="48241" y="246874"/>
                </a:lnTo>
                <a:lnTo>
                  <a:pt x="38098" y="249145"/>
                </a:lnTo>
                <a:close/>
              </a:path>
              <a:path w="258445" h="419735">
                <a:moveTo>
                  <a:pt x="248450" y="189204"/>
                </a:moveTo>
                <a:lnTo>
                  <a:pt x="195453" y="189204"/>
                </a:lnTo>
                <a:lnTo>
                  <a:pt x="181528" y="188444"/>
                </a:lnTo>
                <a:lnTo>
                  <a:pt x="250165" y="188444"/>
                </a:lnTo>
                <a:lnTo>
                  <a:pt x="248450" y="189204"/>
                </a:lnTo>
                <a:close/>
              </a:path>
              <a:path w="258445" h="419735">
                <a:moveTo>
                  <a:pt x="163757" y="327242"/>
                </a:moveTo>
                <a:lnTo>
                  <a:pt x="115117" y="327242"/>
                </a:lnTo>
                <a:lnTo>
                  <a:pt x="124020" y="321123"/>
                </a:lnTo>
                <a:lnTo>
                  <a:pt x="129197" y="307987"/>
                </a:lnTo>
                <a:lnTo>
                  <a:pt x="139141" y="202399"/>
                </a:lnTo>
                <a:lnTo>
                  <a:pt x="170193" y="202399"/>
                </a:lnTo>
                <a:lnTo>
                  <a:pt x="169828" y="203431"/>
                </a:lnTo>
                <a:lnTo>
                  <a:pt x="168948" y="220002"/>
                </a:lnTo>
                <a:lnTo>
                  <a:pt x="166928" y="260286"/>
                </a:lnTo>
                <a:lnTo>
                  <a:pt x="165220" y="301396"/>
                </a:lnTo>
                <a:lnTo>
                  <a:pt x="163757" y="327242"/>
                </a:lnTo>
                <a:close/>
              </a:path>
              <a:path w="258445" h="419735">
                <a:moveTo>
                  <a:pt x="136181" y="419298"/>
                </a:moveTo>
                <a:lnTo>
                  <a:pt x="119253" y="417995"/>
                </a:lnTo>
                <a:lnTo>
                  <a:pt x="91407" y="402522"/>
                </a:lnTo>
                <a:lnTo>
                  <a:pt x="70394" y="376742"/>
                </a:lnTo>
                <a:lnTo>
                  <a:pt x="60561" y="341889"/>
                </a:lnTo>
                <a:lnTo>
                  <a:pt x="66255" y="299199"/>
                </a:lnTo>
                <a:lnTo>
                  <a:pt x="66307" y="292598"/>
                </a:lnTo>
                <a:lnTo>
                  <a:pt x="66670" y="285997"/>
                </a:lnTo>
                <a:lnTo>
                  <a:pt x="67654" y="279396"/>
                </a:lnTo>
                <a:lnTo>
                  <a:pt x="69570" y="272796"/>
                </a:lnTo>
                <a:lnTo>
                  <a:pt x="75105" y="283381"/>
                </a:lnTo>
                <a:lnTo>
                  <a:pt x="81575" y="294792"/>
                </a:lnTo>
                <a:lnTo>
                  <a:pt x="88669" y="306203"/>
                </a:lnTo>
                <a:lnTo>
                  <a:pt x="96075" y="316788"/>
                </a:lnTo>
                <a:lnTo>
                  <a:pt x="104974" y="325934"/>
                </a:lnTo>
                <a:lnTo>
                  <a:pt x="115117" y="327242"/>
                </a:lnTo>
                <a:lnTo>
                  <a:pt x="163757" y="327242"/>
                </a:lnTo>
                <a:lnTo>
                  <a:pt x="162893" y="342506"/>
                </a:lnTo>
                <a:lnTo>
                  <a:pt x="159016" y="382790"/>
                </a:lnTo>
                <a:lnTo>
                  <a:pt x="155132" y="403761"/>
                </a:lnTo>
                <a:lnTo>
                  <a:pt x="147831" y="415242"/>
                </a:lnTo>
                <a:lnTo>
                  <a:pt x="136181" y="419298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0737" y="3175431"/>
            <a:ext cx="81354" cy="251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6736" y="3075177"/>
            <a:ext cx="99060" cy="381635"/>
          </a:xfrm>
          <a:custGeom>
            <a:avLst/>
            <a:gdLst/>
            <a:ahLst/>
            <a:cxnLst/>
            <a:rect l="l" t="t" r="r" b="b"/>
            <a:pathLst>
              <a:path w="99059" h="381635">
                <a:moveTo>
                  <a:pt x="17549" y="320382"/>
                </a:moveTo>
                <a:lnTo>
                  <a:pt x="4176" y="294055"/>
                </a:lnTo>
                <a:lnTo>
                  <a:pt x="1356" y="284109"/>
                </a:lnTo>
                <a:lnTo>
                  <a:pt x="0" y="273753"/>
                </a:lnTo>
                <a:lnTo>
                  <a:pt x="731" y="262575"/>
                </a:lnTo>
                <a:lnTo>
                  <a:pt x="4176" y="250164"/>
                </a:lnTo>
                <a:lnTo>
                  <a:pt x="13859" y="230343"/>
                </a:lnTo>
                <a:lnTo>
                  <a:pt x="23125" y="210113"/>
                </a:lnTo>
                <a:lnTo>
                  <a:pt x="32390" y="189062"/>
                </a:lnTo>
                <a:lnTo>
                  <a:pt x="42073" y="166776"/>
                </a:lnTo>
                <a:lnTo>
                  <a:pt x="48796" y="147023"/>
                </a:lnTo>
                <a:lnTo>
                  <a:pt x="55730" y="127273"/>
                </a:lnTo>
                <a:lnTo>
                  <a:pt x="63081" y="107522"/>
                </a:lnTo>
                <a:lnTo>
                  <a:pt x="71054" y="87769"/>
                </a:lnTo>
                <a:lnTo>
                  <a:pt x="74819" y="70625"/>
                </a:lnTo>
                <a:lnTo>
                  <a:pt x="76074" y="52660"/>
                </a:lnTo>
                <a:lnTo>
                  <a:pt x="74819" y="34695"/>
                </a:lnTo>
                <a:lnTo>
                  <a:pt x="71054" y="17551"/>
                </a:lnTo>
                <a:lnTo>
                  <a:pt x="68835" y="13163"/>
                </a:lnTo>
                <a:lnTo>
                  <a:pt x="68832" y="4381"/>
                </a:lnTo>
                <a:lnTo>
                  <a:pt x="95542" y="45597"/>
                </a:lnTo>
                <a:lnTo>
                  <a:pt x="98645" y="68570"/>
                </a:lnTo>
                <a:lnTo>
                  <a:pt x="97986" y="92367"/>
                </a:lnTo>
                <a:lnTo>
                  <a:pt x="93356" y="114109"/>
                </a:lnTo>
                <a:lnTo>
                  <a:pt x="86280" y="137219"/>
                </a:lnTo>
                <a:lnTo>
                  <a:pt x="78581" y="160740"/>
                </a:lnTo>
                <a:lnTo>
                  <a:pt x="70465" y="185086"/>
                </a:lnTo>
                <a:lnTo>
                  <a:pt x="62139" y="210667"/>
                </a:lnTo>
                <a:lnTo>
                  <a:pt x="62139" y="228219"/>
                </a:lnTo>
                <a:lnTo>
                  <a:pt x="64374" y="228219"/>
                </a:lnTo>
                <a:lnTo>
                  <a:pt x="74752" y="246941"/>
                </a:lnTo>
                <a:lnTo>
                  <a:pt x="75017" y="247969"/>
                </a:lnTo>
                <a:lnTo>
                  <a:pt x="54895" y="247969"/>
                </a:lnTo>
                <a:lnTo>
                  <a:pt x="51131" y="250984"/>
                </a:lnTo>
                <a:lnTo>
                  <a:pt x="46531" y="258940"/>
                </a:lnTo>
                <a:lnTo>
                  <a:pt x="39809" y="274712"/>
                </a:lnTo>
                <a:lnTo>
                  <a:pt x="32878" y="289661"/>
                </a:lnTo>
                <a:lnTo>
                  <a:pt x="25528" y="304610"/>
                </a:lnTo>
                <a:lnTo>
                  <a:pt x="17549" y="320382"/>
                </a:lnTo>
                <a:close/>
              </a:path>
              <a:path w="99059" h="381635">
                <a:moveTo>
                  <a:pt x="83243" y="381627"/>
                </a:moveTo>
                <a:lnTo>
                  <a:pt x="67433" y="345968"/>
                </a:lnTo>
                <a:lnTo>
                  <a:pt x="66180" y="312712"/>
                </a:lnTo>
                <a:lnTo>
                  <a:pt x="64928" y="296252"/>
                </a:lnTo>
                <a:lnTo>
                  <a:pt x="62841" y="279793"/>
                </a:lnTo>
                <a:lnTo>
                  <a:pt x="57823" y="251537"/>
                </a:lnTo>
                <a:lnTo>
                  <a:pt x="54895" y="247969"/>
                </a:lnTo>
                <a:lnTo>
                  <a:pt x="75017" y="247969"/>
                </a:lnTo>
                <a:lnTo>
                  <a:pt x="80533" y="269366"/>
                </a:lnTo>
                <a:lnTo>
                  <a:pt x="83807" y="294259"/>
                </a:lnTo>
                <a:lnTo>
                  <a:pt x="86663" y="320382"/>
                </a:lnTo>
                <a:lnTo>
                  <a:pt x="87948" y="331013"/>
                </a:lnTo>
                <a:lnTo>
                  <a:pt x="88607" y="342877"/>
                </a:lnTo>
                <a:lnTo>
                  <a:pt x="88850" y="355565"/>
                </a:lnTo>
                <a:lnTo>
                  <a:pt x="88885" y="368668"/>
                </a:lnTo>
                <a:lnTo>
                  <a:pt x="88119" y="376829"/>
                </a:lnTo>
                <a:lnTo>
                  <a:pt x="86099" y="381285"/>
                </a:lnTo>
                <a:lnTo>
                  <a:pt x="83243" y="38162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0997" y="3075177"/>
            <a:ext cx="55244" cy="78105"/>
          </a:xfrm>
          <a:custGeom>
            <a:avLst/>
            <a:gdLst/>
            <a:ahLst/>
            <a:cxnLst/>
            <a:rect l="l" t="t" r="r" b="b"/>
            <a:pathLst>
              <a:path w="55245" h="78105">
                <a:moveTo>
                  <a:pt x="35029" y="78049"/>
                </a:moveTo>
                <a:lnTo>
                  <a:pt x="6769" y="47574"/>
                </a:lnTo>
                <a:lnTo>
                  <a:pt x="0" y="0"/>
                </a:lnTo>
                <a:lnTo>
                  <a:pt x="12748" y="2496"/>
                </a:lnTo>
                <a:lnTo>
                  <a:pt x="24225" y="3778"/>
                </a:lnTo>
                <a:lnTo>
                  <a:pt x="34854" y="4250"/>
                </a:lnTo>
                <a:lnTo>
                  <a:pt x="45059" y="4318"/>
                </a:lnTo>
                <a:lnTo>
                  <a:pt x="50871" y="9319"/>
                </a:lnTo>
                <a:lnTo>
                  <a:pt x="54357" y="21618"/>
                </a:lnTo>
                <a:lnTo>
                  <a:pt x="54884" y="37161"/>
                </a:lnTo>
                <a:lnTo>
                  <a:pt x="51815" y="51892"/>
                </a:lnTo>
                <a:lnTo>
                  <a:pt x="47631" y="63852"/>
                </a:lnTo>
                <a:lnTo>
                  <a:pt x="41965" y="72977"/>
                </a:lnTo>
                <a:lnTo>
                  <a:pt x="35029" y="7804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27022" y="3820414"/>
            <a:ext cx="190500" cy="439420"/>
          </a:xfrm>
          <a:custGeom>
            <a:avLst/>
            <a:gdLst/>
            <a:ahLst/>
            <a:cxnLst/>
            <a:rect l="l" t="t" r="r" b="b"/>
            <a:pathLst>
              <a:path w="190500" h="439420">
                <a:moveTo>
                  <a:pt x="111335" y="55258"/>
                </a:moveTo>
                <a:lnTo>
                  <a:pt x="88444" y="51071"/>
                </a:lnTo>
                <a:lnTo>
                  <a:pt x="73651" y="37823"/>
                </a:lnTo>
                <a:lnTo>
                  <a:pt x="69761" y="17576"/>
                </a:lnTo>
                <a:lnTo>
                  <a:pt x="89169" y="11122"/>
                </a:lnTo>
                <a:lnTo>
                  <a:pt x="107957" y="5492"/>
                </a:lnTo>
                <a:lnTo>
                  <a:pt x="126748" y="1510"/>
                </a:lnTo>
                <a:lnTo>
                  <a:pt x="146164" y="0"/>
                </a:lnTo>
                <a:lnTo>
                  <a:pt x="167855" y="3570"/>
                </a:lnTo>
                <a:lnTo>
                  <a:pt x="182699" y="18673"/>
                </a:lnTo>
                <a:lnTo>
                  <a:pt x="190069" y="42014"/>
                </a:lnTo>
                <a:lnTo>
                  <a:pt x="189907" y="48323"/>
                </a:lnTo>
                <a:lnTo>
                  <a:pt x="139522" y="48323"/>
                </a:lnTo>
                <a:lnTo>
                  <a:pt x="111335" y="55258"/>
                </a:lnTo>
                <a:close/>
              </a:path>
              <a:path w="190500" h="439420">
                <a:moveTo>
                  <a:pt x="186084" y="171348"/>
                </a:moveTo>
                <a:lnTo>
                  <a:pt x="142836" y="171348"/>
                </a:lnTo>
                <a:lnTo>
                  <a:pt x="142318" y="141620"/>
                </a:lnTo>
                <a:lnTo>
                  <a:pt x="140040" y="80522"/>
                </a:lnTo>
                <a:lnTo>
                  <a:pt x="139522" y="48323"/>
                </a:lnTo>
                <a:lnTo>
                  <a:pt x="189907" y="48323"/>
                </a:lnTo>
                <a:lnTo>
                  <a:pt x="189344" y="70294"/>
                </a:lnTo>
                <a:lnTo>
                  <a:pt x="187420" y="103935"/>
                </a:lnTo>
                <a:lnTo>
                  <a:pt x="186432" y="138398"/>
                </a:lnTo>
                <a:lnTo>
                  <a:pt x="186084" y="171348"/>
                </a:lnTo>
                <a:close/>
              </a:path>
              <a:path w="190500" h="439420">
                <a:moveTo>
                  <a:pt x="119206" y="348464"/>
                </a:moveTo>
                <a:lnTo>
                  <a:pt x="14894" y="348464"/>
                </a:lnTo>
                <a:lnTo>
                  <a:pt x="29479" y="345992"/>
                </a:lnTo>
                <a:lnTo>
                  <a:pt x="43441" y="335281"/>
                </a:lnTo>
                <a:lnTo>
                  <a:pt x="56464" y="316331"/>
                </a:lnTo>
                <a:lnTo>
                  <a:pt x="51430" y="312282"/>
                </a:lnTo>
                <a:lnTo>
                  <a:pt x="46086" y="307000"/>
                </a:lnTo>
                <a:lnTo>
                  <a:pt x="40121" y="300893"/>
                </a:lnTo>
                <a:lnTo>
                  <a:pt x="33223" y="294373"/>
                </a:lnTo>
                <a:lnTo>
                  <a:pt x="27511" y="287026"/>
                </a:lnTo>
                <a:lnTo>
                  <a:pt x="24914" y="278444"/>
                </a:lnTo>
                <a:lnTo>
                  <a:pt x="24807" y="269037"/>
                </a:lnTo>
                <a:lnTo>
                  <a:pt x="26568" y="259219"/>
                </a:lnTo>
                <a:lnTo>
                  <a:pt x="34563" y="219610"/>
                </a:lnTo>
                <a:lnTo>
                  <a:pt x="43179" y="179587"/>
                </a:lnTo>
                <a:lnTo>
                  <a:pt x="51861" y="138398"/>
                </a:lnTo>
                <a:lnTo>
                  <a:pt x="59791" y="96659"/>
                </a:lnTo>
                <a:lnTo>
                  <a:pt x="86372" y="70294"/>
                </a:lnTo>
                <a:lnTo>
                  <a:pt x="99968" y="75237"/>
                </a:lnTo>
                <a:lnTo>
                  <a:pt x="110450" y="83477"/>
                </a:lnTo>
                <a:lnTo>
                  <a:pt x="117196" y="95011"/>
                </a:lnTo>
                <a:lnTo>
                  <a:pt x="119583" y="109842"/>
                </a:lnTo>
                <a:lnTo>
                  <a:pt x="119482" y="132423"/>
                </a:lnTo>
                <a:lnTo>
                  <a:pt x="123737" y="147731"/>
                </a:lnTo>
                <a:lnTo>
                  <a:pt x="131729" y="160569"/>
                </a:lnTo>
                <a:lnTo>
                  <a:pt x="142836" y="171348"/>
                </a:lnTo>
                <a:lnTo>
                  <a:pt x="186084" y="171348"/>
                </a:lnTo>
                <a:lnTo>
                  <a:pt x="186044" y="188925"/>
                </a:lnTo>
                <a:lnTo>
                  <a:pt x="106299" y="188925"/>
                </a:lnTo>
                <a:lnTo>
                  <a:pt x="103805" y="211300"/>
                </a:lnTo>
                <a:lnTo>
                  <a:pt x="98823" y="254413"/>
                </a:lnTo>
                <a:lnTo>
                  <a:pt x="96329" y="276796"/>
                </a:lnTo>
                <a:lnTo>
                  <a:pt x="182702" y="276796"/>
                </a:lnTo>
                <a:lnTo>
                  <a:pt x="182182" y="283456"/>
                </a:lnTo>
                <a:lnTo>
                  <a:pt x="181038" y="290526"/>
                </a:lnTo>
                <a:lnTo>
                  <a:pt x="179894" y="298418"/>
                </a:lnTo>
                <a:lnTo>
                  <a:pt x="179374" y="307543"/>
                </a:lnTo>
                <a:lnTo>
                  <a:pt x="177406" y="333908"/>
                </a:lnTo>
                <a:lnTo>
                  <a:pt x="177181" y="338302"/>
                </a:lnTo>
                <a:lnTo>
                  <a:pt x="129552" y="338302"/>
                </a:lnTo>
                <a:lnTo>
                  <a:pt x="119206" y="348464"/>
                </a:lnTo>
                <a:close/>
              </a:path>
              <a:path w="190500" h="439420">
                <a:moveTo>
                  <a:pt x="182702" y="276796"/>
                </a:moveTo>
                <a:lnTo>
                  <a:pt x="96329" y="276796"/>
                </a:lnTo>
                <a:lnTo>
                  <a:pt x="117094" y="265742"/>
                </a:lnTo>
                <a:lnTo>
                  <a:pt x="130384" y="250982"/>
                </a:lnTo>
                <a:lnTo>
                  <a:pt x="137445" y="230456"/>
                </a:lnTo>
                <a:lnTo>
                  <a:pt x="139522" y="202107"/>
                </a:lnTo>
                <a:lnTo>
                  <a:pt x="131993" y="198812"/>
                </a:lnTo>
                <a:lnTo>
                  <a:pt x="124153" y="195516"/>
                </a:lnTo>
                <a:lnTo>
                  <a:pt x="115692" y="192220"/>
                </a:lnTo>
                <a:lnTo>
                  <a:pt x="106299" y="188925"/>
                </a:lnTo>
                <a:lnTo>
                  <a:pt x="186044" y="188925"/>
                </a:lnTo>
                <a:lnTo>
                  <a:pt x="186016" y="206501"/>
                </a:lnTo>
                <a:lnTo>
                  <a:pt x="186536" y="213159"/>
                </a:lnTo>
                <a:lnTo>
                  <a:pt x="187680" y="220227"/>
                </a:lnTo>
                <a:lnTo>
                  <a:pt x="188824" y="228118"/>
                </a:lnTo>
                <a:lnTo>
                  <a:pt x="189344" y="237248"/>
                </a:lnTo>
                <a:lnTo>
                  <a:pt x="188772" y="247135"/>
                </a:lnTo>
                <a:lnTo>
                  <a:pt x="187266" y="257022"/>
                </a:lnTo>
                <a:lnTo>
                  <a:pt x="185138" y="266909"/>
                </a:lnTo>
                <a:lnTo>
                  <a:pt x="182702" y="276796"/>
                </a:lnTo>
                <a:close/>
              </a:path>
              <a:path w="190500" h="439420">
                <a:moveTo>
                  <a:pt x="162775" y="439356"/>
                </a:moveTo>
                <a:lnTo>
                  <a:pt x="156121" y="439356"/>
                </a:lnTo>
                <a:lnTo>
                  <a:pt x="146164" y="434962"/>
                </a:lnTo>
                <a:lnTo>
                  <a:pt x="142836" y="426173"/>
                </a:lnTo>
                <a:lnTo>
                  <a:pt x="133703" y="416081"/>
                </a:lnTo>
                <a:lnTo>
                  <a:pt x="127058" y="404753"/>
                </a:lnTo>
                <a:lnTo>
                  <a:pt x="124150" y="390956"/>
                </a:lnTo>
                <a:lnTo>
                  <a:pt x="126225" y="373456"/>
                </a:lnTo>
                <a:lnTo>
                  <a:pt x="128148" y="366109"/>
                </a:lnTo>
                <a:lnTo>
                  <a:pt x="129136" y="357527"/>
                </a:lnTo>
                <a:lnTo>
                  <a:pt x="129487" y="348464"/>
                </a:lnTo>
                <a:lnTo>
                  <a:pt x="129552" y="338302"/>
                </a:lnTo>
                <a:lnTo>
                  <a:pt x="177181" y="338302"/>
                </a:lnTo>
                <a:lnTo>
                  <a:pt x="174708" y="386633"/>
                </a:lnTo>
                <a:lnTo>
                  <a:pt x="170245" y="427821"/>
                </a:lnTo>
                <a:lnTo>
                  <a:pt x="167133" y="434619"/>
                </a:lnTo>
                <a:lnTo>
                  <a:pt x="162775" y="439356"/>
                </a:lnTo>
                <a:close/>
              </a:path>
              <a:path w="190500" h="439420">
                <a:moveTo>
                  <a:pt x="41521" y="416836"/>
                </a:moveTo>
                <a:lnTo>
                  <a:pt x="8302" y="380595"/>
                </a:lnTo>
                <a:lnTo>
                  <a:pt x="0" y="342696"/>
                </a:lnTo>
                <a:lnTo>
                  <a:pt x="14894" y="348464"/>
                </a:lnTo>
                <a:lnTo>
                  <a:pt x="119206" y="348464"/>
                </a:lnTo>
                <a:lnTo>
                  <a:pt x="110188" y="357321"/>
                </a:lnTo>
                <a:lnTo>
                  <a:pt x="91760" y="375102"/>
                </a:lnTo>
                <a:lnTo>
                  <a:pt x="56464" y="408597"/>
                </a:lnTo>
                <a:lnTo>
                  <a:pt x="48994" y="415394"/>
                </a:lnTo>
                <a:lnTo>
                  <a:pt x="41521" y="416836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22445" y="3776573"/>
            <a:ext cx="175260" cy="527685"/>
          </a:xfrm>
          <a:custGeom>
            <a:avLst/>
            <a:gdLst/>
            <a:ahLst/>
            <a:cxnLst/>
            <a:rect l="l" t="t" r="r" b="b"/>
            <a:pathLst>
              <a:path w="175260" h="527685">
                <a:moveTo>
                  <a:pt x="36937" y="65951"/>
                </a:moveTo>
                <a:lnTo>
                  <a:pt x="33597" y="65951"/>
                </a:lnTo>
                <a:lnTo>
                  <a:pt x="26916" y="57150"/>
                </a:lnTo>
                <a:lnTo>
                  <a:pt x="26916" y="48361"/>
                </a:lnTo>
                <a:lnTo>
                  <a:pt x="23576" y="48361"/>
                </a:lnTo>
                <a:lnTo>
                  <a:pt x="64491" y="10993"/>
                </a:lnTo>
                <a:lnTo>
                  <a:pt x="100386" y="0"/>
                </a:lnTo>
                <a:lnTo>
                  <a:pt x="122246" y="5975"/>
                </a:lnTo>
                <a:lnTo>
                  <a:pt x="137533" y="18135"/>
                </a:lnTo>
                <a:lnTo>
                  <a:pt x="142955" y="30772"/>
                </a:lnTo>
                <a:lnTo>
                  <a:pt x="97046" y="30772"/>
                </a:lnTo>
                <a:lnTo>
                  <a:pt x="90366" y="35178"/>
                </a:lnTo>
                <a:lnTo>
                  <a:pt x="82852" y="39161"/>
                </a:lnTo>
                <a:lnTo>
                  <a:pt x="67831" y="48773"/>
                </a:lnTo>
                <a:lnTo>
                  <a:pt x="60317" y="52755"/>
                </a:lnTo>
                <a:lnTo>
                  <a:pt x="55255" y="56671"/>
                </a:lnTo>
                <a:lnTo>
                  <a:pt x="49880" y="61001"/>
                </a:lnTo>
                <a:lnTo>
                  <a:pt x="43878" y="64507"/>
                </a:lnTo>
                <a:lnTo>
                  <a:pt x="36937" y="65951"/>
                </a:lnTo>
                <a:close/>
              </a:path>
              <a:path w="175260" h="527685">
                <a:moveTo>
                  <a:pt x="145308" y="175856"/>
                </a:moveTo>
                <a:lnTo>
                  <a:pt x="63657" y="175856"/>
                </a:lnTo>
                <a:lnTo>
                  <a:pt x="70597" y="167478"/>
                </a:lnTo>
                <a:lnTo>
                  <a:pt x="76594" y="161569"/>
                </a:lnTo>
                <a:lnTo>
                  <a:pt x="81965" y="157308"/>
                </a:lnTo>
                <a:lnTo>
                  <a:pt x="87025" y="153873"/>
                </a:lnTo>
                <a:lnTo>
                  <a:pt x="94958" y="147968"/>
                </a:lnTo>
                <a:lnTo>
                  <a:pt x="115990" y="108810"/>
                </a:lnTo>
                <a:lnTo>
                  <a:pt x="116669" y="85731"/>
                </a:lnTo>
                <a:lnTo>
                  <a:pt x="114215" y="62649"/>
                </a:lnTo>
                <a:lnTo>
                  <a:pt x="107066" y="39573"/>
                </a:lnTo>
                <a:lnTo>
                  <a:pt x="107066" y="35178"/>
                </a:lnTo>
                <a:lnTo>
                  <a:pt x="97046" y="30772"/>
                </a:lnTo>
                <a:lnTo>
                  <a:pt x="142955" y="30772"/>
                </a:lnTo>
                <a:lnTo>
                  <a:pt x="145934" y="37715"/>
                </a:lnTo>
                <a:lnTo>
                  <a:pt x="147073" y="64507"/>
                </a:lnTo>
                <a:lnTo>
                  <a:pt x="146985" y="108810"/>
                </a:lnTo>
                <a:lnTo>
                  <a:pt x="146799" y="126401"/>
                </a:lnTo>
                <a:lnTo>
                  <a:pt x="146676" y="135536"/>
                </a:lnTo>
                <a:lnTo>
                  <a:pt x="145725" y="168574"/>
                </a:lnTo>
                <a:lnTo>
                  <a:pt x="145308" y="175856"/>
                </a:lnTo>
                <a:close/>
              </a:path>
              <a:path w="175260" h="527685">
                <a:moveTo>
                  <a:pt x="26916" y="457225"/>
                </a:moveTo>
                <a:lnTo>
                  <a:pt x="16909" y="457225"/>
                </a:lnTo>
                <a:lnTo>
                  <a:pt x="9602" y="456263"/>
                </a:lnTo>
                <a:lnTo>
                  <a:pt x="3548" y="452829"/>
                </a:lnTo>
                <a:lnTo>
                  <a:pt x="0" y="446097"/>
                </a:lnTo>
                <a:lnTo>
                  <a:pt x="208" y="435241"/>
                </a:lnTo>
                <a:lnTo>
                  <a:pt x="2191" y="418761"/>
                </a:lnTo>
                <a:lnTo>
                  <a:pt x="4905" y="385790"/>
                </a:lnTo>
                <a:lnTo>
                  <a:pt x="6888" y="369303"/>
                </a:lnTo>
                <a:lnTo>
                  <a:pt x="16551" y="316273"/>
                </a:lnTo>
                <a:lnTo>
                  <a:pt x="34120" y="214739"/>
                </a:lnTo>
                <a:lnTo>
                  <a:pt x="43617" y="162674"/>
                </a:lnTo>
                <a:lnTo>
                  <a:pt x="55725" y="107165"/>
                </a:lnTo>
                <a:lnTo>
                  <a:pt x="70338" y="48361"/>
                </a:lnTo>
                <a:lnTo>
                  <a:pt x="78524" y="55092"/>
                </a:lnTo>
                <a:lnTo>
                  <a:pt x="83270" y="62652"/>
                </a:lnTo>
                <a:lnTo>
                  <a:pt x="84886" y="71853"/>
                </a:lnTo>
                <a:lnTo>
                  <a:pt x="83685" y="83527"/>
                </a:lnTo>
                <a:lnTo>
                  <a:pt x="78683" y="104142"/>
                </a:lnTo>
                <a:lnTo>
                  <a:pt x="73676" y="126401"/>
                </a:lnTo>
                <a:lnTo>
                  <a:pt x="68667" y="150305"/>
                </a:lnTo>
                <a:lnTo>
                  <a:pt x="63657" y="175856"/>
                </a:lnTo>
                <a:lnTo>
                  <a:pt x="145308" y="175856"/>
                </a:lnTo>
                <a:lnTo>
                  <a:pt x="143794" y="202234"/>
                </a:lnTo>
                <a:lnTo>
                  <a:pt x="144473" y="213914"/>
                </a:lnTo>
                <a:lnTo>
                  <a:pt x="146717" y="223119"/>
                </a:lnTo>
                <a:lnTo>
                  <a:pt x="149713" y="228612"/>
                </a:lnTo>
                <a:lnTo>
                  <a:pt x="70338" y="228612"/>
                </a:lnTo>
                <a:lnTo>
                  <a:pt x="58856" y="270727"/>
                </a:lnTo>
                <a:lnTo>
                  <a:pt x="51132" y="311602"/>
                </a:lnTo>
                <a:lnTo>
                  <a:pt x="49671" y="351651"/>
                </a:lnTo>
                <a:lnTo>
                  <a:pt x="56977" y="391287"/>
                </a:lnTo>
                <a:lnTo>
                  <a:pt x="33597" y="391287"/>
                </a:lnTo>
                <a:lnTo>
                  <a:pt x="31666" y="403785"/>
                </a:lnTo>
                <a:lnTo>
                  <a:pt x="30674" y="415463"/>
                </a:lnTo>
                <a:lnTo>
                  <a:pt x="30309" y="427143"/>
                </a:lnTo>
                <a:lnTo>
                  <a:pt x="30256" y="439648"/>
                </a:lnTo>
                <a:lnTo>
                  <a:pt x="26916" y="448437"/>
                </a:lnTo>
                <a:lnTo>
                  <a:pt x="26916" y="457225"/>
                </a:lnTo>
                <a:close/>
              </a:path>
              <a:path w="175260" h="527685">
                <a:moveTo>
                  <a:pt x="83685" y="334124"/>
                </a:moveTo>
                <a:lnTo>
                  <a:pt x="77018" y="334124"/>
                </a:lnTo>
                <a:lnTo>
                  <a:pt x="73678" y="329730"/>
                </a:lnTo>
                <a:lnTo>
                  <a:pt x="73678" y="325335"/>
                </a:lnTo>
                <a:lnTo>
                  <a:pt x="77018" y="320941"/>
                </a:lnTo>
                <a:lnTo>
                  <a:pt x="83685" y="316547"/>
                </a:lnTo>
                <a:lnTo>
                  <a:pt x="87025" y="312153"/>
                </a:lnTo>
                <a:lnTo>
                  <a:pt x="92036" y="308781"/>
                </a:lnTo>
                <a:lnTo>
                  <a:pt x="97046" y="305001"/>
                </a:lnTo>
                <a:lnTo>
                  <a:pt x="102056" y="300400"/>
                </a:lnTo>
                <a:lnTo>
                  <a:pt x="107066" y="294563"/>
                </a:lnTo>
                <a:lnTo>
                  <a:pt x="113746" y="290169"/>
                </a:lnTo>
                <a:lnTo>
                  <a:pt x="113746" y="276974"/>
                </a:lnTo>
                <a:lnTo>
                  <a:pt x="103726" y="276974"/>
                </a:lnTo>
                <a:lnTo>
                  <a:pt x="92403" y="269419"/>
                </a:lnTo>
                <a:lnTo>
                  <a:pt x="83274" y="259389"/>
                </a:lnTo>
                <a:lnTo>
                  <a:pt x="76024" y="246061"/>
                </a:lnTo>
                <a:lnTo>
                  <a:pt x="70338" y="228612"/>
                </a:lnTo>
                <a:lnTo>
                  <a:pt x="149713" y="228612"/>
                </a:lnTo>
                <a:lnTo>
                  <a:pt x="150840" y="230677"/>
                </a:lnTo>
                <a:lnTo>
                  <a:pt x="157155" y="237413"/>
                </a:lnTo>
                <a:lnTo>
                  <a:pt x="170306" y="257128"/>
                </a:lnTo>
                <a:lnTo>
                  <a:pt x="174690" y="276431"/>
                </a:lnTo>
                <a:lnTo>
                  <a:pt x="170306" y="294910"/>
                </a:lnTo>
                <a:lnTo>
                  <a:pt x="157155" y="312153"/>
                </a:lnTo>
                <a:lnTo>
                  <a:pt x="150840" y="316273"/>
                </a:lnTo>
                <a:lnTo>
                  <a:pt x="146717" y="322041"/>
                </a:lnTo>
                <a:lnTo>
                  <a:pt x="144473" y="329460"/>
                </a:lnTo>
                <a:lnTo>
                  <a:pt x="144453" y="329730"/>
                </a:lnTo>
                <a:lnTo>
                  <a:pt x="93706" y="329730"/>
                </a:lnTo>
                <a:lnTo>
                  <a:pt x="83685" y="334124"/>
                </a:lnTo>
                <a:close/>
              </a:path>
              <a:path w="175260" h="527685">
                <a:moveTo>
                  <a:pt x="143965" y="470420"/>
                </a:moveTo>
                <a:lnTo>
                  <a:pt x="107066" y="470420"/>
                </a:lnTo>
                <a:lnTo>
                  <a:pt x="109049" y="437445"/>
                </a:lnTo>
                <a:lnTo>
                  <a:pt x="111763" y="371499"/>
                </a:lnTo>
                <a:lnTo>
                  <a:pt x="113746" y="338531"/>
                </a:lnTo>
                <a:lnTo>
                  <a:pt x="103726" y="329730"/>
                </a:lnTo>
                <a:lnTo>
                  <a:pt x="144453" y="329730"/>
                </a:lnTo>
                <a:lnTo>
                  <a:pt x="143794" y="338531"/>
                </a:lnTo>
                <a:lnTo>
                  <a:pt x="145075" y="371499"/>
                </a:lnTo>
                <a:lnTo>
                  <a:pt x="144952" y="415463"/>
                </a:lnTo>
                <a:lnTo>
                  <a:pt x="144291" y="446097"/>
                </a:lnTo>
                <a:lnTo>
                  <a:pt x="143965" y="470420"/>
                </a:lnTo>
                <a:close/>
              </a:path>
              <a:path w="175260" h="527685">
                <a:moveTo>
                  <a:pt x="133774" y="527570"/>
                </a:moveTo>
                <a:lnTo>
                  <a:pt x="86766" y="489104"/>
                </a:lnTo>
                <a:lnTo>
                  <a:pt x="55357" y="429753"/>
                </a:lnTo>
                <a:lnTo>
                  <a:pt x="40277" y="400075"/>
                </a:lnTo>
                <a:lnTo>
                  <a:pt x="36937" y="395681"/>
                </a:lnTo>
                <a:lnTo>
                  <a:pt x="36937" y="391287"/>
                </a:lnTo>
                <a:lnTo>
                  <a:pt x="56977" y="391287"/>
                </a:lnTo>
                <a:lnTo>
                  <a:pt x="66213" y="414778"/>
                </a:lnTo>
                <a:lnTo>
                  <a:pt x="78264" y="434149"/>
                </a:lnTo>
                <a:lnTo>
                  <a:pt x="92194" y="451873"/>
                </a:lnTo>
                <a:lnTo>
                  <a:pt x="107066" y="470420"/>
                </a:lnTo>
                <a:lnTo>
                  <a:pt x="143965" y="470420"/>
                </a:lnTo>
                <a:lnTo>
                  <a:pt x="143794" y="483603"/>
                </a:lnTo>
                <a:lnTo>
                  <a:pt x="143794" y="492404"/>
                </a:lnTo>
                <a:lnTo>
                  <a:pt x="147135" y="496798"/>
                </a:lnTo>
                <a:lnTo>
                  <a:pt x="143794" y="501192"/>
                </a:lnTo>
                <a:lnTo>
                  <a:pt x="141289" y="509021"/>
                </a:lnTo>
                <a:lnTo>
                  <a:pt x="138784" y="517677"/>
                </a:lnTo>
                <a:lnTo>
                  <a:pt x="136279" y="524685"/>
                </a:lnTo>
                <a:lnTo>
                  <a:pt x="133774" y="52757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14640" y="2037909"/>
            <a:ext cx="424180" cy="671830"/>
          </a:xfrm>
          <a:custGeom>
            <a:avLst/>
            <a:gdLst/>
            <a:ahLst/>
            <a:cxnLst/>
            <a:rect l="l" t="t" r="r" b="b"/>
            <a:pathLst>
              <a:path w="424180" h="671830">
                <a:moveTo>
                  <a:pt x="232935" y="328930"/>
                </a:moveTo>
                <a:lnTo>
                  <a:pt x="179920" y="328930"/>
                </a:lnTo>
                <a:lnTo>
                  <a:pt x="209905" y="302260"/>
                </a:lnTo>
                <a:lnTo>
                  <a:pt x="203975" y="280670"/>
                </a:lnTo>
                <a:lnTo>
                  <a:pt x="207413" y="262890"/>
                </a:lnTo>
                <a:lnTo>
                  <a:pt x="214599" y="245110"/>
                </a:lnTo>
                <a:lnTo>
                  <a:pt x="219913" y="227330"/>
                </a:lnTo>
                <a:lnTo>
                  <a:pt x="211889" y="227330"/>
                </a:lnTo>
                <a:lnTo>
                  <a:pt x="194604" y="224790"/>
                </a:lnTo>
                <a:lnTo>
                  <a:pt x="163258" y="200660"/>
                </a:lnTo>
                <a:lnTo>
                  <a:pt x="163258" y="195580"/>
                </a:lnTo>
                <a:lnTo>
                  <a:pt x="166598" y="195580"/>
                </a:lnTo>
                <a:lnTo>
                  <a:pt x="178573" y="193040"/>
                </a:lnTo>
                <a:lnTo>
                  <a:pt x="201270" y="190500"/>
                </a:lnTo>
                <a:lnTo>
                  <a:pt x="213245" y="186690"/>
                </a:lnTo>
                <a:lnTo>
                  <a:pt x="222041" y="185420"/>
                </a:lnTo>
                <a:lnTo>
                  <a:pt x="228652" y="180340"/>
                </a:lnTo>
                <a:lnTo>
                  <a:pt x="233389" y="172720"/>
                </a:lnTo>
                <a:lnTo>
                  <a:pt x="246562" y="124460"/>
                </a:lnTo>
                <a:lnTo>
                  <a:pt x="266555" y="53340"/>
                </a:lnTo>
                <a:lnTo>
                  <a:pt x="276555" y="20320"/>
                </a:lnTo>
                <a:lnTo>
                  <a:pt x="278687" y="10160"/>
                </a:lnTo>
                <a:lnTo>
                  <a:pt x="281133" y="2540"/>
                </a:lnTo>
                <a:lnTo>
                  <a:pt x="285456" y="0"/>
                </a:lnTo>
                <a:lnTo>
                  <a:pt x="293217" y="2540"/>
                </a:lnTo>
                <a:lnTo>
                  <a:pt x="301805" y="11430"/>
                </a:lnTo>
                <a:lnTo>
                  <a:pt x="306958" y="21590"/>
                </a:lnTo>
                <a:lnTo>
                  <a:pt x="307740" y="33020"/>
                </a:lnTo>
                <a:lnTo>
                  <a:pt x="303212" y="41910"/>
                </a:lnTo>
                <a:lnTo>
                  <a:pt x="287645" y="71120"/>
                </a:lnTo>
                <a:lnTo>
                  <a:pt x="278638" y="102870"/>
                </a:lnTo>
                <a:lnTo>
                  <a:pt x="272755" y="138430"/>
                </a:lnTo>
                <a:lnTo>
                  <a:pt x="266560" y="173990"/>
                </a:lnTo>
                <a:lnTo>
                  <a:pt x="353186" y="173990"/>
                </a:lnTo>
                <a:lnTo>
                  <a:pt x="353186" y="179070"/>
                </a:lnTo>
                <a:lnTo>
                  <a:pt x="349859" y="186690"/>
                </a:lnTo>
                <a:lnTo>
                  <a:pt x="343192" y="186690"/>
                </a:lnTo>
                <a:lnTo>
                  <a:pt x="273215" y="213360"/>
                </a:lnTo>
                <a:lnTo>
                  <a:pt x="264941" y="214630"/>
                </a:lnTo>
                <a:lnTo>
                  <a:pt x="259476" y="217170"/>
                </a:lnTo>
                <a:lnTo>
                  <a:pt x="255884" y="223520"/>
                </a:lnTo>
                <a:lnTo>
                  <a:pt x="253225" y="231140"/>
                </a:lnTo>
                <a:lnTo>
                  <a:pt x="248746" y="243840"/>
                </a:lnTo>
                <a:lnTo>
                  <a:pt x="241041" y="266700"/>
                </a:lnTo>
                <a:lnTo>
                  <a:pt x="236562" y="279400"/>
                </a:lnTo>
                <a:lnTo>
                  <a:pt x="327341" y="279400"/>
                </a:lnTo>
                <a:lnTo>
                  <a:pt x="339864" y="284480"/>
                </a:lnTo>
                <a:lnTo>
                  <a:pt x="349648" y="288290"/>
                </a:lnTo>
                <a:lnTo>
                  <a:pt x="358182" y="295910"/>
                </a:lnTo>
                <a:lnTo>
                  <a:pt x="364219" y="304800"/>
                </a:lnTo>
                <a:lnTo>
                  <a:pt x="364410" y="306070"/>
                </a:lnTo>
                <a:lnTo>
                  <a:pt x="269887" y="306070"/>
                </a:lnTo>
                <a:lnTo>
                  <a:pt x="269887" y="314960"/>
                </a:lnTo>
                <a:lnTo>
                  <a:pt x="253225" y="314960"/>
                </a:lnTo>
                <a:lnTo>
                  <a:pt x="246301" y="318770"/>
                </a:lnTo>
                <a:lnTo>
                  <a:pt x="240314" y="322580"/>
                </a:lnTo>
                <a:lnTo>
                  <a:pt x="234953" y="326390"/>
                </a:lnTo>
                <a:lnTo>
                  <a:pt x="232935" y="328930"/>
                </a:lnTo>
                <a:close/>
              </a:path>
              <a:path w="424180" h="671830">
                <a:moveTo>
                  <a:pt x="44977" y="528320"/>
                </a:moveTo>
                <a:lnTo>
                  <a:pt x="14053" y="499110"/>
                </a:lnTo>
                <a:lnTo>
                  <a:pt x="117" y="448310"/>
                </a:lnTo>
                <a:lnTo>
                  <a:pt x="0" y="443230"/>
                </a:lnTo>
                <a:lnTo>
                  <a:pt x="3327" y="438150"/>
                </a:lnTo>
                <a:lnTo>
                  <a:pt x="3327" y="434340"/>
                </a:lnTo>
                <a:lnTo>
                  <a:pt x="18789" y="403860"/>
                </a:lnTo>
                <a:lnTo>
                  <a:pt x="34566" y="374650"/>
                </a:lnTo>
                <a:lnTo>
                  <a:pt x="49718" y="342900"/>
                </a:lnTo>
                <a:lnTo>
                  <a:pt x="70231" y="293370"/>
                </a:lnTo>
                <a:lnTo>
                  <a:pt x="81576" y="255270"/>
                </a:lnTo>
                <a:lnTo>
                  <a:pt x="86626" y="236220"/>
                </a:lnTo>
                <a:lnTo>
                  <a:pt x="89966" y="231140"/>
                </a:lnTo>
                <a:lnTo>
                  <a:pt x="83299" y="227330"/>
                </a:lnTo>
                <a:lnTo>
                  <a:pt x="83299" y="218440"/>
                </a:lnTo>
                <a:lnTo>
                  <a:pt x="70072" y="194310"/>
                </a:lnTo>
                <a:lnTo>
                  <a:pt x="64968" y="173990"/>
                </a:lnTo>
                <a:lnTo>
                  <a:pt x="67363" y="152400"/>
                </a:lnTo>
                <a:lnTo>
                  <a:pt x="76631" y="125730"/>
                </a:lnTo>
                <a:lnTo>
                  <a:pt x="99541" y="83820"/>
                </a:lnTo>
                <a:lnTo>
                  <a:pt x="129946" y="54610"/>
                </a:lnTo>
                <a:lnTo>
                  <a:pt x="144262" y="48260"/>
                </a:lnTo>
                <a:lnTo>
                  <a:pt x="157018" y="48260"/>
                </a:lnTo>
                <a:lnTo>
                  <a:pt x="167899" y="53340"/>
                </a:lnTo>
                <a:lnTo>
                  <a:pt x="176593" y="63500"/>
                </a:lnTo>
                <a:lnTo>
                  <a:pt x="182111" y="76200"/>
                </a:lnTo>
                <a:lnTo>
                  <a:pt x="183256" y="85090"/>
                </a:lnTo>
                <a:lnTo>
                  <a:pt x="179402" y="92710"/>
                </a:lnTo>
                <a:lnTo>
                  <a:pt x="169925" y="99060"/>
                </a:lnTo>
                <a:lnTo>
                  <a:pt x="154675" y="107950"/>
                </a:lnTo>
                <a:lnTo>
                  <a:pt x="142859" y="120650"/>
                </a:lnTo>
                <a:lnTo>
                  <a:pt x="132914" y="135890"/>
                </a:lnTo>
                <a:lnTo>
                  <a:pt x="123278" y="152400"/>
                </a:lnTo>
                <a:lnTo>
                  <a:pt x="121511" y="161290"/>
                </a:lnTo>
                <a:lnTo>
                  <a:pt x="121616" y="171450"/>
                </a:lnTo>
                <a:lnTo>
                  <a:pt x="124220" y="180340"/>
                </a:lnTo>
                <a:lnTo>
                  <a:pt x="129946" y="186690"/>
                </a:lnTo>
                <a:lnTo>
                  <a:pt x="136613" y="191770"/>
                </a:lnTo>
                <a:lnTo>
                  <a:pt x="139941" y="200660"/>
                </a:lnTo>
                <a:lnTo>
                  <a:pt x="143268" y="204470"/>
                </a:lnTo>
                <a:lnTo>
                  <a:pt x="161338" y="233680"/>
                </a:lnTo>
                <a:lnTo>
                  <a:pt x="170345" y="257810"/>
                </a:lnTo>
                <a:lnTo>
                  <a:pt x="169979" y="283210"/>
                </a:lnTo>
                <a:lnTo>
                  <a:pt x="159931" y="314960"/>
                </a:lnTo>
                <a:lnTo>
                  <a:pt x="179920" y="328930"/>
                </a:lnTo>
                <a:lnTo>
                  <a:pt x="232935" y="328930"/>
                </a:lnTo>
                <a:lnTo>
                  <a:pt x="229908" y="332740"/>
                </a:lnTo>
                <a:lnTo>
                  <a:pt x="226568" y="332740"/>
                </a:lnTo>
                <a:lnTo>
                  <a:pt x="223240" y="336550"/>
                </a:lnTo>
                <a:lnTo>
                  <a:pt x="143268" y="336550"/>
                </a:lnTo>
                <a:lnTo>
                  <a:pt x="113284" y="403860"/>
                </a:lnTo>
                <a:lnTo>
                  <a:pt x="109956" y="407670"/>
                </a:lnTo>
                <a:lnTo>
                  <a:pt x="109956" y="416560"/>
                </a:lnTo>
                <a:lnTo>
                  <a:pt x="113284" y="425450"/>
                </a:lnTo>
                <a:lnTo>
                  <a:pt x="113803" y="433070"/>
                </a:lnTo>
                <a:lnTo>
                  <a:pt x="116091" y="448310"/>
                </a:lnTo>
                <a:lnTo>
                  <a:pt x="116611" y="455930"/>
                </a:lnTo>
                <a:lnTo>
                  <a:pt x="108454" y="513080"/>
                </a:lnTo>
                <a:lnTo>
                  <a:pt x="66636" y="513080"/>
                </a:lnTo>
                <a:lnTo>
                  <a:pt x="55181" y="525780"/>
                </a:lnTo>
                <a:lnTo>
                  <a:pt x="44977" y="528320"/>
                </a:lnTo>
                <a:close/>
              </a:path>
              <a:path w="424180" h="671830">
                <a:moveTo>
                  <a:pt x="353186" y="173990"/>
                </a:moveTo>
                <a:lnTo>
                  <a:pt x="266560" y="173990"/>
                </a:lnTo>
                <a:lnTo>
                  <a:pt x="279571" y="167640"/>
                </a:lnTo>
                <a:lnTo>
                  <a:pt x="293211" y="161290"/>
                </a:lnTo>
                <a:lnTo>
                  <a:pt x="306851" y="156210"/>
                </a:lnTo>
                <a:lnTo>
                  <a:pt x="319862" y="152400"/>
                </a:lnTo>
                <a:lnTo>
                  <a:pt x="326529" y="147320"/>
                </a:lnTo>
                <a:lnTo>
                  <a:pt x="336524" y="147320"/>
                </a:lnTo>
                <a:lnTo>
                  <a:pt x="339864" y="152400"/>
                </a:lnTo>
                <a:lnTo>
                  <a:pt x="344753" y="156210"/>
                </a:lnTo>
                <a:lnTo>
                  <a:pt x="349021" y="161290"/>
                </a:lnTo>
                <a:lnTo>
                  <a:pt x="352041" y="167640"/>
                </a:lnTo>
                <a:lnTo>
                  <a:pt x="353186" y="173990"/>
                </a:lnTo>
                <a:close/>
              </a:path>
              <a:path w="424180" h="671830">
                <a:moveTo>
                  <a:pt x="327341" y="279400"/>
                </a:moveTo>
                <a:lnTo>
                  <a:pt x="236562" y="279400"/>
                </a:lnTo>
                <a:lnTo>
                  <a:pt x="263480" y="274320"/>
                </a:lnTo>
                <a:lnTo>
                  <a:pt x="289461" y="271780"/>
                </a:lnTo>
                <a:lnTo>
                  <a:pt x="314819" y="274320"/>
                </a:lnTo>
                <a:lnTo>
                  <a:pt x="327341" y="279400"/>
                </a:lnTo>
                <a:close/>
              </a:path>
              <a:path w="424180" h="671830">
                <a:moveTo>
                  <a:pt x="357532" y="389890"/>
                </a:moveTo>
                <a:lnTo>
                  <a:pt x="269887" y="389890"/>
                </a:lnTo>
                <a:lnTo>
                  <a:pt x="316534" y="328930"/>
                </a:lnTo>
                <a:lnTo>
                  <a:pt x="319191" y="318770"/>
                </a:lnTo>
                <a:lnTo>
                  <a:pt x="317785" y="312420"/>
                </a:lnTo>
                <a:lnTo>
                  <a:pt x="313255" y="307340"/>
                </a:lnTo>
                <a:lnTo>
                  <a:pt x="306539" y="306070"/>
                </a:lnTo>
                <a:lnTo>
                  <a:pt x="364410" y="306070"/>
                </a:lnTo>
                <a:lnTo>
                  <a:pt x="366509" y="320040"/>
                </a:lnTo>
                <a:lnTo>
                  <a:pt x="367138" y="335280"/>
                </a:lnTo>
                <a:lnTo>
                  <a:pt x="364015" y="349250"/>
                </a:lnTo>
                <a:lnTo>
                  <a:pt x="357142" y="359410"/>
                </a:lnTo>
                <a:lnTo>
                  <a:pt x="346519" y="368300"/>
                </a:lnTo>
                <a:lnTo>
                  <a:pt x="343192" y="368300"/>
                </a:lnTo>
                <a:lnTo>
                  <a:pt x="336524" y="377190"/>
                </a:lnTo>
                <a:lnTo>
                  <a:pt x="343192" y="381000"/>
                </a:lnTo>
                <a:lnTo>
                  <a:pt x="349859" y="381000"/>
                </a:lnTo>
                <a:lnTo>
                  <a:pt x="353186" y="386080"/>
                </a:lnTo>
                <a:lnTo>
                  <a:pt x="357532" y="389890"/>
                </a:lnTo>
                <a:close/>
              </a:path>
              <a:path w="424180" h="671830">
                <a:moveTo>
                  <a:pt x="365240" y="398780"/>
                </a:moveTo>
                <a:lnTo>
                  <a:pt x="226568" y="398780"/>
                </a:lnTo>
                <a:lnTo>
                  <a:pt x="239636" y="389890"/>
                </a:lnTo>
                <a:lnTo>
                  <a:pt x="248645" y="372110"/>
                </a:lnTo>
                <a:lnTo>
                  <a:pt x="253280" y="346710"/>
                </a:lnTo>
                <a:lnTo>
                  <a:pt x="253225" y="314960"/>
                </a:lnTo>
                <a:lnTo>
                  <a:pt x="269887" y="314960"/>
                </a:lnTo>
                <a:lnTo>
                  <a:pt x="269315" y="355600"/>
                </a:lnTo>
                <a:lnTo>
                  <a:pt x="263220" y="386080"/>
                </a:lnTo>
                <a:lnTo>
                  <a:pt x="266560" y="386080"/>
                </a:lnTo>
                <a:lnTo>
                  <a:pt x="266560" y="389890"/>
                </a:lnTo>
                <a:lnTo>
                  <a:pt x="357532" y="389890"/>
                </a:lnTo>
                <a:lnTo>
                  <a:pt x="361878" y="393700"/>
                </a:lnTo>
                <a:lnTo>
                  <a:pt x="365240" y="398780"/>
                </a:lnTo>
                <a:close/>
              </a:path>
              <a:path w="424180" h="671830">
                <a:moveTo>
                  <a:pt x="370118" y="420370"/>
                </a:moveTo>
                <a:lnTo>
                  <a:pt x="169925" y="420370"/>
                </a:lnTo>
                <a:lnTo>
                  <a:pt x="162949" y="398780"/>
                </a:lnTo>
                <a:lnTo>
                  <a:pt x="156597" y="377190"/>
                </a:lnTo>
                <a:lnTo>
                  <a:pt x="150244" y="356870"/>
                </a:lnTo>
                <a:lnTo>
                  <a:pt x="143268" y="336550"/>
                </a:lnTo>
                <a:lnTo>
                  <a:pt x="223240" y="336550"/>
                </a:lnTo>
                <a:lnTo>
                  <a:pt x="223283" y="342900"/>
                </a:lnTo>
                <a:lnTo>
                  <a:pt x="223543" y="350520"/>
                </a:lnTo>
                <a:lnTo>
                  <a:pt x="209905" y="350520"/>
                </a:lnTo>
                <a:lnTo>
                  <a:pt x="194083" y="359410"/>
                </a:lnTo>
                <a:lnTo>
                  <a:pt x="185754" y="365760"/>
                </a:lnTo>
                <a:lnTo>
                  <a:pt x="183671" y="372110"/>
                </a:lnTo>
                <a:lnTo>
                  <a:pt x="186588" y="381000"/>
                </a:lnTo>
                <a:lnTo>
                  <a:pt x="191743" y="397510"/>
                </a:lnTo>
                <a:lnTo>
                  <a:pt x="197832" y="405130"/>
                </a:lnTo>
                <a:lnTo>
                  <a:pt x="205796" y="407670"/>
                </a:lnTo>
                <a:lnTo>
                  <a:pt x="369142" y="407670"/>
                </a:lnTo>
                <a:lnTo>
                  <a:pt x="370523" y="412750"/>
                </a:lnTo>
                <a:lnTo>
                  <a:pt x="370118" y="420370"/>
                </a:lnTo>
                <a:close/>
              </a:path>
              <a:path w="424180" h="671830">
                <a:moveTo>
                  <a:pt x="369142" y="407670"/>
                </a:moveTo>
                <a:lnTo>
                  <a:pt x="205796" y="407670"/>
                </a:lnTo>
                <a:lnTo>
                  <a:pt x="216573" y="403860"/>
                </a:lnTo>
                <a:lnTo>
                  <a:pt x="214127" y="389890"/>
                </a:lnTo>
                <a:lnTo>
                  <a:pt x="211991" y="377190"/>
                </a:lnTo>
                <a:lnTo>
                  <a:pt x="210479" y="363220"/>
                </a:lnTo>
                <a:lnTo>
                  <a:pt x="209905" y="350520"/>
                </a:lnTo>
                <a:lnTo>
                  <a:pt x="223543" y="350520"/>
                </a:lnTo>
                <a:lnTo>
                  <a:pt x="223760" y="356870"/>
                </a:lnTo>
                <a:lnTo>
                  <a:pt x="224904" y="372110"/>
                </a:lnTo>
                <a:lnTo>
                  <a:pt x="226048" y="386080"/>
                </a:lnTo>
                <a:lnTo>
                  <a:pt x="226568" y="398780"/>
                </a:lnTo>
                <a:lnTo>
                  <a:pt x="365240" y="398780"/>
                </a:lnTo>
                <a:lnTo>
                  <a:pt x="367761" y="402590"/>
                </a:lnTo>
                <a:lnTo>
                  <a:pt x="369142" y="407670"/>
                </a:lnTo>
                <a:close/>
              </a:path>
              <a:path w="424180" h="671830">
                <a:moveTo>
                  <a:pt x="153687" y="495300"/>
                </a:moveTo>
                <a:lnTo>
                  <a:pt x="125361" y="453390"/>
                </a:lnTo>
                <a:lnTo>
                  <a:pt x="124891" y="436880"/>
                </a:lnTo>
                <a:lnTo>
                  <a:pt x="126606" y="420370"/>
                </a:lnTo>
                <a:lnTo>
                  <a:pt x="126606" y="416560"/>
                </a:lnTo>
                <a:lnTo>
                  <a:pt x="154933" y="416560"/>
                </a:lnTo>
                <a:lnTo>
                  <a:pt x="162429" y="417830"/>
                </a:lnTo>
                <a:lnTo>
                  <a:pt x="169925" y="420370"/>
                </a:lnTo>
                <a:lnTo>
                  <a:pt x="370118" y="420370"/>
                </a:lnTo>
                <a:lnTo>
                  <a:pt x="306539" y="452120"/>
                </a:lnTo>
                <a:lnTo>
                  <a:pt x="292431" y="458470"/>
                </a:lnTo>
                <a:lnTo>
                  <a:pt x="283187" y="469900"/>
                </a:lnTo>
                <a:lnTo>
                  <a:pt x="236562" y="469900"/>
                </a:lnTo>
                <a:lnTo>
                  <a:pt x="229066" y="472440"/>
                </a:lnTo>
                <a:lnTo>
                  <a:pt x="214074" y="474980"/>
                </a:lnTo>
                <a:lnTo>
                  <a:pt x="206578" y="478790"/>
                </a:lnTo>
                <a:lnTo>
                  <a:pt x="198562" y="481330"/>
                </a:lnTo>
                <a:lnTo>
                  <a:pt x="181282" y="487680"/>
                </a:lnTo>
                <a:lnTo>
                  <a:pt x="173266" y="491490"/>
                </a:lnTo>
                <a:lnTo>
                  <a:pt x="163319" y="494030"/>
                </a:lnTo>
                <a:lnTo>
                  <a:pt x="153687" y="495300"/>
                </a:lnTo>
                <a:close/>
              </a:path>
              <a:path w="424180" h="671830">
                <a:moveTo>
                  <a:pt x="360679" y="610870"/>
                </a:moveTo>
                <a:lnTo>
                  <a:pt x="313207" y="610870"/>
                </a:lnTo>
                <a:lnTo>
                  <a:pt x="293217" y="557530"/>
                </a:lnTo>
                <a:lnTo>
                  <a:pt x="286550" y="553720"/>
                </a:lnTo>
                <a:lnTo>
                  <a:pt x="283209" y="553720"/>
                </a:lnTo>
                <a:lnTo>
                  <a:pt x="255774" y="548640"/>
                </a:lnTo>
                <a:lnTo>
                  <a:pt x="241146" y="537210"/>
                </a:lnTo>
                <a:lnTo>
                  <a:pt x="235888" y="516890"/>
                </a:lnTo>
                <a:lnTo>
                  <a:pt x="236437" y="488950"/>
                </a:lnTo>
                <a:lnTo>
                  <a:pt x="236562" y="469900"/>
                </a:lnTo>
                <a:lnTo>
                  <a:pt x="283187" y="469900"/>
                </a:lnTo>
                <a:lnTo>
                  <a:pt x="281133" y="472440"/>
                </a:lnTo>
                <a:lnTo>
                  <a:pt x="274207" y="488950"/>
                </a:lnTo>
                <a:lnTo>
                  <a:pt x="273215" y="509270"/>
                </a:lnTo>
                <a:lnTo>
                  <a:pt x="423619" y="509270"/>
                </a:lnTo>
                <a:lnTo>
                  <a:pt x="423470" y="511810"/>
                </a:lnTo>
                <a:lnTo>
                  <a:pt x="419823" y="521970"/>
                </a:lnTo>
                <a:lnTo>
                  <a:pt x="359017" y="521970"/>
                </a:lnTo>
                <a:lnTo>
                  <a:pt x="340796" y="527050"/>
                </a:lnTo>
                <a:lnTo>
                  <a:pt x="323202" y="535940"/>
                </a:lnTo>
                <a:lnTo>
                  <a:pt x="333768" y="558800"/>
                </a:lnTo>
                <a:lnTo>
                  <a:pt x="345273" y="581660"/>
                </a:lnTo>
                <a:lnTo>
                  <a:pt x="357404" y="604520"/>
                </a:lnTo>
                <a:lnTo>
                  <a:pt x="360679" y="610870"/>
                </a:lnTo>
                <a:close/>
              </a:path>
              <a:path w="424180" h="671830">
                <a:moveTo>
                  <a:pt x="423619" y="509270"/>
                </a:moveTo>
                <a:lnTo>
                  <a:pt x="283209" y="509270"/>
                </a:lnTo>
                <a:lnTo>
                  <a:pt x="286550" y="504190"/>
                </a:lnTo>
                <a:lnTo>
                  <a:pt x="309090" y="490220"/>
                </a:lnTo>
                <a:lnTo>
                  <a:pt x="331944" y="481330"/>
                </a:lnTo>
                <a:lnTo>
                  <a:pt x="355424" y="474980"/>
                </a:lnTo>
                <a:lnTo>
                  <a:pt x="379844" y="473710"/>
                </a:lnTo>
                <a:lnTo>
                  <a:pt x="389264" y="477520"/>
                </a:lnTo>
                <a:lnTo>
                  <a:pt x="397748" y="480060"/>
                </a:lnTo>
                <a:lnTo>
                  <a:pt x="405608" y="483870"/>
                </a:lnTo>
                <a:lnTo>
                  <a:pt x="413156" y="486410"/>
                </a:lnTo>
                <a:lnTo>
                  <a:pt x="420761" y="494030"/>
                </a:lnTo>
                <a:lnTo>
                  <a:pt x="423991" y="502920"/>
                </a:lnTo>
                <a:lnTo>
                  <a:pt x="423619" y="509270"/>
                </a:lnTo>
                <a:close/>
              </a:path>
              <a:path w="424180" h="671830">
                <a:moveTo>
                  <a:pt x="86626" y="671830"/>
                </a:moveTo>
                <a:lnTo>
                  <a:pt x="67782" y="666750"/>
                </a:lnTo>
                <a:lnTo>
                  <a:pt x="55808" y="655320"/>
                </a:lnTo>
                <a:lnTo>
                  <a:pt x="50081" y="637540"/>
                </a:lnTo>
                <a:lnTo>
                  <a:pt x="49974" y="614680"/>
                </a:lnTo>
                <a:lnTo>
                  <a:pt x="54453" y="590550"/>
                </a:lnTo>
                <a:lnTo>
                  <a:pt x="58305" y="566420"/>
                </a:lnTo>
                <a:lnTo>
                  <a:pt x="62158" y="539750"/>
                </a:lnTo>
                <a:lnTo>
                  <a:pt x="66636" y="513080"/>
                </a:lnTo>
                <a:lnTo>
                  <a:pt x="108454" y="513080"/>
                </a:lnTo>
                <a:lnTo>
                  <a:pt x="102036" y="558800"/>
                </a:lnTo>
                <a:lnTo>
                  <a:pt x="95531" y="609600"/>
                </a:lnTo>
                <a:lnTo>
                  <a:pt x="89966" y="659130"/>
                </a:lnTo>
                <a:lnTo>
                  <a:pt x="86626" y="662940"/>
                </a:lnTo>
                <a:lnTo>
                  <a:pt x="86626" y="671830"/>
                </a:lnTo>
                <a:close/>
              </a:path>
              <a:path w="424180" h="671830">
                <a:moveTo>
                  <a:pt x="411081" y="533400"/>
                </a:moveTo>
                <a:lnTo>
                  <a:pt x="405302" y="533400"/>
                </a:lnTo>
                <a:lnTo>
                  <a:pt x="399834" y="530860"/>
                </a:lnTo>
                <a:lnTo>
                  <a:pt x="378489" y="521970"/>
                </a:lnTo>
                <a:lnTo>
                  <a:pt x="419823" y="521970"/>
                </a:lnTo>
                <a:lnTo>
                  <a:pt x="416234" y="529590"/>
                </a:lnTo>
                <a:lnTo>
                  <a:pt x="411081" y="533400"/>
                </a:lnTo>
                <a:close/>
              </a:path>
              <a:path w="424180" h="671830">
                <a:moveTo>
                  <a:pt x="369849" y="668020"/>
                </a:moveTo>
                <a:lnTo>
                  <a:pt x="349859" y="668020"/>
                </a:lnTo>
                <a:lnTo>
                  <a:pt x="315030" y="656590"/>
                </a:lnTo>
                <a:lnTo>
                  <a:pt x="249120" y="624840"/>
                </a:lnTo>
                <a:lnTo>
                  <a:pt x="210434" y="591820"/>
                </a:lnTo>
                <a:lnTo>
                  <a:pt x="192733" y="571500"/>
                </a:lnTo>
                <a:lnTo>
                  <a:pt x="183260" y="561340"/>
                </a:lnTo>
                <a:lnTo>
                  <a:pt x="176593" y="553720"/>
                </a:lnTo>
                <a:lnTo>
                  <a:pt x="176593" y="527050"/>
                </a:lnTo>
                <a:lnTo>
                  <a:pt x="193255" y="527050"/>
                </a:lnTo>
                <a:lnTo>
                  <a:pt x="199910" y="535940"/>
                </a:lnTo>
                <a:lnTo>
                  <a:pt x="203250" y="544830"/>
                </a:lnTo>
                <a:lnTo>
                  <a:pt x="226417" y="570230"/>
                </a:lnTo>
                <a:lnTo>
                  <a:pt x="251147" y="590550"/>
                </a:lnTo>
                <a:lnTo>
                  <a:pt x="277751" y="603250"/>
                </a:lnTo>
                <a:lnTo>
                  <a:pt x="306539" y="610870"/>
                </a:lnTo>
                <a:lnTo>
                  <a:pt x="360679" y="610870"/>
                </a:lnTo>
                <a:lnTo>
                  <a:pt x="369849" y="628650"/>
                </a:lnTo>
                <a:lnTo>
                  <a:pt x="371721" y="636270"/>
                </a:lnTo>
                <a:lnTo>
                  <a:pt x="372344" y="645160"/>
                </a:lnTo>
                <a:lnTo>
                  <a:pt x="371721" y="655320"/>
                </a:lnTo>
                <a:lnTo>
                  <a:pt x="369849" y="662940"/>
                </a:lnTo>
                <a:lnTo>
                  <a:pt x="369849" y="66802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431734" y="2561132"/>
            <a:ext cx="50800" cy="189230"/>
          </a:xfrm>
          <a:custGeom>
            <a:avLst/>
            <a:gdLst/>
            <a:ahLst/>
            <a:cxnLst/>
            <a:rect l="l" t="t" r="r" b="b"/>
            <a:pathLst>
              <a:path w="50800" h="189230">
                <a:moveTo>
                  <a:pt x="29819" y="189001"/>
                </a:moveTo>
                <a:lnTo>
                  <a:pt x="22933" y="183165"/>
                </a:lnTo>
                <a:lnTo>
                  <a:pt x="16981" y="178565"/>
                </a:lnTo>
                <a:lnTo>
                  <a:pt x="11651" y="174788"/>
                </a:lnTo>
                <a:lnTo>
                  <a:pt x="6629" y="171424"/>
                </a:lnTo>
                <a:lnTo>
                  <a:pt x="0" y="162636"/>
                </a:lnTo>
                <a:lnTo>
                  <a:pt x="0" y="153835"/>
                </a:lnTo>
                <a:lnTo>
                  <a:pt x="7456" y="116818"/>
                </a:lnTo>
                <a:lnTo>
                  <a:pt x="14909" y="78565"/>
                </a:lnTo>
                <a:lnTo>
                  <a:pt x="22363" y="39488"/>
                </a:lnTo>
                <a:lnTo>
                  <a:pt x="29819" y="0"/>
                </a:lnTo>
                <a:lnTo>
                  <a:pt x="41776" y="10024"/>
                </a:lnTo>
                <a:lnTo>
                  <a:pt x="48453" y="20874"/>
                </a:lnTo>
                <a:lnTo>
                  <a:pt x="50782" y="33373"/>
                </a:lnTo>
                <a:lnTo>
                  <a:pt x="49695" y="48348"/>
                </a:lnTo>
                <a:lnTo>
                  <a:pt x="43332" y="82070"/>
                </a:lnTo>
                <a:lnTo>
                  <a:pt x="38519" y="117027"/>
                </a:lnTo>
                <a:lnTo>
                  <a:pt x="34325" y="152808"/>
                </a:lnTo>
                <a:lnTo>
                  <a:pt x="29819" y="189001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492399" y="3075546"/>
            <a:ext cx="182245" cy="324485"/>
          </a:xfrm>
          <a:custGeom>
            <a:avLst/>
            <a:gdLst/>
            <a:ahLst/>
            <a:cxnLst/>
            <a:rect l="l" t="t" r="r" b="b"/>
            <a:pathLst>
              <a:path w="182244" h="324485">
                <a:moveTo>
                  <a:pt x="20816" y="271181"/>
                </a:moveTo>
                <a:lnTo>
                  <a:pt x="16604" y="268511"/>
                </a:lnTo>
                <a:lnTo>
                  <a:pt x="12080" y="262966"/>
                </a:lnTo>
                <a:lnTo>
                  <a:pt x="2760" y="245369"/>
                </a:lnTo>
                <a:lnTo>
                  <a:pt x="0" y="230646"/>
                </a:lnTo>
                <a:lnTo>
                  <a:pt x="4112" y="216744"/>
                </a:lnTo>
                <a:lnTo>
                  <a:pt x="15408" y="201612"/>
                </a:lnTo>
                <a:lnTo>
                  <a:pt x="32888" y="179286"/>
                </a:lnTo>
                <a:lnTo>
                  <a:pt x="67859" y="136282"/>
                </a:lnTo>
                <a:lnTo>
                  <a:pt x="85347" y="113957"/>
                </a:lnTo>
                <a:lnTo>
                  <a:pt x="97262" y="96834"/>
                </a:lnTo>
                <a:lnTo>
                  <a:pt x="108240" y="78892"/>
                </a:lnTo>
                <a:lnTo>
                  <a:pt x="118592" y="60950"/>
                </a:lnTo>
                <a:lnTo>
                  <a:pt x="128628" y="43827"/>
                </a:lnTo>
                <a:lnTo>
                  <a:pt x="128628" y="39446"/>
                </a:lnTo>
                <a:lnTo>
                  <a:pt x="131968" y="30683"/>
                </a:lnTo>
                <a:lnTo>
                  <a:pt x="131968" y="26301"/>
                </a:lnTo>
                <a:lnTo>
                  <a:pt x="131235" y="16646"/>
                </a:lnTo>
                <a:lnTo>
                  <a:pt x="133629" y="8221"/>
                </a:lnTo>
                <a:lnTo>
                  <a:pt x="138523" y="2261"/>
                </a:lnTo>
                <a:lnTo>
                  <a:pt x="145291" y="0"/>
                </a:lnTo>
                <a:lnTo>
                  <a:pt x="152727" y="823"/>
                </a:lnTo>
                <a:lnTo>
                  <a:pt x="181914" y="48763"/>
                </a:lnTo>
                <a:lnTo>
                  <a:pt x="179416" y="70469"/>
                </a:lnTo>
                <a:lnTo>
                  <a:pt x="171923" y="87655"/>
                </a:lnTo>
                <a:lnTo>
                  <a:pt x="158915" y="107379"/>
                </a:lnTo>
                <a:lnTo>
                  <a:pt x="131653" y="146823"/>
                </a:lnTo>
                <a:lnTo>
                  <a:pt x="118646" y="166547"/>
                </a:lnTo>
                <a:lnTo>
                  <a:pt x="132075" y="197436"/>
                </a:lnTo>
                <a:lnTo>
                  <a:pt x="92211" y="197436"/>
                </a:lnTo>
                <a:lnTo>
                  <a:pt x="85347" y="201612"/>
                </a:lnTo>
                <a:lnTo>
                  <a:pt x="72332" y="217360"/>
                </a:lnTo>
                <a:lnTo>
                  <a:pt x="45065" y="247218"/>
                </a:lnTo>
                <a:lnTo>
                  <a:pt x="32057" y="262966"/>
                </a:lnTo>
                <a:lnTo>
                  <a:pt x="25655" y="269743"/>
                </a:lnTo>
                <a:lnTo>
                  <a:pt x="20816" y="271181"/>
                </a:lnTo>
                <a:close/>
              </a:path>
              <a:path w="182244" h="324485">
                <a:moveTo>
                  <a:pt x="145964" y="324467"/>
                </a:moveTo>
                <a:lnTo>
                  <a:pt x="137377" y="318849"/>
                </a:lnTo>
                <a:lnTo>
                  <a:pt x="131911" y="308302"/>
                </a:lnTo>
                <a:lnTo>
                  <a:pt x="128628" y="293649"/>
                </a:lnTo>
                <a:lnTo>
                  <a:pt x="123115" y="273240"/>
                </a:lnTo>
                <a:lnTo>
                  <a:pt x="110799" y="230646"/>
                </a:lnTo>
                <a:lnTo>
                  <a:pt x="105324" y="210375"/>
                </a:lnTo>
                <a:lnTo>
                  <a:pt x="102202" y="202228"/>
                </a:lnTo>
                <a:lnTo>
                  <a:pt x="97831" y="197778"/>
                </a:lnTo>
                <a:lnTo>
                  <a:pt x="92211" y="197436"/>
                </a:lnTo>
                <a:lnTo>
                  <a:pt x="132075" y="197436"/>
                </a:lnTo>
                <a:lnTo>
                  <a:pt x="134722" y="203526"/>
                </a:lnTo>
                <a:lnTo>
                  <a:pt x="147369" y="242149"/>
                </a:lnTo>
                <a:lnTo>
                  <a:pt x="155645" y="282417"/>
                </a:lnTo>
                <a:lnTo>
                  <a:pt x="158613" y="324332"/>
                </a:lnTo>
                <a:lnTo>
                  <a:pt x="145964" y="324467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95304" y="3078835"/>
            <a:ext cx="141827" cy="3200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21041" y="4686876"/>
            <a:ext cx="328930" cy="627380"/>
          </a:xfrm>
          <a:custGeom>
            <a:avLst/>
            <a:gdLst/>
            <a:ahLst/>
            <a:cxnLst/>
            <a:rect l="l" t="t" r="r" b="b"/>
            <a:pathLst>
              <a:path w="328930" h="627379">
                <a:moveTo>
                  <a:pt x="107945" y="87915"/>
                </a:moveTo>
                <a:lnTo>
                  <a:pt x="98678" y="83420"/>
                </a:lnTo>
                <a:lnTo>
                  <a:pt x="90741" y="75407"/>
                </a:lnTo>
                <a:lnTo>
                  <a:pt x="82888" y="58900"/>
                </a:lnTo>
                <a:lnTo>
                  <a:pt x="81260" y="46495"/>
                </a:lnTo>
                <a:lnTo>
                  <a:pt x="86748" y="37606"/>
                </a:lnTo>
                <a:lnTo>
                  <a:pt x="100241" y="31643"/>
                </a:lnTo>
                <a:lnTo>
                  <a:pt x="132338" y="17972"/>
                </a:lnTo>
                <a:lnTo>
                  <a:pt x="164880" y="6643"/>
                </a:lnTo>
                <a:lnTo>
                  <a:pt x="198314" y="0"/>
                </a:lnTo>
                <a:lnTo>
                  <a:pt x="233083" y="388"/>
                </a:lnTo>
                <a:lnTo>
                  <a:pt x="259106" y="6738"/>
                </a:lnTo>
                <a:lnTo>
                  <a:pt x="281125" y="23053"/>
                </a:lnTo>
                <a:lnTo>
                  <a:pt x="300475" y="45228"/>
                </a:lnTo>
                <a:lnTo>
                  <a:pt x="303415" y="49134"/>
                </a:lnTo>
                <a:lnTo>
                  <a:pt x="202764" y="49134"/>
                </a:lnTo>
                <a:lnTo>
                  <a:pt x="176742" y="54314"/>
                </a:lnTo>
                <a:lnTo>
                  <a:pt x="151611" y="65354"/>
                </a:lnTo>
                <a:lnTo>
                  <a:pt x="128701" y="81668"/>
                </a:lnTo>
                <a:lnTo>
                  <a:pt x="118100" y="87721"/>
                </a:lnTo>
                <a:lnTo>
                  <a:pt x="107945" y="87915"/>
                </a:lnTo>
                <a:close/>
              </a:path>
              <a:path w="328930" h="627379">
                <a:moveTo>
                  <a:pt x="249696" y="256712"/>
                </a:moveTo>
                <a:lnTo>
                  <a:pt x="171399" y="256712"/>
                </a:lnTo>
                <a:lnTo>
                  <a:pt x="188010" y="246557"/>
                </a:lnTo>
                <a:lnTo>
                  <a:pt x="196759" y="240012"/>
                </a:lnTo>
                <a:lnTo>
                  <a:pt x="204622" y="231706"/>
                </a:lnTo>
                <a:lnTo>
                  <a:pt x="261556" y="119171"/>
                </a:lnTo>
                <a:lnTo>
                  <a:pt x="267043" y="95240"/>
                </a:lnTo>
                <a:lnTo>
                  <a:pt x="262743" y="73065"/>
                </a:lnTo>
                <a:lnTo>
                  <a:pt x="249547" y="56751"/>
                </a:lnTo>
                <a:lnTo>
                  <a:pt x="228345" y="50401"/>
                </a:lnTo>
                <a:lnTo>
                  <a:pt x="202764" y="49134"/>
                </a:lnTo>
                <a:lnTo>
                  <a:pt x="303415" y="49134"/>
                </a:lnTo>
                <a:lnTo>
                  <a:pt x="318490" y="69159"/>
                </a:lnTo>
                <a:lnTo>
                  <a:pt x="327755" y="85277"/>
                </a:lnTo>
                <a:lnTo>
                  <a:pt x="328540" y="103640"/>
                </a:lnTo>
                <a:lnTo>
                  <a:pt x="328542" y="104425"/>
                </a:lnTo>
                <a:lnTo>
                  <a:pt x="323157" y="124544"/>
                </a:lnTo>
                <a:lnTo>
                  <a:pt x="313740" y="144177"/>
                </a:lnTo>
                <a:lnTo>
                  <a:pt x="249696" y="256712"/>
                </a:lnTo>
                <a:close/>
              </a:path>
              <a:path w="328930" h="627379">
                <a:moveTo>
                  <a:pt x="200532" y="156687"/>
                </a:moveTo>
                <a:lnTo>
                  <a:pt x="90741" y="156687"/>
                </a:lnTo>
                <a:lnTo>
                  <a:pt x="111205" y="151901"/>
                </a:lnTo>
                <a:lnTo>
                  <a:pt x="129889" y="146527"/>
                </a:lnTo>
                <a:lnTo>
                  <a:pt x="168287" y="124942"/>
                </a:lnTo>
                <a:lnTo>
                  <a:pt x="179323" y="104325"/>
                </a:lnTo>
                <a:lnTo>
                  <a:pt x="185635" y="94165"/>
                </a:lnTo>
                <a:lnTo>
                  <a:pt x="195122" y="81668"/>
                </a:lnTo>
                <a:lnTo>
                  <a:pt x="199872" y="81668"/>
                </a:lnTo>
                <a:lnTo>
                  <a:pt x="202618" y="87428"/>
                </a:lnTo>
                <a:lnTo>
                  <a:pt x="203973" y="94655"/>
                </a:lnTo>
                <a:lnTo>
                  <a:pt x="204046" y="95240"/>
                </a:lnTo>
                <a:lnTo>
                  <a:pt x="204548" y="103640"/>
                </a:lnTo>
                <a:lnTo>
                  <a:pt x="204498" y="115271"/>
                </a:lnTo>
                <a:lnTo>
                  <a:pt x="203880" y="126991"/>
                </a:lnTo>
                <a:lnTo>
                  <a:pt x="200614" y="155123"/>
                </a:lnTo>
                <a:lnTo>
                  <a:pt x="200532" y="156687"/>
                </a:lnTo>
                <a:close/>
              </a:path>
              <a:path w="328930" h="627379">
                <a:moveTo>
                  <a:pt x="105056" y="310441"/>
                </a:moveTo>
                <a:lnTo>
                  <a:pt x="67017" y="262961"/>
                </a:lnTo>
                <a:lnTo>
                  <a:pt x="53364" y="194102"/>
                </a:lnTo>
                <a:lnTo>
                  <a:pt x="43294" y="125432"/>
                </a:lnTo>
                <a:lnTo>
                  <a:pt x="42186" y="115172"/>
                </a:lnTo>
                <a:lnTo>
                  <a:pt x="45079" y="104325"/>
                </a:lnTo>
                <a:lnTo>
                  <a:pt x="50638" y="94655"/>
                </a:lnTo>
                <a:lnTo>
                  <a:pt x="57538" y="87913"/>
                </a:lnTo>
                <a:lnTo>
                  <a:pt x="67318" y="83811"/>
                </a:lnTo>
                <a:lnTo>
                  <a:pt x="75327" y="87916"/>
                </a:lnTo>
                <a:lnTo>
                  <a:pt x="81553" y="96707"/>
                </a:lnTo>
                <a:lnTo>
                  <a:pt x="86004" y="106674"/>
                </a:lnTo>
                <a:lnTo>
                  <a:pt x="86744" y="119764"/>
                </a:lnTo>
                <a:lnTo>
                  <a:pt x="90001" y="143597"/>
                </a:lnTo>
                <a:lnTo>
                  <a:pt x="90741" y="156687"/>
                </a:lnTo>
                <a:lnTo>
                  <a:pt x="200532" y="156687"/>
                </a:lnTo>
                <a:lnTo>
                  <a:pt x="199872" y="169184"/>
                </a:lnTo>
                <a:lnTo>
                  <a:pt x="152425" y="169184"/>
                </a:lnTo>
                <a:lnTo>
                  <a:pt x="135820" y="179349"/>
                </a:lnTo>
                <a:lnTo>
                  <a:pt x="127072" y="185891"/>
                </a:lnTo>
                <a:lnTo>
                  <a:pt x="119194" y="194196"/>
                </a:lnTo>
                <a:lnTo>
                  <a:pt x="112321" y="196340"/>
                </a:lnTo>
                <a:lnTo>
                  <a:pt x="106762" y="202008"/>
                </a:lnTo>
                <a:lnTo>
                  <a:pt x="103870" y="210022"/>
                </a:lnTo>
                <a:lnTo>
                  <a:pt x="104978" y="219209"/>
                </a:lnTo>
                <a:lnTo>
                  <a:pt x="106534" y="228584"/>
                </a:lnTo>
                <a:lnTo>
                  <a:pt x="110315" y="237961"/>
                </a:lnTo>
                <a:lnTo>
                  <a:pt x="114986" y="247338"/>
                </a:lnTo>
                <a:lnTo>
                  <a:pt x="119214" y="256712"/>
                </a:lnTo>
                <a:lnTo>
                  <a:pt x="249696" y="256712"/>
                </a:lnTo>
                <a:lnTo>
                  <a:pt x="231902" y="287980"/>
                </a:lnTo>
                <a:lnTo>
                  <a:pt x="171399" y="287980"/>
                </a:lnTo>
                <a:lnTo>
                  <a:pt x="167918" y="293740"/>
                </a:lnTo>
                <a:lnTo>
                  <a:pt x="165195" y="300476"/>
                </a:lnTo>
                <a:lnTo>
                  <a:pt x="133451" y="300476"/>
                </a:lnTo>
                <a:lnTo>
                  <a:pt x="105056" y="310441"/>
                </a:lnTo>
                <a:close/>
              </a:path>
              <a:path w="328930" h="627379">
                <a:moveTo>
                  <a:pt x="171399" y="256712"/>
                </a:moveTo>
                <a:lnTo>
                  <a:pt x="119214" y="256712"/>
                </a:lnTo>
                <a:lnTo>
                  <a:pt x="124252" y="255638"/>
                </a:lnTo>
                <a:lnTo>
                  <a:pt x="131071" y="252807"/>
                </a:lnTo>
                <a:lnTo>
                  <a:pt x="150052" y="212173"/>
                </a:lnTo>
                <a:lnTo>
                  <a:pt x="157175" y="175445"/>
                </a:lnTo>
                <a:lnTo>
                  <a:pt x="152425" y="169184"/>
                </a:lnTo>
                <a:lnTo>
                  <a:pt x="199872" y="169184"/>
                </a:lnTo>
                <a:lnTo>
                  <a:pt x="184673" y="180032"/>
                </a:lnTo>
                <a:lnTo>
                  <a:pt x="177928" y="199670"/>
                </a:lnTo>
                <a:lnTo>
                  <a:pt x="173853" y="222823"/>
                </a:lnTo>
                <a:lnTo>
                  <a:pt x="166662" y="244215"/>
                </a:lnTo>
                <a:lnTo>
                  <a:pt x="166662" y="250464"/>
                </a:lnTo>
                <a:lnTo>
                  <a:pt x="171399" y="250464"/>
                </a:lnTo>
                <a:lnTo>
                  <a:pt x="171399" y="256712"/>
                </a:lnTo>
                <a:close/>
              </a:path>
              <a:path w="328930" h="627379">
                <a:moveTo>
                  <a:pt x="213510" y="311421"/>
                </a:moveTo>
                <a:lnTo>
                  <a:pt x="204984" y="310051"/>
                </a:lnTo>
                <a:lnTo>
                  <a:pt x="195122" y="300476"/>
                </a:lnTo>
                <a:lnTo>
                  <a:pt x="190085" y="295888"/>
                </a:lnTo>
                <a:lnTo>
                  <a:pt x="183265" y="291885"/>
                </a:lnTo>
                <a:lnTo>
                  <a:pt x="176443" y="289053"/>
                </a:lnTo>
                <a:lnTo>
                  <a:pt x="171399" y="287980"/>
                </a:lnTo>
                <a:lnTo>
                  <a:pt x="231902" y="287980"/>
                </a:lnTo>
                <a:lnTo>
                  <a:pt x="228345" y="294228"/>
                </a:lnTo>
                <a:lnTo>
                  <a:pt x="221149" y="305756"/>
                </a:lnTo>
                <a:lnTo>
                  <a:pt x="213510" y="311421"/>
                </a:lnTo>
                <a:close/>
              </a:path>
              <a:path w="328930" h="627379">
                <a:moveTo>
                  <a:pt x="38557" y="469272"/>
                </a:moveTo>
                <a:lnTo>
                  <a:pt x="2149" y="451007"/>
                </a:lnTo>
                <a:lnTo>
                  <a:pt x="0" y="441923"/>
                </a:lnTo>
                <a:lnTo>
                  <a:pt x="4079" y="434009"/>
                </a:lnTo>
                <a:lnTo>
                  <a:pt x="14833" y="425508"/>
                </a:lnTo>
                <a:lnTo>
                  <a:pt x="42487" y="411447"/>
                </a:lnTo>
                <a:lnTo>
                  <a:pt x="68805" y="397382"/>
                </a:lnTo>
                <a:lnTo>
                  <a:pt x="119214" y="369247"/>
                </a:lnTo>
                <a:lnTo>
                  <a:pt x="123952" y="369247"/>
                </a:lnTo>
                <a:lnTo>
                  <a:pt x="128698" y="356745"/>
                </a:lnTo>
                <a:lnTo>
                  <a:pt x="128701" y="350489"/>
                </a:lnTo>
                <a:lnTo>
                  <a:pt x="131447" y="340040"/>
                </a:lnTo>
                <a:lnTo>
                  <a:pt x="132857" y="327831"/>
                </a:lnTo>
                <a:lnTo>
                  <a:pt x="133377" y="314447"/>
                </a:lnTo>
                <a:lnTo>
                  <a:pt x="133451" y="300476"/>
                </a:lnTo>
                <a:lnTo>
                  <a:pt x="165195" y="300476"/>
                </a:lnTo>
                <a:lnTo>
                  <a:pt x="164879" y="301259"/>
                </a:lnTo>
                <a:lnTo>
                  <a:pt x="162752" y="309855"/>
                </a:lnTo>
                <a:lnTo>
                  <a:pt x="162599" y="311421"/>
                </a:lnTo>
                <a:lnTo>
                  <a:pt x="159692" y="344438"/>
                </a:lnTo>
                <a:lnTo>
                  <a:pt x="161918" y="356745"/>
                </a:lnTo>
                <a:lnTo>
                  <a:pt x="171259" y="359673"/>
                </a:lnTo>
                <a:lnTo>
                  <a:pt x="245603" y="359673"/>
                </a:lnTo>
                <a:lnTo>
                  <a:pt x="247319" y="362998"/>
                </a:lnTo>
                <a:lnTo>
                  <a:pt x="249991" y="373350"/>
                </a:lnTo>
                <a:lnTo>
                  <a:pt x="250882" y="384876"/>
                </a:lnTo>
                <a:lnTo>
                  <a:pt x="249991" y="396404"/>
                </a:lnTo>
                <a:lnTo>
                  <a:pt x="247319" y="406763"/>
                </a:lnTo>
                <a:lnTo>
                  <a:pt x="242943" y="415061"/>
                </a:lnTo>
                <a:lnTo>
                  <a:pt x="237234" y="421604"/>
                </a:lnTo>
                <a:lnTo>
                  <a:pt x="232441" y="425508"/>
                </a:lnTo>
                <a:lnTo>
                  <a:pt x="123952" y="425508"/>
                </a:lnTo>
                <a:lnTo>
                  <a:pt x="116836" y="426584"/>
                </a:lnTo>
                <a:lnTo>
                  <a:pt x="109721" y="429419"/>
                </a:lnTo>
                <a:lnTo>
                  <a:pt x="102606" y="433427"/>
                </a:lnTo>
                <a:lnTo>
                  <a:pt x="95491" y="438017"/>
                </a:lnTo>
                <a:lnTo>
                  <a:pt x="81258" y="443780"/>
                </a:lnTo>
                <a:lnTo>
                  <a:pt x="67024" y="451302"/>
                </a:lnTo>
                <a:lnTo>
                  <a:pt x="52789" y="459995"/>
                </a:lnTo>
                <a:lnTo>
                  <a:pt x="38557" y="469272"/>
                </a:lnTo>
                <a:close/>
              </a:path>
              <a:path w="328930" h="627379">
                <a:moveTo>
                  <a:pt x="245603" y="359673"/>
                </a:moveTo>
                <a:lnTo>
                  <a:pt x="171259" y="359673"/>
                </a:lnTo>
                <a:lnTo>
                  <a:pt x="190385" y="356737"/>
                </a:lnTo>
                <a:lnTo>
                  <a:pt x="198243" y="352246"/>
                </a:lnTo>
                <a:lnTo>
                  <a:pt x="206990" y="348927"/>
                </a:lnTo>
                <a:lnTo>
                  <a:pt x="215738" y="347951"/>
                </a:lnTo>
                <a:lnTo>
                  <a:pt x="223596" y="350489"/>
                </a:lnTo>
                <a:lnTo>
                  <a:pt x="231305" y="351563"/>
                </a:lnTo>
                <a:lnTo>
                  <a:pt x="239015" y="354396"/>
                </a:lnTo>
                <a:lnTo>
                  <a:pt x="244947" y="358402"/>
                </a:lnTo>
                <a:lnTo>
                  <a:pt x="245603" y="359673"/>
                </a:lnTo>
                <a:close/>
              </a:path>
              <a:path w="328930" h="627379">
                <a:moveTo>
                  <a:pt x="105872" y="626840"/>
                </a:moveTo>
                <a:lnTo>
                  <a:pt x="94308" y="621664"/>
                </a:lnTo>
                <a:lnTo>
                  <a:pt x="84523" y="610628"/>
                </a:lnTo>
                <a:lnTo>
                  <a:pt x="76517" y="594316"/>
                </a:lnTo>
                <a:lnTo>
                  <a:pt x="71767" y="594316"/>
                </a:lnTo>
                <a:lnTo>
                  <a:pt x="71767" y="588055"/>
                </a:lnTo>
                <a:lnTo>
                  <a:pt x="67017" y="581807"/>
                </a:lnTo>
                <a:lnTo>
                  <a:pt x="56641" y="544978"/>
                </a:lnTo>
                <a:lnTo>
                  <a:pt x="55160" y="521631"/>
                </a:lnTo>
                <a:lnTo>
                  <a:pt x="64355" y="501804"/>
                </a:lnTo>
                <a:lnTo>
                  <a:pt x="86004" y="475533"/>
                </a:lnTo>
                <a:lnTo>
                  <a:pt x="95939" y="465175"/>
                </a:lnTo>
                <a:lnTo>
                  <a:pt x="114023" y="442120"/>
                </a:lnTo>
                <a:lnTo>
                  <a:pt x="123952" y="431769"/>
                </a:lnTo>
                <a:lnTo>
                  <a:pt x="123952" y="425508"/>
                </a:lnTo>
                <a:lnTo>
                  <a:pt x="232441" y="425508"/>
                </a:lnTo>
                <a:lnTo>
                  <a:pt x="230637" y="426978"/>
                </a:lnTo>
                <a:lnTo>
                  <a:pt x="223596" y="431769"/>
                </a:lnTo>
                <a:lnTo>
                  <a:pt x="208771" y="445152"/>
                </a:lnTo>
                <a:lnTo>
                  <a:pt x="193944" y="459120"/>
                </a:lnTo>
                <a:lnTo>
                  <a:pt x="180894" y="476605"/>
                </a:lnTo>
                <a:lnTo>
                  <a:pt x="171399" y="500539"/>
                </a:lnTo>
                <a:lnTo>
                  <a:pt x="209359" y="500539"/>
                </a:lnTo>
                <a:lnTo>
                  <a:pt x="229601" y="503957"/>
                </a:lnTo>
                <a:lnTo>
                  <a:pt x="246727" y="513820"/>
                </a:lnTo>
                <a:lnTo>
                  <a:pt x="259403" y="529547"/>
                </a:lnTo>
                <a:lnTo>
                  <a:pt x="266293" y="550552"/>
                </a:lnTo>
                <a:lnTo>
                  <a:pt x="266518" y="569014"/>
                </a:lnTo>
                <a:lnTo>
                  <a:pt x="260959" y="585717"/>
                </a:lnTo>
                <a:lnTo>
                  <a:pt x="250952" y="598903"/>
                </a:lnTo>
                <a:lnTo>
                  <a:pt x="237832" y="606813"/>
                </a:lnTo>
                <a:lnTo>
                  <a:pt x="150423" y="620884"/>
                </a:lnTo>
                <a:lnTo>
                  <a:pt x="119214" y="625571"/>
                </a:lnTo>
                <a:lnTo>
                  <a:pt x="105872" y="626840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71485" y="4708097"/>
            <a:ext cx="178435" cy="610870"/>
          </a:xfrm>
          <a:custGeom>
            <a:avLst/>
            <a:gdLst/>
            <a:ahLst/>
            <a:cxnLst/>
            <a:rect l="l" t="t" r="r" b="b"/>
            <a:pathLst>
              <a:path w="178434" h="610870">
                <a:moveTo>
                  <a:pt x="41268" y="99221"/>
                </a:moveTo>
                <a:lnTo>
                  <a:pt x="30657" y="98927"/>
                </a:lnTo>
                <a:lnTo>
                  <a:pt x="20046" y="97460"/>
                </a:lnTo>
                <a:lnTo>
                  <a:pt x="9436" y="96579"/>
                </a:lnTo>
                <a:lnTo>
                  <a:pt x="5968" y="90896"/>
                </a:lnTo>
                <a:lnTo>
                  <a:pt x="2946" y="84038"/>
                </a:lnTo>
                <a:lnTo>
                  <a:pt x="810" y="77180"/>
                </a:lnTo>
                <a:lnTo>
                  <a:pt x="0" y="71497"/>
                </a:lnTo>
                <a:lnTo>
                  <a:pt x="9436" y="58962"/>
                </a:lnTo>
                <a:lnTo>
                  <a:pt x="14147" y="58962"/>
                </a:lnTo>
                <a:lnTo>
                  <a:pt x="29037" y="51617"/>
                </a:lnTo>
                <a:lnTo>
                  <a:pt x="44810" y="47210"/>
                </a:lnTo>
                <a:lnTo>
                  <a:pt x="60580" y="43976"/>
                </a:lnTo>
                <a:lnTo>
                  <a:pt x="75463" y="40153"/>
                </a:lnTo>
                <a:lnTo>
                  <a:pt x="86149" y="30850"/>
                </a:lnTo>
                <a:lnTo>
                  <a:pt x="97280" y="22133"/>
                </a:lnTo>
                <a:lnTo>
                  <a:pt x="109294" y="14591"/>
                </a:lnTo>
                <a:lnTo>
                  <a:pt x="122631" y="8810"/>
                </a:lnTo>
                <a:lnTo>
                  <a:pt x="131033" y="4308"/>
                </a:lnTo>
                <a:lnTo>
                  <a:pt x="140317" y="978"/>
                </a:lnTo>
                <a:lnTo>
                  <a:pt x="147832" y="0"/>
                </a:lnTo>
                <a:lnTo>
                  <a:pt x="150926" y="2548"/>
                </a:lnTo>
                <a:lnTo>
                  <a:pt x="157120" y="13028"/>
                </a:lnTo>
                <a:lnTo>
                  <a:pt x="161545" y="25270"/>
                </a:lnTo>
                <a:lnTo>
                  <a:pt x="164201" y="38687"/>
                </a:lnTo>
                <a:lnTo>
                  <a:pt x="165087" y="52688"/>
                </a:lnTo>
                <a:lnTo>
                  <a:pt x="169798" y="52688"/>
                </a:lnTo>
                <a:lnTo>
                  <a:pt x="160362" y="65236"/>
                </a:lnTo>
                <a:lnTo>
                  <a:pt x="157455" y="71497"/>
                </a:lnTo>
                <a:lnTo>
                  <a:pt x="108483" y="71497"/>
                </a:lnTo>
                <a:lnTo>
                  <a:pt x="94331" y="77180"/>
                </a:lnTo>
                <a:lnTo>
                  <a:pt x="66031" y="90896"/>
                </a:lnTo>
                <a:lnTo>
                  <a:pt x="51879" y="96579"/>
                </a:lnTo>
                <a:lnTo>
                  <a:pt x="41268" y="99221"/>
                </a:lnTo>
                <a:close/>
              </a:path>
              <a:path w="178434" h="610870">
                <a:moveTo>
                  <a:pt x="127455" y="235758"/>
                </a:moveTo>
                <a:lnTo>
                  <a:pt x="70311" y="235758"/>
                </a:lnTo>
                <a:lnTo>
                  <a:pt x="77828" y="230566"/>
                </a:lnTo>
                <a:lnTo>
                  <a:pt x="81807" y="219499"/>
                </a:lnTo>
                <a:lnTo>
                  <a:pt x="84899" y="203145"/>
                </a:lnTo>
                <a:lnTo>
                  <a:pt x="89245" y="171116"/>
                </a:lnTo>
                <a:lnTo>
                  <a:pt x="94919" y="139674"/>
                </a:lnTo>
                <a:lnTo>
                  <a:pt x="101480" y="107054"/>
                </a:lnTo>
                <a:lnTo>
                  <a:pt x="108483" y="71497"/>
                </a:lnTo>
                <a:lnTo>
                  <a:pt x="157455" y="71497"/>
                </a:lnTo>
                <a:lnTo>
                  <a:pt x="141943" y="104899"/>
                </a:lnTo>
                <a:lnTo>
                  <a:pt x="133248" y="147505"/>
                </a:lnTo>
                <a:lnTo>
                  <a:pt x="129859" y="191289"/>
                </a:lnTo>
                <a:lnTo>
                  <a:pt x="127355" y="234489"/>
                </a:lnTo>
                <a:lnTo>
                  <a:pt x="127455" y="235758"/>
                </a:lnTo>
                <a:close/>
              </a:path>
              <a:path w="178434" h="610870">
                <a:moveTo>
                  <a:pt x="177805" y="272093"/>
                </a:moveTo>
                <a:lnTo>
                  <a:pt x="141503" y="272093"/>
                </a:lnTo>
                <a:lnTo>
                  <a:pt x="148573" y="257891"/>
                </a:lnTo>
                <a:lnTo>
                  <a:pt x="155646" y="243102"/>
                </a:lnTo>
                <a:lnTo>
                  <a:pt x="162722" y="227138"/>
                </a:lnTo>
                <a:lnTo>
                  <a:pt x="169798" y="209406"/>
                </a:lnTo>
                <a:lnTo>
                  <a:pt x="173849" y="236639"/>
                </a:lnTo>
                <a:lnTo>
                  <a:pt x="177460" y="262692"/>
                </a:lnTo>
                <a:lnTo>
                  <a:pt x="177805" y="272093"/>
                </a:lnTo>
                <a:close/>
              </a:path>
              <a:path w="178434" h="610870">
                <a:moveTo>
                  <a:pt x="99047" y="610599"/>
                </a:moveTo>
                <a:lnTo>
                  <a:pt x="88510" y="606881"/>
                </a:lnTo>
                <a:lnTo>
                  <a:pt x="78414" y="604336"/>
                </a:lnTo>
                <a:lnTo>
                  <a:pt x="69202" y="601789"/>
                </a:lnTo>
                <a:lnTo>
                  <a:pt x="61315" y="598064"/>
                </a:lnTo>
                <a:lnTo>
                  <a:pt x="42155" y="585332"/>
                </a:lnTo>
                <a:lnTo>
                  <a:pt x="28300" y="566722"/>
                </a:lnTo>
                <a:lnTo>
                  <a:pt x="21519" y="543409"/>
                </a:lnTo>
                <a:lnTo>
                  <a:pt x="23583" y="516568"/>
                </a:lnTo>
                <a:lnTo>
                  <a:pt x="51879" y="384933"/>
                </a:lnTo>
                <a:lnTo>
                  <a:pt x="57704" y="355742"/>
                </a:lnTo>
                <a:lnTo>
                  <a:pt x="59550" y="325378"/>
                </a:lnTo>
                <a:lnTo>
                  <a:pt x="55204" y="295016"/>
                </a:lnTo>
                <a:lnTo>
                  <a:pt x="42456" y="265832"/>
                </a:lnTo>
                <a:lnTo>
                  <a:pt x="38696" y="250353"/>
                </a:lnTo>
                <a:lnTo>
                  <a:pt x="40686" y="240754"/>
                </a:lnTo>
                <a:lnTo>
                  <a:pt x="47097" y="235859"/>
                </a:lnTo>
                <a:lnTo>
                  <a:pt x="56603" y="234489"/>
                </a:lnTo>
                <a:lnTo>
                  <a:pt x="70311" y="235758"/>
                </a:lnTo>
                <a:lnTo>
                  <a:pt x="127455" y="235758"/>
                </a:lnTo>
                <a:lnTo>
                  <a:pt x="128091" y="243890"/>
                </a:lnTo>
                <a:lnTo>
                  <a:pt x="131331" y="262694"/>
                </a:lnTo>
                <a:lnTo>
                  <a:pt x="132067" y="272093"/>
                </a:lnTo>
                <a:lnTo>
                  <a:pt x="177805" y="272093"/>
                </a:lnTo>
                <a:lnTo>
                  <a:pt x="178417" y="288746"/>
                </a:lnTo>
                <a:lnTo>
                  <a:pt x="174510" y="315972"/>
                </a:lnTo>
                <a:lnTo>
                  <a:pt x="160364" y="363967"/>
                </a:lnTo>
                <a:lnTo>
                  <a:pt x="132066" y="462311"/>
                </a:lnTo>
                <a:lnTo>
                  <a:pt x="117919" y="510307"/>
                </a:lnTo>
                <a:lnTo>
                  <a:pt x="112316" y="533913"/>
                </a:lnTo>
                <a:lnTo>
                  <a:pt x="108483" y="558105"/>
                </a:lnTo>
                <a:lnTo>
                  <a:pt x="104649" y="583472"/>
                </a:lnTo>
                <a:lnTo>
                  <a:pt x="99047" y="610599"/>
                </a:lnTo>
                <a:close/>
              </a:path>
            </a:pathLst>
          </a:custGeom>
          <a:solidFill>
            <a:srgbClr val="FFFFFF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56615" y="515112"/>
            <a:ext cx="1722120" cy="5044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195995" y="1355991"/>
            <a:ext cx="0" cy="4590415"/>
          </a:xfrm>
          <a:custGeom>
            <a:avLst/>
            <a:gdLst/>
            <a:ahLst/>
            <a:cxnLst/>
            <a:rect l="l" t="t" r="r" b="b"/>
            <a:pathLst>
              <a:path w="0" h="4590415">
                <a:moveTo>
                  <a:pt x="0" y="0"/>
                </a:moveTo>
                <a:lnTo>
                  <a:pt x="0" y="458984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641905" y="1400594"/>
            <a:ext cx="0" cy="4545330"/>
          </a:xfrm>
          <a:custGeom>
            <a:avLst/>
            <a:gdLst/>
            <a:ahLst/>
            <a:cxnLst/>
            <a:rect l="l" t="t" r="r" b="b"/>
            <a:pathLst>
              <a:path w="0" h="4545330">
                <a:moveTo>
                  <a:pt x="0" y="0"/>
                </a:moveTo>
                <a:lnTo>
                  <a:pt x="0" y="4545241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740647" y="1788477"/>
            <a:ext cx="392811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0275" algn="l"/>
              </a:tabLst>
            </a:pPr>
            <a:r>
              <a:rPr dirty="0" sz="4500" b="1">
                <a:latin typeface="微软雅黑"/>
                <a:cs typeface="微软雅黑"/>
              </a:rPr>
              <a:t>第</a:t>
            </a:r>
            <a:r>
              <a:rPr dirty="0" sz="4500" spc="-5" b="1">
                <a:latin typeface="微软雅黑"/>
                <a:cs typeface="微软雅黑"/>
              </a:rPr>
              <a:t>11</a:t>
            </a:r>
            <a:r>
              <a:rPr dirty="0" sz="4500" b="1">
                <a:latin typeface="微软雅黑"/>
                <a:cs typeface="微软雅黑"/>
              </a:rPr>
              <a:t>章	多线程</a:t>
            </a:r>
            <a:endParaRPr sz="45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661907" y="3865397"/>
            <a:ext cx="5465445" cy="0"/>
          </a:xfrm>
          <a:custGeom>
            <a:avLst/>
            <a:gdLst/>
            <a:ahLst/>
            <a:cxnLst/>
            <a:rect l="l" t="t" r="r" b="b"/>
            <a:pathLst>
              <a:path w="5465445" h="0">
                <a:moveTo>
                  <a:pt x="0" y="0"/>
                </a:moveTo>
                <a:lnTo>
                  <a:pt x="546533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3589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本章知识点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1417955"/>
            <a:ext cx="4806950" cy="440563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进程与线程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线程的创建与执行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线程的生命周期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新建、就绪、运行、阻塞、死亡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线程的同步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10">
                <a:latin typeface="微软雅黑"/>
                <a:cs typeface="微软雅黑"/>
              </a:rPr>
              <a:t>synchronized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同步机制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同步代码块、同步方法</a:t>
            </a:r>
            <a:endParaRPr sz="24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5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线程通信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 spc="-5">
                <a:latin typeface="微软雅黑"/>
                <a:cs typeface="微软雅黑"/>
              </a:rPr>
              <a:t>Wait(),notify(),notifyAll()</a:t>
            </a:r>
            <a:endParaRPr sz="24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8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2400">
                <a:latin typeface="微软雅黑"/>
                <a:cs typeface="微软雅黑"/>
              </a:rPr>
              <a:t>生产者与消费者模型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86534"/>
            <a:ext cx="7512050" cy="108648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84150" marR="5080" indent="-171450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线程作为处理器调度和分配的基本单位，而进程是作为拥有资源的基本单 位。</a:t>
            </a:r>
            <a:endParaRPr sz="1800">
              <a:latin typeface="微软雅黑"/>
              <a:cs typeface="微软雅黑"/>
            </a:endParaRPr>
          </a:p>
          <a:p>
            <a:pPr marL="184150" marR="5080" indent="-171450">
              <a:lnSpc>
                <a:spcPts val="1939"/>
              </a:lnSpc>
              <a:spcBef>
                <a:spcPts val="37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进程是拥有资源的一个独立单位，有自己独立的地址空间；线程不拥有系 统资源，但可以访问隶属于进程的资源，共享进程的地址空间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1590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进程和线程的关系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12519" y="3116579"/>
            <a:ext cx="5256276" cy="2700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98550" y="3102482"/>
            <a:ext cx="5285105" cy="2729230"/>
          </a:xfrm>
          <a:custGeom>
            <a:avLst/>
            <a:gdLst/>
            <a:ahLst/>
            <a:cxnLst/>
            <a:rect l="l" t="t" r="r" b="b"/>
            <a:pathLst>
              <a:path w="5285105" h="2729229">
                <a:moveTo>
                  <a:pt x="14287" y="2714586"/>
                </a:moveTo>
                <a:lnTo>
                  <a:pt x="0" y="2714586"/>
                </a:lnTo>
                <a:lnTo>
                  <a:pt x="0" y="2485986"/>
                </a:lnTo>
                <a:lnTo>
                  <a:pt x="28575" y="2485986"/>
                </a:lnTo>
                <a:lnTo>
                  <a:pt x="28575" y="2700299"/>
                </a:lnTo>
                <a:lnTo>
                  <a:pt x="14287" y="2700299"/>
                </a:lnTo>
                <a:lnTo>
                  <a:pt x="14287" y="2714586"/>
                </a:lnTo>
                <a:close/>
              </a:path>
              <a:path w="5285105" h="2729229">
                <a:moveTo>
                  <a:pt x="211518" y="2728874"/>
                </a:moveTo>
                <a:lnTo>
                  <a:pt x="14287" y="2728874"/>
                </a:lnTo>
                <a:lnTo>
                  <a:pt x="14287" y="2700299"/>
                </a:lnTo>
                <a:lnTo>
                  <a:pt x="28575" y="2700299"/>
                </a:lnTo>
                <a:lnTo>
                  <a:pt x="28575" y="2714586"/>
                </a:lnTo>
                <a:lnTo>
                  <a:pt x="211518" y="2714586"/>
                </a:lnTo>
                <a:lnTo>
                  <a:pt x="211518" y="2728874"/>
                </a:lnTo>
                <a:close/>
              </a:path>
              <a:path w="5285105" h="2729229">
                <a:moveTo>
                  <a:pt x="211518" y="2714586"/>
                </a:moveTo>
                <a:lnTo>
                  <a:pt x="28575" y="2714586"/>
                </a:lnTo>
                <a:lnTo>
                  <a:pt x="28575" y="2700299"/>
                </a:lnTo>
                <a:lnTo>
                  <a:pt x="211518" y="2700299"/>
                </a:lnTo>
                <a:lnTo>
                  <a:pt x="211518" y="2714586"/>
                </a:lnTo>
                <a:close/>
              </a:path>
              <a:path w="5285105" h="2729229">
                <a:moveTo>
                  <a:pt x="28575" y="2400261"/>
                </a:moveTo>
                <a:lnTo>
                  <a:pt x="0" y="2400261"/>
                </a:lnTo>
                <a:lnTo>
                  <a:pt x="0" y="2171661"/>
                </a:lnTo>
                <a:lnTo>
                  <a:pt x="28575" y="2171661"/>
                </a:lnTo>
                <a:lnTo>
                  <a:pt x="28575" y="2400261"/>
                </a:lnTo>
                <a:close/>
              </a:path>
              <a:path w="5285105" h="2729229">
                <a:moveTo>
                  <a:pt x="28575" y="2085936"/>
                </a:moveTo>
                <a:lnTo>
                  <a:pt x="0" y="2085936"/>
                </a:lnTo>
                <a:lnTo>
                  <a:pt x="0" y="1857336"/>
                </a:lnTo>
                <a:lnTo>
                  <a:pt x="28575" y="1857336"/>
                </a:lnTo>
                <a:lnTo>
                  <a:pt x="28575" y="2085936"/>
                </a:lnTo>
                <a:close/>
              </a:path>
              <a:path w="5285105" h="2729229">
                <a:moveTo>
                  <a:pt x="28575" y="1771611"/>
                </a:moveTo>
                <a:lnTo>
                  <a:pt x="0" y="1771611"/>
                </a:lnTo>
                <a:lnTo>
                  <a:pt x="0" y="1543011"/>
                </a:lnTo>
                <a:lnTo>
                  <a:pt x="28575" y="1543011"/>
                </a:lnTo>
                <a:lnTo>
                  <a:pt x="28575" y="1771611"/>
                </a:lnTo>
                <a:close/>
              </a:path>
              <a:path w="5285105" h="2729229">
                <a:moveTo>
                  <a:pt x="28575" y="1457286"/>
                </a:moveTo>
                <a:lnTo>
                  <a:pt x="0" y="1457286"/>
                </a:lnTo>
                <a:lnTo>
                  <a:pt x="0" y="1228686"/>
                </a:lnTo>
                <a:lnTo>
                  <a:pt x="28575" y="1228686"/>
                </a:lnTo>
                <a:lnTo>
                  <a:pt x="28575" y="1457286"/>
                </a:lnTo>
                <a:close/>
              </a:path>
              <a:path w="5285105" h="2729229">
                <a:moveTo>
                  <a:pt x="28575" y="1142961"/>
                </a:moveTo>
                <a:lnTo>
                  <a:pt x="0" y="1142961"/>
                </a:lnTo>
                <a:lnTo>
                  <a:pt x="0" y="914361"/>
                </a:lnTo>
                <a:lnTo>
                  <a:pt x="28575" y="914361"/>
                </a:lnTo>
                <a:lnTo>
                  <a:pt x="28575" y="1142961"/>
                </a:lnTo>
                <a:close/>
              </a:path>
              <a:path w="5285105" h="2729229">
                <a:moveTo>
                  <a:pt x="28575" y="828636"/>
                </a:moveTo>
                <a:lnTo>
                  <a:pt x="0" y="828636"/>
                </a:lnTo>
                <a:lnTo>
                  <a:pt x="0" y="600036"/>
                </a:lnTo>
                <a:lnTo>
                  <a:pt x="28575" y="600036"/>
                </a:lnTo>
                <a:lnTo>
                  <a:pt x="28575" y="828636"/>
                </a:lnTo>
                <a:close/>
              </a:path>
              <a:path w="5285105" h="2729229">
                <a:moveTo>
                  <a:pt x="28575" y="514311"/>
                </a:moveTo>
                <a:lnTo>
                  <a:pt x="0" y="514311"/>
                </a:lnTo>
                <a:lnTo>
                  <a:pt x="0" y="285711"/>
                </a:lnTo>
                <a:lnTo>
                  <a:pt x="28575" y="285711"/>
                </a:lnTo>
                <a:lnTo>
                  <a:pt x="28575" y="514311"/>
                </a:lnTo>
                <a:close/>
              </a:path>
              <a:path w="5285105" h="2729229">
                <a:moveTo>
                  <a:pt x="28575" y="199986"/>
                </a:moveTo>
                <a:lnTo>
                  <a:pt x="0" y="199986"/>
                </a:lnTo>
                <a:lnTo>
                  <a:pt x="0" y="0"/>
                </a:lnTo>
                <a:lnTo>
                  <a:pt x="57188" y="0"/>
                </a:lnTo>
                <a:lnTo>
                  <a:pt x="57188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99986"/>
                </a:lnTo>
                <a:close/>
              </a:path>
              <a:path w="5285105" h="272922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285105" h="2729229">
                <a:moveTo>
                  <a:pt x="57188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7188" y="14287"/>
                </a:lnTo>
                <a:lnTo>
                  <a:pt x="57188" y="28575"/>
                </a:lnTo>
                <a:close/>
              </a:path>
              <a:path w="5285105" h="2729229">
                <a:moveTo>
                  <a:pt x="371513" y="28575"/>
                </a:moveTo>
                <a:lnTo>
                  <a:pt x="142913" y="28575"/>
                </a:lnTo>
                <a:lnTo>
                  <a:pt x="142913" y="0"/>
                </a:lnTo>
                <a:lnTo>
                  <a:pt x="371513" y="0"/>
                </a:lnTo>
                <a:lnTo>
                  <a:pt x="371513" y="28575"/>
                </a:lnTo>
                <a:close/>
              </a:path>
              <a:path w="5285105" h="2729229">
                <a:moveTo>
                  <a:pt x="685838" y="28575"/>
                </a:moveTo>
                <a:lnTo>
                  <a:pt x="457238" y="28575"/>
                </a:lnTo>
                <a:lnTo>
                  <a:pt x="457238" y="0"/>
                </a:lnTo>
                <a:lnTo>
                  <a:pt x="685838" y="0"/>
                </a:lnTo>
                <a:lnTo>
                  <a:pt x="685838" y="28575"/>
                </a:lnTo>
                <a:close/>
              </a:path>
              <a:path w="5285105" h="2729229">
                <a:moveTo>
                  <a:pt x="1000163" y="28575"/>
                </a:moveTo>
                <a:lnTo>
                  <a:pt x="771563" y="28575"/>
                </a:lnTo>
                <a:lnTo>
                  <a:pt x="771563" y="0"/>
                </a:lnTo>
                <a:lnTo>
                  <a:pt x="1000163" y="0"/>
                </a:lnTo>
                <a:lnTo>
                  <a:pt x="1000163" y="28575"/>
                </a:lnTo>
                <a:close/>
              </a:path>
              <a:path w="5285105" h="2729229">
                <a:moveTo>
                  <a:pt x="1314488" y="28575"/>
                </a:moveTo>
                <a:lnTo>
                  <a:pt x="1085888" y="28575"/>
                </a:lnTo>
                <a:lnTo>
                  <a:pt x="1085888" y="0"/>
                </a:lnTo>
                <a:lnTo>
                  <a:pt x="1314488" y="0"/>
                </a:lnTo>
                <a:lnTo>
                  <a:pt x="1314488" y="28575"/>
                </a:lnTo>
                <a:close/>
              </a:path>
              <a:path w="5285105" h="2729229">
                <a:moveTo>
                  <a:pt x="1628813" y="28575"/>
                </a:moveTo>
                <a:lnTo>
                  <a:pt x="1400213" y="28575"/>
                </a:lnTo>
                <a:lnTo>
                  <a:pt x="1400213" y="0"/>
                </a:lnTo>
                <a:lnTo>
                  <a:pt x="1628813" y="0"/>
                </a:lnTo>
                <a:lnTo>
                  <a:pt x="1628813" y="28575"/>
                </a:lnTo>
                <a:close/>
              </a:path>
              <a:path w="5285105" h="2729229">
                <a:moveTo>
                  <a:pt x="1943138" y="28575"/>
                </a:moveTo>
                <a:lnTo>
                  <a:pt x="1714538" y="28575"/>
                </a:lnTo>
                <a:lnTo>
                  <a:pt x="1714538" y="0"/>
                </a:lnTo>
                <a:lnTo>
                  <a:pt x="1943138" y="0"/>
                </a:lnTo>
                <a:lnTo>
                  <a:pt x="1943138" y="28575"/>
                </a:lnTo>
                <a:close/>
              </a:path>
              <a:path w="5285105" h="2729229">
                <a:moveTo>
                  <a:pt x="2257463" y="28575"/>
                </a:moveTo>
                <a:lnTo>
                  <a:pt x="2028863" y="28575"/>
                </a:lnTo>
                <a:lnTo>
                  <a:pt x="2028863" y="0"/>
                </a:lnTo>
                <a:lnTo>
                  <a:pt x="2257463" y="0"/>
                </a:lnTo>
                <a:lnTo>
                  <a:pt x="2257463" y="28575"/>
                </a:lnTo>
                <a:close/>
              </a:path>
              <a:path w="5285105" h="2729229">
                <a:moveTo>
                  <a:pt x="2571788" y="28575"/>
                </a:moveTo>
                <a:lnTo>
                  <a:pt x="2343188" y="28575"/>
                </a:lnTo>
                <a:lnTo>
                  <a:pt x="2343188" y="0"/>
                </a:lnTo>
                <a:lnTo>
                  <a:pt x="2571788" y="0"/>
                </a:lnTo>
                <a:lnTo>
                  <a:pt x="2571788" y="28575"/>
                </a:lnTo>
                <a:close/>
              </a:path>
              <a:path w="5285105" h="2729229">
                <a:moveTo>
                  <a:pt x="2886113" y="28575"/>
                </a:moveTo>
                <a:lnTo>
                  <a:pt x="2657513" y="28575"/>
                </a:lnTo>
                <a:lnTo>
                  <a:pt x="2657513" y="0"/>
                </a:lnTo>
                <a:lnTo>
                  <a:pt x="2886113" y="0"/>
                </a:lnTo>
                <a:lnTo>
                  <a:pt x="2886113" y="28575"/>
                </a:lnTo>
                <a:close/>
              </a:path>
              <a:path w="5285105" h="2729229">
                <a:moveTo>
                  <a:pt x="3200438" y="28575"/>
                </a:moveTo>
                <a:lnTo>
                  <a:pt x="2971838" y="28575"/>
                </a:lnTo>
                <a:lnTo>
                  <a:pt x="2971838" y="0"/>
                </a:lnTo>
                <a:lnTo>
                  <a:pt x="3200438" y="0"/>
                </a:lnTo>
                <a:lnTo>
                  <a:pt x="3200438" y="28575"/>
                </a:lnTo>
                <a:close/>
              </a:path>
              <a:path w="5285105" h="2729229">
                <a:moveTo>
                  <a:pt x="3514763" y="28575"/>
                </a:moveTo>
                <a:lnTo>
                  <a:pt x="3286163" y="28575"/>
                </a:lnTo>
                <a:lnTo>
                  <a:pt x="3286163" y="0"/>
                </a:lnTo>
                <a:lnTo>
                  <a:pt x="3514763" y="0"/>
                </a:lnTo>
                <a:lnTo>
                  <a:pt x="3514763" y="28575"/>
                </a:lnTo>
                <a:close/>
              </a:path>
              <a:path w="5285105" h="2729229">
                <a:moveTo>
                  <a:pt x="3829088" y="28575"/>
                </a:moveTo>
                <a:lnTo>
                  <a:pt x="3600488" y="28575"/>
                </a:lnTo>
                <a:lnTo>
                  <a:pt x="3600488" y="0"/>
                </a:lnTo>
                <a:lnTo>
                  <a:pt x="3829088" y="0"/>
                </a:lnTo>
                <a:lnTo>
                  <a:pt x="3829088" y="28575"/>
                </a:lnTo>
                <a:close/>
              </a:path>
              <a:path w="5285105" h="2729229">
                <a:moveTo>
                  <a:pt x="4143413" y="28575"/>
                </a:moveTo>
                <a:lnTo>
                  <a:pt x="3914813" y="28575"/>
                </a:lnTo>
                <a:lnTo>
                  <a:pt x="3914813" y="0"/>
                </a:lnTo>
                <a:lnTo>
                  <a:pt x="4143413" y="0"/>
                </a:lnTo>
                <a:lnTo>
                  <a:pt x="4143413" y="28575"/>
                </a:lnTo>
                <a:close/>
              </a:path>
              <a:path w="5285105" h="2729229">
                <a:moveTo>
                  <a:pt x="4457738" y="28575"/>
                </a:moveTo>
                <a:lnTo>
                  <a:pt x="4229138" y="28575"/>
                </a:lnTo>
                <a:lnTo>
                  <a:pt x="4229138" y="0"/>
                </a:lnTo>
                <a:lnTo>
                  <a:pt x="4457738" y="0"/>
                </a:lnTo>
                <a:lnTo>
                  <a:pt x="4457738" y="28575"/>
                </a:lnTo>
                <a:close/>
              </a:path>
              <a:path w="5285105" h="2729229">
                <a:moveTo>
                  <a:pt x="4772063" y="28575"/>
                </a:moveTo>
                <a:lnTo>
                  <a:pt x="4543463" y="28575"/>
                </a:lnTo>
                <a:lnTo>
                  <a:pt x="4543463" y="0"/>
                </a:lnTo>
                <a:lnTo>
                  <a:pt x="4772063" y="0"/>
                </a:lnTo>
                <a:lnTo>
                  <a:pt x="4772063" y="28575"/>
                </a:lnTo>
                <a:close/>
              </a:path>
              <a:path w="5285105" h="2729229">
                <a:moveTo>
                  <a:pt x="5086388" y="28575"/>
                </a:moveTo>
                <a:lnTo>
                  <a:pt x="4857788" y="28575"/>
                </a:lnTo>
                <a:lnTo>
                  <a:pt x="4857788" y="0"/>
                </a:lnTo>
                <a:lnTo>
                  <a:pt x="5086388" y="0"/>
                </a:lnTo>
                <a:lnTo>
                  <a:pt x="5086388" y="28575"/>
                </a:lnTo>
                <a:close/>
              </a:path>
              <a:path w="5285105" h="2729229">
                <a:moveTo>
                  <a:pt x="5256441" y="28575"/>
                </a:moveTo>
                <a:lnTo>
                  <a:pt x="5172113" y="28575"/>
                </a:lnTo>
                <a:lnTo>
                  <a:pt x="5172113" y="0"/>
                </a:lnTo>
                <a:lnTo>
                  <a:pt x="5285016" y="0"/>
                </a:lnTo>
                <a:lnTo>
                  <a:pt x="5285016" y="14287"/>
                </a:lnTo>
                <a:lnTo>
                  <a:pt x="5256441" y="14287"/>
                </a:lnTo>
                <a:lnTo>
                  <a:pt x="5256441" y="28575"/>
                </a:lnTo>
                <a:close/>
              </a:path>
              <a:path w="5285105" h="2729229">
                <a:moveTo>
                  <a:pt x="5285016" y="144259"/>
                </a:moveTo>
                <a:lnTo>
                  <a:pt x="5256441" y="144259"/>
                </a:lnTo>
                <a:lnTo>
                  <a:pt x="5256441" y="14287"/>
                </a:lnTo>
                <a:lnTo>
                  <a:pt x="5270728" y="28575"/>
                </a:lnTo>
                <a:lnTo>
                  <a:pt x="5285016" y="28575"/>
                </a:lnTo>
                <a:lnTo>
                  <a:pt x="5285016" y="144259"/>
                </a:lnTo>
                <a:close/>
              </a:path>
              <a:path w="5285105" h="2729229">
                <a:moveTo>
                  <a:pt x="5285016" y="28575"/>
                </a:moveTo>
                <a:lnTo>
                  <a:pt x="5270728" y="28575"/>
                </a:lnTo>
                <a:lnTo>
                  <a:pt x="5256441" y="14287"/>
                </a:lnTo>
                <a:lnTo>
                  <a:pt x="5285016" y="14287"/>
                </a:lnTo>
                <a:lnTo>
                  <a:pt x="5285016" y="28575"/>
                </a:lnTo>
                <a:close/>
              </a:path>
              <a:path w="5285105" h="2729229">
                <a:moveTo>
                  <a:pt x="5285016" y="458584"/>
                </a:moveTo>
                <a:lnTo>
                  <a:pt x="5256441" y="458584"/>
                </a:lnTo>
                <a:lnTo>
                  <a:pt x="5256441" y="229984"/>
                </a:lnTo>
                <a:lnTo>
                  <a:pt x="5285016" y="229984"/>
                </a:lnTo>
                <a:lnTo>
                  <a:pt x="5285016" y="458584"/>
                </a:lnTo>
                <a:close/>
              </a:path>
              <a:path w="5285105" h="2729229">
                <a:moveTo>
                  <a:pt x="5285016" y="772909"/>
                </a:moveTo>
                <a:lnTo>
                  <a:pt x="5256441" y="772909"/>
                </a:lnTo>
                <a:lnTo>
                  <a:pt x="5256441" y="544309"/>
                </a:lnTo>
                <a:lnTo>
                  <a:pt x="5285016" y="544309"/>
                </a:lnTo>
                <a:lnTo>
                  <a:pt x="5285016" y="772909"/>
                </a:lnTo>
                <a:close/>
              </a:path>
              <a:path w="5285105" h="2729229">
                <a:moveTo>
                  <a:pt x="5285016" y="1087234"/>
                </a:moveTo>
                <a:lnTo>
                  <a:pt x="5256441" y="1087234"/>
                </a:lnTo>
                <a:lnTo>
                  <a:pt x="5256441" y="858634"/>
                </a:lnTo>
                <a:lnTo>
                  <a:pt x="5285016" y="858634"/>
                </a:lnTo>
                <a:lnTo>
                  <a:pt x="5285016" y="1087234"/>
                </a:lnTo>
                <a:close/>
              </a:path>
              <a:path w="5285105" h="2729229">
                <a:moveTo>
                  <a:pt x="5285016" y="1401559"/>
                </a:moveTo>
                <a:lnTo>
                  <a:pt x="5256441" y="1401559"/>
                </a:lnTo>
                <a:lnTo>
                  <a:pt x="5256441" y="1172959"/>
                </a:lnTo>
                <a:lnTo>
                  <a:pt x="5285016" y="1172959"/>
                </a:lnTo>
                <a:lnTo>
                  <a:pt x="5285016" y="1401559"/>
                </a:lnTo>
                <a:close/>
              </a:path>
              <a:path w="5285105" h="2729229">
                <a:moveTo>
                  <a:pt x="5285016" y="1715884"/>
                </a:moveTo>
                <a:lnTo>
                  <a:pt x="5256441" y="1715884"/>
                </a:lnTo>
                <a:lnTo>
                  <a:pt x="5256441" y="1487284"/>
                </a:lnTo>
                <a:lnTo>
                  <a:pt x="5285016" y="1487284"/>
                </a:lnTo>
                <a:lnTo>
                  <a:pt x="5285016" y="1715884"/>
                </a:lnTo>
                <a:close/>
              </a:path>
              <a:path w="5285105" h="2729229">
                <a:moveTo>
                  <a:pt x="5285016" y="2030209"/>
                </a:moveTo>
                <a:lnTo>
                  <a:pt x="5256441" y="2030209"/>
                </a:lnTo>
                <a:lnTo>
                  <a:pt x="5256441" y="1801609"/>
                </a:lnTo>
                <a:lnTo>
                  <a:pt x="5285016" y="1801609"/>
                </a:lnTo>
                <a:lnTo>
                  <a:pt x="5285016" y="2030209"/>
                </a:lnTo>
                <a:close/>
              </a:path>
              <a:path w="5285105" h="2729229">
                <a:moveTo>
                  <a:pt x="5285016" y="2344534"/>
                </a:moveTo>
                <a:lnTo>
                  <a:pt x="5256441" y="2344534"/>
                </a:lnTo>
                <a:lnTo>
                  <a:pt x="5256441" y="2115934"/>
                </a:lnTo>
                <a:lnTo>
                  <a:pt x="5285016" y="2115934"/>
                </a:lnTo>
                <a:lnTo>
                  <a:pt x="5285016" y="2344534"/>
                </a:lnTo>
                <a:close/>
              </a:path>
              <a:path w="5285105" h="2729229">
                <a:moveTo>
                  <a:pt x="5285016" y="2658859"/>
                </a:moveTo>
                <a:lnTo>
                  <a:pt x="5256441" y="2658859"/>
                </a:lnTo>
                <a:lnTo>
                  <a:pt x="5256441" y="2430259"/>
                </a:lnTo>
                <a:lnTo>
                  <a:pt x="5285016" y="2430259"/>
                </a:lnTo>
                <a:lnTo>
                  <a:pt x="5285016" y="2658859"/>
                </a:lnTo>
                <a:close/>
              </a:path>
              <a:path w="5285105" h="2729229">
                <a:moveTo>
                  <a:pt x="5240718" y="2728874"/>
                </a:moveTo>
                <a:lnTo>
                  <a:pt x="5012118" y="2728874"/>
                </a:lnTo>
                <a:lnTo>
                  <a:pt x="5012118" y="2700299"/>
                </a:lnTo>
                <a:lnTo>
                  <a:pt x="5240718" y="2700299"/>
                </a:lnTo>
                <a:lnTo>
                  <a:pt x="5240718" y="2728874"/>
                </a:lnTo>
                <a:close/>
              </a:path>
              <a:path w="5285105" h="2729229">
                <a:moveTo>
                  <a:pt x="4926393" y="2728874"/>
                </a:moveTo>
                <a:lnTo>
                  <a:pt x="4697793" y="2728874"/>
                </a:lnTo>
                <a:lnTo>
                  <a:pt x="4697793" y="2700299"/>
                </a:lnTo>
                <a:lnTo>
                  <a:pt x="4926393" y="2700299"/>
                </a:lnTo>
                <a:lnTo>
                  <a:pt x="4926393" y="2728874"/>
                </a:lnTo>
                <a:close/>
              </a:path>
              <a:path w="5285105" h="2729229">
                <a:moveTo>
                  <a:pt x="4612068" y="2728874"/>
                </a:moveTo>
                <a:lnTo>
                  <a:pt x="4383468" y="2728874"/>
                </a:lnTo>
                <a:lnTo>
                  <a:pt x="4383468" y="2700299"/>
                </a:lnTo>
                <a:lnTo>
                  <a:pt x="4612068" y="2700299"/>
                </a:lnTo>
                <a:lnTo>
                  <a:pt x="4612068" y="2728874"/>
                </a:lnTo>
                <a:close/>
              </a:path>
              <a:path w="5285105" h="2729229">
                <a:moveTo>
                  <a:pt x="4297743" y="2728874"/>
                </a:moveTo>
                <a:lnTo>
                  <a:pt x="4069143" y="2728874"/>
                </a:lnTo>
                <a:lnTo>
                  <a:pt x="4069143" y="2700299"/>
                </a:lnTo>
                <a:lnTo>
                  <a:pt x="4297743" y="2700299"/>
                </a:lnTo>
                <a:lnTo>
                  <a:pt x="4297743" y="2728874"/>
                </a:lnTo>
                <a:close/>
              </a:path>
              <a:path w="5285105" h="2729229">
                <a:moveTo>
                  <a:pt x="3983418" y="2728874"/>
                </a:moveTo>
                <a:lnTo>
                  <a:pt x="3754818" y="2728874"/>
                </a:lnTo>
                <a:lnTo>
                  <a:pt x="3754818" y="2700299"/>
                </a:lnTo>
                <a:lnTo>
                  <a:pt x="3983418" y="2700299"/>
                </a:lnTo>
                <a:lnTo>
                  <a:pt x="3983418" y="2728874"/>
                </a:lnTo>
                <a:close/>
              </a:path>
              <a:path w="5285105" h="2729229">
                <a:moveTo>
                  <a:pt x="3669093" y="2728874"/>
                </a:moveTo>
                <a:lnTo>
                  <a:pt x="3440493" y="2728874"/>
                </a:lnTo>
                <a:lnTo>
                  <a:pt x="3440493" y="2700299"/>
                </a:lnTo>
                <a:lnTo>
                  <a:pt x="3669093" y="2700299"/>
                </a:lnTo>
                <a:lnTo>
                  <a:pt x="3669093" y="2728874"/>
                </a:lnTo>
                <a:close/>
              </a:path>
              <a:path w="5285105" h="2729229">
                <a:moveTo>
                  <a:pt x="3354768" y="2728874"/>
                </a:moveTo>
                <a:lnTo>
                  <a:pt x="3126168" y="2728874"/>
                </a:lnTo>
                <a:lnTo>
                  <a:pt x="3126168" y="2700299"/>
                </a:lnTo>
                <a:lnTo>
                  <a:pt x="3354768" y="2700299"/>
                </a:lnTo>
                <a:lnTo>
                  <a:pt x="3354768" y="2728874"/>
                </a:lnTo>
                <a:close/>
              </a:path>
              <a:path w="5285105" h="2729229">
                <a:moveTo>
                  <a:pt x="3040443" y="2728874"/>
                </a:moveTo>
                <a:lnTo>
                  <a:pt x="2811843" y="2728874"/>
                </a:lnTo>
                <a:lnTo>
                  <a:pt x="2811843" y="2700299"/>
                </a:lnTo>
                <a:lnTo>
                  <a:pt x="3040443" y="2700299"/>
                </a:lnTo>
                <a:lnTo>
                  <a:pt x="3040443" y="2728874"/>
                </a:lnTo>
                <a:close/>
              </a:path>
              <a:path w="5285105" h="2729229">
                <a:moveTo>
                  <a:pt x="2726118" y="2728874"/>
                </a:moveTo>
                <a:lnTo>
                  <a:pt x="2497518" y="2728874"/>
                </a:lnTo>
                <a:lnTo>
                  <a:pt x="2497518" y="2700299"/>
                </a:lnTo>
                <a:lnTo>
                  <a:pt x="2726118" y="2700299"/>
                </a:lnTo>
                <a:lnTo>
                  <a:pt x="2726118" y="2728874"/>
                </a:lnTo>
                <a:close/>
              </a:path>
              <a:path w="5285105" h="2729229">
                <a:moveTo>
                  <a:pt x="2411793" y="2728874"/>
                </a:moveTo>
                <a:lnTo>
                  <a:pt x="2183193" y="2728874"/>
                </a:lnTo>
                <a:lnTo>
                  <a:pt x="2183193" y="2700299"/>
                </a:lnTo>
                <a:lnTo>
                  <a:pt x="2411793" y="2700299"/>
                </a:lnTo>
                <a:lnTo>
                  <a:pt x="2411793" y="2728874"/>
                </a:lnTo>
                <a:close/>
              </a:path>
              <a:path w="5285105" h="2729229">
                <a:moveTo>
                  <a:pt x="2097468" y="2728874"/>
                </a:moveTo>
                <a:lnTo>
                  <a:pt x="1868868" y="2728874"/>
                </a:lnTo>
                <a:lnTo>
                  <a:pt x="1868868" y="2700299"/>
                </a:lnTo>
                <a:lnTo>
                  <a:pt x="2097468" y="2700299"/>
                </a:lnTo>
                <a:lnTo>
                  <a:pt x="2097468" y="2728874"/>
                </a:lnTo>
                <a:close/>
              </a:path>
              <a:path w="5285105" h="2729229">
                <a:moveTo>
                  <a:pt x="1783143" y="2728874"/>
                </a:moveTo>
                <a:lnTo>
                  <a:pt x="1554543" y="2728874"/>
                </a:lnTo>
                <a:lnTo>
                  <a:pt x="1554543" y="2700299"/>
                </a:lnTo>
                <a:lnTo>
                  <a:pt x="1783143" y="2700299"/>
                </a:lnTo>
                <a:lnTo>
                  <a:pt x="1783143" y="2728874"/>
                </a:lnTo>
                <a:close/>
              </a:path>
              <a:path w="5285105" h="2729229">
                <a:moveTo>
                  <a:pt x="1468818" y="2728874"/>
                </a:moveTo>
                <a:lnTo>
                  <a:pt x="1240218" y="2728874"/>
                </a:lnTo>
                <a:lnTo>
                  <a:pt x="1240218" y="2700299"/>
                </a:lnTo>
                <a:lnTo>
                  <a:pt x="1468818" y="2700299"/>
                </a:lnTo>
                <a:lnTo>
                  <a:pt x="1468818" y="2728874"/>
                </a:lnTo>
                <a:close/>
              </a:path>
              <a:path w="5285105" h="2729229">
                <a:moveTo>
                  <a:pt x="1154493" y="2728874"/>
                </a:moveTo>
                <a:lnTo>
                  <a:pt x="925893" y="2728874"/>
                </a:lnTo>
                <a:lnTo>
                  <a:pt x="925893" y="2700299"/>
                </a:lnTo>
                <a:lnTo>
                  <a:pt x="1154493" y="2700299"/>
                </a:lnTo>
                <a:lnTo>
                  <a:pt x="1154493" y="2728874"/>
                </a:lnTo>
                <a:close/>
              </a:path>
              <a:path w="5285105" h="2729229">
                <a:moveTo>
                  <a:pt x="840168" y="2728874"/>
                </a:moveTo>
                <a:lnTo>
                  <a:pt x="611568" y="2728874"/>
                </a:lnTo>
                <a:lnTo>
                  <a:pt x="611568" y="2700299"/>
                </a:lnTo>
                <a:lnTo>
                  <a:pt x="840168" y="2700299"/>
                </a:lnTo>
                <a:lnTo>
                  <a:pt x="840168" y="2728874"/>
                </a:lnTo>
                <a:close/>
              </a:path>
              <a:path w="5285105" h="2729229">
                <a:moveTo>
                  <a:pt x="525843" y="2728874"/>
                </a:moveTo>
                <a:lnTo>
                  <a:pt x="297243" y="2728874"/>
                </a:lnTo>
                <a:lnTo>
                  <a:pt x="297243" y="2700299"/>
                </a:lnTo>
                <a:lnTo>
                  <a:pt x="525843" y="2700299"/>
                </a:lnTo>
                <a:lnTo>
                  <a:pt x="525843" y="2728874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78636" y="5420867"/>
            <a:ext cx="4946904" cy="2880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69123" y="5411533"/>
            <a:ext cx="4965700" cy="307340"/>
          </a:xfrm>
          <a:custGeom>
            <a:avLst/>
            <a:gdLst/>
            <a:ahLst/>
            <a:cxnLst/>
            <a:rect l="l" t="t" r="r" b="b"/>
            <a:pathLst>
              <a:path w="4965700" h="307339">
                <a:moveTo>
                  <a:pt x="4965661" y="307047"/>
                </a:moveTo>
                <a:lnTo>
                  <a:pt x="0" y="307047"/>
                </a:lnTo>
                <a:lnTo>
                  <a:pt x="0" y="0"/>
                </a:lnTo>
                <a:lnTo>
                  <a:pt x="4965661" y="0"/>
                </a:lnTo>
                <a:lnTo>
                  <a:pt x="4965661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4965661" y="297522"/>
                </a:lnTo>
                <a:lnTo>
                  <a:pt x="4965661" y="307047"/>
                </a:lnTo>
                <a:close/>
              </a:path>
              <a:path w="4965700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4965700" h="307339">
                <a:moveTo>
                  <a:pt x="494661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4946611" y="9525"/>
                </a:lnTo>
                <a:lnTo>
                  <a:pt x="4946611" y="19050"/>
                </a:lnTo>
                <a:close/>
              </a:path>
              <a:path w="4965700" h="307339">
                <a:moveTo>
                  <a:pt x="4946611" y="297522"/>
                </a:moveTo>
                <a:lnTo>
                  <a:pt x="4946611" y="9525"/>
                </a:lnTo>
                <a:lnTo>
                  <a:pt x="4956136" y="19050"/>
                </a:lnTo>
                <a:lnTo>
                  <a:pt x="4965661" y="19050"/>
                </a:lnTo>
                <a:lnTo>
                  <a:pt x="4965661" y="287997"/>
                </a:lnTo>
                <a:lnTo>
                  <a:pt x="4956136" y="287997"/>
                </a:lnTo>
                <a:lnTo>
                  <a:pt x="4946611" y="297522"/>
                </a:lnTo>
                <a:close/>
              </a:path>
              <a:path w="4965700" h="307339">
                <a:moveTo>
                  <a:pt x="4965661" y="19050"/>
                </a:moveTo>
                <a:lnTo>
                  <a:pt x="4956136" y="19050"/>
                </a:lnTo>
                <a:lnTo>
                  <a:pt x="4946611" y="9525"/>
                </a:lnTo>
                <a:lnTo>
                  <a:pt x="4965661" y="9525"/>
                </a:lnTo>
                <a:lnTo>
                  <a:pt x="4965661" y="19050"/>
                </a:lnTo>
                <a:close/>
              </a:path>
              <a:path w="4965700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4965700" h="307339">
                <a:moveTo>
                  <a:pt x="4946611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4946611" y="287997"/>
                </a:lnTo>
                <a:lnTo>
                  <a:pt x="4946611" y="297522"/>
                </a:lnTo>
                <a:close/>
              </a:path>
              <a:path w="4965700" h="307339">
                <a:moveTo>
                  <a:pt x="4965661" y="297522"/>
                </a:moveTo>
                <a:lnTo>
                  <a:pt x="4946611" y="297522"/>
                </a:lnTo>
                <a:lnTo>
                  <a:pt x="4956136" y="287997"/>
                </a:lnTo>
                <a:lnTo>
                  <a:pt x="4965661" y="287997"/>
                </a:lnTo>
                <a:lnTo>
                  <a:pt x="4965661" y="297522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284732" y="5061203"/>
            <a:ext cx="4940808" cy="2880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274686" y="5051488"/>
            <a:ext cx="4960620" cy="307340"/>
          </a:xfrm>
          <a:custGeom>
            <a:avLst/>
            <a:gdLst/>
            <a:ahLst/>
            <a:cxnLst/>
            <a:rect l="l" t="t" r="r" b="b"/>
            <a:pathLst>
              <a:path w="4960620" h="307339">
                <a:moveTo>
                  <a:pt x="4960099" y="307047"/>
                </a:moveTo>
                <a:lnTo>
                  <a:pt x="0" y="307047"/>
                </a:lnTo>
                <a:lnTo>
                  <a:pt x="0" y="0"/>
                </a:lnTo>
                <a:lnTo>
                  <a:pt x="4960099" y="0"/>
                </a:lnTo>
                <a:lnTo>
                  <a:pt x="4960099" y="9525"/>
                </a:lnTo>
                <a:lnTo>
                  <a:pt x="19050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287997"/>
                </a:lnTo>
                <a:lnTo>
                  <a:pt x="9525" y="287997"/>
                </a:lnTo>
                <a:lnTo>
                  <a:pt x="19050" y="297522"/>
                </a:lnTo>
                <a:lnTo>
                  <a:pt x="4960099" y="297522"/>
                </a:lnTo>
                <a:lnTo>
                  <a:pt x="4960099" y="307047"/>
                </a:lnTo>
                <a:close/>
              </a:path>
              <a:path w="4960620" h="307339">
                <a:moveTo>
                  <a:pt x="19050" y="19050"/>
                </a:moveTo>
                <a:lnTo>
                  <a:pt x="9525" y="19050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4960620" h="307339">
                <a:moveTo>
                  <a:pt x="4941049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4941049" y="9525"/>
                </a:lnTo>
                <a:lnTo>
                  <a:pt x="4941049" y="19050"/>
                </a:lnTo>
                <a:close/>
              </a:path>
              <a:path w="4960620" h="307339">
                <a:moveTo>
                  <a:pt x="4941049" y="297522"/>
                </a:moveTo>
                <a:lnTo>
                  <a:pt x="4941049" y="9525"/>
                </a:lnTo>
                <a:lnTo>
                  <a:pt x="4950574" y="19050"/>
                </a:lnTo>
                <a:lnTo>
                  <a:pt x="4960099" y="19050"/>
                </a:lnTo>
                <a:lnTo>
                  <a:pt x="4960099" y="287997"/>
                </a:lnTo>
                <a:lnTo>
                  <a:pt x="4950574" y="287997"/>
                </a:lnTo>
                <a:lnTo>
                  <a:pt x="4941049" y="297522"/>
                </a:lnTo>
                <a:close/>
              </a:path>
              <a:path w="4960620" h="307339">
                <a:moveTo>
                  <a:pt x="4960099" y="19050"/>
                </a:moveTo>
                <a:lnTo>
                  <a:pt x="4950574" y="19050"/>
                </a:lnTo>
                <a:lnTo>
                  <a:pt x="4941049" y="9525"/>
                </a:lnTo>
                <a:lnTo>
                  <a:pt x="4960099" y="9525"/>
                </a:lnTo>
                <a:lnTo>
                  <a:pt x="4960099" y="19050"/>
                </a:lnTo>
                <a:close/>
              </a:path>
              <a:path w="4960620" h="307339">
                <a:moveTo>
                  <a:pt x="19050" y="297522"/>
                </a:moveTo>
                <a:lnTo>
                  <a:pt x="9525" y="287997"/>
                </a:lnTo>
                <a:lnTo>
                  <a:pt x="19050" y="287997"/>
                </a:lnTo>
                <a:lnTo>
                  <a:pt x="19050" y="297522"/>
                </a:lnTo>
                <a:close/>
              </a:path>
              <a:path w="4960620" h="307339">
                <a:moveTo>
                  <a:pt x="4941049" y="297522"/>
                </a:moveTo>
                <a:lnTo>
                  <a:pt x="19050" y="297522"/>
                </a:lnTo>
                <a:lnTo>
                  <a:pt x="19050" y="287997"/>
                </a:lnTo>
                <a:lnTo>
                  <a:pt x="4941049" y="287997"/>
                </a:lnTo>
                <a:lnTo>
                  <a:pt x="4941049" y="297522"/>
                </a:lnTo>
                <a:close/>
              </a:path>
              <a:path w="4960620" h="307339">
                <a:moveTo>
                  <a:pt x="4960099" y="297522"/>
                </a:moveTo>
                <a:lnTo>
                  <a:pt x="4941049" y="297522"/>
                </a:lnTo>
                <a:lnTo>
                  <a:pt x="4950574" y="287997"/>
                </a:lnTo>
                <a:lnTo>
                  <a:pt x="4960099" y="287997"/>
                </a:lnTo>
                <a:lnTo>
                  <a:pt x="4960099" y="297522"/>
                </a:lnTo>
                <a:close/>
              </a:path>
            </a:pathLst>
          </a:custGeom>
          <a:solidFill>
            <a:srgbClr val="51C3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318260" y="3886200"/>
            <a:ext cx="1258824" cy="2880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13903" y="388266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318260" y="4262628"/>
            <a:ext cx="1258824" cy="2880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13903" y="425847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7997"/>
                </a:lnTo>
                <a:lnTo>
                  <a:pt x="3810" y="287997"/>
                </a:lnTo>
                <a:lnTo>
                  <a:pt x="7620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07"/>
                </a:moveTo>
                <a:lnTo>
                  <a:pt x="3810" y="287997"/>
                </a:lnTo>
                <a:lnTo>
                  <a:pt x="7620" y="287997"/>
                </a:lnTo>
                <a:lnTo>
                  <a:pt x="7620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20" y="291807"/>
                </a:lnTo>
                <a:lnTo>
                  <a:pt x="7620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328927" y="4628388"/>
            <a:ext cx="1258823" cy="28803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24673" y="4625162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09" y="287997"/>
                </a:lnTo>
                <a:lnTo>
                  <a:pt x="7619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09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57325" y="353052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36" y="1464805"/>
                </a:moveTo>
                <a:lnTo>
                  <a:pt x="0" y="1464805"/>
                </a:lnTo>
                <a:lnTo>
                  <a:pt x="0" y="0"/>
                </a:lnTo>
                <a:lnTo>
                  <a:pt x="1394536" y="0"/>
                </a:lnTo>
                <a:lnTo>
                  <a:pt x="139453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52105"/>
                </a:lnTo>
                <a:lnTo>
                  <a:pt x="6350" y="1452105"/>
                </a:lnTo>
                <a:lnTo>
                  <a:pt x="12700" y="1458455"/>
                </a:lnTo>
                <a:lnTo>
                  <a:pt x="1394536" y="1458455"/>
                </a:lnTo>
                <a:lnTo>
                  <a:pt x="1394536" y="1464805"/>
                </a:lnTo>
                <a:close/>
              </a:path>
              <a:path w="1395095" h="146494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95095" h="1464945">
                <a:moveTo>
                  <a:pt x="138183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81836" y="6350"/>
                </a:lnTo>
                <a:lnTo>
                  <a:pt x="1381836" y="12700"/>
                </a:lnTo>
                <a:close/>
              </a:path>
              <a:path w="1395095" h="1464945">
                <a:moveTo>
                  <a:pt x="1381836" y="1458455"/>
                </a:moveTo>
                <a:lnTo>
                  <a:pt x="1381836" y="6350"/>
                </a:lnTo>
                <a:lnTo>
                  <a:pt x="1388186" y="12700"/>
                </a:lnTo>
                <a:lnTo>
                  <a:pt x="1394536" y="12700"/>
                </a:lnTo>
                <a:lnTo>
                  <a:pt x="1394536" y="1452105"/>
                </a:lnTo>
                <a:lnTo>
                  <a:pt x="1388186" y="1452105"/>
                </a:lnTo>
                <a:lnTo>
                  <a:pt x="1381836" y="1458455"/>
                </a:lnTo>
                <a:close/>
              </a:path>
              <a:path w="1395095" h="1464945">
                <a:moveTo>
                  <a:pt x="1394536" y="12700"/>
                </a:moveTo>
                <a:lnTo>
                  <a:pt x="1388186" y="12700"/>
                </a:lnTo>
                <a:lnTo>
                  <a:pt x="1381836" y="6350"/>
                </a:lnTo>
                <a:lnTo>
                  <a:pt x="1394536" y="6350"/>
                </a:lnTo>
                <a:lnTo>
                  <a:pt x="1394536" y="12700"/>
                </a:lnTo>
                <a:close/>
              </a:path>
              <a:path w="1395095" h="1464945">
                <a:moveTo>
                  <a:pt x="12700" y="1458455"/>
                </a:moveTo>
                <a:lnTo>
                  <a:pt x="6350" y="1452105"/>
                </a:lnTo>
                <a:lnTo>
                  <a:pt x="12700" y="1452105"/>
                </a:lnTo>
                <a:lnTo>
                  <a:pt x="12700" y="1458455"/>
                </a:lnTo>
                <a:close/>
              </a:path>
              <a:path w="1395095" h="1464945">
                <a:moveTo>
                  <a:pt x="1381836" y="1458455"/>
                </a:moveTo>
                <a:lnTo>
                  <a:pt x="12700" y="1458455"/>
                </a:lnTo>
                <a:lnTo>
                  <a:pt x="12700" y="1452105"/>
                </a:lnTo>
                <a:lnTo>
                  <a:pt x="1381836" y="1452105"/>
                </a:lnTo>
                <a:lnTo>
                  <a:pt x="1381836" y="1458455"/>
                </a:lnTo>
                <a:close/>
              </a:path>
              <a:path w="1395095" h="1464945">
                <a:moveTo>
                  <a:pt x="1394536" y="1458455"/>
                </a:moveTo>
                <a:lnTo>
                  <a:pt x="1381836" y="1458455"/>
                </a:lnTo>
                <a:lnTo>
                  <a:pt x="1388186" y="1452105"/>
                </a:lnTo>
                <a:lnTo>
                  <a:pt x="1394536" y="1452105"/>
                </a:lnTo>
                <a:lnTo>
                  <a:pt x="1394536" y="145845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204277" y="3007601"/>
            <a:ext cx="1220470" cy="1874520"/>
          </a:xfrm>
          <a:prstGeom prst="rect">
            <a:avLst/>
          </a:prstGeom>
        </p:spPr>
        <p:txBody>
          <a:bodyPr wrap="square" lIns="0" tIns="1485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70"/>
              </a:spcBef>
            </a:pPr>
            <a:r>
              <a:rPr dirty="0" sz="2000" b="1">
                <a:latin typeface="微软雅黑"/>
                <a:cs typeface="微软雅黑"/>
              </a:rPr>
              <a:t>进</a:t>
            </a:r>
            <a:r>
              <a:rPr dirty="0" sz="2000" spc="5" b="1">
                <a:latin typeface="微软雅黑"/>
                <a:cs typeface="微软雅黑"/>
              </a:rPr>
              <a:t>程</a:t>
            </a:r>
            <a:endParaRPr sz="2000">
              <a:latin typeface="微软雅黑"/>
              <a:cs typeface="微软雅黑"/>
            </a:endParaRPr>
          </a:p>
          <a:p>
            <a:pPr algn="ctr" marL="279400">
              <a:lnSpc>
                <a:spcPct val="100000"/>
              </a:lnSpc>
              <a:spcBef>
                <a:spcPts val="840"/>
              </a:spcBef>
            </a:pPr>
            <a:r>
              <a:rPr dirty="0" sz="1600" b="1">
                <a:latin typeface="微软雅黑"/>
                <a:cs typeface="微软雅黑"/>
              </a:rPr>
              <a:t>主线</a:t>
            </a:r>
            <a:r>
              <a:rPr dirty="0" sz="1600" spc="-5" b="1">
                <a:latin typeface="微软雅黑"/>
                <a:cs typeface="微软雅黑"/>
              </a:rPr>
              <a:t>程</a:t>
            </a:r>
            <a:endParaRPr sz="1600">
              <a:latin typeface="微软雅黑"/>
              <a:cs typeface="微软雅黑"/>
            </a:endParaRPr>
          </a:p>
          <a:p>
            <a:pPr algn="ctr" marL="266700">
              <a:lnSpc>
                <a:spcPct val="100000"/>
              </a:lnSpc>
              <a:spcBef>
                <a:spcPts val="800"/>
              </a:spcBef>
            </a:pPr>
            <a:r>
              <a:rPr dirty="0" sz="1400" b="1">
                <a:latin typeface="微软雅黑"/>
                <a:cs typeface="微软雅黑"/>
              </a:rPr>
              <a:t>程序计数</a:t>
            </a:r>
            <a:r>
              <a:rPr dirty="0" sz="1400" spc="5" b="1">
                <a:latin typeface="微软雅黑"/>
                <a:cs typeface="微软雅黑"/>
              </a:rPr>
              <a:t>器</a:t>
            </a:r>
            <a:endParaRPr sz="1400">
              <a:latin typeface="微软雅黑"/>
              <a:cs typeface="微软雅黑"/>
            </a:endParaRPr>
          </a:p>
          <a:p>
            <a:pPr algn="ctr" marL="279400" marR="5080">
              <a:lnSpc>
                <a:spcPct val="171900"/>
              </a:lnSpc>
              <a:spcBef>
                <a:spcPts val="70"/>
              </a:spcBef>
            </a:pPr>
            <a:r>
              <a:rPr dirty="0" sz="1400" spc="-5" b="1">
                <a:latin typeface="微软雅黑"/>
                <a:cs typeface="微软雅黑"/>
              </a:rPr>
              <a:t>JVM栈内</a:t>
            </a:r>
            <a:r>
              <a:rPr dirty="0" sz="1400" b="1">
                <a:latin typeface="微软雅黑"/>
                <a:cs typeface="微软雅黑"/>
              </a:rPr>
              <a:t>存 </a:t>
            </a:r>
            <a:r>
              <a:rPr dirty="0" sz="1400" b="1">
                <a:latin typeface="微软雅黑"/>
                <a:cs typeface="微软雅黑"/>
              </a:rPr>
              <a:t>本地方法</a:t>
            </a:r>
            <a:r>
              <a:rPr dirty="0" sz="1400" spc="5" b="1">
                <a:latin typeface="微软雅黑"/>
                <a:cs typeface="微软雅黑"/>
              </a:rPr>
              <a:t>栈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45307" y="3886200"/>
            <a:ext cx="1258823" cy="2880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41053" y="3882669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09" y="287997"/>
                </a:lnTo>
                <a:lnTo>
                  <a:pt x="7619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09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45307" y="4262628"/>
            <a:ext cx="1258823" cy="28803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841053" y="4258474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09" y="287997"/>
                </a:lnTo>
                <a:lnTo>
                  <a:pt x="7619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09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855976" y="4628388"/>
            <a:ext cx="1260348" cy="2880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851823" y="4625162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19" y="3810"/>
                </a:lnTo>
                <a:lnTo>
                  <a:pt x="3810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10" y="287997"/>
                </a:lnTo>
                <a:lnTo>
                  <a:pt x="7619" y="291807"/>
                </a:lnTo>
                <a:lnTo>
                  <a:pt x="1267625" y="291807"/>
                </a:lnTo>
                <a:lnTo>
                  <a:pt x="1267625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10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7997"/>
                </a:lnTo>
                <a:lnTo>
                  <a:pt x="126381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10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60005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60005" y="287997"/>
                </a:lnTo>
                <a:lnTo>
                  <a:pt x="1260005" y="291807"/>
                </a:lnTo>
                <a:close/>
              </a:path>
              <a:path w="1268095" h="295910">
                <a:moveTo>
                  <a:pt x="1267625" y="291807"/>
                </a:moveTo>
                <a:lnTo>
                  <a:pt x="1260005" y="291807"/>
                </a:lnTo>
                <a:lnTo>
                  <a:pt x="1263815" y="287997"/>
                </a:lnTo>
                <a:lnTo>
                  <a:pt x="1267625" y="287997"/>
                </a:lnTo>
                <a:lnTo>
                  <a:pt x="1267625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011233" y="3899814"/>
            <a:ext cx="1060450" cy="1787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微软雅黑"/>
                <a:cs typeface="微软雅黑"/>
              </a:rPr>
              <a:t>程序计数</a:t>
            </a:r>
            <a:r>
              <a:rPr dirty="0" sz="1400" spc="5" b="1">
                <a:latin typeface="微软雅黑"/>
                <a:cs typeface="微软雅黑"/>
              </a:rPr>
              <a:t>器</a:t>
            </a:r>
            <a:endParaRPr sz="1400">
              <a:latin typeface="微软雅黑"/>
              <a:cs typeface="微软雅黑"/>
            </a:endParaRPr>
          </a:p>
          <a:p>
            <a:pPr marL="29209" marR="124460" indent="-29845">
              <a:lnSpc>
                <a:spcPct val="171900"/>
              </a:lnSpc>
              <a:spcBef>
                <a:spcPts val="70"/>
              </a:spcBef>
            </a:pPr>
            <a:r>
              <a:rPr dirty="0" sz="1400" spc="-5" b="1">
                <a:latin typeface="微软雅黑"/>
                <a:cs typeface="微软雅黑"/>
              </a:rPr>
              <a:t>JVM栈内</a:t>
            </a:r>
            <a:r>
              <a:rPr dirty="0" sz="1400" b="1">
                <a:latin typeface="微软雅黑"/>
                <a:cs typeface="微软雅黑"/>
              </a:rPr>
              <a:t>存 </a:t>
            </a:r>
            <a:r>
              <a:rPr dirty="0" sz="1400" b="1">
                <a:latin typeface="微软雅黑"/>
                <a:cs typeface="微软雅黑"/>
              </a:rPr>
              <a:t>本地方法</a:t>
            </a:r>
            <a:r>
              <a:rPr dirty="0" sz="1400" spc="5" b="1">
                <a:latin typeface="微软雅黑"/>
                <a:cs typeface="微软雅黑"/>
              </a:rPr>
              <a:t>栈</a:t>
            </a:r>
            <a:endParaRPr sz="1400">
              <a:latin typeface="微软雅黑"/>
              <a:cs typeface="微软雅黑"/>
            </a:endParaRPr>
          </a:p>
          <a:p>
            <a:pPr marL="434975" marR="5080" indent="2540">
              <a:lnSpc>
                <a:spcPct val="147700"/>
              </a:lnSpc>
              <a:spcBef>
                <a:spcPts val="670"/>
              </a:spcBef>
            </a:pPr>
            <a:r>
              <a:rPr dirty="0" sz="1600" b="1">
                <a:latin typeface="微软雅黑"/>
                <a:cs typeface="微软雅黑"/>
              </a:rPr>
              <a:t>堆内</a:t>
            </a:r>
            <a:r>
              <a:rPr dirty="0" sz="1600" spc="-5" b="1">
                <a:latin typeface="微软雅黑"/>
                <a:cs typeface="微软雅黑"/>
              </a:rPr>
              <a:t>存 </a:t>
            </a:r>
            <a:r>
              <a:rPr dirty="0" sz="1600" b="1">
                <a:latin typeface="微软雅黑"/>
                <a:cs typeface="微软雅黑"/>
              </a:rPr>
              <a:t>方法</a:t>
            </a:r>
            <a:r>
              <a:rPr dirty="0" sz="1600" spc="-5" b="1">
                <a:latin typeface="微软雅黑"/>
                <a:cs typeface="微软雅黑"/>
              </a:rPr>
              <a:t>区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784475" y="353052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36" y="1464805"/>
                </a:moveTo>
                <a:lnTo>
                  <a:pt x="0" y="1464805"/>
                </a:lnTo>
                <a:lnTo>
                  <a:pt x="0" y="0"/>
                </a:lnTo>
                <a:lnTo>
                  <a:pt x="1394536" y="0"/>
                </a:lnTo>
                <a:lnTo>
                  <a:pt x="1394536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52105"/>
                </a:lnTo>
                <a:lnTo>
                  <a:pt x="6350" y="1452105"/>
                </a:lnTo>
                <a:lnTo>
                  <a:pt x="12700" y="1458455"/>
                </a:lnTo>
                <a:lnTo>
                  <a:pt x="1394536" y="1458455"/>
                </a:lnTo>
                <a:lnTo>
                  <a:pt x="1394536" y="1464805"/>
                </a:lnTo>
                <a:close/>
              </a:path>
              <a:path w="1395095" h="146494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95095" h="1464945">
                <a:moveTo>
                  <a:pt x="1381836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81836" y="6350"/>
                </a:lnTo>
                <a:lnTo>
                  <a:pt x="1381836" y="12700"/>
                </a:lnTo>
                <a:close/>
              </a:path>
              <a:path w="1395095" h="1464945">
                <a:moveTo>
                  <a:pt x="1381836" y="1458455"/>
                </a:moveTo>
                <a:lnTo>
                  <a:pt x="1381836" y="6350"/>
                </a:lnTo>
                <a:lnTo>
                  <a:pt x="1388186" y="12700"/>
                </a:lnTo>
                <a:lnTo>
                  <a:pt x="1394536" y="12700"/>
                </a:lnTo>
                <a:lnTo>
                  <a:pt x="1394536" y="1452105"/>
                </a:lnTo>
                <a:lnTo>
                  <a:pt x="1388186" y="1452105"/>
                </a:lnTo>
                <a:lnTo>
                  <a:pt x="1381836" y="1458455"/>
                </a:lnTo>
                <a:close/>
              </a:path>
              <a:path w="1395095" h="1464945">
                <a:moveTo>
                  <a:pt x="1394536" y="12700"/>
                </a:moveTo>
                <a:lnTo>
                  <a:pt x="1388186" y="12700"/>
                </a:lnTo>
                <a:lnTo>
                  <a:pt x="1381836" y="6350"/>
                </a:lnTo>
                <a:lnTo>
                  <a:pt x="1394536" y="6350"/>
                </a:lnTo>
                <a:lnTo>
                  <a:pt x="1394536" y="12700"/>
                </a:lnTo>
                <a:close/>
              </a:path>
              <a:path w="1395095" h="1464945">
                <a:moveTo>
                  <a:pt x="12700" y="1458455"/>
                </a:moveTo>
                <a:lnTo>
                  <a:pt x="6350" y="1452105"/>
                </a:lnTo>
                <a:lnTo>
                  <a:pt x="12700" y="1452105"/>
                </a:lnTo>
                <a:lnTo>
                  <a:pt x="12700" y="1458455"/>
                </a:lnTo>
                <a:close/>
              </a:path>
              <a:path w="1395095" h="1464945">
                <a:moveTo>
                  <a:pt x="1381836" y="1458455"/>
                </a:moveTo>
                <a:lnTo>
                  <a:pt x="12700" y="1458455"/>
                </a:lnTo>
                <a:lnTo>
                  <a:pt x="12700" y="1452105"/>
                </a:lnTo>
                <a:lnTo>
                  <a:pt x="1381836" y="1452105"/>
                </a:lnTo>
                <a:lnTo>
                  <a:pt x="1381836" y="1458455"/>
                </a:lnTo>
                <a:close/>
              </a:path>
              <a:path w="1395095" h="1464945">
                <a:moveTo>
                  <a:pt x="1394536" y="1458455"/>
                </a:moveTo>
                <a:lnTo>
                  <a:pt x="1381836" y="1458455"/>
                </a:lnTo>
                <a:lnTo>
                  <a:pt x="1388186" y="1452105"/>
                </a:lnTo>
                <a:lnTo>
                  <a:pt x="1394536" y="1452105"/>
                </a:lnTo>
                <a:lnTo>
                  <a:pt x="1394536" y="1458455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812650" y="4008805"/>
            <a:ext cx="1987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…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…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18711" y="3524313"/>
            <a:ext cx="1395095" cy="1464945"/>
          </a:xfrm>
          <a:custGeom>
            <a:avLst/>
            <a:gdLst/>
            <a:ahLst/>
            <a:cxnLst/>
            <a:rect l="l" t="t" r="r" b="b"/>
            <a:pathLst>
              <a:path w="1395095" h="1464945">
                <a:moveTo>
                  <a:pt x="1394548" y="1464792"/>
                </a:moveTo>
                <a:lnTo>
                  <a:pt x="0" y="1464792"/>
                </a:lnTo>
                <a:lnTo>
                  <a:pt x="0" y="0"/>
                </a:lnTo>
                <a:lnTo>
                  <a:pt x="1394548" y="0"/>
                </a:lnTo>
                <a:lnTo>
                  <a:pt x="1394548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1452092"/>
                </a:lnTo>
                <a:lnTo>
                  <a:pt x="6350" y="1452092"/>
                </a:lnTo>
                <a:lnTo>
                  <a:pt x="12700" y="1458442"/>
                </a:lnTo>
                <a:lnTo>
                  <a:pt x="1394548" y="1458442"/>
                </a:lnTo>
                <a:lnTo>
                  <a:pt x="1394548" y="1464792"/>
                </a:lnTo>
                <a:close/>
              </a:path>
              <a:path w="1395095" h="1464945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1395095" h="1464945">
                <a:moveTo>
                  <a:pt x="1381848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1381848" y="6350"/>
                </a:lnTo>
                <a:lnTo>
                  <a:pt x="1381848" y="12700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381848" y="6350"/>
                </a:lnTo>
                <a:lnTo>
                  <a:pt x="1388198" y="12700"/>
                </a:lnTo>
                <a:lnTo>
                  <a:pt x="1394548" y="12700"/>
                </a:lnTo>
                <a:lnTo>
                  <a:pt x="1394548" y="1452092"/>
                </a:lnTo>
                <a:lnTo>
                  <a:pt x="138819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2700"/>
                </a:moveTo>
                <a:lnTo>
                  <a:pt x="1388198" y="12700"/>
                </a:lnTo>
                <a:lnTo>
                  <a:pt x="1381848" y="6350"/>
                </a:lnTo>
                <a:lnTo>
                  <a:pt x="1394548" y="6350"/>
                </a:lnTo>
                <a:lnTo>
                  <a:pt x="1394548" y="12700"/>
                </a:lnTo>
                <a:close/>
              </a:path>
              <a:path w="1395095" h="1464945">
                <a:moveTo>
                  <a:pt x="12700" y="1458442"/>
                </a:moveTo>
                <a:lnTo>
                  <a:pt x="6350" y="1452092"/>
                </a:lnTo>
                <a:lnTo>
                  <a:pt x="12700" y="1452092"/>
                </a:lnTo>
                <a:lnTo>
                  <a:pt x="12700" y="1458442"/>
                </a:lnTo>
                <a:close/>
              </a:path>
              <a:path w="1395095" h="1464945">
                <a:moveTo>
                  <a:pt x="1381848" y="1458442"/>
                </a:moveTo>
                <a:lnTo>
                  <a:pt x="12700" y="1458442"/>
                </a:lnTo>
                <a:lnTo>
                  <a:pt x="12700" y="1452092"/>
                </a:lnTo>
                <a:lnTo>
                  <a:pt x="1381848" y="1452092"/>
                </a:lnTo>
                <a:lnTo>
                  <a:pt x="1381848" y="1458442"/>
                </a:lnTo>
                <a:close/>
              </a:path>
              <a:path w="1395095" h="1464945">
                <a:moveTo>
                  <a:pt x="1394548" y="1458442"/>
                </a:moveTo>
                <a:lnTo>
                  <a:pt x="1381848" y="1458442"/>
                </a:lnTo>
                <a:lnTo>
                  <a:pt x="1388198" y="1452092"/>
                </a:lnTo>
                <a:lnTo>
                  <a:pt x="1394548" y="1452092"/>
                </a:lnTo>
                <a:lnTo>
                  <a:pt x="1394548" y="1458442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215639" y="3041584"/>
            <a:ext cx="2078355" cy="782955"/>
          </a:xfrm>
          <a:prstGeom prst="rect">
            <a:avLst/>
          </a:prstGeom>
        </p:spPr>
        <p:txBody>
          <a:bodyPr wrap="square" lIns="0" tIns="139700" rIns="0" bIns="0" rtlCol="0" vert="horz">
            <a:spAutoFit/>
          </a:bodyPr>
          <a:lstStyle/>
          <a:p>
            <a:pPr marL="134620">
              <a:lnSpc>
                <a:spcPct val="100000"/>
              </a:lnSpc>
              <a:spcBef>
                <a:spcPts val="1100"/>
              </a:spcBef>
            </a:pPr>
            <a:r>
              <a:rPr dirty="0" sz="1800" b="1">
                <a:latin typeface="微软雅黑"/>
                <a:cs typeface="微软雅黑"/>
              </a:rPr>
              <a:t>运行时数据区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85"/>
              </a:spcBef>
              <a:tabLst>
                <a:tab pos="1534160" algn="l"/>
              </a:tabLst>
            </a:pPr>
            <a:r>
              <a:rPr dirty="0" sz="1600" b="1">
                <a:latin typeface="微软雅黑"/>
                <a:cs typeface="微软雅黑"/>
              </a:rPr>
              <a:t>线程</a:t>
            </a:r>
            <a:r>
              <a:rPr dirty="0" sz="1600" spc="-5" b="1">
                <a:latin typeface="微软雅黑"/>
                <a:cs typeface="微软雅黑"/>
              </a:rPr>
              <a:t>1</a:t>
            </a:r>
            <a:r>
              <a:rPr dirty="0" sz="1600" b="1">
                <a:latin typeface="微软雅黑"/>
                <a:cs typeface="微软雅黑"/>
              </a:rPr>
              <a:t>	</a:t>
            </a:r>
            <a:r>
              <a:rPr dirty="0" baseline="1736" sz="2400" b="1">
                <a:latin typeface="微软雅黑"/>
                <a:cs typeface="微软雅黑"/>
              </a:rPr>
              <a:t>线程</a:t>
            </a:r>
            <a:r>
              <a:rPr dirty="0" baseline="1736" sz="2400" spc="-7" b="1">
                <a:latin typeface="微软雅黑"/>
                <a:cs typeface="微软雅黑"/>
              </a:rPr>
              <a:t>2</a:t>
            </a:r>
            <a:endParaRPr baseline="1736" sz="24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78452" y="3898391"/>
            <a:ext cx="1260348" cy="2880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374616" y="3894607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09" y="287997"/>
                </a:lnTo>
                <a:lnTo>
                  <a:pt x="7619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5999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59992" y="3810"/>
                </a:lnTo>
                <a:lnTo>
                  <a:pt x="1259992" y="7620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10"/>
                </a:lnTo>
                <a:lnTo>
                  <a:pt x="1263802" y="7620"/>
                </a:lnTo>
                <a:lnTo>
                  <a:pt x="1267612" y="7620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20"/>
                </a:moveTo>
                <a:lnTo>
                  <a:pt x="1263802" y="7620"/>
                </a:lnTo>
                <a:lnTo>
                  <a:pt x="1259992" y="3810"/>
                </a:lnTo>
                <a:lnTo>
                  <a:pt x="1267612" y="3810"/>
                </a:lnTo>
                <a:lnTo>
                  <a:pt x="1267612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09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378452" y="4274820"/>
            <a:ext cx="1260348" cy="28803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74616" y="4270412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12" y="295617"/>
                </a:moveTo>
                <a:lnTo>
                  <a:pt x="0" y="295617"/>
                </a:lnTo>
                <a:lnTo>
                  <a:pt x="0" y="0"/>
                </a:lnTo>
                <a:lnTo>
                  <a:pt x="1267612" y="0"/>
                </a:lnTo>
                <a:lnTo>
                  <a:pt x="1267612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87997"/>
                </a:lnTo>
                <a:lnTo>
                  <a:pt x="3809" y="287997"/>
                </a:lnTo>
                <a:lnTo>
                  <a:pt x="7619" y="291807"/>
                </a:lnTo>
                <a:lnTo>
                  <a:pt x="1267612" y="291807"/>
                </a:lnTo>
                <a:lnTo>
                  <a:pt x="1267612" y="295617"/>
                </a:lnTo>
                <a:close/>
              </a:path>
              <a:path w="1268095" h="29591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1268095" h="295910">
                <a:moveTo>
                  <a:pt x="1259992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1259992" y="3810"/>
                </a:lnTo>
                <a:lnTo>
                  <a:pt x="1259992" y="7620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1259992" y="3810"/>
                </a:lnTo>
                <a:lnTo>
                  <a:pt x="1263802" y="7620"/>
                </a:lnTo>
                <a:lnTo>
                  <a:pt x="1267612" y="7620"/>
                </a:lnTo>
                <a:lnTo>
                  <a:pt x="1267612" y="287997"/>
                </a:lnTo>
                <a:lnTo>
                  <a:pt x="126380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7620"/>
                </a:moveTo>
                <a:lnTo>
                  <a:pt x="1263802" y="7620"/>
                </a:lnTo>
                <a:lnTo>
                  <a:pt x="1259992" y="3810"/>
                </a:lnTo>
                <a:lnTo>
                  <a:pt x="1267612" y="3810"/>
                </a:lnTo>
                <a:lnTo>
                  <a:pt x="1267612" y="7620"/>
                </a:lnTo>
                <a:close/>
              </a:path>
              <a:path w="1268095" h="295910">
                <a:moveTo>
                  <a:pt x="7619" y="291807"/>
                </a:moveTo>
                <a:lnTo>
                  <a:pt x="3809" y="287997"/>
                </a:lnTo>
                <a:lnTo>
                  <a:pt x="7619" y="287997"/>
                </a:lnTo>
                <a:lnTo>
                  <a:pt x="7619" y="291807"/>
                </a:lnTo>
                <a:close/>
              </a:path>
              <a:path w="1268095" h="295910">
                <a:moveTo>
                  <a:pt x="1259992" y="291807"/>
                </a:moveTo>
                <a:lnTo>
                  <a:pt x="7619" y="291807"/>
                </a:lnTo>
                <a:lnTo>
                  <a:pt x="7619" y="287997"/>
                </a:lnTo>
                <a:lnTo>
                  <a:pt x="1259992" y="287997"/>
                </a:lnTo>
                <a:lnTo>
                  <a:pt x="1259992" y="291807"/>
                </a:lnTo>
                <a:close/>
              </a:path>
              <a:path w="1268095" h="295910">
                <a:moveTo>
                  <a:pt x="1267612" y="291807"/>
                </a:moveTo>
                <a:lnTo>
                  <a:pt x="1259992" y="291807"/>
                </a:lnTo>
                <a:lnTo>
                  <a:pt x="1263802" y="287997"/>
                </a:lnTo>
                <a:lnTo>
                  <a:pt x="1267612" y="287997"/>
                </a:lnTo>
                <a:lnTo>
                  <a:pt x="1267612" y="291807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89120" y="4640579"/>
            <a:ext cx="1260348" cy="2880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385386" y="4637087"/>
            <a:ext cx="1268095" cy="295910"/>
          </a:xfrm>
          <a:custGeom>
            <a:avLst/>
            <a:gdLst/>
            <a:ahLst/>
            <a:cxnLst/>
            <a:rect l="l" t="t" r="r" b="b"/>
            <a:pathLst>
              <a:path w="1268095" h="295910">
                <a:moveTo>
                  <a:pt x="1267625" y="295630"/>
                </a:moveTo>
                <a:lnTo>
                  <a:pt x="0" y="295630"/>
                </a:lnTo>
                <a:lnTo>
                  <a:pt x="0" y="0"/>
                </a:lnTo>
                <a:lnTo>
                  <a:pt x="1267625" y="0"/>
                </a:lnTo>
                <a:lnTo>
                  <a:pt x="1267625" y="3810"/>
                </a:lnTo>
                <a:lnTo>
                  <a:pt x="7620" y="3810"/>
                </a:lnTo>
                <a:lnTo>
                  <a:pt x="3810" y="7620"/>
                </a:lnTo>
                <a:lnTo>
                  <a:pt x="7620" y="7620"/>
                </a:lnTo>
                <a:lnTo>
                  <a:pt x="7620" y="288010"/>
                </a:lnTo>
                <a:lnTo>
                  <a:pt x="3810" y="288010"/>
                </a:lnTo>
                <a:lnTo>
                  <a:pt x="7620" y="291820"/>
                </a:lnTo>
                <a:lnTo>
                  <a:pt x="1267625" y="291820"/>
                </a:lnTo>
                <a:lnTo>
                  <a:pt x="1267625" y="295630"/>
                </a:lnTo>
                <a:close/>
              </a:path>
              <a:path w="1268095" h="295910">
                <a:moveTo>
                  <a:pt x="7620" y="7620"/>
                </a:moveTo>
                <a:lnTo>
                  <a:pt x="3810" y="7620"/>
                </a:lnTo>
                <a:lnTo>
                  <a:pt x="7620" y="3810"/>
                </a:lnTo>
                <a:lnTo>
                  <a:pt x="7620" y="7620"/>
                </a:lnTo>
                <a:close/>
              </a:path>
              <a:path w="1268095" h="295910">
                <a:moveTo>
                  <a:pt x="1260005" y="7620"/>
                </a:moveTo>
                <a:lnTo>
                  <a:pt x="7620" y="7620"/>
                </a:lnTo>
                <a:lnTo>
                  <a:pt x="7620" y="3810"/>
                </a:lnTo>
                <a:lnTo>
                  <a:pt x="1260005" y="3810"/>
                </a:lnTo>
                <a:lnTo>
                  <a:pt x="1260005" y="76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1260005" y="3810"/>
                </a:lnTo>
                <a:lnTo>
                  <a:pt x="1263815" y="7620"/>
                </a:lnTo>
                <a:lnTo>
                  <a:pt x="1267625" y="7620"/>
                </a:lnTo>
                <a:lnTo>
                  <a:pt x="1267625" y="288010"/>
                </a:lnTo>
                <a:lnTo>
                  <a:pt x="126381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7620"/>
                </a:moveTo>
                <a:lnTo>
                  <a:pt x="1263815" y="7620"/>
                </a:lnTo>
                <a:lnTo>
                  <a:pt x="1260005" y="3810"/>
                </a:lnTo>
                <a:lnTo>
                  <a:pt x="1267625" y="3810"/>
                </a:lnTo>
                <a:lnTo>
                  <a:pt x="1267625" y="7620"/>
                </a:lnTo>
                <a:close/>
              </a:path>
              <a:path w="1268095" h="295910">
                <a:moveTo>
                  <a:pt x="7620" y="291820"/>
                </a:moveTo>
                <a:lnTo>
                  <a:pt x="3810" y="288010"/>
                </a:lnTo>
                <a:lnTo>
                  <a:pt x="7620" y="288010"/>
                </a:lnTo>
                <a:lnTo>
                  <a:pt x="7620" y="291820"/>
                </a:lnTo>
                <a:close/>
              </a:path>
              <a:path w="1268095" h="295910">
                <a:moveTo>
                  <a:pt x="1260005" y="291820"/>
                </a:moveTo>
                <a:lnTo>
                  <a:pt x="7620" y="291820"/>
                </a:lnTo>
                <a:lnTo>
                  <a:pt x="7620" y="288010"/>
                </a:lnTo>
                <a:lnTo>
                  <a:pt x="1260005" y="288010"/>
                </a:lnTo>
                <a:lnTo>
                  <a:pt x="1260005" y="291820"/>
                </a:lnTo>
                <a:close/>
              </a:path>
              <a:path w="1268095" h="295910">
                <a:moveTo>
                  <a:pt x="1267625" y="291820"/>
                </a:moveTo>
                <a:lnTo>
                  <a:pt x="1260005" y="291820"/>
                </a:lnTo>
                <a:lnTo>
                  <a:pt x="1263815" y="288010"/>
                </a:lnTo>
                <a:lnTo>
                  <a:pt x="1267625" y="288010"/>
                </a:lnTo>
                <a:lnTo>
                  <a:pt x="1267625" y="29182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544796" y="3911752"/>
            <a:ext cx="940435" cy="98234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微软雅黑"/>
                <a:cs typeface="微软雅黑"/>
              </a:rPr>
              <a:t>程序计数</a:t>
            </a:r>
            <a:r>
              <a:rPr dirty="0" sz="1400" spc="5" b="1">
                <a:latin typeface="微软雅黑"/>
                <a:cs typeface="微软雅黑"/>
              </a:rPr>
              <a:t>器</a:t>
            </a:r>
            <a:endParaRPr sz="1400">
              <a:latin typeface="微软雅黑"/>
              <a:cs typeface="微软雅黑"/>
            </a:endParaRPr>
          </a:p>
          <a:p>
            <a:pPr marL="29209" marR="5080" indent="-29845">
              <a:lnSpc>
                <a:spcPct val="171900"/>
              </a:lnSpc>
              <a:spcBef>
                <a:spcPts val="70"/>
              </a:spcBef>
            </a:pPr>
            <a:r>
              <a:rPr dirty="0" sz="1400" spc="-5" b="1">
                <a:latin typeface="微软雅黑"/>
                <a:cs typeface="微软雅黑"/>
              </a:rPr>
              <a:t>JVM栈内</a:t>
            </a:r>
            <a:r>
              <a:rPr dirty="0" sz="1400" b="1">
                <a:latin typeface="微软雅黑"/>
                <a:cs typeface="微软雅黑"/>
              </a:rPr>
              <a:t>存 </a:t>
            </a:r>
            <a:r>
              <a:rPr dirty="0" sz="1400" b="1">
                <a:latin typeface="微软雅黑"/>
                <a:cs typeface="微软雅黑"/>
              </a:rPr>
              <a:t>本地方法</a:t>
            </a:r>
            <a:r>
              <a:rPr dirty="0" sz="1400" spc="5" b="1">
                <a:latin typeface="微软雅黑"/>
                <a:cs typeface="微软雅黑"/>
              </a:rPr>
              <a:t>栈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370700"/>
            <a:ext cx="7628890" cy="3997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74394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进程和线程的关系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微软雅黑"/>
              <a:cs typeface="微软雅黑"/>
            </a:endParaRPr>
          </a:p>
          <a:p>
            <a:pPr marL="289560" indent="-276860">
              <a:lnSpc>
                <a:spcPct val="100000"/>
              </a:lnSpc>
              <a:buFont typeface="Arial"/>
              <a:buChar char="•"/>
              <a:tabLst>
                <a:tab pos="288925" algn="l"/>
                <a:tab pos="289560" algn="l"/>
              </a:tabLst>
            </a:pPr>
            <a:r>
              <a:rPr dirty="0" sz="2800">
                <a:latin typeface="微软雅黑"/>
                <a:cs typeface="微软雅黑"/>
              </a:rPr>
              <a:t>线程的优</a:t>
            </a:r>
            <a:r>
              <a:rPr dirty="0" sz="2800" spc="-5">
                <a:latin typeface="微软雅黑"/>
                <a:cs typeface="微软雅黑"/>
              </a:rPr>
              <a:t>势</a:t>
            </a:r>
            <a:endParaRPr sz="2800">
              <a:latin typeface="微软雅黑"/>
              <a:cs typeface="微软雅黑"/>
            </a:endParaRPr>
          </a:p>
          <a:p>
            <a:pPr lvl="1" marL="300355" marR="5080">
              <a:lnSpc>
                <a:spcPts val="2590"/>
              </a:lnSpc>
              <a:spcBef>
                <a:spcPts val="415"/>
              </a:spcBef>
              <a:buSzPct val="95833"/>
              <a:buAutoNum type="arabicPlain"/>
              <a:tabLst>
                <a:tab pos="1089660" algn="l"/>
              </a:tabLst>
            </a:pPr>
            <a:r>
              <a:rPr dirty="0" sz="2400">
                <a:latin typeface="微软雅黑"/>
                <a:cs typeface="微软雅黑"/>
              </a:rPr>
              <a:t>操作系统创建进程时需要为其分配独立的内存单 元及分配大量的相关资源，相比而言，线程的创建简单 得多。因此</a:t>
            </a:r>
            <a:r>
              <a:rPr dirty="0" sz="2400">
                <a:solidFill>
                  <a:srgbClr val="FF0000"/>
                </a:solidFill>
                <a:latin typeface="微软雅黑"/>
                <a:cs typeface="微软雅黑"/>
              </a:rPr>
              <a:t>多线程的多任务并发比多进程的效率要高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lvl="1" marL="300355" marR="132080">
              <a:lnSpc>
                <a:spcPts val="2590"/>
              </a:lnSpc>
              <a:spcBef>
                <a:spcPts val="375"/>
              </a:spcBef>
              <a:buSzPct val="95833"/>
              <a:buAutoNum type="arabicPlain"/>
              <a:tabLst>
                <a:tab pos="1089660" algn="l"/>
              </a:tabLst>
            </a:pPr>
            <a:r>
              <a:rPr dirty="0" sz="2400">
                <a:latin typeface="微软雅黑"/>
                <a:cs typeface="微软雅黑"/>
              </a:rPr>
              <a:t>进程之间不能共享内存，线程之间共享内存则非 常容易。</a:t>
            </a:r>
            <a:endParaRPr sz="2400">
              <a:latin typeface="微软雅黑"/>
              <a:cs typeface="微软雅黑"/>
            </a:endParaRPr>
          </a:p>
          <a:p>
            <a:pPr lvl="1" marL="300355" marR="135255">
              <a:lnSpc>
                <a:spcPts val="2590"/>
              </a:lnSpc>
              <a:spcBef>
                <a:spcPts val="375"/>
              </a:spcBef>
              <a:buSzPct val="95833"/>
              <a:buAutoNum type="arabicPlain"/>
              <a:tabLst>
                <a:tab pos="1089660" algn="l"/>
              </a:tabLst>
            </a:pPr>
            <a:r>
              <a:rPr dirty="0" sz="2400" spc="-40">
                <a:latin typeface="微软雅黑"/>
                <a:cs typeface="微软雅黑"/>
              </a:rPr>
              <a:t>J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 spc="-50">
                <a:latin typeface="微软雅黑"/>
                <a:cs typeface="微软雅黑"/>
              </a:rPr>
              <a:t>v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>
                <a:latin typeface="微软雅黑"/>
                <a:cs typeface="微软雅黑"/>
              </a:rPr>
              <a:t>语言提供了多线程的支持，不需本地操作系 统的直接参与，简化了多线程编程。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7730" y="1418589"/>
            <a:ext cx="3596640" cy="1673860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线程</a:t>
            </a:r>
            <a:r>
              <a:rPr dirty="0" sz="2100" spc="-10">
                <a:latin typeface="微软雅黑"/>
                <a:cs typeface="微软雅黑"/>
              </a:rPr>
              <a:t>：java.lang.Thread</a:t>
            </a:r>
            <a:r>
              <a:rPr dirty="0" sz="2100">
                <a:latin typeface="微软雅黑"/>
                <a:cs typeface="微软雅黑"/>
              </a:rPr>
              <a:t>实例</a:t>
            </a:r>
            <a:endParaRPr sz="21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创建线程的方式</a:t>
            </a:r>
            <a:endParaRPr sz="21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继承</a:t>
            </a:r>
            <a:r>
              <a:rPr dirty="0" sz="1800" spc="-10">
                <a:latin typeface="微软雅黑"/>
                <a:cs typeface="微软雅黑"/>
              </a:rPr>
              <a:t>Thread</a:t>
            </a:r>
            <a:r>
              <a:rPr dirty="0" sz="1800">
                <a:latin typeface="微软雅黑"/>
                <a:cs typeface="微软雅黑"/>
              </a:rPr>
              <a:t>类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实现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unnabl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接口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5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实现callabl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接口；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8873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.2	线程的创建和执行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6375"/>
            <a:ext cx="7787005" cy="15684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定义</a:t>
            </a:r>
            <a:r>
              <a:rPr dirty="0" sz="2400" spc="-5">
                <a:latin typeface="微软雅黑"/>
                <a:cs typeface="微软雅黑"/>
              </a:rPr>
              <a:t>T</a:t>
            </a:r>
            <a:r>
              <a:rPr dirty="0" sz="2400">
                <a:latin typeface="微软雅黑"/>
                <a:cs typeface="微软雅黑"/>
              </a:rPr>
              <a:t>h</a:t>
            </a:r>
            <a:r>
              <a:rPr dirty="0" sz="2400" spc="-40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ead</a:t>
            </a:r>
            <a:r>
              <a:rPr dirty="0" sz="2400">
                <a:latin typeface="微软雅黑"/>
                <a:cs typeface="微软雅黑"/>
              </a:rPr>
              <a:t>的子类，并重写该类的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un</a:t>
            </a:r>
            <a:r>
              <a:rPr dirty="0" sz="2400" spc="-5">
                <a:latin typeface="微软雅黑"/>
                <a:cs typeface="微软雅黑"/>
              </a:rPr>
              <a:t>()</a:t>
            </a:r>
            <a:r>
              <a:rPr dirty="0" sz="2400">
                <a:latin typeface="微软雅黑"/>
                <a:cs typeface="微软雅黑"/>
              </a:rPr>
              <a:t>方法。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un</a:t>
            </a:r>
            <a:r>
              <a:rPr dirty="0" sz="2400" spc="-5">
                <a:latin typeface="微软雅黑"/>
                <a:cs typeface="微软雅黑"/>
              </a:rPr>
              <a:t>(</a:t>
            </a:r>
            <a:r>
              <a:rPr dirty="0" sz="2400">
                <a:latin typeface="微软雅黑"/>
                <a:cs typeface="微软雅黑"/>
              </a:rPr>
              <a:t>) 方法的方法体代表了线程需要完成的任务。</a:t>
            </a:r>
            <a:endParaRPr sz="2400">
              <a:latin typeface="微软雅黑"/>
              <a:cs typeface="微软雅黑"/>
            </a:endParaRPr>
          </a:p>
          <a:p>
            <a:pPr marL="801370" indent="-788670">
              <a:lnSpc>
                <a:spcPct val="100000"/>
              </a:lnSpc>
              <a:spcBef>
                <a:spcPts val="425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创建线程对象。</a:t>
            </a:r>
            <a:endParaRPr sz="2400">
              <a:latin typeface="微软雅黑"/>
              <a:cs typeface="微软雅黑"/>
            </a:endParaRPr>
          </a:p>
          <a:p>
            <a:pPr marL="801370" indent="-788670">
              <a:lnSpc>
                <a:spcPct val="100000"/>
              </a:lnSpc>
              <a:spcBef>
                <a:spcPts val="459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线程对象调用</a:t>
            </a:r>
            <a:r>
              <a:rPr dirty="0" sz="2400" spc="5">
                <a:latin typeface="微软雅黑"/>
                <a:cs typeface="微软雅黑"/>
              </a:rPr>
              <a:t>start()</a:t>
            </a:r>
            <a:r>
              <a:rPr dirty="0" sz="2400">
                <a:latin typeface="微软雅黑"/>
                <a:cs typeface="微软雅黑"/>
              </a:rPr>
              <a:t>方法启动该线程。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7979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.1	继承T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e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5" b="1">
                <a:latin typeface="微软雅黑"/>
                <a:cs typeface="微软雅黑"/>
              </a:rPr>
              <a:t>d</a:t>
            </a:r>
            <a:r>
              <a:rPr dirty="0" sz="2100" b="1">
                <a:latin typeface="微软雅黑"/>
                <a:cs typeface="微软雅黑"/>
              </a:rPr>
              <a:t>类创建线程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6375"/>
            <a:ext cx="7787005" cy="15684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定义</a:t>
            </a:r>
            <a:r>
              <a:rPr dirty="0" sz="2400" spc="-5">
                <a:latin typeface="微软雅黑"/>
                <a:cs typeface="微软雅黑"/>
              </a:rPr>
              <a:t>T</a:t>
            </a:r>
            <a:r>
              <a:rPr dirty="0" sz="2400">
                <a:latin typeface="微软雅黑"/>
                <a:cs typeface="微软雅黑"/>
              </a:rPr>
              <a:t>h</a:t>
            </a:r>
            <a:r>
              <a:rPr dirty="0" sz="2400" spc="-40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ead</a:t>
            </a:r>
            <a:r>
              <a:rPr dirty="0" sz="2400">
                <a:latin typeface="微软雅黑"/>
                <a:cs typeface="微软雅黑"/>
              </a:rPr>
              <a:t>的子类，并重写该类的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un</a:t>
            </a:r>
            <a:r>
              <a:rPr dirty="0" sz="2400" spc="-5">
                <a:latin typeface="微软雅黑"/>
                <a:cs typeface="微软雅黑"/>
              </a:rPr>
              <a:t>()</a:t>
            </a:r>
            <a:r>
              <a:rPr dirty="0" sz="2400">
                <a:latin typeface="微软雅黑"/>
                <a:cs typeface="微软雅黑"/>
              </a:rPr>
              <a:t>方法。</a:t>
            </a:r>
            <a:r>
              <a:rPr dirty="0" sz="2400" spc="-5">
                <a:latin typeface="微软雅黑"/>
                <a:cs typeface="微软雅黑"/>
              </a:rPr>
              <a:t>r</a:t>
            </a:r>
            <a:r>
              <a:rPr dirty="0" sz="2400">
                <a:latin typeface="微软雅黑"/>
                <a:cs typeface="微软雅黑"/>
              </a:rPr>
              <a:t>un</a:t>
            </a:r>
            <a:r>
              <a:rPr dirty="0" sz="2400" spc="-5">
                <a:latin typeface="微软雅黑"/>
                <a:cs typeface="微软雅黑"/>
              </a:rPr>
              <a:t>(</a:t>
            </a:r>
            <a:r>
              <a:rPr dirty="0" sz="2400">
                <a:latin typeface="微软雅黑"/>
                <a:cs typeface="微软雅黑"/>
              </a:rPr>
              <a:t>) 方法的方法体代表了线程需要完成的任务。</a:t>
            </a:r>
            <a:endParaRPr sz="2400">
              <a:latin typeface="微软雅黑"/>
              <a:cs typeface="微软雅黑"/>
            </a:endParaRPr>
          </a:p>
          <a:p>
            <a:pPr marL="801370" indent="-788670">
              <a:lnSpc>
                <a:spcPct val="100000"/>
              </a:lnSpc>
              <a:spcBef>
                <a:spcPts val="425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创建线程对象。</a:t>
            </a:r>
            <a:endParaRPr sz="2400">
              <a:latin typeface="微软雅黑"/>
              <a:cs typeface="微软雅黑"/>
            </a:endParaRPr>
          </a:p>
          <a:p>
            <a:pPr marL="801370" indent="-788670">
              <a:lnSpc>
                <a:spcPct val="100000"/>
              </a:lnSpc>
              <a:spcBef>
                <a:spcPts val="459"/>
              </a:spcBef>
              <a:buSzPct val="95833"/>
              <a:buAutoNum type="arabicPlain"/>
              <a:tabLst>
                <a:tab pos="801370" algn="l"/>
              </a:tabLst>
            </a:pPr>
            <a:r>
              <a:rPr dirty="0" sz="2400">
                <a:latin typeface="微软雅黑"/>
                <a:cs typeface="微软雅黑"/>
              </a:rPr>
              <a:t>线程对象调用</a:t>
            </a:r>
            <a:r>
              <a:rPr dirty="0" sz="2400" spc="5">
                <a:latin typeface="微软雅黑"/>
                <a:cs typeface="微软雅黑"/>
              </a:rPr>
              <a:t>start()</a:t>
            </a:r>
            <a:r>
              <a:rPr dirty="0" sz="2400">
                <a:latin typeface="微软雅黑"/>
                <a:cs typeface="微软雅黑"/>
              </a:rPr>
              <a:t>方法启动该线程。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79793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.1	继承T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e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5" b="1">
                <a:latin typeface="微软雅黑"/>
                <a:cs typeface="微软雅黑"/>
              </a:rPr>
              <a:t>d</a:t>
            </a:r>
            <a:r>
              <a:rPr dirty="0" sz="2100" b="1">
                <a:latin typeface="微软雅黑"/>
                <a:cs typeface="微软雅黑"/>
              </a:rPr>
              <a:t>类创建线程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0660"/>
            <a:ext cx="589470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【例</a:t>
            </a:r>
            <a:r>
              <a:rPr dirty="0" sz="2800" spc="-5">
                <a:latin typeface="微软雅黑"/>
                <a:cs typeface="微软雅黑"/>
              </a:rPr>
              <a:t>11-1</a:t>
            </a:r>
            <a:r>
              <a:rPr dirty="0" sz="2800">
                <a:latin typeface="微软雅黑"/>
                <a:cs typeface="微软雅黑"/>
              </a:rPr>
              <a:t>】通过</a:t>
            </a:r>
            <a:r>
              <a:rPr dirty="0" sz="2800" spc="-5">
                <a:latin typeface="微软雅黑"/>
                <a:cs typeface="微软雅黑"/>
              </a:rPr>
              <a:t>Th</a:t>
            </a:r>
            <a:r>
              <a:rPr dirty="0" sz="2800" spc="-45">
                <a:latin typeface="微软雅黑"/>
                <a:cs typeface="微软雅黑"/>
              </a:rPr>
              <a:t>r</a:t>
            </a:r>
            <a:r>
              <a:rPr dirty="0" sz="2800" spc="-5">
                <a:latin typeface="微软雅黑"/>
                <a:cs typeface="微软雅黑"/>
              </a:rPr>
              <a:t>e</a:t>
            </a:r>
            <a:r>
              <a:rPr dirty="0" sz="2800">
                <a:latin typeface="微软雅黑"/>
                <a:cs typeface="微软雅黑"/>
              </a:rPr>
              <a:t>a</a:t>
            </a:r>
            <a:r>
              <a:rPr dirty="0" sz="2800" spc="-5">
                <a:latin typeface="微软雅黑"/>
                <a:cs typeface="微软雅黑"/>
              </a:rPr>
              <a:t>d</a:t>
            </a:r>
            <a:r>
              <a:rPr dirty="0" sz="2800">
                <a:latin typeface="微软雅黑"/>
                <a:cs typeface="微软雅黑"/>
              </a:rPr>
              <a:t>类创建线程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1283652" y="370700"/>
            <a:ext cx="37979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.1	继承T</a:t>
            </a:r>
            <a:r>
              <a:rPr dirty="0" sz="2100" spc="-5" b="1">
                <a:latin typeface="微软雅黑"/>
                <a:cs typeface="微软雅黑"/>
              </a:rPr>
              <a:t>h</a:t>
            </a:r>
            <a:r>
              <a:rPr dirty="0" sz="2100" spc="-15" b="1">
                <a:latin typeface="微软雅黑"/>
                <a:cs typeface="微软雅黑"/>
              </a:rPr>
              <a:t>r</a:t>
            </a:r>
            <a:r>
              <a:rPr dirty="0" sz="2100" spc="-5" b="1">
                <a:latin typeface="微软雅黑"/>
                <a:cs typeface="微软雅黑"/>
              </a:rPr>
              <a:t>e</a:t>
            </a:r>
            <a:r>
              <a:rPr dirty="0" sz="2100" b="1">
                <a:latin typeface="微软雅黑"/>
                <a:cs typeface="微软雅黑"/>
              </a:rPr>
              <a:t>a</a:t>
            </a:r>
            <a:r>
              <a:rPr dirty="0" sz="2100" spc="-5" b="1">
                <a:latin typeface="微软雅黑"/>
                <a:cs typeface="微软雅黑"/>
              </a:rPr>
              <a:t>d</a:t>
            </a:r>
            <a:r>
              <a:rPr dirty="0" sz="2100" b="1">
                <a:latin typeface="微软雅黑"/>
                <a:cs typeface="微软雅黑"/>
              </a:rPr>
              <a:t>类创建线程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030" y="1418589"/>
            <a:ext cx="6849109" cy="2610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18920">
              <a:lnSpc>
                <a:spcPct val="119600"/>
              </a:lnSpc>
              <a:spcBef>
                <a:spcPts val="100"/>
              </a:spcBef>
            </a:pPr>
            <a:r>
              <a:rPr dirty="0" sz="2100" spc="-5">
                <a:latin typeface="微软雅黑"/>
                <a:cs typeface="微软雅黑"/>
              </a:rPr>
              <a:t>1</a:t>
            </a:r>
            <a:r>
              <a:rPr dirty="0" sz="2100">
                <a:latin typeface="微软雅黑"/>
                <a:cs typeface="微软雅黑"/>
              </a:rPr>
              <a:t>、实现</a:t>
            </a:r>
            <a:r>
              <a:rPr dirty="0" sz="2100" spc="-5">
                <a:latin typeface="微软雅黑"/>
                <a:cs typeface="微软雅黑"/>
              </a:rPr>
              <a:t>Runnable</a:t>
            </a:r>
            <a:r>
              <a:rPr dirty="0" sz="2100">
                <a:latin typeface="微软雅黑"/>
                <a:cs typeface="微软雅黑"/>
              </a:rPr>
              <a:t>接口，并重写</a:t>
            </a:r>
            <a:r>
              <a:rPr dirty="0" sz="2100" spc="-5">
                <a:latin typeface="微软雅黑"/>
                <a:cs typeface="微软雅黑"/>
              </a:rPr>
              <a:t>run()</a:t>
            </a:r>
            <a:r>
              <a:rPr dirty="0" sz="2100">
                <a:latin typeface="微软雅黑"/>
                <a:cs typeface="微软雅黑"/>
              </a:rPr>
              <a:t>方法。 </a:t>
            </a:r>
            <a:r>
              <a:rPr dirty="0" sz="2100" spc="-5">
                <a:latin typeface="微软雅黑"/>
                <a:cs typeface="微软雅黑"/>
              </a:rPr>
              <a:t>run</a:t>
            </a:r>
            <a:r>
              <a:rPr dirty="0" sz="2100" spc="-95">
                <a:latin typeface="微软雅黑"/>
                <a:cs typeface="微软雅黑"/>
              </a:rPr>
              <a:t> </a:t>
            </a:r>
            <a:r>
              <a:rPr dirty="0" sz="2100">
                <a:latin typeface="微软雅黑"/>
                <a:cs typeface="微软雅黑"/>
              </a:rPr>
              <a:t>方法是程序的执行体，即线程要做的事情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100" spc="-5">
                <a:latin typeface="微软雅黑"/>
                <a:cs typeface="微软雅黑"/>
              </a:rPr>
              <a:t>2</a:t>
            </a:r>
            <a:r>
              <a:rPr dirty="0" sz="2100">
                <a:latin typeface="微软雅黑"/>
                <a:cs typeface="微软雅黑"/>
              </a:rPr>
              <a:t>、创建</a:t>
            </a:r>
            <a:r>
              <a:rPr dirty="0" sz="2100" spc="-5">
                <a:latin typeface="微软雅黑"/>
                <a:cs typeface="微软雅黑"/>
              </a:rPr>
              <a:t>Runnable</a:t>
            </a:r>
            <a:r>
              <a:rPr dirty="0" sz="2100">
                <a:latin typeface="微软雅黑"/>
                <a:cs typeface="微软雅黑"/>
              </a:rPr>
              <a:t>实现类的实例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50">
              <a:latin typeface="微软雅黑"/>
              <a:cs typeface="微软雅黑"/>
            </a:endParaRPr>
          </a:p>
          <a:p>
            <a:pPr marL="12700" marR="5080">
              <a:lnSpc>
                <a:spcPts val="2270"/>
              </a:lnSpc>
              <a:spcBef>
                <a:spcPts val="5"/>
              </a:spcBef>
            </a:pPr>
            <a:r>
              <a:rPr dirty="0" sz="2100" spc="-5">
                <a:latin typeface="微软雅黑"/>
                <a:cs typeface="微软雅黑"/>
              </a:rPr>
              <a:t>3</a:t>
            </a:r>
            <a:r>
              <a:rPr dirty="0" sz="2100">
                <a:latin typeface="微软雅黑"/>
                <a:cs typeface="微软雅黑"/>
              </a:rPr>
              <a:t>、以</a:t>
            </a:r>
            <a:r>
              <a:rPr dirty="0" sz="2100" spc="-5">
                <a:latin typeface="微软雅黑"/>
                <a:cs typeface="微软雅黑"/>
              </a:rPr>
              <a:t>R</a:t>
            </a:r>
            <a:r>
              <a:rPr dirty="0" sz="2100">
                <a:latin typeface="微软雅黑"/>
                <a:cs typeface="微软雅黑"/>
              </a:rPr>
              <a:t>unn</a:t>
            </a:r>
            <a:r>
              <a:rPr dirty="0" sz="2100" spc="-5">
                <a:latin typeface="微软雅黑"/>
                <a:cs typeface="微软雅黑"/>
              </a:rPr>
              <a:t>ab</a:t>
            </a:r>
            <a:r>
              <a:rPr dirty="0" sz="2100">
                <a:latin typeface="微软雅黑"/>
                <a:cs typeface="微软雅黑"/>
              </a:rPr>
              <a:t>l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实现类的实例为</a:t>
            </a:r>
            <a:r>
              <a:rPr dirty="0" sz="2100" spc="-5">
                <a:latin typeface="微软雅黑"/>
                <a:cs typeface="微软雅黑"/>
              </a:rPr>
              <a:t>ta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>
                <a:latin typeface="微软雅黑"/>
                <a:cs typeface="微软雅黑"/>
              </a:rPr>
              <a:t>g</a:t>
            </a:r>
            <a:r>
              <a:rPr dirty="0" sz="2100" spc="-5">
                <a:latin typeface="微软雅黑"/>
                <a:cs typeface="微软雅黑"/>
              </a:rPr>
              <a:t>et</a:t>
            </a:r>
            <a:r>
              <a:rPr dirty="0" sz="2100">
                <a:latin typeface="微软雅黑"/>
                <a:cs typeface="微软雅黑"/>
              </a:rPr>
              <a:t>，创建</a:t>
            </a:r>
            <a:r>
              <a:rPr dirty="0" sz="2100" spc="-200">
                <a:latin typeface="微软雅黑"/>
                <a:cs typeface="微软雅黑"/>
              </a:rPr>
              <a:t>T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ea</a:t>
            </a:r>
            <a:r>
              <a:rPr dirty="0" sz="2100">
                <a:latin typeface="微软雅黑"/>
                <a:cs typeface="微软雅黑"/>
              </a:rPr>
              <a:t>d对象并 调用</a:t>
            </a:r>
            <a:r>
              <a:rPr dirty="0" sz="2100" spc="5">
                <a:latin typeface="微软雅黑"/>
                <a:cs typeface="微软雅黑"/>
              </a:rPr>
              <a:t>start</a:t>
            </a:r>
            <a:r>
              <a:rPr dirty="0" sz="2100">
                <a:latin typeface="微软雅黑"/>
                <a:cs typeface="微软雅黑"/>
              </a:rPr>
              <a:t>方法。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3980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.2	实现</a:t>
            </a:r>
            <a:r>
              <a:rPr dirty="0" sz="2100" spc="-5" b="1">
                <a:latin typeface="微软雅黑"/>
                <a:cs typeface="微软雅黑"/>
              </a:rPr>
              <a:t>Runn</a:t>
            </a:r>
            <a:r>
              <a:rPr dirty="0" sz="2100" b="1">
                <a:latin typeface="微软雅黑"/>
                <a:cs typeface="微软雅黑"/>
              </a:rPr>
              <a:t>ab</a:t>
            </a:r>
            <a:r>
              <a:rPr dirty="0" sz="2100" spc="-5" b="1">
                <a:latin typeface="微软雅黑"/>
                <a:cs typeface="微软雅黑"/>
              </a:rPr>
              <a:t>le</a:t>
            </a:r>
            <a:r>
              <a:rPr dirty="0" sz="2100" b="1">
                <a:latin typeface="微软雅黑"/>
                <a:cs typeface="微软雅黑"/>
              </a:rPr>
              <a:t>接口创建线程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5017135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11-2</a:t>
            </a:r>
            <a:r>
              <a:rPr dirty="0" sz="2100">
                <a:latin typeface="微软雅黑"/>
                <a:cs typeface="微软雅黑"/>
              </a:rPr>
              <a:t>】通过</a:t>
            </a:r>
            <a:r>
              <a:rPr dirty="0" sz="2100" spc="-5">
                <a:latin typeface="微软雅黑"/>
                <a:cs typeface="微软雅黑"/>
              </a:rPr>
              <a:t>Runnable</a:t>
            </a:r>
            <a:r>
              <a:rPr dirty="0" sz="2100">
                <a:latin typeface="微软雅黑"/>
                <a:cs typeface="微软雅黑"/>
              </a:rPr>
              <a:t>接口创建线程。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3980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2</a:t>
            </a:r>
            <a:r>
              <a:rPr dirty="0" sz="2100" b="1">
                <a:latin typeface="微软雅黑"/>
                <a:cs typeface="微软雅黑"/>
              </a:rPr>
              <a:t>.2	实现</a:t>
            </a:r>
            <a:r>
              <a:rPr dirty="0" sz="2100" spc="-5" b="1">
                <a:latin typeface="微软雅黑"/>
                <a:cs typeface="微软雅黑"/>
              </a:rPr>
              <a:t>Runn</a:t>
            </a:r>
            <a:r>
              <a:rPr dirty="0" sz="2100" b="1">
                <a:latin typeface="微软雅黑"/>
                <a:cs typeface="微软雅黑"/>
              </a:rPr>
              <a:t>ab</a:t>
            </a:r>
            <a:r>
              <a:rPr dirty="0" sz="2100" spc="-5" b="1">
                <a:latin typeface="微软雅黑"/>
                <a:cs typeface="微软雅黑"/>
              </a:rPr>
              <a:t>le</a:t>
            </a:r>
            <a:r>
              <a:rPr dirty="0" sz="2100" b="1">
                <a:latin typeface="微软雅黑"/>
                <a:cs typeface="微软雅黑"/>
              </a:rPr>
              <a:t>接口创建线程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030" y="1418589"/>
            <a:ext cx="6924040" cy="481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115820">
              <a:lnSpc>
                <a:spcPct val="119600"/>
              </a:lnSpc>
              <a:spcBef>
                <a:spcPts val="100"/>
              </a:spcBef>
            </a:pPr>
            <a:r>
              <a:rPr dirty="0" sz="2100" spc="-5">
                <a:latin typeface="微软雅黑"/>
                <a:cs typeface="微软雅黑"/>
              </a:rPr>
              <a:t>Callable</a:t>
            </a:r>
            <a:r>
              <a:rPr dirty="0" sz="2100">
                <a:latin typeface="微软雅黑"/>
                <a:cs typeface="微软雅黑"/>
              </a:rPr>
              <a:t>接口是</a:t>
            </a:r>
            <a:r>
              <a:rPr dirty="0" sz="2100" spc="-5">
                <a:latin typeface="微软雅黑"/>
                <a:cs typeface="微软雅黑"/>
              </a:rPr>
              <a:t>Runnable</a:t>
            </a:r>
            <a:r>
              <a:rPr dirty="0" sz="2100">
                <a:latin typeface="微软雅黑"/>
                <a:cs typeface="微软雅黑"/>
              </a:rPr>
              <a:t>接口的改进版 </a:t>
            </a:r>
            <a:r>
              <a:rPr dirty="0" sz="2100" spc="-5">
                <a:latin typeface="微软雅黑"/>
                <a:cs typeface="微软雅黑"/>
              </a:rPr>
              <a:t>1</a:t>
            </a:r>
            <a:r>
              <a:rPr dirty="0" sz="2100">
                <a:latin typeface="微软雅黑"/>
                <a:cs typeface="微软雅黑"/>
              </a:rPr>
              <a:t>、C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ll</a:t>
            </a:r>
            <a:r>
              <a:rPr dirty="0" sz="2100" spc="-5">
                <a:latin typeface="微软雅黑"/>
                <a:cs typeface="微软雅黑"/>
              </a:rPr>
              <a:t>ab</a:t>
            </a:r>
            <a:r>
              <a:rPr dirty="0" sz="2100">
                <a:latin typeface="微软雅黑"/>
                <a:cs typeface="微软雅黑"/>
              </a:rPr>
              <a:t>l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接口中的c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ll方法有返回值；</a:t>
            </a:r>
            <a:endParaRPr sz="2100">
              <a:latin typeface="微软雅黑"/>
              <a:cs typeface="微软雅黑"/>
            </a:endParaRPr>
          </a:p>
          <a:p>
            <a:pPr marL="12700" marR="1849120">
              <a:lnSpc>
                <a:spcPct val="119600"/>
              </a:lnSpc>
            </a:pPr>
            <a:r>
              <a:rPr dirty="0" sz="2100" spc="-5">
                <a:latin typeface="微软雅黑"/>
                <a:cs typeface="微软雅黑"/>
              </a:rPr>
              <a:t>2</a:t>
            </a:r>
            <a:r>
              <a:rPr dirty="0" sz="2100">
                <a:latin typeface="微软雅黑"/>
                <a:cs typeface="微软雅黑"/>
              </a:rPr>
              <a:t>、C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ll</a:t>
            </a:r>
            <a:r>
              <a:rPr dirty="0" sz="2100" spc="-5">
                <a:latin typeface="微软雅黑"/>
                <a:cs typeface="微软雅黑"/>
              </a:rPr>
              <a:t>ab</a:t>
            </a:r>
            <a:r>
              <a:rPr dirty="0" sz="2100">
                <a:latin typeface="微软雅黑"/>
                <a:cs typeface="微软雅黑"/>
              </a:rPr>
              <a:t>l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接口中的c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ll方法声明抛出异常 创建线程的步骤：</a:t>
            </a:r>
            <a:endParaRPr sz="2100">
              <a:latin typeface="微软雅黑"/>
              <a:cs typeface="微软雅黑"/>
            </a:endParaRPr>
          </a:p>
          <a:p>
            <a:pPr marL="12700" marR="1600835">
              <a:lnSpc>
                <a:spcPct val="119600"/>
              </a:lnSpc>
            </a:pPr>
            <a:r>
              <a:rPr dirty="0" sz="2100" spc="-5">
                <a:latin typeface="微软雅黑"/>
                <a:cs typeface="微软雅黑"/>
              </a:rPr>
              <a:t>1</a:t>
            </a:r>
            <a:r>
              <a:rPr dirty="0" sz="2100">
                <a:latin typeface="微软雅黑"/>
                <a:cs typeface="微软雅黑"/>
              </a:rPr>
              <a:t>、实现</a:t>
            </a:r>
            <a:r>
              <a:rPr dirty="0" sz="2100" spc="-5">
                <a:latin typeface="微软雅黑"/>
                <a:cs typeface="微软雅黑"/>
              </a:rPr>
              <a:t>Callable</a:t>
            </a:r>
            <a:r>
              <a:rPr dirty="0" sz="2100">
                <a:latin typeface="微软雅黑"/>
                <a:cs typeface="微软雅黑"/>
              </a:rPr>
              <a:t>接口，并重写</a:t>
            </a:r>
            <a:r>
              <a:rPr dirty="0" sz="2100" spc="-5">
                <a:latin typeface="微软雅黑"/>
                <a:cs typeface="微软雅黑"/>
              </a:rPr>
              <a:t>call()</a:t>
            </a:r>
            <a:r>
              <a:rPr dirty="0" sz="2100">
                <a:latin typeface="微软雅黑"/>
                <a:cs typeface="微软雅黑"/>
              </a:rPr>
              <a:t>方法。 </a:t>
            </a:r>
            <a:r>
              <a:rPr dirty="0" sz="2100" spc="-5">
                <a:latin typeface="微软雅黑"/>
                <a:cs typeface="微软雅黑"/>
              </a:rPr>
              <a:t>call</a:t>
            </a:r>
            <a:r>
              <a:rPr dirty="0" sz="2100" spc="-90">
                <a:latin typeface="微软雅黑"/>
                <a:cs typeface="微软雅黑"/>
              </a:rPr>
              <a:t> </a:t>
            </a:r>
            <a:r>
              <a:rPr dirty="0" sz="2100">
                <a:latin typeface="微软雅黑"/>
                <a:cs typeface="微软雅黑"/>
              </a:rPr>
              <a:t>方法是程序的执行体，即线程要做的事情 </a:t>
            </a:r>
            <a:r>
              <a:rPr dirty="0" sz="2100" spc="-5">
                <a:latin typeface="微软雅黑"/>
                <a:cs typeface="微软雅黑"/>
              </a:rPr>
              <a:t>2</a:t>
            </a:r>
            <a:r>
              <a:rPr dirty="0" sz="2100">
                <a:latin typeface="微软雅黑"/>
                <a:cs typeface="微软雅黑"/>
              </a:rPr>
              <a:t>、创建</a:t>
            </a:r>
            <a:r>
              <a:rPr dirty="0" sz="2100" spc="-5">
                <a:latin typeface="微软雅黑"/>
                <a:cs typeface="微软雅黑"/>
              </a:rPr>
              <a:t>Callable</a:t>
            </a:r>
            <a:r>
              <a:rPr dirty="0" sz="2100">
                <a:latin typeface="微软雅黑"/>
                <a:cs typeface="微软雅黑"/>
              </a:rPr>
              <a:t>接口实现类的实例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2100" spc="-5">
                <a:latin typeface="微软雅黑"/>
                <a:cs typeface="微软雅黑"/>
              </a:rPr>
              <a:t>3</a:t>
            </a:r>
            <a:r>
              <a:rPr dirty="0" sz="2100">
                <a:latin typeface="微软雅黑"/>
                <a:cs typeface="微软雅黑"/>
              </a:rPr>
              <a:t>、将</a:t>
            </a:r>
            <a:r>
              <a:rPr dirty="0" sz="2100" spc="-5">
                <a:latin typeface="微软雅黑"/>
                <a:cs typeface="微软雅黑"/>
              </a:rPr>
              <a:t>Callable</a:t>
            </a:r>
            <a:r>
              <a:rPr dirty="0" sz="2100">
                <a:latin typeface="微软雅黑"/>
                <a:cs typeface="微软雅黑"/>
              </a:rPr>
              <a:t>接口实现类的实例包装成</a:t>
            </a:r>
            <a:r>
              <a:rPr dirty="0" sz="2100" spc="-30">
                <a:latin typeface="微软雅黑"/>
                <a:cs typeface="微软雅黑"/>
              </a:rPr>
              <a:t>FutureTask</a:t>
            </a:r>
            <a:r>
              <a:rPr dirty="0" sz="2100">
                <a:latin typeface="微软雅黑"/>
                <a:cs typeface="微软雅黑"/>
              </a:rPr>
              <a:t>对象；</a:t>
            </a:r>
            <a:endParaRPr sz="2100">
              <a:latin typeface="微软雅黑"/>
              <a:cs typeface="微软雅黑"/>
            </a:endParaRPr>
          </a:p>
          <a:p>
            <a:pPr marL="12700" marR="463550">
              <a:lnSpc>
                <a:spcPts val="2260"/>
              </a:lnSpc>
              <a:spcBef>
                <a:spcPts val="790"/>
              </a:spcBef>
            </a:pPr>
            <a:r>
              <a:rPr dirty="0" sz="2100" spc="-5">
                <a:latin typeface="微软雅黑"/>
                <a:cs typeface="微软雅黑"/>
              </a:rPr>
              <a:t>3</a:t>
            </a:r>
            <a:r>
              <a:rPr dirty="0" sz="2100">
                <a:latin typeface="微软雅黑"/>
                <a:cs typeface="微软雅黑"/>
              </a:rPr>
              <a:t>、以</a:t>
            </a:r>
            <a:r>
              <a:rPr dirty="0" sz="2100" spc="-5">
                <a:latin typeface="微软雅黑"/>
                <a:cs typeface="微软雅黑"/>
              </a:rPr>
              <a:t>F</a:t>
            </a:r>
            <a:r>
              <a:rPr dirty="0" sz="2100">
                <a:latin typeface="微软雅黑"/>
                <a:cs typeface="微软雅黑"/>
              </a:rPr>
              <a:t>u</a:t>
            </a:r>
            <a:r>
              <a:rPr dirty="0" sz="2100" spc="-5">
                <a:latin typeface="微软雅黑"/>
                <a:cs typeface="微软雅黑"/>
              </a:rPr>
              <a:t>t</a:t>
            </a:r>
            <a:r>
              <a:rPr dirty="0" sz="2100">
                <a:latin typeface="微软雅黑"/>
                <a:cs typeface="微软雅黑"/>
              </a:rPr>
              <a:t>u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 spc="-240">
                <a:latin typeface="微软雅黑"/>
                <a:cs typeface="微软雅黑"/>
              </a:rPr>
              <a:t>T</a:t>
            </a:r>
            <a:r>
              <a:rPr dirty="0" sz="2100" spc="-5">
                <a:latin typeface="微软雅黑"/>
                <a:cs typeface="微软雅黑"/>
              </a:rPr>
              <a:t>as</a:t>
            </a:r>
            <a:r>
              <a:rPr dirty="0" sz="2100">
                <a:latin typeface="微软雅黑"/>
                <a:cs typeface="微软雅黑"/>
              </a:rPr>
              <a:t>k对象为</a:t>
            </a:r>
            <a:r>
              <a:rPr dirty="0" sz="2100" spc="-5">
                <a:latin typeface="微软雅黑"/>
                <a:cs typeface="微软雅黑"/>
              </a:rPr>
              <a:t>ta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>
                <a:latin typeface="微软雅黑"/>
                <a:cs typeface="微软雅黑"/>
              </a:rPr>
              <a:t>g</a:t>
            </a:r>
            <a:r>
              <a:rPr dirty="0" sz="2100" spc="-5">
                <a:latin typeface="微软雅黑"/>
                <a:cs typeface="微软雅黑"/>
              </a:rPr>
              <a:t>et</a:t>
            </a:r>
            <a:r>
              <a:rPr dirty="0" sz="2100">
                <a:latin typeface="微软雅黑"/>
                <a:cs typeface="微软雅黑"/>
              </a:rPr>
              <a:t>，创建</a:t>
            </a:r>
            <a:r>
              <a:rPr dirty="0" sz="2100" spc="-200">
                <a:latin typeface="微软雅黑"/>
                <a:cs typeface="微软雅黑"/>
              </a:rPr>
              <a:t>T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ea</a:t>
            </a:r>
            <a:r>
              <a:rPr dirty="0" sz="2100">
                <a:latin typeface="微软雅黑"/>
                <a:cs typeface="微软雅黑"/>
              </a:rPr>
              <a:t>d对象并调用  </a:t>
            </a:r>
            <a:r>
              <a:rPr dirty="0" sz="2100" spc="5">
                <a:latin typeface="微软雅黑"/>
                <a:cs typeface="微软雅黑"/>
              </a:rPr>
              <a:t>start</a:t>
            </a:r>
            <a:r>
              <a:rPr dirty="0" sz="2100">
                <a:latin typeface="微软雅黑"/>
                <a:cs typeface="微软雅黑"/>
              </a:rPr>
              <a:t>方法。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ts val="2260"/>
              </a:lnSpc>
            </a:pPr>
            <a:r>
              <a:rPr dirty="0" sz="2100">
                <a:latin typeface="微软雅黑"/>
                <a:cs typeface="微软雅黑"/>
              </a:rPr>
              <a:t>注意：C</a:t>
            </a:r>
            <a:r>
              <a:rPr dirty="0" sz="2100" spc="-5">
                <a:latin typeface="微软雅黑"/>
                <a:cs typeface="微软雅黑"/>
              </a:rPr>
              <a:t>a</a:t>
            </a:r>
            <a:r>
              <a:rPr dirty="0" sz="2100">
                <a:latin typeface="微软雅黑"/>
                <a:cs typeface="微软雅黑"/>
              </a:rPr>
              <a:t>ll</a:t>
            </a:r>
            <a:r>
              <a:rPr dirty="0" sz="2100" spc="-5">
                <a:latin typeface="微软雅黑"/>
                <a:cs typeface="微软雅黑"/>
              </a:rPr>
              <a:t>ab</a:t>
            </a:r>
            <a:r>
              <a:rPr dirty="0" sz="2100">
                <a:latin typeface="微软雅黑"/>
                <a:cs typeface="微软雅黑"/>
              </a:rPr>
              <a:t>l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与</a:t>
            </a:r>
            <a:r>
              <a:rPr dirty="0" sz="2100" spc="-5">
                <a:latin typeface="微软雅黑"/>
                <a:cs typeface="微软雅黑"/>
              </a:rPr>
              <a:t>F</a:t>
            </a:r>
            <a:r>
              <a:rPr dirty="0" sz="2100">
                <a:latin typeface="微软雅黑"/>
                <a:cs typeface="微软雅黑"/>
              </a:rPr>
              <a:t>u</a:t>
            </a:r>
            <a:r>
              <a:rPr dirty="0" sz="2100" spc="-5">
                <a:latin typeface="微软雅黑"/>
                <a:cs typeface="微软雅黑"/>
              </a:rPr>
              <a:t>t</a:t>
            </a:r>
            <a:r>
              <a:rPr dirty="0" sz="2100">
                <a:latin typeface="微软雅黑"/>
                <a:cs typeface="微软雅黑"/>
              </a:rPr>
              <a:t>u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 spc="-240">
                <a:latin typeface="微软雅黑"/>
                <a:cs typeface="微软雅黑"/>
              </a:rPr>
              <a:t>T</a:t>
            </a:r>
            <a:r>
              <a:rPr dirty="0" sz="2100" spc="-5">
                <a:latin typeface="微软雅黑"/>
                <a:cs typeface="微软雅黑"/>
              </a:rPr>
              <a:t>as</a:t>
            </a:r>
            <a:r>
              <a:rPr dirty="0" sz="2100">
                <a:latin typeface="微软雅黑"/>
                <a:cs typeface="微软雅黑"/>
              </a:rPr>
              <a:t>k的泛型要一致（指定线程执行 体</a:t>
            </a:r>
            <a:r>
              <a:rPr dirty="0" sz="2100" spc="-5">
                <a:latin typeface="微软雅黑"/>
                <a:cs typeface="微软雅黑"/>
              </a:rPr>
              <a:t>（call</a:t>
            </a:r>
            <a:r>
              <a:rPr dirty="0" sz="2100">
                <a:latin typeface="微软雅黑"/>
                <a:cs typeface="微软雅黑"/>
              </a:rPr>
              <a:t>方法）的返回值）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418528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11.2.3	</a:t>
            </a:r>
            <a:r>
              <a:rPr dirty="0" sz="2100" b="1">
                <a:latin typeface="微软雅黑"/>
                <a:cs typeface="微软雅黑"/>
              </a:rPr>
              <a:t>实现</a:t>
            </a:r>
            <a:r>
              <a:rPr dirty="0" sz="2100" spc="-5" b="1">
                <a:latin typeface="微软雅黑"/>
                <a:cs typeface="微软雅黑"/>
              </a:rPr>
              <a:t>Callable</a:t>
            </a:r>
            <a:r>
              <a:rPr dirty="0" sz="2100" b="1">
                <a:latin typeface="微软雅黑"/>
                <a:cs typeface="微软雅黑"/>
              </a:rPr>
              <a:t>接口创建线程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1535" y="1236979"/>
            <a:ext cx="7354570" cy="3591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6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三种创建线程方式的对比：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50">
              <a:latin typeface="微软雅黑"/>
              <a:cs typeface="微软雅黑"/>
            </a:endParaRPr>
          </a:p>
          <a:p>
            <a:pPr marL="48831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实现接口的方式更好，原因如下：</a:t>
            </a:r>
            <a:endParaRPr sz="1800">
              <a:latin typeface="微软雅黑"/>
              <a:cs typeface="微软雅黑"/>
            </a:endParaRPr>
          </a:p>
          <a:p>
            <a:pPr marL="12700" marR="297180" indent="475615">
              <a:lnSpc>
                <a:spcPct val="100000"/>
              </a:lnSpc>
            </a:pPr>
            <a:r>
              <a:rPr dirty="0" sz="1800" spc="-5">
                <a:latin typeface="微软雅黑"/>
                <a:cs typeface="微软雅黑"/>
              </a:rPr>
              <a:t>A</a:t>
            </a:r>
            <a:r>
              <a:rPr dirty="0" sz="1800">
                <a:latin typeface="微软雅黑"/>
                <a:cs typeface="微软雅黑"/>
              </a:rPr>
              <a:t>。实现接口之后，线程体还可以继承其他父类；但如果已经继承  </a:t>
            </a:r>
            <a:r>
              <a:rPr dirty="0" sz="1800" spc="-10">
                <a:latin typeface="微软雅黑"/>
                <a:cs typeface="微软雅黑"/>
              </a:rPr>
              <a:t>Thread，</a:t>
            </a:r>
            <a:r>
              <a:rPr dirty="0" sz="1800">
                <a:latin typeface="微软雅黑"/>
                <a:cs typeface="微软雅黑"/>
              </a:rPr>
              <a:t>不能继承其他父类。</a:t>
            </a:r>
            <a:endParaRPr sz="1800">
              <a:latin typeface="微软雅黑"/>
              <a:cs typeface="微软雅黑"/>
            </a:endParaRPr>
          </a:p>
          <a:p>
            <a:pPr marL="487680" marR="508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B。实现接口方式创建的线程，可以方便地使用线程池，性能更好！  C。对于继承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h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-5">
                <a:latin typeface="微软雅黑"/>
                <a:cs typeface="微软雅黑"/>
              </a:rPr>
              <a:t>d</a:t>
            </a:r>
            <a:r>
              <a:rPr dirty="0" sz="1800">
                <a:latin typeface="微软雅黑"/>
                <a:cs typeface="微软雅黑"/>
              </a:rPr>
              <a:t>的方式创建线程类，每个线程都需要创建一个线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程类的实例，从而造成数据逻辑与业务逻辑混杂。</a:t>
            </a:r>
            <a:endParaRPr sz="1800">
              <a:latin typeface="微软雅黑"/>
              <a:cs typeface="微软雅黑"/>
            </a:endParaRPr>
          </a:p>
          <a:p>
            <a:pPr marL="12700" marR="55880" indent="67945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对于实现接口的方式，多个线程可共用同一个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-35">
                <a:latin typeface="微软雅黑"/>
                <a:cs typeface="微软雅黑"/>
              </a:rPr>
              <a:t>r</a:t>
            </a:r>
            <a:r>
              <a:rPr dirty="0" sz="1800" spc="-5">
                <a:latin typeface="微软雅黑"/>
                <a:cs typeface="微软雅黑"/>
              </a:rPr>
              <a:t>get</a:t>
            </a:r>
            <a:r>
              <a:rPr dirty="0" sz="1800">
                <a:latin typeface="微软雅黑"/>
                <a:cs typeface="微软雅黑"/>
              </a:rPr>
              <a:t>，数据逻辑与 业务逻辑是分离的。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300">
              <a:latin typeface="微软雅黑"/>
              <a:cs typeface="微软雅黑"/>
            </a:endParaRPr>
          </a:p>
          <a:p>
            <a:pPr marL="48831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继承</a:t>
            </a:r>
            <a:r>
              <a:rPr dirty="0" sz="1800" spc="-10">
                <a:latin typeface="微软雅黑"/>
                <a:cs typeface="微软雅黑"/>
              </a:rPr>
              <a:t>Thread</a:t>
            </a:r>
            <a:r>
              <a:rPr dirty="0" sz="1800">
                <a:latin typeface="微软雅黑"/>
                <a:cs typeface="微软雅黑"/>
              </a:rPr>
              <a:t>创建的好处在于：编程简单，适合初学者！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994" y="1481454"/>
            <a:ext cx="7397750" cy="63309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线程由新建、就绪、运行、阻塞、死亡这些状态构成了它的生 命周期，呈现了其工作的过程。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4207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.3	线程的状态与生命周期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8990" y="1476375"/>
            <a:ext cx="7227570" cy="3308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微软雅黑"/>
                <a:cs typeface="微软雅黑"/>
              </a:rPr>
              <a:t>创建:</a:t>
            </a:r>
            <a:endParaRPr sz="2400">
              <a:latin typeface="微软雅黑"/>
              <a:cs typeface="微软雅黑"/>
            </a:endParaRPr>
          </a:p>
          <a:p>
            <a:pPr marL="12700" marR="5080">
              <a:lnSpc>
                <a:spcPts val="2590"/>
              </a:lnSpc>
              <a:spcBef>
                <a:spcPts val="409"/>
              </a:spcBef>
            </a:pPr>
            <a:r>
              <a:rPr dirty="0" sz="2400">
                <a:latin typeface="微软雅黑"/>
                <a:cs typeface="微软雅黑"/>
              </a:rPr>
              <a:t>刚刚创建</a:t>
            </a:r>
            <a:r>
              <a:rPr dirty="0" sz="2400" spc="-5">
                <a:latin typeface="微软雅黑"/>
                <a:cs typeface="微软雅黑"/>
              </a:rPr>
              <a:t>T</a:t>
            </a:r>
            <a:r>
              <a:rPr dirty="0" sz="2400">
                <a:latin typeface="微软雅黑"/>
                <a:cs typeface="微软雅黑"/>
              </a:rPr>
              <a:t>h</a:t>
            </a:r>
            <a:r>
              <a:rPr dirty="0" sz="2400" spc="-40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ead</a:t>
            </a:r>
            <a:r>
              <a:rPr dirty="0" sz="2400">
                <a:latin typeface="微软雅黑"/>
                <a:cs typeface="微软雅黑"/>
              </a:rPr>
              <a:t>类或</a:t>
            </a:r>
            <a:r>
              <a:rPr dirty="0" sz="2400" spc="-5">
                <a:latin typeface="微软雅黑"/>
                <a:cs typeface="微软雅黑"/>
              </a:rPr>
              <a:t>T</a:t>
            </a:r>
            <a:r>
              <a:rPr dirty="0" sz="2400">
                <a:latin typeface="微软雅黑"/>
                <a:cs typeface="微软雅黑"/>
              </a:rPr>
              <a:t>h</a:t>
            </a:r>
            <a:r>
              <a:rPr dirty="0" sz="2400" spc="-40">
                <a:latin typeface="微软雅黑"/>
                <a:cs typeface="微软雅黑"/>
              </a:rPr>
              <a:t>r</a:t>
            </a:r>
            <a:r>
              <a:rPr dirty="0" sz="2400" spc="-5">
                <a:latin typeface="微软雅黑"/>
                <a:cs typeface="微软雅黑"/>
              </a:rPr>
              <a:t>ead</a:t>
            </a:r>
            <a:r>
              <a:rPr dirty="0" sz="2400">
                <a:latin typeface="微软雅黑"/>
                <a:cs typeface="微软雅黑"/>
              </a:rPr>
              <a:t>子类的实例，此时线程只 是普通</a:t>
            </a:r>
            <a:r>
              <a:rPr dirty="0" sz="2400" spc="-25">
                <a:latin typeface="微软雅黑"/>
                <a:cs typeface="微软雅黑"/>
              </a:rPr>
              <a:t>Java</a:t>
            </a:r>
            <a:r>
              <a:rPr dirty="0" sz="2400">
                <a:latin typeface="微软雅黑"/>
                <a:cs typeface="微软雅黑"/>
              </a:rPr>
              <a:t>对象。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微软雅黑"/>
                <a:cs typeface="微软雅黑"/>
              </a:rPr>
              <a:t>就绪：</a:t>
            </a:r>
            <a:endParaRPr sz="2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400">
                <a:latin typeface="微软雅黑"/>
                <a:cs typeface="微软雅黑"/>
              </a:rPr>
              <a:t>调用</a:t>
            </a:r>
            <a:r>
              <a:rPr dirty="0" sz="2400" spc="10">
                <a:latin typeface="微软雅黑"/>
                <a:cs typeface="微软雅黑"/>
              </a:rPr>
              <a:t>start</a:t>
            </a:r>
            <a:r>
              <a:rPr dirty="0" sz="2400">
                <a:latin typeface="微软雅黑"/>
                <a:cs typeface="微软雅黑"/>
              </a:rPr>
              <a:t>方法之后，就进入</a:t>
            </a:r>
            <a:r>
              <a:rPr dirty="0" sz="2400" spc="-15">
                <a:latin typeface="微软雅黑"/>
                <a:cs typeface="微软雅黑"/>
              </a:rPr>
              <a:t>ready</a:t>
            </a:r>
            <a:r>
              <a:rPr dirty="0" sz="2400">
                <a:latin typeface="微软雅黑"/>
                <a:cs typeface="微软雅黑"/>
              </a:rPr>
              <a:t>。</a:t>
            </a:r>
            <a:endParaRPr sz="2400">
              <a:latin typeface="微软雅黑"/>
              <a:cs typeface="微软雅黑"/>
            </a:endParaRPr>
          </a:p>
          <a:p>
            <a:pPr marL="734060">
              <a:lnSpc>
                <a:spcPct val="100000"/>
              </a:lnSpc>
              <a:spcBef>
                <a:spcPts val="85"/>
              </a:spcBef>
            </a:pPr>
            <a:r>
              <a:rPr dirty="0" sz="2400">
                <a:latin typeface="微软雅黑"/>
                <a:cs typeface="微软雅黑"/>
              </a:rPr>
              <a:t>处于就绪状态的线程，随时可能进行运行。</a:t>
            </a:r>
            <a:endParaRPr sz="2400">
              <a:latin typeface="微软雅黑"/>
              <a:cs typeface="微软雅黑"/>
            </a:endParaRPr>
          </a:p>
          <a:p>
            <a:pPr marL="12700" marR="175895" indent="631190">
              <a:lnSpc>
                <a:spcPts val="2590"/>
              </a:lnSpc>
              <a:spcBef>
                <a:spcPts val="409"/>
              </a:spcBef>
            </a:pPr>
            <a:r>
              <a:rPr dirty="0" sz="2400">
                <a:latin typeface="微软雅黑"/>
                <a:cs typeface="微软雅黑"/>
              </a:rPr>
              <a:t>到底何时进入运行，取决线程调度器的调度，程 序员不知道。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8613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3</a:t>
            </a:r>
            <a:r>
              <a:rPr dirty="0" sz="2100" b="1">
                <a:latin typeface="微软雅黑"/>
                <a:cs typeface="微软雅黑"/>
              </a:rPr>
              <a:t>.1	新建和就绪状态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005" y="1476375"/>
            <a:ext cx="7215505" cy="3966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运行</a:t>
            </a:r>
            <a:endParaRPr sz="2400">
              <a:latin typeface="微软雅黑"/>
              <a:cs typeface="微软雅黑"/>
            </a:endParaRPr>
          </a:p>
          <a:p>
            <a:pPr algn="just" marL="184150" marR="5080" indent="-171450">
              <a:lnSpc>
                <a:spcPts val="2590"/>
              </a:lnSpc>
              <a:spcBef>
                <a:spcPts val="409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处于就绪状态的线程获得了</a:t>
            </a:r>
            <a:r>
              <a:rPr dirty="0" sz="2400" spc="-5">
                <a:latin typeface="微软雅黑"/>
                <a:cs typeface="微软雅黑"/>
              </a:rPr>
              <a:t>C</a:t>
            </a:r>
            <a:r>
              <a:rPr dirty="0" sz="2400">
                <a:latin typeface="微软雅黑"/>
                <a:cs typeface="微软雅黑"/>
              </a:rPr>
              <a:t>P</a:t>
            </a:r>
            <a:r>
              <a:rPr dirty="0" sz="2400" spc="-5">
                <a:latin typeface="微软雅黑"/>
                <a:cs typeface="微软雅黑"/>
              </a:rPr>
              <a:t>U</a:t>
            </a:r>
            <a:r>
              <a:rPr dirty="0" sz="2400">
                <a:latin typeface="微软雅黑"/>
                <a:cs typeface="微软雅黑"/>
              </a:rPr>
              <a:t>进入“运行”状态（  </a:t>
            </a:r>
            <a:r>
              <a:rPr dirty="0" sz="2400" spc="-5">
                <a:latin typeface="微软雅黑"/>
                <a:cs typeface="微软雅黑"/>
              </a:rPr>
              <a:t>running），</a:t>
            </a:r>
            <a:r>
              <a:rPr dirty="0" sz="2400">
                <a:latin typeface="微软雅黑"/>
                <a:cs typeface="微软雅黑"/>
              </a:rPr>
              <a:t>开始执行。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3400">
              <a:latin typeface="微软雅黑"/>
              <a:cs typeface="微软雅黑"/>
            </a:endParaRPr>
          </a:p>
          <a:p>
            <a:pPr algn="just" marL="184150" marR="13970" indent="-171450">
              <a:lnSpc>
                <a:spcPts val="259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400">
                <a:latin typeface="微软雅黑"/>
                <a:cs typeface="微软雅黑"/>
              </a:rPr>
              <a:t>操作系统大都采用抢占式的调度策略，即系统给每个 可执行的线程一个时间片来处理任务，时间片用完后 线程被换下。选择下一个线程时，系统会考虑线程的 优先级。</a:t>
            </a:r>
            <a:endParaRPr sz="2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1600">
              <a:latin typeface="微软雅黑"/>
              <a:cs typeface="微软雅黑"/>
            </a:endParaRPr>
          </a:p>
          <a:p>
            <a:pPr algn="just" marL="274320" indent="-261620">
              <a:lnSpc>
                <a:spcPct val="100000"/>
              </a:lnSpc>
              <a:buFont typeface="Arial"/>
              <a:buChar char="•"/>
              <a:tabLst>
                <a:tab pos="274320" algn="l"/>
              </a:tabLst>
            </a:pPr>
            <a:r>
              <a:rPr dirty="0" sz="2400">
                <a:latin typeface="微软雅黑"/>
                <a:cs typeface="微软雅黑"/>
              </a:rPr>
              <a:t>线程将一直在运行、就绪之间切换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3</a:t>
            </a:r>
            <a:r>
              <a:rPr dirty="0" sz="2100" b="1">
                <a:latin typeface="微软雅黑"/>
                <a:cs typeface="微软雅黑"/>
              </a:rPr>
              <a:t>.2	运行状态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8435" y="1466849"/>
            <a:ext cx="6256655" cy="2282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87120">
              <a:lnSpc>
                <a:spcPct val="1072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“阻塞”状态（bloc</a:t>
            </a:r>
            <a:r>
              <a:rPr dirty="0" sz="1800" spc="-40">
                <a:latin typeface="微软雅黑"/>
                <a:cs typeface="微软雅黑"/>
              </a:rPr>
              <a:t>k</a:t>
            </a:r>
            <a:r>
              <a:rPr dirty="0" sz="1800" spc="-5">
                <a:latin typeface="微软雅黑"/>
                <a:cs typeface="微软雅黑"/>
              </a:rPr>
              <a:t>ed</a:t>
            </a:r>
            <a:r>
              <a:rPr dirty="0" sz="1800">
                <a:latin typeface="微软雅黑"/>
                <a:cs typeface="微软雅黑"/>
              </a:rPr>
              <a:t>）是三种状态的组合体： 睡眠/资源阻塞/等待。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微软雅黑"/>
              <a:cs typeface="微软雅黑"/>
            </a:endParaRPr>
          </a:p>
          <a:p>
            <a:pPr algn="just" marL="12700" marR="5080">
              <a:lnSpc>
                <a:spcPts val="1939"/>
              </a:lnSpc>
              <a:spcBef>
                <a:spcPts val="5"/>
              </a:spcBef>
            </a:pPr>
            <a:r>
              <a:rPr dirty="0" sz="1800">
                <a:latin typeface="微软雅黑"/>
                <a:cs typeface="微软雅黑"/>
              </a:rPr>
              <a:t>共同点：线程依然是活的，但当前缺少运行它的条件，即当前 是不可运行的，如果发生某个特定的事件，它将返回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unnable 状态。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阻塞状态下的线程无法向下执行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3</a:t>
            </a:r>
            <a:r>
              <a:rPr dirty="0" sz="2100" b="1">
                <a:latin typeface="微软雅黑"/>
                <a:cs typeface="微软雅黑"/>
              </a:rPr>
              <a:t>.3	阻塞状态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86534"/>
            <a:ext cx="7634605" cy="2556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线程在运行状态时，遇到如下状况将会进入各种阻塞状态。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"/>
              <a:buChar char="•"/>
            </a:pPr>
            <a:endParaRPr sz="1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睡眠：线程调用</a:t>
            </a:r>
            <a:r>
              <a:rPr dirty="0" sz="1800" spc="-5">
                <a:latin typeface="微软雅黑"/>
                <a:cs typeface="微软雅黑"/>
              </a:rPr>
              <a:t>sleep()</a:t>
            </a:r>
            <a:r>
              <a:rPr dirty="0" sz="1800">
                <a:latin typeface="微软雅黑"/>
                <a:cs typeface="微软雅黑"/>
              </a:rPr>
              <a:t>方法睡眠一段时间。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"/>
              <a:buChar char="•"/>
            </a:pPr>
            <a:endParaRPr sz="1450">
              <a:latin typeface="微软雅黑"/>
              <a:cs typeface="微软雅黑"/>
            </a:endParaRPr>
          </a:p>
          <a:p>
            <a:pPr marL="184150" marR="5080" indent="-171450">
              <a:lnSpc>
                <a:spcPts val="1939"/>
              </a:lnSpc>
              <a:spcBef>
                <a:spcPts val="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资源阻塞：线程在等待一种资源，例如线程调用了阻塞式的I/</a:t>
            </a:r>
            <a:r>
              <a:rPr dirty="0" sz="1800" spc="-5">
                <a:latin typeface="微软雅黑"/>
                <a:cs typeface="微软雅黑"/>
              </a:rPr>
              <a:t>O</a:t>
            </a:r>
            <a:r>
              <a:rPr dirty="0" sz="1800">
                <a:latin typeface="微软雅黑"/>
                <a:cs typeface="微软雅黑"/>
              </a:rPr>
              <a:t>方法（等待 输入流等），在该方法返回之前该线程被阻止；线程试图获得一个同步锁</a:t>
            </a:r>
            <a:endParaRPr sz="1800">
              <a:latin typeface="微软雅黑"/>
              <a:cs typeface="微软雅黑"/>
            </a:endParaRPr>
          </a:p>
          <a:p>
            <a:pPr marL="184150">
              <a:lnSpc>
                <a:spcPts val="1910"/>
              </a:lnSpc>
            </a:pPr>
            <a:r>
              <a:rPr dirty="0" sz="1800">
                <a:latin typeface="微软雅黑"/>
                <a:cs typeface="微软雅黑"/>
              </a:rPr>
              <a:t>，但同步锁正被其他线程持有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3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等待：线程调用</a:t>
            </a:r>
            <a:r>
              <a:rPr dirty="0" sz="1800" spc="-5">
                <a:latin typeface="微软雅黑"/>
                <a:cs typeface="微软雅黑"/>
              </a:rPr>
              <a:t>wait()</a:t>
            </a:r>
            <a:r>
              <a:rPr dirty="0" sz="1800">
                <a:latin typeface="微软雅黑"/>
                <a:cs typeface="微软雅黑"/>
              </a:rPr>
              <a:t>方法后等候其他线程的唤醒通知。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3</a:t>
            </a:r>
            <a:r>
              <a:rPr dirty="0" sz="2100" b="1">
                <a:latin typeface="微软雅黑"/>
                <a:cs typeface="微软雅黑"/>
              </a:rPr>
              <a:t>.3	阻塞状态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5855" y="1466849"/>
            <a:ext cx="6826250" cy="8597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线程的</a:t>
            </a:r>
            <a:r>
              <a:rPr dirty="0" sz="1800" spc="-5">
                <a:latin typeface="微软雅黑"/>
                <a:cs typeface="微软雅黑"/>
              </a:rPr>
              <a:t>run()</a:t>
            </a:r>
            <a:r>
              <a:rPr dirty="0" sz="1800">
                <a:latin typeface="微软雅黑"/>
                <a:cs typeface="微软雅黑"/>
              </a:rPr>
              <a:t>方法执行完毕，线程正常结束；</a:t>
            </a:r>
            <a:endParaRPr sz="1800">
              <a:latin typeface="微软雅黑"/>
              <a:cs typeface="微软雅黑"/>
            </a:endParaRPr>
          </a:p>
          <a:p>
            <a:pPr marL="184150" indent="-171450">
              <a:lnSpc>
                <a:spcPts val="2050"/>
              </a:lnSpc>
              <a:spcBef>
                <a:spcPts val="15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或者线程执行过程中抛出一个未捕获的异常或错误，线程异常结束</a:t>
            </a:r>
            <a:endParaRPr sz="1800">
              <a:latin typeface="微软雅黑"/>
              <a:cs typeface="微软雅黑"/>
            </a:endParaRPr>
          </a:p>
          <a:p>
            <a:pPr marL="184150">
              <a:lnSpc>
                <a:spcPts val="2050"/>
              </a:lnSpc>
            </a:pPr>
            <a:r>
              <a:rPr dirty="0" sz="1800">
                <a:latin typeface="微软雅黑"/>
                <a:cs typeface="微软雅黑"/>
              </a:rPr>
              <a:t>。结束后线程处于“死亡”状态</a:t>
            </a:r>
            <a:r>
              <a:rPr dirty="0" sz="1800" spc="-5">
                <a:latin typeface="微软雅黑"/>
                <a:cs typeface="微软雅黑"/>
              </a:rPr>
              <a:t>（dead）</a:t>
            </a:r>
            <a:r>
              <a:rPr dirty="0" sz="1800">
                <a:latin typeface="微软雅黑"/>
                <a:cs typeface="微软雅黑"/>
              </a:rPr>
              <a:t>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10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3</a:t>
            </a:r>
            <a:r>
              <a:rPr dirty="0" sz="2100" b="1">
                <a:latin typeface="微软雅黑"/>
                <a:cs typeface="微软雅黑"/>
              </a:rPr>
              <a:t>.4	死亡状态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803135"/>
            <a:ext cx="528955" cy="55244"/>
          </a:xfrm>
          <a:custGeom>
            <a:avLst/>
            <a:gdLst/>
            <a:ahLst/>
            <a:cxnLst/>
            <a:rect l="l" t="t" r="r" b="b"/>
            <a:pathLst>
              <a:path w="528954" h="55245">
                <a:moveTo>
                  <a:pt x="0" y="54863"/>
                </a:moveTo>
                <a:lnTo>
                  <a:pt x="528827" y="54863"/>
                </a:lnTo>
                <a:lnTo>
                  <a:pt x="528827" y="0"/>
                </a:lnTo>
                <a:lnTo>
                  <a:pt x="0" y="0"/>
                </a:lnTo>
                <a:lnTo>
                  <a:pt x="0" y="54863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803135"/>
            <a:ext cx="8133715" cy="55244"/>
          </a:xfrm>
          <a:custGeom>
            <a:avLst/>
            <a:gdLst/>
            <a:ahLst/>
            <a:cxnLst/>
            <a:rect l="l" t="t" r="r" b="b"/>
            <a:pathLst>
              <a:path w="8133715" h="55245">
                <a:moveTo>
                  <a:pt x="0" y="54863"/>
                </a:moveTo>
                <a:lnTo>
                  <a:pt x="8133588" y="54863"/>
                </a:lnTo>
                <a:lnTo>
                  <a:pt x="8133588" y="0"/>
                </a:lnTo>
                <a:lnTo>
                  <a:pt x="0" y="0"/>
                </a:lnTo>
                <a:lnTo>
                  <a:pt x="0" y="54863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41702" y="6413852"/>
            <a:ext cx="179070" cy="2012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19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803135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0"/>
                </a:moveTo>
                <a:lnTo>
                  <a:pt x="0" y="5486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585127" y="2473058"/>
            <a:ext cx="2162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b="1">
                <a:latin typeface="Consolas"/>
                <a:cs typeface="Consolas"/>
              </a:rPr>
              <a:t>+(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char</a:t>
            </a:r>
            <a:r>
              <a:rPr dirty="0" sz="1800" b="1">
                <a:latin typeface="Consolas"/>
                <a:cs typeface="Consolas"/>
              </a:rPr>
              <a:t>)(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+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'A'</a:t>
            </a:r>
            <a:r>
              <a:rPr dirty="0" sz="1800" b="1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0057" y="1375778"/>
            <a:ext cx="604901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FirstThread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extends</a:t>
            </a:r>
            <a:r>
              <a:rPr dirty="0" sz="1800" spc="-35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Thread{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25"/>
              </a:lnSpc>
              <a:spcBef>
                <a:spcPts val="70"/>
              </a:spcBef>
            </a:pPr>
            <a:r>
              <a:rPr dirty="0" sz="180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dirty="0" sz="1800">
                <a:solidFill>
                  <a:srgbClr val="3E7E5F"/>
                </a:solidFill>
                <a:latin typeface="微软雅黑"/>
                <a:cs typeface="微软雅黑"/>
              </a:rPr>
              <a:t>重写</a:t>
            </a:r>
            <a:r>
              <a:rPr dirty="0" sz="1800">
                <a:solidFill>
                  <a:srgbClr val="3E7E5F"/>
                </a:solidFill>
                <a:latin typeface="Consolas"/>
                <a:cs typeface="Consolas"/>
              </a:rPr>
              <a:t>run</a:t>
            </a:r>
            <a:r>
              <a:rPr dirty="0" sz="1800">
                <a:solidFill>
                  <a:srgbClr val="3E7E5F"/>
                </a:solidFill>
                <a:latin typeface="微软雅黑"/>
                <a:cs typeface="微软雅黑"/>
              </a:rPr>
              <a:t>方法</a:t>
            </a:r>
            <a:endParaRPr sz="1800">
              <a:latin typeface="微软雅黑"/>
              <a:cs typeface="微软雅黑"/>
            </a:endParaRPr>
          </a:p>
          <a:p>
            <a:pPr marL="469900">
              <a:lnSpc>
                <a:spcPts val="2125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void</a:t>
            </a:r>
            <a:r>
              <a:rPr dirty="0" sz="1800" spc="-1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onsolas"/>
                <a:cs typeface="Consolas"/>
              </a:rPr>
              <a:t>run()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383665" marR="5080" indent="-45720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=0;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&lt;5;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++){  </a:t>
            </a: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.println(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this</a:t>
            </a:r>
            <a:r>
              <a:rPr dirty="0" sz="1800" b="1">
                <a:latin typeface="Consolas"/>
                <a:cs typeface="Consolas"/>
              </a:rPr>
              <a:t>.getName()+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spc="-100" b="1">
                <a:solidFill>
                  <a:srgbClr val="2A00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: 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=0;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&lt;400000000;</a:t>
            </a:r>
            <a:r>
              <a:rPr dirty="0" sz="1800" spc="-35" b="1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++);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99644" y="3942588"/>
            <a:ext cx="8745220" cy="2860675"/>
          </a:xfrm>
          <a:custGeom>
            <a:avLst/>
            <a:gdLst/>
            <a:ahLst/>
            <a:cxnLst/>
            <a:rect l="l" t="t" r="r" b="b"/>
            <a:pathLst>
              <a:path w="8745220" h="2860675">
                <a:moveTo>
                  <a:pt x="0" y="0"/>
                </a:moveTo>
                <a:lnTo>
                  <a:pt x="8744712" y="0"/>
                </a:lnTo>
                <a:lnTo>
                  <a:pt x="8744712" y="2860548"/>
                </a:lnTo>
                <a:lnTo>
                  <a:pt x="0" y="28605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78790" y="3961104"/>
            <a:ext cx="780923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SecondThread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implements</a:t>
            </a:r>
            <a:r>
              <a:rPr dirty="0" sz="1800" spc="-2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Runnable{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25"/>
              </a:lnSpc>
              <a:spcBef>
                <a:spcPts val="70"/>
              </a:spcBef>
            </a:pPr>
            <a:r>
              <a:rPr dirty="0" sz="1800">
                <a:solidFill>
                  <a:srgbClr val="3E7E5F"/>
                </a:solidFill>
                <a:latin typeface="Consolas"/>
                <a:cs typeface="Consolas"/>
              </a:rPr>
              <a:t>//</a:t>
            </a:r>
            <a:r>
              <a:rPr dirty="0" sz="1800">
                <a:solidFill>
                  <a:srgbClr val="3E7E5F"/>
                </a:solidFill>
                <a:latin typeface="微软雅黑"/>
                <a:cs typeface="微软雅黑"/>
              </a:rPr>
              <a:t>重写</a:t>
            </a:r>
            <a:r>
              <a:rPr dirty="0" sz="1800">
                <a:solidFill>
                  <a:srgbClr val="3E7E5F"/>
                </a:solidFill>
                <a:latin typeface="Consolas"/>
                <a:cs typeface="Consolas"/>
              </a:rPr>
              <a:t>run</a:t>
            </a:r>
            <a:r>
              <a:rPr dirty="0" sz="1800">
                <a:solidFill>
                  <a:srgbClr val="3E7E5F"/>
                </a:solidFill>
                <a:latin typeface="微软雅黑"/>
                <a:cs typeface="微软雅黑"/>
              </a:rPr>
              <a:t>方法</a:t>
            </a:r>
            <a:endParaRPr sz="1800">
              <a:latin typeface="微软雅黑"/>
              <a:cs typeface="微软雅黑"/>
            </a:endParaRPr>
          </a:p>
          <a:p>
            <a:pPr marL="469900">
              <a:lnSpc>
                <a:spcPts val="2125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void</a:t>
            </a:r>
            <a:r>
              <a:rPr dirty="0" sz="1800" spc="-5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FF0000"/>
                </a:solidFill>
                <a:latin typeface="Consolas"/>
                <a:cs typeface="Consolas"/>
              </a:rPr>
              <a:t>run()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=0; 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&lt;5;</a:t>
            </a:r>
            <a:r>
              <a:rPr dirty="0" sz="1800" spc="-10" b="1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++){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.println(Thread.currentThread().getName()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tabLst>
                <a:tab pos="2138045" algn="l"/>
              </a:tabLst>
            </a:pP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>
                <a:solidFill>
                  <a:srgbClr val="2A00FF"/>
                </a:solidFill>
                <a:latin typeface="Consolas"/>
                <a:cs typeface="Consolas"/>
              </a:rPr>
              <a:t>" :	"</a:t>
            </a:r>
            <a:r>
              <a:rPr dirty="0" sz="1800">
                <a:latin typeface="Consolas"/>
                <a:cs typeface="Consolas"/>
              </a:rPr>
              <a:t>+(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char</a:t>
            </a:r>
            <a:r>
              <a:rPr dirty="0" sz="1800" b="1">
                <a:latin typeface="Consolas"/>
                <a:cs typeface="Consolas"/>
              </a:rPr>
              <a:t>)(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+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'A'</a:t>
            </a:r>
            <a:r>
              <a:rPr dirty="0" sz="1800" b="1">
                <a:latin typeface="Consolas"/>
                <a:cs typeface="Consolas"/>
              </a:rPr>
              <a:t>));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=0;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&lt;400000000;</a:t>
            </a:r>
            <a:r>
              <a:rPr dirty="0" sz="1800" spc="-15" b="1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++);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7895" y="2921139"/>
            <a:ext cx="800100" cy="367030"/>
          </a:xfrm>
          <a:custGeom>
            <a:avLst/>
            <a:gdLst/>
            <a:ahLst/>
            <a:cxnLst/>
            <a:rect l="l" t="t" r="r" b="b"/>
            <a:pathLst>
              <a:path w="800100" h="367029">
                <a:moveTo>
                  <a:pt x="748665" y="1270"/>
                </a:moveTo>
                <a:lnTo>
                  <a:pt x="50876" y="1270"/>
                </a:lnTo>
                <a:lnTo>
                  <a:pt x="54013" y="0"/>
                </a:lnTo>
                <a:lnTo>
                  <a:pt x="745515" y="0"/>
                </a:lnTo>
                <a:lnTo>
                  <a:pt x="748665" y="1270"/>
                </a:lnTo>
                <a:close/>
              </a:path>
              <a:path w="800100" h="367029">
                <a:moveTo>
                  <a:pt x="754824" y="364490"/>
                </a:moveTo>
                <a:lnTo>
                  <a:pt x="44716" y="364490"/>
                </a:lnTo>
                <a:lnTo>
                  <a:pt x="38887" y="361950"/>
                </a:lnTo>
                <a:lnTo>
                  <a:pt x="33312" y="359410"/>
                </a:lnTo>
                <a:lnTo>
                  <a:pt x="28041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70"/>
                </a:lnTo>
                <a:lnTo>
                  <a:pt x="10807" y="339090"/>
                </a:lnTo>
                <a:lnTo>
                  <a:pt x="7620" y="334010"/>
                </a:lnTo>
                <a:lnTo>
                  <a:pt x="2794" y="322580"/>
                </a:lnTo>
                <a:lnTo>
                  <a:pt x="1917" y="318770"/>
                </a:lnTo>
                <a:lnTo>
                  <a:pt x="1206" y="316230"/>
                </a:lnTo>
                <a:lnTo>
                  <a:pt x="647" y="312420"/>
                </a:lnTo>
                <a:lnTo>
                  <a:pt x="241" y="309880"/>
                </a:lnTo>
                <a:lnTo>
                  <a:pt x="0" y="306070"/>
                </a:lnTo>
                <a:lnTo>
                  <a:pt x="0" y="59690"/>
                </a:lnTo>
                <a:lnTo>
                  <a:pt x="241" y="57150"/>
                </a:lnTo>
                <a:lnTo>
                  <a:pt x="647" y="53340"/>
                </a:lnTo>
                <a:lnTo>
                  <a:pt x="1206" y="50800"/>
                </a:lnTo>
                <a:lnTo>
                  <a:pt x="1917" y="46990"/>
                </a:lnTo>
                <a:lnTo>
                  <a:pt x="2794" y="44450"/>
                </a:lnTo>
                <a:lnTo>
                  <a:pt x="4927" y="38100"/>
                </a:lnTo>
                <a:lnTo>
                  <a:pt x="7620" y="33020"/>
                </a:lnTo>
                <a:lnTo>
                  <a:pt x="33312" y="7620"/>
                </a:lnTo>
                <a:lnTo>
                  <a:pt x="38887" y="3810"/>
                </a:lnTo>
                <a:lnTo>
                  <a:pt x="44716" y="2540"/>
                </a:lnTo>
                <a:lnTo>
                  <a:pt x="47790" y="1270"/>
                </a:lnTo>
                <a:lnTo>
                  <a:pt x="751751" y="1270"/>
                </a:lnTo>
                <a:lnTo>
                  <a:pt x="754824" y="2540"/>
                </a:lnTo>
                <a:lnTo>
                  <a:pt x="760641" y="3810"/>
                </a:lnTo>
                <a:lnTo>
                  <a:pt x="764366" y="6350"/>
                </a:lnTo>
                <a:lnTo>
                  <a:pt x="63830" y="6350"/>
                </a:lnTo>
                <a:lnTo>
                  <a:pt x="60744" y="7620"/>
                </a:lnTo>
                <a:lnTo>
                  <a:pt x="52489" y="7620"/>
                </a:lnTo>
                <a:lnTo>
                  <a:pt x="49593" y="8890"/>
                </a:lnTo>
                <a:lnTo>
                  <a:pt x="47193" y="8890"/>
                </a:lnTo>
                <a:lnTo>
                  <a:pt x="41681" y="11430"/>
                </a:lnTo>
                <a:lnTo>
                  <a:pt x="42024" y="11430"/>
                </a:lnTo>
                <a:lnTo>
                  <a:pt x="36779" y="13970"/>
                </a:lnTo>
                <a:lnTo>
                  <a:pt x="37109" y="13970"/>
                </a:lnTo>
                <a:lnTo>
                  <a:pt x="32156" y="16510"/>
                </a:lnTo>
                <a:lnTo>
                  <a:pt x="32461" y="16510"/>
                </a:lnTo>
                <a:lnTo>
                  <a:pt x="27838" y="20320"/>
                </a:lnTo>
                <a:lnTo>
                  <a:pt x="28117" y="20320"/>
                </a:lnTo>
                <a:lnTo>
                  <a:pt x="25281" y="22860"/>
                </a:lnTo>
                <a:lnTo>
                  <a:pt x="24117" y="22860"/>
                </a:lnTo>
                <a:lnTo>
                  <a:pt x="21212" y="26670"/>
                </a:lnTo>
                <a:lnTo>
                  <a:pt x="20472" y="26670"/>
                </a:lnTo>
                <a:lnTo>
                  <a:pt x="17018" y="31750"/>
                </a:lnTo>
                <a:lnTo>
                  <a:pt x="17233" y="31750"/>
                </a:lnTo>
                <a:lnTo>
                  <a:pt x="14224" y="36830"/>
                </a:lnTo>
                <a:lnTo>
                  <a:pt x="14401" y="36830"/>
                </a:lnTo>
                <a:lnTo>
                  <a:pt x="12506" y="40640"/>
                </a:lnTo>
                <a:lnTo>
                  <a:pt x="12014" y="40640"/>
                </a:lnTo>
                <a:lnTo>
                  <a:pt x="9994" y="46990"/>
                </a:lnTo>
                <a:lnTo>
                  <a:pt x="9283" y="49530"/>
                </a:lnTo>
                <a:lnTo>
                  <a:pt x="8661" y="52070"/>
                </a:lnTo>
                <a:lnTo>
                  <a:pt x="8166" y="54610"/>
                </a:lnTo>
                <a:lnTo>
                  <a:pt x="7810" y="57150"/>
                </a:lnTo>
                <a:lnTo>
                  <a:pt x="7683" y="59690"/>
                </a:lnTo>
                <a:lnTo>
                  <a:pt x="7607" y="306070"/>
                </a:lnTo>
                <a:lnTo>
                  <a:pt x="7835" y="308610"/>
                </a:lnTo>
                <a:lnTo>
                  <a:pt x="8191" y="312420"/>
                </a:lnTo>
                <a:lnTo>
                  <a:pt x="8343" y="312420"/>
                </a:lnTo>
                <a:lnTo>
                  <a:pt x="8699" y="314960"/>
                </a:lnTo>
                <a:lnTo>
                  <a:pt x="9321" y="317500"/>
                </a:lnTo>
                <a:lnTo>
                  <a:pt x="10083" y="320040"/>
                </a:lnTo>
                <a:lnTo>
                  <a:pt x="12014" y="325120"/>
                </a:lnTo>
                <a:lnTo>
                  <a:pt x="11874" y="325120"/>
                </a:lnTo>
                <a:lnTo>
                  <a:pt x="14401" y="330200"/>
                </a:lnTo>
                <a:lnTo>
                  <a:pt x="14224" y="330200"/>
                </a:lnTo>
                <a:lnTo>
                  <a:pt x="17233" y="335280"/>
                </a:lnTo>
                <a:lnTo>
                  <a:pt x="17881" y="335280"/>
                </a:lnTo>
                <a:lnTo>
                  <a:pt x="20472" y="339090"/>
                </a:lnTo>
                <a:lnTo>
                  <a:pt x="20243" y="339090"/>
                </a:lnTo>
                <a:lnTo>
                  <a:pt x="24117" y="342900"/>
                </a:lnTo>
                <a:lnTo>
                  <a:pt x="23863" y="342900"/>
                </a:lnTo>
                <a:lnTo>
                  <a:pt x="28117" y="346710"/>
                </a:lnTo>
                <a:lnTo>
                  <a:pt x="27838" y="346710"/>
                </a:lnTo>
                <a:lnTo>
                  <a:pt x="32461" y="350520"/>
                </a:lnTo>
                <a:lnTo>
                  <a:pt x="33807" y="350520"/>
                </a:lnTo>
                <a:lnTo>
                  <a:pt x="37109" y="353060"/>
                </a:lnTo>
                <a:lnTo>
                  <a:pt x="36779" y="353060"/>
                </a:lnTo>
                <a:lnTo>
                  <a:pt x="42024" y="355600"/>
                </a:lnTo>
                <a:lnTo>
                  <a:pt x="44437" y="355600"/>
                </a:lnTo>
                <a:lnTo>
                  <a:pt x="47193" y="356870"/>
                </a:lnTo>
                <a:lnTo>
                  <a:pt x="46926" y="356870"/>
                </a:lnTo>
                <a:lnTo>
                  <a:pt x="49771" y="358140"/>
                </a:lnTo>
                <a:lnTo>
                  <a:pt x="55067" y="358140"/>
                </a:lnTo>
                <a:lnTo>
                  <a:pt x="58077" y="359410"/>
                </a:lnTo>
                <a:lnTo>
                  <a:pt x="766229" y="359410"/>
                </a:lnTo>
                <a:lnTo>
                  <a:pt x="760641" y="361950"/>
                </a:lnTo>
                <a:lnTo>
                  <a:pt x="754824" y="364490"/>
                </a:lnTo>
                <a:close/>
              </a:path>
              <a:path w="800100" h="367029">
                <a:moveTo>
                  <a:pt x="775677" y="24130"/>
                </a:moveTo>
                <a:lnTo>
                  <a:pt x="771410" y="20320"/>
                </a:lnTo>
                <a:lnTo>
                  <a:pt x="771690" y="20320"/>
                </a:lnTo>
                <a:lnTo>
                  <a:pt x="767067" y="16510"/>
                </a:lnTo>
                <a:lnTo>
                  <a:pt x="767372" y="16510"/>
                </a:lnTo>
                <a:lnTo>
                  <a:pt x="762431" y="13970"/>
                </a:lnTo>
                <a:lnTo>
                  <a:pt x="762749" y="13970"/>
                </a:lnTo>
                <a:lnTo>
                  <a:pt x="757504" y="11430"/>
                </a:lnTo>
                <a:lnTo>
                  <a:pt x="757847" y="11430"/>
                </a:lnTo>
                <a:lnTo>
                  <a:pt x="752335" y="8890"/>
                </a:lnTo>
                <a:lnTo>
                  <a:pt x="749947" y="8890"/>
                </a:lnTo>
                <a:lnTo>
                  <a:pt x="747039" y="7620"/>
                </a:lnTo>
                <a:lnTo>
                  <a:pt x="738797" y="7620"/>
                </a:lnTo>
                <a:lnTo>
                  <a:pt x="735711" y="6350"/>
                </a:lnTo>
                <a:lnTo>
                  <a:pt x="764366" y="6350"/>
                </a:lnTo>
                <a:lnTo>
                  <a:pt x="766229" y="7620"/>
                </a:lnTo>
                <a:lnTo>
                  <a:pt x="771486" y="10160"/>
                </a:lnTo>
                <a:lnTo>
                  <a:pt x="776401" y="13970"/>
                </a:lnTo>
                <a:lnTo>
                  <a:pt x="780935" y="17780"/>
                </a:lnTo>
                <a:lnTo>
                  <a:pt x="785050" y="22860"/>
                </a:lnTo>
                <a:lnTo>
                  <a:pt x="775411" y="22860"/>
                </a:lnTo>
                <a:lnTo>
                  <a:pt x="775677" y="24130"/>
                </a:lnTo>
                <a:close/>
              </a:path>
              <a:path w="800100" h="367029">
                <a:moveTo>
                  <a:pt x="46926" y="10160"/>
                </a:moveTo>
                <a:lnTo>
                  <a:pt x="47193" y="8890"/>
                </a:lnTo>
                <a:lnTo>
                  <a:pt x="49771" y="8890"/>
                </a:lnTo>
                <a:lnTo>
                  <a:pt x="46926" y="10160"/>
                </a:lnTo>
                <a:close/>
              </a:path>
              <a:path w="800100" h="367029">
                <a:moveTo>
                  <a:pt x="752602" y="10160"/>
                </a:moveTo>
                <a:lnTo>
                  <a:pt x="749757" y="8890"/>
                </a:lnTo>
                <a:lnTo>
                  <a:pt x="752335" y="8890"/>
                </a:lnTo>
                <a:lnTo>
                  <a:pt x="752602" y="10160"/>
                </a:lnTo>
                <a:close/>
              </a:path>
              <a:path w="800100" h="367029">
                <a:moveTo>
                  <a:pt x="23863" y="24130"/>
                </a:moveTo>
                <a:lnTo>
                  <a:pt x="24117" y="22860"/>
                </a:lnTo>
                <a:lnTo>
                  <a:pt x="25281" y="22860"/>
                </a:lnTo>
                <a:lnTo>
                  <a:pt x="23863" y="24130"/>
                </a:lnTo>
                <a:close/>
              </a:path>
              <a:path w="800100" h="367029">
                <a:moveTo>
                  <a:pt x="779284" y="27940"/>
                </a:moveTo>
                <a:lnTo>
                  <a:pt x="775411" y="22860"/>
                </a:lnTo>
                <a:lnTo>
                  <a:pt x="785050" y="22860"/>
                </a:lnTo>
                <a:lnTo>
                  <a:pt x="787803" y="26670"/>
                </a:lnTo>
                <a:lnTo>
                  <a:pt x="779056" y="26670"/>
                </a:lnTo>
                <a:lnTo>
                  <a:pt x="779284" y="27940"/>
                </a:lnTo>
                <a:close/>
              </a:path>
              <a:path w="800100" h="367029">
                <a:moveTo>
                  <a:pt x="20243" y="27940"/>
                </a:moveTo>
                <a:lnTo>
                  <a:pt x="20472" y="26670"/>
                </a:lnTo>
                <a:lnTo>
                  <a:pt x="21212" y="26670"/>
                </a:lnTo>
                <a:lnTo>
                  <a:pt x="20243" y="27940"/>
                </a:lnTo>
                <a:close/>
              </a:path>
              <a:path w="800100" h="367029">
                <a:moveTo>
                  <a:pt x="787666" y="41910"/>
                </a:moveTo>
                <a:lnTo>
                  <a:pt x="785139" y="36830"/>
                </a:lnTo>
                <a:lnTo>
                  <a:pt x="785317" y="36830"/>
                </a:lnTo>
                <a:lnTo>
                  <a:pt x="782307" y="31750"/>
                </a:lnTo>
                <a:lnTo>
                  <a:pt x="782510" y="31750"/>
                </a:lnTo>
                <a:lnTo>
                  <a:pt x="779056" y="26670"/>
                </a:lnTo>
                <a:lnTo>
                  <a:pt x="787803" y="26670"/>
                </a:lnTo>
                <a:lnTo>
                  <a:pt x="788720" y="27940"/>
                </a:lnTo>
                <a:lnTo>
                  <a:pt x="791921" y="33020"/>
                </a:lnTo>
                <a:lnTo>
                  <a:pt x="794613" y="38100"/>
                </a:lnTo>
                <a:lnTo>
                  <a:pt x="795461" y="40640"/>
                </a:lnTo>
                <a:lnTo>
                  <a:pt x="787514" y="40640"/>
                </a:lnTo>
                <a:lnTo>
                  <a:pt x="787666" y="41910"/>
                </a:lnTo>
                <a:close/>
              </a:path>
              <a:path w="800100" h="367029">
                <a:moveTo>
                  <a:pt x="11874" y="41910"/>
                </a:moveTo>
                <a:lnTo>
                  <a:pt x="12014" y="40640"/>
                </a:lnTo>
                <a:lnTo>
                  <a:pt x="12506" y="40640"/>
                </a:lnTo>
                <a:lnTo>
                  <a:pt x="11874" y="41910"/>
                </a:lnTo>
                <a:close/>
              </a:path>
              <a:path w="800100" h="367029">
                <a:moveTo>
                  <a:pt x="798893" y="312420"/>
                </a:moveTo>
                <a:lnTo>
                  <a:pt x="791337" y="312420"/>
                </a:lnTo>
                <a:lnTo>
                  <a:pt x="791718" y="308610"/>
                </a:lnTo>
                <a:lnTo>
                  <a:pt x="791933" y="306070"/>
                </a:lnTo>
                <a:lnTo>
                  <a:pt x="791921" y="59690"/>
                </a:lnTo>
                <a:lnTo>
                  <a:pt x="791705" y="57150"/>
                </a:lnTo>
                <a:lnTo>
                  <a:pt x="791337" y="54610"/>
                </a:lnTo>
                <a:lnTo>
                  <a:pt x="790841" y="52070"/>
                </a:lnTo>
                <a:lnTo>
                  <a:pt x="790206" y="49530"/>
                </a:lnTo>
                <a:lnTo>
                  <a:pt x="789444" y="46990"/>
                </a:lnTo>
                <a:lnTo>
                  <a:pt x="787514" y="40640"/>
                </a:lnTo>
                <a:lnTo>
                  <a:pt x="795461" y="40640"/>
                </a:lnTo>
                <a:lnTo>
                  <a:pt x="796734" y="44450"/>
                </a:lnTo>
                <a:lnTo>
                  <a:pt x="797610" y="46990"/>
                </a:lnTo>
                <a:lnTo>
                  <a:pt x="798322" y="50800"/>
                </a:lnTo>
                <a:lnTo>
                  <a:pt x="798893" y="53340"/>
                </a:lnTo>
                <a:lnTo>
                  <a:pt x="799299" y="57150"/>
                </a:lnTo>
                <a:lnTo>
                  <a:pt x="799541" y="59690"/>
                </a:lnTo>
                <a:lnTo>
                  <a:pt x="799541" y="306070"/>
                </a:lnTo>
                <a:lnTo>
                  <a:pt x="799299" y="309880"/>
                </a:lnTo>
                <a:lnTo>
                  <a:pt x="798893" y="312420"/>
                </a:lnTo>
                <a:close/>
              </a:path>
              <a:path w="800100" h="367029">
                <a:moveTo>
                  <a:pt x="7607" y="60960"/>
                </a:moveTo>
                <a:lnTo>
                  <a:pt x="7607" y="59690"/>
                </a:lnTo>
                <a:lnTo>
                  <a:pt x="7607" y="60960"/>
                </a:lnTo>
                <a:close/>
              </a:path>
              <a:path w="800100" h="367029">
                <a:moveTo>
                  <a:pt x="791933" y="60960"/>
                </a:moveTo>
                <a:lnTo>
                  <a:pt x="791857" y="59690"/>
                </a:lnTo>
                <a:lnTo>
                  <a:pt x="791933" y="60960"/>
                </a:lnTo>
                <a:close/>
              </a:path>
              <a:path w="800100" h="367029">
                <a:moveTo>
                  <a:pt x="8343" y="312420"/>
                </a:moveTo>
                <a:lnTo>
                  <a:pt x="8191" y="312420"/>
                </a:lnTo>
                <a:lnTo>
                  <a:pt x="8166" y="311150"/>
                </a:lnTo>
                <a:lnTo>
                  <a:pt x="8343" y="312420"/>
                </a:lnTo>
                <a:close/>
              </a:path>
              <a:path w="800100" h="367029">
                <a:moveTo>
                  <a:pt x="791121" y="335280"/>
                </a:moveTo>
                <a:lnTo>
                  <a:pt x="782307" y="335280"/>
                </a:lnTo>
                <a:lnTo>
                  <a:pt x="785317" y="330200"/>
                </a:lnTo>
                <a:lnTo>
                  <a:pt x="785139" y="330200"/>
                </a:lnTo>
                <a:lnTo>
                  <a:pt x="787666" y="325120"/>
                </a:lnTo>
                <a:lnTo>
                  <a:pt x="787514" y="325120"/>
                </a:lnTo>
                <a:lnTo>
                  <a:pt x="789533" y="320040"/>
                </a:lnTo>
                <a:lnTo>
                  <a:pt x="790257" y="317500"/>
                </a:lnTo>
                <a:lnTo>
                  <a:pt x="790879" y="314960"/>
                </a:lnTo>
                <a:lnTo>
                  <a:pt x="791375" y="311150"/>
                </a:lnTo>
                <a:lnTo>
                  <a:pt x="791337" y="312420"/>
                </a:lnTo>
                <a:lnTo>
                  <a:pt x="798893" y="312420"/>
                </a:lnTo>
                <a:lnTo>
                  <a:pt x="798322" y="316230"/>
                </a:lnTo>
                <a:lnTo>
                  <a:pt x="797610" y="318770"/>
                </a:lnTo>
                <a:lnTo>
                  <a:pt x="796734" y="322580"/>
                </a:lnTo>
                <a:lnTo>
                  <a:pt x="794613" y="327660"/>
                </a:lnTo>
                <a:lnTo>
                  <a:pt x="791921" y="334010"/>
                </a:lnTo>
                <a:lnTo>
                  <a:pt x="791121" y="335280"/>
                </a:lnTo>
                <a:close/>
              </a:path>
              <a:path w="800100" h="367029">
                <a:moveTo>
                  <a:pt x="17881" y="335280"/>
                </a:moveTo>
                <a:lnTo>
                  <a:pt x="17233" y="335280"/>
                </a:lnTo>
                <a:lnTo>
                  <a:pt x="17018" y="334010"/>
                </a:lnTo>
                <a:lnTo>
                  <a:pt x="17881" y="335280"/>
                </a:lnTo>
                <a:close/>
              </a:path>
              <a:path w="800100" h="367029">
                <a:moveTo>
                  <a:pt x="778668" y="350520"/>
                </a:moveTo>
                <a:lnTo>
                  <a:pt x="767067" y="350520"/>
                </a:lnTo>
                <a:lnTo>
                  <a:pt x="771690" y="346710"/>
                </a:lnTo>
                <a:lnTo>
                  <a:pt x="771410" y="346710"/>
                </a:lnTo>
                <a:lnTo>
                  <a:pt x="775677" y="342900"/>
                </a:lnTo>
                <a:lnTo>
                  <a:pt x="775411" y="342900"/>
                </a:lnTo>
                <a:lnTo>
                  <a:pt x="779284" y="339090"/>
                </a:lnTo>
                <a:lnTo>
                  <a:pt x="779056" y="339090"/>
                </a:lnTo>
                <a:lnTo>
                  <a:pt x="782510" y="334010"/>
                </a:lnTo>
                <a:lnTo>
                  <a:pt x="782307" y="335280"/>
                </a:lnTo>
                <a:lnTo>
                  <a:pt x="791121" y="335280"/>
                </a:lnTo>
                <a:lnTo>
                  <a:pt x="788720" y="339090"/>
                </a:lnTo>
                <a:lnTo>
                  <a:pt x="785050" y="344170"/>
                </a:lnTo>
                <a:lnTo>
                  <a:pt x="780935" y="347980"/>
                </a:lnTo>
                <a:lnTo>
                  <a:pt x="778668" y="350520"/>
                </a:lnTo>
                <a:close/>
              </a:path>
              <a:path w="800100" h="367029">
                <a:moveTo>
                  <a:pt x="33807" y="350520"/>
                </a:moveTo>
                <a:lnTo>
                  <a:pt x="32461" y="350520"/>
                </a:lnTo>
                <a:lnTo>
                  <a:pt x="32156" y="349250"/>
                </a:lnTo>
                <a:lnTo>
                  <a:pt x="33807" y="350520"/>
                </a:lnTo>
                <a:close/>
              </a:path>
              <a:path w="800100" h="367029">
                <a:moveTo>
                  <a:pt x="771486" y="355600"/>
                </a:moveTo>
                <a:lnTo>
                  <a:pt x="757504" y="355600"/>
                </a:lnTo>
                <a:lnTo>
                  <a:pt x="762749" y="353060"/>
                </a:lnTo>
                <a:lnTo>
                  <a:pt x="762431" y="353060"/>
                </a:lnTo>
                <a:lnTo>
                  <a:pt x="767372" y="349250"/>
                </a:lnTo>
                <a:lnTo>
                  <a:pt x="767067" y="350520"/>
                </a:lnTo>
                <a:lnTo>
                  <a:pt x="778668" y="350520"/>
                </a:lnTo>
                <a:lnTo>
                  <a:pt x="776401" y="353060"/>
                </a:lnTo>
                <a:lnTo>
                  <a:pt x="771486" y="355600"/>
                </a:lnTo>
                <a:close/>
              </a:path>
              <a:path w="800100" h="367029">
                <a:moveTo>
                  <a:pt x="44437" y="355600"/>
                </a:moveTo>
                <a:lnTo>
                  <a:pt x="42024" y="355600"/>
                </a:lnTo>
                <a:lnTo>
                  <a:pt x="41681" y="354330"/>
                </a:lnTo>
                <a:lnTo>
                  <a:pt x="44437" y="355600"/>
                </a:lnTo>
                <a:close/>
              </a:path>
              <a:path w="800100" h="367029">
                <a:moveTo>
                  <a:pt x="766229" y="359410"/>
                </a:moveTo>
                <a:lnTo>
                  <a:pt x="741464" y="359410"/>
                </a:lnTo>
                <a:lnTo>
                  <a:pt x="744461" y="358140"/>
                </a:lnTo>
                <a:lnTo>
                  <a:pt x="749757" y="358140"/>
                </a:lnTo>
                <a:lnTo>
                  <a:pt x="752602" y="356870"/>
                </a:lnTo>
                <a:lnTo>
                  <a:pt x="752335" y="356870"/>
                </a:lnTo>
                <a:lnTo>
                  <a:pt x="757847" y="354330"/>
                </a:lnTo>
                <a:lnTo>
                  <a:pt x="757504" y="355600"/>
                </a:lnTo>
                <a:lnTo>
                  <a:pt x="771486" y="355600"/>
                </a:lnTo>
                <a:lnTo>
                  <a:pt x="766229" y="359410"/>
                </a:lnTo>
                <a:close/>
              </a:path>
              <a:path w="800100" h="367029">
                <a:moveTo>
                  <a:pt x="748665" y="365760"/>
                </a:moveTo>
                <a:lnTo>
                  <a:pt x="50876" y="365760"/>
                </a:lnTo>
                <a:lnTo>
                  <a:pt x="47790" y="364490"/>
                </a:lnTo>
                <a:lnTo>
                  <a:pt x="751751" y="364490"/>
                </a:lnTo>
                <a:lnTo>
                  <a:pt x="748665" y="365760"/>
                </a:lnTo>
                <a:close/>
              </a:path>
              <a:path w="800100" h="367029">
                <a:moveTo>
                  <a:pt x="742327" y="367030"/>
                </a:moveTo>
                <a:lnTo>
                  <a:pt x="57213" y="367030"/>
                </a:lnTo>
                <a:lnTo>
                  <a:pt x="54013" y="365760"/>
                </a:lnTo>
                <a:lnTo>
                  <a:pt x="745515" y="365760"/>
                </a:lnTo>
                <a:lnTo>
                  <a:pt x="742327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453" y="2941878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4077" y="2904566"/>
            <a:ext cx="1160145" cy="367030"/>
          </a:xfrm>
          <a:custGeom>
            <a:avLst/>
            <a:gdLst/>
            <a:ahLst/>
            <a:cxnLst/>
            <a:rect l="l" t="t" r="r" b="b"/>
            <a:pathLst>
              <a:path w="1160145" h="367029">
                <a:moveTo>
                  <a:pt x="1108709" y="1269"/>
                </a:moveTo>
                <a:lnTo>
                  <a:pt x="50876" y="1269"/>
                </a:lnTo>
                <a:lnTo>
                  <a:pt x="54025" y="0"/>
                </a:lnTo>
                <a:lnTo>
                  <a:pt x="1105560" y="0"/>
                </a:lnTo>
                <a:lnTo>
                  <a:pt x="1108709" y="1269"/>
                </a:lnTo>
                <a:close/>
              </a:path>
              <a:path w="1160145" h="367029">
                <a:moveTo>
                  <a:pt x="1114869" y="364489"/>
                </a:moveTo>
                <a:lnTo>
                  <a:pt x="44716" y="364489"/>
                </a:lnTo>
                <a:lnTo>
                  <a:pt x="38887" y="361950"/>
                </a:lnTo>
                <a:lnTo>
                  <a:pt x="33312" y="359409"/>
                </a:lnTo>
                <a:lnTo>
                  <a:pt x="28054" y="355600"/>
                </a:lnTo>
                <a:lnTo>
                  <a:pt x="23139" y="353059"/>
                </a:lnTo>
                <a:lnTo>
                  <a:pt x="18605" y="347979"/>
                </a:lnTo>
                <a:lnTo>
                  <a:pt x="14490" y="344169"/>
                </a:lnTo>
                <a:lnTo>
                  <a:pt x="10807" y="339089"/>
                </a:lnTo>
                <a:lnTo>
                  <a:pt x="7619" y="334009"/>
                </a:lnTo>
                <a:lnTo>
                  <a:pt x="2793" y="322579"/>
                </a:lnTo>
                <a:lnTo>
                  <a:pt x="1930" y="318769"/>
                </a:lnTo>
                <a:lnTo>
                  <a:pt x="1206" y="316229"/>
                </a:lnTo>
                <a:lnTo>
                  <a:pt x="647" y="312419"/>
                </a:lnTo>
                <a:lnTo>
                  <a:pt x="241" y="309879"/>
                </a:lnTo>
                <a:lnTo>
                  <a:pt x="0" y="306069"/>
                </a:lnTo>
                <a:lnTo>
                  <a:pt x="0" y="59689"/>
                </a:lnTo>
                <a:lnTo>
                  <a:pt x="241" y="57149"/>
                </a:lnTo>
                <a:lnTo>
                  <a:pt x="647" y="53339"/>
                </a:lnTo>
                <a:lnTo>
                  <a:pt x="1206" y="50799"/>
                </a:lnTo>
                <a:lnTo>
                  <a:pt x="1930" y="46989"/>
                </a:lnTo>
                <a:lnTo>
                  <a:pt x="23139" y="13969"/>
                </a:lnTo>
                <a:lnTo>
                  <a:pt x="33312" y="7619"/>
                </a:lnTo>
                <a:lnTo>
                  <a:pt x="38887" y="3809"/>
                </a:lnTo>
                <a:lnTo>
                  <a:pt x="44716" y="2539"/>
                </a:lnTo>
                <a:lnTo>
                  <a:pt x="47790" y="1269"/>
                </a:lnTo>
                <a:lnTo>
                  <a:pt x="1111796" y="1269"/>
                </a:lnTo>
                <a:lnTo>
                  <a:pt x="1114869" y="2539"/>
                </a:lnTo>
                <a:lnTo>
                  <a:pt x="1120686" y="3809"/>
                </a:lnTo>
                <a:lnTo>
                  <a:pt x="1124411" y="6349"/>
                </a:lnTo>
                <a:lnTo>
                  <a:pt x="63830" y="6349"/>
                </a:lnTo>
                <a:lnTo>
                  <a:pt x="60744" y="7619"/>
                </a:lnTo>
                <a:lnTo>
                  <a:pt x="52501" y="7619"/>
                </a:lnTo>
                <a:lnTo>
                  <a:pt x="49593" y="8889"/>
                </a:lnTo>
                <a:lnTo>
                  <a:pt x="47193" y="8889"/>
                </a:lnTo>
                <a:lnTo>
                  <a:pt x="41681" y="11429"/>
                </a:lnTo>
                <a:lnTo>
                  <a:pt x="42024" y="11429"/>
                </a:lnTo>
                <a:lnTo>
                  <a:pt x="36779" y="13969"/>
                </a:lnTo>
                <a:lnTo>
                  <a:pt x="37109" y="13969"/>
                </a:lnTo>
                <a:lnTo>
                  <a:pt x="32156" y="16509"/>
                </a:lnTo>
                <a:lnTo>
                  <a:pt x="32461" y="16509"/>
                </a:lnTo>
                <a:lnTo>
                  <a:pt x="27851" y="20319"/>
                </a:lnTo>
                <a:lnTo>
                  <a:pt x="28130" y="20319"/>
                </a:lnTo>
                <a:lnTo>
                  <a:pt x="25285" y="22859"/>
                </a:lnTo>
                <a:lnTo>
                  <a:pt x="24117" y="22859"/>
                </a:lnTo>
                <a:lnTo>
                  <a:pt x="21212" y="26669"/>
                </a:lnTo>
                <a:lnTo>
                  <a:pt x="20485" y="26669"/>
                </a:lnTo>
                <a:lnTo>
                  <a:pt x="17030" y="31749"/>
                </a:lnTo>
                <a:lnTo>
                  <a:pt x="17233" y="31749"/>
                </a:lnTo>
                <a:lnTo>
                  <a:pt x="14224" y="36829"/>
                </a:lnTo>
                <a:lnTo>
                  <a:pt x="14401" y="36829"/>
                </a:lnTo>
                <a:lnTo>
                  <a:pt x="12506" y="40639"/>
                </a:lnTo>
                <a:lnTo>
                  <a:pt x="12014" y="40639"/>
                </a:lnTo>
                <a:lnTo>
                  <a:pt x="10007" y="46989"/>
                </a:lnTo>
                <a:lnTo>
                  <a:pt x="9283" y="49529"/>
                </a:lnTo>
                <a:lnTo>
                  <a:pt x="8661" y="52069"/>
                </a:lnTo>
                <a:lnTo>
                  <a:pt x="8166" y="54609"/>
                </a:lnTo>
                <a:lnTo>
                  <a:pt x="7810" y="57149"/>
                </a:lnTo>
                <a:lnTo>
                  <a:pt x="7683" y="59689"/>
                </a:lnTo>
                <a:lnTo>
                  <a:pt x="7607" y="306069"/>
                </a:lnTo>
                <a:lnTo>
                  <a:pt x="7835" y="308609"/>
                </a:lnTo>
                <a:lnTo>
                  <a:pt x="8191" y="312419"/>
                </a:lnTo>
                <a:lnTo>
                  <a:pt x="8343" y="312419"/>
                </a:lnTo>
                <a:lnTo>
                  <a:pt x="8699" y="314959"/>
                </a:lnTo>
                <a:lnTo>
                  <a:pt x="9321" y="317499"/>
                </a:lnTo>
                <a:lnTo>
                  <a:pt x="10083" y="320039"/>
                </a:lnTo>
                <a:lnTo>
                  <a:pt x="12014" y="325119"/>
                </a:lnTo>
                <a:lnTo>
                  <a:pt x="11874" y="325119"/>
                </a:lnTo>
                <a:lnTo>
                  <a:pt x="14401" y="330199"/>
                </a:lnTo>
                <a:lnTo>
                  <a:pt x="14224" y="330199"/>
                </a:lnTo>
                <a:lnTo>
                  <a:pt x="17233" y="335279"/>
                </a:lnTo>
                <a:lnTo>
                  <a:pt x="17894" y="335279"/>
                </a:lnTo>
                <a:lnTo>
                  <a:pt x="20485" y="339089"/>
                </a:lnTo>
                <a:lnTo>
                  <a:pt x="20243" y="339089"/>
                </a:lnTo>
                <a:lnTo>
                  <a:pt x="24117" y="342899"/>
                </a:lnTo>
                <a:lnTo>
                  <a:pt x="23863" y="342899"/>
                </a:lnTo>
                <a:lnTo>
                  <a:pt x="28130" y="346709"/>
                </a:lnTo>
                <a:lnTo>
                  <a:pt x="27851" y="346709"/>
                </a:lnTo>
                <a:lnTo>
                  <a:pt x="32461" y="350519"/>
                </a:lnTo>
                <a:lnTo>
                  <a:pt x="33807" y="350519"/>
                </a:lnTo>
                <a:lnTo>
                  <a:pt x="37109" y="353059"/>
                </a:lnTo>
                <a:lnTo>
                  <a:pt x="36779" y="353059"/>
                </a:lnTo>
                <a:lnTo>
                  <a:pt x="42024" y="355600"/>
                </a:lnTo>
                <a:lnTo>
                  <a:pt x="44437" y="355600"/>
                </a:lnTo>
                <a:lnTo>
                  <a:pt x="47193" y="356869"/>
                </a:lnTo>
                <a:lnTo>
                  <a:pt x="46926" y="356869"/>
                </a:lnTo>
                <a:lnTo>
                  <a:pt x="49783" y="358139"/>
                </a:lnTo>
                <a:lnTo>
                  <a:pt x="55079" y="358139"/>
                </a:lnTo>
                <a:lnTo>
                  <a:pt x="58077" y="359409"/>
                </a:lnTo>
                <a:lnTo>
                  <a:pt x="1126274" y="359409"/>
                </a:lnTo>
                <a:lnTo>
                  <a:pt x="1120686" y="361950"/>
                </a:lnTo>
                <a:lnTo>
                  <a:pt x="1114869" y="364489"/>
                </a:lnTo>
                <a:close/>
              </a:path>
              <a:path w="1160145" h="367029">
                <a:moveTo>
                  <a:pt x="1095844" y="7619"/>
                </a:moveTo>
                <a:lnTo>
                  <a:pt x="63728" y="7619"/>
                </a:lnTo>
                <a:lnTo>
                  <a:pt x="63830" y="6349"/>
                </a:lnTo>
                <a:lnTo>
                  <a:pt x="1095756" y="6349"/>
                </a:lnTo>
                <a:lnTo>
                  <a:pt x="1095844" y="7619"/>
                </a:lnTo>
                <a:close/>
              </a:path>
              <a:path w="1160145" h="367029">
                <a:moveTo>
                  <a:pt x="1135710" y="24129"/>
                </a:moveTo>
                <a:lnTo>
                  <a:pt x="1131455" y="20319"/>
                </a:lnTo>
                <a:lnTo>
                  <a:pt x="1131735" y="20319"/>
                </a:lnTo>
                <a:lnTo>
                  <a:pt x="1127112" y="16509"/>
                </a:lnTo>
                <a:lnTo>
                  <a:pt x="1127417" y="16509"/>
                </a:lnTo>
                <a:lnTo>
                  <a:pt x="1122476" y="13969"/>
                </a:lnTo>
                <a:lnTo>
                  <a:pt x="1122794" y="13969"/>
                </a:lnTo>
                <a:lnTo>
                  <a:pt x="1117549" y="11429"/>
                </a:lnTo>
                <a:lnTo>
                  <a:pt x="1117892" y="11429"/>
                </a:lnTo>
                <a:lnTo>
                  <a:pt x="1112380" y="8889"/>
                </a:lnTo>
                <a:lnTo>
                  <a:pt x="1109992" y="8889"/>
                </a:lnTo>
                <a:lnTo>
                  <a:pt x="1107084" y="7619"/>
                </a:lnTo>
                <a:lnTo>
                  <a:pt x="1098842" y="7619"/>
                </a:lnTo>
                <a:lnTo>
                  <a:pt x="1095756" y="6349"/>
                </a:lnTo>
                <a:lnTo>
                  <a:pt x="1124411" y="6349"/>
                </a:lnTo>
                <a:lnTo>
                  <a:pt x="1126274" y="7619"/>
                </a:lnTo>
                <a:lnTo>
                  <a:pt x="1131531" y="10159"/>
                </a:lnTo>
                <a:lnTo>
                  <a:pt x="1136446" y="13969"/>
                </a:lnTo>
                <a:lnTo>
                  <a:pt x="1140980" y="17779"/>
                </a:lnTo>
                <a:lnTo>
                  <a:pt x="1145095" y="22859"/>
                </a:lnTo>
                <a:lnTo>
                  <a:pt x="1135456" y="22859"/>
                </a:lnTo>
                <a:lnTo>
                  <a:pt x="1135710" y="24129"/>
                </a:lnTo>
                <a:close/>
              </a:path>
              <a:path w="1160145" h="367029">
                <a:moveTo>
                  <a:pt x="46926" y="10159"/>
                </a:moveTo>
                <a:lnTo>
                  <a:pt x="47193" y="8889"/>
                </a:lnTo>
                <a:lnTo>
                  <a:pt x="49783" y="8889"/>
                </a:lnTo>
                <a:lnTo>
                  <a:pt x="46926" y="10159"/>
                </a:lnTo>
                <a:close/>
              </a:path>
              <a:path w="1160145" h="367029">
                <a:moveTo>
                  <a:pt x="1112646" y="10159"/>
                </a:moveTo>
                <a:lnTo>
                  <a:pt x="1109802" y="8889"/>
                </a:lnTo>
                <a:lnTo>
                  <a:pt x="1112380" y="8889"/>
                </a:lnTo>
                <a:lnTo>
                  <a:pt x="1112646" y="10159"/>
                </a:lnTo>
                <a:close/>
              </a:path>
              <a:path w="1160145" h="367029">
                <a:moveTo>
                  <a:pt x="23863" y="24129"/>
                </a:moveTo>
                <a:lnTo>
                  <a:pt x="24117" y="22859"/>
                </a:lnTo>
                <a:lnTo>
                  <a:pt x="25285" y="22859"/>
                </a:lnTo>
                <a:lnTo>
                  <a:pt x="23863" y="24129"/>
                </a:lnTo>
                <a:close/>
              </a:path>
              <a:path w="1160145" h="367029">
                <a:moveTo>
                  <a:pt x="1139329" y="27939"/>
                </a:moveTo>
                <a:lnTo>
                  <a:pt x="1135456" y="22859"/>
                </a:lnTo>
                <a:lnTo>
                  <a:pt x="1145095" y="22859"/>
                </a:lnTo>
                <a:lnTo>
                  <a:pt x="1147848" y="26669"/>
                </a:lnTo>
                <a:lnTo>
                  <a:pt x="1139101" y="26669"/>
                </a:lnTo>
                <a:lnTo>
                  <a:pt x="1139329" y="27939"/>
                </a:lnTo>
                <a:close/>
              </a:path>
              <a:path w="1160145" h="367029">
                <a:moveTo>
                  <a:pt x="20243" y="27939"/>
                </a:moveTo>
                <a:lnTo>
                  <a:pt x="20485" y="26669"/>
                </a:lnTo>
                <a:lnTo>
                  <a:pt x="21212" y="26669"/>
                </a:lnTo>
                <a:lnTo>
                  <a:pt x="20243" y="27939"/>
                </a:lnTo>
                <a:close/>
              </a:path>
              <a:path w="1160145" h="367029">
                <a:moveTo>
                  <a:pt x="1147711" y="41909"/>
                </a:moveTo>
                <a:lnTo>
                  <a:pt x="1145184" y="36829"/>
                </a:lnTo>
                <a:lnTo>
                  <a:pt x="1145349" y="36829"/>
                </a:lnTo>
                <a:lnTo>
                  <a:pt x="1142352" y="31749"/>
                </a:lnTo>
                <a:lnTo>
                  <a:pt x="1142555" y="31749"/>
                </a:lnTo>
                <a:lnTo>
                  <a:pt x="1139101" y="26669"/>
                </a:lnTo>
                <a:lnTo>
                  <a:pt x="1147848" y="26669"/>
                </a:lnTo>
                <a:lnTo>
                  <a:pt x="1148765" y="27939"/>
                </a:lnTo>
                <a:lnTo>
                  <a:pt x="1151966" y="33019"/>
                </a:lnTo>
                <a:lnTo>
                  <a:pt x="1154645" y="38099"/>
                </a:lnTo>
                <a:lnTo>
                  <a:pt x="1155499" y="40639"/>
                </a:lnTo>
                <a:lnTo>
                  <a:pt x="1147559" y="40639"/>
                </a:lnTo>
                <a:lnTo>
                  <a:pt x="1147711" y="41909"/>
                </a:lnTo>
                <a:close/>
              </a:path>
              <a:path w="1160145" h="367029">
                <a:moveTo>
                  <a:pt x="11874" y="41909"/>
                </a:moveTo>
                <a:lnTo>
                  <a:pt x="12014" y="40639"/>
                </a:lnTo>
                <a:lnTo>
                  <a:pt x="12506" y="40639"/>
                </a:lnTo>
                <a:lnTo>
                  <a:pt x="11874" y="41909"/>
                </a:lnTo>
                <a:close/>
              </a:path>
              <a:path w="1160145" h="367029">
                <a:moveTo>
                  <a:pt x="1158925" y="312419"/>
                </a:moveTo>
                <a:lnTo>
                  <a:pt x="1151382" y="312419"/>
                </a:lnTo>
                <a:lnTo>
                  <a:pt x="1151763" y="308609"/>
                </a:lnTo>
                <a:lnTo>
                  <a:pt x="1151978" y="306069"/>
                </a:lnTo>
                <a:lnTo>
                  <a:pt x="1151966" y="59689"/>
                </a:lnTo>
                <a:lnTo>
                  <a:pt x="1151750" y="57149"/>
                </a:lnTo>
                <a:lnTo>
                  <a:pt x="1151382" y="54609"/>
                </a:lnTo>
                <a:lnTo>
                  <a:pt x="1150886" y="52069"/>
                </a:lnTo>
                <a:lnTo>
                  <a:pt x="1150251" y="49529"/>
                </a:lnTo>
                <a:lnTo>
                  <a:pt x="1149489" y="46989"/>
                </a:lnTo>
                <a:lnTo>
                  <a:pt x="1147559" y="40639"/>
                </a:lnTo>
                <a:lnTo>
                  <a:pt x="1155499" y="40639"/>
                </a:lnTo>
                <a:lnTo>
                  <a:pt x="1156779" y="44449"/>
                </a:lnTo>
                <a:lnTo>
                  <a:pt x="1157655" y="46989"/>
                </a:lnTo>
                <a:lnTo>
                  <a:pt x="1158367" y="50799"/>
                </a:lnTo>
                <a:lnTo>
                  <a:pt x="1158925" y="53339"/>
                </a:lnTo>
                <a:lnTo>
                  <a:pt x="1159586" y="59689"/>
                </a:lnTo>
                <a:lnTo>
                  <a:pt x="1159586" y="306069"/>
                </a:lnTo>
                <a:lnTo>
                  <a:pt x="1159332" y="309879"/>
                </a:lnTo>
                <a:lnTo>
                  <a:pt x="1158925" y="312419"/>
                </a:lnTo>
                <a:close/>
              </a:path>
              <a:path w="1160145" h="367029">
                <a:moveTo>
                  <a:pt x="7607" y="60959"/>
                </a:moveTo>
                <a:lnTo>
                  <a:pt x="7607" y="59689"/>
                </a:lnTo>
                <a:lnTo>
                  <a:pt x="7607" y="60959"/>
                </a:lnTo>
                <a:close/>
              </a:path>
              <a:path w="1160145" h="367029">
                <a:moveTo>
                  <a:pt x="1151978" y="60959"/>
                </a:moveTo>
                <a:lnTo>
                  <a:pt x="1151902" y="59689"/>
                </a:lnTo>
                <a:lnTo>
                  <a:pt x="1151978" y="60959"/>
                </a:lnTo>
                <a:close/>
              </a:path>
              <a:path w="1160145" h="367029">
                <a:moveTo>
                  <a:pt x="8343" y="312419"/>
                </a:moveTo>
                <a:lnTo>
                  <a:pt x="8191" y="312419"/>
                </a:lnTo>
                <a:lnTo>
                  <a:pt x="8166" y="311149"/>
                </a:lnTo>
                <a:lnTo>
                  <a:pt x="8343" y="312419"/>
                </a:lnTo>
                <a:close/>
              </a:path>
              <a:path w="1160145" h="367029">
                <a:moveTo>
                  <a:pt x="1151166" y="335279"/>
                </a:moveTo>
                <a:lnTo>
                  <a:pt x="1142352" y="335279"/>
                </a:lnTo>
                <a:lnTo>
                  <a:pt x="1145349" y="330199"/>
                </a:lnTo>
                <a:lnTo>
                  <a:pt x="1145184" y="330199"/>
                </a:lnTo>
                <a:lnTo>
                  <a:pt x="1147711" y="325119"/>
                </a:lnTo>
                <a:lnTo>
                  <a:pt x="1147559" y="325119"/>
                </a:lnTo>
                <a:lnTo>
                  <a:pt x="1149578" y="320039"/>
                </a:lnTo>
                <a:lnTo>
                  <a:pt x="1150302" y="317499"/>
                </a:lnTo>
                <a:lnTo>
                  <a:pt x="1150924" y="314959"/>
                </a:lnTo>
                <a:lnTo>
                  <a:pt x="1151407" y="311149"/>
                </a:lnTo>
                <a:lnTo>
                  <a:pt x="1151382" y="312419"/>
                </a:lnTo>
                <a:lnTo>
                  <a:pt x="1158925" y="312419"/>
                </a:lnTo>
                <a:lnTo>
                  <a:pt x="1158367" y="316229"/>
                </a:lnTo>
                <a:lnTo>
                  <a:pt x="1157655" y="318769"/>
                </a:lnTo>
                <a:lnTo>
                  <a:pt x="1156779" y="322579"/>
                </a:lnTo>
                <a:lnTo>
                  <a:pt x="1151966" y="334009"/>
                </a:lnTo>
                <a:lnTo>
                  <a:pt x="1151166" y="335279"/>
                </a:lnTo>
                <a:close/>
              </a:path>
              <a:path w="1160145" h="367029">
                <a:moveTo>
                  <a:pt x="17894" y="335279"/>
                </a:moveTo>
                <a:lnTo>
                  <a:pt x="17233" y="335279"/>
                </a:lnTo>
                <a:lnTo>
                  <a:pt x="17030" y="334009"/>
                </a:lnTo>
                <a:lnTo>
                  <a:pt x="17894" y="335279"/>
                </a:lnTo>
                <a:close/>
              </a:path>
              <a:path w="1160145" h="367029">
                <a:moveTo>
                  <a:pt x="1138713" y="350519"/>
                </a:moveTo>
                <a:lnTo>
                  <a:pt x="1127112" y="350519"/>
                </a:lnTo>
                <a:lnTo>
                  <a:pt x="1131735" y="346709"/>
                </a:lnTo>
                <a:lnTo>
                  <a:pt x="1131455" y="346709"/>
                </a:lnTo>
                <a:lnTo>
                  <a:pt x="1135710" y="342899"/>
                </a:lnTo>
                <a:lnTo>
                  <a:pt x="1135456" y="342899"/>
                </a:lnTo>
                <a:lnTo>
                  <a:pt x="1139329" y="339089"/>
                </a:lnTo>
                <a:lnTo>
                  <a:pt x="1139101" y="339089"/>
                </a:lnTo>
                <a:lnTo>
                  <a:pt x="1142555" y="334009"/>
                </a:lnTo>
                <a:lnTo>
                  <a:pt x="1142352" y="335279"/>
                </a:lnTo>
                <a:lnTo>
                  <a:pt x="1151166" y="335279"/>
                </a:lnTo>
                <a:lnTo>
                  <a:pt x="1148765" y="339089"/>
                </a:lnTo>
                <a:lnTo>
                  <a:pt x="1145095" y="344169"/>
                </a:lnTo>
                <a:lnTo>
                  <a:pt x="1140980" y="347979"/>
                </a:lnTo>
                <a:lnTo>
                  <a:pt x="1138713" y="350519"/>
                </a:lnTo>
                <a:close/>
              </a:path>
              <a:path w="1160145" h="367029">
                <a:moveTo>
                  <a:pt x="33807" y="350519"/>
                </a:moveTo>
                <a:lnTo>
                  <a:pt x="32461" y="350519"/>
                </a:lnTo>
                <a:lnTo>
                  <a:pt x="32156" y="349250"/>
                </a:lnTo>
                <a:lnTo>
                  <a:pt x="33807" y="350519"/>
                </a:lnTo>
                <a:close/>
              </a:path>
              <a:path w="1160145" h="367029">
                <a:moveTo>
                  <a:pt x="1131531" y="355600"/>
                </a:moveTo>
                <a:lnTo>
                  <a:pt x="1117549" y="355600"/>
                </a:lnTo>
                <a:lnTo>
                  <a:pt x="1122794" y="353059"/>
                </a:lnTo>
                <a:lnTo>
                  <a:pt x="1122476" y="353059"/>
                </a:lnTo>
                <a:lnTo>
                  <a:pt x="1127417" y="349250"/>
                </a:lnTo>
                <a:lnTo>
                  <a:pt x="1127112" y="350519"/>
                </a:lnTo>
                <a:lnTo>
                  <a:pt x="1138713" y="350519"/>
                </a:lnTo>
                <a:lnTo>
                  <a:pt x="1136446" y="353059"/>
                </a:lnTo>
                <a:lnTo>
                  <a:pt x="1131531" y="355600"/>
                </a:lnTo>
                <a:close/>
              </a:path>
              <a:path w="1160145" h="367029">
                <a:moveTo>
                  <a:pt x="44437" y="355600"/>
                </a:moveTo>
                <a:lnTo>
                  <a:pt x="42024" y="355600"/>
                </a:lnTo>
                <a:lnTo>
                  <a:pt x="41681" y="354329"/>
                </a:lnTo>
                <a:lnTo>
                  <a:pt x="44437" y="355600"/>
                </a:lnTo>
                <a:close/>
              </a:path>
              <a:path w="1160145" h="367029">
                <a:moveTo>
                  <a:pt x="1126274" y="359409"/>
                </a:moveTo>
                <a:lnTo>
                  <a:pt x="1101496" y="359409"/>
                </a:lnTo>
                <a:lnTo>
                  <a:pt x="1104506" y="358139"/>
                </a:lnTo>
                <a:lnTo>
                  <a:pt x="1109802" y="358139"/>
                </a:lnTo>
                <a:lnTo>
                  <a:pt x="1112646" y="356869"/>
                </a:lnTo>
                <a:lnTo>
                  <a:pt x="1112380" y="356869"/>
                </a:lnTo>
                <a:lnTo>
                  <a:pt x="1117892" y="354329"/>
                </a:lnTo>
                <a:lnTo>
                  <a:pt x="1117549" y="355600"/>
                </a:lnTo>
                <a:lnTo>
                  <a:pt x="1131531" y="355600"/>
                </a:lnTo>
                <a:lnTo>
                  <a:pt x="1126274" y="359409"/>
                </a:lnTo>
                <a:close/>
              </a:path>
              <a:path w="1160145" h="367029">
                <a:moveTo>
                  <a:pt x="1108709" y="365759"/>
                </a:moveTo>
                <a:lnTo>
                  <a:pt x="50876" y="365759"/>
                </a:lnTo>
                <a:lnTo>
                  <a:pt x="47790" y="364489"/>
                </a:lnTo>
                <a:lnTo>
                  <a:pt x="1111796" y="364489"/>
                </a:lnTo>
                <a:lnTo>
                  <a:pt x="1108709" y="365759"/>
                </a:lnTo>
                <a:close/>
              </a:path>
              <a:path w="1160145" h="367029">
                <a:moveTo>
                  <a:pt x="1102372" y="367029"/>
                </a:moveTo>
                <a:lnTo>
                  <a:pt x="57213" y="367029"/>
                </a:lnTo>
                <a:lnTo>
                  <a:pt x="54025" y="365759"/>
                </a:lnTo>
                <a:lnTo>
                  <a:pt x="1105560" y="365759"/>
                </a:lnTo>
                <a:lnTo>
                  <a:pt x="1102372" y="367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260790" y="2925305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33639" y="3051759"/>
            <a:ext cx="864235" cy="76200"/>
          </a:xfrm>
          <a:custGeom>
            <a:avLst/>
            <a:gdLst/>
            <a:ahLst/>
            <a:cxnLst/>
            <a:rect l="l" t="t" r="r" b="b"/>
            <a:pathLst>
              <a:path w="864235" h="76200">
                <a:moveTo>
                  <a:pt x="822193" y="33631"/>
                </a:moveTo>
                <a:lnTo>
                  <a:pt x="787247" y="0"/>
                </a:lnTo>
                <a:lnTo>
                  <a:pt x="857331" y="33375"/>
                </a:lnTo>
                <a:lnTo>
                  <a:pt x="835520" y="33375"/>
                </a:lnTo>
                <a:lnTo>
                  <a:pt x="822193" y="33631"/>
                </a:lnTo>
                <a:close/>
              </a:path>
              <a:path w="864235" h="76200">
                <a:moveTo>
                  <a:pt x="822342" y="41238"/>
                </a:moveTo>
                <a:lnTo>
                  <a:pt x="826071" y="37363"/>
                </a:lnTo>
                <a:lnTo>
                  <a:pt x="822193" y="33631"/>
                </a:lnTo>
                <a:lnTo>
                  <a:pt x="835520" y="33375"/>
                </a:lnTo>
                <a:lnTo>
                  <a:pt x="835672" y="40982"/>
                </a:lnTo>
                <a:lnTo>
                  <a:pt x="822342" y="41238"/>
                </a:lnTo>
                <a:close/>
              </a:path>
              <a:path w="864235" h="76200">
                <a:moveTo>
                  <a:pt x="788708" y="76187"/>
                </a:moveTo>
                <a:lnTo>
                  <a:pt x="822342" y="41238"/>
                </a:lnTo>
                <a:lnTo>
                  <a:pt x="835672" y="40982"/>
                </a:lnTo>
                <a:lnTo>
                  <a:pt x="835520" y="33375"/>
                </a:lnTo>
                <a:lnTo>
                  <a:pt x="857331" y="33375"/>
                </a:lnTo>
                <a:lnTo>
                  <a:pt x="864158" y="36626"/>
                </a:lnTo>
                <a:lnTo>
                  <a:pt x="788708" y="76187"/>
                </a:lnTo>
                <a:close/>
              </a:path>
              <a:path w="864235" h="76200">
                <a:moveTo>
                  <a:pt x="139" y="57010"/>
                </a:moveTo>
                <a:lnTo>
                  <a:pt x="0" y="49390"/>
                </a:lnTo>
                <a:lnTo>
                  <a:pt x="822193" y="33631"/>
                </a:lnTo>
                <a:lnTo>
                  <a:pt x="826071" y="37363"/>
                </a:lnTo>
                <a:lnTo>
                  <a:pt x="822342" y="41238"/>
                </a:lnTo>
                <a:lnTo>
                  <a:pt x="139" y="57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84452" y="2800616"/>
            <a:ext cx="5715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st</a:t>
            </a:r>
            <a:r>
              <a:rPr dirty="0">
                <a:latin typeface="Times New Roman"/>
                <a:cs typeface="Times New Roman"/>
              </a:rPr>
              <a:t>ar</a:t>
            </a:r>
            <a:r>
              <a:rPr dirty="0" spc="-5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()</a:t>
            </a:r>
          </a:p>
        </p:txBody>
      </p:sp>
      <p:sp>
        <p:nvSpPr>
          <p:cNvPr id="9" name="object 9"/>
          <p:cNvSpPr/>
          <p:nvPr/>
        </p:nvSpPr>
        <p:spPr>
          <a:xfrm>
            <a:off x="428244" y="3933444"/>
            <a:ext cx="5363210" cy="2306320"/>
          </a:xfrm>
          <a:custGeom>
            <a:avLst/>
            <a:gdLst/>
            <a:ahLst/>
            <a:cxnLst/>
            <a:rect l="l" t="t" r="r" b="b"/>
            <a:pathLst>
              <a:path w="5363210" h="2306320">
                <a:moveTo>
                  <a:pt x="0" y="0"/>
                </a:moveTo>
                <a:lnTo>
                  <a:pt x="5362956" y="0"/>
                </a:lnTo>
                <a:lnTo>
                  <a:pt x="5362956" y="2305812"/>
                </a:lnTo>
                <a:lnTo>
                  <a:pt x="0" y="23058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6552" y="3952100"/>
            <a:ext cx="513461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800" b="1">
                <a:latin typeface="Consolas"/>
                <a:cs typeface="Consolas"/>
              </a:rPr>
              <a:t>main(String[]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800" b="1">
                <a:latin typeface="Consolas"/>
                <a:cs typeface="Consolas"/>
              </a:rPr>
              <a:t>)</a:t>
            </a:r>
            <a:r>
              <a:rPr dirty="0" sz="1800" spc="-90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4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FirstThread();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Runnable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target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SecondThread();</a:t>
            </a:r>
            <a:endParaRPr sz="1800">
              <a:latin typeface="Consolas"/>
              <a:cs typeface="Consolas"/>
            </a:endParaRPr>
          </a:p>
          <a:p>
            <a:pPr marL="46926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4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552" y="5931164"/>
            <a:ext cx="15113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37895" y="2921139"/>
            <a:ext cx="800100" cy="367030"/>
          </a:xfrm>
          <a:custGeom>
            <a:avLst/>
            <a:gdLst/>
            <a:ahLst/>
            <a:cxnLst/>
            <a:rect l="l" t="t" r="r" b="b"/>
            <a:pathLst>
              <a:path w="800100" h="367029">
                <a:moveTo>
                  <a:pt x="748665" y="1270"/>
                </a:moveTo>
                <a:lnTo>
                  <a:pt x="50876" y="1270"/>
                </a:lnTo>
                <a:lnTo>
                  <a:pt x="54013" y="0"/>
                </a:lnTo>
                <a:lnTo>
                  <a:pt x="745515" y="0"/>
                </a:lnTo>
                <a:lnTo>
                  <a:pt x="748665" y="1270"/>
                </a:lnTo>
                <a:close/>
              </a:path>
              <a:path w="800100" h="367029">
                <a:moveTo>
                  <a:pt x="754824" y="364490"/>
                </a:moveTo>
                <a:lnTo>
                  <a:pt x="44716" y="364490"/>
                </a:lnTo>
                <a:lnTo>
                  <a:pt x="38887" y="361950"/>
                </a:lnTo>
                <a:lnTo>
                  <a:pt x="33312" y="359410"/>
                </a:lnTo>
                <a:lnTo>
                  <a:pt x="28041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70"/>
                </a:lnTo>
                <a:lnTo>
                  <a:pt x="10807" y="339090"/>
                </a:lnTo>
                <a:lnTo>
                  <a:pt x="7620" y="334010"/>
                </a:lnTo>
                <a:lnTo>
                  <a:pt x="2794" y="322580"/>
                </a:lnTo>
                <a:lnTo>
                  <a:pt x="1917" y="318770"/>
                </a:lnTo>
                <a:lnTo>
                  <a:pt x="1206" y="316230"/>
                </a:lnTo>
                <a:lnTo>
                  <a:pt x="647" y="312420"/>
                </a:lnTo>
                <a:lnTo>
                  <a:pt x="241" y="309880"/>
                </a:lnTo>
                <a:lnTo>
                  <a:pt x="0" y="306070"/>
                </a:lnTo>
                <a:lnTo>
                  <a:pt x="0" y="59690"/>
                </a:lnTo>
                <a:lnTo>
                  <a:pt x="241" y="57150"/>
                </a:lnTo>
                <a:lnTo>
                  <a:pt x="647" y="53340"/>
                </a:lnTo>
                <a:lnTo>
                  <a:pt x="1206" y="50800"/>
                </a:lnTo>
                <a:lnTo>
                  <a:pt x="1917" y="46990"/>
                </a:lnTo>
                <a:lnTo>
                  <a:pt x="2794" y="44450"/>
                </a:lnTo>
                <a:lnTo>
                  <a:pt x="4927" y="38100"/>
                </a:lnTo>
                <a:lnTo>
                  <a:pt x="7620" y="33020"/>
                </a:lnTo>
                <a:lnTo>
                  <a:pt x="33312" y="7620"/>
                </a:lnTo>
                <a:lnTo>
                  <a:pt x="38887" y="3810"/>
                </a:lnTo>
                <a:lnTo>
                  <a:pt x="44716" y="2540"/>
                </a:lnTo>
                <a:lnTo>
                  <a:pt x="47790" y="1270"/>
                </a:lnTo>
                <a:lnTo>
                  <a:pt x="751751" y="1270"/>
                </a:lnTo>
                <a:lnTo>
                  <a:pt x="754824" y="2540"/>
                </a:lnTo>
                <a:lnTo>
                  <a:pt x="760641" y="3810"/>
                </a:lnTo>
                <a:lnTo>
                  <a:pt x="764366" y="6350"/>
                </a:lnTo>
                <a:lnTo>
                  <a:pt x="63830" y="6350"/>
                </a:lnTo>
                <a:lnTo>
                  <a:pt x="60744" y="7620"/>
                </a:lnTo>
                <a:lnTo>
                  <a:pt x="52489" y="7620"/>
                </a:lnTo>
                <a:lnTo>
                  <a:pt x="49593" y="8890"/>
                </a:lnTo>
                <a:lnTo>
                  <a:pt x="47193" y="8890"/>
                </a:lnTo>
                <a:lnTo>
                  <a:pt x="41681" y="11430"/>
                </a:lnTo>
                <a:lnTo>
                  <a:pt x="42024" y="11430"/>
                </a:lnTo>
                <a:lnTo>
                  <a:pt x="36779" y="13970"/>
                </a:lnTo>
                <a:lnTo>
                  <a:pt x="37109" y="13970"/>
                </a:lnTo>
                <a:lnTo>
                  <a:pt x="32156" y="16510"/>
                </a:lnTo>
                <a:lnTo>
                  <a:pt x="32461" y="16510"/>
                </a:lnTo>
                <a:lnTo>
                  <a:pt x="27838" y="20320"/>
                </a:lnTo>
                <a:lnTo>
                  <a:pt x="28117" y="20320"/>
                </a:lnTo>
                <a:lnTo>
                  <a:pt x="25281" y="22860"/>
                </a:lnTo>
                <a:lnTo>
                  <a:pt x="24117" y="22860"/>
                </a:lnTo>
                <a:lnTo>
                  <a:pt x="21212" y="26670"/>
                </a:lnTo>
                <a:lnTo>
                  <a:pt x="20472" y="26670"/>
                </a:lnTo>
                <a:lnTo>
                  <a:pt x="17018" y="31750"/>
                </a:lnTo>
                <a:lnTo>
                  <a:pt x="17233" y="31750"/>
                </a:lnTo>
                <a:lnTo>
                  <a:pt x="14224" y="36830"/>
                </a:lnTo>
                <a:lnTo>
                  <a:pt x="14401" y="36830"/>
                </a:lnTo>
                <a:lnTo>
                  <a:pt x="12506" y="40640"/>
                </a:lnTo>
                <a:lnTo>
                  <a:pt x="12014" y="40640"/>
                </a:lnTo>
                <a:lnTo>
                  <a:pt x="9994" y="46990"/>
                </a:lnTo>
                <a:lnTo>
                  <a:pt x="9283" y="49530"/>
                </a:lnTo>
                <a:lnTo>
                  <a:pt x="8661" y="52070"/>
                </a:lnTo>
                <a:lnTo>
                  <a:pt x="8166" y="54610"/>
                </a:lnTo>
                <a:lnTo>
                  <a:pt x="7810" y="57150"/>
                </a:lnTo>
                <a:lnTo>
                  <a:pt x="7683" y="59690"/>
                </a:lnTo>
                <a:lnTo>
                  <a:pt x="7607" y="306070"/>
                </a:lnTo>
                <a:lnTo>
                  <a:pt x="7835" y="308610"/>
                </a:lnTo>
                <a:lnTo>
                  <a:pt x="8191" y="312420"/>
                </a:lnTo>
                <a:lnTo>
                  <a:pt x="8343" y="312420"/>
                </a:lnTo>
                <a:lnTo>
                  <a:pt x="8699" y="314960"/>
                </a:lnTo>
                <a:lnTo>
                  <a:pt x="9321" y="317500"/>
                </a:lnTo>
                <a:lnTo>
                  <a:pt x="10083" y="320040"/>
                </a:lnTo>
                <a:lnTo>
                  <a:pt x="12014" y="325120"/>
                </a:lnTo>
                <a:lnTo>
                  <a:pt x="11874" y="325120"/>
                </a:lnTo>
                <a:lnTo>
                  <a:pt x="14401" y="330200"/>
                </a:lnTo>
                <a:lnTo>
                  <a:pt x="14224" y="330200"/>
                </a:lnTo>
                <a:lnTo>
                  <a:pt x="17233" y="335280"/>
                </a:lnTo>
                <a:lnTo>
                  <a:pt x="17881" y="335280"/>
                </a:lnTo>
                <a:lnTo>
                  <a:pt x="20472" y="339090"/>
                </a:lnTo>
                <a:lnTo>
                  <a:pt x="20243" y="339090"/>
                </a:lnTo>
                <a:lnTo>
                  <a:pt x="24117" y="342900"/>
                </a:lnTo>
                <a:lnTo>
                  <a:pt x="23863" y="342900"/>
                </a:lnTo>
                <a:lnTo>
                  <a:pt x="28117" y="346710"/>
                </a:lnTo>
                <a:lnTo>
                  <a:pt x="27838" y="346710"/>
                </a:lnTo>
                <a:lnTo>
                  <a:pt x="32461" y="350520"/>
                </a:lnTo>
                <a:lnTo>
                  <a:pt x="33807" y="350520"/>
                </a:lnTo>
                <a:lnTo>
                  <a:pt x="37109" y="353060"/>
                </a:lnTo>
                <a:lnTo>
                  <a:pt x="36779" y="353060"/>
                </a:lnTo>
                <a:lnTo>
                  <a:pt x="42024" y="355600"/>
                </a:lnTo>
                <a:lnTo>
                  <a:pt x="44437" y="355600"/>
                </a:lnTo>
                <a:lnTo>
                  <a:pt x="47193" y="356870"/>
                </a:lnTo>
                <a:lnTo>
                  <a:pt x="46926" y="356870"/>
                </a:lnTo>
                <a:lnTo>
                  <a:pt x="49771" y="358140"/>
                </a:lnTo>
                <a:lnTo>
                  <a:pt x="55067" y="358140"/>
                </a:lnTo>
                <a:lnTo>
                  <a:pt x="58077" y="359410"/>
                </a:lnTo>
                <a:lnTo>
                  <a:pt x="766229" y="359410"/>
                </a:lnTo>
                <a:lnTo>
                  <a:pt x="760641" y="361950"/>
                </a:lnTo>
                <a:lnTo>
                  <a:pt x="754824" y="364490"/>
                </a:lnTo>
                <a:close/>
              </a:path>
              <a:path w="800100" h="367029">
                <a:moveTo>
                  <a:pt x="775677" y="24130"/>
                </a:moveTo>
                <a:lnTo>
                  <a:pt x="771410" y="20320"/>
                </a:lnTo>
                <a:lnTo>
                  <a:pt x="771690" y="20320"/>
                </a:lnTo>
                <a:lnTo>
                  <a:pt x="767067" y="16510"/>
                </a:lnTo>
                <a:lnTo>
                  <a:pt x="767372" y="16510"/>
                </a:lnTo>
                <a:lnTo>
                  <a:pt x="762431" y="13970"/>
                </a:lnTo>
                <a:lnTo>
                  <a:pt x="762749" y="13970"/>
                </a:lnTo>
                <a:lnTo>
                  <a:pt x="757504" y="11430"/>
                </a:lnTo>
                <a:lnTo>
                  <a:pt x="757847" y="11430"/>
                </a:lnTo>
                <a:lnTo>
                  <a:pt x="752335" y="8890"/>
                </a:lnTo>
                <a:lnTo>
                  <a:pt x="749947" y="8890"/>
                </a:lnTo>
                <a:lnTo>
                  <a:pt x="747039" y="7620"/>
                </a:lnTo>
                <a:lnTo>
                  <a:pt x="738797" y="7620"/>
                </a:lnTo>
                <a:lnTo>
                  <a:pt x="735711" y="6350"/>
                </a:lnTo>
                <a:lnTo>
                  <a:pt x="764366" y="6350"/>
                </a:lnTo>
                <a:lnTo>
                  <a:pt x="766229" y="7620"/>
                </a:lnTo>
                <a:lnTo>
                  <a:pt x="771486" y="10160"/>
                </a:lnTo>
                <a:lnTo>
                  <a:pt x="776401" y="13970"/>
                </a:lnTo>
                <a:lnTo>
                  <a:pt x="780935" y="17780"/>
                </a:lnTo>
                <a:lnTo>
                  <a:pt x="785050" y="22860"/>
                </a:lnTo>
                <a:lnTo>
                  <a:pt x="775411" y="22860"/>
                </a:lnTo>
                <a:lnTo>
                  <a:pt x="775677" y="24130"/>
                </a:lnTo>
                <a:close/>
              </a:path>
              <a:path w="800100" h="367029">
                <a:moveTo>
                  <a:pt x="46926" y="10160"/>
                </a:moveTo>
                <a:lnTo>
                  <a:pt x="47193" y="8890"/>
                </a:lnTo>
                <a:lnTo>
                  <a:pt x="49771" y="8890"/>
                </a:lnTo>
                <a:lnTo>
                  <a:pt x="46926" y="10160"/>
                </a:lnTo>
                <a:close/>
              </a:path>
              <a:path w="800100" h="367029">
                <a:moveTo>
                  <a:pt x="752602" y="10160"/>
                </a:moveTo>
                <a:lnTo>
                  <a:pt x="749757" y="8890"/>
                </a:lnTo>
                <a:lnTo>
                  <a:pt x="752335" y="8890"/>
                </a:lnTo>
                <a:lnTo>
                  <a:pt x="752602" y="10160"/>
                </a:lnTo>
                <a:close/>
              </a:path>
              <a:path w="800100" h="367029">
                <a:moveTo>
                  <a:pt x="23863" y="24130"/>
                </a:moveTo>
                <a:lnTo>
                  <a:pt x="24117" y="22860"/>
                </a:lnTo>
                <a:lnTo>
                  <a:pt x="25281" y="22860"/>
                </a:lnTo>
                <a:lnTo>
                  <a:pt x="23863" y="24130"/>
                </a:lnTo>
                <a:close/>
              </a:path>
              <a:path w="800100" h="367029">
                <a:moveTo>
                  <a:pt x="779284" y="27940"/>
                </a:moveTo>
                <a:lnTo>
                  <a:pt x="775411" y="22860"/>
                </a:lnTo>
                <a:lnTo>
                  <a:pt x="785050" y="22860"/>
                </a:lnTo>
                <a:lnTo>
                  <a:pt x="787803" y="26670"/>
                </a:lnTo>
                <a:lnTo>
                  <a:pt x="779056" y="26670"/>
                </a:lnTo>
                <a:lnTo>
                  <a:pt x="779284" y="27940"/>
                </a:lnTo>
                <a:close/>
              </a:path>
              <a:path w="800100" h="367029">
                <a:moveTo>
                  <a:pt x="20243" y="27940"/>
                </a:moveTo>
                <a:lnTo>
                  <a:pt x="20472" y="26670"/>
                </a:lnTo>
                <a:lnTo>
                  <a:pt x="21212" y="26670"/>
                </a:lnTo>
                <a:lnTo>
                  <a:pt x="20243" y="27940"/>
                </a:lnTo>
                <a:close/>
              </a:path>
              <a:path w="800100" h="367029">
                <a:moveTo>
                  <a:pt x="787666" y="41910"/>
                </a:moveTo>
                <a:lnTo>
                  <a:pt x="785139" y="36830"/>
                </a:lnTo>
                <a:lnTo>
                  <a:pt x="785317" y="36830"/>
                </a:lnTo>
                <a:lnTo>
                  <a:pt x="782307" y="31750"/>
                </a:lnTo>
                <a:lnTo>
                  <a:pt x="782510" y="31750"/>
                </a:lnTo>
                <a:lnTo>
                  <a:pt x="779056" y="26670"/>
                </a:lnTo>
                <a:lnTo>
                  <a:pt x="787803" y="26670"/>
                </a:lnTo>
                <a:lnTo>
                  <a:pt x="788720" y="27940"/>
                </a:lnTo>
                <a:lnTo>
                  <a:pt x="791921" y="33020"/>
                </a:lnTo>
                <a:lnTo>
                  <a:pt x="794613" y="38100"/>
                </a:lnTo>
                <a:lnTo>
                  <a:pt x="795461" y="40640"/>
                </a:lnTo>
                <a:lnTo>
                  <a:pt x="787514" y="40640"/>
                </a:lnTo>
                <a:lnTo>
                  <a:pt x="787666" y="41910"/>
                </a:lnTo>
                <a:close/>
              </a:path>
              <a:path w="800100" h="367029">
                <a:moveTo>
                  <a:pt x="11874" y="41910"/>
                </a:moveTo>
                <a:lnTo>
                  <a:pt x="12014" y="40640"/>
                </a:lnTo>
                <a:lnTo>
                  <a:pt x="12506" y="40640"/>
                </a:lnTo>
                <a:lnTo>
                  <a:pt x="11874" y="41910"/>
                </a:lnTo>
                <a:close/>
              </a:path>
              <a:path w="800100" h="367029">
                <a:moveTo>
                  <a:pt x="798893" y="312420"/>
                </a:moveTo>
                <a:lnTo>
                  <a:pt x="791337" y="312420"/>
                </a:lnTo>
                <a:lnTo>
                  <a:pt x="791718" y="308610"/>
                </a:lnTo>
                <a:lnTo>
                  <a:pt x="791933" y="306070"/>
                </a:lnTo>
                <a:lnTo>
                  <a:pt x="791921" y="59690"/>
                </a:lnTo>
                <a:lnTo>
                  <a:pt x="791705" y="57150"/>
                </a:lnTo>
                <a:lnTo>
                  <a:pt x="791337" y="54610"/>
                </a:lnTo>
                <a:lnTo>
                  <a:pt x="790841" y="52070"/>
                </a:lnTo>
                <a:lnTo>
                  <a:pt x="790206" y="49530"/>
                </a:lnTo>
                <a:lnTo>
                  <a:pt x="789444" y="46990"/>
                </a:lnTo>
                <a:lnTo>
                  <a:pt x="787514" y="40640"/>
                </a:lnTo>
                <a:lnTo>
                  <a:pt x="795461" y="40640"/>
                </a:lnTo>
                <a:lnTo>
                  <a:pt x="796734" y="44450"/>
                </a:lnTo>
                <a:lnTo>
                  <a:pt x="797610" y="46990"/>
                </a:lnTo>
                <a:lnTo>
                  <a:pt x="798322" y="50800"/>
                </a:lnTo>
                <a:lnTo>
                  <a:pt x="798893" y="53340"/>
                </a:lnTo>
                <a:lnTo>
                  <a:pt x="799299" y="57150"/>
                </a:lnTo>
                <a:lnTo>
                  <a:pt x="799541" y="59690"/>
                </a:lnTo>
                <a:lnTo>
                  <a:pt x="799541" y="306070"/>
                </a:lnTo>
                <a:lnTo>
                  <a:pt x="799299" y="309880"/>
                </a:lnTo>
                <a:lnTo>
                  <a:pt x="798893" y="312420"/>
                </a:lnTo>
                <a:close/>
              </a:path>
              <a:path w="800100" h="367029">
                <a:moveTo>
                  <a:pt x="7607" y="60960"/>
                </a:moveTo>
                <a:lnTo>
                  <a:pt x="7607" y="59690"/>
                </a:lnTo>
                <a:lnTo>
                  <a:pt x="7607" y="60960"/>
                </a:lnTo>
                <a:close/>
              </a:path>
              <a:path w="800100" h="367029">
                <a:moveTo>
                  <a:pt x="791933" y="60960"/>
                </a:moveTo>
                <a:lnTo>
                  <a:pt x="791857" y="59690"/>
                </a:lnTo>
                <a:lnTo>
                  <a:pt x="791933" y="60960"/>
                </a:lnTo>
                <a:close/>
              </a:path>
              <a:path w="800100" h="367029">
                <a:moveTo>
                  <a:pt x="8343" y="312420"/>
                </a:moveTo>
                <a:lnTo>
                  <a:pt x="8191" y="312420"/>
                </a:lnTo>
                <a:lnTo>
                  <a:pt x="8166" y="311150"/>
                </a:lnTo>
                <a:lnTo>
                  <a:pt x="8343" y="312420"/>
                </a:lnTo>
                <a:close/>
              </a:path>
              <a:path w="800100" h="367029">
                <a:moveTo>
                  <a:pt x="791121" y="335280"/>
                </a:moveTo>
                <a:lnTo>
                  <a:pt x="782307" y="335280"/>
                </a:lnTo>
                <a:lnTo>
                  <a:pt x="785317" y="330200"/>
                </a:lnTo>
                <a:lnTo>
                  <a:pt x="785139" y="330200"/>
                </a:lnTo>
                <a:lnTo>
                  <a:pt x="787666" y="325120"/>
                </a:lnTo>
                <a:lnTo>
                  <a:pt x="787514" y="325120"/>
                </a:lnTo>
                <a:lnTo>
                  <a:pt x="789533" y="320040"/>
                </a:lnTo>
                <a:lnTo>
                  <a:pt x="790257" y="317500"/>
                </a:lnTo>
                <a:lnTo>
                  <a:pt x="790879" y="314960"/>
                </a:lnTo>
                <a:lnTo>
                  <a:pt x="791375" y="311150"/>
                </a:lnTo>
                <a:lnTo>
                  <a:pt x="791337" y="312420"/>
                </a:lnTo>
                <a:lnTo>
                  <a:pt x="798893" y="312420"/>
                </a:lnTo>
                <a:lnTo>
                  <a:pt x="798322" y="316230"/>
                </a:lnTo>
                <a:lnTo>
                  <a:pt x="797610" y="318770"/>
                </a:lnTo>
                <a:lnTo>
                  <a:pt x="796734" y="322580"/>
                </a:lnTo>
                <a:lnTo>
                  <a:pt x="794613" y="327660"/>
                </a:lnTo>
                <a:lnTo>
                  <a:pt x="791921" y="334010"/>
                </a:lnTo>
                <a:lnTo>
                  <a:pt x="791121" y="335280"/>
                </a:lnTo>
                <a:close/>
              </a:path>
              <a:path w="800100" h="367029">
                <a:moveTo>
                  <a:pt x="17881" y="335280"/>
                </a:moveTo>
                <a:lnTo>
                  <a:pt x="17233" y="335280"/>
                </a:lnTo>
                <a:lnTo>
                  <a:pt x="17018" y="334010"/>
                </a:lnTo>
                <a:lnTo>
                  <a:pt x="17881" y="335280"/>
                </a:lnTo>
                <a:close/>
              </a:path>
              <a:path w="800100" h="367029">
                <a:moveTo>
                  <a:pt x="778668" y="350520"/>
                </a:moveTo>
                <a:lnTo>
                  <a:pt x="767067" y="350520"/>
                </a:lnTo>
                <a:lnTo>
                  <a:pt x="771690" y="346710"/>
                </a:lnTo>
                <a:lnTo>
                  <a:pt x="771410" y="346710"/>
                </a:lnTo>
                <a:lnTo>
                  <a:pt x="775677" y="342900"/>
                </a:lnTo>
                <a:lnTo>
                  <a:pt x="775411" y="342900"/>
                </a:lnTo>
                <a:lnTo>
                  <a:pt x="779284" y="339090"/>
                </a:lnTo>
                <a:lnTo>
                  <a:pt x="779056" y="339090"/>
                </a:lnTo>
                <a:lnTo>
                  <a:pt x="782510" y="334010"/>
                </a:lnTo>
                <a:lnTo>
                  <a:pt x="782307" y="335280"/>
                </a:lnTo>
                <a:lnTo>
                  <a:pt x="791121" y="335280"/>
                </a:lnTo>
                <a:lnTo>
                  <a:pt x="788720" y="339090"/>
                </a:lnTo>
                <a:lnTo>
                  <a:pt x="785050" y="344170"/>
                </a:lnTo>
                <a:lnTo>
                  <a:pt x="780935" y="347980"/>
                </a:lnTo>
                <a:lnTo>
                  <a:pt x="778668" y="350520"/>
                </a:lnTo>
                <a:close/>
              </a:path>
              <a:path w="800100" h="367029">
                <a:moveTo>
                  <a:pt x="33807" y="350520"/>
                </a:moveTo>
                <a:lnTo>
                  <a:pt x="32461" y="350520"/>
                </a:lnTo>
                <a:lnTo>
                  <a:pt x="32156" y="349250"/>
                </a:lnTo>
                <a:lnTo>
                  <a:pt x="33807" y="350520"/>
                </a:lnTo>
                <a:close/>
              </a:path>
              <a:path w="800100" h="367029">
                <a:moveTo>
                  <a:pt x="771486" y="355600"/>
                </a:moveTo>
                <a:lnTo>
                  <a:pt x="757504" y="355600"/>
                </a:lnTo>
                <a:lnTo>
                  <a:pt x="762749" y="353060"/>
                </a:lnTo>
                <a:lnTo>
                  <a:pt x="762431" y="353060"/>
                </a:lnTo>
                <a:lnTo>
                  <a:pt x="767372" y="349250"/>
                </a:lnTo>
                <a:lnTo>
                  <a:pt x="767067" y="350520"/>
                </a:lnTo>
                <a:lnTo>
                  <a:pt x="778668" y="350520"/>
                </a:lnTo>
                <a:lnTo>
                  <a:pt x="776401" y="353060"/>
                </a:lnTo>
                <a:lnTo>
                  <a:pt x="771486" y="355600"/>
                </a:lnTo>
                <a:close/>
              </a:path>
              <a:path w="800100" h="367029">
                <a:moveTo>
                  <a:pt x="44437" y="355600"/>
                </a:moveTo>
                <a:lnTo>
                  <a:pt x="42024" y="355600"/>
                </a:lnTo>
                <a:lnTo>
                  <a:pt x="41681" y="354330"/>
                </a:lnTo>
                <a:lnTo>
                  <a:pt x="44437" y="355600"/>
                </a:lnTo>
                <a:close/>
              </a:path>
              <a:path w="800100" h="367029">
                <a:moveTo>
                  <a:pt x="766229" y="359410"/>
                </a:moveTo>
                <a:lnTo>
                  <a:pt x="741464" y="359410"/>
                </a:lnTo>
                <a:lnTo>
                  <a:pt x="744461" y="358140"/>
                </a:lnTo>
                <a:lnTo>
                  <a:pt x="749757" y="358140"/>
                </a:lnTo>
                <a:lnTo>
                  <a:pt x="752602" y="356870"/>
                </a:lnTo>
                <a:lnTo>
                  <a:pt x="752335" y="356870"/>
                </a:lnTo>
                <a:lnTo>
                  <a:pt x="757847" y="354330"/>
                </a:lnTo>
                <a:lnTo>
                  <a:pt x="757504" y="355600"/>
                </a:lnTo>
                <a:lnTo>
                  <a:pt x="771486" y="355600"/>
                </a:lnTo>
                <a:lnTo>
                  <a:pt x="766229" y="359410"/>
                </a:lnTo>
                <a:close/>
              </a:path>
              <a:path w="800100" h="367029">
                <a:moveTo>
                  <a:pt x="748665" y="365760"/>
                </a:moveTo>
                <a:lnTo>
                  <a:pt x="50876" y="365760"/>
                </a:lnTo>
                <a:lnTo>
                  <a:pt x="47790" y="364490"/>
                </a:lnTo>
                <a:lnTo>
                  <a:pt x="751751" y="364490"/>
                </a:lnTo>
                <a:lnTo>
                  <a:pt x="748665" y="365760"/>
                </a:lnTo>
                <a:close/>
              </a:path>
              <a:path w="800100" h="367029">
                <a:moveTo>
                  <a:pt x="742327" y="367030"/>
                </a:moveTo>
                <a:lnTo>
                  <a:pt x="57213" y="367030"/>
                </a:lnTo>
                <a:lnTo>
                  <a:pt x="54013" y="365760"/>
                </a:lnTo>
                <a:lnTo>
                  <a:pt x="745515" y="365760"/>
                </a:lnTo>
                <a:lnTo>
                  <a:pt x="742327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34453" y="2941878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4077" y="2904566"/>
            <a:ext cx="1160145" cy="367030"/>
          </a:xfrm>
          <a:custGeom>
            <a:avLst/>
            <a:gdLst/>
            <a:ahLst/>
            <a:cxnLst/>
            <a:rect l="l" t="t" r="r" b="b"/>
            <a:pathLst>
              <a:path w="1160145" h="367029">
                <a:moveTo>
                  <a:pt x="1108709" y="1269"/>
                </a:moveTo>
                <a:lnTo>
                  <a:pt x="50876" y="1269"/>
                </a:lnTo>
                <a:lnTo>
                  <a:pt x="54025" y="0"/>
                </a:lnTo>
                <a:lnTo>
                  <a:pt x="1105560" y="0"/>
                </a:lnTo>
                <a:lnTo>
                  <a:pt x="1108709" y="1269"/>
                </a:lnTo>
                <a:close/>
              </a:path>
              <a:path w="1160145" h="367029">
                <a:moveTo>
                  <a:pt x="1114869" y="364489"/>
                </a:moveTo>
                <a:lnTo>
                  <a:pt x="44716" y="364489"/>
                </a:lnTo>
                <a:lnTo>
                  <a:pt x="38887" y="361950"/>
                </a:lnTo>
                <a:lnTo>
                  <a:pt x="33312" y="359409"/>
                </a:lnTo>
                <a:lnTo>
                  <a:pt x="28054" y="355600"/>
                </a:lnTo>
                <a:lnTo>
                  <a:pt x="23139" y="353059"/>
                </a:lnTo>
                <a:lnTo>
                  <a:pt x="18605" y="347979"/>
                </a:lnTo>
                <a:lnTo>
                  <a:pt x="14490" y="344169"/>
                </a:lnTo>
                <a:lnTo>
                  <a:pt x="10807" y="339089"/>
                </a:lnTo>
                <a:lnTo>
                  <a:pt x="7619" y="334009"/>
                </a:lnTo>
                <a:lnTo>
                  <a:pt x="2793" y="322579"/>
                </a:lnTo>
                <a:lnTo>
                  <a:pt x="1930" y="318769"/>
                </a:lnTo>
                <a:lnTo>
                  <a:pt x="1206" y="316229"/>
                </a:lnTo>
                <a:lnTo>
                  <a:pt x="647" y="312419"/>
                </a:lnTo>
                <a:lnTo>
                  <a:pt x="241" y="309879"/>
                </a:lnTo>
                <a:lnTo>
                  <a:pt x="0" y="306069"/>
                </a:lnTo>
                <a:lnTo>
                  <a:pt x="0" y="59689"/>
                </a:lnTo>
                <a:lnTo>
                  <a:pt x="241" y="57149"/>
                </a:lnTo>
                <a:lnTo>
                  <a:pt x="647" y="53339"/>
                </a:lnTo>
                <a:lnTo>
                  <a:pt x="1206" y="50799"/>
                </a:lnTo>
                <a:lnTo>
                  <a:pt x="1930" y="46989"/>
                </a:lnTo>
                <a:lnTo>
                  <a:pt x="23139" y="13969"/>
                </a:lnTo>
                <a:lnTo>
                  <a:pt x="33312" y="7619"/>
                </a:lnTo>
                <a:lnTo>
                  <a:pt x="38887" y="3809"/>
                </a:lnTo>
                <a:lnTo>
                  <a:pt x="44716" y="2539"/>
                </a:lnTo>
                <a:lnTo>
                  <a:pt x="47790" y="1269"/>
                </a:lnTo>
                <a:lnTo>
                  <a:pt x="1111796" y="1269"/>
                </a:lnTo>
                <a:lnTo>
                  <a:pt x="1114869" y="2539"/>
                </a:lnTo>
                <a:lnTo>
                  <a:pt x="1120686" y="3809"/>
                </a:lnTo>
                <a:lnTo>
                  <a:pt x="1124411" y="6349"/>
                </a:lnTo>
                <a:lnTo>
                  <a:pt x="63830" y="6349"/>
                </a:lnTo>
                <a:lnTo>
                  <a:pt x="60744" y="7619"/>
                </a:lnTo>
                <a:lnTo>
                  <a:pt x="52501" y="7619"/>
                </a:lnTo>
                <a:lnTo>
                  <a:pt x="49593" y="8889"/>
                </a:lnTo>
                <a:lnTo>
                  <a:pt x="47193" y="8889"/>
                </a:lnTo>
                <a:lnTo>
                  <a:pt x="41681" y="11429"/>
                </a:lnTo>
                <a:lnTo>
                  <a:pt x="42024" y="11429"/>
                </a:lnTo>
                <a:lnTo>
                  <a:pt x="36779" y="13969"/>
                </a:lnTo>
                <a:lnTo>
                  <a:pt x="37109" y="13969"/>
                </a:lnTo>
                <a:lnTo>
                  <a:pt x="32156" y="16509"/>
                </a:lnTo>
                <a:lnTo>
                  <a:pt x="32461" y="16509"/>
                </a:lnTo>
                <a:lnTo>
                  <a:pt x="27851" y="20319"/>
                </a:lnTo>
                <a:lnTo>
                  <a:pt x="28130" y="20319"/>
                </a:lnTo>
                <a:lnTo>
                  <a:pt x="25285" y="22859"/>
                </a:lnTo>
                <a:lnTo>
                  <a:pt x="24117" y="22859"/>
                </a:lnTo>
                <a:lnTo>
                  <a:pt x="21212" y="26669"/>
                </a:lnTo>
                <a:lnTo>
                  <a:pt x="20485" y="26669"/>
                </a:lnTo>
                <a:lnTo>
                  <a:pt x="17030" y="31749"/>
                </a:lnTo>
                <a:lnTo>
                  <a:pt x="17233" y="31749"/>
                </a:lnTo>
                <a:lnTo>
                  <a:pt x="14224" y="36829"/>
                </a:lnTo>
                <a:lnTo>
                  <a:pt x="14401" y="36829"/>
                </a:lnTo>
                <a:lnTo>
                  <a:pt x="12506" y="40639"/>
                </a:lnTo>
                <a:lnTo>
                  <a:pt x="12014" y="40639"/>
                </a:lnTo>
                <a:lnTo>
                  <a:pt x="10007" y="46989"/>
                </a:lnTo>
                <a:lnTo>
                  <a:pt x="9283" y="49529"/>
                </a:lnTo>
                <a:lnTo>
                  <a:pt x="8661" y="52069"/>
                </a:lnTo>
                <a:lnTo>
                  <a:pt x="8166" y="54609"/>
                </a:lnTo>
                <a:lnTo>
                  <a:pt x="7810" y="57149"/>
                </a:lnTo>
                <a:lnTo>
                  <a:pt x="7683" y="59689"/>
                </a:lnTo>
                <a:lnTo>
                  <a:pt x="7607" y="306069"/>
                </a:lnTo>
                <a:lnTo>
                  <a:pt x="7835" y="308609"/>
                </a:lnTo>
                <a:lnTo>
                  <a:pt x="8191" y="312419"/>
                </a:lnTo>
                <a:lnTo>
                  <a:pt x="8343" y="312419"/>
                </a:lnTo>
                <a:lnTo>
                  <a:pt x="8699" y="314959"/>
                </a:lnTo>
                <a:lnTo>
                  <a:pt x="9321" y="317499"/>
                </a:lnTo>
                <a:lnTo>
                  <a:pt x="10083" y="320039"/>
                </a:lnTo>
                <a:lnTo>
                  <a:pt x="12014" y="325119"/>
                </a:lnTo>
                <a:lnTo>
                  <a:pt x="11874" y="325119"/>
                </a:lnTo>
                <a:lnTo>
                  <a:pt x="14401" y="330199"/>
                </a:lnTo>
                <a:lnTo>
                  <a:pt x="14224" y="330199"/>
                </a:lnTo>
                <a:lnTo>
                  <a:pt x="17233" y="335279"/>
                </a:lnTo>
                <a:lnTo>
                  <a:pt x="17894" y="335279"/>
                </a:lnTo>
                <a:lnTo>
                  <a:pt x="20485" y="339089"/>
                </a:lnTo>
                <a:lnTo>
                  <a:pt x="20243" y="339089"/>
                </a:lnTo>
                <a:lnTo>
                  <a:pt x="24117" y="342899"/>
                </a:lnTo>
                <a:lnTo>
                  <a:pt x="23863" y="342899"/>
                </a:lnTo>
                <a:lnTo>
                  <a:pt x="28130" y="346709"/>
                </a:lnTo>
                <a:lnTo>
                  <a:pt x="27851" y="346709"/>
                </a:lnTo>
                <a:lnTo>
                  <a:pt x="32461" y="350519"/>
                </a:lnTo>
                <a:lnTo>
                  <a:pt x="33807" y="350519"/>
                </a:lnTo>
                <a:lnTo>
                  <a:pt x="37109" y="353059"/>
                </a:lnTo>
                <a:lnTo>
                  <a:pt x="36779" y="353059"/>
                </a:lnTo>
                <a:lnTo>
                  <a:pt x="42024" y="355600"/>
                </a:lnTo>
                <a:lnTo>
                  <a:pt x="44437" y="355600"/>
                </a:lnTo>
                <a:lnTo>
                  <a:pt x="47193" y="356869"/>
                </a:lnTo>
                <a:lnTo>
                  <a:pt x="46926" y="356869"/>
                </a:lnTo>
                <a:lnTo>
                  <a:pt x="49783" y="358139"/>
                </a:lnTo>
                <a:lnTo>
                  <a:pt x="55079" y="358139"/>
                </a:lnTo>
                <a:lnTo>
                  <a:pt x="58077" y="359409"/>
                </a:lnTo>
                <a:lnTo>
                  <a:pt x="1126274" y="359409"/>
                </a:lnTo>
                <a:lnTo>
                  <a:pt x="1120686" y="361950"/>
                </a:lnTo>
                <a:lnTo>
                  <a:pt x="1114869" y="364489"/>
                </a:lnTo>
                <a:close/>
              </a:path>
              <a:path w="1160145" h="367029">
                <a:moveTo>
                  <a:pt x="1095844" y="7619"/>
                </a:moveTo>
                <a:lnTo>
                  <a:pt x="63728" y="7619"/>
                </a:lnTo>
                <a:lnTo>
                  <a:pt x="63830" y="6349"/>
                </a:lnTo>
                <a:lnTo>
                  <a:pt x="1095756" y="6349"/>
                </a:lnTo>
                <a:lnTo>
                  <a:pt x="1095844" y="7619"/>
                </a:lnTo>
                <a:close/>
              </a:path>
              <a:path w="1160145" h="367029">
                <a:moveTo>
                  <a:pt x="1135710" y="24129"/>
                </a:moveTo>
                <a:lnTo>
                  <a:pt x="1131455" y="20319"/>
                </a:lnTo>
                <a:lnTo>
                  <a:pt x="1131735" y="20319"/>
                </a:lnTo>
                <a:lnTo>
                  <a:pt x="1127112" y="16509"/>
                </a:lnTo>
                <a:lnTo>
                  <a:pt x="1127417" y="16509"/>
                </a:lnTo>
                <a:lnTo>
                  <a:pt x="1122476" y="13969"/>
                </a:lnTo>
                <a:lnTo>
                  <a:pt x="1122794" y="13969"/>
                </a:lnTo>
                <a:lnTo>
                  <a:pt x="1117549" y="11429"/>
                </a:lnTo>
                <a:lnTo>
                  <a:pt x="1117892" y="11429"/>
                </a:lnTo>
                <a:lnTo>
                  <a:pt x="1112380" y="8889"/>
                </a:lnTo>
                <a:lnTo>
                  <a:pt x="1109992" y="8889"/>
                </a:lnTo>
                <a:lnTo>
                  <a:pt x="1107084" y="7619"/>
                </a:lnTo>
                <a:lnTo>
                  <a:pt x="1098842" y="7619"/>
                </a:lnTo>
                <a:lnTo>
                  <a:pt x="1095756" y="6349"/>
                </a:lnTo>
                <a:lnTo>
                  <a:pt x="1124411" y="6349"/>
                </a:lnTo>
                <a:lnTo>
                  <a:pt x="1126274" y="7619"/>
                </a:lnTo>
                <a:lnTo>
                  <a:pt x="1131531" y="10159"/>
                </a:lnTo>
                <a:lnTo>
                  <a:pt x="1136446" y="13969"/>
                </a:lnTo>
                <a:lnTo>
                  <a:pt x="1140980" y="17779"/>
                </a:lnTo>
                <a:lnTo>
                  <a:pt x="1145095" y="22859"/>
                </a:lnTo>
                <a:lnTo>
                  <a:pt x="1135456" y="22859"/>
                </a:lnTo>
                <a:lnTo>
                  <a:pt x="1135710" y="24129"/>
                </a:lnTo>
                <a:close/>
              </a:path>
              <a:path w="1160145" h="367029">
                <a:moveTo>
                  <a:pt x="46926" y="10159"/>
                </a:moveTo>
                <a:lnTo>
                  <a:pt x="47193" y="8889"/>
                </a:lnTo>
                <a:lnTo>
                  <a:pt x="49783" y="8889"/>
                </a:lnTo>
                <a:lnTo>
                  <a:pt x="46926" y="10159"/>
                </a:lnTo>
                <a:close/>
              </a:path>
              <a:path w="1160145" h="367029">
                <a:moveTo>
                  <a:pt x="1112646" y="10159"/>
                </a:moveTo>
                <a:lnTo>
                  <a:pt x="1109802" y="8889"/>
                </a:lnTo>
                <a:lnTo>
                  <a:pt x="1112380" y="8889"/>
                </a:lnTo>
                <a:lnTo>
                  <a:pt x="1112646" y="10159"/>
                </a:lnTo>
                <a:close/>
              </a:path>
              <a:path w="1160145" h="367029">
                <a:moveTo>
                  <a:pt x="23863" y="24129"/>
                </a:moveTo>
                <a:lnTo>
                  <a:pt x="24117" y="22859"/>
                </a:lnTo>
                <a:lnTo>
                  <a:pt x="25285" y="22859"/>
                </a:lnTo>
                <a:lnTo>
                  <a:pt x="23863" y="24129"/>
                </a:lnTo>
                <a:close/>
              </a:path>
              <a:path w="1160145" h="367029">
                <a:moveTo>
                  <a:pt x="1139329" y="27939"/>
                </a:moveTo>
                <a:lnTo>
                  <a:pt x="1135456" y="22859"/>
                </a:lnTo>
                <a:lnTo>
                  <a:pt x="1145095" y="22859"/>
                </a:lnTo>
                <a:lnTo>
                  <a:pt x="1147848" y="26669"/>
                </a:lnTo>
                <a:lnTo>
                  <a:pt x="1139101" y="26669"/>
                </a:lnTo>
                <a:lnTo>
                  <a:pt x="1139329" y="27939"/>
                </a:lnTo>
                <a:close/>
              </a:path>
              <a:path w="1160145" h="367029">
                <a:moveTo>
                  <a:pt x="20243" y="27939"/>
                </a:moveTo>
                <a:lnTo>
                  <a:pt x="20485" y="26669"/>
                </a:lnTo>
                <a:lnTo>
                  <a:pt x="21212" y="26669"/>
                </a:lnTo>
                <a:lnTo>
                  <a:pt x="20243" y="27939"/>
                </a:lnTo>
                <a:close/>
              </a:path>
              <a:path w="1160145" h="367029">
                <a:moveTo>
                  <a:pt x="1147711" y="41909"/>
                </a:moveTo>
                <a:lnTo>
                  <a:pt x="1145184" y="36829"/>
                </a:lnTo>
                <a:lnTo>
                  <a:pt x="1145349" y="36829"/>
                </a:lnTo>
                <a:lnTo>
                  <a:pt x="1142352" y="31749"/>
                </a:lnTo>
                <a:lnTo>
                  <a:pt x="1142555" y="31749"/>
                </a:lnTo>
                <a:lnTo>
                  <a:pt x="1139101" y="26669"/>
                </a:lnTo>
                <a:lnTo>
                  <a:pt x="1147848" y="26669"/>
                </a:lnTo>
                <a:lnTo>
                  <a:pt x="1148765" y="27939"/>
                </a:lnTo>
                <a:lnTo>
                  <a:pt x="1151966" y="33019"/>
                </a:lnTo>
                <a:lnTo>
                  <a:pt x="1154645" y="38099"/>
                </a:lnTo>
                <a:lnTo>
                  <a:pt x="1155499" y="40639"/>
                </a:lnTo>
                <a:lnTo>
                  <a:pt x="1147559" y="40639"/>
                </a:lnTo>
                <a:lnTo>
                  <a:pt x="1147711" y="41909"/>
                </a:lnTo>
                <a:close/>
              </a:path>
              <a:path w="1160145" h="367029">
                <a:moveTo>
                  <a:pt x="11874" y="41909"/>
                </a:moveTo>
                <a:lnTo>
                  <a:pt x="12014" y="40639"/>
                </a:lnTo>
                <a:lnTo>
                  <a:pt x="12506" y="40639"/>
                </a:lnTo>
                <a:lnTo>
                  <a:pt x="11874" y="41909"/>
                </a:lnTo>
                <a:close/>
              </a:path>
              <a:path w="1160145" h="367029">
                <a:moveTo>
                  <a:pt x="1158925" y="312419"/>
                </a:moveTo>
                <a:lnTo>
                  <a:pt x="1151382" y="312419"/>
                </a:lnTo>
                <a:lnTo>
                  <a:pt x="1151763" y="308609"/>
                </a:lnTo>
                <a:lnTo>
                  <a:pt x="1151978" y="306069"/>
                </a:lnTo>
                <a:lnTo>
                  <a:pt x="1151966" y="59689"/>
                </a:lnTo>
                <a:lnTo>
                  <a:pt x="1151750" y="57149"/>
                </a:lnTo>
                <a:lnTo>
                  <a:pt x="1151382" y="54609"/>
                </a:lnTo>
                <a:lnTo>
                  <a:pt x="1150886" y="52069"/>
                </a:lnTo>
                <a:lnTo>
                  <a:pt x="1150251" y="49529"/>
                </a:lnTo>
                <a:lnTo>
                  <a:pt x="1149489" y="46989"/>
                </a:lnTo>
                <a:lnTo>
                  <a:pt x="1147559" y="40639"/>
                </a:lnTo>
                <a:lnTo>
                  <a:pt x="1155499" y="40639"/>
                </a:lnTo>
                <a:lnTo>
                  <a:pt x="1156779" y="44449"/>
                </a:lnTo>
                <a:lnTo>
                  <a:pt x="1157655" y="46989"/>
                </a:lnTo>
                <a:lnTo>
                  <a:pt x="1158367" y="50799"/>
                </a:lnTo>
                <a:lnTo>
                  <a:pt x="1158925" y="53339"/>
                </a:lnTo>
                <a:lnTo>
                  <a:pt x="1159586" y="59689"/>
                </a:lnTo>
                <a:lnTo>
                  <a:pt x="1159586" y="306069"/>
                </a:lnTo>
                <a:lnTo>
                  <a:pt x="1159332" y="309879"/>
                </a:lnTo>
                <a:lnTo>
                  <a:pt x="1158925" y="312419"/>
                </a:lnTo>
                <a:close/>
              </a:path>
              <a:path w="1160145" h="367029">
                <a:moveTo>
                  <a:pt x="7607" y="60959"/>
                </a:moveTo>
                <a:lnTo>
                  <a:pt x="7607" y="59689"/>
                </a:lnTo>
                <a:lnTo>
                  <a:pt x="7607" y="60959"/>
                </a:lnTo>
                <a:close/>
              </a:path>
              <a:path w="1160145" h="367029">
                <a:moveTo>
                  <a:pt x="1151978" y="60959"/>
                </a:moveTo>
                <a:lnTo>
                  <a:pt x="1151902" y="59689"/>
                </a:lnTo>
                <a:lnTo>
                  <a:pt x="1151978" y="60959"/>
                </a:lnTo>
                <a:close/>
              </a:path>
              <a:path w="1160145" h="367029">
                <a:moveTo>
                  <a:pt x="8343" y="312419"/>
                </a:moveTo>
                <a:lnTo>
                  <a:pt x="8191" y="312419"/>
                </a:lnTo>
                <a:lnTo>
                  <a:pt x="8166" y="311149"/>
                </a:lnTo>
                <a:lnTo>
                  <a:pt x="8343" y="312419"/>
                </a:lnTo>
                <a:close/>
              </a:path>
              <a:path w="1160145" h="367029">
                <a:moveTo>
                  <a:pt x="1151166" y="335279"/>
                </a:moveTo>
                <a:lnTo>
                  <a:pt x="1142352" y="335279"/>
                </a:lnTo>
                <a:lnTo>
                  <a:pt x="1145349" y="330199"/>
                </a:lnTo>
                <a:lnTo>
                  <a:pt x="1145184" y="330199"/>
                </a:lnTo>
                <a:lnTo>
                  <a:pt x="1147711" y="325119"/>
                </a:lnTo>
                <a:lnTo>
                  <a:pt x="1147559" y="325119"/>
                </a:lnTo>
                <a:lnTo>
                  <a:pt x="1149578" y="320039"/>
                </a:lnTo>
                <a:lnTo>
                  <a:pt x="1150302" y="317499"/>
                </a:lnTo>
                <a:lnTo>
                  <a:pt x="1150924" y="314959"/>
                </a:lnTo>
                <a:lnTo>
                  <a:pt x="1151407" y="311149"/>
                </a:lnTo>
                <a:lnTo>
                  <a:pt x="1151382" y="312419"/>
                </a:lnTo>
                <a:lnTo>
                  <a:pt x="1158925" y="312419"/>
                </a:lnTo>
                <a:lnTo>
                  <a:pt x="1158367" y="316229"/>
                </a:lnTo>
                <a:lnTo>
                  <a:pt x="1157655" y="318769"/>
                </a:lnTo>
                <a:lnTo>
                  <a:pt x="1156779" y="322579"/>
                </a:lnTo>
                <a:lnTo>
                  <a:pt x="1151966" y="334009"/>
                </a:lnTo>
                <a:lnTo>
                  <a:pt x="1151166" y="335279"/>
                </a:lnTo>
                <a:close/>
              </a:path>
              <a:path w="1160145" h="367029">
                <a:moveTo>
                  <a:pt x="17894" y="335279"/>
                </a:moveTo>
                <a:lnTo>
                  <a:pt x="17233" y="335279"/>
                </a:lnTo>
                <a:lnTo>
                  <a:pt x="17030" y="334009"/>
                </a:lnTo>
                <a:lnTo>
                  <a:pt x="17894" y="335279"/>
                </a:lnTo>
                <a:close/>
              </a:path>
              <a:path w="1160145" h="367029">
                <a:moveTo>
                  <a:pt x="1138713" y="350519"/>
                </a:moveTo>
                <a:lnTo>
                  <a:pt x="1127112" y="350519"/>
                </a:lnTo>
                <a:lnTo>
                  <a:pt x="1131735" y="346709"/>
                </a:lnTo>
                <a:lnTo>
                  <a:pt x="1131455" y="346709"/>
                </a:lnTo>
                <a:lnTo>
                  <a:pt x="1135710" y="342899"/>
                </a:lnTo>
                <a:lnTo>
                  <a:pt x="1135456" y="342899"/>
                </a:lnTo>
                <a:lnTo>
                  <a:pt x="1139329" y="339089"/>
                </a:lnTo>
                <a:lnTo>
                  <a:pt x="1139101" y="339089"/>
                </a:lnTo>
                <a:lnTo>
                  <a:pt x="1142555" y="334009"/>
                </a:lnTo>
                <a:lnTo>
                  <a:pt x="1142352" y="335279"/>
                </a:lnTo>
                <a:lnTo>
                  <a:pt x="1151166" y="335279"/>
                </a:lnTo>
                <a:lnTo>
                  <a:pt x="1148765" y="339089"/>
                </a:lnTo>
                <a:lnTo>
                  <a:pt x="1145095" y="344169"/>
                </a:lnTo>
                <a:lnTo>
                  <a:pt x="1140980" y="347979"/>
                </a:lnTo>
                <a:lnTo>
                  <a:pt x="1138713" y="350519"/>
                </a:lnTo>
                <a:close/>
              </a:path>
              <a:path w="1160145" h="367029">
                <a:moveTo>
                  <a:pt x="33807" y="350519"/>
                </a:moveTo>
                <a:lnTo>
                  <a:pt x="32461" y="350519"/>
                </a:lnTo>
                <a:lnTo>
                  <a:pt x="32156" y="349250"/>
                </a:lnTo>
                <a:lnTo>
                  <a:pt x="33807" y="350519"/>
                </a:lnTo>
                <a:close/>
              </a:path>
              <a:path w="1160145" h="367029">
                <a:moveTo>
                  <a:pt x="1131531" y="355600"/>
                </a:moveTo>
                <a:lnTo>
                  <a:pt x="1117549" y="355600"/>
                </a:lnTo>
                <a:lnTo>
                  <a:pt x="1122794" y="353059"/>
                </a:lnTo>
                <a:lnTo>
                  <a:pt x="1122476" y="353059"/>
                </a:lnTo>
                <a:lnTo>
                  <a:pt x="1127417" y="349250"/>
                </a:lnTo>
                <a:lnTo>
                  <a:pt x="1127112" y="350519"/>
                </a:lnTo>
                <a:lnTo>
                  <a:pt x="1138713" y="350519"/>
                </a:lnTo>
                <a:lnTo>
                  <a:pt x="1136446" y="353059"/>
                </a:lnTo>
                <a:lnTo>
                  <a:pt x="1131531" y="355600"/>
                </a:lnTo>
                <a:close/>
              </a:path>
              <a:path w="1160145" h="367029">
                <a:moveTo>
                  <a:pt x="44437" y="355600"/>
                </a:moveTo>
                <a:lnTo>
                  <a:pt x="42024" y="355600"/>
                </a:lnTo>
                <a:lnTo>
                  <a:pt x="41681" y="354329"/>
                </a:lnTo>
                <a:lnTo>
                  <a:pt x="44437" y="355600"/>
                </a:lnTo>
                <a:close/>
              </a:path>
              <a:path w="1160145" h="367029">
                <a:moveTo>
                  <a:pt x="1126274" y="359409"/>
                </a:moveTo>
                <a:lnTo>
                  <a:pt x="1101496" y="359409"/>
                </a:lnTo>
                <a:lnTo>
                  <a:pt x="1104506" y="358139"/>
                </a:lnTo>
                <a:lnTo>
                  <a:pt x="1109802" y="358139"/>
                </a:lnTo>
                <a:lnTo>
                  <a:pt x="1112646" y="356869"/>
                </a:lnTo>
                <a:lnTo>
                  <a:pt x="1112380" y="356869"/>
                </a:lnTo>
                <a:lnTo>
                  <a:pt x="1117892" y="354329"/>
                </a:lnTo>
                <a:lnTo>
                  <a:pt x="1117549" y="355600"/>
                </a:lnTo>
                <a:lnTo>
                  <a:pt x="1131531" y="355600"/>
                </a:lnTo>
                <a:lnTo>
                  <a:pt x="1126274" y="359409"/>
                </a:lnTo>
                <a:close/>
              </a:path>
              <a:path w="1160145" h="367029">
                <a:moveTo>
                  <a:pt x="1108709" y="365759"/>
                </a:moveTo>
                <a:lnTo>
                  <a:pt x="50876" y="365759"/>
                </a:lnTo>
                <a:lnTo>
                  <a:pt x="47790" y="364489"/>
                </a:lnTo>
                <a:lnTo>
                  <a:pt x="1111796" y="364489"/>
                </a:lnTo>
                <a:lnTo>
                  <a:pt x="1108709" y="365759"/>
                </a:lnTo>
                <a:close/>
              </a:path>
              <a:path w="1160145" h="367029">
                <a:moveTo>
                  <a:pt x="1102372" y="367029"/>
                </a:moveTo>
                <a:lnTo>
                  <a:pt x="57213" y="367029"/>
                </a:lnTo>
                <a:lnTo>
                  <a:pt x="54025" y="365759"/>
                </a:lnTo>
                <a:lnTo>
                  <a:pt x="1105560" y="365759"/>
                </a:lnTo>
                <a:lnTo>
                  <a:pt x="1102372" y="367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260790" y="2925305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0000"/>
                </a:solidFill>
                <a:latin typeface="Times New Roman"/>
                <a:cs typeface="Times New Roman"/>
              </a:rPr>
              <a:t>runnable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33639" y="3051759"/>
            <a:ext cx="864235" cy="76200"/>
          </a:xfrm>
          <a:custGeom>
            <a:avLst/>
            <a:gdLst/>
            <a:ahLst/>
            <a:cxnLst/>
            <a:rect l="l" t="t" r="r" b="b"/>
            <a:pathLst>
              <a:path w="864235" h="76200">
                <a:moveTo>
                  <a:pt x="822193" y="33631"/>
                </a:moveTo>
                <a:lnTo>
                  <a:pt x="787247" y="0"/>
                </a:lnTo>
                <a:lnTo>
                  <a:pt x="857331" y="33375"/>
                </a:lnTo>
                <a:lnTo>
                  <a:pt x="835520" y="33375"/>
                </a:lnTo>
                <a:lnTo>
                  <a:pt x="822193" y="33631"/>
                </a:lnTo>
                <a:close/>
              </a:path>
              <a:path w="864235" h="76200">
                <a:moveTo>
                  <a:pt x="822342" y="41238"/>
                </a:moveTo>
                <a:lnTo>
                  <a:pt x="826071" y="37363"/>
                </a:lnTo>
                <a:lnTo>
                  <a:pt x="822193" y="33631"/>
                </a:lnTo>
                <a:lnTo>
                  <a:pt x="835520" y="33375"/>
                </a:lnTo>
                <a:lnTo>
                  <a:pt x="835672" y="40982"/>
                </a:lnTo>
                <a:lnTo>
                  <a:pt x="822342" y="41238"/>
                </a:lnTo>
                <a:close/>
              </a:path>
              <a:path w="864235" h="76200">
                <a:moveTo>
                  <a:pt x="788708" y="76187"/>
                </a:moveTo>
                <a:lnTo>
                  <a:pt x="822342" y="41238"/>
                </a:lnTo>
                <a:lnTo>
                  <a:pt x="835672" y="40982"/>
                </a:lnTo>
                <a:lnTo>
                  <a:pt x="835520" y="33375"/>
                </a:lnTo>
                <a:lnTo>
                  <a:pt x="857331" y="33375"/>
                </a:lnTo>
                <a:lnTo>
                  <a:pt x="864158" y="36626"/>
                </a:lnTo>
                <a:lnTo>
                  <a:pt x="788708" y="76187"/>
                </a:lnTo>
                <a:close/>
              </a:path>
              <a:path w="864235" h="76200">
                <a:moveTo>
                  <a:pt x="139" y="57010"/>
                </a:moveTo>
                <a:lnTo>
                  <a:pt x="0" y="49390"/>
                </a:lnTo>
                <a:lnTo>
                  <a:pt x="822193" y="33631"/>
                </a:lnTo>
                <a:lnTo>
                  <a:pt x="826071" y="37363"/>
                </a:lnTo>
                <a:lnTo>
                  <a:pt x="822342" y="41238"/>
                </a:lnTo>
                <a:lnTo>
                  <a:pt x="139" y="570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84452" y="2800616"/>
            <a:ext cx="5715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solidFill>
                  <a:srgbClr val="FF0000"/>
                </a:solidFill>
                <a:latin typeface="Times New Roman"/>
                <a:cs typeface="Times New Roman"/>
              </a:rPr>
              <a:t>st</a:t>
            </a:r>
            <a:r>
              <a:rPr dirty="0">
                <a:solidFill>
                  <a:srgbClr val="FF0000"/>
                </a:solidFill>
                <a:latin typeface="Times New Roman"/>
                <a:cs typeface="Times New Roman"/>
              </a:rPr>
              <a:t>ar</a:t>
            </a:r>
            <a:r>
              <a:rPr dirty="0" spc="-5">
                <a:solidFill>
                  <a:srgbClr val="FF0000"/>
                </a:solidFill>
                <a:latin typeface="Times New Roman"/>
                <a:cs typeface="Times New Roman"/>
              </a:rPr>
              <a:t>t</a:t>
            </a:r>
            <a:r>
              <a:rPr dirty="0">
                <a:solidFill>
                  <a:srgbClr val="FF0000"/>
                </a:solidFill>
                <a:latin typeface="Times New Roman"/>
                <a:cs typeface="Times New Roman"/>
              </a:rPr>
              <a:t>()</a:t>
            </a:r>
          </a:p>
        </p:txBody>
      </p:sp>
      <p:sp>
        <p:nvSpPr>
          <p:cNvPr id="9" name="object 9"/>
          <p:cNvSpPr/>
          <p:nvPr/>
        </p:nvSpPr>
        <p:spPr>
          <a:xfrm>
            <a:off x="428244" y="3933444"/>
            <a:ext cx="5363210" cy="2306320"/>
          </a:xfrm>
          <a:custGeom>
            <a:avLst/>
            <a:gdLst/>
            <a:ahLst/>
            <a:cxnLst/>
            <a:rect l="l" t="t" r="r" b="b"/>
            <a:pathLst>
              <a:path w="5363210" h="2306320">
                <a:moveTo>
                  <a:pt x="0" y="0"/>
                </a:moveTo>
                <a:lnTo>
                  <a:pt x="5362956" y="0"/>
                </a:lnTo>
                <a:lnTo>
                  <a:pt x="5362956" y="2305812"/>
                </a:lnTo>
                <a:lnTo>
                  <a:pt x="0" y="23058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6552" y="3952100"/>
            <a:ext cx="513461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marR="85090" indent="-4572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800" b="1">
                <a:latin typeface="Consolas"/>
                <a:cs typeface="Consolas"/>
              </a:rPr>
              <a:t>main(String[]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800" b="1">
                <a:latin typeface="Consolas"/>
                <a:cs typeface="Consolas"/>
              </a:rPr>
              <a:t>)</a:t>
            </a:r>
            <a:r>
              <a:rPr dirty="0" sz="1800" spc="-100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FirstThread(); 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t1</a:t>
            </a:r>
            <a:r>
              <a:rPr dirty="0" sz="1800" b="1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469265" marR="50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Runnable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target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SecondThread();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t2</a:t>
            </a:r>
            <a:r>
              <a:rPr dirty="0" sz="1800" b="1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6552" y="5931164"/>
            <a:ext cx="151130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4453" y="2941878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7895" y="2904566"/>
            <a:ext cx="5624080" cy="383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260790" y="2925305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75453" y="2941878"/>
            <a:ext cx="812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r</a:t>
            </a:r>
            <a:r>
              <a:rPr dirty="0" sz="1800" spc="-5" b="1">
                <a:solidFill>
                  <a:srgbClr val="FF0000"/>
                </a:solidFill>
                <a:latin typeface="Times New Roman"/>
                <a:cs typeface="Times New Roman"/>
              </a:rPr>
              <a:t>unnin</a:t>
            </a:r>
            <a:r>
              <a:rPr dirty="0" sz="1800" b="1">
                <a:solidFill>
                  <a:srgbClr val="FF0000"/>
                </a:solidFill>
                <a:latin typeface="Times New Roman"/>
                <a:cs typeface="Times New Roman"/>
              </a:rPr>
              <a:t>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84452" y="2800616"/>
            <a:ext cx="5715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st</a:t>
            </a:r>
            <a:r>
              <a:rPr dirty="0">
                <a:latin typeface="Times New Roman"/>
                <a:cs typeface="Times New Roman"/>
              </a:rPr>
              <a:t>ar</a:t>
            </a:r>
            <a:r>
              <a:rPr dirty="0" spc="-5">
                <a:latin typeface="Times New Roman"/>
                <a:cs typeface="Times New Roman"/>
              </a:rPr>
              <a:t>t</a:t>
            </a:r>
            <a:r>
              <a:rPr dirty="0">
                <a:latin typeface="Times New Roman"/>
                <a:cs typeface="Times New Roman"/>
              </a:rPr>
              <a:t>()</a:t>
            </a:r>
          </a:p>
        </p:txBody>
      </p:sp>
      <p:sp>
        <p:nvSpPr>
          <p:cNvPr id="8" name="object 8"/>
          <p:cNvSpPr/>
          <p:nvPr/>
        </p:nvSpPr>
        <p:spPr>
          <a:xfrm>
            <a:off x="323088" y="3976115"/>
            <a:ext cx="7988934" cy="2322830"/>
          </a:xfrm>
          <a:custGeom>
            <a:avLst/>
            <a:gdLst/>
            <a:ahLst/>
            <a:cxnLst/>
            <a:rect l="l" t="t" r="r" b="b"/>
            <a:pathLst>
              <a:path w="7988934" h="2322829">
                <a:moveTo>
                  <a:pt x="0" y="0"/>
                </a:moveTo>
                <a:lnTo>
                  <a:pt x="7988808" y="0"/>
                </a:lnTo>
                <a:lnTo>
                  <a:pt x="7988808" y="2322576"/>
                </a:lnTo>
                <a:lnTo>
                  <a:pt x="0" y="23225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02272" y="4002074"/>
            <a:ext cx="7988934" cy="2236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7970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微软雅黑"/>
                <a:cs typeface="微软雅黑"/>
              </a:rPr>
              <a:t>如果处于就绪状态的线程获得了CPU时间片，就开始执行r</a:t>
            </a:r>
            <a:r>
              <a:rPr dirty="0" sz="2000" spc="-10">
                <a:latin typeface="微软雅黑"/>
                <a:cs typeface="微软雅黑"/>
              </a:rPr>
              <a:t>un</a:t>
            </a:r>
            <a:r>
              <a:rPr dirty="0" sz="2000">
                <a:latin typeface="微软雅黑"/>
                <a:cs typeface="微软雅黑"/>
              </a:rPr>
              <a:t>()</a:t>
            </a:r>
            <a:r>
              <a:rPr dirty="0" sz="2000">
                <a:latin typeface="微软雅黑"/>
                <a:cs typeface="微软雅黑"/>
              </a:rPr>
              <a:t>方</a:t>
            </a:r>
            <a:r>
              <a:rPr dirty="0" sz="2000">
                <a:latin typeface="微软雅黑"/>
                <a:cs typeface="微软雅黑"/>
              </a:rPr>
              <a:t>法 </a:t>
            </a:r>
            <a:r>
              <a:rPr dirty="0" sz="2000">
                <a:latin typeface="微软雅黑"/>
                <a:cs typeface="微软雅黑"/>
              </a:rPr>
              <a:t>中的线程执行体，线程进入“运行”状态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355600" marR="5080" indent="-3429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>
                <a:latin typeface="微软雅黑"/>
                <a:cs typeface="微软雅黑"/>
              </a:rPr>
              <a:t>除非线程的执行体特别短，在一个</a:t>
            </a:r>
            <a:r>
              <a:rPr dirty="0" sz="2000" spc="-5">
                <a:latin typeface="微软雅黑"/>
                <a:cs typeface="微软雅黑"/>
              </a:rPr>
              <a:t>CPU</a:t>
            </a:r>
            <a:r>
              <a:rPr dirty="0" sz="2000">
                <a:latin typeface="微软雅黑"/>
                <a:cs typeface="微软雅黑"/>
              </a:rPr>
              <a:t>时间片内就可以执行完毕</a:t>
            </a:r>
            <a:r>
              <a:rPr dirty="0" sz="2000" spc="5">
                <a:latin typeface="微软雅黑"/>
                <a:cs typeface="微软雅黑"/>
              </a:rPr>
              <a:t>，  </a:t>
            </a:r>
            <a:r>
              <a:rPr dirty="0" sz="2000">
                <a:latin typeface="微软雅黑"/>
                <a:cs typeface="微软雅黑"/>
              </a:rPr>
              <a:t>否则在运行过程中它将会被中断，以使其他的线程获得执行的机会</a:t>
            </a:r>
            <a:r>
              <a:rPr dirty="0" sz="2000">
                <a:latin typeface="微软雅黑"/>
                <a:cs typeface="微软雅黑"/>
              </a:rPr>
              <a:t>。 </a:t>
            </a:r>
            <a:r>
              <a:rPr dirty="0" sz="2000">
                <a:latin typeface="微软雅黑"/>
                <a:cs typeface="微软雅黑"/>
              </a:rPr>
              <a:t>线程因失去时间片而中断时返回就绪状态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 marL="355600" marR="1101725" indent="-342900">
              <a:lnSpc>
                <a:spcPct val="100000"/>
              </a:lnSpc>
              <a:spcBef>
                <a:spcPts val="3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2000" spc="-5">
                <a:latin typeface="微软雅黑"/>
                <a:cs typeface="微软雅黑"/>
              </a:rPr>
              <a:t>r</a:t>
            </a:r>
            <a:r>
              <a:rPr dirty="0" sz="2000" spc="-10">
                <a:latin typeface="微软雅黑"/>
                <a:cs typeface="微软雅黑"/>
              </a:rPr>
              <a:t>unn</a:t>
            </a:r>
            <a:r>
              <a:rPr dirty="0" sz="2000" spc="-5">
                <a:latin typeface="微软雅黑"/>
                <a:cs typeface="微软雅黑"/>
              </a:rPr>
              <a:t>i</a:t>
            </a:r>
            <a:r>
              <a:rPr dirty="0" sz="2000" spc="-10">
                <a:latin typeface="微软雅黑"/>
                <a:cs typeface="微软雅黑"/>
              </a:rPr>
              <a:t>n</a:t>
            </a:r>
            <a:r>
              <a:rPr dirty="0" sz="2000" spc="-5">
                <a:latin typeface="微软雅黑"/>
                <a:cs typeface="微软雅黑"/>
              </a:rPr>
              <a:t>g状态的线程可以调用yield</a:t>
            </a:r>
            <a:r>
              <a:rPr dirty="0" sz="2000">
                <a:latin typeface="微软雅黑"/>
                <a:cs typeface="微软雅黑"/>
              </a:rPr>
              <a:t>()</a:t>
            </a:r>
            <a:r>
              <a:rPr dirty="0" sz="2000">
                <a:latin typeface="微软雅黑"/>
                <a:cs typeface="微软雅黑"/>
              </a:rPr>
              <a:t>方法主动放弃执行，</a:t>
            </a:r>
            <a:r>
              <a:rPr dirty="0" sz="2000">
                <a:latin typeface="微软雅黑"/>
                <a:cs typeface="微软雅黑"/>
              </a:rPr>
              <a:t>从  </a:t>
            </a:r>
            <a:r>
              <a:rPr dirty="0" sz="2000" spc="-10">
                <a:latin typeface="微软雅黑"/>
                <a:cs typeface="微软雅黑"/>
              </a:rPr>
              <a:t>running</a:t>
            </a:r>
            <a:r>
              <a:rPr dirty="0" sz="2000">
                <a:latin typeface="微软雅黑"/>
                <a:cs typeface="微软雅黑"/>
              </a:rPr>
              <a:t>转入</a:t>
            </a:r>
            <a:r>
              <a:rPr dirty="0" sz="2000" spc="-5">
                <a:latin typeface="微软雅黑"/>
                <a:cs typeface="微软雅黑"/>
              </a:rPr>
              <a:t>runnable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3302965" y="2738132"/>
            <a:ext cx="1549400" cy="951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5461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获得</a:t>
            </a:r>
            <a:r>
              <a:rPr dirty="0" sz="1600" spc="-5">
                <a:latin typeface="Times New Roman"/>
                <a:cs typeface="Times New Roman"/>
              </a:rPr>
              <a:t>CPU</a:t>
            </a:r>
            <a:r>
              <a:rPr dirty="0" sz="1600">
                <a:latin typeface="微软雅黑"/>
                <a:cs typeface="微软雅黑"/>
              </a:rPr>
              <a:t>时间</a:t>
            </a:r>
            <a:r>
              <a:rPr dirty="0" sz="1600" spc="-5">
                <a:latin typeface="微软雅黑"/>
                <a:cs typeface="微软雅黑"/>
              </a:rPr>
              <a:t>片</a:t>
            </a:r>
            <a:endParaRPr sz="1600">
              <a:latin typeface="微软雅黑"/>
              <a:cs typeface="微软雅黑"/>
            </a:endParaRPr>
          </a:p>
          <a:p>
            <a:pPr algn="ctr">
              <a:lnSpc>
                <a:spcPts val="1889"/>
              </a:lnSpc>
              <a:spcBef>
                <a:spcPts val="1360"/>
              </a:spcBef>
            </a:pPr>
            <a:r>
              <a:rPr dirty="0" sz="1600">
                <a:latin typeface="微软雅黑"/>
                <a:cs typeface="微软雅黑"/>
              </a:rPr>
              <a:t>时间片用</a:t>
            </a:r>
            <a:r>
              <a:rPr dirty="0" sz="1600" spc="-5">
                <a:latin typeface="微软雅黑"/>
                <a:cs typeface="微软雅黑"/>
              </a:rPr>
              <a:t>完</a:t>
            </a:r>
            <a:endParaRPr sz="1600">
              <a:latin typeface="微软雅黑"/>
              <a:cs typeface="微软雅黑"/>
            </a:endParaRPr>
          </a:p>
          <a:p>
            <a:pPr algn="ctr">
              <a:lnSpc>
                <a:spcPts val="2130"/>
              </a:lnSpc>
            </a:pPr>
            <a:r>
              <a:rPr dirty="0" sz="1800">
                <a:latin typeface="Times New Roman"/>
                <a:cs typeface="Times New Roman"/>
              </a:rPr>
              <a:t>y</a:t>
            </a:r>
            <a:r>
              <a:rPr dirty="0" sz="1800" spc="-5">
                <a:latin typeface="Times New Roman"/>
                <a:cs typeface="Times New Roman"/>
              </a:rPr>
              <a:t>i</a:t>
            </a:r>
            <a:r>
              <a:rPr dirty="0" sz="1800">
                <a:latin typeface="Times New Roman"/>
                <a:cs typeface="Times New Roman"/>
              </a:rPr>
              <a:t>e</a:t>
            </a:r>
            <a:r>
              <a:rPr dirty="0" sz="1800" spc="-5">
                <a:latin typeface="Times New Roman"/>
                <a:cs typeface="Times New Roman"/>
              </a:rPr>
              <a:t>l</a:t>
            </a:r>
            <a:r>
              <a:rPr dirty="0" sz="1800">
                <a:latin typeface="Times New Roman"/>
                <a:cs typeface="Times New Roman"/>
              </a:rPr>
              <a:t>d()</a:t>
            </a:r>
            <a:r>
              <a:rPr dirty="0" sz="1800">
                <a:latin typeface="微软雅黑"/>
                <a:cs typeface="微软雅黑"/>
              </a:rPr>
              <a:t>放弃运行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4453" y="2941878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0790" y="2925305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13553" y="2941878"/>
            <a:ext cx="736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03053" y="1797684"/>
            <a:ext cx="7493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solidFill>
                  <a:srgbClr val="FF0000"/>
                </a:solidFill>
                <a:latin typeface="Times New Roman"/>
                <a:cs typeface="Times New Roman"/>
              </a:rPr>
              <a:t>blocked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84452" y="2800616"/>
            <a:ext cx="571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st</a:t>
            </a:r>
            <a:r>
              <a:rPr dirty="0" sz="1800">
                <a:latin typeface="Times New Roman"/>
                <a:cs typeface="Times New Roman"/>
              </a:rPr>
              <a:t>ar</a:t>
            </a:r>
            <a:r>
              <a:rPr dirty="0" sz="1800" spc="-5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7895" y="1776933"/>
            <a:ext cx="5624080" cy="1511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28670" y="2629890"/>
            <a:ext cx="1438910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8255">
              <a:lnSpc>
                <a:spcPct val="144100"/>
              </a:lnSpc>
              <a:spcBef>
                <a:spcPts val="100"/>
              </a:spcBef>
            </a:pPr>
            <a:r>
              <a:rPr dirty="0" sz="1600">
                <a:latin typeface="微软雅黑"/>
                <a:cs typeface="微软雅黑"/>
              </a:rPr>
              <a:t>获得</a:t>
            </a:r>
            <a:r>
              <a:rPr dirty="0" sz="1600" spc="-5">
                <a:latin typeface="Times New Roman"/>
                <a:cs typeface="Times New Roman"/>
              </a:rPr>
              <a:t>CPU</a:t>
            </a:r>
            <a:r>
              <a:rPr dirty="0" sz="1600">
                <a:latin typeface="微软雅黑"/>
                <a:cs typeface="微软雅黑"/>
              </a:rPr>
              <a:t>时间</a:t>
            </a:r>
            <a:r>
              <a:rPr dirty="0" sz="1600" spc="-5">
                <a:latin typeface="微软雅黑"/>
                <a:cs typeface="微软雅黑"/>
              </a:rPr>
              <a:t>片 </a:t>
            </a:r>
            <a:r>
              <a:rPr dirty="0" sz="1600">
                <a:latin typeface="微软雅黑"/>
                <a:cs typeface="微软雅黑"/>
              </a:rPr>
              <a:t>时间片用</a:t>
            </a:r>
            <a:r>
              <a:rPr dirty="0" sz="1600" spc="-5">
                <a:latin typeface="微软雅黑"/>
                <a:cs typeface="微软雅黑"/>
              </a:rPr>
              <a:t>完</a:t>
            </a:r>
            <a:endParaRPr sz="1600">
              <a:latin typeface="微软雅黑"/>
              <a:cs typeface="微软雅黑"/>
            </a:endParaRPr>
          </a:p>
          <a:p>
            <a:pPr algn="ctr" marL="58419">
              <a:lnSpc>
                <a:spcPct val="100000"/>
              </a:lnSpc>
            </a:pPr>
            <a:r>
              <a:rPr dirty="0" sz="1600" spc="-5">
                <a:latin typeface="Times New Roman"/>
                <a:cs typeface="Times New Roman"/>
              </a:rPr>
              <a:t>yield()</a:t>
            </a:r>
            <a:r>
              <a:rPr dirty="0" sz="1600">
                <a:latin typeface="微软雅黑"/>
                <a:cs typeface="微软雅黑"/>
              </a:rPr>
              <a:t>放弃运</a:t>
            </a:r>
            <a:r>
              <a:rPr dirty="0" sz="1600" spc="-5">
                <a:latin typeface="微软雅黑"/>
                <a:cs typeface="微软雅黑"/>
              </a:rPr>
              <a:t>行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402272" y="4002074"/>
            <a:ext cx="7734934" cy="1245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>
                <a:latin typeface="微软雅黑"/>
                <a:cs typeface="微软雅黑"/>
              </a:rPr>
              <a:t>“阻塞”状态是三种状态的组合体：睡眠</a:t>
            </a:r>
            <a:r>
              <a:rPr dirty="0" sz="2000" spc="-5">
                <a:latin typeface="微软雅黑"/>
                <a:cs typeface="微软雅黑"/>
              </a:rPr>
              <a:t>/</a:t>
            </a:r>
            <a:r>
              <a:rPr dirty="0" sz="2000">
                <a:latin typeface="微软雅黑"/>
                <a:cs typeface="微软雅黑"/>
              </a:rPr>
              <a:t>资源阻塞</a:t>
            </a:r>
            <a:r>
              <a:rPr dirty="0" sz="2000" spc="-5">
                <a:latin typeface="微软雅黑"/>
                <a:cs typeface="微软雅黑"/>
              </a:rPr>
              <a:t>/</a:t>
            </a:r>
            <a:r>
              <a:rPr dirty="0" sz="2000">
                <a:latin typeface="微软雅黑"/>
                <a:cs typeface="微软雅黑"/>
              </a:rPr>
              <a:t>等待。这三</a:t>
            </a:r>
            <a:r>
              <a:rPr dirty="0" sz="2000" spc="5">
                <a:latin typeface="微软雅黑"/>
                <a:cs typeface="微软雅黑"/>
              </a:rPr>
              <a:t>种 </a:t>
            </a:r>
            <a:r>
              <a:rPr dirty="0" sz="2000">
                <a:latin typeface="微软雅黑"/>
                <a:cs typeface="微软雅黑"/>
              </a:rPr>
              <a:t>状态有一个共同点：线程依然是活的，但当前缺少运行它的条件</a:t>
            </a:r>
            <a:r>
              <a:rPr dirty="0" sz="2000">
                <a:latin typeface="微软雅黑"/>
                <a:cs typeface="微软雅黑"/>
              </a:rPr>
              <a:t>， </a:t>
            </a:r>
            <a:r>
              <a:rPr dirty="0" sz="2000">
                <a:latin typeface="微软雅黑"/>
                <a:cs typeface="微软雅黑"/>
              </a:rPr>
              <a:t>即当前是不可运行的，如果发生某个特定的事件，它将返回就绪</a:t>
            </a:r>
            <a:r>
              <a:rPr dirty="0" sz="2000">
                <a:latin typeface="微软雅黑"/>
                <a:cs typeface="微软雅黑"/>
              </a:rPr>
              <a:t>状 </a:t>
            </a:r>
            <a:r>
              <a:rPr dirty="0" sz="2000">
                <a:latin typeface="微软雅黑"/>
                <a:cs typeface="微软雅黑"/>
              </a:rPr>
              <a:t>态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8968" y="426237"/>
            <a:ext cx="1848408" cy="2597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4453" y="2941878"/>
            <a:ext cx="406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new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0790" y="2925305"/>
            <a:ext cx="825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runnable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7895" y="2904566"/>
            <a:ext cx="5624080" cy="3836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113553" y="2941878"/>
            <a:ext cx="736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running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98726" y="2921139"/>
            <a:ext cx="871855" cy="367030"/>
          </a:xfrm>
          <a:custGeom>
            <a:avLst/>
            <a:gdLst/>
            <a:ahLst/>
            <a:cxnLst/>
            <a:rect l="l" t="t" r="r" b="b"/>
            <a:pathLst>
              <a:path w="871854" h="367029">
                <a:moveTo>
                  <a:pt x="820674" y="1270"/>
                </a:moveTo>
                <a:lnTo>
                  <a:pt x="50888" y="1270"/>
                </a:lnTo>
                <a:lnTo>
                  <a:pt x="54025" y="0"/>
                </a:lnTo>
                <a:lnTo>
                  <a:pt x="817537" y="0"/>
                </a:lnTo>
                <a:lnTo>
                  <a:pt x="820674" y="1270"/>
                </a:lnTo>
                <a:close/>
              </a:path>
              <a:path w="871854" h="367029">
                <a:moveTo>
                  <a:pt x="826846" y="364490"/>
                </a:moveTo>
                <a:lnTo>
                  <a:pt x="44716" y="364490"/>
                </a:lnTo>
                <a:lnTo>
                  <a:pt x="38900" y="361950"/>
                </a:lnTo>
                <a:lnTo>
                  <a:pt x="33312" y="359410"/>
                </a:lnTo>
                <a:lnTo>
                  <a:pt x="28054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70"/>
                </a:lnTo>
                <a:lnTo>
                  <a:pt x="10820" y="339090"/>
                </a:lnTo>
                <a:lnTo>
                  <a:pt x="7620" y="334010"/>
                </a:lnTo>
                <a:lnTo>
                  <a:pt x="2806" y="322580"/>
                </a:lnTo>
                <a:lnTo>
                  <a:pt x="1930" y="318770"/>
                </a:lnTo>
                <a:lnTo>
                  <a:pt x="1219" y="316230"/>
                </a:lnTo>
                <a:lnTo>
                  <a:pt x="660" y="312420"/>
                </a:lnTo>
                <a:lnTo>
                  <a:pt x="253" y="309880"/>
                </a:lnTo>
                <a:lnTo>
                  <a:pt x="0" y="306070"/>
                </a:lnTo>
                <a:lnTo>
                  <a:pt x="0" y="59690"/>
                </a:lnTo>
                <a:lnTo>
                  <a:pt x="660" y="53340"/>
                </a:lnTo>
                <a:lnTo>
                  <a:pt x="1219" y="50800"/>
                </a:lnTo>
                <a:lnTo>
                  <a:pt x="1930" y="46990"/>
                </a:lnTo>
                <a:lnTo>
                  <a:pt x="2806" y="44450"/>
                </a:lnTo>
                <a:lnTo>
                  <a:pt x="4940" y="38100"/>
                </a:lnTo>
                <a:lnTo>
                  <a:pt x="7620" y="33020"/>
                </a:lnTo>
                <a:lnTo>
                  <a:pt x="33312" y="7620"/>
                </a:lnTo>
                <a:lnTo>
                  <a:pt x="38900" y="3810"/>
                </a:lnTo>
                <a:lnTo>
                  <a:pt x="44716" y="2540"/>
                </a:lnTo>
                <a:lnTo>
                  <a:pt x="47790" y="1270"/>
                </a:lnTo>
                <a:lnTo>
                  <a:pt x="823772" y="1270"/>
                </a:lnTo>
                <a:lnTo>
                  <a:pt x="826846" y="2540"/>
                </a:lnTo>
                <a:lnTo>
                  <a:pt x="832662" y="3810"/>
                </a:lnTo>
                <a:lnTo>
                  <a:pt x="836388" y="6350"/>
                </a:lnTo>
                <a:lnTo>
                  <a:pt x="63842" y="6350"/>
                </a:lnTo>
                <a:lnTo>
                  <a:pt x="60744" y="7620"/>
                </a:lnTo>
                <a:lnTo>
                  <a:pt x="52501" y="7620"/>
                </a:lnTo>
                <a:lnTo>
                  <a:pt x="49606" y="8890"/>
                </a:lnTo>
                <a:lnTo>
                  <a:pt x="47205" y="8890"/>
                </a:lnTo>
                <a:lnTo>
                  <a:pt x="41694" y="11430"/>
                </a:lnTo>
                <a:lnTo>
                  <a:pt x="42036" y="11430"/>
                </a:lnTo>
                <a:lnTo>
                  <a:pt x="36791" y="13970"/>
                </a:lnTo>
                <a:lnTo>
                  <a:pt x="37109" y="13970"/>
                </a:lnTo>
                <a:lnTo>
                  <a:pt x="32169" y="16510"/>
                </a:lnTo>
                <a:lnTo>
                  <a:pt x="32473" y="16510"/>
                </a:lnTo>
                <a:lnTo>
                  <a:pt x="27851" y="20320"/>
                </a:lnTo>
                <a:lnTo>
                  <a:pt x="28130" y="20320"/>
                </a:lnTo>
                <a:lnTo>
                  <a:pt x="25294" y="22860"/>
                </a:lnTo>
                <a:lnTo>
                  <a:pt x="24129" y="22860"/>
                </a:lnTo>
                <a:lnTo>
                  <a:pt x="21224" y="26670"/>
                </a:lnTo>
                <a:lnTo>
                  <a:pt x="20485" y="26670"/>
                </a:lnTo>
                <a:lnTo>
                  <a:pt x="17030" y="31750"/>
                </a:lnTo>
                <a:lnTo>
                  <a:pt x="17233" y="31750"/>
                </a:lnTo>
                <a:lnTo>
                  <a:pt x="14236" y="36830"/>
                </a:lnTo>
                <a:lnTo>
                  <a:pt x="14414" y="36830"/>
                </a:lnTo>
                <a:lnTo>
                  <a:pt x="12519" y="40640"/>
                </a:lnTo>
                <a:lnTo>
                  <a:pt x="12026" y="40640"/>
                </a:lnTo>
                <a:lnTo>
                  <a:pt x="10007" y="46990"/>
                </a:lnTo>
                <a:lnTo>
                  <a:pt x="9283" y="49530"/>
                </a:lnTo>
                <a:lnTo>
                  <a:pt x="8661" y="52070"/>
                </a:lnTo>
                <a:lnTo>
                  <a:pt x="8178" y="54610"/>
                </a:lnTo>
                <a:lnTo>
                  <a:pt x="7823" y="57150"/>
                </a:lnTo>
                <a:lnTo>
                  <a:pt x="7683" y="59690"/>
                </a:lnTo>
                <a:lnTo>
                  <a:pt x="7607" y="306070"/>
                </a:lnTo>
                <a:lnTo>
                  <a:pt x="7835" y="308610"/>
                </a:lnTo>
                <a:lnTo>
                  <a:pt x="8204" y="312420"/>
                </a:lnTo>
                <a:lnTo>
                  <a:pt x="8352" y="312420"/>
                </a:lnTo>
                <a:lnTo>
                  <a:pt x="8699" y="314960"/>
                </a:lnTo>
                <a:lnTo>
                  <a:pt x="9334" y="317500"/>
                </a:lnTo>
                <a:lnTo>
                  <a:pt x="10096" y="320040"/>
                </a:lnTo>
                <a:lnTo>
                  <a:pt x="12026" y="325120"/>
                </a:lnTo>
                <a:lnTo>
                  <a:pt x="11887" y="325120"/>
                </a:lnTo>
                <a:lnTo>
                  <a:pt x="14414" y="330200"/>
                </a:lnTo>
                <a:lnTo>
                  <a:pt x="14236" y="330200"/>
                </a:lnTo>
                <a:lnTo>
                  <a:pt x="17233" y="335280"/>
                </a:lnTo>
                <a:lnTo>
                  <a:pt x="17894" y="335280"/>
                </a:lnTo>
                <a:lnTo>
                  <a:pt x="20485" y="339090"/>
                </a:lnTo>
                <a:lnTo>
                  <a:pt x="20256" y="339090"/>
                </a:lnTo>
                <a:lnTo>
                  <a:pt x="24129" y="342900"/>
                </a:lnTo>
                <a:lnTo>
                  <a:pt x="23875" y="342900"/>
                </a:lnTo>
                <a:lnTo>
                  <a:pt x="28130" y="346710"/>
                </a:lnTo>
                <a:lnTo>
                  <a:pt x="27851" y="346710"/>
                </a:lnTo>
                <a:lnTo>
                  <a:pt x="32473" y="350520"/>
                </a:lnTo>
                <a:lnTo>
                  <a:pt x="33815" y="350520"/>
                </a:lnTo>
                <a:lnTo>
                  <a:pt x="37109" y="353060"/>
                </a:lnTo>
                <a:lnTo>
                  <a:pt x="36791" y="353060"/>
                </a:lnTo>
                <a:lnTo>
                  <a:pt x="42036" y="355600"/>
                </a:lnTo>
                <a:lnTo>
                  <a:pt x="44449" y="355600"/>
                </a:lnTo>
                <a:lnTo>
                  <a:pt x="47205" y="356870"/>
                </a:lnTo>
                <a:lnTo>
                  <a:pt x="46939" y="356870"/>
                </a:lnTo>
                <a:lnTo>
                  <a:pt x="49783" y="358140"/>
                </a:lnTo>
                <a:lnTo>
                  <a:pt x="55079" y="358140"/>
                </a:lnTo>
                <a:lnTo>
                  <a:pt x="58089" y="359410"/>
                </a:lnTo>
                <a:lnTo>
                  <a:pt x="838250" y="359410"/>
                </a:lnTo>
                <a:lnTo>
                  <a:pt x="832662" y="361950"/>
                </a:lnTo>
                <a:lnTo>
                  <a:pt x="826846" y="364490"/>
                </a:lnTo>
                <a:close/>
              </a:path>
              <a:path w="871854" h="367029">
                <a:moveTo>
                  <a:pt x="847686" y="24130"/>
                </a:moveTo>
                <a:lnTo>
                  <a:pt x="843432" y="20320"/>
                </a:lnTo>
                <a:lnTo>
                  <a:pt x="843711" y="20320"/>
                </a:lnTo>
                <a:lnTo>
                  <a:pt x="839088" y="16510"/>
                </a:lnTo>
                <a:lnTo>
                  <a:pt x="839393" y="16510"/>
                </a:lnTo>
                <a:lnTo>
                  <a:pt x="834440" y="13970"/>
                </a:lnTo>
                <a:lnTo>
                  <a:pt x="834771" y="13970"/>
                </a:lnTo>
                <a:lnTo>
                  <a:pt x="829525" y="11430"/>
                </a:lnTo>
                <a:lnTo>
                  <a:pt x="829868" y="11430"/>
                </a:lnTo>
                <a:lnTo>
                  <a:pt x="824356" y="8890"/>
                </a:lnTo>
                <a:lnTo>
                  <a:pt x="821956" y="8890"/>
                </a:lnTo>
                <a:lnTo>
                  <a:pt x="819061" y="7620"/>
                </a:lnTo>
                <a:lnTo>
                  <a:pt x="810806" y="7620"/>
                </a:lnTo>
                <a:lnTo>
                  <a:pt x="807720" y="6350"/>
                </a:lnTo>
                <a:lnTo>
                  <a:pt x="836388" y="6350"/>
                </a:lnTo>
                <a:lnTo>
                  <a:pt x="838250" y="7620"/>
                </a:lnTo>
                <a:lnTo>
                  <a:pt x="843508" y="10160"/>
                </a:lnTo>
                <a:lnTo>
                  <a:pt x="848423" y="13970"/>
                </a:lnTo>
                <a:lnTo>
                  <a:pt x="852944" y="17780"/>
                </a:lnTo>
                <a:lnTo>
                  <a:pt x="857072" y="22860"/>
                </a:lnTo>
                <a:lnTo>
                  <a:pt x="847432" y="22860"/>
                </a:lnTo>
                <a:lnTo>
                  <a:pt x="847686" y="24130"/>
                </a:lnTo>
                <a:close/>
              </a:path>
              <a:path w="871854" h="367029">
                <a:moveTo>
                  <a:pt x="46939" y="10160"/>
                </a:moveTo>
                <a:lnTo>
                  <a:pt x="47205" y="8890"/>
                </a:lnTo>
                <a:lnTo>
                  <a:pt x="49783" y="8890"/>
                </a:lnTo>
                <a:lnTo>
                  <a:pt x="46939" y="10160"/>
                </a:lnTo>
                <a:close/>
              </a:path>
              <a:path w="871854" h="367029">
                <a:moveTo>
                  <a:pt x="824623" y="10160"/>
                </a:moveTo>
                <a:lnTo>
                  <a:pt x="821778" y="8890"/>
                </a:lnTo>
                <a:lnTo>
                  <a:pt x="824356" y="8890"/>
                </a:lnTo>
                <a:lnTo>
                  <a:pt x="824623" y="10160"/>
                </a:lnTo>
                <a:close/>
              </a:path>
              <a:path w="871854" h="367029">
                <a:moveTo>
                  <a:pt x="23875" y="24130"/>
                </a:moveTo>
                <a:lnTo>
                  <a:pt x="24129" y="22860"/>
                </a:lnTo>
                <a:lnTo>
                  <a:pt x="25294" y="22860"/>
                </a:lnTo>
                <a:lnTo>
                  <a:pt x="23875" y="24130"/>
                </a:lnTo>
                <a:close/>
              </a:path>
              <a:path w="871854" h="367029">
                <a:moveTo>
                  <a:pt x="851306" y="27940"/>
                </a:moveTo>
                <a:lnTo>
                  <a:pt x="847432" y="22860"/>
                </a:lnTo>
                <a:lnTo>
                  <a:pt x="857072" y="22860"/>
                </a:lnTo>
                <a:lnTo>
                  <a:pt x="859824" y="26670"/>
                </a:lnTo>
                <a:lnTo>
                  <a:pt x="851077" y="26670"/>
                </a:lnTo>
                <a:lnTo>
                  <a:pt x="851306" y="27940"/>
                </a:lnTo>
                <a:close/>
              </a:path>
              <a:path w="871854" h="367029">
                <a:moveTo>
                  <a:pt x="20256" y="27940"/>
                </a:moveTo>
                <a:lnTo>
                  <a:pt x="20485" y="26670"/>
                </a:lnTo>
                <a:lnTo>
                  <a:pt x="21224" y="26670"/>
                </a:lnTo>
                <a:lnTo>
                  <a:pt x="20256" y="27940"/>
                </a:lnTo>
                <a:close/>
              </a:path>
              <a:path w="871854" h="367029">
                <a:moveTo>
                  <a:pt x="859675" y="41910"/>
                </a:moveTo>
                <a:lnTo>
                  <a:pt x="857148" y="36830"/>
                </a:lnTo>
                <a:lnTo>
                  <a:pt x="857326" y="36830"/>
                </a:lnTo>
                <a:lnTo>
                  <a:pt x="854328" y="31750"/>
                </a:lnTo>
                <a:lnTo>
                  <a:pt x="854532" y="31750"/>
                </a:lnTo>
                <a:lnTo>
                  <a:pt x="851077" y="26670"/>
                </a:lnTo>
                <a:lnTo>
                  <a:pt x="859824" y="26670"/>
                </a:lnTo>
                <a:lnTo>
                  <a:pt x="860742" y="27940"/>
                </a:lnTo>
                <a:lnTo>
                  <a:pt x="863942" y="33020"/>
                </a:lnTo>
                <a:lnTo>
                  <a:pt x="866622" y="38100"/>
                </a:lnTo>
                <a:lnTo>
                  <a:pt x="867476" y="40640"/>
                </a:lnTo>
                <a:lnTo>
                  <a:pt x="859535" y="40640"/>
                </a:lnTo>
                <a:lnTo>
                  <a:pt x="859675" y="41910"/>
                </a:lnTo>
                <a:close/>
              </a:path>
              <a:path w="871854" h="367029">
                <a:moveTo>
                  <a:pt x="11887" y="41910"/>
                </a:moveTo>
                <a:lnTo>
                  <a:pt x="12026" y="40640"/>
                </a:lnTo>
                <a:lnTo>
                  <a:pt x="12519" y="40640"/>
                </a:lnTo>
                <a:lnTo>
                  <a:pt x="11887" y="41910"/>
                </a:lnTo>
                <a:close/>
              </a:path>
              <a:path w="871854" h="367029">
                <a:moveTo>
                  <a:pt x="870902" y="312420"/>
                </a:moveTo>
                <a:lnTo>
                  <a:pt x="863358" y="312420"/>
                </a:lnTo>
                <a:lnTo>
                  <a:pt x="863739" y="308610"/>
                </a:lnTo>
                <a:lnTo>
                  <a:pt x="863955" y="306070"/>
                </a:lnTo>
                <a:lnTo>
                  <a:pt x="863942" y="59690"/>
                </a:lnTo>
                <a:lnTo>
                  <a:pt x="863714" y="57150"/>
                </a:lnTo>
                <a:lnTo>
                  <a:pt x="863358" y="54610"/>
                </a:lnTo>
                <a:lnTo>
                  <a:pt x="862863" y="52070"/>
                </a:lnTo>
                <a:lnTo>
                  <a:pt x="862228" y="49530"/>
                </a:lnTo>
                <a:lnTo>
                  <a:pt x="861466" y="46990"/>
                </a:lnTo>
                <a:lnTo>
                  <a:pt x="859535" y="40640"/>
                </a:lnTo>
                <a:lnTo>
                  <a:pt x="867476" y="40640"/>
                </a:lnTo>
                <a:lnTo>
                  <a:pt x="868756" y="44450"/>
                </a:lnTo>
                <a:lnTo>
                  <a:pt x="869632" y="46990"/>
                </a:lnTo>
                <a:lnTo>
                  <a:pt x="870343" y="50800"/>
                </a:lnTo>
                <a:lnTo>
                  <a:pt x="870902" y="53340"/>
                </a:lnTo>
                <a:lnTo>
                  <a:pt x="871562" y="59690"/>
                </a:lnTo>
                <a:lnTo>
                  <a:pt x="871562" y="306070"/>
                </a:lnTo>
                <a:lnTo>
                  <a:pt x="871308" y="309880"/>
                </a:lnTo>
                <a:lnTo>
                  <a:pt x="870902" y="312420"/>
                </a:lnTo>
                <a:close/>
              </a:path>
              <a:path w="871854" h="367029">
                <a:moveTo>
                  <a:pt x="7607" y="60960"/>
                </a:moveTo>
                <a:lnTo>
                  <a:pt x="7620" y="59690"/>
                </a:lnTo>
                <a:lnTo>
                  <a:pt x="7607" y="60960"/>
                </a:lnTo>
                <a:close/>
              </a:path>
              <a:path w="871854" h="367029">
                <a:moveTo>
                  <a:pt x="863955" y="60960"/>
                </a:moveTo>
                <a:lnTo>
                  <a:pt x="863875" y="59690"/>
                </a:lnTo>
                <a:lnTo>
                  <a:pt x="863955" y="60960"/>
                </a:lnTo>
                <a:close/>
              </a:path>
              <a:path w="871854" h="367029">
                <a:moveTo>
                  <a:pt x="8352" y="312420"/>
                </a:moveTo>
                <a:lnTo>
                  <a:pt x="8204" y="312420"/>
                </a:lnTo>
                <a:lnTo>
                  <a:pt x="8178" y="311150"/>
                </a:lnTo>
                <a:lnTo>
                  <a:pt x="8352" y="312420"/>
                </a:lnTo>
                <a:close/>
              </a:path>
              <a:path w="871854" h="367029">
                <a:moveTo>
                  <a:pt x="863142" y="335280"/>
                </a:moveTo>
                <a:lnTo>
                  <a:pt x="854328" y="335280"/>
                </a:lnTo>
                <a:lnTo>
                  <a:pt x="857326" y="330200"/>
                </a:lnTo>
                <a:lnTo>
                  <a:pt x="857148" y="330200"/>
                </a:lnTo>
                <a:lnTo>
                  <a:pt x="859675" y="325120"/>
                </a:lnTo>
                <a:lnTo>
                  <a:pt x="859535" y="325120"/>
                </a:lnTo>
                <a:lnTo>
                  <a:pt x="861555" y="320040"/>
                </a:lnTo>
                <a:lnTo>
                  <a:pt x="862279" y="317500"/>
                </a:lnTo>
                <a:lnTo>
                  <a:pt x="862901" y="314960"/>
                </a:lnTo>
                <a:lnTo>
                  <a:pt x="863384" y="311150"/>
                </a:lnTo>
                <a:lnTo>
                  <a:pt x="863358" y="312420"/>
                </a:lnTo>
                <a:lnTo>
                  <a:pt x="870902" y="312420"/>
                </a:lnTo>
                <a:lnTo>
                  <a:pt x="870343" y="316230"/>
                </a:lnTo>
                <a:lnTo>
                  <a:pt x="869632" y="318770"/>
                </a:lnTo>
                <a:lnTo>
                  <a:pt x="868756" y="322580"/>
                </a:lnTo>
                <a:lnTo>
                  <a:pt x="863942" y="334010"/>
                </a:lnTo>
                <a:lnTo>
                  <a:pt x="863142" y="335280"/>
                </a:lnTo>
                <a:close/>
              </a:path>
              <a:path w="871854" h="367029">
                <a:moveTo>
                  <a:pt x="17894" y="335280"/>
                </a:moveTo>
                <a:lnTo>
                  <a:pt x="17233" y="335280"/>
                </a:lnTo>
                <a:lnTo>
                  <a:pt x="17030" y="334010"/>
                </a:lnTo>
                <a:lnTo>
                  <a:pt x="17894" y="335280"/>
                </a:lnTo>
                <a:close/>
              </a:path>
              <a:path w="871854" h="367029">
                <a:moveTo>
                  <a:pt x="850684" y="350520"/>
                </a:moveTo>
                <a:lnTo>
                  <a:pt x="839088" y="350520"/>
                </a:lnTo>
                <a:lnTo>
                  <a:pt x="843711" y="346710"/>
                </a:lnTo>
                <a:lnTo>
                  <a:pt x="843432" y="346710"/>
                </a:lnTo>
                <a:lnTo>
                  <a:pt x="847686" y="342900"/>
                </a:lnTo>
                <a:lnTo>
                  <a:pt x="847432" y="342900"/>
                </a:lnTo>
                <a:lnTo>
                  <a:pt x="851306" y="339090"/>
                </a:lnTo>
                <a:lnTo>
                  <a:pt x="851077" y="339090"/>
                </a:lnTo>
                <a:lnTo>
                  <a:pt x="854532" y="334010"/>
                </a:lnTo>
                <a:lnTo>
                  <a:pt x="854328" y="335280"/>
                </a:lnTo>
                <a:lnTo>
                  <a:pt x="863142" y="335280"/>
                </a:lnTo>
                <a:lnTo>
                  <a:pt x="860742" y="339090"/>
                </a:lnTo>
                <a:lnTo>
                  <a:pt x="857072" y="344170"/>
                </a:lnTo>
                <a:lnTo>
                  <a:pt x="852944" y="347980"/>
                </a:lnTo>
                <a:lnTo>
                  <a:pt x="850684" y="350520"/>
                </a:lnTo>
                <a:close/>
              </a:path>
              <a:path w="871854" h="367029">
                <a:moveTo>
                  <a:pt x="33815" y="350520"/>
                </a:moveTo>
                <a:lnTo>
                  <a:pt x="32473" y="350520"/>
                </a:lnTo>
                <a:lnTo>
                  <a:pt x="32169" y="349250"/>
                </a:lnTo>
                <a:lnTo>
                  <a:pt x="33815" y="350520"/>
                </a:lnTo>
                <a:close/>
              </a:path>
              <a:path w="871854" h="367029">
                <a:moveTo>
                  <a:pt x="843508" y="355600"/>
                </a:moveTo>
                <a:lnTo>
                  <a:pt x="829525" y="355600"/>
                </a:lnTo>
                <a:lnTo>
                  <a:pt x="834771" y="353060"/>
                </a:lnTo>
                <a:lnTo>
                  <a:pt x="834440" y="353060"/>
                </a:lnTo>
                <a:lnTo>
                  <a:pt x="839393" y="349250"/>
                </a:lnTo>
                <a:lnTo>
                  <a:pt x="839088" y="350520"/>
                </a:lnTo>
                <a:lnTo>
                  <a:pt x="850684" y="350520"/>
                </a:lnTo>
                <a:lnTo>
                  <a:pt x="848423" y="353060"/>
                </a:lnTo>
                <a:lnTo>
                  <a:pt x="843508" y="355600"/>
                </a:lnTo>
                <a:close/>
              </a:path>
              <a:path w="871854" h="367029">
                <a:moveTo>
                  <a:pt x="44449" y="355600"/>
                </a:moveTo>
                <a:lnTo>
                  <a:pt x="42036" y="355600"/>
                </a:lnTo>
                <a:lnTo>
                  <a:pt x="41694" y="354330"/>
                </a:lnTo>
                <a:lnTo>
                  <a:pt x="44449" y="355600"/>
                </a:lnTo>
                <a:close/>
              </a:path>
              <a:path w="871854" h="367029">
                <a:moveTo>
                  <a:pt x="838250" y="359410"/>
                </a:moveTo>
                <a:lnTo>
                  <a:pt x="813473" y="359410"/>
                </a:lnTo>
                <a:lnTo>
                  <a:pt x="816482" y="358140"/>
                </a:lnTo>
                <a:lnTo>
                  <a:pt x="821778" y="358140"/>
                </a:lnTo>
                <a:lnTo>
                  <a:pt x="824623" y="356870"/>
                </a:lnTo>
                <a:lnTo>
                  <a:pt x="824356" y="356870"/>
                </a:lnTo>
                <a:lnTo>
                  <a:pt x="829868" y="354330"/>
                </a:lnTo>
                <a:lnTo>
                  <a:pt x="829525" y="355600"/>
                </a:lnTo>
                <a:lnTo>
                  <a:pt x="843508" y="355600"/>
                </a:lnTo>
                <a:lnTo>
                  <a:pt x="838250" y="359410"/>
                </a:lnTo>
                <a:close/>
              </a:path>
              <a:path w="871854" h="367029">
                <a:moveTo>
                  <a:pt x="820674" y="365760"/>
                </a:moveTo>
                <a:lnTo>
                  <a:pt x="50888" y="365760"/>
                </a:lnTo>
                <a:lnTo>
                  <a:pt x="47790" y="364490"/>
                </a:lnTo>
                <a:lnTo>
                  <a:pt x="823772" y="364490"/>
                </a:lnTo>
                <a:lnTo>
                  <a:pt x="820674" y="365760"/>
                </a:lnTo>
                <a:close/>
              </a:path>
              <a:path w="871854" h="367029">
                <a:moveTo>
                  <a:pt x="814336" y="367030"/>
                </a:moveTo>
                <a:lnTo>
                  <a:pt x="57226" y="367030"/>
                </a:lnTo>
                <a:lnTo>
                  <a:pt x="54025" y="365760"/>
                </a:lnTo>
                <a:lnTo>
                  <a:pt x="817537" y="365760"/>
                </a:lnTo>
                <a:lnTo>
                  <a:pt x="814336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205457" y="2941878"/>
            <a:ext cx="457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0000"/>
                </a:solidFill>
                <a:latin typeface="Times New Roman"/>
                <a:cs typeface="Times New Roman"/>
              </a:rPr>
              <a:t>dead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98227" y="1776933"/>
            <a:ext cx="1160145" cy="367030"/>
          </a:xfrm>
          <a:custGeom>
            <a:avLst/>
            <a:gdLst/>
            <a:ahLst/>
            <a:cxnLst/>
            <a:rect l="l" t="t" r="r" b="b"/>
            <a:pathLst>
              <a:path w="1160145" h="367030">
                <a:moveTo>
                  <a:pt x="1108709" y="1269"/>
                </a:moveTo>
                <a:lnTo>
                  <a:pt x="50876" y="1269"/>
                </a:lnTo>
                <a:lnTo>
                  <a:pt x="54025" y="0"/>
                </a:lnTo>
                <a:lnTo>
                  <a:pt x="1105560" y="0"/>
                </a:lnTo>
                <a:lnTo>
                  <a:pt x="1108709" y="1269"/>
                </a:lnTo>
                <a:close/>
              </a:path>
              <a:path w="1160145" h="367030">
                <a:moveTo>
                  <a:pt x="1114869" y="364489"/>
                </a:moveTo>
                <a:lnTo>
                  <a:pt x="44716" y="364489"/>
                </a:lnTo>
                <a:lnTo>
                  <a:pt x="38900" y="361950"/>
                </a:lnTo>
                <a:lnTo>
                  <a:pt x="33312" y="359410"/>
                </a:lnTo>
                <a:lnTo>
                  <a:pt x="28054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69"/>
                </a:lnTo>
                <a:lnTo>
                  <a:pt x="10820" y="339089"/>
                </a:lnTo>
                <a:lnTo>
                  <a:pt x="7619" y="334010"/>
                </a:lnTo>
                <a:lnTo>
                  <a:pt x="2806" y="322580"/>
                </a:lnTo>
                <a:lnTo>
                  <a:pt x="1930" y="318769"/>
                </a:lnTo>
                <a:lnTo>
                  <a:pt x="1219" y="316230"/>
                </a:lnTo>
                <a:lnTo>
                  <a:pt x="660" y="312419"/>
                </a:lnTo>
                <a:lnTo>
                  <a:pt x="253" y="309880"/>
                </a:lnTo>
                <a:lnTo>
                  <a:pt x="0" y="306069"/>
                </a:lnTo>
                <a:lnTo>
                  <a:pt x="0" y="59689"/>
                </a:lnTo>
                <a:lnTo>
                  <a:pt x="660" y="53339"/>
                </a:lnTo>
                <a:lnTo>
                  <a:pt x="1219" y="50800"/>
                </a:lnTo>
                <a:lnTo>
                  <a:pt x="1930" y="46989"/>
                </a:lnTo>
                <a:lnTo>
                  <a:pt x="2806" y="44450"/>
                </a:lnTo>
                <a:lnTo>
                  <a:pt x="4940" y="38100"/>
                </a:lnTo>
                <a:lnTo>
                  <a:pt x="7619" y="33019"/>
                </a:lnTo>
                <a:lnTo>
                  <a:pt x="33312" y="7619"/>
                </a:lnTo>
                <a:lnTo>
                  <a:pt x="38900" y="3810"/>
                </a:lnTo>
                <a:lnTo>
                  <a:pt x="44716" y="2539"/>
                </a:lnTo>
                <a:lnTo>
                  <a:pt x="47790" y="1269"/>
                </a:lnTo>
                <a:lnTo>
                  <a:pt x="1111796" y="1269"/>
                </a:lnTo>
                <a:lnTo>
                  <a:pt x="1114869" y="2539"/>
                </a:lnTo>
                <a:lnTo>
                  <a:pt x="1120698" y="3810"/>
                </a:lnTo>
                <a:lnTo>
                  <a:pt x="1124415" y="6350"/>
                </a:lnTo>
                <a:lnTo>
                  <a:pt x="63830" y="6350"/>
                </a:lnTo>
                <a:lnTo>
                  <a:pt x="60744" y="7619"/>
                </a:lnTo>
                <a:lnTo>
                  <a:pt x="52501" y="7619"/>
                </a:lnTo>
                <a:lnTo>
                  <a:pt x="49606" y="8889"/>
                </a:lnTo>
                <a:lnTo>
                  <a:pt x="47205" y="8889"/>
                </a:lnTo>
                <a:lnTo>
                  <a:pt x="41694" y="11430"/>
                </a:lnTo>
                <a:lnTo>
                  <a:pt x="42037" y="11430"/>
                </a:lnTo>
                <a:lnTo>
                  <a:pt x="36791" y="13969"/>
                </a:lnTo>
                <a:lnTo>
                  <a:pt x="37109" y="13969"/>
                </a:lnTo>
                <a:lnTo>
                  <a:pt x="32169" y="16510"/>
                </a:lnTo>
                <a:lnTo>
                  <a:pt x="32473" y="16510"/>
                </a:lnTo>
                <a:lnTo>
                  <a:pt x="27851" y="20319"/>
                </a:lnTo>
                <a:lnTo>
                  <a:pt x="28130" y="20319"/>
                </a:lnTo>
                <a:lnTo>
                  <a:pt x="25294" y="22860"/>
                </a:lnTo>
                <a:lnTo>
                  <a:pt x="24129" y="22860"/>
                </a:lnTo>
                <a:lnTo>
                  <a:pt x="21224" y="26669"/>
                </a:lnTo>
                <a:lnTo>
                  <a:pt x="20485" y="26669"/>
                </a:lnTo>
                <a:lnTo>
                  <a:pt x="17030" y="31750"/>
                </a:lnTo>
                <a:lnTo>
                  <a:pt x="17233" y="31750"/>
                </a:lnTo>
                <a:lnTo>
                  <a:pt x="14236" y="36830"/>
                </a:lnTo>
                <a:lnTo>
                  <a:pt x="14401" y="36830"/>
                </a:lnTo>
                <a:lnTo>
                  <a:pt x="12506" y="40639"/>
                </a:lnTo>
                <a:lnTo>
                  <a:pt x="12026" y="40639"/>
                </a:lnTo>
                <a:lnTo>
                  <a:pt x="10007" y="46989"/>
                </a:lnTo>
                <a:lnTo>
                  <a:pt x="9283" y="49530"/>
                </a:lnTo>
                <a:lnTo>
                  <a:pt x="8661" y="52069"/>
                </a:lnTo>
                <a:lnTo>
                  <a:pt x="8178" y="54610"/>
                </a:lnTo>
                <a:lnTo>
                  <a:pt x="7823" y="57150"/>
                </a:lnTo>
                <a:lnTo>
                  <a:pt x="7683" y="59689"/>
                </a:lnTo>
                <a:lnTo>
                  <a:pt x="7607" y="306069"/>
                </a:lnTo>
                <a:lnTo>
                  <a:pt x="7835" y="308610"/>
                </a:lnTo>
                <a:lnTo>
                  <a:pt x="8204" y="312419"/>
                </a:lnTo>
                <a:lnTo>
                  <a:pt x="8352" y="312419"/>
                </a:lnTo>
                <a:lnTo>
                  <a:pt x="8699" y="314960"/>
                </a:lnTo>
                <a:lnTo>
                  <a:pt x="9334" y="317500"/>
                </a:lnTo>
                <a:lnTo>
                  <a:pt x="10096" y="320039"/>
                </a:lnTo>
                <a:lnTo>
                  <a:pt x="12026" y="325119"/>
                </a:lnTo>
                <a:lnTo>
                  <a:pt x="11874" y="325119"/>
                </a:lnTo>
                <a:lnTo>
                  <a:pt x="14401" y="330200"/>
                </a:lnTo>
                <a:lnTo>
                  <a:pt x="14236" y="330200"/>
                </a:lnTo>
                <a:lnTo>
                  <a:pt x="17233" y="335280"/>
                </a:lnTo>
                <a:lnTo>
                  <a:pt x="17894" y="335280"/>
                </a:lnTo>
                <a:lnTo>
                  <a:pt x="20485" y="339089"/>
                </a:lnTo>
                <a:lnTo>
                  <a:pt x="20256" y="339089"/>
                </a:lnTo>
                <a:lnTo>
                  <a:pt x="24129" y="342900"/>
                </a:lnTo>
                <a:lnTo>
                  <a:pt x="23875" y="342900"/>
                </a:lnTo>
                <a:lnTo>
                  <a:pt x="28130" y="346710"/>
                </a:lnTo>
                <a:lnTo>
                  <a:pt x="27851" y="346710"/>
                </a:lnTo>
                <a:lnTo>
                  <a:pt x="32473" y="350519"/>
                </a:lnTo>
                <a:lnTo>
                  <a:pt x="33815" y="350519"/>
                </a:lnTo>
                <a:lnTo>
                  <a:pt x="37109" y="353060"/>
                </a:lnTo>
                <a:lnTo>
                  <a:pt x="36791" y="353060"/>
                </a:lnTo>
                <a:lnTo>
                  <a:pt x="42037" y="355600"/>
                </a:lnTo>
                <a:lnTo>
                  <a:pt x="44450" y="355600"/>
                </a:lnTo>
                <a:lnTo>
                  <a:pt x="47205" y="356869"/>
                </a:lnTo>
                <a:lnTo>
                  <a:pt x="46939" y="356869"/>
                </a:lnTo>
                <a:lnTo>
                  <a:pt x="49783" y="358139"/>
                </a:lnTo>
                <a:lnTo>
                  <a:pt x="52311" y="358139"/>
                </a:lnTo>
                <a:lnTo>
                  <a:pt x="55270" y="359410"/>
                </a:lnTo>
                <a:lnTo>
                  <a:pt x="1126274" y="359410"/>
                </a:lnTo>
                <a:lnTo>
                  <a:pt x="1120698" y="361950"/>
                </a:lnTo>
                <a:lnTo>
                  <a:pt x="1114869" y="364489"/>
                </a:lnTo>
                <a:close/>
              </a:path>
              <a:path w="1160145" h="367030">
                <a:moveTo>
                  <a:pt x="1135722" y="24130"/>
                </a:moveTo>
                <a:lnTo>
                  <a:pt x="1131455" y="20319"/>
                </a:lnTo>
                <a:lnTo>
                  <a:pt x="1131735" y="20319"/>
                </a:lnTo>
                <a:lnTo>
                  <a:pt x="1127125" y="16510"/>
                </a:lnTo>
                <a:lnTo>
                  <a:pt x="1127429" y="16510"/>
                </a:lnTo>
                <a:lnTo>
                  <a:pt x="1122476" y="13969"/>
                </a:lnTo>
                <a:lnTo>
                  <a:pt x="1122806" y="13969"/>
                </a:lnTo>
                <a:lnTo>
                  <a:pt x="1117561" y="11430"/>
                </a:lnTo>
                <a:lnTo>
                  <a:pt x="1117904" y="11430"/>
                </a:lnTo>
                <a:lnTo>
                  <a:pt x="1112392" y="8889"/>
                </a:lnTo>
                <a:lnTo>
                  <a:pt x="1109992" y="8889"/>
                </a:lnTo>
                <a:lnTo>
                  <a:pt x="1107084" y="7619"/>
                </a:lnTo>
                <a:lnTo>
                  <a:pt x="1098842" y="7619"/>
                </a:lnTo>
                <a:lnTo>
                  <a:pt x="1095755" y="6350"/>
                </a:lnTo>
                <a:lnTo>
                  <a:pt x="1124415" y="6350"/>
                </a:lnTo>
                <a:lnTo>
                  <a:pt x="1126274" y="7619"/>
                </a:lnTo>
                <a:lnTo>
                  <a:pt x="1131531" y="10160"/>
                </a:lnTo>
                <a:lnTo>
                  <a:pt x="1136446" y="13969"/>
                </a:lnTo>
                <a:lnTo>
                  <a:pt x="1140980" y="17780"/>
                </a:lnTo>
                <a:lnTo>
                  <a:pt x="1145095" y="22860"/>
                </a:lnTo>
                <a:lnTo>
                  <a:pt x="1135468" y="22860"/>
                </a:lnTo>
                <a:lnTo>
                  <a:pt x="1135722" y="24130"/>
                </a:lnTo>
                <a:close/>
              </a:path>
              <a:path w="1160145" h="367030">
                <a:moveTo>
                  <a:pt x="46939" y="10160"/>
                </a:moveTo>
                <a:lnTo>
                  <a:pt x="47205" y="8889"/>
                </a:lnTo>
                <a:lnTo>
                  <a:pt x="49783" y="8889"/>
                </a:lnTo>
                <a:lnTo>
                  <a:pt x="46939" y="10160"/>
                </a:lnTo>
                <a:close/>
              </a:path>
              <a:path w="1160145" h="367030">
                <a:moveTo>
                  <a:pt x="1112659" y="10160"/>
                </a:moveTo>
                <a:lnTo>
                  <a:pt x="1109802" y="8889"/>
                </a:lnTo>
                <a:lnTo>
                  <a:pt x="1112392" y="8889"/>
                </a:lnTo>
                <a:lnTo>
                  <a:pt x="1112659" y="10160"/>
                </a:lnTo>
                <a:close/>
              </a:path>
              <a:path w="1160145" h="367030">
                <a:moveTo>
                  <a:pt x="23875" y="24130"/>
                </a:moveTo>
                <a:lnTo>
                  <a:pt x="24129" y="22860"/>
                </a:lnTo>
                <a:lnTo>
                  <a:pt x="25294" y="22860"/>
                </a:lnTo>
                <a:lnTo>
                  <a:pt x="23875" y="24130"/>
                </a:lnTo>
                <a:close/>
              </a:path>
              <a:path w="1160145" h="367030">
                <a:moveTo>
                  <a:pt x="1139342" y="27939"/>
                </a:moveTo>
                <a:lnTo>
                  <a:pt x="1135468" y="22860"/>
                </a:lnTo>
                <a:lnTo>
                  <a:pt x="1145095" y="22860"/>
                </a:lnTo>
                <a:lnTo>
                  <a:pt x="1147857" y="26669"/>
                </a:lnTo>
                <a:lnTo>
                  <a:pt x="1139101" y="26669"/>
                </a:lnTo>
                <a:lnTo>
                  <a:pt x="1139342" y="27939"/>
                </a:lnTo>
                <a:close/>
              </a:path>
              <a:path w="1160145" h="367030">
                <a:moveTo>
                  <a:pt x="20256" y="27939"/>
                </a:moveTo>
                <a:lnTo>
                  <a:pt x="20485" y="26669"/>
                </a:lnTo>
                <a:lnTo>
                  <a:pt x="21224" y="26669"/>
                </a:lnTo>
                <a:lnTo>
                  <a:pt x="20256" y="27939"/>
                </a:lnTo>
                <a:close/>
              </a:path>
              <a:path w="1160145" h="367030">
                <a:moveTo>
                  <a:pt x="1147711" y="41910"/>
                </a:moveTo>
                <a:lnTo>
                  <a:pt x="1145184" y="36830"/>
                </a:lnTo>
                <a:lnTo>
                  <a:pt x="1145362" y="36830"/>
                </a:lnTo>
                <a:lnTo>
                  <a:pt x="1142352" y="31750"/>
                </a:lnTo>
                <a:lnTo>
                  <a:pt x="1142555" y="31750"/>
                </a:lnTo>
                <a:lnTo>
                  <a:pt x="1139101" y="26669"/>
                </a:lnTo>
                <a:lnTo>
                  <a:pt x="1147857" y="26669"/>
                </a:lnTo>
                <a:lnTo>
                  <a:pt x="1148778" y="27939"/>
                </a:lnTo>
                <a:lnTo>
                  <a:pt x="1151966" y="33019"/>
                </a:lnTo>
                <a:lnTo>
                  <a:pt x="1154658" y="38100"/>
                </a:lnTo>
                <a:lnTo>
                  <a:pt x="1155514" y="40639"/>
                </a:lnTo>
                <a:lnTo>
                  <a:pt x="1147571" y="40639"/>
                </a:lnTo>
                <a:lnTo>
                  <a:pt x="1147711" y="41910"/>
                </a:lnTo>
                <a:close/>
              </a:path>
              <a:path w="1160145" h="367030">
                <a:moveTo>
                  <a:pt x="11874" y="41910"/>
                </a:moveTo>
                <a:lnTo>
                  <a:pt x="12026" y="40639"/>
                </a:lnTo>
                <a:lnTo>
                  <a:pt x="12506" y="40639"/>
                </a:lnTo>
                <a:lnTo>
                  <a:pt x="11874" y="41910"/>
                </a:lnTo>
                <a:close/>
              </a:path>
              <a:path w="1160145" h="367030">
                <a:moveTo>
                  <a:pt x="1158938" y="312419"/>
                </a:moveTo>
                <a:lnTo>
                  <a:pt x="1151394" y="312419"/>
                </a:lnTo>
                <a:lnTo>
                  <a:pt x="1151775" y="308610"/>
                </a:lnTo>
                <a:lnTo>
                  <a:pt x="1151978" y="306069"/>
                </a:lnTo>
                <a:lnTo>
                  <a:pt x="1151978" y="59689"/>
                </a:lnTo>
                <a:lnTo>
                  <a:pt x="1151750" y="57150"/>
                </a:lnTo>
                <a:lnTo>
                  <a:pt x="1151394" y="54610"/>
                </a:lnTo>
                <a:lnTo>
                  <a:pt x="1150886" y="52069"/>
                </a:lnTo>
                <a:lnTo>
                  <a:pt x="1150264" y="49530"/>
                </a:lnTo>
                <a:lnTo>
                  <a:pt x="1149502" y="46989"/>
                </a:lnTo>
                <a:lnTo>
                  <a:pt x="1147571" y="40639"/>
                </a:lnTo>
                <a:lnTo>
                  <a:pt x="1155514" y="40639"/>
                </a:lnTo>
                <a:lnTo>
                  <a:pt x="1157655" y="46989"/>
                </a:lnTo>
                <a:lnTo>
                  <a:pt x="1158379" y="50800"/>
                </a:lnTo>
                <a:lnTo>
                  <a:pt x="1158938" y="53339"/>
                </a:lnTo>
                <a:lnTo>
                  <a:pt x="1159344" y="57150"/>
                </a:lnTo>
                <a:lnTo>
                  <a:pt x="1159586" y="59689"/>
                </a:lnTo>
                <a:lnTo>
                  <a:pt x="1159586" y="306069"/>
                </a:lnTo>
                <a:lnTo>
                  <a:pt x="1159344" y="309880"/>
                </a:lnTo>
                <a:lnTo>
                  <a:pt x="1158938" y="312419"/>
                </a:lnTo>
                <a:close/>
              </a:path>
              <a:path w="1160145" h="367030">
                <a:moveTo>
                  <a:pt x="7607" y="60960"/>
                </a:moveTo>
                <a:lnTo>
                  <a:pt x="7619" y="59689"/>
                </a:lnTo>
                <a:lnTo>
                  <a:pt x="7607" y="60960"/>
                </a:lnTo>
                <a:close/>
              </a:path>
              <a:path w="1160145" h="367030">
                <a:moveTo>
                  <a:pt x="1151978" y="60960"/>
                </a:moveTo>
                <a:lnTo>
                  <a:pt x="1151902" y="59689"/>
                </a:lnTo>
                <a:lnTo>
                  <a:pt x="1151978" y="60960"/>
                </a:lnTo>
                <a:close/>
              </a:path>
              <a:path w="1160145" h="367030">
                <a:moveTo>
                  <a:pt x="8352" y="312419"/>
                </a:moveTo>
                <a:lnTo>
                  <a:pt x="8204" y="312419"/>
                </a:lnTo>
                <a:lnTo>
                  <a:pt x="8178" y="311150"/>
                </a:lnTo>
                <a:lnTo>
                  <a:pt x="8352" y="312419"/>
                </a:lnTo>
                <a:close/>
              </a:path>
              <a:path w="1160145" h="367030">
                <a:moveTo>
                  <a:pt x="1151169" y="335280"/>
                </a:moveTo>
                <a:lnTo>
                  <a:pt x="1142352" y="335280"/>
                </a:lnTo>
                <a:lnTo>
                  <a:pt x="1145362" y="330200"/>
                </a:lnTo>
                <a:lnTo>
                  <a:pt x="1145184" y="330200"/>
                </a:lnTo>
                <a:lnTo>
                  <a:pt x="1147711" y="325119"/>
                </a:lnTo>
                <a:lnTo>
                  <a:pt x="1147571" y="325119"/>
                </a:lnTo>
                <a:lnTo>
                  <a:pt x="1149578" y="320039"/>
                </a:lnTo>
                <a:lnTo>
                  <a:pt x="1150302" y="317500"/>
                </a:lnTo>
                <a:lnTo>
                  <a:pt x="1150924" y="314960"/>
                </a:lnTo>
                <a:lnTo>
                  <a:pt x="1151420" y="311150"/>
                </a:lnTo>
                <a:lnTo>
                  <a:pt x="1151394" y="312419"/>
                </a:lnTo>
                <a:lnTo>
                  <a:pt x="1158938" y="312419"/>
                </a:lnTo>
                <a:lnTo>
                  <a:pt x="1158379" y="316230"/>
                </a:lnTo>
                <a:lnTo>
                  <a:pt x="1157655" y="318769"/>
                </a:lnTo>
                <a:lnTo>
                  <a:pt x="1156792" y="322580"/>
                </a:lnTo>
                <a:lnTo>
                  <a:pt x="1151966" y="334010"/>
                </a:lnTo>
                <a:lnTo>
                  <a:pt x="1151169" y="335280"/>
                </a:lnTo>
                <a:close/>
              </a:path>
              <a:path w="1160145" h="367030">
                <a:moveTo>
                  <a:pt x="17894" y="335280"/>
                </a:moveTo>
                <a:lnTo>
                  <a:pt x="17233" y="335280"/>
                </a:lnTo>
                <a:lnTo>
                  <a:pt x="17030" y="334010"/>
                </a:lnTo>
                <a:lnTo>
                  <a:pt x="17894" y="335280"/>
                </a:lnTo>
                <a:close/>
              </a:path>
              <a:path w="1160145" h="367030">
                <a:moveTo>
                  <a:pt x="1138713" y="350519"/>
                </a:moveTo>
                <a:lnTo>
                  <a:pt x="1127125" y="350519"/>
                </a:lnTo>
                <a:lnTo>
                  <a:pt x="1131735" y="346710"/>
                </a:lnTo>
                <a:lnTo>
                  <a:pt x="1131455" y="346710"/>
                </a:lnTo>
                <a:lnTo>
                  <a:pt x="1135722" y="342900"/>
                </a:lnTo>
                <a:lnTo>
                  <a:pt x="1135468" y="342900"/>
                </a:lnTo>
                <a:lnTo>
                  <a:pt x="1139342" y="339089"/>
                </a:lnTo>
                <a:lnTo>
                  <a:pt x="1139101" y="339089"/>
                </a:lnTo>
                <a:lnTo>
                  <a:pt x="1142555" y="334010"/>
                </a:lnTo>
                <a:lnTo>
                  <a:pt x="1142352" y="335280"/>
                </a:lnTo>
                <a:lnTo>
                  <a:pt x="1151169" y="335280"/>
                </a:lnTo>
                <a:lnTo>
                  <a:pt x="1148778" y="339089"/>
                </a:lnTo>
                <a:lnTo>
                  <a:pt x="1145095" y="344169"/>
                </a:lnTo>
                <a:lnTo>
                  <a:pt x="1140980" y="347980"/>
                </a:lnTo>
                <a:lnTo>
                  <a:pt x="1138713" y="350519"/>
                </a:lnTo>
                <a:close/>
              </a:path>
              <a:path w="1160145" h="367030">
                <a:moveTo>
                  <a:pt x="33815" y="350519"/>
                </a:moveTo>
                <a:lnTo>
                  <a:pt x="32473" y="350519"/>
                </a:lnTo>
                <a:lnTo>
                  <a:pt x="32169" y="349250"/>
                </a:lnTo>
                <a:lnTo>
                  <a:pt x="33815" y="350519"/>
                </a:lnTo>
                <a:close/>
              </a:path>
              <a:path w="1160145" h="367030">
                <a:moveTo>
                  <a:pt x="1131531" y="355600"/>
                </a:moveTo>
                <a:lnTo>
                  <a:pt x="1117561" y="355600"/>
                </a:lnTo>
                <a:lnTo>
                  <a:pt x="1122806" y="353060"/>
                </a:lnTo>
                <a:lnTo>
                  <a:pt x="1122476" y="353060"/>
                </a:lnTo>
                <a:lnTo>
                  <a:pt x="1127429" y="349250"/>
                </a:lnTo>
                <a:lnTo>
                  <a:pt x="1127125" y="350519"/>
                </a:lnTo>
                <a:lnTo>
                  <a:pt x="1138713" y="350519"/>
                </a:lnTo>
                <a:lnTo>
                  <a:pt x="1136446" y="353060"/>
                </a:lnTo>
                <a:lnTo>
                  <a:pt x="1131531" y="355600"/>
                </a:lnTo>
                <a:close/>
              </a:path>
              <a:path w="1160145" h="367030">
                <a:moveTo>
                  <a:pt x="44450" y="355600"/>
                </a:moveTo>
                <a:lnTo>
                  <a:pt x="42037" y="355600"/>
                </a:lnTo>
                <a:lnTo>
                  <a:pt x="41694" y="354330"/>
                </a:lnTo>
                <a:lnTo>
                  <a:pt x="44450" y="355600"/>
                </a:lnTo>
                <a:close/>
              </a:path>
              <a:path w="1160145" h="367030">
                <a:moveTo>
                  <a:pt x="1126274" y="359410"/>
                </a:moveTo>
                <a:lnTo>
                  <a:pt x="1104315" y="359410"/>
                </a:lnTo>
                <a:lnTo>
                  <a:pt x="1107274" y="358139"/>
                </a:lnTo>
                <a:lnTo>
                  <a:pt x="1109802" y="358139"/>
                </a:lnTo>
                <a:lnTo>
                  <a:pt x="1112659" y="356869"/>
                </a:lnTo>
                <a:lnTo>
                  <a:pt x="1112392" y="356869"/>
                </a:lnTo>
                <a:lnTo>
                  <a:pt x="1117904" y="354330"/>
                </a:lnTo>
                <a:lnTo>
                  <a:pt x="1117561" y="355600"/>
                </a:lnTo>
                <a:lnTo>
                  <a:pt x="1131531" y="355600"/>
                </a:lnTo>
                <a:lnTo>
                  <a:pt x="1126274" y="359410"/>
                </a:lnTo>
                <a:close/>
              </a:path>
              <a:path w="1160145" h="367030">
                <a:moveTo>
                  <a:pt x="58089" y="359410"/>
                </a:moveTo>
                <a:lnTo>
                  <a:pt x="55270" y="359410"/>
                </a:lnTo>
                <a:lnTo>
                  <a:pt x="55079" y="358139"/>
                </a:lnTo>
                <a:lnTo>
                  <a:pt x="58089" y="359410"/>
                </a:lnTo>
                <a:close/>
              </a:path>
              <a:path w="1160145" h="367030">
                <a:moveTo>
                  <a:pt x="1104315" y="359410"/>
                </a:moveTo>
                <a:lnTo>
                  <a:pt x="1101509" y="359410"/>
                </a:lnTo>
                <a:lnTo>
                  <a:pt x="1104506" y="358139"/>
                </a:lnTo>
                <a:lnTo>
                  <a:pt x="1104315" y="359410"/>
                </a:lnTo>
                <a:close/>
              </a:path>
              <a:path w="1160145" h="367030">
                <a:moveTo>
                  <a:pt x="1108709" y="365760"/>
                </a:moveTo>
                <a:lnTo>
                  <a:pt x="50876" y="365760"/>
                </a:lnTo>
                <a:lnTo>
                  <a:pt x="47790" y="364489"/>
                </a:lnTo>
                <a:lnTo>
                  <a:pt x="1111796" y="364489"/>
                </a:lnTo>
                <a:lnTo>
                  <a:pt x="1108709" y="365760"/>
                </a:lnTo>
                <a:close/>
              </a:path>
              <a:path w="1160145" h="367030">
                <a:moveTo>
                  <a:pt x="1102372" y="367030"/>
                </a:moveTo>
                <a:lnTo>
                  <a:pt x="57213" y="367030"/>
                </a:lnTo>
                <a:lnTo>
                  <a:pt x="54025" y="365760"/>
                </a:lnTo>
                <a:lnTo>
                  <a:pt x="1105560" y="365760"/>
                </a:lnTo>
                <a:lnTo>
                  <a:pt x="1102372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703053" y="1797684"/>
            <a:ext cx="7493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latin typeface="Times New Roman"/>
                <a:cs typeface="Times New Roman"/>
              </a:rPr>
              <a:t>blocked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84452" y="2800616"/>
            <a:ext cx="5715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Times New Roman"/>
                <a:cs typeface="Times New Roman"/>
              </a:rPr>
              <a:t>st</a:t>
            </a:r>
            <a:r>
              <a:rPr dirty="0" sz="1800">
                <a:latin typeface="Times New Roman"/>
                <a:cs typeface="Times New Roman"/>
              </a:rPr>
              <a:t>ar</a:t>
            </a:r>
            <a:r>
              <a:rPr dirty="0" sz="1800" spc="-5">
                <a:latin typeface="Times New Roman"/>
                <a:cs typeface="Times New Roman"/>
              </a:rPr>
              <a:t>t</a:t>
            </a:r>
            <a:r>
              <a:rPr dirty="0" sz="1800">
                <a:latin typeface="Times New Roman"/>
                <a:cs typeface="Times New Roman"/>
              </a:rPr>
              <a:t>()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28670" y="2738132"/>
            <a:ext cx="1438910" cy="9359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微软雅黑"/>
                <a:cs typeface="微软雅黑"/>
              </a:rPr>
              <a:t>获得</a:t>
            </a:r>
            <a:r>
              <a:rPr dirty="0" sz="1600" spc="-5">
                <a:latin typeface="Times New Roman"/>
                <a:cs typeface="Times New Roman"/>
              </a:rPr>
              <a:t>CPU</a:t>
            </a:r>
            <a:r>
              <a:rPr dirty="0" sz="1600">
                <a:latin typeface="微软雅黑"/>
                <a:cs typeface="微软雅黑"/>
              </a:rPr>
              <a:t>时间</a:t>
            </a:r>
            <a:r>
              <a:rPr dirty="0" sz="1600" spc="-5">
                <a:latin typeface="微软雅黑"/>
                <a:cs typeface="微软雅黑"/>
              </a:rPr>
              <a:t>片</a:t>
            </a:r>
            <a:endParaRPr sz="1600">
              <a:latin typeface="微软雅黑"/>
              <a:cs typeface="微软雅黑"/>
            </a:endParaRPr>
          </a:p>
          <a:p>
            <a:pPr algn="ctr" marL="58419">
              <a:lnSpc>
                <a:spcPct val="100000"/>
              </a:lnSpc>
              <a:spcBef>
                <a:spcPts val="1410"/>
              </a:spcBef>
            </a:pPr>
            <a:r>
              <a:rPr dirty="0" sz="1600">
                <a:latin typeface="微软雅黑"/>
                <a:cs typeface="微软雅黑"/>
              </a:rPr>
              <a:t>时间片用</a:t>
            </a:r>
            <a:r>
              <a:rPr dirty="0" sz="1600" spc="-5">
                <a:latin typeface="微软雅黑"/>
                <a:cs typeface="微软雅黑"/>
              </a:rPr>
              <a:t>完</a:t>
            </a:r>
            <a:endParaRPr sz="1600">
              <a:latin typeface="微软雅黑"/>
              <a:cs typeface="微软雅黑"/>
            </a:endParaRPr>
          </a:p>
          <a:p>
            <a:pPr algn="ctr" marL="58419">
              <a:lnSpc>
                <a:spcPct val="100000"/>
              </a:lnSpc>
            </a:pPr>
            <a:r>
              <a:rPr dirty="0" sz="1600" spc="-5">
                <a:latin typeface="Times New Roman"/>
                <a:cs typeface="Times New Roman"/>
              </a:rPr>
              <a:t>yield()</a:t>
            </a:r>
            <a:r>
              <a:rPr dirty="0" sz="1600">
                <a:latin typeface="微软雅黑"/>
                <a:cs typeface="微软雅黑"/>
              </a:rPr>
              <a:t>放弃运</a:t>
            </a:r>
            <a:r>
              <a:rPr dirty="0" sz="1600" spc="-5">
                <a:latin typeface="微软雅黑"/>
                <a:cs typeface="微软雅黑"/>
              </a:rPr>
              <a:t>行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58243" y="3066859"/>
            <a:ext cx="1944370" cy="76200"/>
          </a:xfrm>
          <a:custGeom>
            <a:avLst/>
            <a:gdLst/>
            <a:ahLst/>
            <a:cxnLst/>
            <a:rect l="l" t="t" r="r" b="b"/>
            <a:pathLst>
              <a:path w="1944370" h="76200">
                <a:moveTo>
                  <a:pt x="1868017" y="76200"/>
                </a:moveTo>
                <a:lnTo>
                  <a:pt x="1906117" y="38100"/>
                </a:lnTo>
                <a:lnTo>
                  <a:pt x="1868017" y="0"/>
                </a:lnTo>
                <a:lnTo>
                  <a:pt x="1936597" y="34289"/>
                </a:lnTo>
                <a:lnTo>
                  <a:pt x="1915642" y="34289"/>
                </a:lnTo>
                <a:lnTo>
                  <a:pt x="1915642" y="41909"/>
                </a:lnTo>
                <a:lnTo>
                  <a:pt x="1936597" y="41909"/>
                </a:lnTo>
                <a:lnTo>
                  <a:pt x="1868017" y="76200"/>
                </a:lnTo>
                <a:close/>
              </a:path>
              <a:path w="1944370" h="76200">
                <a:moveTo>
                  <a:pt x="1902307" y="41909"/>
                </a:moveTo>
                <a:lnTo>
                  <a:pt x="0" y="41909"/>
                </a:lnTo>
                <a:lnTo>
                  <a:pt x="0" y="34289"/>
                </a:lnTo>
                <a:lnTo>
                  <a:pt x="1902307" y="34289"/>
                </a:lnTo>
                <a:lnTo>
                  <a:pt x="1906117" y="38100"/>
                </a:lnTo>
                <a:lnTo>
                  <a:pt x="1902307" y="41909"/>
                </a:lnTo>
                <a:close/>
              </a:path>
              <a:path w="1944370" h="76200">
                <a:moveTo>
                  <a:pt x="1936597" y="41909"/>
                </a:moveTo>
                <a:lnTo>
                  <a:pt x="1915642" y="41909"/>
                </a:lnTo>
                <a:lnTo>
                  <a:pt x="1915642" y="34289"/>
                </a:lnTo>
                <a:lnTo>
                  <a:pt x="1936597" y="34289"/>
                </a:lnTo>
                <a:lnTo>
                  <a:pt x="1944217" y="38100"/>
                </a:lnTo>
                <a:lnTo>
                  <a:pt x="1936597" y="419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085928" y="3161461"/>
            <a:ext cx="188785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811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run()</a:t>
            </a:r>
            <a:r>
              <a:rPr dirty="0" sz="1600">
                <a:latin typeface="微软雅黑"/>
                <a:cs typeface="微软雅黑"/>
              </a:rPr>
              <a:t>方法执行完</a:t>
            </a:r>
            <a:r>
              <a:rPr dirty="0" sz="1600" spc="-5">
                <a:latin typeface="微软雅黑"/>
                <a:cs typeface="微软雅黑"/>
              </a:rPr>
              <a:t>毕 </a:t>
            </a:r>
            <a:r>
              <a:rPr dirty="0" sz="1600">
                <a:latin typeface="微软雅黑"/>
                <a:cs typeface="微软雅黑"/>
              </a:rPr>
              <a:t>抛出</a:t>
            </a:r>
            <a:r>
              <a:rPr dirty="0" sz="1600" spc="-5">
                <a:latin typeface="Times New Roman"/>
                <a:cs typeface="Times New Roman"/>
              </a:rPr>
              <a:t>Exception</a:t>
            </a:r>
            <a:r>
              <a:rPr dirty="0" sz="1600">
                <a:latin typeface="微软雅黑"/>
                <a:cs typeface="微软雅黑"/>
              </a:rPr>
              <a:t>或</a:t>
            </a:r>
            <a:r>
              <a:rPr dirty="0" sz="1600" spc="-5">
                <a:latin typeface="Times New Roman"/>
                <a:cs typeface="Times New Roman"/>
              </a:rPr>
              <a:t>Error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654092" y="1960765"/>
            <a:ext cx="831215" cy="967105"/>
          </a:xfrm>
          <a:custGeom>
            <a:avLst/>
            <a:gdLst/>
            <a:ahLst/>
            <a:cxnLst/>
            <a:rect l="l" t="t" r="r" b="b"/>
            <a:pathLst>
              <a:path w="831214" h="967105">
                <a:moveTo>
                  <a:pt x="20739" y="82626"/>
                </a:moveTo>
                <a:lnTo>
                  <a:pt x="0" y="0"/>
                </a:lnTo>
                <a:lnTo>
                  <a:pt x="45702" y="19189"/>
                </a:lnTo>
                <a:lnTo>
                  <a:pt x="21501" y="19189"/>
                </a:lnTo>
                <a:lnTo>
                  <a:pt x="15722" y="24155"/>
                </a:lnTo>
                <a:lnTo>
                  <a:pt x="24408" y="34269"/>
                </a:lnTo>
                <a:lnTo>
                  <a:pt x="20739" y="82626"/>
                </a:lnTo>
                <a:close/>
              </a:path>
              <a:path w="831214" h="967105">
                <a:moveTo>
                  <a:pt x="24408" y="34269"/>
                </a:moveTo>
                <a:lnTo>
                  <a:pt x="15722" y="24155"/>
                </a:lnTo>
                <a:lnTo>
                  <a:pt x="21501" y="19189"/>
                </a:lnTo>
                <a:lnTo>
                  <a:pt x="29845" y="28905"/>
                </a:lnTo>
                <a:lnTo>
                  <a:pt x="24815" y="28905"/>
                </a:lnTo>
                <a:lnTo>
                  <a:pt x="24408" y="34269"/>
                </a:lnTo>
                <a:close/>
              </a:path>
              <a:path w="831214" h="967105">
                <a:moveTo>
                  <a:pt x="78549" y="32981"/>
                </a:moveTo>
                <a:lnTo>
                  <a:pt x="30195" y="29313"/>
                </a:lnTo>
                <a:lnTo>
                  <a:pt x="21501" y="19189"/>
                </a:lnTo>
                <a:lnTo>
                  <a:pt x="45702" y="19189"/>
                </a:lnTo>
                <a:lnTo>
                  <a:pt x="78549" y="32981"/>
                </a:lnTo>
                <a:close/>
              </a:path>
              <a:path w="831214" h="967105">
                <a:moveTo>
                  <a:pt x="825195" y="966660"/>
                </a:moveTo>
                <a:lnTo>
                  <a:pt x="24408" y="34269"/>
                </a:lnTo>
                <a:lnTo>
                  <a:pt x="24815" y="28905"/>
                </a:lnTo>
                <a:lnTo>
                  <a:pt x="30195" y="29313"/>
                </a:lnTo>
                <a:lnTo>
                  <a:pt x="830973" y="961694"/>
                </a:lnTo>
                <a:lnTo>
                  <a:pt x="825195" y="966660"/>
                </a:lnTo>
                <a:close/>
              </a:path>
              <a:path w="831214" h="967105">
                <a:moveTo>
                  <a:pt x="30195" y="29313"/>
                </a:moveTo>
                <a:lnTo>
                  <a:pt x="24815" y="28905"/>
                </a:lnTo>
                <a:lnTo>
                  <a:pt x="29845" y="28905"/>
                </a:lnTo>
                <a:lnTo>
                  <a:pt x="30195" y="2931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673870" y="1958263"/>
            <a:ext cx="831215" cy="950594"/>
          </a:xfrm>
          <a:custGeom>
            <a:avLst/>
            <a:gdLst/>
            <a:ahLst/>
            <a:cxnLst/>
            <a:rect l="l" t="t" r="r" b="b"/>
            <a:pathLst>
              <a:path w="831214" h="950594">
                <a:moveTo>
                  <a:pt x="25069" y="921423"/>
                </a:moveTo>
                <a:lnTo>
                  <a:pt x="24707" y="916035"/>
                </a:lnTo>
                <a:lnTo>
                  <a:pt x="825220" y="0"/>
                </a:lnTo>
                <a:lnTo>
                  <a:pt x="830961" y="5003"/>
                </a:lnTo>
                <a:lnTo>
                  <a:pt x="30438" y="921061"/>
                </a:lnTo>
                <a:lnTo>
                  <a:pt x="25069" y="921423"/>
                </a:lnTo>
                <a:close/>
              </a:path>
              <a:path w="831214" h="950594">
                <a:moveTo>
                  <a:pt x="0" y="950112"/>
                </a:moveTo>
                <a:lnTo>
                  <a:pt x="21450" y="867664"/>
                </a:lnTo>
                <a:lnTo>
                  <a:pt x="24707" y="916035"/>
                </a:lnTo>
                <a:lnTo>
                  <a:pt x="15925" y="926084"/>
                </a:lnTo>
                <a:lnTo>
                  <a:pt x="21666" y="931100"/>
                </a:lnTo>
                <a:lnTo>
                  <a:pt x="46386" y="931100"/>
                </a:lnTo>
                <a:lnTo>
                  <a:pt x="0" y="950112"/>
                </a:lnTo>
                <a:close/>
              </a:path>
              <a:path w="831214" h="950594">
                <a:moveTo>
                  <a:pt x="21666" y="931100"/>
                </a:moveTo>
                <a:lnTo>
                  <a:pt x="15925" y="926084"/>
                </a:lnTo>
                <a:lnTo>
                  <a:pt x="24707" y="916035"/>
                </a:lnTo>
                <a:lnTo>
                  <a:pt x="25069" y="921423"/>
                </a:lnTo>
                <a:lnTo>
                  <a:pt x="30123" y="921423"/>
                </a:lnTo>
                <a:lnTo>
                  <a:pt x="21666" y="931100"/>
                </a:lnTo>
                <a:close/>
              </a:path>
              <a:path w="831214" h="950594">
                <a:moveTo>
                  <a:pt x="46386" y="931100"/>
                </a:moveTo>
                <a:lnTo>
                  <a:pt x="21666" y="931100"/>
                </a:lnTo>
                <a:lnTo>
                  <a:pt x="30438" y="921061"/>
                </a:lnTo>
                <a:lnTo>
                  <a:pt x="78828" y="917803"/>
                </a:lnTo>
                <a:lnTo>
                  <a:pt x="46386" y="931100"/>
                </a:lnTo>
                <a:close/>
              </a:path>
              <a:path w="831214" h="950594">
                <a:moveTo>
                  <a:pt x="30123" y="921423"/>
                </a:moveTo>
                <a:lnTo>
                  <a:pt x="25069" y="921423"/>
                </a:lnTo>
                <a:lnTo>
                  <a:pt x="30438" y="921061"/>
                </a:lnTo>
                <a:lnTo>
                  <a:pt x="30123" y="9214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02272" y="4002074"/>
            <a:ext cx="7806690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2000" spc="-5">
                <a:latin typeface="微软雅黑"/>
                <a:cs typeface="微软雅黑"/>
              </a:rPr>
              <a:t>如果线程的r</a:t>
            </a:r>
            <a:r>
              <a:rPr dirty="0" sz="2000" spc="-10">
                <a:latin typeface="微软雅黑"/>
                <a:cs typeface="微软雅黑"/>
              </a:rPr>
              <a:t>un</a:t>
            </a:r>
            <a:r>
              <a:rPr dirty="0" sz="2000">
                <a:latin typeface="微软雅黑"/>
                <a:cs typeface="微软雅黑"/>
              </a:rPr>
              <a:t>()</a:t>
            </a:r>
            <a:r>
              <a:rPr dirty="0" sz="2000">
                <a:latin typeface="微软雅黑"/>
                <a:cs typeface="微软雅黑"/>
              </a:rPr>
              <a:t>方法执行完毕，线程正常结束；或者线程执行过</a:t>
            </a:r>
            <a:r>
              <a:rPr dirty="0" sz="2000">
                <a:latin typeface="微软雅黑"/>
                <a:cs typeface="微软雅黑"/>
              </a:rPr>
              <a:t>程 </a:t>
            </a:r>
            <a:r>
              <a:rPr dirty="0" sz="2000">
                <a:latin typeface="微软雅黑"/>
                <a:cs typeface="微软雅黑"/>
              </a:rPr>
              <a:t>中抛出一个未捕获的异常或错误，线程异常结束。结束后线程处</a:t>
            </a:r>
            <a:r>
              <a:rPr dirty="0" sz="2000" spc="5">
                <a:latin typeface="微软雅黑"/>
                <a:cs typeface="微软雅黑"/>
              </a:rPr>
              <a:t>于 </a:t>
            </a:r>
            <a:r>
              <a:rPr dirty="0" sz="2000">
                <a:latin typeface="微软雅黑"/>
                <a:cs typeface="微软雅黑"/>
              </a:rPr>
              <a:t>“死亡”状态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9700" y="1457747"/>
            <a:ext cx="6084570" cy="228536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线程调度器</a:t>
            </a:r>
            <a:r>
              <a:rPr dirty="0" sz="2100" spc="-5">
                <a:latin typeface="微软雅黑"/>
                <a:cs typeface="微软雅黑"/>
              </a:rPr>
              <a:t>：JVM</a:t>
            </a:r>
            <a:r>
              <a:rPr dirty="0" sz="2100">
                <a:latin typeface="微软雅黑"/>
                <a:cs typeface="微软雅黑"/>
              </a:rPr>
              <a:t>的一部分</a:t>
            </a:r>
            <a:endParaRPr sz="2100">
              <a:latin typeface="微软雅黑"/>
              <a:cs typeface="微软雅黑"/>
            </a:endParaRPr>
          </a:p>
          <a:p>
            <a:pPr lvl="1" marL="527050" marR="55244" indent="-171450">
              <a:lnSpc>
                <a:spcPts val="1939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J</a:t>
            </a:r>
            <a:r>
              <a:rPr dirty="0" sz="1800" spc="-5">
                <a:latin typeface="微软雅黑"/>
                <a:cs typeface="微软雅黑"/>
              </a:rPr>
              <a:t>V</a:t>
            </a:r>
            <a:r>
              <a:rPr dirty="0" sz="1800">
                <a:latin typeface="微软雅黑"/>
                <a:cs typeface="微软雅黑"/>
              </a:rPr>
              <a:t>M通常将</a:t>
            </a:r>
            <a:r>
              <a:rPr dirty="0" sz="1800" spc="-30">
                <a:latin typeface="微软雅黑"/>
                <a:cs typeface="微软雅黑"/>
              </a:rPr>
              <a:t>J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-40">
                <a:latin typeface="微软雅黑"/>
                <a:cs typeface="微软雅黑"/>
              </a:rPr>
              <a:t>v</a:t>
            </a:r>
            <a:r>
              <a:rPr dirty="0" sz="1800">
                <a:latin typeface="微软雅黑"/>
                <a:cs typeface="微软雅黑"/>
              </a:rPr>
              <a:t>a线程直接映射为本地操作系统上的本机 线程。</a:t>
            </a:r>
            <a:endParaRPr sz="1800">
              <a:latin typeface="微软雅黑"/>
              <a:cs typeface="微软雅黑"/>
            </a:endParaRPr>
          </a:p>
          <a:p>
            <a:pPr lvl="1" marL="527050" marR="5080" indent="-171450">
              <a:lnSpc>
                <a:spcPts val="1939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处于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unnabl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状态的线程被放在可运行池中，它们都有 资格被调度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线程调度器决定在某个时刻应该运行哪个线程。</a:t>
            </a:r>
            <a:endParaRPr sz="1800">
              <a:latin typeface="微软雅黑"/>
              <a:cs typeface="微软雅黑"/>
            </a:endParaRPr>
          </a:p>
          <a:p>
            <a:pPr lvl="1" marL="527050" marR="63500" indent="-171450">
              <a:lnSpc>
                <a:spcPts val="1939"/>
              </a:lnSpc>
              <a:spcBef>
                <a:spcPts val="40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决定实际运行哪个线程是线程调度器的职权，我们无法 控制线程调度器，不能要求、指定某个线程去被运行。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9541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.4	线程优先级与线程调度策略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9541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.4	线程优先级与线程调度策略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5904" y="2420111"/>
            <a:ext cx="1417320" cy="173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1481454"/>
            <a:ext cx="8071484" cy="4205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线程调度器：基于优先级的抢先式调度机制。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微软雅黑"/>
              <a:cs typeface="微软雅黑"/>
            </a:endParaRPr>
          </a:p>
          <a:p>
            <a:pPr algn="just" marL="2977515" marR="508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微软雅黑"/>
                <a:cs typeface="微软雅黑"/>
              </a:rPr>
              <a:t>在设计多线程应用程序时不能依赖线程的优</a:t>
            </a:r>
            <a:r>
              <a:rPr dirty="0" sz="2000">
                <a:latin typeface="微软雅黑"/>
                <a:cs typeface="微软雅黑"/>
              </a:rPr>
              <a:t>先 </a:t>
            </a:r>
            <a:r>
              <a:rPr dirty="0" sz="2000">
                <a:latin typeface="微软雅黑"/>
                <a:cs typeface="微软雅黑"/>
              </a:rPr>
              <a:t>级。线程调度优先级操作是没有保证的，只</a:t>
            </a:r>
            <a:r>
              <a:rPr dirty="0" sz="2000">
                <a:latin typeface="微软雅黑"/>
                <a:cs typeface="微软雅黑"/>
              </a:rPr>
              <a:t>能 </a:t>
            </a:r>
            <a:r>
              <a:rPr dirty="0" sz="2000">
                <a:latin typeface="微软雅黑"/>
                <a:cs typeface="微软雅黑"/>
              </a:rPr>
              <a:t>将线程优先级作为一种提高程序效率的方法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300">
              <a:latin typeface="微软雅黑"/>
              <a:cs typeface="微软雅黑"/>
            </a:endParaRPr>
          </a:p>
          <a:p>
            <a:pPr marL="2977515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设置优先级</a:t>
            </a:r>
            <a:r>
              <a:rPr dirty="0" sz="2000" spc="-5">
                <a:latin typeface="微软雅黑"/>
                <a:cs typeface="微软雅黑"/>
              </a:rPr>
              <a:t>setPriority(int);</a:t>
            </a:r>
            <a:endParaRPr sz="2000">
              <a:latin typeface="微软雅黑"/>
              <a:cs typeface="微软雅黑"/>
            </a:endParaRPr>
          </a:p>
          <a:p>
            <a:pPr marL="2977515">
              <a:lnSpc>
                <a:spcPct val="100000"/>
              </a:lnSpc>
            </a:pPr>
            <a:r>
              <a:rPr dirty="0" sz="2000">
                <a:latin typeface="微软雅黑"/>
                <a:cs typeface="微软雅黑"/>
              </a:rPr>
              <a:t>一般使用三个优先级：MIN_PRIORITY</a:t>
            </a:r>
            <a:endParaRPr sz="2000">
              <a:latin typeface="微软雅黑"/>
              <a:cs typeface="微软雅黑"/>
            </a:endParaRPr>
          </a:p>
          <a:p>
            <a:pPr marL="5525135" marR="450850">
              <a:lnSpc>
                <a:spcPct val="100000"/>
              </a:lnSpc>
            </a:pPr>
            <a:r>
              <a:rPr dirty="0" sz="2000" spc="-5">
                <a:latin typeface="微软雅黑"/>
                <a:cs typeface="微软雅黑"/>
              </a:rPr>
              <a:t>NORM_PR</a:t>
            </a:r>
            <a:r>
              <a:rPr dirty="0" sz="2000">
                <a:latin typeface="微软雅黑"/>
                <a:cs typeface="微软雅黑"/>
              </a:rPr>
              <a:t>I</a:t>
            </a:r>
            <a:r>
              <a:rPr dirty="0" sz="2000" spc="-5">
                <a:latin typeface="微软雅黑"/>
                <a:cs typeface="微软雅黑"/>
              </a:rPr>
              <a:t>OR</a:t>
            </a:r>
            <a:r>
              <a:rPr dirty="0" sz="2000">
                <a:latin typeface="微软雅黑"/>
                <a:cs typeface="微软雅黑"/>
              </a:rPr>
              <a:t>I</a:t>
            </a:r>
            <a:r>
              <a:rPr dirty="0" sz="2000" spc="25">
                <a:latin typeface="微软雅黑"/>
                <a:cs typeface="微软雅黑"/>
              </a:rPr>
              <a:t>T</a:t>
            </a:r>
            <a:r>
              <a:rPr dirty="0" sz="2000">
                <a:latin typeface="微软雅黑"/>
                <a:cs typeface="微软雅黑"/>
              </a:rPr>
              <a:t>Y  </a:t>
            </a:r>
            <a:r>
              <a:rPr dirty="0" sz="2000">
                <a:latin typeface="微软雅黑"/>
                <a:cs typeface="微软雅黑"/>
              </a:rPr>
              <a:t>MAX_PRIORITY</a:t>
            </a:r>
            <a:endParaRPr sz="2000">
              <a:latin typeface="微软雅黑"/>
              <a:cs typeface="微软雅黑"/>
            </a:endParaRPr>
          </a:p>
          <a:p>
            <a:pPr marL="624205" marR="352425">
              <a:lnSpc>
                <a:spcPct val="100000"/>
              </a:lnSpc>
              <a:spcBef>
                <a:spcPts val="1795"/>
              </a:spcBef>
            </a:pPr>
            <a:r>
              <a:rPr dirty="0" sz="1800">
                <a:latin typeface="微软雅黑"/>
                <a:cs typeface="微软雅黑"/>
              </a:rPr>
              <a:t>当程序需要让某个线程获得更多的执行机会时，即可将它优先级设高。 当程序需要让某个线程获得更少的执行机会时，即可将它优先级设低。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5946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.1	数据共享问题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1455420"/>
            <a:ext cx="7854950" cy="3295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ts val="249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【提出问题】夫妻共同进行取钱。</a:t>
            </a:r>
            <a:endParaRPr sz="2100">
              <a:latin typeface="微软雅黑"/>
              <a:cs typeface="微软雅黑"/>
            </a:endParaRPr>
          </a:p>
          <a:p>
            <a:pPr lvl="1" marL="527050" marR="5080" indent="-171450">
              <a:lnSpc>
                <a:spcPct val="79900"/>
              </a:lnSpc>
              <a:spcBef>
                <a:spcPts val="40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①妻子线程首先执行，检查账户发现账户余额满足取款条件（妻子线程的 步骤</a:t>
            </a:r>
            <a:r>
              <a:rPr dirty="0" sz="1800" spc="-5">
                <a:latin typeface="微软雅黑"/>
                <a:cs typeface="微软雅黑"/>
              </a:rPr>
              <a:t>(1)</a:t>
            </a:r>
            <a:r>
              <a:rPr dirty="0" sz="1800">
                <a:latin typeface="微软雅黑"/>
                <a:cs typeface="微软雅黑"/>
              </a:rPr>
              <a:t>完成），但在妻子取款之前线程被换下；</a:t>
            </a:r>
            <a:endParaRPr sz="1800">
              <a:latin typeface="微软雅黑"/>
              <a:cs typeface="微软雅黑"/>
            </a:endParaRPr>
          </a:p>
          <a:p>
            <a:pPr lvl="1" marL="527050" indent="-171450">
              <a:lnSpc>
                <a:spcPts val="188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②丈夫线程上来后检查账户余额，此时妻子还未取款，丈夫看到的是妻子</a:t>
            </a:r>
            <a:endParaRPr sz="1800">
              <a:latin typeface="微软雅黑"/>
              <a:cs typeface="微软雅黑"/>
            </a:endParaRPr>
          </a:p>
          <a:p>
            <a:pPr marL="527050" marR="5080">
              <a:lnSpc>
                <a:spcPct val="79900"/>
              </a:lnSpc>
              <a:spcBef>
                <a:spcPts val="215"/>
              </a:spcBef>
            </a:pPr>
            <a:r>
              <a:rPr dirty="0" sz="1800">
                <a:latin typeface="微软雅黑"/>
                <a:cs typeface="微软雅黑"/>
              </a:rPr>
              <a:t>取款前的账户余额，账户余额也可以满足他的取款要求（丈夫线程的步骤  </a:t>
            </a:r>
            <a:r>
              <a:rPr dirty="0" sz="1800" spc="-5">
                <a:latin typeface="微软雅黑"/>
                <a:cs typeface="微软雅黑"/>
              </a:rPr>
              <a:t>(1)</a:t>
            </a:r>
            <a:r>
              <a:rPr dirty="0" sz="1800">
                <a:latin typeface="微软雅黑"/>
                <a:cs typeface="微软雅黑"/>
              </a:rPr>
              <a:t>完成），在丈夫取款之前线程被换下；</a:t>
            </a:r>
            <a:endParaRPr sz="1800">
              <a:latin typeface="微软雅黑"/>
              <a:cs typeface="微软雅黑"/>
            </a:endParaRPr>
          </a:p>
          <a:p>
            <a:pPr lvl="1" marL="527050" marR="5080" indent="-171450">
              <a:lnSpc>
                <a:spcPct val="7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③妻子线程换上来后接着运行，取走了账户中的全部余额（妻子线程的步 骤</a:t>
            </a:r>
            <a:r>
              <a:rPr dirty="0" sz="1800" spc="-5">
                <a:latin typeface="微软雅黑"/>
                <a:cs typeface="微软雅黑"/>
              </a:rPr>
              <a:t>(2)</a:t>
            </a:r>
            <a:r>
              <a:rPr dirty="0" sz="1800">
                <a:latin typeface="微软雅黑"/>
                <a:cs typeface="微软雅黑"/>
              </a:rPr>
              <a:t>完成），妻子线程结束；</a:t>
            </a:r>
            <a:endParaRPr sz="1800">
              <a:latin typeface="微软雅黑"/>
              <a:cs typeface="微软雅黑"/>
            </a:endParaRPr>
          </a:p>
          <a:p>
            <a:pPr lvl="1" marL="527050" marR="5080" indent="-171450">
              <a:lnSpc>
                <a:spcPct val="7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④丈夫线程换上来后接着运行，因为之前丈夫线程已经确认账户有足够的 余额可以支取，于是，丈夫在没有足够余额的情况下仍然进行了取款。</a:t>
            </a:r>
            <a:endParaRPr sz="1800">
              <a:latin typeface="微软雅黑"/>
              <a:cs typeface="微软雅黑"/>
            </a:endParaRPr>
          </a:p>
          <a:p>
            <a:pPr marL="984250" marR="462280">
              <a:lnSpc>
                <a:spcPct val="100000"/>
              </a:lnSpc>
              <a:spcBef>
                <a:spcPts val="1885"/>
              </a:spcBef>
            </a:pPr>
            <a:r>
              <a:rPr dirty="0" sz="1800">
                <a:latin typeface="微软雅黑"/>
                <a:cs typeface="微软雅黑"/>
              </a:rPr>
              <a:t>线程安全：在同一时刻，多条线程并发修改一份竞争资源（共享 资源），此时就可能发生线程安全问题。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18205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.5	线程同步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78739" y="1481454"/>
            <a:ext cx="7931150" cy="338074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当多个线程共享同一个数据资源时，如果处理不当，很容易出现线 程的安全隐患，所以多线程编程时经常需要解决线程同步问题。</a:t>
            </a:r>
            <a:endParaRPr sz="2100">
              <a:latin typeface="微软雅黑"/>
              <a:cs typeface="微软雅黑"/>
            </a:endParaRPr>
          </a:p>
          <a:p>
            <a:pPr marL="606425">
              <a:lnSpc>
                <a:spcPct val="100000"/>
              </a:lnSpc>
              <a:spcBef>
                <a:spcPts val="217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800" b="1">
                <a:latin typeface="Consolas"/>
                <a:cs typeface="Consolas"/>
              </a:rPr>
              <a:t>main(String[]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800" b="1">
                <a:latin typeface="Consolas"/>
                <a:cs typeface="Consolas"/>
              </a:rPr>
              <a:t>)</a:t>
            </a:r>
            <a:r>
              <a:rPr dirty="0" sz="1800" spc="-25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636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Runnable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target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2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SecondThread();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0636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0636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106362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t1</a:t>
            </a:r>
            <a:r>
              <a:rPr dirty="0" sz="1800" b="1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1063625">
              <a:lnSpc>
                <a:spcPct val="100000"/>
              </a:lnSpc>
            </a:pP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t2</a:t>
            </a:r>
            <a:r>
              <a:rPr dirty="0" sz="1800" b="1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6064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5420"/>
            <a:ext cx="7907655" cy="2602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为了保证共享对象的线程安全</a:t>
            </a:r>
            <a:r>
              <a:rPr dirty="0" sz="2100" spc="-20">
                <a:latin typeface="微软雅黑"/>
                <a:cs typeface="微软雅黑"/>
              </a:rPr>
              <a:t>，Java</a:t>
            </a:r>
            <a:r>
              <a:rPr dirty="0" sz="2100">
                <a:latin typeface="微软雅黑"/>
                <a:cs typeface="微软雅黑"/>
              </a:rPr>
              <a:t>使用</a:t>
            </a:r>
            <a:r>
              <a:rPr dirty="0" sz="2100">
                <a:solidFill>
                  <a:srgbClr val="FF0000"/>
                </a:solidFill>
                <a:latin typeface="微软雅黑"/>
                <a:cs typeface="微软雅黑"/>
              </a:rPr>
              <a:t>同步监视器</a:t>
            </a:r>
            <a:r>
              <a:rPr dirty="0" sz="2100">
                <a:latin typeface="微软雅黑"/>
                <a:cs typeface="微软雅黑"/>
              </a:rPr>
              <a:t>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Char char="•"/>
            </a:pPr>
            <a:endParaRPr sz="1300">
              <a:latin typeface="微软雅黑"/>
              <a:cs typeface="微软雅黑"/>
            </a:endParaRPr>
          </a:p>
          <a:p>
            <a:pPr lvl="1" marL="527050" marR="5080" indent="-171450">
              <a:lnSpc>
                <a:spcPct val="79900"/>
              </a:lnSpc>
              <a:buFont typeface="Arial"/>
              <a:buChar char="•"/>
              <a:tabLst>
                <a:tab pos="527050" algn="l"/>
              </a:tabLst>
            </a:pPr>
            <a:r>
              <a:rPr dirty="0" sz="1800" spc="-30">
                <a:latin typeface="微软雅黑"/>
                <a:cs typeface="微软雅黑"/>
              </a:rPr>
              <a:t>J</a:t>
            </a:r>
            <a:r>
              <a:rPr dirty="0" sz="1800">
                <a:latin typeface="微软雅黑"/>
                <a:cs typeface="微软雅黑"/>
              </a:rPr>
              <a:t>a</a:t>
            </a:r>
            <a:r>
              <a:rPr dirty="0" sz="1800" spc="-40">
                <a:latin typeface="微软雅黑"/>
                <a:cs typeface="微软雅黑"/>
              </a:rPr>
              <a:t>v</a:t>
            </a:r>
            <a:r>
              <a:rPr dirty="0" sz="1800">
                <a:latin typeface="微软雅黑"/>
                <a:cs typeface="微软雅黑"/>
              </a:rPr>
              <a:t>a使用关键字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sy</a:t>
            </a:r>
            <a:r>
              <a:rPr dirty="0" sz="1800" spc="-5" b="1">
                <a:solidFill>
                  <a:srgbClr val="FF0000"/>
                </a:solidFill>
                <a:latin typeface="微软雅黑"/>
                <a:cs typeface="微软雅黑"/>
              </a:rPr>
              <a:t>n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c</a:t>
            </a:r>
            <a:r>
              <a:rPr dirty="0" sz="1800" spc="-5" b="1">
                <a:solidFill>
                  <a:srgbClr val="FF0000"/>
                </a:solidFill>
                <a:latin typeface="微软雅黑"/>
                <a:cs typeface="微软雅黑"/>
              </a:rPr>
              <a:t>h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o</a:t>
            </a:r>
            <a:r>
              <a:rPr dirty="0" sz="1800" spc="-5" b="1">
                <a:solidFill>
                  <a:srgbClr val="FF0000"/>
                </a:solidFill>
                <a:latin typeface="微软雅黑"/>
                <a:cs typeface="微软雅黑"/>
              </a:rPr>
              <a:t>n</a:t>
            </a:r>
            <a:r>
              <a:rPr dirty="0" sz="1800" b="1">
                <a:solidFill>
                  <a:srgbClr val="FF0000"/>
                </a:solidFill>
                <a:latin typeface="微软雅黑"/>
                <a:cs typeface="微软雅黑"/>
              </a:rPr>
              <a:t>ize</a:t>
            </a:r>
            <a:r>
              <a:rPr dirty="0" sz="1800" spc="-5" b="1">
                <a:solidFill>
                  <a:srgbClr val="FF0000"/>
                </a:solidFill>
                <a:latin typeface="微软雅黑"/>
                <a:cs typeface="微软雅黑"/>
              </a:rPr>
              <a:t>d</a:t>
            </a:r>
            <a:r>
              <a:rPr dirty="0" sz="1800">
                <a:latin typeface="微软雅黑"/>
                <a:cs typeface="微软雅黑"/>
              </a:rPr>
              <a:t>修饰同步代码块或同步方法，为共享资源对 象加锁。</a:t>
            </a:r>
            <a:endParaRPr sz="1800">
              <a:latin typeface="微软雅黑"/>
              <a:cs typeface="微软雅黑"/>
            </a:endParaRPr>
          </a:p>
          <a:p>
            <a:pPr lvl="1" marL="527050" marR="58419" indent="-171450">
              <a:lnSpc>
                <a:spcPct val="7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任何线程进入同步代码之前首先对共享资源对象加锁，必须等到该线程离 开同步块代码时，才释放对对共享资源对象的加锁。</a:t>
            </a:r>
            <a:endParaRPr sz="1800">
              <a:latin typeface="微软雅黑"/>
              <a:cs typeface="微软雅黑"/>
            </a:endParaRPr>
          </a:p>
          <a:p>
            <a:pPr lvl="1" marL="527050" marR="58419" indent="-171450">
              <a:lnSpc>
                <a:spcPct val="79900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加锁后的同步代码块或同步方法，形成“原子”操作，该操作是不可分割 的。</a:t>
            </a:r>
            <a:endParaRPr sz="18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2039"/>
              </a:spcBef>
            </a:pPr>
            <a:r>
              <a:rPr dirty="0" sz="1800"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5946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.2	同步和锁机制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57747"/>
            <a:ext cx="7854950" cy="169735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just" marL="184150" indent="-171450">
              <a:lnSpc>
                <a:spcPct val="100000"/>
              </a:lnSpc>
              <a:spcBef>
                <a:spcPts val="28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线程和锁的关系</a:t>
            </a:r>
            <a:endParaRPr sz="2100">
              <a:latin typeface="微软雅黑"/>
              <a:cs typeface="微软雅黑"/>
            </a:endParaRPr>
          </a:p>
          <a:p>
            <a:pPr algn="just" lvl="1" marL="527050" marR="5080" indent="-171450">
              <a:lnSpc>
                <a:spcPts val="1939"/>
              </a:lnSpc>
              <a:spcBef>
                <a:spcPts val="409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锁属于对象，线程持有对象的锁可以运行同步代码；同步代码运行完毕后 锁被释放。</a:t>
            </a:r>
            <a:endParaRPr sz="1800">
              <a:latin typeface="微软雅黑"/>
              <a:cs typeface="微软雅黑"/>
            </a:endParaRPr>
          </a:p>
          <a:p>
            <a:pPr algn="just" lvl="1" marL="527050" marR="5080" indent="-171450">
              <a:lnSpc>
                <a:spcPts val="1939"/>
              </a:lnSpc>
              <a:spcBef>
                <a:spcPts val="375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因为一个对象只有一个锁，所以当一个线程对对象加锁后，其它试图对</a:t>
            </a:r>
            <a:r>
              <a:rPr dirty="0" sz="1800">
                <a:solidFill>
                  <a:srgbClr val="FF0000"/>
                </a:solidFill>
                <a:latin typeface="微软雅黑"/>
                <a:cs typeface="微软雅黑"/>
              </a:rPr>
              <a:t>同 一个对象</a:t>
            </a:r>
            <a:r>
              <a:rPr dirty="0" sz="1800">
                <a:latin typeface="微软雅黑"/>
                <a:cs typeface="微软雅黑"/>
              </a:rPr>
              <a:t>执行同步代码的线程，都会因获取锁不成功而进入阻塞状态，从 而保证了线程安全。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5946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.2	同步和锁机制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66567" y="4092499"/>
            <a:ext cx="5106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锁不属于线程，而是属于对象，一个线程可</a:t>
            </a:r>
            <a:r>
              <a:rPr dirty="0" sz="2000">
                <a:latin typeface="微软雅黑"/>
                <a:cs typeface="微软雅黑"/>
              </a:rPr>
              <a:t>以 </a:t>
            </a:r>
            <a:r>
              <a:rPr dirty="0" sz="2000">
                <a:latin typeface="微软雅黑"/>
                <a:cs typeface="微软雅黑"/>
              </a:rPr>
              <a:t>拥有多个对象的锁，而只有同一个对象的锁</a:t>
            </a:r>
            <a:r>
              <a:rPr dirty="0" sz="2000">
                <a:latin typeface="微软雅黑"/>
                <a:cs typeface="微软雅黑"/>
              </a:rPr>
              <a:t>之 </a:t>
            </a:r>
            <a:r>
              <a:rPr dirty="0" sz="2000">
                <a:latin typeface="微软雅黑"/>
                <a:cs typeface="微软雅黑"/>
              </a:rPr>
              <a:t>间才有互斥的作用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46632" y="4215384"/>
            <a:ext cx="1417320" cy="173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3279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.3	同步代码块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22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21640" y="1486534"/>
            <a:ext cx="7512050" cy="290830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84150" marR="5080" indent="-171450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注意：同步所形成的“原子”操作会损害并发性，所以不要同步原子操作 之外的其他代码。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50">
              <a:latin typeface="微软雅黑"/>
              <a:cs typeface="微软雅黑"/>
            </a:endParaRPr>
          </a:p>
          <a:p>
            <a:pPr marL="167449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语法：</a:t>
            </a:r>
            <a:endParaRPr sz="1800">
              <a:latin typeface="微软雅黑"/>
              <a:cs typeface="微软雅黑"/>
            </a:endParaRPr>
          </a:p>
          <a:p>
            <a:pPr marL="2285365">
              <a:lnSpc>
                <a:spcPct val="100000"/>
              </a:lnSpc>
              <a:spcBef>
                <a:spcPts val="2160"/>
              </a:spcBef>
            </a:pPr>
            <a:r>
              <a:rPr dirty="0" sz="1800" spc="-5">
                <a:latin typeface="微软雅黑"/>
                <a:cs typeface="微软雅黑"/>
              </a:rPr>
              <a:t>synchronized(</a:t>
            </a:r>
            <a:r>
              <a:rPr dirty="0" sz="1800">
                <a:latin typeface="微软雅黑"/>
                <a:cs typeface="微软雅黑"/>
              </a:rPr>
              <a:t>同步监视器)</a:t>
            </a:r>
            <a:endParaRPr sz="1800">
              <a:latin typeface="微软雅黑"/>
              <a:cs typeface="微软雅黑"/>
            </a:endParaRPr>
          </a:p>
          <a:p>
            <a:pPr marL="228536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262572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同步代码块</a:t>
            </a:r>
            <a:endParaRPr sz="1800">
              <a:latin typeface="微软雅黑"/>
              <a:cs typeface="微软雅黑"/>
            </a:endParaRPr>
          </a:p>
          <a:p>
            <a:pPr marL="2285365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541702" y="6413852"/>
            <a:ext cx="179070" cy="20129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32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88595" y="1470660"/>
            <a:ext cx="7801609" cy="1218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【例</a:t>
            </a:r>
            <a:r>
              <a:rPr dirty="0" sz="2800" spc="-5">
                <a:latin typeface="微软雅黑"/>
                <a:cs typeface="微软雅黑"/>
              </a:rPr>
              <a:t>11-5</a:t>
            </a:r>
            <a:r>
              <a:rPr dirty="0" sz="2800">
                <a:latin typeface="微软雅黑"/>
                <a:cs typeface="微软雅黑"/>
              </a:rPr>
              <a:t>】设计一个实现</a:t>
            </a:r>
            <a:r>
              <a:rPr dirty="0" sz="2800" spc="-5">
                <a:latin typeface="微软雅黑"/>
                <a:cs typeface="微软雅黑"/>
              </a:rPr>
              <a:t>Runnable</a:t>
            </a:r>
            <a:r>
              <a:rPr dirty="0" sz="2800">
                <a:latin typeface="微软雅黑"/>
                <a:cs typeface="微软雅黑"/>
              </a:rPr>
              <a:t>接口的线程</a:t>
            </a:r>
            <a:r>
              <a:rPr dirty="0" sz="2800" spc="-5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ts val="3020"/>
              </a:lnSpc>
              <a:spcBef>
                <a:spcPts val="215"/>
              </a:spcBef>
            </a:pPr>
            <a:r>
              <a:rPr dirty="0" sz="2800">
                <a:latin typeface="微软雅黑"/>
                <a:cs typeface="微软雅黑"/>
              </a:rPr>
              <a:t>，输出</a:t>
            </a:r>
            <a:r>
              <a:rPr dirty="0" sz="2800" spc="-5">
                <a:latin typeface="微软雅黑"/>
                <a:cs typeface="微软雅黑"/>
              </a:rPr>
              <a:t>1-5</a:t>
            </a:r>
            <a:r>
              <a:rPr dirty="0" sz="2800">
                <a:latin typeface="微软雅黑"/>
                <a:cs typeface="微软雅黑"/>
              </a:rPr>
              <a:t>间的数字。其中，计数器变量</a:t>
            </a:r>
            <a:r>
              <a:rPr dirty="0" sz="2800" spc="-5">
                <a:latin typeface="微软雅黑"/>
                <a:cs typeface="微软雅黑"/>
              </a:rPr>
              <a:t>i</a:t>
            </a:r>
            <a:r>
              <a:rPr dirty="0" sz="2800">
                <a:latin typeface="微软雅黑"/>
                <a:cs typeface="微软雅黑"/>
              </a:rPr>
              <a:t>作为属</a:t>
            </a:r>
            <a:r>
              <a:rPr dirty="0" sz="2800" spc="-5">
                <a:latin typeface="微软雅黑"/>
                <a:cs typeface="微软雅黑"/>
              </a:rPr>
              <a:t>性 </a:t>
            </a:r>
            <a:r>
              <a:rPr dirty="0" sz="2800">
                <a:latin typeface="微软雅黑"/>
                <a:cs typeface="微软雅黑"/>
              </a:rPr>
              <a:t>存在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3279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.3	同步代码块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0" y="2948939"/>
            <a:ext cx="9144000" cy="3907790"/>
          </a:xfrm>
          <a:custGeom>
            <a:avLst/>
            <a:gdLst/>
            <a:ahLst/>
            <a:cxnLst/>
            <a:rect l="l" t="t" r="r" b="b"/>
            <a:pathLst>
              <a:path w="9144000" h="3907790">
                <a:moveTo>
                  <a:pt x="0" y="3907536"/>
                </a:moveTo>
                <a:lnTo>
                  <a:pt x="0" y="0"/>
                </a:lnTo>
                <a:lnTo>
                  <a:pt x="9144000" y="0"/>
                </a:lnTo>
                <a:lnTo>
                  <a:pt x="9144000" y="3907536"/>
                </a:lnTo>
                <a:lnTo>
                  <a:pt x="0" y="39075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700"/>
              </a:spcBef>
            </a:pPr>
            <a:r>
              <a:rPr dirty="0"/>
              <a:t>public class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MyRunnable </a:t>
            </a:r>
            <a:r>
              <a:rPr dirty="0"/>
              <a:t>implements</a:t>
            </a:r>
            <a:r>
              <a:rPr dirty="0" spc="-15"/>
              <a:t>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Runnable{</a:t>
            </a:r>
          </a:p>
          <a:p>
            <a:pPr marL="659130">
              <a:lnSpc>
                <a:spcPct val="100000"/>
              </a:lnSpc>
              <a:spcBef>
                <a:spcPts val="600"/>
              </a:spcBef>
              <a:tabLst>
                <a:tab pos="2921635" algn="l"/>
              </a:tabLst>
            </a:pPr>
            <a:r>
              <a:rPr dirty="0"/>
              <a:t>private int </a:t>
            </a:r>
            <a:r>
              <a:rPr dirty="0" b="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=0;	</a:t>
            </a:r>
            <a:r>
              <a:rPr dirty="0" b="0">
                <a:solidFill>
                  <a:srgbClr val="3E7E5F"/>
                </a:solidFill>
                <a:latin typeface="Consolas"/>
                <a:cs typeface="Consolas"/>
              </a:rPr>
              <a:t>//i</a:t>
            </a:r>
            <a:r>
              <a:rPr dirty="0" b="0">
                <a:solidFill>
                  <a:srgbClr val="3E7E5F"/>
                </a:solidFill>
                <a:latin typeface="宋体"/>
                <a:cs typeface="宋体"/>
              </a:rPr>
              <a:t>作为属性</a:t>
            </a:r>
          </a:p>
          <a:p>
            <a:pPr marL="659130">
              <a:lnSpc>
                <a:spcPct val="100000"/>
              </a:lnSpc>
              <a:spcBef>
                <a:spcPts val="600"/>
              </a:spcBef>
            </a:pPr>
            <a:r>
              <a:rPr dirty="0"/>
              <a:t>public void</a:t>
            </a:r>
            <a:r>
              <a:rPr dirty="0" spc="-5"/>
              <a:t>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run(){</a:t>
            </a:r>
          </a:p>
          <a:p>
            <a:pPr algn="r" marR="5682615">
              <a:lnSpc>
                <a:spcPct val="100000"/>
              </a:lnSpc>
              <a:spcBef>
                <a:spcPts val="600"/>
              </a:spcBef>
            </a:pPr>
            <a:r>
              <a:rPr dirty="0"/>
              <a:t>while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dirty="0" b="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&lt;5){</a:t>
            </a:r>
          </a:p>
          <a:p>
            <a:pPr algn="r" marR="5648325">
              <a:lnSpc>
                <a:spcPct val="100000"/>
              </a:lnSpc>
              <a:spcBef>
                <a:spcPts val="600"/>
              </a:spcBef>
            </a:pPr>
            <a:r>
              <a:rPr dirty="0" b="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++;</a:t>
            </a:r>
          </a:p>
          <a:p>
            <a:pPr marL="2487930">
              <a:lnSpc>
                <a:spcPct val="100000"/>
              </a:lnSpc>
              <a:spcBef>
                <a:spcPts val="600"/>
              </a:spcBef>
            </a:pPr>
            <a:r>
              <a:rPr dirty="0"/>
              <a:t>for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(</a:t>
            </a:r>
            <a:r>
              <a:rPr dirty="0"/>
              <a:t>int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j = 0; j &lt; 20000000;</a:t>
            </a:r>
            <a:r>
              <a:rPr dirty="0" spc="-40" b="0">
                <a:solidFill>
                  <a:srgbClr val="000000"/>
                </a:solidFill>
                <a:latin typeface="Consolas"/>
                <a:cs typeface="Consolas"/>
              </a:rPr>
              <a:t> 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j++);</a:t>
            </a:r>
          </a:p>
          <a:p>
            <a:pPr marL="2487930">
              <a:lnSpc>
                <a:spcPct val="100000"/>
              </a:lnSpc>
              <a:spcBef>
                <a:spcPts val="810"/>
              </a:spcBef>
            </a:pPr>
            <a:r>
              <a:rPr dirty="0" sz="1600" spc="-5" b="0">
                <a:solidFill>
                  <a:srgbClr val="000000"/>
                </a:solidFill>
                <a:latin typeface="Consolas"/>
                <a:cs typeface="Consolas"/>
              </a:rPr>
              <a:t>System.</a:t>
            </a:r>
            <a:r>
              <a:rPr dirty="0" sz="1600" spc="-5" b="0" i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600" spc="-5" b="0">
                <a:solidFill>
                  <a:srgbClr val="000000"/>
                </a:solidFill>
                <a:latin typeface="Consolas"/>
                <a:cs typeface="Consolas"/>
              </a:rPr>
              <a:t>.print(Thread.</a:t>
            </a:r>
            <a:r>
              <a:rPr dirty="0" sz="1600" spc="-5" b="0" i="1">
                <a:solidFill>
                  <a:srgbClr val="000000"/>
                </a:solidFill>
                <a:latin typeface="Consolas"/>
                <a:cs typeface="Consolas"/>
              </a:rPr>
              <a:t>currentThread</a:t>
            </a:r>
            <a:r>
              <a:rPr dirty="0" sz="1600" spc="-5" b="0">
                <a:solidFill>
                  <a:srgbClr val="000000"/>
                </a:solidFill>
                <a:latin typeface="Consolas"/>
                <a:cs typeface="Consolas"/>
              </a:rPr>
              <a:t>().getName()+</a:t>
            </a:r>
            <a:r>
              <a:rPr dirty="0" sz="1600" spc="-5" b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600" spc="15" b="0">
                <a:solidFill>
                  <a:srgbClr val="2A00FF"/>
                </a:solidFill>
                <a:latin typeface="Consolas"/>
                <a:cs typeface="Consolas"/>
              </a:rPr>
              <a:t> </a:t>
            </a:r>
            <a:r>
              <a:rPr dirty="0" sz="1600" spc="-5" b="0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600" spc="-5" b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  <a:p>
            <a:pPr marL="2487930">
              <a:lnSpc>
                <a:spcPct val="100000"/>
              </a:lnSpc>
              <a:spcBef>
                <a:spcPts val="630"/>
              </a:spcBef>
            </a:pP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System.</a:t>
            </a:r>
            <a:r>
              <a:rPr dirty="0" b="0" i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.println(</a:t>
            </a:r>
            <a:r>
              <a:rPr dirty="0" b="0">
                <a:solidFill>
                  <a:srgbClr val="2A00FF"/>
                </a:solidFill>
                <a:latin typeface="Consolas"/>
                <a:cs typeface="Consolas"/>
              </a:rPr>
              <a:t>"i="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+</a:t>
            </a:r>
            <a:r>
              <a:rPr dirty="0" b="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);</a:t>
            </a:r>
          </a:p>
          <a:p>
            <a:pPr marL="1573530">
              <a:lnSpc>
                <a:spcPct val="100000"/>
              </a:lnSpc>
              <a:spcBef>
                <a:spcPts val="600"/>
              </a:spcBef>
            </a:pP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659130">
              <a:lnSpc>
                <a:spcPct val="100000"/>
              </a:lnSpc>
              <a:spcBef>
                <a:spcPts val="600"/>
              </a:spcBef>
            </a:pP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b="0">
                <a:solidFill>
                  <a:srgbClr val="000000"/>
                </a:solidFill>
                <a:latin typeface="Consolas"/>
                <a:cs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70660"/>
            <a:ext cx="7801609" cy="1218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sz="2800">
                <a:latin typeface="微软雅黑"/>
                <a:cs typeface="微软雅黑"/>
              </a:rPr>
              <a:t>【例</a:t>
            </a:r>
            <a:r>
              <a:rPr dirty="0" sz="2800" spc="-5">
                <a:latin typeface="微软雅黑"/>
                <a:cs typeface="微软雅黑"/>
              </a:rPr>
              <a:t>11-5</a:t>
            </a:r>
            <a:r>
              <a:rPr dirty="0" sz="2800">
                <a:latin typeface="微软雅黑"/>
                <a:cs typeface="微软雅黑"/>
              </a:rPr>
              <a:t>】设计一个实现</a:t>
            </a:r>
            <a:r>
              <a:rPr dirty="0" sz="2800" spc="-5">
                <a:latin typeface="微软雅黑"/>
                <a:cs typeface="微软雅黑"/>
              </a:rPr>
              <a:t>Runnable</a:t>
            </a:r>
            <a:r>
              <a:rPr dirty="0" sz="2800">
                <a:latin typeface="微软雅黑"/>
                <a:cs typeface="微软雅黑"/>
              </a:rPr>
              <a:t>接口的线程</a:t>
            </a:r>
            <a:r>
              <a:rPr dirty="0" sz="2800" spc="-5">
                <a:latin typeface="微软雅黑"/>
                <a:cs typeface="微软雅黑"/>
              </a:rPr>
              <a:t>类</a:t>
            </a:r>
            <a:endParaRPr sz="2800">
              <a:latin typeface="微软雅黑"/>
              <a:cs typeface="微软雅黑"/>
            </a:endParaRPr>
          </a:p>
          <a:p>
            <a:pPr marL="12700" marR="5080">
              <a:lnSpc>
                <a:spcPts val="3020"/>
              </a:lnSpc>
              <a:spcBef>
                <a:spcPts val="215"/>
              </a:spcBef>
            </a:pPr>
            <a:r>
              <a:rPr dirty="0" sz="2800">
                <a:latin typeface="微软雅黑"/>
                <a:cs typeface="微软雅黑"/>
              </a:rPr>
              <a:t>，输出</a:t>
            </a:r>
            <a:r>
              <a:rPr dirty="0" sz="2800" spc="-5">
                <a:latin typeface="微软雅黑"/>
                <a:cs typeface="微软雅黑"/>
              </a:rPr>
              <a:t>1-5</a:t>
            </a:r>
            <a:r>
              <a:rPr dirty="0" sz="2800">
                <a:latin typeface="微软雅黑"/>
                <a:cs typeface="微软雅黑"/>
              </a:rPr>
              <a:t>间的数字。其中，计数器变量</a:t>
            </a:r>
            <a:r>
              <a:rPr dirty="0" sz="2800" spc="-5">
                <a:latin typeface="微软雅黑"/>
                <a:cs typeface="微软雅黑"/>
              </a:rPr>
              <a:t>i</a:t>
            </a:r>
            <a:r>
              <a:rPr dirty="0" sz="2800">
                <a:latin typeface="微软雅黑"/>
                <a:cs typeface="微软雅黑"/>
              </a:rPr>
              <a:t>作为属</a:t>
            </a:r>
            <a:r>
              <a:rPr dirty="0" sz="2800" spc="-5">
                <a:latin typeface="微软雅黑"/>
                <a:cs typeface="微软雅黑"/>
              </a:rPr>
              <a:t>性 </a:t>
            </a:r>
            <a:r>
              <a:rPr dirty="0" sz="2800">
                <a:latin typeface="微软雅黑"/>
                <a:cs typeface="微软雅黑"/>
              </a:rPr>
              <a:t>存在</a:t>
            </a:r>
            <a:r>
              <a:rPr dirty="0" sz="2800" spc="-5">
                <a:latin typeface="微软雅黑"/>
                <a:cs typeface="微软雅黑"/>
              </a:rPr>
              <a:t>。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3279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.3	同步代码块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160014"/>
            <a:ext cx="5511800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Test</a:t>
            </a:r>
            <a:r>
              <a:rPr dirty="0" sz="1800" spc="-15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27100" marR="5080" indent="-45720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800" b="1">
                <a:latin typeface="Consolas"/>
                <a:cs typeface="Consolas"/>
              </a:rPr>
              <a:t>main(String[]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800" b="1">
                <a:latin typeface="Consolas"/>
                <a:cs typeface="Consolas"/>
              </a:rPr>
              <a:t>)</a:t>
            </a:r>
            <a:r>
              <a:rPr dirty="0" sz="1800" spc="-100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  </a:t>
            </a:r>
            <a:r>
              <a:rPr dirty="0" sz="1800">
                <a:latin typeface="Consolas"/>
                <a:cs typeface="Consolas"/>
              </a:rPr>
              <a:t>Runnable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target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MyRunnable();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,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"A"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,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"B"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</a:t>
            </a:r>
            <a:r>
              <a:rPr dirty="0" sz="1800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</a:t>
            </a:r>
            <a:r>
              <a:rPr dirty="0" sz="1800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40052" y="2101123"/>
            <a:ext cx="6943634" cy="2838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66189" y="2430906"/>
            <a:ext cx="6655434" cy="2372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86765" marR="4939665" indent="-317500">
              <a:lnSpc>
                <a:spcPct val="110000"/>
              </a:lnSpc>
              <a:spcBef>
                <a:spcPts val="100"/>
              </a:spcBef>
            </a:pPr>
            <a:r>
              <a:rPr dirty="0" sz="2000" spc="-5">
                <a:latin typeface="Book Antiqua"/>
                <a:cs typeface="Book Antiqua"/>
              </a:rPr>
              <a:t>while(i&lt;5)</a:t>
            </a:r>
            <a:r>
              <a:rPr dirty="0" sz="2000">
                <a:latin typeface="Book Antiqua"/>
                <a:cs typeface="Book Antiqua"/>
              </a:rPr>
              <a:t>{  </a:t>
            </a:r>
            <a:r>
              <a:rPr dirty="0" sz="2000" spc="-5">
                <a:latin typeface="Book Antiqua"/>
                <a:cs typeface="Book Antiqua"/>
              </a:rPr>
              <a:t>i++;</a:t>
            </a:r>
            <a:endParaRPr sz="2000">
              <a:latin typeface="Book Antiqua"/>
              <a:cs typeface="Book Antiqua"/>
            </a:endParaRPr>
          </a:p>
          <a:p>
            <a:pPr marL="786765" marR="5080">
              <a:lnSpc>
                <a:spcPct val="110000"/>
              </a:lnSpc>
            </a:pPr>
            <a:r>
              <a:rPr dirty="0" sz="2000" spc="-5">
                <a:latin typeface="Book Antiqua"/>
                <a:cs typeface="Book Antiqua"/>
              </a:rPr>
              <a:t>for (int </a:t>
            </a:r>
            <a:r>
              <a:rPr dirty="0" sz="2000">
                <a:latin typeface="Book Antiqua"/>
                <a:cs typeface="Book Antiqua"/>
              </a:rPr>
              <a:t>j = </a:t>
            </a:r>
            <a:r>
              <a:rPr dirty="0" sz="2000" spc="-5">
                <a:latin typeface="Book Antiqua"/>
                <a:cs typeface="Book Antiqua"/>
              </a:rPr>
              <a:t>0; </a:t>
            </a:r>
            <a:r>
              <a:rPr dirty="0" sz="2000">
                <a:latin typeface="Book Antiqua"/>
                <a:cs typeface="Book Antiqua"/>
              </a:rPr>
              <a:t>j &lt; </a:t>
            </a:r>
            <a:r>
              <a:rPr dirty="0" sz="2000" spc="-5">
                <a:latin typeface="Book Antiqua"/>
                <a:cs typeface="Book Antiqua"/>
              </a:rPr>
              <a:t>20000000; j++);  System.</a:t>
            </a:r>
            <a:r>
              <a:rPr dirty="0" sz="2000" spc="-5" i="1">
                <a:latin typeface="Book Antiqua"/>
                <a:cs typeface="Book Antiqua"/>
              </a:rPr>
              <a:t>out</a:t>
            </a:r>
            <a:r>
              <a:rPr dirty="0" sz="2000" spc="-5">
                <a:latin typeface="Book Antiqua"/>
                <a:cs typeface="Book Antiqua"/>
              </a:rPr>
              <a:t>.print(Thread.</a:t>
            </a:r>
            <a:r>
              <a:rPr dirty="0" sz="2000" spc="-5" i="1">
                <a:latin typeface="Book Antiqua"/>
                <a:cs typeface="Book Antiqua"/>
              </a:rPr>
              <a:t>currentThread</a:t>
            </a:r>
            <a:r>
              <a:rPr dirty="0" sz="2000" spc="-5">
                <a:latin typeface="Book Antiqua"/>
                <a:cs typeface="Book Antiqua"/>
              </a:rPr>
              <a:t>().getName());  System.</a:t>
            </a:r>
            <a:r>
              <a:rPr dirty="0" sz="2000" spc="-5" i="1">
                <a:latin typeface="Book Antiqua"/>
                <a:cs typeface="Book Antiqua"/>
              </a:rPr>
              <a:t>out</a:t>
            </a:r>
            <a:r>
              <a:rPr dirty="0" sz="2000" spc="-5">
                <a:latin typeface="Book Antiqua"/>
                <a:cs typeface="Book Antiqua"/>
              </a:rPr>
              <a:t>.println("i=" </a:t>
            </a:r>
            <a:r>
              <a:rPr dirty="0" sz="2000">
                <a:latin typeface="Book Antiqua"/>
                <a:cs typeface="Book Antiqua"/>
              </a:rPr>
              <a:t>+</a:t>
            </a:r>
            <a:r>
              <a:rPr dirty="0" sz="2000" spc="-10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i);</a:t>
            </a:r>
            <a:endParaRPr sz="2000">
              <a:latin typeface="Book Antiqua"/>
              <a:cs typeface="Book Antiqua"/>
            </a:endParaRPr>
          </a:p>
          <a:p>
            <a:pPr marL="469265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87450" y="2492375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87450" y="2852737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7450" y="3141662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7450" y="3500437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7450" y="3860800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87450" y="4221162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87450" y="4508500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 h="0">
                <a:moveTo>
                  <a:pt x="0" y="0"/>
                </a:moveTo>
                <a:lnTo>
                  <a:pt x="683895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553095" y="1700212"/>
            <a:ext cx="76200" cy="1800225"/>
          </a:xfrm>
          <a:custGeom>
            <a:avLst/>
            <a:gdLst/>
            <a:ahLst/>
            <a:cxnLst/>
            <a:rect l="l" t="t" r="r" b="b"/>
            <a:pathLst>
              <a:path w="76200" h="1800225">
                <a:moveTo>
                  <a:pt x="44450" y="1743075"/>
                </a:moveTo>
                <a:lnTo>
                  <a:pt x="31750" y="1743075"/>
                </a:lnTo>
                <a:lnTo>
                  <a:pt x="31750" y="0"/>
                </a:lnTo>
                <a:lnTo>
                  <a:pt x="44450" y="0"/>
                </a:lnTo>
                <a:lnTo>
                  <a:pt x="44450" y="1743075"/>
                </a:lnTo>
                <a:close/>
              </a:path>
              <a:path w="76200" h="1800225">
                <a:moveTo>
                  <a:pt x="38100" y="1800225"/>
                </a:moveTo>
                <a:lnTo>
                  <a:pt x="0" y="1724025"/>
                </a:lnTo>
                <a:lnTo>
                  <a:pt x="31750" y="1724025"/>
                </a:lnTo>
                <a:lnTo>
                  <a:pt x="31750" y="1743075"/>
                </a:lnTo>
                <a:lnTo>
                  <a:pt x="66675" y="1743075"/>
                </a:lnTo>
                <a:lnTo>
                  <a:pt x="38100" y="1800225"/>
                </a:lnTo>
                <a:close/>
              </a:path>
              <a:path w="76200" h="1800225">
                <a:moveTo>
                  <a:pt x="66675" y="1743075"/>
                </a:moveTo>
                <a:lnTo>
                  <a:pt x="44450" y="1743075"/>
                </a:lnTo>
                <a:lnTo>
                  <a:pt x="44450" y="1724025"/>
                </a:lnTo>
                <a:lnTo>
                  <a:pt x="76200" y="1724025"/>
                </a:lnTo>
                <a:lnTo>
                  <a:pt x="66675" y="1743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54405" y="1623377"/>
            <a:ext cx="2635885" cy="83311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A</a:t>
            </a:r>
            <a:endParaRPr sz="2000">
              <a:latin typeface="Book Antiqua"/>
              <a:cs typeface="Book Antiqua"/>
            </a:endParaRPr>
          </a:p>
          <a:p>
            <a:pPr marL="624205">
              <a:lnSpc>
                <a:spcPct val="100000"/>
              </a:lnSpc>
              <a:spcBef>
                <a:spcPts val="1550"/>
              </a:spcBef>
            </a:pPr>
            <a:r>
              <a:rPr dirty="0" sz="2000" spc="-5">
                <a:latin typeface="Book Antiqua"/>
                <a:cs typeface="Book Antiqua"/>
              </a:rPr>
              <a:t>public void</a:t>
            </a:r>
            <a:r>
              <a:rPr dirty="0" sz="2000" spc="-50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run(){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7208" y="5150840"/>
            <a:ext cx="2058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①i=</a:t>
            </a:r>
            <a:r>
              <a:rPr dirty="0" sz="2000">
                <a:latin typeface="宋体"/>
                <a:cs typeface="宋体"/>
              </a:rPr>
              <a:t>1</a:t>
            </a:r>
            <a:endParaRPr sz="20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  时间片到被换</a:t>
            </a:r>
            <a:r>
              <a:rPr dirty="0" sz="2000" spc="5">
                <a:latin typeface="宋体"/>
                <a:cs typeface="宋体"/>
              </a:rPr>
              <a:t>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69098" y="1700212"/>
            <a:ext cx="76200" cy="2449830"/>
          </a:xfrm>
          <a:custGeom>
            <a:avLst/>
            <a:gdLst/>
            <a:ahLst/>
            <a:cxnLst/>
            <a:rect l="l" t="t" r="r" b="b"/>
            <a:pathLst>
              <a:path w="76200" h="2449829">
                <a:moveTo>
                  <a:pt x="44450" y="2392362"/>
                </a:moveTo>
                <a:lnTo>
                  <a:pt x="31750" y="2392362"/>
                </a:lnTo>
                <a:lnTo>
                  <a:pt x="31750" y="0"/>
                </a:lnTo>
                <a:lnTo>
                  <a:pt x="44450" y="0"/>
                </a:lnTo>
                <a:lnTo>
                  <a:pt x="44450" y="2392362"/>
                </a:lnTo>
                <a:close/>
              </a:path>
              <a:path w="76200" h="2449829">
                <a:moveTo>
                  <a:pt x="38100" y="2449512"/>
                </a:moveTo>
                <a:lnTo>
                  <a:pt x="0" y="2373312"/>
                </a:lnTo>
                <a:lnTo>
                  <a:pt x="31750" y="2373312"/>
                </a:lnTo>
                <a:lnTo>
                  <a:pt x="31750" y="2392362"/>
                </a:lnTo>
                <a:lnTo>
                  <a:pt x="66675" y="2392362"/>
                </a:lnTo>
                <a:lnTo>
                  <a:pt x="38100" y="2449512"/>
                </a:lnTo>
                <a:close/>
              </a:path>
              <a:path w="76200" h="2449829">
                <a:moveTo>
                  <a:pt x="66675" y="2392362"/>
                </a:moveTo>
                <a:lnTo>
                  <a:pt x="44450" y="2392362"/>
                </a:lnTo>
                <a:lnTo>
                  <a:pt x="44450" y="2373312"/>
                </a:lnTo>
                <a:lnTo>
                  <a:pt x="76200" y="2373312"/>
                </a:lnTo>
                <a:lnTo>
                  <a:pt x="66675" y="2392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459827" y="1623377"/>
            <a:ext cx="6889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B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82993" y="4999926"/>
            <a:ext cx="1804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②</a:t>
            </a:r>
            <a:r>
              <a:rPr dirty="0" sz="2000" spc="-2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被换</a:t>
            </a:r>
            <a:r>
              <a:rPr dirty="0" sz="2000" spc="5">
                <a:latin typeface="宋体"/>
                <a:cs typeface="宋体"/>
              </a:rPr>
              <a:t>上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   </a:t>
            </a:r>
            <a:r>
              <a:rPr dirty="0" sz="2000" spc="-5">
                <a:latin typeface="宋体"/>
                <a:cs typeface="宋体"/>
              </a:rPr>
              <a:t>i=2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   </a:t>
            </a:r>
            <a:r>
              <a:rPr dirty="0" sz="2000">
                <a:latin typeface="宋体"/>
                <a:cs typeface="宋体"/>
              </a:rPr>
              <a:t>输出</a:t>
            </a:r>
            <a:r>
              <a:rPr dirty="0" sz="2000" spc="-5">
                <a:latin typeface="宋体"/>
                <a:cs typeface="宋体"/>
              </a:rPr>
              <a:t>:</a:t>
            </a:r>
            <a:r>
              <a:rPr dirty="0" sz="2000" spc="-45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B</a:t>
            </a:r>
            <a:r>
              <a:rPr dirty="0" sz="2000" spc="-40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i=2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54162" y="156362"/>
            <a:ext cx="125882" cy="3765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40217" y="149377"/>
            <a:ext cx="134619" cy="314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76285" y="125247"/>
            <a:ext cx="1191729" cy="4076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10242" y="149377"/>
            <a:ext cx="134619" cy="3143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89007" y="240817"/>
            <a:ext cx="72389" cy="2279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853497" y="140487"/>
            <a:ext cx="74295" cy="32321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000817" y="149377"/>
            <a:ext cx="430529" cy="3143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516831" y="122707"/>
            <a:ext cx="2834081" cy="39687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23339" y="566572"/>
            <a:ext cx="574357" cy="38925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87196" y="2133600"/>
            <a:ext cx="6986016" cy="2735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83639" y="2129789"/>
            <a:ext cx="6992620" cy="2743200"/>
          </a:xfrm>
          <a:custGeom>
            <a:avLst/>
            <a:gdLst/>
            <a:ahLst/>
            <a:cxnLst/>
            <a:rect l="l" t="t" r="r" b="b"/>
            <a:pathLst>
              <a:path w="6992620" h="2743200">
                <a:moveTo>
                  <a:pt x="6992619" y="2742882"/>
                </a:moveTo>
                <a:lnTo>
                  <a:pt x="0" y="2742882"/>
                </a:lnTo>
                <a:lnTo>
                  <a:pt x="0" y="0"/>
                </a:lnTo>
                <a:lnTo>
                  <a:pt x="6992619" y="0"/>
                </a:lnTo>
                <a:lnTo>
                  <a:pt x="6992619" y="3810"/>
                </a:lnTo>
                <a:lnTo>
                  <a:pt x="7619" y="3810"/>
                </a:lnTo>
                <a:lnTo>
                  <a:pt x="3809" y="7620"/>
                </a:lnTo>
                <a:lnTo>
                  <a:pt x="7619" y="7620"/>
                </a:lnTo>
                <a:lnTo>
                  <a:pt x="7619" y="2735262"/>
                </a:lnTo>
                <a:lnTo>
                  <a:pt x="3809" y="2735262"/>
                </a:lnTo>
                <a:lnTo>
                  <a:pt x="7619" y="2739072"/>
                </a:lnTo>
                <a:lnTo>
                  <a:pt x="6992619" y="2739072"/>
                </a:lnTo>
                <a:lnTo>
                  <a:pt x="6992619" y="2742882"/>
                </a:lnTo>
                <a:close/>
              </a:path>
              <a:path w="6992620" h="2743200">
                <a:moveTo>
                  <a:pt x="7619" y="7620"/>
                </a:moveTo>
                <a:lnTo>
                  <a:pt x="3809" y="7620"/>
                </a:lnTo>
                <a:lnTo>
                  <a:pt x="7619" y="3810"/>
                </a:lnTo>
                <a:lnTo>
                  <a:pt x="7619" y="7620"/>
                </a:lnTo>
                <a:close/>
              </a:path>
              <a:path w="6992620" h="2743200">
                <a:moveTo>
                  <a:pt x="6985000" y="7620"/>
                </a:moveTo>
                <a:lnTo>
                  <a:pt x="7619" y="7620"/>
                </a:lnTo>
                <a:lnTo>
                  <a:pt x="7619" y="3810"/>
                </a:lnTo>
                <a:lnTo>
                  <a:pt x="6985000" y="3810"/>
                </a:lnTo>
                <a:lnTo>
                  <a:pt x="6985000" y="7620"/>
                </a:lnTo>
                <a:close/>
              </a:path>
              <a:path w="6992620" h="2743200">
                <a:moveTo>
                  <a:pt x="6985000" y="2739072"/>
                </a:moveTo>
                <a:lnTo>
                  <a:pt x="6985000" y="3810"/>
                </a:lnTo>
                <a:lnTo>
                  <a:pt x="6988809" y="7620"/>
                </a:lnTo>
                <a:lnTo>
                  <a:pt x="6992619" y="7620"/>
                </a:lnTo>
                <a:lnTo>
                  <a:pt x="6992619" y="2735262"/>
                </a:lnTo>
                <a:lnTo>
                  <a:pt x="6988809" y="2735262"/>
                </a:lnTo>
                <a:lnTo>
                  <a:pt x="6985000" y="2739072"/>
                </a:lnTo>
                <a:close/>
              </a:path>
              <a:path w="6992620" h="2743200">
                <a:moveTo>
                  <a:pt x="6992619" y="7620"/>
                </a:moveTo>
                <a:lnTo>
                  <a:pt x="6988809" y="7620"/>
                </a:lnTo>
                <a:lnTo>
                  <a:pt x="6985000" y="3810"/>
                </a:lnTo>
                <a:lnTo>
                  <a:pt x="6992619" y="3810"/>
                </a:lnTo>
                <a:lnTo>
                  <a:pt x="6992619" y="7620"/>
                </a:lnTo>
                <a:close/>
              </a:path>
              <a:path w="6992620" h="2743200">
                <a:moveTo>
                  <a:pt x="7619" y="2739072"/>
                </a:moveTo>
                <a:lnTo>
                  <a:pt x="3809" y="2735262"/>
                </a:lnTo>
                <a:lnTo>
                  <a:pt x="7619" y="2735262"/>
                </a:lnTo>
                <a:lnTo>
                  <a:pt x="7619" y="2739072"/>
                </a:lnTo>
                <a:close/>
              </a:path>
              <a:path w="6992620" h="2743200">
                <a:moveTo>
                  <a:pt x="6985000" y="2739072"/>
                </a:moveTo>
                <a:lnTo>
                  <a:pt x="7619" y="2739072"/>
                </a:lnTo>
                <a:lnTo>
                  <a:pt x="7619" y="2735262"/>
                </a:lnTo>
                <a:lnTo>
                  <a:pt x="6985000" y="2735262"/>
                </a:lnTo>
                <a:lnTo>
                  <a:pt x="6985000" y="2739072"/>
                </a:lnTo>
                <a:close/>
              </a:path>
              <a:path w="6992620" h="2743200">
                <a:moveTo>
                  <a:pt x="6992619" y="2739072"/>
                </a:moveTo>
                <a:lnTo>
                  <a:pt x="6985000" y="2739072"/>
                </a:lnTo>
                <a:lnTo>
                  <a:pt x="6988809" y="2735262"/>
                </a:lnTo>
                <a:lnTo>
                  <a:pt x="6992619" y="2735262"/>
                </a:lnTo>
                <a:lnTo>
                  <a:pt x="6992619" y="2739072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65555" y="2095626"/>
            <a:ext cx="6831330" cy="2707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4811395" indent="-457200">
              <a:lnSpc>
                <a:spcPct val="110000"/>
              </a:lnSpc>
              <a:spcBef>
                <a:spcPts val="95"/>
              </a:spcBef>
            </a:pPr>
            <a:r>
              <a:rPr dirty="0" sz="2000" spc="-5">
                <a:latin typeface="Book Antiqua"/>
                <a:cs typeface="Book Antiqua"/>
              </a:rPr>
              <a:t>public void</a:t>
            </a:r>
            <a:r>
              <a:rPr dirty="0" sz="2000" spc="-55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run(){  while(i&lt;5){</a:t>
            </a:r>
            <a:endParaRPr sz="2000">
              <a:latin typeface="Book Antiqua"/>
              <a:cs typeface="Book Antiqua"/>
            </a:endParaRPr>
          </a:p>
          <a:p>
            <a:pPr marL="787400">
              <a:lnSpc>
                <a:spcPct val="100000"/>
              </a:lnSpc>
              <a:spcBef>
                <a:spcPts val="244"/>
              </a:spcBef>
            </a:pPr>
            <a:r>
              <a:rPr dirty="0" sz="2000" spc="-5">
                <a:latin typeface="Book Antiqua"/>
                <a:cs typeface="Book Antiqua"/>
              </a:rPr>
              <a:t>i++;</a:t>
            </a:r>
            <a:endParaRPr sz="2000">
              <a:latin typeface="Book Antiqua"/>
              <a:cs typeface="Book Antiqua"/>
            </a:endParaRPr>
          </a:p>
          <a:p>
            <a:pPr marL="787400" marR="5080">
              <a:lnSpc>
                <a:spcPct val="110000"/>
              </a:lnSpc>
            </a:pPr>
            <a:r>
              <a:rPr dirty="0" sz="2000" spc="-5">
                <a:latin typeface="Book Antiqua"/>
                <a:cs typeface="Book Antiqua"/>
              </a:rPr>
              <a:t>for (int </a:t>
            </a:r>
            <a:r>
              <a:rPr dirty="0" sz="2000">
                <a:latin typeface="Book Antiqua"/>
                <a:cs typeface="Book Antiqua"/>
              </a:rPr>
              <a:t>j = </a:t>
            </a:r>
            <a:r>
              <a:rPr dirty="0" sz="2000" spc="-5">
                <a:latin typeface="Book Antiqua"/>
                <a:cs typeface="Book Antiqua"/>
              </a:rPr>
              <a:t>0; </a:t>
            </a:r>
            <a:r>
              <a:rPr dirty="0" sz="2000">
                <a:latin typeface="Book Antiqua"/>
                <a:cs typeface="Book Antiqua"/>
              </a:rPr>
              <a:t>j &lt; </a:t>
            </a:r>
            <a:r>
              <a:rPr dirty="0" sz="2000" spc="-5">
                <a:latin typeface="Book Antiqua"/>
                <a:cs typeface="Book Antiqua"/>
              </a:rPr>
              <a:t>20000000; j++);  System.out.print(Thread.currentThread().getName());  System.out.println("i=" </a:t>
            </a:r>
            <a:r>
              <a:rPr dirty="0" sz="2000">
                <a:latin typeface="Book Antiqua"/>
                <a:cs typeface="Book Antiqua"/>
              </a:rPr>
              <a:t>+</a:t>
            </a:r>
            <a:r>
              <a:rPr dirty="0" sz="2000" spc="-10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i);</a:t>
            </a:r>
            <a:endParaRPr sz="2000">
              <a:latin typeface="Book Antiqua"/>
              <a:cs typeface="Book Antiqua"/>
            </a:endParaRPr>
          </a:p>
          <a:p>
            <a:pPr marL="4699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450" y="2492375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87450" y="2852737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87450" y="3141662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187450" y="3500437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87450" y="3860800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87450" y="4221086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187450" y="4508500"/>
            <a:ext cx="6985000" cy="0"/>
          </a:xfrm>
          <a:custGeom>
            <a:avLst/>
            <a:gdLst/>
            <a:ahLst/>
            <a:cxnLst/>
            <a:rect l="l" t="t" r="r" b="b"/>
            <a:pathLst>
              <a:path w="6985000" h="0">
                <a:moveTo>
                  <a:pt x="0" y="0"/>
                </a:moveTo>
                <a:lnTo>
                  <a:pt x="6985000" y="0"/>
                </a:lnTo>
              </a:path>
            </a:pathLst>
          </a:custGeom>
          <a:ln w="19050">
            <a:solidFill>
              <a:srgbClr val="FFFF00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53095" y="1700212"/>
            <a:ext cx="76200" cy="2449830"/>
          </a:xfrm>
          <a:custGeom>
            <a:avLst/>
            <a:gdLst/>
            <a:ahLst/>
            <a:cxnLst/>
            <a:rect l="l" t="t" r="r" b="b"/>
            <a:pathLst>
              <a:path w="76200" h="2449829">
                <a:moveTo>
                  <a:pt x="44450" y="2392362"/>
                </a:moveTo>
                <a:lnTo>
                  <a:pt x="31750" y="2392362"/>
                </a:lnTo>
                <a:lnTo>
                  <a:pt x="31750" y="0"/>
                </a:lnTo>
                <a:lnTo>
                  <a:pt x="44450" y="0"/>
                </a:lnTo>
                <a:lnTo>
                  <a:pt x="44450" y="2392362"/>
                </a:lnTo>
                <a:close/>
              </a:path>
              <a:path w="76200" h="2449829">
                <a:moveTo>
                  <a:pt x="38100" y="2449512"/>
                </a:moveTo>
                <a:lnTo>
                  <a:pt x="0" y="2373312"/>
                </a:lnTo>
                <a:lnTo>
                  <a:pt x="31750" y="2373312"/>
                </a:lnTo>
                <a:lnTo>
                  <a:pt x="31750" y="2392362"/>
                </a:lnTo>
                <a:lnTo>
                  <a:pt x="66675" y="2392362"/>
                </a:lnTo>
                <a:lnTo>
                  <a:pt x="38100" y="2449512"/>
                </a:lnTo>
                <a:close/>
              </a:path>
              <a:path w="76200" h="2449829">
                <a:moveTo>
                  <a:pt x="66675" y="2392362"/>
                </a:moveTo>
                <a:lnTo>
                  <a:pt x="44450" y="2392362"/>
                </a:lnTo>
                <a:lnTo>
                  <a:pt x="44450" y="2373312"/>
                </a:lnTo>
                <a:lnTo>
                  <a:pt x="76200" y="2373312"/>
                </a:lnTo>
                <a:lnTo>
                  <a:pt x="66675" y="23923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10540" y="1623377"/>
            <a:ext cx="7315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A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611897" y="1700212"/>
            <a:ext cx="76200" cy="1800225"/>
          </a:xfrm>
          <a:custGeom>
            <a:avLst/>
            <a:gdLst/>
            <a:ahLst/>
            <a:cxnLst/>
            <a:rect l="l" t="t" r="r" b="b"/>
            <a:pathLst>
              <a:path w="76200" h="1800225">
                <a:moveTo>
                  <a:pt x="44450" y="1743075"/>
                </a:moveTo>
                <a:lnTo>
                  <a:pt x="31750" y="1743075"/>
                </a:lnTo>
                <a:lnTo>
                  <a:pt x="31750" y="0"/>
                </a:lnTo>
                <a:lnTo>
                  <a:pt x="44450" y="0"/>
                </a:lnTo>
                <a:lnTo>
                  <a:pt x="44450" y="1743075"/>
                </a:lnTo>
                <a:close/>
              </a:path>
              <a:path w="76200" h="1800225">
                <a:moveTo>
                  <a:pt x="38100" y="1800225"/>
                </a:moveTo>
                <a:lnTo>
                  <a:pt x="0" y="1724025"/>
                </a:lnTo>
                <a:lnTo>
                  <a:pt x="31750" y="1724025"/>
                </a:lnTo>
                <a:lnTo>
                  <a:pt x="31750" y="1743075"/>
                </a:lnTo>
                <a:lnTo>
                  <a:pt x="66675" y="1743075"/>
                </a:lnTo>
                <a:lnTo>
                  <a:pt x="38100" y="1800225"/>
                </a:lnTo>
                <a:close/>
              </a:path>
              <a:path w="76200" h="1800225">
                <a:moveTo>
                  <a:pt x="66675" y="1743075"/>
                </a:moveTo>
                <a:lnTo>
                  <a:pt x="44450" y="1743075"/>
                </a:lnTo>
                <a:lnTo>
                  <a:pt x="44450" y="1724025"/>
                </a:lnTo>
                <a:lnTo>
                  <a:pt x="76200" y="1724025"/>
                </a:lnTo>
                <a:lnTo>
                  <a:pt x="66675" y="17430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55204" y="1623377"/>
            <a:ext cx="6889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B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5050535"/>
            <a:ext cx="2303145" cy="1321435"/>
          </a:xfrm>
          <a:custGeom>
            <a:avLst/>
            <a:gdLst/>
            <a:ahLst/>
            <a:cxnLst/>
            <a:rect l="l" t="t" r="r" b="b"/>
            <a:pathLst>
              <a:path w="2303145" h="1321435">
                <a:moveTo>
                  <a:pt x="0" y="1321308"/>
                </a:moveTo>
                <a:lnTo>
                  <a:pt x="0" y="0"/>
                </a:lnTo>
                <a:lnTo>
                  <a:pt x="2302764" y="0"/>
                </a:lnTo>
                <a:lnTo>
                  <a:pt x="2302764" y="1321308"/>
                </a:lnTo>
                <a:lnTo>
                  <a:pt x="0" y="13213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054544" y="5080279"/>
            <a:ext cx="1550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②</a:t>
            </a:r>
            <a:r>
              <a:rPr dirty="0" sz="2000" spc="-30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被换上  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9544" y="5385079"/>
            <a:ext cx="1804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   i=</a:t>
            </a:r>
            <a:r>
              <a:rPr dirty="0" sz="2000">
                <a:latin typeface="宋体"/>
                <a:cs typeface="宋体"/>
              </a:rPr>
              <a:t>5</a:t>
            </a:r>
            <a:endParaRPr sz="20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   </a:t>
            </a:r>
            <a:r>
              <a:rPr dirty="0" sz="2000">
                <a:latin typeface="宋体"/>
                <a:cs typeface="宋体"/>
              </a:rPr>
              <a:t>输出</a:t>
            </a:r>
            <a:r>
              <a:rPr dirty="0" sz="2000" spc="-5">
                <a:latin typeface="宋体"/>
                <a:cs typeface="宋体"/>
              </a:rPr>
              <a:t>：A</a:t>
            </a:r>
            <a:r>
              <a:rPr dirty="0" sz="2000" spc="-85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i=5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44" y="5994679"/>
            <a:ext cx="2185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   时间片到被换</a:t>
            </a:r>
            <a:r>
              <a:rPr dirty="0" sz="2000" spc="5">
                <a:latin typeface="宋体"/>
                <a:cs typeface="宋体"/>
              </a:rPr>
              <a:t>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7611897" y="3552113"/>
            <a:ext cx="76200" cy="598805"/>
          </a:xfrm>
          <a:custGeom>
            <a:avLst/>
            <a:gdLst/>
            <a:ahLst/>
            <a:cxnLst/>
            <a:rect l="l" t="t" r="r" b="b"/>
            <a:pathLst>
              <a:path w="76200" h="598804">
                <a:moveTo>
                  <a:pt x="44450" y="541032"/>
                </a:moveTo>
                <a:lnTo>
                  <a:pt x="31750" y="541032"/>
                </a:lnTo>
                <a:lnTo>
                  <a:pt x="31750" y="0"/>
                </a:lnTo>
                <a:lnTo>
                  <a:pt x="44450" y="0"/>
                </a:lnTo>
                <a:lnTo>
                  <a:pt x="44450" y="541032"/>
                </a:lnTo>
                <a:close/>
              </a:path>
              <a:path w="76200" h="598804">
                <a:moveTo>
                  <a:pt x="38100" y="598182"/>
                </a:moveTo>
                <a:lnTo>
                  <a:pt x="0" y="521982"/>
                </a:lnTo>
                <a:lnTo>
                  <a:pt x="31750" y="521982"/>
                </a:lnTo>
                <a:lnTo>
                  <a:pt x="31750" y="541032"/>
                </a:lnTo>
                <a:lnTo>
                  <a:pt x="66675" y="541032"/>
                </a:lnTo>
                <a:lnTo>
                  <a:pt x="38100" y="598182"/>
                </a:lnTo>
                <a:close/>
              </a:path>
              <a:path w="76200" h="598804">
                <a:moveTo>
                  <a:pt x="66675" y="541032"/>
                </a:moveTo>
                <a:lnTo>
                  <a:pt x="44450" y="541032"/>
                </a:lnTo>
                <a:lnTo>
                  <a:pt x="44450" y="521982"/>
                </a:lnTo>
                <a:lnTo>
                  <a:pt x="76200" y="521982"/>
                </a:lnTo>
                <a:lnTo>
                  <a:pt x="66675" y="5410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667080" y="5028158"/>
            <a:ext cx="2185035" cy="10902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①</a:t>
            </a:r>
            <a:r>
              <a:rPr dirty="0" sz="2000" spc="-10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i=4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</a:pPr>
            <a:r>
              <a:rPr dirty="0" sz="2000" spc="-5">
                <a:latin typeface="宋体"/>
                <a:cs typeface="宋体"/>
              </a:rPr>
              <a:t>   时间片到被换</a:t>
            </a:r>
            <a:r>
              <a:rPr dirty="0" sz="2000" spc="5">
                <a:latin typeface="宋体"/>
                <a:cs typeface="宋体"/>
              </a:rPr>
              <a:t>下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>
                <a:latin typeface="宋体"/>
                <a:cs typeface="宋体"/>
              </a:rPr>
              <a:t>③</a:t>
            </a:r>
            <a:r>
              <a:rPr dirty="0" sz="2000" spc="-1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被换上 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22" name="object 22"/>
          <p:cNvSpPr txBox="1"/>
          <p:nvPr/>
        </p:nvSpPr>
        <p:spPr>
          <a:xfrm>
            <a:off x="6667080" y="6091948"/>
            <a:ext cx="180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   </a:t>
            </a:r>
            <a:r>
              <a:rPr dirty="0" sz="2000">
                <a:latin typeface="宋体"/>
                <a:cs typeface="宋体"/>
              </a:rPr>
              <a:t>输出</a:t>
            </a:r>
            <a:r>
              <a:rPr dirty="0" sz="2000" spc="-5">
                <a:latin typeface="宋体"/>
                <a:cs typeface="宋体"/>
              </a:rPr>
              <a:t>：B</a:t>
            </a:r>
            <a:r>
              <a:rPr dirty="0" sz="2000" spc="-75">
                <a:latin typeface="宋体"/>
                <a:cs typeface="宋体"/>
              </a:rPr>
              <a:t> </a:t>
            </a:r>
            <a:r>
              <a:rPr dirty="0" sz="2000" spc="-5">
                <a:latin typeface="宋体"/>
                <a:cs typeface="宋体"/>
              </a:rPr>
              <a:t>i=5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60347" y="332231"/>
            <a:ext cx="6409944" cy="2913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260347" y="3572255"/>
            <a:ext cx="6726935" cy="27355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9160" y="1700783"/>
            <a:ext cx="7056120" cy="34564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95781" y="1697189"/>
            <a:ext cx="7064375" cy="3463925"/>
          </a:xfrm>
          <a:custGeom>
            <a:avLst/>
            <a:gdLst/>
            <a:ahLst/>
            <a:cxnLst/>
            <a:rect l="l" t="t" r="r" b="b"/>
            <a:pathLst>
              <a:path w="7064375" h="3463925">
                <a:moveTo>
                  <a:pt x="7063879" y="3463607"/>
                </a:moveTo>
                <a:lnTo>
                  <a:pt x="0" y="3463607"/>
                </a:lnTo>
                <a:lnTo>
                  <a:pt x="0" y="0"/>
                </a:lnTo>
                <a:lnTo>
                  <a:pt x="7063879" y="0"/>
                </a:lnTo>
                <a:lnTo>
                  <a:pt x="7063879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3455987"/>
                </a:lnTo>
                <a:lnTo>
                  <a:pt x="3809" y="3455987"/>
                </a:lnTo>
                <a:lnTo>
                  <a:pt x="7619" y="3459797"/>
                </a:lnTo>
                <a:lnTo>
                  <a:pt x="7063879" y="3459797"/>
                </a:lnTo>
                <a:lnTo>
                  <a:pt x="7063879" y="3463607"/>
                </a:lnTo>
                <a:close/>
              </a:path>
              <a:path w="7064375" h="3463925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7064375" h="3463925">
                <a:moveTo>
                  <a:pt x="7056259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7056259" y="3810"/>
                </a:lnTo>
                <a:lnTo>
                  <a:pt x="7056259" y="7619"/>
                </a:lnTo>
                <a:close/>
              </a:path>
              <a:path w="7064375" h="3463925">
                <a:moveTo>
                  <a:pt x="7056259" y="3459797"/>
                </a:moveTo>
                <a:lnTo>
                  <a:pt x="7056259" y="3810"/>
                </a:lnTo>
                <a:lnTo>
                  <a:pt x="7060069" y="7619"/>
                </a:lnTo>
                <a:lnTo>
                  <a:pt x="7063879" y="7619"/>
                </a:lnTo>
                <a:lnTo>
                  <a:pt x="7063879" y="3455987"/>
                </a:lnTo>
                <a:lnTo>
                  <a:pt x="7060069" y="3455987"/>
                </a:lnTo>
                <a:lnTo>
                  <a:pt x="7056259" y="3459797"/>
                </a:lnTo>
                <a:close/>
              </a:path>
              <a:path w="7064375" h="3463925">
                <a:moveTo>
                  <a:pt x="7063879" y="7619"/>
                </a:moveTo>
                <a:lnTo>
                  <a:pt x="7060069" y="7619"/>
                </a:lnTo>
                <a:lnTo>
                  <a:pt x="7056259" y="3810"/>
                </a:lnTo>
                <a:lnTo>
                  <a:pt x="7063879" y="3810"/>
                </a:lnTo>
                <a:lnTo>
                  <a:pt x="7063879" y="7619"/>
                </a:lnTo>
                <a:close/>
              </a:path>
              <a:path w="7064375" h="3463925">
                <a:moveTo>
                  <a:pt x="7619" y="3459797"/>
                </a:moveTo>
                <a:lnTo>
                  <a:pt x="3809" y="3455987"/>
                </a:lnTo>
                <a:lnTo>
                  <a:pt x="7619" y="3455987"/>
                </a:lnTo>
                <a:lnTo>
                  <a:pt x="7619" y="3459797"/>
                </a:lnTo>
                <a:close/>
              </a:path>
              <a:path w="7064375" h="3463925">
                <a:moveTo>
                  <a:pt x="7056259" y="3459797"/>
                </a:moveTo>
                <a:lnTo>
                  <a:pt x="7619" y="3459797"/>
                </a:lnTo>
                <a:lnTo>
                  <a:pt x="7619" y="3455987"/>
                </a:lnTo>
                <a:lnTo>
                  <a:pt x="7056259" y="3455987"/>
                </a:lnTo>
                <a:lnTo>
                  <a:pt x="7056259" y="3459797"/>
                </a:lnTo>
                <a:close/>
              </a:path>
              <a:path w="7064375" h="3463925">
                <a:moveTo>
                  <a:pt x="7063879" y="3459797"/>
                </a:moveTo>
                <a:lnTo>
                  <a:pt x="7056259" y="3459797"/>
                </a:lnTo>
                <a:lnTo>
                  <a:pt x="7060069" y="3455987"/>
                </a:lnTo>
                <a:lnTo>
                  <a:pt x="7063879" y="3455987"/>
                </a:lnTo>
                <a:lnTo>
                  <a:pt x="7063879" y="345979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90116" y="2467355"/>
            <a:ext cx="6122035" cy="1752600"/>
          </a:xfrm>
          <a:custGeom>
            <a:avLst/>
            <a:gdLst/>
            <a:ahLst/>
            <a:cxnLst/>
            <a:rect l="l" t="t" r="r" b="b"/>
            <a:pathLst>
              <a:path w="6122034" h="1752600">
                <a:moveTo>
                  <a:pt x="0" y="0"/>
                </a:moveTo>
                <a:lnTo>
                  <a:pt x="6121908" y="0"/>
                </a:lnTo>
                <a:lnTo>
                  <a:pt x="6121908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219246" y="2481732"/>
            <a:ext cx="381000" cy="321945"/>
          </a:xfrm>
          <a:custGeom>
            <a:avLst/>
            <a:gdLst/>
            <a:ahLst/>
            <a:cxnLst/>
            <a:rect l="l" t="t" r="r" b="b"/>
            <a:pathLst>
              <a:path w="381000" h="321944">
                <a:moveTo>
                  <a:pt x="0" y="0"/>
                </a:moveTo>
                <a:lnTo>
                  <a:pt x="381000" y="0"/>
                </a:lnTo>
                <a:lnTo>
                  <a:pt x="381000" y="321944"/>
                </a:lnTo>
                <a:lnTo>
                  <a:pt x="0" y="321944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20558" y="343687"/>
            <a:ext cx="1997468" cy="3962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750308" y="551687"/>
            <a:ext cx="3241547" cy="922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47196" y="547839"/>
            <a:ext cx="3248025" cy="929640"/>
          </a:xfrm>
          <a:custGeom>
            <a:avLst/>
            <a:gdLst/>
            <a:ahLst/>
            <a:cxnLst/>
            <a:rect l="l" t="t" r="r" b="b"/>
            <a:pathLst>
              <a:path w="3248025" h="929640">
                <a:moveTo>
                  <a:pt x="3247974" y="929640"/>
                </a:moveTo>
                <a:lnTo>
                  <a:pt x="0" y="929640"/>
                </a:lnTo>
                <a:lnTo>
                  <a:pt x="0" y="0"/>
                </a:lnTo>
                <a:lnTo>
                  <a:pt x="3247974" y="0"/>
                </a:lnTo>
                <a:lnTo>
                  <a:pt x="3247974" y="3809"/>
                </a:lnTo>
                <a:lnTo>
                  <a:pt x="7619" y="3809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922019"/>
                </a:lnTo>
                <a:lnTo>
                  <a:pt x="3810" y="922019"/>
                </a:lnTo>
                <a:lnTo>
                  <a:pt x="7619" y="925830"/>
                </a:lnTo>
                <a:lnTo>
                  <a:pt x="3247974" y="925829"/>
                </a:lnTo>
                <a:lnTo>
                  <a:pt x="3247974" y="929640"/>
                </a:lnTo>
                <a:close/>
              </a:path>
              <a:path w="3248025" h="929640">
                <a:moveTo>
                  <a:pt x="7619" y="7619"/>
                </a:moveTo>
                <a:lnTo>
                  <a:pt x="3810" y="7619"/>
                </a:lnTo>
                <a:lnTo>
                  <a:pt x="7619" y="3809"/>
                </a:lnTo>
                <a:lnTo>
                  <a:pt x="7619" y="7619"/>
                </a:lnTo>
                <a:close/>
              </a:path>
              <a:path w="3248025" h="929640">
                <a:moveTo>
                  <a:pt x="3240354" y="7619"/>
                </a:moveTo>
                <a:lnTo>
                  <a:pt x="7619" y="7619"/>
                </a:lnTo>
                <a:lnTo>
                  <a:pt x="7619" y="3809"/>
                </a:lnTo>
                <a:lnTo>
                  <a:pt x="3240354" y="3809"/>
                </a:lnTo>
                <a:lnTo>
                  <a:pt x="3240354" y="7619"/>
                </a:lnTo>
                <a:close/>
              </a:path>
              <a:path w="3248025" h="929640">
                <a:moveTo>
                  <a:pt x="3240354" y="925830"/>
                </a:moveTo>
                <a:lnTo>
                  <a:pt x="3240354" y="3809"/>
                </a:lnTo>
                <a:lnTo>
                  <a:pt x="3244164" y="7619"/>
                </a:lnTo>
                <a:lnTo>
                  <a:pt x="3247974" y="7619"/>
                </a:lnTo>
                <a:lnTo>
                  <a:pt x="3247974" y="922019"/>
                </a:lnTo>
                <a:lnTo>
                  <a:pt x="3244164" y="922019"/>
                </a:lnTo>
                <a:lnTo>
                  <a:pt x="3240354" y="925830"/>
                </a:lnTo>
                <a:close/>
              </a:path>
              <a:path w="3248025" h="929640">
                <a:moveTo>
                  <a:pt x="3247974" y="7619"/>
                </a:moveTo>
                <a:lnTo>
                  <a:pt x="3244164" y="7619"/>
                </a:lnTo>
                <a:lnTo>
                  <a:pt x="3240354" y="3809"/>
                </a:lnTo>
                <a:lnTo>
                  <a:pt x="3247974" y="3809"/>
                </a:lnTo>
                <a:lnTo>
                  <a:pt x="3247974" y="7619"/>
                </a:lnTo>
                <a:close/>
              </a:path>
              <a:path w="3248025" h="929640">
                <a:moveTo>
                  <a:pt x="7619" y="925830"/>
                </a:moveTo>
                <a:lnTo>
                  <a:pt x="3810" y="922019"/>
                </a:lnTo>
                <a:lnTo>
                  <a:pt x="7619" y="922019"/>
                </a:lnTo>
                <a:lnTo>
                  <a:pt x="7619" y="925830"/>
                </a:lnTo>
                <a:close/>
              </a:path>
              <a:path w="3248025" h="929640">
                <a:moveTo>
                  <a:pt x="3240354" y="925830"/>
                </a:moveTo>
                <a:lnTo>
                  <a:pt x="7619" y="925830"/>
                </a:lnTo>
                <a:lnTo>
                  <a:pt x="7619" y="922019"/>
                </a:lnTo>
                <a:lnTo>
                  <a:pt x="3240354" y="922019"/>
                </a:lnTo>
                <a:lnTo>
                  <a:pt x="3240354" y="925830"/>
                </a:lnTo>
                <a:close/>
              </a:path>
              <a:path w="3248025" h="929640">
                <a:moveTo>
                  <a:pt x="3247974" y="925829"/>
                </a:moveTo>
                <a:lnTo>
                  <a:pt x="3240354" y="925830"/>
                </a:lnTo>
                <a:lnTo>
                  <a:pt x="3244164" y="922019"/>
                </a:lnTo>
                <a:lnTo>
                  <a:pt x="3247974" y="922019"/>
                </a:lnTo>
                <a:lnTo>
                  <a:pt x="3247974" y="92582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synchonized</a:t>
            </a:r>
            <a:r>
              <a:rPr dirty="0" spc="-25"/>
              <a:t> </a:t>
            </a:r>
            <a:r>
              <a:rPr dirty="0" spc="-5"/>
              <a:t>(</a:t>
            </a:r>
            <a:r>
              <a:rPr dirty="0"/>
              <a:t>对象)</a:t>
            </a:r>
            <a:r>
              <a:rPr dirty="0" spc="-25"/>
              <a:t> </a:t>
            </a:r>
            <a:r>
              <a:rPr dirty="0"/>
              <a:t>{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10" name="object 10"/>
          <p:cNvSpPr txBox="1"/>
          <p:nvPr/>
        </p:nvSpPr>
        <p:spPr>
          <a:xfrm>
            <a:off x="899160" y="853909"/>
            <a:ext cx="7056120" cy="4187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215328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algn="ctr" marL="90678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  <a:p>
            <a:pPr marL="548640" marR="4957445" indent="-457200">
              <a:lnSpc>
                <a:spcPct val="110000"/>
              </a:lnSpc>
              <a:spcBef>
                <a:spcPts val="2050"/>
              </a:spcBef>
            </a:pPr>
            <a:r>
              <a:rPr dirty="0" sz="2000" spc="-5">
                <a:latin typeface="Book Antiqua"/>
                <a:cs typeface="Book Antiqua"/>
              </a:rPr>
              <a:t>public void</a:t>
            </a:r>
            <a:r>
              <a:rPr dirty="0" sz="2000" spc="-55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run(){  while(i&lt;5){</a:t>
            </a:r>
            <a:endParaRPr sz="2000">
              <a:latin typeface="Book Antiqua"/>
              <a:cs typeface="Book Antiqua"/>
            </a:endParaRPr>
          </a:p>
          <a:p>
            <a:pPr marL="1167765" marR="3346450" indent="-285750">
              <a:lnSpc>
                <a:spcPts val="2100"/>
              </a:lnSpc>
              <a:spcBef>
                <a:spcPts val="1370"/>
              </a:spcBef>
            </a:pPr>
            <a:r>
              <a:rPr dirty="0" sz="1800" spc="-5">
                <a:latin typeface="Book Antiqua"/>
                <a:cs typeface="Book Antiqua"/>
              </a:rPr>
              <a:t>synchronized(this){</a:t>
            </a:r>
            <a:r>
              <a:rPr dirty="0" sz="1800" spc="425">
                <a:latin typeface="Book Antiqua"/>
                <a:cs typeface="Book Antiqua"/>
              </a:rPr>
              <a:t> </a:t>
            </a:r>
            <a:r>
              <a:rPr dirty="0" sz="1800" spc="-5">
                <a:latin typeface="Book Antiqua"/>
                <a:cs typeface="Book Antiqua"/>
              </a:rPr>
              <a:t>//</a:t>
            </a:r>
            <a:r>
              <a:rPr dirty="0" sz="1800">
                <a:latin typeface="微软雅黑"/>
                <a:cs typeface="微软雅黑"/>
              </a:rPr>
              <a:t>加锁 </a:t>
            </a:r>
            <a:r>
              <a:rPr dirty="0" sz="1800" spc="-5">
                <a:solidFill>
                  <a:srgbClr val="A40020"/>
                </a:solidFill>
                <a:latin typeface="Book Antiqua"/>
                <a:cs typeface="Book Antiqua"/>
              </a:rPr>
              <a:t>i++;</a:t>
            </a:r>
            <a:endParaRPr sz="1800">
              <a:latin typeface="Book Antiqua"/>
              <a:cs typeface="Book Antiqua"/>
            </a:endParaRPr>
          </a:p>
          <a:p>
            <a:pPr marL="1167765" marR="452120">
              <a:lnSpc>
                <a:spcPts val="2160"/>
              </a:lnSpc>
              <a:spcBef>
                <a:spcPts val="10"/>
              </a:spcBef>
            </a:pPr>
            <a:r>
              <a:rPr dirty="0" sz="1800" spc="-5">
                <a:solidFill>
                  <a:srgbClr val="A40020"/>
                </a:solidFill>
                <a:latin typeface="Book Antiqua"/>
                <a:cs typeface="Book Antiqua"/>
              </a:rPr>
              <a:t>for(int i=1; i&lt;=10000000;i++);  System.out.print(Thread.currentThread().getName());  System.out.println(" i="+i);</a:t>
            </a:r>
            <a:endParaRPr sz="1800">
              <a:latin typeface="Book Antiqua"/>
              <a:cs typeface="Book Antiqua"/>
            </a:endParaRPr>
          </a:p>
          <a:p>
            <a:pPr marL="882015">
              <a:lnSpc>
                <a:spcPts val="2090"/>
              </a:lnSpc>
            </a:pPr>
            <a:r>
              <a:rPr dirty="0" sz="180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Book Antiqua"/>
              <a:cs typeface="Book Antiqua"/>
            </a:endParaRPr>
          </a:p>
          <a:p>
            <a:pPr marL="548640">
              <a:lnSpc>
                <a:spcPct val="100000"/>
              </a:lnSpc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366556" y="6156959"/>
            <a:ext cx="0" cy="701040"/>
          </a:xfrm>
          <a:custGeom>
            <a:avLst/>
            <a:gdLst/>
            <a:ahLst/>
            <a:cxnLst/>
            <a:rect l="l" t="t" r="r" b="b"/>
            <a:pathLst>
              <a:path w="0" h="701040">
                <a:moveTo>
                  <a:pt x="0" y="0"/>
                </a:moveTo>
                <a:lnTo>
                  <a:pt x="0" y="70104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627376" y="3572255"/>
            <a:ext cx="6144895" cy="2615565"/>
          </a:xfrm>
          <a:prstGeom prst="rect">
            <a:avLst/>
          </a:prstGeom>
          <a:solidFill>
            <a:srgbClr val="CDDFE8"/>
          </a:solidFill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Test</a:t>
            </a:r>
            <a:r>
              <a:rPr dirty="0" sz="1800" spc="-10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005840" marR="558800" indent="-45720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static void </a:t>
            </a:r>
            <a:r>
              <a:rPr dirty="0" sz="1800" b="1">
                <a:latin typeface="Consolas"/>
                <a:cs typeface="Consolas"/>
              </a:rPr>
              <a:t>main(String[]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args</a:t>
            </a:r>
            <a:r>
              <a:rPr dirty="0" sz="1800" b="1">
                <a:latin typeface="Consolas"/>
                <a:cs typeface="Consolas"/>
              </a:rPr>
              <a:t>)</a:t>
            </a:r>
            <a:r>
              <a:rPr dirty="0" sz="1800" spc="-100" b="1"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{  </a:t>
            </a:r>
            <a:r>
              <a:rPr dirty="0" sz="1800">
                <a:latin typeface="Consolas"/>
                <a:cs typeface="Consolas"/>
              </a:rPr>
              <a:t>Runnable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target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MyRunnable();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,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"A"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latin typeface="Consolas"/>
                <a:cs typeface="Consolas"/>
              </a:rPr>
              <a:t>Thread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 </a:t>
            </a:r>
            <a:r>
              <a:rPr dirty="0" sz="1800">
                <a:latin typeface="Consolas"/>
                <a:cs typeface="Consolas"/>
              </a:rPr>
              <a:t>=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new </a:t>
            </a:r>
            <a:r>
              <a:rPr dirty="0" sz="1800" b="1">
                <a:latin typeface="Consolas"/>
                <a:cs typeface="Consolas"/>
              </a:rPr>
              <a:t>Thread(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target</a:t>
            </a:r>
            <a:r>
              <a:rPr dirty="0" sz="1800" b="1">
                <a:latin typeface="Consolas"/>
                <a:cs typeface="Consolas"/>
              </a:rPr>
              <a:t>,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"B"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t1</a:t>
            </a:r>
            <a:r>
              <a:rPr dirty="0" sz="1800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1005840">
              <a:lnSpc>
                <a:spcPct val="100000"/>
              </a:lnSpc>
            </a:pPr>
            <a:r>
              <a:rPr dirty="0" sz="1800">
                <a:solidFill>
                  <a:srgbClr val="6A3D3D"/>
                </a:solidFill>
                <a:latin typeface="Consolas"/>
                <a:cs typeface="Consolas"/>
              </a:rPr>
              <a:t>t2</a:t>
            </a:r>
            <a:r>
              <a:rPr dirty="0" sz="1800">
                <a:latin typeface="Consolas"/>
                <a:cs typeface="Consolas"/>
              </a:rPr>
              <a:t>.start();</a:t>
            </a:r>
            <a:endParaRPr sz="1800">
              <a:latin typeface="Consolas"/>
              <a:cs typeface="Consolas"/>
            </a:endParaRPr>
          </a:p>
          <a:p>
            <a:pPr marL="5486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213760" y="1469936"/>
            <a:ext cx="512445" cy="276860"/>
          </a:xfrm>
          <a:custGeom>
            <a:avLst/>
            <a:gdLst/>
            <a:ahLst/>
            <a:cxnLst/>
            <a:rect l="l" t="t" r="r" b="b"/>
            <a:pathLst>
              <a:path w="512445" h="276860">
                <a:moveTo>
                  <a:pt x="0" y="0"/>
                </a:moveTo>
                <a:lnTo>
                  <a:pt x="512444" y="0"/>
                </a:lnTo>
                <a:lnTo>
                  <a:pt x="512444" y="276860"/>
                </a:lnTo>
                <a:lnTo>
                  <a:pt x="0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04495" y="351701"/>
            <a:ext cx="8769350" cy="3042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MyRunnable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implements</a:t>
            </a:r>
            <a:r>
              <a:rPr dirty="0" sz="1800" spc="-15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Runnable{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ts val="2125"/>
              </a:lnSpc>
              <a:spcBef>
                <a:spcPts val="70"/>
              </a:spcBef>
              <a:tabLst>
                <a:tab pos="2732405" algn="l"/>
                <a:tab pos="8696960" algn="l"/>
              </a:tabLst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priv</a:t>
            </a:r>
            <a:r>
              <a:rPr dirty="0" u="heavy" sz="1800" b="1">
                <a:solidFill>
                  <a:srgbClr val="7E0054"/>
                </a:solidFill>
                <a:uFill>
                  <a:solidFill>
                    <a:srgbClr val="A1A1A1"/>
                  </a:solidFill>
                </a:uFill>
                <a:latin typeface="Consolas"/>
                <a:cs typeface="Consolas"/>
              </a:rPr>
              <a:t>ate int </a:t>
            </a:r>
            <a:r>
              <a:rPr dirty="0" u="heavy" sz="1800" b="1">
                <a:solidFill>
                  <a:srgbClr val="0000C0"/>
                </a:solidFill>
                <a:uFill>
                  <a:solidFill>
                    <a:srgbClr val="A1A1A1"/>
                  </a:solidFill>
                </a:uFill>
                <a:latin typeface="Consolas"/>
                <a:cs typeface="Consolas"/>
              </a:rPr>
              <a:t>i</a:t>
            </a:r>
            <a:r>
              <a:rPr dirty="0" u="heavy" sz="1800" b="1">
                <a:uFill>
                  <a:solidFill>
                    <a:srgbClr val="A1A1A1"/>
                  </a:solidFill>
                </a:uFill>
                <a:latin typeface="Consolas"/>
                <a:cs typeface="Consolas"/>
              </a:rPr>
              <a:t>=0;	</a:t>
            </a:r>
            <a:r>
              <a:rPr dirty="0" u="heavy" sz="1800" b="1">
                <a:solidFill>
                  <a:srgbClr val="3E7E5F"/>
                </a:solidFill>
                <a:uFill>
                  <a:solidFill>
                    <a:srgbClr val="A1A1A1"/>
                  </a:solidFill>
                </a:uFill>
                <a:latin typeface="Consolas"/>
                <a:cs typeface="Consolas"/>
              </a:rPr>
              <a:t>//i</a:t>
            </a:r>
            <a:r>
              <a:rPr dirty="0" u="heavy" sz="1800" b="1">
                <a:solidFill>
                  <a:srgbClr val="3E7E5F"/>
                </a:solidFill>
                <a:uFill>
                  <a:solidFill>
                    <a:srgbClr val="A1A1A1"/>
                  </a:solidFill>
                </a:uFill>
                <a:latin typeface="微软雅黑"/>
                <a:cs typeface="微软雅黑"/>
              </a:rPr>
              <a:t>作为属性	</a:t>
            </a:r>
            <a:endParaRPr sz="1800">
              <a:latin typeface="微软雅黑"/>
              <a:cs typeface="微软雅黑"/>
            </a:endParaRPr>
          </a:p>
          <a:p>
            <a:pPr marL="927100" marR="6029325" indent="-457200">
              <a:lnSpc>
                <a:spcPts val="2160"/>
              </a:lnSpc>
              <a:spcBef>
                <a:spcPts val="35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void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run(){ 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while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&lt;5){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ts val="209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synchronized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this</a:t>
            </a:r>
            <a:r>
              <a:rPr dirty="0" sz="1800" b="1">
                <a:latin typeface="Consolas"/>
                <a:cs typeface="Consolas"/>
              </a:rPr>
              <a:t>){</a:t>
            </a:r>
            <a:endParaRPr sz="1800">
              <a:latin typeface="Consolas"/>
              <a:cs typeface="Consolas"/>
            </a:endParaRPr>
          </a:p>
          <a:p>
            <a:pPr marL="1841500">
              <a:lnSpc>
                <a:spcPct val="100000"/>
              </a:lnSpc>
            </a:pPr>
            <a:r>
              <a:rPr dirty="0" sz="180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>
                <a:latin typeface="Consolas"/>
                <a:cs typeface="Consolas"/>
              </a:rPr>
              <a:t>++;</a:t>
            </a:r>
            <a:endParaRPr sz="1800">
              <a:latin typeface="Consolas"/>
              <a:cs typeface="Consolas"/>
            </a:endParaRPr>
          </a:p>
          <a:p>
            <a:pPr marL="1841500" marR="5080">
              <a:lnSpc>
                <a:spcPct val="10000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 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=0;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&lt;20000000;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++);  </a:t>
            </a: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.print(Thread.currentThread().getName()+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spc="-100" b="1">
                <a:solidFill>
                  <a:srgbClr val="2A00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.println(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"i="</a:t>
            </a:r>
            <a:r>
              <a:rPr dirty="0" sz="1800" b="1">
                <a:latin typeface="Consolas"/>
                <a:cs typeface="Consolas"/>
              </a:rPr>
              <a:t>+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36</a:t>
            </a:fld>
          </a:p>
        </p:txBody>
      </p:sp>
      <p:sp>
        <p:nvSpPr>
          <p:cNvPr id="23" name="object 23"/>
          <p:cNvSpPr txBox="1"/>
          <p:nvPr/>
        </p:nvSpPr>
        <p:spPr>
          <a:xfrm>
            <a:off x="661695" y="3369221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4495" y="3643541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62570" y="863155"/>
            <a:ext cx="7739380" cy="0"/>
          </a:xfrm>
          <a:custGeom>
            <a:avLst/>
            <a:gdLst/>
            <a:ahLst/>
            <a:cxnLst/>
            <a:rect l="l" t="t" r="r" b="b"/>
            <a:pathLst>
              <a:path w="7739380" h="0">
                <a:moveTo>
                  <a:pt x="0" y="0"/>
                </a:moveTo>
                <a:lnTo>
                  <a:pt x="7738960" y="0"/>
                </a:lnTo>
              </a:path>
            </a:pathLst>
          </a:custGeom>
          <a:ln w="28575">
            <a:solidFill>
              <a:srgbClr val="A1A1A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372856" y="6187440"/>
            <a:ext cx="528955" cy="670560"/>
          </a:xfrm>
          <a:custGeom>
            <a:avLst/>
            <a:gdLst/>
            <a:ahLst/>
            <a:cxnLst/>
            <a:rect l="l" t="t" r="r" b="b"/>
            <a:pathLst>
              <a:path w="528954" h="670559">
                <a:moveTo>
                  <a:pt x="0" y="670560"/>
                </a:moveTo>
                <a:lnTo>
                  <a:pt x="528827" y="670560"/>
                </a:lnTo>
                <a:lnTo>
                  <a:pt x="528827" y="0"/>
                </a:lnTo>
                <a:lnTo>
                  <a:pt x="0" y="0"/>
                </a:lnTo>
                <a:lnTo>
                  <a:pt x="0" y="67056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268" y="0"/>
            <a:ext cx="786765" cy="873760"/>
          </a:xfrm>
          <a:custGeom>
            <a:avLst/>
            <a:gdLst/>
            <a:ahLst/>
            <a:cxnLst/>
            <a:rect l="l" t="t" r="r" b="b"/>
            <a:pathLst>
              <a:path w="786765" h="873760">
                <a:moveTo>
                  <a:pt x="0" y="0"/>
                </a:moveTo>
                <a:lnTo>
                  <a:pt x="786384" y="0"/>
                </a:lnTo>
                <a:lnTo>
                  <a:pt x="786384" y="873252"/>
                </a:lnTo>
                <a:lnTo>
                  <a:pt x="0" y="873252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32625" y="0"/>
            <a:ext cx="799465" cy="879475"/>
          </a:xfrm>
          <a:custGeom>
            <a:avLst/>
            <a:gdLst/>
            <a:ahLst/>
            <a:cxnLst/>
            <a:rect l="l" t="t" r="r" b="b"/>
            <a:pathLst>
              <a:path w="799465" h="879475">
                <a:moveTo>
                  <a:pt x="799249" y="879475"/>
                </a:moveTo>
                <a:lnTo>
                  <a:pt x="0" y="879475"/>
                </a:lnTo>
                <a:lnTo>
                  <a:pt x="0" y="0"/>
                </a:lnTo>
                <a:lnTo>
                  <a:pt x="12700" y="0"/>
                </a:lnTo>
                <a:lnTo>
                  <a:pt x="6350" y="6350"/>
                </a:lnTo>
                <a:lnTo>
                  <a:pt x="12700" y="6350"/>
                </a:lnTo>
                <a:lnTo>
                  <a:pt x="12700" y="866774"/>
                </a:lnTo>
                <a:lnTo>
                  <a:pt x="6349" y="866774"/>
                </a:lnTo>
                <a:lnTo>
                  <a:pt x="12700" y="873125"/>
                </a:lnTo>
                <a:lnTo>
                  <a:pt x="799249" y="873125"/>
                </a:lnTo>
                <a:lnTo>
                  <a:pt x="799249" y="879475"/>
                </a:lnTo>
                <a:close/>
              </a:path>
              <a:path w="799465" h="879475">
                <a:moveTo>
                  <a:pt x="12700" y="6350"/>
                </a:moveTo>
                <a:lnTo>
                  <a:pt x="6350" y="6350"/>
                </a:lnTo>
                <a:lnTo>
                  <a:pt x="12700" y="0"/>
                </a:lnTo>
                <a:lnTo>
                  <a:pt x="12700" y="6350"/>
                </a:lnTo>
                <a:close/>
              </a:path>
              <a:path w="799465" h="879475">
                <a:moveTo>
                  <a:pt x="786549" y="6350"/>
                </a:moveTo>
                <a:lnTo>
                  <a:pt x="12700" y="6350"/>
                </a:lnTo>
                <a:lnTo>
                  <a:pt x="12700" y="0"/>
                </a:lnTo>
                <a:lnTo>
                  <a:pt x="786549" y="0"/>
                </a:lnTo>
                <a:lnTo>
                  <a:pt x="786549" y="6350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786549" y="0"/>
                </a:lnTo>
                <a:lnTo>
                  <a:pt x="792899" y="6350"/>
                </a:lnTo>
                <a:lnTo>
                  <a:pt x="799249" y="6350"/>
                </a:lnTo>
                <a:lnTo>
                  <a:pt x="799249" y="866774"/>
                </a:lnTo>
                <a:lnTo>
                  <a:pt x="79289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6350"/>
                </a:moveTo>
                <a:lnTo>
                  <a:pt x="792899" y="6350"/>
                </a:lnTo>
                <a:lnTo>
                  <a:pt x="786549" y="0"/>
                </a:lnTo>
                <a:lnTo>
                  <a:pt x="799249" y="0"/>
                </a:lnTo>
                <a:lnTo>
                  <a:pt x="799249" y="6350"/>
                </a:lnTo>
                <a:close/>
              </a:path>
              <a:path w="799465" h="879475">
                <a:moveTo>
                  <a:pt x="12700" y="873125"/>
                </a:moveTo>
                <a:lnTo>
                  <a:pt x="6349" y="866774"/>
                </a:lnTo>
                <a:lnTo>
                  <a:pt x="12700" y="866774"/>
                </a:lnTo>
                <a:lnTo>
                  <a:pt x="12700" y="873125"/>
                </a:lnTo>
                <a:close/>
              </a:path>
              <a:path w="799465" h="879475">
                <a:moveTo>
                  <a:pt x="786549" y="873125"/>
                </a:moveTo>
                <a:lnTo>
                  <a:pt x="12700" y="873125"/>
                </a:lnTo>
                <a:lnTo>
                  <a:pt x="12700" y="866774"/>
                </a:lnTo>
                <a:lnTo>
                  <a:pt x="786549" y="866774"/>
                </a:lnTo>
                <a:lnTo>
                  <a:pt x="786549" y="873125"/>
                </a:lnTo>
                <a:close/>
              </a:path>
              <a:path w="799465" h="879475">
                <a:moveTo>
                  <a:pt x="799249" y="873125"/>
                </a:moveTo>
                <a:lnTo>
                  <a:pt x="786549" y="873125"/>
                </a:lnTo>
                <a:lnTo>
                  <a:pt x="792899" y="866774"/>
                </a:lnTo>
                <a:lnTo>
                  <a:pt x="799249" y="866774"/>
                </a:lnTo>
                <a:lnTo>
                  <a:pt x="799249" y="873125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9268" y="6187440"/>
            <a:ext cx="8133715" cy="670560"/>
          </a:xfrm>
          <a:custGeom>
            <a:avLst/>
            <a:gdLst/>
            <a:ahLst/>
            <a:cxnLst/>
            <a:rect l="l" t="t" r="r" b="b"/>
            <a:pathLst>
              <a:path w="8133715" h="670559">
                <a:moveTo>
                  <a:pt x="0" y="0"/>
                </a:moveTo>
                <a:lnTo>
                  <a:pt x="8133588" y="0"/>
                </a:lnTo>
                <a:lnTo>
                  <a:pt x="8133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529002" y="6410007"/>
            <a:ext cx="2044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1F1F1"/>
                </a:solidFill>
                <a:latin typeface="微软雅黑"/>
                <a:cs typeface="微软雅黑"/>
              </a:rPr>
              <a:t>39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34796" y="0"/>
            <a:ext cx="125095" cy="875030"/>
          </a:xfrm>
          <a:custGeom>
            <a:avLst/>
            <a:gdLst/>
            <a:ahLst/>
            <a:cxnLst/>
            <a:rect l="l" t="t" r="r" b="b"/>
            <a:pathLst>
              <a:path w="125094" h="875030">
                <a:moveTo>
                  <a:pt x="0" y="0"/>
                </a:moveTo>
                <a:lnTo>
                  <a:pt x="124968" y="0"/>
                </a:lnTo>
                <a:lnTo>
                  <a:pt x="124968" y="874776"/>
                </a:lnTo>
                <a:lnTo>
                  <a:pt x="0" y="874776"/>
                </a:lnTo>
                <a:lnTo>
                  <a:pt x="0" y="0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7836" y="0"/>
            <a:ext cx="138430" cy="879475"/>
          </a:xfrm>
          <a:custGeom>
            <a:avLst/>
            <a:gdLst/>
            <a:ahLst/>
            <a:cxnLst/>
            <a:rect l="l" t="t" r="r" b="b"/>
            <a:pathLst>
              <a:path w="138430" h="879475">
                <a:moveTo>
                  <a:pt x="138010" y="879475"/>
                </a:moveTo>
                <a:lnTo>
                  <a:pt x="0" y="879475"/>
                </a:lnTo>
                <a:lnTo>
                  <a:pt x="0" y="0"/>
                </a:lnTo>
                <a:lnTo>
                  <a:pt x="11087" y="0"/>
                </a:lnTo>
                <a:lnTo>
                  <a:pt x="6350" y="4737"/>
                </a:lnTo>
                <a:lnTo>
                  <a:pt x="12700" y="4737"/>
                </a:lnTo>
                <a:lnTo>
                  <a:pt x="12700" y="866775"/>
                </a:lnTo>
                <a:lnTo>
                  <a:pt x="6350" y="866775"/>
                </a:lnTo>
                <a:lnTo>
                  <a:pt x="12700" y="873125"/>
                </a:lnTo>
                <a:lnTo>
                  <a:pt x="138010" y="873125"/>
                </a:lnTo>
                <a:lnTo>
                  <a:pt x="138010" y="879475"/>
                </a:lnTo>
                <a:close/>
              </a:path>
              <a:path w="138430" h="879475">
                <a:moveTo>
                  <a:pt x="12700" y="4737"/>
                </a:moveTo>
                <a:lnTo>
                  <a:pt x="6350" y="4737"/>
                </a:lnTo>
                <a:lnTo>
                  <a:pt x="11087" y="0"/>
                </a:lnTo>
                <a:lnTo>
                  <a:pt x="12700" y="0"/>
                </a:lnTo>
                <a:lnTo>
                  <a:pt x="12700" y="4737"/>
                </a:lnTo>
                <a:close/>
              </a:path>
              <a:path w="138430" h="879475">
                <a:moveTo>
                  <a:pt x="125310" y="4737"/>
                </a:moveTo>
                <a:lnTo>
                  <a:pt x="12700" y="4737"/>
                </a:lnTo>
                <a:lnTo>
                  <a:pt x="12700" y="0"/>
                </a:lnTo>
                <a:lnTo>
                  <a:pt x="125310" y="0"/>
                </a:lnTo>
                <a:lnTo>
                  <a:pt x="125310" y="4737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5310" y="0"/>
                </a:lnTo>
                <a:lnTo>
                  <a:pt x="126923" y="0"/>
                </a:lnTo>
                <a:lnTo>
                  <a:pt x="131660" y="4737"/>
                </a:lnTo>
                <a:lnTo>
                  <a:pt x="138010" y="4737"/>
                </a:lnTo>
                <a:lnTo>
                  <a:pt x="138010" y="866775"/>
                </a:lnTo>
                <a:lnTo>
                  <a:pt x="13166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4737"/>
                </a:moveTo>
                <a:lnTo>
                  <a:pt x="131660" y="4737"/>
                </a:lnTo>
                <a:lnTo>
                  <a:pt x="126923" y="0"/>
                </a:lnTo>
                <a:lnTo>
                  <a:pt x="138010" y="0"/>
                </a:lnTo>
                <a:lnTo>
                  <a:pt x="138010" y="4737"/>
                </a:lnTo>
                <a:close/>
              </a:path>
              <a:path w="138430" h="879475">
                <a:moveTo>
                  <a:pt x="12700" y="873125"/>
                </a:moveTo>
                <a:lnTo>
                  <a:pt x="6350" y="866775"/>
                </a:lnTo>
                <a:lnTo>
                  <a:pt x="12700" y="866775"/>
                </a:lnTo>
                <a:lnTo>
                  <a:pt x="12700" y="873125"/>
                </a:lnTo>
                <a:close/>
              </a:path>
              <a:path w="138430" h="879475">
                <a:moveTo>
                  <a:pt x="125310" y="873125"/>
                </a:moveTo>
                <a:lnTo>
                  <a:pt x="12700" y="873125"/>
                </a:lnTo>
                <a:lnTo>
                  <a:pt x="12700" y="866775"/>
                </a:lnTo>
                <a:lnTo>
                  <a:pt x="125310" y="866775"/>
                </a:lnTo>
                <a:lnTo>
                  <a:pt x="125310" y="873125"/>
                </a:lnTo>
                <a:close/>
              </a:path>
              <a:path w="138430" h="879475">
                <a:moveTo>
                  <a:pt x="138010" y="873125"/>
                </a:moveTo>
                <a:lnTo>
                  <a:pt x="125310" y="873125"/>
                </a:lnTo>
                <a:lnTo>
                  <a:pt x="131660" y="866775"/>
                </a:lnTo>
                <a:lnTo>
                  <a:pt x="138010" y="866775"/>
                </a:lnTo>
                <a:lnTo>
                  <a:pt x="138010" y="873125"/>
                </a:lnTo>
                <a:close/>
              </a:path>
            </a:pathLst>
          </a:custGeom>
          <a:solidFill>
            <a:srgbClr val="A03E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98459" y="6417487"/>
            <a:ext cx="159918" cy="240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64105" y="6464096"/>
            <a:ext cx="89105" cy="1792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41767" y="6402616"/>
            <a:ext cx="161002" cy="2708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796440" y="6463360"/>
            <a:ext cx="94905" cy="1486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80122" y="6433527"/>
            <a:ext cx="142481" cy="20311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49211" y="6400000"/>
            <a:ext cx="164465" cy="261620"/>
          </a:xfrm>
          <a:custGeom>
            <a:avLst/>
            <a:gdLst/>
            <a:ahLst/>
            <a:cxnLst/>
            <a:rect l="l" t="t" r="r" b="b"/>
            <a:pathLst>
              <a:path w="164465" h="261620">
                <a:moveTo>
                  <a:pt x="134683" y="74663"/>
                </a:moveTo>
                <a:lnTo>
                  <a:pt x="87223" y="74663"/>
                </a:lnTo>
                <a:lnTo>
                  <a:pt x="89789" y="71272"/>
                </a:lnTo>
                <a:lnTo>
                  <a:pt x="91071" y="64477"/>
                </a:lnTo>
                <a:lnTo>
                  <a:pt x="94919" y="50504"/>
                </a:lnTo>
                <a:lnTo>
                  <a:pt x="98767" y="36693"/>
                </a:lnTo>
                <a:lnTo>
                  <a:pt x="102615" y="23201"/>
                </a:lnTo>
                <a:lnTo>
                  <a:pt x="106464" y="10185"/>
                </a:lnTo>
                <a:lnTo>
                  <a:pt x="107746" y="5092"/>
                </a:lnTo>
                <a:lnTo>
                  <a:pt x="107746" y="0"/>
                </a:lnTo>
                <a:lnTo>
                  <a:pt x="118008" y="6781"/>
                </a:lnTo>
                <a:lnTo>
                  <a:pt x="120573" y="15265"/>
                </a:lnTo>
                <a:lnTo>
                  <a:pt x="116725" y="18668"/>
                </a:lnTo>
                <a:lnTo>
                  <a:pt x="110733" y="29724"/>
                </a:lnTo>
                <a:lnTo>
                  <a:pt x="107265" y="42210"/>
                </a:lnTo>
                <a:lnTo>
                  <a:pt x="102615" y="69570"/>
                </a:lnTo>
                <a:lnTo>
                  <a:pt x="135966" y="69570"/>
                </a:lnTo>
                <a:lnTo>
                  <a:pt x="135966" y="71272"/>
                </a:lnTo>
                <a:lnTo>
                  <a:pt x="134683" y="74663"/>
                </a:lnTo>
                <a:close/>
              </a:path>
              <a:path w="164465" h="261620">
                <a:moveTo>
                  <a:pt x="19240" y="208711"/>
                </a:moveTo>
                <a:lnTo>
                  <a:pt x="0" y="174777"/>
                </a:lnTo>
                <a:lnTo>
                  <a:pt x="0" y="173075"/>
                </a:lnTo>
                <a:lnTo>
                  <a:pt x="1282" y="171386"/>
                </a:lnTo>
                <a:lnTo>
                  <a:pt x="1282" y="169684"/>
                </a:lnTo>
                <a:lnTo>
                  <a:pt x="19140" y="134607"/>
                </a:lnTo>
                <a:lnTo>
                  <a:pt x="33350" y="93319"/>
                </a:lnTo>
                <a:lnTo>
                  <a:pt x="34632" y="91630"/>
                </a:lnTo>
                <a:lnTo>
                  <a:pt x="32067" y="89928"/>
                </a:lnTo>
                <a:lnTo>
                  <a:pt x="32067" y="86537"/>
                </a:lnTo>
                <a:lnTo>
                  <a:pt x="26976" y="77390"/>
                </a:lnTo>
                <a:lnTo>
                  <a:pt x="25012" y="69357"/>
                </a:lnTo>
                <a:lnTo>
                  <a:pt x="25934" y="61006"/>
                </a:lnTo>
                <a:lnTo>
                  <a:pt x="29502" y="50901"/>
                </a:lnTo>
                <a:lnTo>
                  <a:pt x="57721" y="18668"/>
                </a:lnTo>
                <a:lnTo>
                  <a:pt x="64134" y="20358"/>
                </a:lnTo>
                <a:lnTo>
                  <a:pt x="71831" y="33934"/>
                </a:lnTo>
                <a:lnTo>
                  <a:pt x="71831" y="37325"/>
                </a:lnTo>
                <a:lnTo>
                  <a:pt x="65417" y="40728"/>
                </a:lnTo>
                <a:lnTo>
                  <a:pt x="59545" y="44147"/>
                </a:lnTo>
                <a:lnTo>
                  <a:pt x="54995" y="48998"/>
                </a:lnTo>
                <a:lnTo>
                  <a:pt x="51167" y="54803"/>
                </a:lnTo>
                <a:lnTo>
                  <a:pt x="47459" y="61087"/>
                </a:lnTo>
                <a:lnTo>
                  <a:pt x="46177" y="66179"/>
                </a:lnTo>
                <a:lnTo>
                  <a:pt x="46177" y="71272"/>
                </a:lnTo>
                <a:lnTo>
                  <a:pt x="50025" y="74663"/>
                </a:lnTo>
                <a:lnTo>
                  <a:pt x="52590" y="76352"/>
                </a:lnTo>
                <a:lnTo>
                  <a:pt x="53873" y="79755"/>
                </a:lnTo>
                <a:lnTo>
                  <a:pt x="55156" y="81445"/>
                </a:lnTo>
                <a:lnTo>
                  <a:pt x="62110" y="92607"/>
                </a:lnTo>
                <a:lnTo>
                  <a:pt x="65578" y="102020"/>
                </a:lnTo>
                <a:lnTo>
                  <a:pt x="65453" y="110692"/>
                </a:lnTo>
                <a:lnTo>
                  <a:pt x="65361" y="111988"/>
                </a:lnTo>
                <a:lnTo>
                  <a:pt x="61569" y="123863"/>
                </a:lnTo>
                <a:lnTo>
                  <a:pt x="69265" y="128955"/>
                </a:lnTo>
                <a:lnTo>
                  <a:pt x="89793" y="128955"/>
                </a:lnTo>
                <a:lnTo>
                  <a:pt x="88506" y="130657"/>
                </a:lnTo>
                <a:lnTo>
                  <a:pt x="87223" y="130657"/>
                </a:lnTo>
                <a:lnTo>
                  <a:pt x="85940" y="132359"/>
                </a:lnTo>
                <a:lnTo>
                  <a:pt x="55156" y="132359"/>
                </a:lnTo>
                <a:lnTo>
                  <a:pt x="43611" y="157810"/>
                </a:lnTo>
                <a:lnTo>
                  <a:pt x="42329" y="159499"/>
                </a:lnTo>
                <a:lnTo>
                  <a:pt x="42329" y="162890"/>
                </a:lnTo>
                <a:lnTo>
                  <a:pt x="43611" y="166293"/>
                </a:lnTo>
                <a:lnTo>
                  <a:pt x="43611" y="169684"/>
                </a:lnTo>
                <a:lnTo>
                  <a:pt x="44894" y="174777"/>
                </a:lnTo>
                <a:lnTo>
                  <a:pt x="44894" y="178168"/>
                </a:lnTo>
                <a:lnTo>
                  <a:pt x="41749" y="200228"/>
                </a:lnTo>
                <a:lnTo>
                  <a:pt x="25653" y="200228"/>
                </a:lnTo>
                <a:lnTo>
                  <a:pt x="19240" y="208711"/>
                </a:lnTo>
                <a:close/>
              </a:path>
              <a:path w="164465" h="261620">
                <a:moveTo>
                  <a:pt x="135966" y="69570"/>
                </a:moveTo>
                <a:lnTo>
                  <a:pt x="102615" y="69570"/>
                </a:lnTo>
                <a:lnTo>
                  <a:pt x="109029" y="66179"/>
                </a:lnTo>
                <a:lnTo>
                  <a:pt x="116725" y="62776"/>
                </a:lnTo>
                <a:lnTo>
                  <a:pt x="123139" y="61087"/>
                </a:lnTo>
                <a:lnTo>
                  <a:pt x="125704" y="59385"/>
                </a:lnTo>
                <a:lnTo>
                  <a:pt x="129552" y="59385"/>
                </a:lnTo>
                <a:lnTo>
                  <a:pt x="130835" y="61087"/>
                </a:lnTo>
                <a:lnTo>
                  <a:pt x="133400" y="62776"/>
                </a:lnTo>
                <a:lnTo>
                  <a:pt x="135966" y="66179"/>
                </a:lnTo>
                <a:lnTo>
                  <a:pt x="135966" y="69570"/>
                </a:lnTo>
                <a:close/>
              </a:path>
              <a:path w="164465" h="261620">
                <a:moveTo>
                  <a:pt x="89793" y="128955"/>
                </a:moveTo>
                <a:lnTo>
                  <a:pt x="69265" y="128955"/>
                </a:lnTo>
                <a:lnTo>
                  <a:pt x="80810" y="118783"/>
                </a:lnTo>
                <a:lnTo>
                  <a:pt x="78525" y="110692"/>
                </a:lnTo>
                <a:lnTo>
                  <a:pt x="79848" y="103717"/>
                </a:lnTo>
                <a:lnTo>
                  <a:pt x="82613" y="97062"/>
                </a:lnTo>
                <a:lnTo>
                  <a:pt x="84658" y="89928"/>
                </a:lnTo>
                <a:lnTo>
                  <a:pt x="75679" y="89928"/>
                </a:lnTo>
                <a:lnTo>
                  <a:pt x="71831" y="88239"/>
                </a:lnTo>
                <a:lnTo>
                  <a:pt x="69265" y="86537"/>
                </a:lnTo>
                <a:lnTo>
                  <a:pt x="65417" y="83146"/>
                </a:lnTo>
                <a:lnTo>
                  <a:pt x="62852" y="79755"/>
                </a:lnTo>
                <a:lnTo>
                  <a:pt x="62852" y="78054"/>
                </a:lnTo>
                <a:lnTo>
                  <a:pt x="64134" y="78054"/>
                </a:lnTo>
                <a:lnTo>
                  <a:pt x="70548" y="76352"/>
                </a:lnTo>
                <a:lnTo>
                  <a:pt x="75679" y="76352"/>
                </a:lnTo>
                <a:lnTo>
                  <a:pt x="82092" y="74663"/>
                </a:lnTo>
                <a:lnTo>
                  <a:pt x="132118" y="74663"/>
                </a:lnTo>
                <a:lnTo>
                  <a:pt x="105181" y="84836"/>
                </a:lnTo>
                <a:lnTo>
                  <a:pt x="100050" y="84836"/>
                </a:lnTo>
                <a:lnTo>
                  <a:pt x="98767" y="86537"/>
                </a:lnTo>
                <a:lnTo>
                  <a:pt x="97485" y="91630"/>
                </a:lnTo>
                <a:lnTo>
                  <a:pt x="94919" y="98412"/>
                </a:lnTo>
                <a:lnTo>
                  <a:pt x="93637" y="103504"/>
                </a:lnTo>
                <a:lnTo>
                  <a:pt x="91071" y="110299"/>
                </a:lnTo>
                <a:lnTo>
                  <a:pt x="126316" y="110299"/>
                </a:lnTo>
                <a:lnTo>
                  <a:pt x="130835" y="111988"/>
                </a:lnTo>
                <a:lnTo>
                  <a:pt x="135966" y="113690"/>
                </a:lnTo>
                <a:lnTo>
                  <a:pt x="141097" y="117081"/>
                </a:lnTo>
                <a:lnTo>
                  <a:pt x="141097" y="120472"/>
                </a:lnTo>
                <a:lnTo>
                  <a:pt x="103898" y="120472"/>
                </a:lnTo>
                <a:lnTo>
                  <a:pt x="103898" y="123863"/>
                </a:lnTo>
                <a:lnTo>
                  <a:pt x="97485" y="123863"/>
                </a:lnTo>
                <a:lnTo>
                  <a:pt x="93637" y="125564"/>
                </a:lnTo>
                <a:lnTo>
                  <a:pt x="91071" y="127266"/>
                </a:lnTo>
                <a:lnTo>
                  <a:pt x="89793" y="128955"/>
                </a:lnTo>
                <a:close/>
              </a:path>
              <a:path w="164465" h="261620">
                <a:moveTo>
                  <a:pt x="126316" y="110299"/>
                </a:moveTo>
                <a:lnTo>
                  <a:pt x="91071" y="110299"/>
                </a:lnTo>
                <a:lnTo>
                  <a:pt x="101433" y="108173"/>
                </a:lnTo>
                <a:lnTo>
                  <a:pt x="111434" y="107324"/>
                </a:lnTo>
                <a:lnTo>
                  <a:pt x="121195" y="108384"/>
                </a:lnTo>
                <a:lnTo>
                  <a:pt x="126316" y="110299"/>
                </a:lnTo>
                <a:close/>
              </a:path>
              <a:path w="164465" h="261620">
                <a:moveTo>
                  <a:pt x="138541" y="152717"/>
                </a:moveTo>
                <a:lnTo>
                  <a:pt x="103898" y="152717"/>
                </a:lnTo>
                <a:lnTo>
                  <a:pt x="121856" y="128955"/>
                </a:lnTo>
                <a:lnTo>
                  <a:pt x="124421" y="123863"/>
                </a:lnTo>
                <a:lnTo>
                  <a:pt x="121856" y="120472"/>
                </a:lnTo>
                <a:lnTo>
                  <a:pt x="141097" y="120472"/>
                </a:lnTo>
                <a:lnTo>
                  <a:pt x="141097" y="125564"/>
                </a:lnTo>
                <a:lnTo>
                  <a:pt x="142379" y="134048"/>
                </a:lnTo>
                <a:lnTo>
                  <a:pt x="139814" y="140843"/>
                </a:lnTo>
                <a:lnTo>
                  <a:pt x="133400" y="144233"/>
                </a:lnTo>
                <a:lnTo>
                  <a:pt x="132118" y="144233"/>
                </a:lnTo>
                <a:lnTo>
                  <a:pt x="129552" y="147624"/>
                </a:lnTo>
                <a:lnTo>
                  <a:pt x="132118" y="149326"/>
                </a:lnTo>
                <a:lnTo>
                  <a:pt x="134683" y="149326"/>
                </a:lnTo>
                <a:lnTo>
                  <a:pt x="135966" y="151015"/>
                </a:lnTo>
                <a:lnTo>
                  <a:pt x="138541" y="152717"/>
                </a:lnTo>
                <a:close/>
              </a:path>
              <a:path w="164465" h="261620">
                <a:moveTo>
                  <a:pt x="141954" y="156108"/>
                </a:moveTo>
                <a:lnTo>
                  <a:pt x="87223" y="156108"/>
                </a:lnTo>
                <a:lnTo>
                  <a:pt x="92265" y="152717"/>
                </a:lnTo>
                <a:lnTo>
                  <a:pt x="95721" y="145715"/>
                </a:lnTo>
                <a:lnTo>
                  <a:pt x="97505" y="135825"/>
                </a:lnTo>
                <a:lnTo>
                  <a:pt x="97485" y="123863"/>
                </a:lnTo>
                <a:lnTo>
                  <a:pt x="103898" y="123863"/>
                </a:lnTo>
                <a:lnTo>
                  <a:pt x="103898" y="140843"/>
                </a:lnTo>
                <a:lnTo>
                  <a:pt x="101333" y="151015"/>
                </a:lnTo>
                <a:lnTo>
                  <a:pt x="102615" y="151015"/>
                </a:lnTo>
                <a:lnTo>
                  <a:pt x="102615" y="152717"/>
                </a:lnTo>
                <a:lnTo>
                  <a:pt x="138541" y="152717"/>
                </a:lnTo>
                <a:lnTo>
                  <a:pt x="141097" y="154406"/>
                </a:lnTo>
                <a:lnTo>
                  <a:pt x="141954" y="156108"/>
                </a:lnTo>
                <a:close/>
              </a:path>
              <a:path w="164465" h="261620">
                <a:moveTo>
                  <a:pt x="142700" y="164592"/>
                </a:moveTo>
                <a:lnTo>
                  <a:pt x="65417" y="164592"/>
                </a:lnTo>
                <a:lnTo>
                  <a:pt x="62732" y="155976"/>
                </a:lnTo>
                <a:lnTo>
                  <a:pt x="60220" y="147624"/>
                </a:lnTo>
                <a:lnTo>
                  <a:pt x="57841" y="140017"/>
                </a:lnTo>
                <a:lnTo>
                  <a:pt x="55156" y="132359"/>
                </a:lnTo>
                <a:lnTo>
                  <a:pt x="85940" y="132359"/>
                </a:lnTo>
                <a:lnTo>
                  <a:pt x="85940" y="137439"/>
                </a:lnTo>
                <a:lnTo>
                  <a:pt x="80810" y="137439"/>
                </a:lnTo>
                <a:lnTo>
                  <a:pt x="70548" y="142532"/>
                </a:lnTo>
                <a:lnTo>
                  <a:pt x="69265" y="144233"/>
                </a:lnTo>
                <a:lnTo>
                  <a:pt x="71831" y="149326"/>
                </a:lnTo>
                <a:lnTo>
                  <a:pt x="74396" y="159499"/>
                </a:lnTo>
                <a:lnTo>
                  <a:pt x="76961" y="161201"/>
                </a:lnTo>
                <a:lnTo>
                  <a:pt x="143340" y="161201"/>
                </a:lnTo>
                <a:lnTo>
                  <a:pt x="142700" y="164592"/>
                </a:lnTo>
                <a:close/>
              </a:path>
              <a:path w="164465" h="261620">
                <a:moveTo>
                  <a:pt x="143340" y="161201"/>
                </a:moveTo>
                <a:lnTo>
                  <a:pt x="76961" y="161201"/>
                </a:lnTo>
                <a:lnTo>
                  <a:pt x="83375" y="157810"/>
                </a:lnTo>
                <a:lnTo>
                  <a:pt x="80810" y="144233"/>
                </a:lnTo>
                <a:lnTo>
                  <a:pt x="80810" y="137439"/>
                </a:lnTo>
                <a:lnTo>
                  <a:pt x="85940" y="137439"/>
                </a:lnTo>
                <a:lnTo>
                  <a:pt x="85940" y="142532"/>
                </a:lnTo>
                <a:lnTo>
                  <a:pt x="87223" y="149326"/>
                </a:lnTo>
                <a:lnTo>
                  <a:pt x="87223" y="156108"/>
                </a:lnTo>
                <a:lnTo>
                  <a:pt x="141954" y="156108"/>
                </a:lnTo>
                <a:lnTo>
                  <a:pt x="143662" y="159499"/>
                </a:lnTo>
                <a:lnTo>
                  <a:pt x="143340" y="161201"/>
                </a:lnTo>
                <a:close/>
              </a:path>
              <a:path w="164465" h="261620">
                <a:moveTo>
                  <a:pt x="56438" y="195135"/>
                </a:moveTo>
                <a:lnTo>
                  <a:pt x="52590" y="188353"/>
                </a:lnTo>
                <a:lnTo>
                  <a:pt x="47459" y="181559"/>
                </a:lnTo>
                <a:lnTo>
                  <a:pt x="47459" y="173075"/>
                </a:lnTo>
                <a:lnTo>
                  <a:pt x="48742" y="164592"/>
                </a:lnTo>
                <a:lnTo>
                  <a:pt x="48742" y="162890"/>
                </a:lnTo>
                <a:lnTo>
                  <a:pt x="61569" y="162890"/>
                </a:lnTo>
                <a:lnTo>
                  <a:pt x="65417" y="164592"/>
                </a:lnTo>
                <a:lnTo>
                  <a:pt x="142700" y="164592"/>
                </a:lnTo>
                <a:lnTo>
                  <a:pt x="141097" y="173075"/>
                </a:lnTo>
                <a:lnTo>
                  <a:pt x="137248" y="174777"/>
                </a:lnTo>
                <a:lnTo>
                  <a:pt x="128269" y="174777"/>
                </a:lnTo>
                <a:lnTo>
                  <a:pt x="123139" y="176466"/>
                </a:lnTo>
                <a:lnTo>
                  <a:pt x="118008" y="176466"/>
                </a:lnTo>
                <a:lnTo>
                  <a:pt x="112576" y="179200"/>
                </a:lnTo>
                <a:lnTo>
                  <a:pt x="109127" y="183260"/>
                </a:lnTo>
                <a:lnTo>
                  <a:pt x="91071" y="183260"/>
                </a:lnTo>
                <a:lnTo>
                  <a:pt x="87223" y="184950"/>
                </a:lnTo>
                <a:lnTo>
                  <a:pt x="83375" y="184950"/>
                </a:lnTo>
                <a:lnTo>
                  <a:pt x="75679" y="188353"/>
                </a:lnTo>
                <a:lnTo>
                  <a:pt x="70548" y="190042"/>
                </a:lnTo>
                <a:lnTo>
                  <a:pt x="66700" y="191744"/>
                </a:lnTo>
                <a:lnTo>
                  <a:pt x="56438" y="195135"/>
                </a:lnTo>
                <a:close/>
              </a:path>
              <a:path w="164465" h="261620">
                <a:moveTo>
                  <a:pt x="138728" y="237553"/>
                </a:moveTo>
                <a:lnTo>
                  <a:pt x="120573" y="237553"/>
                </a:lnTo>
                <a:lnTo>
                  <a:pt x="112877" y="217195"/>
                </a:lnTo>
                <a:lnTo>
                  <a:pt x="110312" y="215493"/>
                </a:lnTo>
                <a:lnTo>
                  <a:pt x="109029" y="215493"/>
                </a:lnTo>
                <a:lnTo>
                  <a:pt x="98467" y="213642"/>
                </a:lnTo>
                <a:lnTo>
                  <a:pt x="92835" y="209562"/>
                </a:lnTo>
                <a:lnTo>
                  <a:pt x="90811" y="201663"/>
                </a:lnTo>
                <a:lnTo>
                  <a:pt x="90945" y="194815"/>
                </a:lnTo>
                <a:lnTo>
                  <a:pt x="91071" y="183260"/>
                </a:lnTo>
                <a:lnTo>
                  <a:pt x="109127" y="183260"/>
                </a:lnTo>
                <a:lnTo>
                  <a:pt x="108227" y="184319"/>
                </a:lnTo>
                <a:lnTo>
                  <a:pt x="105562" y="191027"/>
                </a:lnTo>
                <a:lnTo>
                  <a:pt x="105181" y="198526"/>
                </a:lnTo>
                <a:lnTo>
                  <a:pt x="164185" y="198526"/>
                </a:lnTo>
                <a:lnTo>
                  <a:pt x="161726" y="203407"/>
                </a:lnTo>
                <a:lnTo>
                  <a:pt x="138210" y="203407"/>
                </a:lnTo>
                <a:lnTo>
                  <a:pt x="131196" y="205343"/>
                </a:lnTo>
                <a:lnTo>
                  <a:pt x="124421" y="208711"/>
                </a:lnTo>
                <a:lnTo>
                  <a:pt x="128597" y="217833"/>
                </a:lnTo>
                <a:lnTo>
                  <a:pt x="132919" y="226525"/>
                </a:lnTo>
                <a:lnTo>
                  <a:pt x="137589" y="235434"/>
                </a:lnTo>
                <a:lnTo>
                  <a:pt x="138728" y="237553"/>
                </a:lnTo>
                <a:close/>
              </a:path>
              <a:path w="164465" h="261620">
                <a:moveTo>
                  <a:pt x="164185" y="198526"/>
                </a:moveTo>
                <a:lnTo>
                  <a:pt x="109029" y="198526"/>
                </a:lnTo>
                <a:lnTo>
                  <a:pt x="110312" y="196837"/>
                </a:lnTo>
                <a:lnTo>
                  <a:pt x="118990" y="191400"/>
                </a:lnTo>
                <a:lnTo>
                  <a:pt x="127788" y="187712"/>
                </a:lnTo>
                <a:lnTo>
                  <a:pt x="136828" y="185614"/>
                </a:lnTo>
                <a:lnTo>
                  <a:pt x="146227" y="184950"/>
                </a:lnTo>
                <a:lnTo>
                  <a:pt x="151358" y="186651"/>
                </a:lnTo>
                <a:lnTo>
                  <a:pt x="159054" y="190042"/>
                </a:lnTo>
                <a:lnTo>
                  <a:pt x="164185" y="193433"/>
                </a:lnTo>
                <a:lnTo>
                  <a:pt x="164185" y="198526"/>
                </a:lnTo>
                <a:close/>
              </a:path>
              <a:path w="164465" h="261620">
                <a:moveTo>
                  <a:pt x="33350" y="261315"/>
                </a:moveTo>
                <a:lnTo>
                  <a:pt x="26094" y="259059"/>
                </a:lnTo>
                <a:lnTo>
                  <a:pt x="21485" y="254738"/>
                </a:lnTo>
                <a:lnTo>
                  <a:pt x="19280" y="248190"/>
                </a:lnTo>
                <a:lnTo>
                  <a:pt x="19240" y="239255"/>
                </a:lnTo>
                <a:lnTo>
                  <a:pt x="20984" y="229923"/>
                </a:lnTo>
                <a:lnTo>
                  <a:pt x="22919" y="217195"/>
                </a:lnTo>
                <a:lnTo>
                  <a:pt x="23930" y="210383"/>
                </a:lnTo>
                <a:lnTo>
                  <a:pt x="25653" y="200228"/>
                </a:lnTo>
                <a:lnTo>
                  <a:pt x="41749" y="200228"/>
                </a:lnTo>
                <a:lnTo>
                  <a:pt x="39282" y="217833"/>
                </a:lnTo>
                <a:lnTo>
                  <a:pt x="36727" y="237553"/>
                </a:lnTo>
                <a:lnTo>
                  <a:pt x="34632" y="256222"/>
                </a:lnTo>
                <a:lnTo>
                  <a:pt x="33350" y="257924"/>
                </a:lnTo>
                <a:lnTo>
                  <a:pt x="33350" y="261315"/>
                </a:lnTo>
                <a:close/>
              </a:path>
              <a:path w="164465" h="261620">
                <a:moveTo>
                  <a:pt x="160337" y="208711"/>
                </a:moveTo>
                <a:lnTo>
                  <a:pt x="156489" y="208711"/>
                </a:lnTo>
                <a:lnTo>
                  <a:pt x="153923" y="207009"/>
                </a:lnTo>
                <a:lnTo>
                  <a:pt x="145706" y="203698"/>
                </a:lnTo>
                <a:lnTo>
                  <a:pt x="138210" y="203407"/>
                </a:lnTo>
                <a:lnTo>
                  <a:pt x="161726" y="203407"/>
                </a:lnTo>
                <a:lnTo>
                  <a:pt x="161600" y="203698"/>
                </a:lnTo>
                <a:lnTo>
                  <a:pt x="160337" y="208711"/>
                </a:lnTo>
                <a:close/>
              </a:path>
              <a:path w="164465" h="261620">
                <a:moveTo>
                  <a:pt x="142379" y="259613"/>
                </a:moveTo>
                <a:lnTo>
                  <a:pt x="134683" y="259613"/>
                </a:lnTo>
                <a:lnTo>
                  <a:pt x="121275" y="255397"/>
                </a:lnTo>
                <a:lnTo>
                  <a:pt x="84658" y="234162"/>
                </a:lnTo>
                <a:lnTo>
                  <a:pt x="75679" y="223977"/>
                </a:lnTo>
                <a:lnTo>
                  <a:pt x="70548" y="218897"/>
                </a:lnTo>
                <a:lnTo>
                  <a:pt x="67983" y="215493"/>
                </a:lnTo>
                <a:lnTo>
                  <a:pt x="67983" y="205320"/>
                </a:lnTo>
                <a:lnTo>
                  <a:pt x="74396" y="205320"/>
                </a:lnTo>
                <a:lnTo>
                  <a:pt x="76961" y="208711"/>
                </a:lnTo>
                <a:lnTo>
                  <a:pt x="78244" y="212102"/>
                </a:lnTo>
                <a:lnTo>
                  <a:pt x="87163" y="222287"/>
                </a:lnTo>
                <a:lnTo>
                  <a:pt x="96683" y="229923"/>
                </a:lnTo>
                <a:lnTo>
                  <a:pt x="106925" y="235012"/>
                </a:lnTo>
                <a:lnTo>
                  <a:pt x="118008" y="237553"/>
                </a:lnTo>
                <a:lnTo>
                  <a:pt x="138728" y="237553"/>
                </a:lnTo>
                <a:lnTo>
                  <a:pt x="142379" y="244348"/>
                </a:lnTo>
                <a:lnTo>
                  <a:pt x="143662" y="247738"/>
                </a:lnTo>
                <a:lnTo>
                  <a:pt x="143580" y="254738"/>
                </a:lnTo>
                <a:lnTo>
                  <a:pt x="142379" y="257924"/>
                </a:lnTo>
                <a:lnTo>
                  <a:pt x="142379" y="2596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4283" y="6603733"/>
            <a:ext cx="20955" cy="73025"/>
          </a:xfrm>
          <a:custGeom>
            <a:avLst/>
            <a:gdLst/>
            <a:ahLst/>
            <a:cxnLst/>
            <a:rect l="l" t="t" r="r" b="b"/>
            <a:pathLst>
              <a:path w="20954" h="73025">
                <a:moveTo>
                  <a:pt x="11480" y="72758"/>
                </a:moveTo>
                <a:lnTo>
                  <a:pt x="7658" y="69380"/>
                </a:lnTo>
                <a:lnTo>
                  <a:pt x="2552" y="65989"/>
                </a:lnTo>
                <a:lnTo>
                  <a:pt x="0" y="62610"/>
                </a:lnTo>
                <a:lnTo>
                  <a:pt x="81" y="58828"/>
                </a:lnTo>
                <a:lnTo>
                  <a:pt x="2874" y="44978"/>
                </a:lnTo>
                <a:lnTo>
                  <a:pt x="5745" y="30249"/>
                </a:lnTo>
                <a:lnTo>
                  <a:pt x="8613" y="15204"/>
                </a:lnTo>
                <a:lnTo>
                  <a:pt x="11480" y="0"/>
                </a:lnTo>
                <a:lnTo>
                  <a:pt x="19138" y="5079"/>
                </a:lnTo>
                <a:lnTo>
                  <a:pt x="20408" y="10159"/>
                </a:lnTo>
                <a:lnTo>
                  <a:pt x="19138" y="18618"/>
                </a:lnTo>
                <a:lnTo>
                  <a:pt x="16683" y="31597"/>
                </a:lnTo>
                <a:lnTo>
                  <a:pt x="14828" y="45054"/>
                </a:lnTo>
                <a:lnTo>
                  <a:pt x="13164" y="59232"/>
                </a:lnTo>
                <a:lnTo>
                  <a:pt x="11480" y="727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86562" y="6471818"/>
            <a:ext cx="108813" cy="12654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88682" y="6402252"/>
            <a:ext cx="184064" cy="24323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377683" y="347472"/>
            <a:ext cx="1476755" cy="4328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24851" y="0"/>
            <a:ext cx="0" cy="1061720"/>
          </a:xfrm>
          <a:custGeom>
            <a:avLst/>
            <a:gdLst/>
            <a:ahLst/>
            <a:cxnLst/>
            <a:rect l="l" t="t" r="r" b="b"/>
            <a:pathLst>
              <a:path w="0" h="1061720">
                <a:moveTo>
                  <a:pt x="0" y="0"/>
                </a:moveTo>
                <a:lnTo>
                  <a:pt x="0" y="1061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366556" y="6688835"/>
            <a:ext cx="0" cy="169545"/>
          </a:xfrm>
          <a:custGeom>
            <a:avLst/>
            <a:gdLst/>
            <a:ahLst/>
            <a:cxnLst/>
            <a:rect l="l" t="t" r="r" b="b"/>
            <a:pathLst>
              <a:path w="0" h="169545">
                <a:moveTo>
                  <a:pt x="0" y="0"/>
                </a:moveTo>
                <a:lnTo>
                  <a:pt x="0" y="16916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99160" y="1700783"/>
            <a:ext cx="7056120" cy="345643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95781" y="1697189"/>
            <a:ext cx="7064375" cy="3463925"/>
          </a:xfrm>
          <a:custGeom>
            <a:avLst/>
            <a:gdLst/>
            <a:ahLst/>
            <a:cxnLst/>
            <a:rect l="l" t="t" r="r" b="b"/>
            <a:pathLst>
              <a:path w="7064375" h="3463925">
                <a:moveTo>
                  <a:pt x="7063879" y="3463607"/>
                </a:moveTo>
                <a:lnTo>
                  <a:pt x="0" y="3463607"/>
                </a:lnTo>
                <a:lnTo>
                  <a:pt x="0" y="0"/>
                </a:lnTo>
                <a:lnTo>
                  <a:pt x="7063879" y="0"/>
                </a:lnTo>
                <a:lnTo>
                  <a:pt x="7063879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3455987"/>
                </a:lnTo>
                <a:lnTo>
                  <a:pt x="3809" y="3455987"/>
                </a:lnTo>
                <a:lnTo>
                  <a:pt x="7619" y="3459797"/>
                </a:lnTo>
                <a:lnTo>
                  <a:pt x="7063879" y="3459797"/>
                </a:lnTo>
                <a:lnTo>
                  <a:pt x="7063879" y="3463607"/>
                </a:lnTo>
                <a:close/>
              </a:path>
              <a:path w="7064375" h="3463925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7064375" h="3463925">
                <a:moveTo>
                  <a:pt x="7056259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7056259" y="3810"/>
                </a:lnTo>
                <a:lnTo>
                  <a:pt x="7056259" y="7619"/>
                </a:lnTo>
                <a:close/>
              </a:path>
              <a:path w="7064375" h="3463925">
                <a:moveTo>
                  <a:pt x="7056259" y="3459797"/>
                </a:moveTo>
                <a:lnTo>
                  <a:pt x="7056259" y="3810"/>
                </a:lnTo>
                <a:lnTo>
                  <a:pt x="7060069" y="7619"/>
                </a:lnTo>
                <a:lnTo>
                  <a:pt x="7063879" y="7619"/>
                </a:lnTo>
                <a:lnTo>
                  <a:pt x="7063879" y="3455987"/>
                </a:lnTo>
                <a:lnTo>
                  <a:pt x="7060069" y="3455987"/>
                </a:lnTo>
                <a:lnTo>
                  <a:pt x="7056259" y="3459797"/>
                </a:lnTo>
                <a:close/>
              </a:path>
              <a:path w="7064375" h="3463925">
                <a:moveTo>
                  <a:pt x="7063879" y="7619"/>
                </a:moveTo>
                <a:lnTo>
                  <a:pt x="7060069" y="7619"/>
                </a:lnTo>
                <a:lnTo>
                  <a:pt x="7056259" y="3810"/>
                </a:lnTo>
                <a:lnTo>
                  <a:pt x="7063879" y="3810"/>
                </a:lnTo>
                <a:lnTo>
                  <a:pt x="7063879" y="7619"/>
                </a:lnTo>
                <a:close/>
              </a:path>
              <a:path w="7064375" h="3463925">
                <a:moveTo>
                  <a:pt x="7619" y="3459797"/>
                </a:moveTo>
                <a:lnTo>
                  <a:pt x="3809" y="3455987"/>
                </a:lnTo>
                <a:lnTo>
                  <a:pt x="7619" y="3455987"/>
                </a:lnTo>
                <a:lnTo>
                  <a:pt x="7619" y="3459797"/>
                </a:lnTo>
                <a:close/>
              </a:path>
              <a:path w="7064375" h="3463925">
                <a:moveTo>
                  <a:pt x="7056259" y="3459797"/>
                </a:moveTo>
                <a:lnTo>
                  <a:pt x="7619" y="3459797"/>
                </a:lnTo>
                <a:lnTo>
                  <a:pt x="7619" y="3455987"/>
                </a:lnTo>
                <a:lnTo>
                  <a:pt x="7056259" y="3455987"/>
                </a:lnTo>
                <a:lnTo>
                  <a:pt x="7056259" y="3459797"/>
                </a:lnTo>
                <a:close/>
              </a:path>
              <a:path w="7064375" h="3463925">
                <a:moveTo>
                  <a:pt x="7063879" y="3459797"/>
                </a:moveTo>
                <a:lnTo>
                  <a:pt x="7056259" y="3459797"/>
                </a:lnTo>
                <a:lnTo>
                  <a:pt x="7060069" y="3455987"/>
                </a:lnTo>
                <a:lnTo>
                  <a:pt x="7063879" y="3455987"/>
                </a:lnTo>
                <a:lnTo>
                  <a:pt x="7063879" y="3459797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78331" y="4710264"/>
            <a:ext cx="110489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90116" y="2467355"/>
            <a:ext cx="6122035" cy="1752600"/>
          </a:xfrm>
          <a:custGeom>
            <a:avLst/>
            <a:gdLst/>
            <a:ahLst/>
            <a:cxnLst/>
            <a:rect l="l" t="t" r="r" b="b"/>
            <a:pathLst>
              <a:path w="6122034" h="1752600">
                <a:moveTo>
                  <a:pt x="0" y="0"/>
                </a:moveTo>
                <a:lnTo>
                  <a:pt x="6121908" y="0"/>
                </a:lnTo>
                <a:lnTo>
                  <a:pt x="6121908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78331" y="1663026"/>
            <a:ext cx="6833870" cy="3042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69900" marR="4814570" indent="-457200">
              <a:lnSpc>
                <a:spcPct val="110000"/>
              </a:lnSpc>
              <a:spcBef>
                <a:spcPts val="95"/>
              </a:spcBef>
            </a:pPr>
            <a:r>
              <a:rPr dirty="0" sz="2000" spc="-5">
                <a:latin typeface="Book Antiqua"/>
                <a:cs typeface="Book Antiqua"/>
              </a:rPr>
              <a:t>public void</a:t>
            </a:r>
            <a:r>
              <a:rPr dirty="0" sz="2000" spc="-55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run(){  while(i&lt;5){</a:t>
            </a:r>
            <a:endParaRPr sz="2000">
              <a:latin typeface="Book Antiqua"/>
              <a:cs typeface="Book Antiqua"/>
            </a:endParaRPr>
          </a:p>
          <a:p>
            <a:pPr marL="1088390" marR="3202940" indent="-285750">
              <a:lnSpc>
                <a:spcPts val="2100"/>
              </a:lnSpc>
              <a:spcBef>
                <a:spcPts val="1375"/>
              </a:spcBef>
            </a:pPr>
            <a:r>
              <a:rPr dirty="0" sz="1800" spc="-5">
                <a:latin typeface="Book Antiqua"/>
                <a:cs typeface="Book Antiqua"/>
              </a:rPr>
              <a:t>synchronized(this){</a:t>
            </a:r>
            <a:r>
              <a:rPr dirty="0" sz="1800" spc="425">
                <a:latin typeface="Book Antiqua"/>
                <a:cs typeface="Book Antiqua"/>
              </a:rPr>
              <a:t> </a:t>
            </a:r>
            <a:r>
              <a:rPr dirty="0" sz="1800" spc="-5">
                <a:latin typeface="Book Antiqua"/>
                <a:cs typeface="Book Antiqua"/>
              </a:rPr>
              <a:t>//</a:t>
            </a:r>
            <a:r>
              <a:rPr dirty="0" sz="1800">
                <a:latin typeface="微软雅黑"/>
                <a:cs typeface="微软雅黑"/>
              </a:rPr>
              <a:t>加锁 </a:t>
            </a:r>
            <a:r>
              <a:rPr dirty="0" sz="1800" spc="-5">
                <a:solidFill>
                  <a:srgbClr val="A40020"/>
                </a:solidFill>
                <a:latin typeface="Book Antiqua"/>
                <a:cs typeface="Book Antiqua"/>
              </a:rPr>
              <a:t>i++;</a:t>
            </a:r>
            <a:endParaRPr sz="1800">
              <a:latin typeface="Book Antiqua"/>
              <a:cs typeface="Book Antiqua"/>
            </a:endParaRPr>
          </a:p>
          <a:p>
            <a:pPr marL="1088390" marR="308610">
              <a:lnSpc>
                <a:spcPts val="2160"/>
              </a:lnSpc>
              <a:spcBef>
                <a:spcPts val="5"/>
              </a:spcBef>
            </a:pPr>
            <a:r>
              <a:rPr dirty="0" sz="1800" spc="-5">
                <a:solidFill>
                  <a:srgbClr val="A40020"/>
                </a:solidFill>
                <a:latin typeface="Book Antiqua"/>
                <a:cs typeface="Book Antiqua"/>
              </a:rPr>
              <a:t>for(int i=1; i&lt;=10000000;i++);  System.out.print(Thread.currentThread().getName());  System.out.println(" i="+i);</a:t>
            </a:r>
            <a:endParaRPr sz="1800">
              <a:latin typeface="Book Antiqua"/>
              <a:cs typeface="Book Antiqua"/>
            </a:endParaRPr>
          </a:p>
          <a:p>
            <a:pPr marL="802640">
              <a:lnSpc>
                <a:spcPts val="2090"/>
              </a:lnSpc>
            </a:pPr>
            <a:r>
              <a:rPr dirty="0" sz="1800">
                <a:latin typeface="Book Antiqua"/>
                <a:cs typeface="Book Antiqua"/>
              </a:rPr>
              <a:t>}</a:t>
            </a:r>
            <a:endParaRPr sz="18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Book Antiqua"/>
              <a:cs typeface="Book Antiqua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Book Antiqua"/>
                <a:cs typeface="Book Antiqua"/>
              </a:rPr>
              <a:t>}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268183" y="1340637"/>
            <a:ext cx="76200" cy="1079500"/>
          </a:xfrm>
          <a:custGeom>
            <a:avLst/>
            <a:gdLst/>
            <a:ahLst/>
            <a:cxnLst/>
            <a:rect l="l" t="t" r="r" b="b"/>
            <a:pathLst>
              <a:path w="76200" h="1079500">
                <a:moveTo>
                  <a:pt x="44450" y="1022350"/>
                </a:moveTo>
                <a:lnTo>
                  <a:pt x="31750" y="1022350"/>
                </a:lnTo>
                <a:lnTo>
                  <a:pt x="31750" y="0"/>
                </a:lnTo>
                <a:lnTo>
                  <a:pt x="44450" y="0"/>
                </a:lnTo>
                <a:lnTo>
                  <a:pt x="44450" y="1022350"/>
                </a:lnTo>
                <a:close/>
              </a:path>
              <a:path w="76200" h="1079500">
                <a:moveTo>
                  <a:pt x="38100" y="1079500"/>
                </a:moveTo>
                <a:lnTo>
                  <a:pt x="0" y="1003300"/>
                </a:lnTo>
                <a:lnTo>
                  <a:pt x="31750" y="1003300"/>
                </a:lnTo>
                <a:lnTo>
                  <a:pt x="31750" y="1022350"/>
                </a:lnTo>
                <a:lnTo>
                  <a:pt x="66675" y="1022350"/>
                </a:lnTo>
                <a:lnTo>
                  <a:pt x="38100" y="1079500"/>
                </a:lnTo>
                <a:close/>
              </a:path>
              <a:path w="76200" h="1079500">
                <a:moveTo>
                  <a:pt x="66675" y="1022350"/>
                </a:moveTo>
                <a:lnTo>
                  <a:pt x="44450" y="1022350"/>
                </a:lnTo>
                <a:lnTo>
                  <a:pt x="44450" y="1003300"/>
                </a:lnTo>
                <a:lnTo>
                  <a:pt x="76200" y="1003300"/>
                </a:lnTo>
                <a:lnTo>
                  <a:pt x="66675" y="1022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73760" y="1309840"/>
            <a:ext cx="73152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A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50176" y="5323052"/>
            <a:ext cx="180403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80340">
              <a:lnSpc>
                <a:spcPct val="100000"/>
              </a:lnSpc>
              <a:spcBef>
                <a:spcPts val="105"/>
              </a:spcBef>
            </a:pPr>
            <a:r>
              <a:rPr dirty="0" sz="2000" spc="-5">
                <a:latin typeface="宋体"/>
                <a:cs typeface="宋体"/>
              </a:rPr>
              <a:t>①</a:t>
            </a:r>
            <a:r>
              <a:rPr dirty="0" sz="2000" spc="-5">
                <a:latin typeface="Book Antiqua"/>
                <a:cs typeface="Book Antiqua"/>
              </a:rPr>
              <a:t>i=4,</a:t>
            </a:r>
            <a:r>
              <a:rPr dirty="0" sz="2000" spc="-75">
                <a:latin typeface="Book Antiqua"/>
                <a:cs typeface="Book Antiqua"/>
              </a:rPr>
              <a:t> </a:t>
            </a:r>
            <a:r>
              <a:rPr dirty="0" sz="2000">
                <a:latin typeface="微软雅黑"/>
                <a:cs typeface="微软雅黑"/>
              </a:rPr>
              <a:t>通过</a:t>
            </a:r>
            <a:r>
              <a:rPr dirty="0" sz="2000" spc="-5">
                <a:latin typeface="Book Antiqua"/>
                <a:cs typeface="Book Antiqua"/>
              </a:rPr>
              <a:t>i&lt;5  </a:t>
            </a:r>
            <a:r>
              <a:rPr dirty="0" sz="2000">
                <a:latin typeface="微软雅黑"/>
                <a:cs typeface="微软雅黑"/>
              </a:rPr>
              <a:t>时间片到被换</a:t>
            </a:r>
            <a:r>
              <a:rPr dirty="0" sz="2000" spc="5">
                <a:latin typeface="微软雅黑"/>
                <a:cs typeface="微软雅黑"/>
              </a:rPr>
              <a:t>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485710" y="1340637"/>
            <a:ext cx="76200" cy="2879725"/>
          </a:xfrm>
          <a:custGeom>
            <a:avLst/>
            <a:gdLst/>
            <a:ahLst/>
            <a:cxnLst/>
            <a:rect l="l" t="t" r="r" b="b"/>
            <a:pathLst>
              <a:path w="76200" h="2879725">
                <a:moveTo>
                  <a:pt x="44450" y="2822575"/>
                </a:moveTo>
                <a:lnTo>
                  <a:pt x="31750" y="2822575"/>
                </a:lnTo>
                <a:lnTo>
                  <a:pt x="31750" y="0"/>
                </a:lnTo>
                <a:lnTo>
                  <a:pt x="44450" y="0"/>
                </a:lnTo>
                <a:lnTo>
                  <a:pt x="44450" y="2822575"/>
                </a:lnTo>
                <a:close/>
              </a:path>
              <a:path w="76200" h="2879725">
                <a:moveTo>
                  <a:pt x="38100" y="2879725"/>
                </a:moveTo>
                <a:lnTo>
                  <a:pt x="0" y="2803525"/>
                </a:lnTo>
                <a:lnTo>
                  <a:pt x="31750" y="2803525"/>
                </a:lnTo>
                <a:lnTo>
                  <a:pt x="31750" y="2822575"/>
                </a:lnTo>
                <a:lnTo>
                  <a:pt x="66675" y="2822575"/>
                </a:lnTo>
                <a:lnTo>
                  <a:pt x="38100" y="2879725"/>
                </a:lnTo>
                <a:close/>
              </a:path>
              <a:path w="76200" h="2879725">
                <a:moveTo>
                  <a:pt x="66675" y="2822575"/>
                </a:moveTo>
                <a:lnTo>
                  <a:pt x="44450" y="2822575"/>
                </a:lnTo>
                <a:lnTo>
                  <a:pt x="44450" y="2803525"/>
                </a:lnTo>
                <a:lnTo>
                  <a:pt x="76200" y="2803525"/>
                </a:lnTo>
                <a:lnTo>
                  <a:pt x="66675" y="2822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638656" y="1309840"/>
            <a:ext cx="6889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线程</a:t>
            </a:r>
            <a:r>
              <a:rPr dirty="0" sz="2000">
                <a:latin typeface="Book Antiqua"/>
                <a:cs typeface="Book Antiqua"/>
              </a:rPr>
              <a:t>B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228588" y="4750308"/>
            <a:ext cx="2231390" cy="1938655"/>
          </a:xfrm>
          <a:custGeom>
            <a:avLst/>
            <a:gdLst/>
            <a:ahLst/>
            <a:cxnLst/>
            <a:rect l="l" t="t" r="r" b="b"/>
            <a:pathLst>
              <a:path w="2231390" h="1938654">
                <a:moveTo>
                  <a:pt x="0" y="0"/>
                </a:moveTo>
                <a:lnTo>
                  <a:pt x="2231136" y="0"/>
                </a:lnTo>
                <a:lnTo>
                  <a:pt x="2231136" y="1938528"/>
                </a:lnTo>
                <a:lnTo>
                  <a:pt x="0" y="19385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6306921" y="4787150"/>
            <a:ext cx="1042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②被换</a:t>
            </a:r>
            <a:r>
              <a:rPr dirty="0" sz="2000" spc="5">
                <a:latin typeface="宋体"/>
                <a:cs typeface="宋体"/>
              </a:rPr>
              <a:t>上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06921" y="5091950"/>
            <a:ext cx="2058035" cy="9398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395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加锁，进入同步</a:t>
            </a:r>
            <a:r>
              <a:rPr dirty="0" sz="2000" spc="5">
                <a:latin typeface="宋体"/>
                <a:cs typeface="宋体"/>
              </a:rPr>
              <a:t>块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395"/>
              </a:lnSpc>
            </a:pPr>
            <a:r>
              <a:rPr dirty="0" sz="2000" spc="-5">
                <a:latin typeface="Book Antiqua"/>
                <a:cs typeface="Book Antiqua"/>
              </a:rPr>
              <a:t>i=5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宋体"/>
                <a:cs typeface="宋体"/>
              </a:rPr>
              <a:t>输出</a:t>
            </a:r>
            <a:r>
              <a:rPr dirty="0" sz="2000" spc="-5">
                <a:latin typeface="宋体"/>
                <a:cs typeface="宋体"/>
              </a:rPr>
              <a:t>:</a:t>
            </a:r>
            <a:r>
              <a:rPr dirty="0" sz="2000" spc="-15">
                <a:latin typeface="宋体"/>
                <a:cs typeface="宋体"/>
              </a:rPr>
              <a:t> </a:t>
            </a:r>
            <a:r>
              <a:rPr dirty="0" sz="2000">
                <a:latin typeface="Book Antiqua"/>
                <a:cs typeface="Book Antiqua"/>
              </a:rPr>
              <a:t>B</a:t>
            </a:r>
            <a:r>
              <a:rPr dirty="0" sz="2000" spc="-10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i=5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06921" y="6013970"/>
            <a:ext cx="788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释放</a:t>
            </a:r>
            <a:r>
              <a:rPr dirty="0" sz="2000" spc="5">
                <a:latin typeface="微软雅黑"/>
                <a:cs typeface="微软雅黑"/>
              </a:rPr>
              <a:t>锁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06921" y="6318770"/>
            <a:ext cx="180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时间片到被换</a:t>
            </a:r>
            <a:r>
              <a:rPr dirty="0" sz="2000" spc="5">
                <a:latin typeface="微软雅黑"/>
                <a:cs typeface="微软雅黑"/>
              </a:rPr>
              <a:t>下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55748" y="4867655"/>
            <a:ext cx="1554480" cy="1938655"/>
          </a:xfrm>
          <a:custGeom>
            <a:avLst/>
            <a:gdLst/>
            <a:ahLst/>
            <a:cxnLst/>
            <a:rect l="l" t="t" r="r" b="b"/>
            <a:pathLst>
              <a:path w="1554479" h="1938654">
                <a:moveTo>
                  <a:pt x="0" y="0"/>
                </a:moveTo>
                <a:lnTo>
                  <a:pt x="1554479" y="0"/>
                </a:lnTo>
                <a:lnTo>
                  <a:pt x="1554479" y="1938527"/>
                </a:lnTo>
                <a:lnTo>
                  <a:pt x="0" y="19385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2634513" y="4904562"/>
            <a:ext cx="1169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③</a:t>
            </a:r>
            <a:r>
              <a:rPr dirty="0" sz="2000" spc="-95">
                <a:latin typeface="宋体"/>
                <a:cs typeface="宋体"/>
              </a:rPr>
              <a:t> </a:t>
            </a:r>
            <a:r>
              <a:rPr dirty="0" sz="2000">
                <a:latin typeface="宋体"/>
                <a:cs typeface="宋体"/>
              </a:rPr>
              <a:t>被换</a:t>
            </a:r>
            <a:r>
              <a:rPr dirty="0" sz="2000" spc="5">
                <a:latin typeface="宋体"/>
                <a:cs typeface="宋体"/>
              </a:rPr>
              <a:t>上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34513" y="5209362"/>
            <a:ext cx="1296035" cy="12534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宋体"/>
                <a:cs typeface="宋体"/>
              </a:rPr>
              <a:t>获得</a:t>
            </a:r>
            <a:r>
              <a:rPr dirty="0" sz="2000" spc="5">
                <a:latin typeface="宋体"/>
                <a:cs typeface="宋体"/>
              </a:rPr>
              <a:t>锁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395"/>
              </a:lnSpc>
            </a:pPr>
            <a:r>
              <a:rPr dirty="0" sz="2000">
                <a:latin typeface="宋体"/>
                <a:cs typeface="宋体"/>
              </a:rPr>
              <a:t>进入同步</a:t>
            </a:r>
            <a:r>
              <a:rPr dirty="0" sz="2000" spc="5">
                <a:latin typeface="宋体"/>
                <a:cs typeface="宋体"/>
              </a:rPr>
              <a:t>块</a:t>
            </a:r>
            <a:endParaRPr sz="2000">
              <a:latin typeface="宋体"/>
              <a:cs typeface="宋体"/>
            </a:endParaRPr>
          </a:p>
          <a:p>
            <a:pPr marL="12700">
              <a:lnSpc>
                <a:spcPts val="2395"/>
              </a:lnSpc>
            </a:pPr>
            <a:r>
              <a:rPr dirty="0" sz="2000" spc="-5">
                <a:latin typeface="Book Antiqua"/>
                <a:cs typeface="Book Antiqua"/>
              </a:rPr>
              <a:t>i=6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000">
                <a:latin typeface="微软雅黑"/>
                <a:cs typeface="微软雅黑"/>
              </a:rPr>
              <a:t>输</a:t>
            </a:r>
            <a:r>
              <a:rPr dirty="0" sz="2000" spc="5">
                <a:latin typeface="微软雅黑"/>
                <a:cs typeface="微软雅黑"/>
              </a:rPr>
              <a:t>出</a:t>
            </a:r>
            <a:r>
              <a:rPr dirty="0" sz="2000" spc="-125">
                <a:latin typeface="微软雅黑"/>
                <a:cs typeface="微软雅黑"/>
              </a:rPr>
              <a:t> </a:t>
            </a:r>
            <a:r>
              <a:rPr dirty="0" sz="2000">
                <a:latin typeface="Book Antiqua"/>
                <a:cs typeface="Book Antiqua"/>
              </a:rPr>
              <a:t>A</a:t>
            </a:r>
            <a:r>
              <a:rPr dirty="0" sz="2000" spc="-30">
                <a:latin typeface="Book Antiqua"/>
                <a:cs typeface="Book Antiqua"/>
              </a:rPr>
              <a:t> </a:t>
            </a:r>
            <a:r>
              <a:rPr dirty="0" sz="2000" spc="-5">
                <a:latin typeface="Book Antiqua"/>
                <a:cs typeface="Book Antiqua"/>
              </a:rPr>
              <a:t>i=6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34513" y="6427292"/>
            <a:ext cx="5340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Book Antiqua"/>
                <a:cs typeface="Book Antiqua"/>
              </a:rPr>
              <a:t>…</a:t>
            </a:r>
            <a:r>
              <a:rPr dirty="0" sz="2000" spc="5">
                <a:latin typeface="Book Antiqua"/>
                <a:cs typeface="Book Antiqua"/>
              </a:rPr>
              <a:t>…</a:t>
            </a:r>
            <a:endParaRPr sz="2000">
              <a:latin typeface="Book Antiqua"/>
              <a:cs typeface="Book Antiqu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268183" y="2529674"/>
            <a:ext cx="76200" cy="1729105"/>
          </a:xfrm>
          <a:custGeom>
            <a:avLst/>
            <a:gdLst/>
            <a:ahLst/>
            <a:cxnLst/>
            <a:rect l="l" t="t" r="r" b="b"/>
            <a:pathLst>
              <a:path w="76200" h="1729104">
                <a:moveTo>
                  <a:pt x="44450" y="1671637"/>
                </a:moveTo>
                <a:lnTo>
                  <a:pt x="31750" y="1671637"/>
                </a:lnTo>
                <a:lnTo>
                  <a:pt x="31750" y="0"/>
                </a:lnTo>
                <a:lnTo>
                  <a:pt x="44450" y="0"/>
                </a:lnTo>
                <a:lnTo>
                  <a:pt x="44450" y="1671637"/>
                </a:lnTo>
                <a:close/>
              </a:path>
              <a:path w="76200" h="1729104">
                <a:moveTo>
                  <a:pt x="38100" y="1728787"/>
                </a:moveTo>
                <a:lnTo>
                  <a:pt x="0" y="1652587"/>
                </a:lnTo>
                <a:lnTo>
                  <a:pt x="31750" y="1652587"/>
                </a:lnTo>
                <a:lnTo>
                  <a:pt x="31750" y="1671637"/>
                </a:lnTo>
                <a:lnTo>
                  <a:pt x="66675" y="1671637"/>
                </a:lnTo>
                <a:lnTo>
                  <a:pt x="38100" y="1728787"/>
                </a:lnTo>
                <a:close/>
              </a:path>
              <a:path w="76200" h="1729104">
                <a:moveTo>
                  <a:pt x="66675" y="1671637"/>
                </a:moveTo>
                <a:lnTo>
                  <a:pt x="44450" y="1671637"/>
                </a:lnTo>
                <a:lnTo>
                  <a:pt x="44450" y="1652587"/>
                </a:lnTo>
                <a:lnTo>
                  <a:pt x="76200" y="1652587"/>
                </a:lnTo>
                <a:lnTo>
                  <a:pt x="66675" y="16716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554162" y="375437"/>
            <a:ext cx="125882" cy="3765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734502" y="370357"/>
            <a:ext cx="193039" cy="3175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976285" y="344322"/>
            <a:ext cx="1191729" cy="40767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204527" y="370357"/>
            <a:ext cx="193039" cy="3175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489007" y="342417"/>
            <a:ext cx="2345613" cy="39623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85497" y="359562"/>
            <a:ext cx="74295" cy="3232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032817" y="370357"/>
            <a:ext cx="494029" cy="3175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65582" y="370357"/>
            <a:ext cx="171450" cy="3175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18220" y="3184423"/>
            <a:ext cx="251460" cy="276860"/>
          </a:xfrm>
          <a:custGeom>
            <a:avLst/>
            <a:gdLst/>
            <a:ahLst/>
            <a:cxnLst/>
            <a:rect l="l" t="t" r="r" b="b"/>
            <a:pathLst>
              <a:path w="251460" h="276860">
                <a:moveTo>
                  <a:pt x="0" y="276860"/>
                </a:moveTo>
                <a:lnTo>
                  <a:pt x="251460" y="276860"/>
                </a:lnTo>
                <a:lnTo>
                  <a:pt x="251460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269680" y="3184423"/>
            <a:ext cx="125730" cy="276860"/>
          </a:xfrm>
          <a:custGeom>
            <a:avLst/>
            <a:gdLst/>
            <a:ahLst/>
            <a:cxnLst/>
            <a:rect l="l" t="t" r="r" b="b"/>
            <a:pathLst>
              <a:path w="125730" h="276860">
                <a:moveTo>
                  <a:pt x="0" y="276860"/>
                </a:moveTo>
                <a:lnTo>
                  <a:pt x="125730" y="276860"/>
                </a:lnTo>
                <a:lnTo>
                  <a:pt x="125730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395410" y="3184423"/>
            <a:ext cx="125730" cy="276860"/>
          </a:xfrm>
          <a:custGeom>
            <a:avLst/>
            <a:gdLst/>
            <a:ahLst/>
            <a:cxnLst/>
            <a:rect l="l" t="t" r="r" b="b"/>
            <a:pathLst>
              <a:path w="125730" h="276860">
                <a:moveTo>
                  <a:pt x="0" y="276860"/>
                </a:moveTo>
                <a:lnTo>
                  <a:pt x="125729" y="276860"/>
                </a:lnTo>
                <a:lnTo>
                  <a:pt x="125729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21140" y="3184423"/>
            <a:ext cx="628650" cy="276860"/>
          </a:xfrm>
          <a:custGeom>
            <a:avLst/>
            <a:gdLst/>
            <a:ahLst/>
            <a:cxnLst/>
            <a:rect l="l" t="t" r="r" b="b"/>
            <a:pathLst>
              <a:path w="628650" h="276860">
                <a:moveTo>
                  <a:pt x="0" y="276860"/>
                </a:moveTo>
                <a:lnTo>
                  <a:pt x="628650" y="276860"/>
                </a:lnTo>
                <a:lnTo>
                  <a:pt x="628650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149790" y="3184423"/>
            <a:ext cx="628650" cy="276860"/>
          </a:xfrm>
          <a:custGeom>
            <a:avLst/>
            <a:gdLst/>
            <a:ahLst/>
            <a:cxnLst/>
            <a:rect l="l" t="t" r="r" b="b"/>
            <a:pathLst>
              <a:path w="628650" h="276860">
                <a:moveTo>
                  <a:pt x="0" y="276860"/>
                </a:moveTo>
                <a:lnTo>
                  <a:pt x="628650" y="276860"/>
                </a:lnTo>
                <a:lnTo>
                  <a:pt x="628650" y="0"/>
                </a:lnTo>
                <a:lnTo>
                  <a:pt x="0" y="0"/>
                </a:lnTo>
                <a:lnTo>
                  <a:pt x="0" y="27686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78440" y="3184423"/>
            <a:ext cx="135255" cy="276860"/>
          </a:xfrm>
          <a:custGeom>
            <a:avLst/>
            <a:gdLst/>
            <a:ahLst/>
            <a:cxnLst/>
            <a:rect l="l" t="t" r="r" b="b"/>
            <a:pathLst>
              <a:path w="135254" h="276860">
                <a:moveTo>
                  <a:pt x="0" y="0"/>
                </a:moveTo>
                <a:lnTo>
                  <a:pt x="135254" y="0"/>
                </a:lnTo>
                <a:lnTo>
                  <a:pt x="135254" y="276860"/>
                </a:lnTo>
                <a:lnTo>
                  <a:pt x="0" y="276860"/>
                </a:lnTo>
                <a:lnTo>
                  <a:pt x="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86245" y="1791868"/>
            <a:ext cx="8769350" cy="3865879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algn="just" marL="469900" marR="3216910" indent="-457200">
              <a:lnSpc>
                <a:spcPct val="103200"/>
              </a:lnSpc>
              <a:spcBef>
                <a:spcPts val="30"/>
              </a:spcBef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class </a:t>
            </a:r>
            <a:r>
              <a:rPr dirty="0" sz="1800" b="1">
                <a:latin typeface="Consolas"/>
                <a:cs typeface="Consolas"/>
              </a:rPr>
              <a:t>MyRunnable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implements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Runnable{ 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private</a:t>
            </a:r>
            <a:r>
              <a:rPr dirty="0" sz="1800" spc="-1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</a:t>
            </a:r>
            <a:r>
              <a:rPr dirty="0" sz="1800" spc="-5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=0;</a:t>
            </a:r>
            <a:r>
              <a:rPr dirty="0" sz="1800" spc="975" b="1"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3E7E5F"/>
                </a:solidFill>
                <a:latin typeface="Consolas"/>
                <a:cs typeface="Consolas"/>
              </a:rPr>
              <a:t>//i</a:t>
            </a:r>
            <a:r>
              <a:rPr dirty="0" sz="1800" b="1">
                <a:solidFill>
                  <a:srgbClr val="3E7E5F"/>
                </a:solidFill>
                <a:latin typeface="微软雅黑"/>
                <a:cs typeface="微软雅黑"/>
              </a:rPr>
              <a:t>作为属性</a:t>
            </a:r>
            <a:endParaRPr sz="1800">
              <a:latin typeface="微软雅黑"/>
              <a:cs typeface="微软雅黑"/>
            </a:endParaRPr>
          </a:p>
          <a:p>
            <a:pPr algn="just" marL="927100" marR="6029325" indent="-457200">
              <a:lnSpc>
                <a:spcPts val="216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public void</a:t>
            </a:r>
            <a:r>
              <a:rPr dirty="0" sz="1800" spc="-100" b="1">
                <a:solidFill>
                  <a:srgbClr val="7E0054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latin typeface="Consolas"/>
                <a:cs typeface="Consolas"/>
              </a:rPr>
              <a:t>run(){ 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while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&lt;5){</a:t>
            </a:r>
            <a:endParaRPr sz="1800">
              <a:latin typeface="Consolas"/>
              <a:cs typeface="Consolas"/>
            </a:endParaRPr>
          </a:p>
          <a:p>
            <a:pPr algn="just" marL="1841500" marR="4988560" indent="-457200">
              <a:lnSpc>
                <a:spcPts val="216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synchronized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this</a:t>
            </a:r>
            <a:r>
              <a:rPr dirty="0" sz="1800" b="1">
                <a:latin typeface="Consolas"/>
                <a:cs typeface="Consolas"/>
              </a:rPr>
              <a:t>){ 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if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==5) 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break</a:t>
            </a:r>
            <a:r>
              <a:rPr dirty="0" sz="1800" b="1">
                <a:latin typeface="Consolas"/>
                <a:cs typeface="Consolas"/>
              </a:rPr>
              <a:t>;  </a:t>
            </a:r>
            <a:r>
              <a:rPr dirty="0" sz="1800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>
                <a:latin typeface="Consolas"/>
                <a:cs typeface="Consolas"/>
              </a:rPr>
              <a:t>++;</a:t>
            </a:r>
            <a:endParaRPr sz="1800">
              <a:latin typeface="Consolas"/>
              <a:cs typeface="Consolas"/>
            </a:endParaRPr>
          </a:p>
          <a:p>
            <a:pPr marL="1841500" marR="5080">
              <a:lnSpc>
                <a:spcPts val="2160"/>
              </a:lnSpc>
            </a:pP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for </a:t>
            </a:r>
            <a:r>
              <a:rPr dirty="0" sz="1800" b="1">
                <a:latin typeface="Consolas"/>
                <a:cs typeface="Consolas"/>
              </a:rPr>
              <a:t>(</a:t>
            </a:r>
            <a:r>
              <a:rPr dirty="0" sz="1800" b="1">
                <a:solidFill>
                  <a:srgbClr val="7E0054"/>
                </a:solidFill>
                <a:latin typeface="Consolas"/>
                <a:cs typeface="Consolas"/>
              </a:rPr>
              <a:t>int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 </a:t>
            </a:r>
            <a:r>
              <a:rPr dirty="0" sz="1800" b="1">
                <a:latin typeface="Consolas"/>
                <a:cs typeface="Consolas"/>
              </a:rPr>
              <a:t>= 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 </a:t>
            </a:r>
            <a:r>
              <a:rPr dirty="0" sz="1800" b="1">
                <a:latin typeface="Consolas"/>
                <a:cs typeface="Consolas"/>
              </a:rPr>
              <a:t>&lt; 20000000; </a:t>
            </a:r>
            <a:r>
              <a:rPr dirty="0" sz="1800" b="1">
                <a:solidFill>
                  <a:srgbClr val="6A3D3D"/>
                </a:solidFill>
                <a:latin typeface="Consolas"/>
                <a:cs typeface="Consolas"/>
              </a:rPr>
              <a:t>j</a:t>
            </a:r>
            <a:r>
              <a:rPr dirty="0" sz="1800" b="1">
                <a:latin typeface="Consolas"/>
                <a:cs typeface="Consolas"/>
              </a:rPr>
              <a:t>++);  </a:t>
            </a: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.print(Thread.currentThread().getName()+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spc="-100" b="1">
                <a:solidFill>
                  <a:srgbClr val="2A00FF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</a:t>
            </a:r>
            <a:r>
              <a:rPr dirty="0" sz="1800" b="1">
                <a:latin typeface="Consolas"/>
                <a:cs typeface="Consolas"/>
              </a:rPr>
              <a:t>);  </a:t>
            </a:r>
            <a:r>
              <a:rPr dirty="0" sz="1800">
                <a:latin typeface="Consolas"/>
                <a:cs typeface="Consolas"/>
              </a:rPr>
              <a:t>System.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out</a:t>
            </a:r>
            <a:r>
              <a:rPr dirty="0" sz="1800" b="1">
                <a:latin typeface="Consolas"/>
                <a:cs typeface="Consolas"/>
              </a:rPr>
              <a:t>.println(</a:t>
            </a:r>
            <a:r>
              <a:rPr dirty="0" sz="1800" b="1">
                <a:solidFill>
                  <a:srgbClr val="2A00FF"/>
                </a:solidFill>
                <a:latin typeface="Consolas"/>
                <a:cs typeface="Consolas"/>
              </a:rPr>
              <a:t>"i="</a:t>
            </a:r>
            <a:r>
              <a:rPr dirty="0" sz="1800" b="1">
                <a:latin typeface="Consolas"/>
                <a:cs typeface="Consolas"/>
              </a:rPr>
              <a:t>+</a:t>
            </a:r>
            <a:r>
              <a:rPr dirty="0" sz="1800" b="1">
                <a:solidFill>
                  <a:srgbClr val="0000C0"/>
                </a:solidFill>
                <a:latin typeface="Consolas"/>
                <a:cs typeface="Consolas"/>
              </a:rPr>
              <a:t>i</a:t>
            </a:r>
            <a:r>
              <a:rPr dirty="0" sz="1800" b="1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1384300">
              <a:lnSpc>
                <a:spcPts val="209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5332" y="614794"/>
            <a:ext cx="2253856" cy="4438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6130" y="1481454"/>
            <a:ext cx="6680834" cy="350583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84150" marR="5080" indent="-171450">
              <a:lnSpc>
                <a:spcPts val="2270"/>
              </a:lnSpc>
              <a:spcBef>
                <a:spcPts val="38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如果一个方法内的所有代码组成“原子”操作，那么可 以将该方法定义为同步方法，使用</a:t>
            </a:r>
            <a:r>
              <a:rPr dirty="0" sz="2100" spc="-5">
                <a:latin typeface="微软雅黑"/>
                <a:cs typeface="微软雅黑"/>
              </a:rPr>
              <a:t>sy</a:t>
            </a:r>
            <a:r>
              <a:rPr dirty="0" sz="2100">
                <a:latin typeface="微软雅黑"/>
                <a:cs typeface="微软雅黑"/>
              </a:rPr>
              <a:t>nch</a:t>
            </a:r>
            <a:r>
              <a:rPr dirty="0" sz="2100" spc="-35">
                <a:latin typeface="微软雅黑"/>
                <a:cs typeface="微软雅黑"/>
              </a:rPr>
              <a:t>r</a:t>
            </a:r>
            <a:r>
              <a:rPr dirty="0" sz="2100" spc="-5">
                <a:latin typeface="微软雅黑"/>
                <a:cs typeface="微软雅黑"/>
              </a:rPr>
              <a:t>o</a:t>
            </a:r>
            <a:r>
              <a:rPr dirty="0" sz="2100">
                <a:latin typeface="微软雅黑"/>
                <a:cs typeface="微软雅黑"/>
              </a:rPr>
              <a:t>niz</a:t>
            </a:r>
            <a:r>
              <a:rPr dirty="0" sz="2100" spc="-5">
                <a:latin typeface="微软雅黑"/>
                <a:cs typeface="微软雅黑"/>
              </a:rPr>
              <a:t>e</a:t>
            </a:r>
            <a:r>
              <a:rPr dirty="0" sz="2100">
                <a:latin typeface="微软雅黑"/>
                <a:cs typeface="微软雅黑"/>
              </a:rPr>
              <a:t>d关键字 修饰。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"/>
              <a:buChar char="•"/>
            </a:pPr>
            <a:endParaRPr sz="185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如果是实例方法，则方法的调用者</a:t>
            </a:r>
            <a:r>
              <a:rPr dirty="0" sz="2100" spc="-5">
                <a:latin typeface="微软雅黑"/>
                <a:cs typeface="微软雅黑"/>
              </a:rPr>
              <a:t>（this）</a:t>
            </a:r>
            <a:r>
              <a:rPr dirty="0" sz="2100">
                <a:latin typeface="微软雅黑"/>
                <a:cs typeface="微软雅黑"/>
              </a:rPr>
              <a:t>被加锁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19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如果是类方法，则方法的调用者（所在类）被加锁</a:t>
            </a:r>
            <a:endParaRPr sz="2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050">
              <a:latin typeface="微软雅黑"/>
              <a:cs typeface="微软雅黑"/>
            </a:endParaRPr>
          </a:p>
          <a:p>
            <a:pPr marL="184150" marR="88265" indent="-171450">
              <a:lnSpc>
                <a:spcPts val="2260"/>
              </a:lnSpc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无论是同步代码块还是同步方法都会导致性能的降低， 所以要精确控制同步代码块的区域。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.4	同步方法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5676900" cy="34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11</a:t>
            </a:r>
            <a:r>
              <a:rPr dirty="0" sz="2100">
                <a:latin typeface="微软雅黑"/>
                <a:cs typeface="微软雅黑"/>
              </a:rPr>
              <a:t>-</a:t>
            </a:r>
            <a:r>
              <a:rPr dirty="0" sz="2100" spc="-5">
                <a:latin typeface="微软雅黑"/>
                <a:cs typeface="微软雅黑"/>
              </a:rPr>
              <a:t>6</a:t>
            </a:r>
            <a:r>
              <a:rPr dirty="0" sz="2100">
                <a:latin typeface="微软雅黑"/>
                <a:cs typeface="微软雅黑"/>
              </a:rPr>
              <a:t>】完成多线程环境下的银行取钱操作。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2061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5</a:t>
            </a:r>
            <a:r>
              <a:rPr dirty="0" sz="2100" b="1">
                <a:latin typeface="微软雅黑"/>
                <a:cs typeface="微软雅黑"/>
              </a:rPr>
              <a:t>.4	同步方法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86534"/>
            <a:ext cx="7283450" cy="84010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184150" marR="5080" indent="-171450">
              <a:lnSpc>
                <a:spcPts val="1939"/>
              </a:lnSpc>
              <a:spcBef>
                <a:spcPts val="345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在多线程环境中，线程之间经常需要协调通信从而共同完成一件任务。  </a:t>
            </a:r>
            <a:r>
              <a:rPr dirty="0" sz="1800" spc="-20">
                <a:latin typeface="微软雅黑"/>
                <a:cs typeface="微软雅黑"/>
              </a:rPr>
              <a:t>Java</a:t>
            </a:r>
            <a:r>
              <a:rPr dirty="0" sz="1800">
                <a:latin typeface="微软雅黑"/>
                <a:cs typeface="微软雅黑"/>
              </a:rPr>
              <a:t>传统的线程通信是通过</a:t>
            </a:r>
            <a:r>
              <a:rPr dirty="0" sz="1800" spc="-5">
                <a:latin typeface="微软雅黑"/>
                <a:cs typeface="微软雅黑"/>
              </a:rPr>
              <a:t>Object</a:t>
            </a:r>
            <a:r>
              <a:rPr dirty="0" sz="1800">
                <a:latin typeface="微软雅黑"/>
                <a:cs typeface="微软雅黑"/>
              </a:rPr>
              <a:t>类中的</a:t>
            </a:r>
            <a:r>
              <a:rPr dirty="0" sz="1800" spc="-5">
                <a:latin typeface="微软雅黑"/>
                <a:cs typeface="微软雅黑"/>
              </a:rPr>
              <a:t>wait()</a:t>
            </a:r>
            <a:r>
              <a:rPr dirty="0" sz="1800">
                <a:latin typeface="微软雅黑"/>
                <a:cs typeface="微软雅黑"/>
              </a:rPr>
              <a:t>和notify()方法完成。</a:t>
            </a:r>
            <a:endParaRPr sz="1800">
              <a:latin typeface="微软雅黑"/>
              <a:cs typeface="微软雅黑"/>
            </a:endParaRPr>
          </a:p>
          <a:p>
            <a:pPr marL="184150" indent="-17145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 spc="-20">
                <a:latin typeface="微软雅黑"/>
                <a:cs typeface="微软雅黑"/>
              </a:rPr>
              <a:t>Java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SE5.0</a:t>
            </a:r>
            <a:r>
              <a:rPr dirty="0" sz="1800">
                <a:latin typeface="微软雅黑"/>
                <a:cs typeface="微软雅黑"/>
              </a:rPr>
              <a:t>中增加了阻塞队列</a:t>
            </a:r>
            <a:r>
              <a:rPr dirty="0" sz="1800" spc="-5">
                <a:latin typeface="微软雅黑"/>
                <a:cs typeface="微软雅黑"/>
              </a:rPr>
              <a:t>BlockingQueue</a:t>
            </a:r>
            <a:r>
              <a:rPr dirty="0" sz="1800">
                <a:latin typeface="微软雅黑"/>
                <a:cs typeface="微软雅黑"/>
              </a:rPr>
              <a:t>等方式控制线程通信。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2353945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0410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.6	线程间的通信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1640" y="1466849"/>
            <a:ext cx="7512050" cy="8597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54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 spc="-5">
                <a:latin typeface="微软雅黑"/>
                <a:cs typeface="微软雅黑"/>
              </a:rPr>
              <a:t>Object</a:t>
            </a:r>
            <a:r>
              <a:rPr dirty="0" sz="1800">
                <a:latin typeface="微软雅黑"/>
                <a:cs typeface="微软雅黑"/>
              </a:rPr>
              <a:t>类中提供了</a:t>
            </a:r>
            <a:r>
              <a:rPr dirty="0" sz="1800" spc="-5">
                <a:latin typeface="微软雅黑"/>
                <a:cs typeface="微软雅黑"/>
              </a:rPr>
              <a:t>wait()，notify()</a:t>
            </a:r>
            <a:r>
              <a:rPr dirty="0" sz="1800">
                <a:latin typeface="微软雅黑"/>
                <a:cs typeface="微软雅黑"/>
              </a:rPr>
              <a:t>和notifyAll()3个方法来操作线程。</a:t>
            </a:r>
            <a:endParaRPr sz="1800">
              <a:latin typeface="微软雅黑"/>
              <a:cs typeface="微软雅黑"/>
            </a:endParaRPr>
          </a:p>
          <a:p>
            <a:pPr marL="184150" marR="5080" indent="-171450">
              <a:lnSpc>
                <a:spcPts val="1939"/>
              </a:lnSpc>
              <a:spcBef>
                <a:spcPts val="40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1800">
                <a:latin typeface="微软雅黑"/>
                <a:cs typeface="微软雅黑"/>
              </a:rPr>
              <a:t>它们只能在同步代码块或者同步方法内使用，而且只能通过进行同步控制 的对象（同步监视器）来调用。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585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11.6.1	wait()</a:t>
            </a:r>
            <a:r>
              <a:rPr dirty="0" sz="2100" b="1">
                <a:latin typeface="微软雅黑"/>
                <a:cs typeface="微软雅黑"/>
              </a:rPr>
              <a:t>和notify()方法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1180" y="4544644"/>
            <a:ext cx="5106035" cy="941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对于同步方法，该方法所在类的实例</a:t>
            </a:r>
            <a:r>
              <a:rPr dirty="0" sz="2000" spc="-5">
                <a:latin typeface="微软雅黑"/>
                <a:cs typeface="微软雅黑"/>
              </a:rPr>
              <a:t>this</a:t>
            </a:r>
            <a:r>
              <a:rPr dirty="0" sz="2000">
                <a:latin typeface="微软雅黑"/>
                <a:cs typeface="微软雅黑"/>
              </a:rPr>
              <a:t>就</a:t>
            </a:r>
            <a:r>
              <a:rPr dirty="0" sz="2000" spc="5">
                <a:latin typeface="微软雅黑"/>
                <a:cs typeface="微软雅黑"/>
              </a:rPr>
              <a:t>是 </a:t>
            </a:r>
            <a:r>
              <a:rPr dirty="0" sz="2000">
                <a:latin typeface="微软雅黑"/>
                <a:cs typeface="微软雅黑"/>
              </a:rPr>
              <a:t>同步监视器，所以可以在同步方法中直接调</a:t>
            </a:r>
            <a:r>
              <a:rPr dirty="0" sz="2000">
                <a:latin typeface="微软雅黑"/>
                <a:cs typeface="微软雅黑"/>
              </a:rPr>
              <a:t>用 </a:t>
            </a:r>
            <a:r>
              <a:rPr dirty="0" sz="2000">
                <a:latin typeface="微软雅黑"/>
                <a:cs typeface="微软雅黑"/>
              </a:rPr>
              <a:t>这</a:t>
            </a:r>
            <a:r>
              <a:rPr dirty="0" sz="2000" spc="-5">
                <a:latin typeface="微软雅黑"/>
                <a:cs typeface="微软雅黑"/>
              </a:rPr>
              <a:t>3</a:t>
            </a:r>
            <a:r>
              <a:rPr dirty="0" sz="2000">
                <a:latin typeface="微软雅黑"/>
                <a:cs typeface="微软雅黑"/>
              </a:rPr>
              <a:t>个方法，如</a:t>
            </a:r>
            <a:r>
              <a:rPr dirty="0" sz="2000" spc="-5">
                <a:latin typeface="微软雅黑"/>
                <a:cs typeface="微软雅黑"/>
              </a:rPr>
              <a:t>this.wait()</a:t>
            </a:r>
            <a:r>
              <a:rPr dirty="0" sz="2000">
                <a:latin typeface="微软雅黑"/>
                <a:cs typeface="微软雅黑"/>
              </a:rPr>
              <a:t>直接简写为</a:t>
            </a:r>
            <a:r>
              <a:rPr dirty="0" sz="2000" spc="-5">
                <a:latin typeface="微软雅黑"/>
                <a:cs typeface="微软雅黑"/>
              </a:rPr>
              <a:t>wait()</a:t>
            </a:r>
            <a:r>
              <a:rPr dirty="0" sz="2000" spc="5">
                <a:latin typeface="微软雅黑"/>
                <a:cs typeface="微软雅黑"/>
              </a:rPr>
              <a:t>。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34439" y="4518659"/>
            <a:ext cx="1417320" cy="17343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003291" y="3212592"/>
            <a:ext cx="3096767" cy="9220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00244" y="3209163"/>
            <a:ext cx="3104515" cy="929640"/>
          </a:xfrm>
          <a:custGeom>
            <a:avLst/>
            <a:gdLst/>
            <a:ahLst/>
            <a:cxnLst/>
            <a:rect l="l" t="t" r="r" b="b"/>
            <a:pathLst>
              <a:path w="3104515" h="929639">
                <a:moveTo>
                  <a:pt x="3103956" y="929639"/>
                </a:moveTo>
                <a:lnTo>
                  <a:pt x="0" y="929639"/>
                </a:lnTo>
                <a:lnTo>
                  <a:pt x="0" y="0"/>
                </a:lnTo>
                <a:lnTo>
                  <a:pt x="3103956" y="0"/>
                </a:lnTo>
                <a:lnTo>
                  <a:pt x="3103956" y="3810"/>
                </a:lnTo>
                <a:lnTo>
                  <a:pt x="7619" y="3810"/>
                </a:lnTo>
                <a:lnTo>
                  <a:pt x="3810" y="7619"/>
                </a:lnTo>
                <a:lnTo>
                  <a:pt x="7619" y="7619"/>
                </a:lnTo>
                <a:lnTo>
                  <a:pt x="7619" y="922020"/>
                </a:lnTo>
                <a:lnTo>
                  <a:pt x="3809" y="922020"/>
                </a:lnTo>
                <a:lnTo>
                  <a:pt x="7619" y="925829"/>
                </a:lnTo>
                <a:lnTo>
                  <a:pt x="3103956" y="925829"/>
                </a:lnTo>
                <a:lnTo>
                  <a:pt x="3103956" y="929639"/>
                </a:lnTo>
                <a:close/>
              </a:path>
              <a:path w="3104515" h="929639">
                <a:moveTo>
                  <a:pt x="7619" y="7619"/>
                </a:moveTo>
                <a:lnTo>
                  <a:pt x="3810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3104515" h="929639">
                <a:moveTo>
                  <a:pt x="3096336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3096336" y="3810"/>
                </a:lnTo>
                <a:lnTo>
                  <a:pt x="3096336" y="7619"/>
                </a:lnTo>
                <a:close/>
              </a:path>
              <a:path w="3104515" h="929639">
                <a:moveTo>
                  <a:pt x="3096336" y="925829"/>
                </a:moveTo>
                <a:lnTo>
                  <a:pt x="3096336" y="3810"/>
                </a:lnTo>
                <a:lnTo>
                  <a:pt x="3100146" y="7619"/>
                </a:lnTo>
                <a:lnTo>
                  <a:pt x="3103956" y="7619"/>
                </a:lnTo>
                <a:lnTo>
                  <a:pt x="3103956" y="922020"/>
                </a:lnTo>
                <a:lnTo>
                  <a:pt x="3100146" y="922020"/>
                </a:lnTo>
                <a:lnTo>
                  <a:pt x="3096336" y="925829"/>
                </a:lnTo>
                <a:close/>
              </a:path>
              <a:path w="3104515" h="929639">
                <a:moveTo>
                  <a:pt x="3103956" y="7619"/>
                </a:moveTo>
                <a:lnTo>
                  <a:pt x="3100146" y="7619"/>
                </a:lnTo>
                <a:lnTo>
                  <a:pt x="3096336" y="3810"/>
                </a:lnTo>
                <a:lnTo>
                  <a:pt x="3103956" y="3810"/>
                </a:lnTo>
                <a:lnTo>
                  <a:pt x="3103956" y="7619"/>
                </a:lnTo>
                <a:close/>
              </a:path>
              <a:path w="3104515" h="929639">
                <a:moveTo>
                  <a:pt x="7619" y="925829"/>
                </a:moveTo>
                <a:lnTo>
                  <a:pt x="3809" y="922020"/>
                </a:lnTo>
                <a:lnTo>
                  <a:pt x="7619" y="922020"/>
                </a:lnTo>
                <a:lnTo>
                  <a:pt x="7619" y="925829"/>
                </a:lnTo>
                <a:close/>
              </a:path>
              <a:path w="3104515" h="929639">
                <a:moveTo>
                  <a:pt x="3096336" y="925829"/>
                </a:moveTo>
                <a:lnTo>
                  <a:pt x="7619" y="925829"/>
                </a:lnTo>
                <a:lnTo>
                  <a:pt x="7619" y="922020"/>
                </a:lnTo>
                <a:lnTo>
                  <a:pt x="3096336" y="922020"/>
                </a:lnTo>
                <a:lnTo>
                  <a:pt x="3096336" y="925829"/>
                </a:lnTo>
                <a:close/>
              </a:path>
              <a:path w="3104515" h="929639">
                <a:moveTo>
                  <a:pt x="3103956" y="925829"/>
                </a:moveTo>
                <a:lnTo>
                  <a:pt x="3096336" y="925829"/>
                </a:lnTo>
                <a:lnTo>
                  <a:pt x="3100146" y="922020"/>
                </a:lnTo>
                <a:lnTo>
                  <a:pt x="3103956" y="922020"/>
                </a:lnTo>
                <a:lnTo>
                  <a:pt x="3103956" y="925829"/>
                </a:lnTo>
                <a:close/>
              </a:path>
            </a:pathLst>
          </a:custGeom>
          <a:solidFill>
            <a:srgbClr val="006C3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003291" y="3240913"/>
            <a:ext cx="309689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synchonized </a:t>
            </a:r>
            <a:r>
              <a:rPr dirty="0" sz="1800">
                <a:latin typeface="微软雅黑"/>
                <a:cs typeface="微软雅黑"/>
              </a:rPr>
              <a:t>方法名{</a:t>
            </a:r>
            <a:endParaRPr sz="1800">
              <a:latin typeface="微软雅黑"/>
              <a:cs typeface="微软雅黑"/>
            </a:endParaRPr>
          </a:p>
          <a:p>
            <a:pPr marL="4318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9200" y="3212592"/>
            <a:ext cx="3241548" cy="922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15872" y="3209163"/>
            <a:ext cx="3248025" cy="929640"/>
          </a:xfrm>
          <a:custGeom>
            <a:avLst/>
            <a:gdLst/>
            <a:ahLst/>
            <a:cxnLst/>
            <a:rect l="l" t="t" r="r" b="b"/>
            <a:pathLst>
              <a:path w="3248025" h="929639">
                <a:moveTo>
                  <a:pt x="3247974" y="929639"/>
                </a:moveTo>
                <a:lnTo>
                  <a:pt x="0" y="929639"/>
                </a:lnTo>
                <a:lnTo>
                  <a:pt x="0" y="0"/>
                </a:lnTo>
                <a:lnTo>
                  <a:pt x="3247974" y="0"/>
                </a:lnTo>
                <a:lnTo>
                  <a:pt x="3247974" y="3810"/>
                </a:lnTo>
                <a:lnTo>
                  <a:pt x="7619" y="3810"/>
                </a:lnTo>
                <a:lnTo>
                  <a:pt x="3809" y="7619"/>
                </a:lnTo>
                <a:lnTo>
                  <a:pt x="7619" y="7619"/>
                </a:lnTo>
                <a:lnTo>
                  <a:pt x="7619" y="922020"/>
                </a:lnTo>
                <a:lnTo>
                  <a:pt x="3809" y="922020"/>
                </a:lnTo>
                <a:lnTo>
                  <a:pt x="7619" y="925829"/>
                </a:lnTo>
                <a:lnTo>
                  <a:pt x="3247974" y="925829"/>
                </a:lnTo>
                <a:lnTo>
                  <a:pt x="3247974" y="929639"/>
                </a:lnTo>
                <a:close/>
              </a:path>
              <a:path w="3248025" h="929639">
                <a:moveTo>
                  <a:pt x="7619" y="7619"/>
                </a:moveTo>
                <a:lnTo>
                  <a:pt x="3809" y="7619"/>
                </a:lnTo>
                <a:lnTo>
                  <a:pt x="7619" y="3810"/>
                </a:lnTo>
                <a:lnTo>
                  <a:pt x="7619" y="7619"/>
                </a:lnTo>
                <a:close/>
              </a:path>
              <a:path w="3248025" h="929639">
                <a:moveTo>
                  <a:pt x="3240354" y="7619"/>
                </a:moveTo>
                <a:lnTo>
                  <a:pt x="7619" y="7619"/>
                </a:lnTo>
                <a:lnTo>
                  <a:pt x="7619" y="3810"/>
                </a:lnTo>
                <a:lnTo>
                  <a:pt x="3240354" y="3810"/>
                </a:lnTo>
                <a:lnTo>
                  <a:pt x="3240354" y="7619"/>
                </a:lnTo>
                <a:close/>
              </a:path>
              <a:path w="3248025" h="929639">
                <a:moveTo>
                  <a:pt x="3240354" y="925829"/>
                </a:moveTo>
                <a:lnTo>
                  <a:pt x="3240354" y="3810"/>
                </a:lnTo>
                <a:lnTo>
                  <a:pt x="3244164" y="7619"/>
                </a:lnTo>
                <a:lnTo>
                  <a:pt x="3247974" y="7619"/>
                </a:lnTo>
                <a:lnTo>
                  <a:pt x="3247974" y="922020"/>
                </a:lnTo>
                <a:lnTo>
                  <a:pt x="3244164" y="922020"/>
                </a:lnTo>
                <a:lnTo>
                  <a:pt x="3240354" y="925829"/>
                </a:lnTo>
                <a:close/>
              </a:path>
              <a:path w="3248025" h="929639">
                <a:moveTo>
                  <a:pt x="3247974" y="7619"/>
                </a:moveTo>
                <a:lnTo>
                  <a:pt x="3244164" y="7619"/>
                </a:lnTo>
                <a:lnTo>
                  <a:pt x="3240354" y="3810"/>
                </a:lnTo>
                <a:lnTo>
                  <a:pt x="3247974" y="3810"/>
                </a:lnTo>
                <a:lnTo>
                  <a:pt x="3247974" y="7619"/>
                </a:lnTo>
                <a:close/>
              </a:path>
              <a:path w="3248025" h="929639">
                <a:moveTo>
                  <a:pt x="7619" y="925829"/>
                </a:moveTo>
                <a:lnTo>
                  <a:pt x="3809" y="922020"/>
                </a:lnTo>
                <a:lnTo>
                  <a:pt x="7619" y="922020"/>
                </a:lnTo>
                <a:lnTo>
                  <a:pt x="7619" y="925829"/>
                </a:lnTo>
                <a:close/>
              </a:path>
              <a:path w="3248025" h="929639">
                <a:moveTo>
                  <a:pt x="3240354" y="925829"/>
                </a:moveTo>
                <a:lnTo>
                  <a:pt x="7619" y="925829"/>
                </a:lnTo>
                <a:lnTo>
                  <a:pt x="7619" y="922020"/>
                </a:lnTo>
                <a:lnTo>
                  <a:pt x="3240354" y="922020"/>
                </a:lnTo>
                <a:lnTo>
                  <a:pt x="3240354" y="925829"/>
                </a:lnTo>
                <a:close/>
              </a:path>
              <a:path w="3248025" h="929639">
                <a:moveTo>
                  <a:pt x="3247974" y="925829"/>
                </a:moveTo>
                <a:lnTo>
                  <a:pt x="3240354" y="925829"/>
                </a:lnTo>
                <a:lnTo>
                  <a:pt x="3244164" y="922020"/>
                </a:lnTo>
                <a:lnTo>
                  <a:pt x="3247974" y="922020"/>
                </a:lnTo>
                <a:lnTo>
                  <a:pt x="3247974" y="925829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219200" y="3240913"/>
            <a:ext cx="324167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synchonized (</a:t>
            </a:r>
            <a:r>
              <a:rPr dirty="0" sz="1800">
                <a:latin typeface="微软雅黑"/>
                <a:cs typeface="微软雅黑"/>
              </a:rPr>
              <a:t>对象)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{</a:t>
            </a:r>
            <a:endParaRPr sz="1800">
              <a:latin typeface="微软雅黑"/>
              <a:cs typeface="微软雅黑"/>
            </a:endParaRPr>
          </a:p>
          <a:p>
            <a:pPr marL="567055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……</a:t>
            </a:r>
            <a:endParaRPr sz="1800">
              <a:latin typeface="微软雅黑"/>
              <a:cs typeface="微软雅黑"/>
            </a:endParaRPr>
          </a:p>
          <a:p>
            <a:pPr marL="9144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}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57747"/>
            <a:ext cx="7907655" cy="306705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11785" indent="-299085">
              <a:lnSpc>
                <a:spcPct val="100000"/>
              </a:lnSpc>
              <a:spcBef>
                <a:spcPts val="285"/>
              </a:spcBef>
              <a:buAutoNum type="arabicPeriod"/>
              <a:tabLst>
                <a:tab pos="311785" algn="l"/>
              </a:tabLst>
            </a:pPr>
            <a:r>
              <a:rPr dirty="0" sz="2100" spc="-5">
                <a:latin typeface="微软雅黑"/>
                <a:cs typeface="微软雅黑"/>
              </a:rPr>
              <a:t>wait()</a:t>
            </a:r>
            <a:r>
              <a:rPr dirty="0" sz="2100">
                <a:latin typeface="微软雅黑"/>
                <a:cs typeface="微软雅黑"/>
              </a:rPr>
              <a:t>方法</a:t>
            </a:r>
            <a:endParaRPr sz="2100">
              <a:latin typeface="微软雅黑"/>
              <a:cs typeface="微软雅黑"/>
            </a:endParaRPr>
          </a:p>
          <a:p>
            <a:pPr lvl="1" marL="417195" marR="20320" indent="-171450">
              <a:lnSpc>
                <a:spcPts val="1939"/>
              </a:lnSpc>
              <a:spcBef>
                <a:spcPts val="409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在线程已获得对象锁的情形下，如果该线程需要再满足一些条件才能继续 执行线程任务，此时该线程可调用</a:t>
            </a:r>
            <a:r>
              <a:rPr dirty="0" sz="1800" spc="-5">
                <a:latin typeface="微软雅黑"/>
                <a:cs typeface="微软雅黑"/>
              </a:rPr>
              <a:t>w</a:t>
            </a:r>
            <a:r>
              <a:rPr dirty="0" sz="1800">
                <a:latin typeface="微软雅黑"/>
                <a:cs typeface="微软雅黑"/>
              </a:rPr>
              <a:t>ai</a:t>
            </a:r>
            <a:r>
              <a:rPr dirty="0" sz="1800" spc="-5">
                <a:latin typeface="微软雅黑"/>
                <a:cs typeface="微软雅黑"/>
              </a:rPr>
              <a:t>t()</a:t>
            </a:r>
            <a:r>
              <a:rPr dirty="0" sz="1800">
                <a:latin typeface="微软雅黑"/>
                <a:cs typeface="微软雅黑"/>
              </a:rPr>
              <a:t>方法进入等待池（阻塞状态的一种</a:t>
            </a:r>
            <a:endParaRPr sz="1800">
              <a:latin typeface="微软雅黑"/>
              <a:cs typeface="微软雅黑"/>
            </a:endParaRPr>
          </a:p>
          <a:p>
            <a:pPr marL="417195">
              <a:lnSpc>
                <a:spcPts val="1910"/>
              </a:lnSpc>
            </a:pPr>
            <a:r>
              <a:rPr dirty="0" sz="1800">
                <a:latin typeface="微软雅黑"/>
                <a:cs typeface="微软雅黑"/>
              </a:rPr>
              <a:t>）。</a:t>
            </a:r>
            <a:endParaRPr sz="1800">
              <a:latin typeface="微软雅黑"/>
              <a:cs typeface="微软雅黑"/>
            </a:endParaRPr>
          </a:p>
          <a:p>
            <a:pPr lvl="1" marL="417195" marR="13970" indent="-171450">
              <a:lnSpc>
                <a:spcPts val="1939"/>
              </a:lnSpc>
              <a:spcBef>
                <a:spcPts val="40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线程调用</a:t>
            </a:r>
            <a:r>
              <a:rPr dirty="0" sz="1800" spc="-5">
                <a:latin typeface="微软雅黑"/>
                <a:cs typeface="微软雅黑"/>
              </a:rPr>
              <a:t>w</a:t>
            </a:r>
            <a:r>
              <a:rPr dirty="0" sz="1800">
                <a:latin typeface="微软雅黑"/>
                <a:cs typeface="微软雅黑"/>
              </a:rPr>
              <a:t>ai</a:t>
            </a:r>
            <a:r>
              <a:rPr dirty="0" sz="1800" spc="-5">
                <a:latin typeface="微软雅黑"/>
                <a:cs typeface="微软雅黑"/>
              </a:rPr>
              <a:t>t()</a:t>
            </a:r>
            <a:r>
              <a:rPr dirty="0" sz="1800">
                <a:latin typeface="微软雅黑"/>
                <a:cs typeface="微软雅黑"/>
              </a:rPr>
              <a:t>方法会解除对象的锁，让出C</a:t>
            </a:r>
            <a:r>
              <a:rPr dirty="0" sz="1800" spc="-5">
                <a:latin typeface="微软雅黑"/>
                <a:cs typeface="微软雅黑"/>
              </a:rPr>
              <a:t>P</a:t>
            </a:r>
            <a:r>
              <a:rPr dirty="0" sz="1800">
                <a:latin typeface="微软雅黑"/>
                <a:cs typeface="微软雅黑"/>
              </a:rPr>
              <a:t>U资源，并使该线程处于等待 状态，使其它线程可以获取该对象的锁，执行该对象的同步代码块或方法</a:t>
            </a:r>
            <a:endParaRPr sz="1800">
              <a:latin typeface="微软雅黑"/>
              <a:cs typeface="微软雅黑"/>
            </a:endParaRPr>
          </a:p>
          <a:p>
            <a:pPr marL="417195">
              <a:lnSpc>
                <a:spcPts val="1910"/>
              </a:lnSpc>
            </a:pPr>
            <a:r>
              <a:rPr dirty="0" sz="1800">
                <a:latin typeface="微软雅黑"/>
                <a:cs typeface="微软雅黑"/>
              </a:rPr>
              <a:t>。</a:t>
            </a:r>
            <a:endParaRPr sz="1800">
              <a:latin typeface="微软雅黑"/>
              <a:cs typeface="微软雅黑"/>
            </a:endParaRPr>
          </a:p>
          <a:p>
            <a:pPr lvl="2" marL="760095" marR="62230" indent="-171450">
              <a:lnSpc>
                <a:spcPts val="1620"/>
              </a:lnSpc>
              <a:spcBef>
                <a:spcPts val="39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 spc="-5">
                <a:latin typeface="微软雅黑"/>
                <a:cs typeface="微软雅黑"/>
              </a:rPr>
              <a:t>void</a:t>
            </a:r>
            <a:r>
              <a:rPr dirty="0" sz="1500" spc="-4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wait()：</a:t>
            </a:r>
            <a:r>
              <a:rPr dirty="0" sz="1500">
                <a:latin typeface="微软雅黑"/>
                <a:cs typeface="微软雅黑"/>
              </a:rPr>
              <a:t>线程会一直等待，直到其他线程调用同步监视器的notify()或notifyAll()  方法后苏醒；</a:t>
            </a:r>
            <a:endParaRPr sz="1500">
              <a:latin typeface="微软雅黑"/>
              <a:cs typeface="微软雅黑"/>
            </a:endParaRPr>
          </a:p>
          <a:p>
            <a:pPr lvl="2" marL="760095" marR="5080" indent="-171450">
              <a:lnSpc>
                <a:spcPts val="1620"/>
              </a:lnSpc>
              <a:spcBef>
                <a:spcPts val="375"/>
              </a:spcBef>
              <a:buFont typeface="Arial"/>
              <a:buChar char="•"/>
              <a:tabLst>
                <a:tab pos="760095" algn="l"/>
              </a:tabLst>
            </a:pPr>
            <a:r>
              <a:rPr dirty="0" sz="1500" spc="-5">
                <a:latin typeface="微软雅黑"/>
                <a:cs typeface="微软雅黑"/>
              </a:rPr>
              <a:t>void</a:t>
            </a:r>
            <a:r>
              <a:rPr dirty="0" sz="1500" spc="1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wait(long</a:t>
            </a:r>
            <a:r>
              <a:rPr dirty="0" sz="1500" spc="15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timeout)，wait(long</a:t>
            </a:r>
            <a:r>
              <a:rPr dirty="0" sz="1500" spc="10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timeout,int</a:t>
            </a:r>
            <a:r>
              <a:rPr dirty="0" sz="1500" spc="15">
                <a:latin typeface="微软雅黑"/>
                <a:cs typeface="微软雅黑"/>
              </a:rPr>
              <a:t> </a:t>
            </a:r>
            <a:r>
              <a:rPr dirty="0" sz="1500" spc="-5">
                <a:latin typeface="微软雅黑"/>
                <a:cs typeface="微软雅黑"/>
              </a:rPr>
              <a:t>nanos)：</a:t>
            </a:r>
            <a:r>
              <a:rPr dirty="0" sz="1500">
                <a:latin typeface="微软雅黑"/>
                <a:cs typeface="微软雅黑"/>
              </a:rPr>
              <a:t>方法指定了等待时间，  所以如果线程在等待时间内没有被同步监视器的noti</a:t>
            </a:r>
            <a:r>
              <a:rPr dirty="0" sz="1500" spc="25">
                <a:latin typeface="微软雅黑"/>
                <a:cs typeface="微软雅黑"/>
              </a:rPr>
              <a:t>f</a:t>
            </a:r>
            <a:r>
              <a:rPr dirty="0" sz="1500">
                <a:latin typeface="微软雅黑"/>
                <a:cs typeface="微软雅黑"/>
              </a:rPr>
              <a:t>y</a:t>
            </a:r>
            <a:r>
              <a:rPr dirty="0" sz="1500" spc="-5">
                <a:latin typeface="微软雅黑"/>
                <a:cs typeface="微软雅黑"/>
              </a:rPr>
              <a:t>()</a:t>
            </a:r>
            <a:r>
              <a:rPr dirty="0" sz="1500">
                <a:latin typeface="微软雅黑"/>
                <a:cs typeface="微软雅黑"/>
              </a:rPr>
              <a:t>方法唤醒，则在等待指定时间 后自动苏醒。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585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11.6.1	wait()</a:t>
            </a:r>
            <a:r>
              <a:rPr dirty="0" sz="2100" b="1">
                <a:latin typeface="微软雅黑"/>
                <a:cs typeface="微软雅黑"/>
              </a:rPr>
              <a:t>和notify()方法</a:t>
            </a:r>
            <a:endParaRPr sz="2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245022"/>
            <a:ext cx="7861934" cy="2237740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just" marL="311785" indent="-299085">
              <a:lnSpc>
                <a:spcPct val="100000"/>
              </a:lnSpc>
              <a:spcBef>
                <a:spcPts val="285"/>
              </a:spcBef>
              <a:buAutoNum type="arabicPeriod" startAt="2"/>
              <a:tabLst>
                <a:tab pos="311785" algn="l"/>
              </a:tabLst>
            </a:pPr>
            <a:r>
              <a:rPr dirty="0" sz="2100">
                <a:latin typeface="微软雅黑"/>
                <a:cs typeface="微软雅黑"/>
              </a:rPr>
              <a:t>notify()和notifyAll()方法</a:t>
            </a:r>
            <a:endParaRPr sz="2100">
              <a:latin typeface="微软雅黑"/>
              <a:cs typeface="微软雅黑"/>
            </a:endParaRPr>
          </a:p>
          <a:p>
            <a:pPr algn="just" lvl="1" marL="417195" indent="-171450">
              <a:lnSpc>
                <a:spcPct val="100000"/>
              </a:lnSpc>
              <a:spcBef>
                <a:spcPts val="160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notify()方法唤醒一个处于等待状态的线程，使之进入</a:t>
            </a:r>
            <a:r>
              <a:rPr dirty="0" sz="1800" spc="-5">
                <a:latin typeface="微软雅黑"/>
                <a:cs typeface="微软雅黑"/>
              </a:rPr>
              <a:t>runnable</a:t>
            </a:r>
            <a:r>
              <a:rPr dirty="0" sz="1800">
                <a:latin typeface="微软雅黑"/>
                <a:cs typeface="微软雅黑"/>
              </a:rPr>
              <a:t>状态。</a:t>
            </a:r>
            <a:endParaRPr sz="1800">
              <a:latin typeface="微软雅黑"/>
              <a:cs typeface="微软雅黑"/>
            </a:endParaRPr>
          </a:p>
          <a:p>
            <a:pPr algn="just" lvl="1" marL="417195" indent="-171450">
              <a:lnSpc>
                <a:spcPts val="2050"/>
              </a:lnSpc>
              <a:spcBef>
                <a:spcPts val="15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某个线程执行完同步代码，或该线程使另一个线程所等待的条件得到满足</a:t>
            </a:r>
            <a:endParaRPr sz="1800">
              <a:latin typeface="微软雅黑"/>
              <a:cs typeface="微软雅黑"/>
            </a:endParaRPr>
          </a:p>
          <a:p>
            <a:pPr algn="just" marL="417195" marR="5080">
              <a:lnSpc>
                <a:spcPts val="1939"/>
              </a:lnSpc>
              <a:spcBef>
                <a:spcPts val="140"/>
              </a:spcBef>
            </a:pPr>
            <a:r>
              <a:rPr dirty="0" sz="1800">
                <a:latin typeface="微软雅黑"/>
                <a:cs typeface="微软雅黑"/>
              </a:rPr>
              <a:t>，这时它利用同步监视器调用notify()方法，以唤醒一个因该同步监视器而 处于等待状态的线程再次进入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unnabl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状态。从等待状态进入</a:t>
            </a:r>
            <a:r>
              <a:rPr dirty="0" sz="1800" spc="-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unnabl</a:t>
            </a:r>
            <a:r>
              <a:rPr dirty="0" sz="1800" spc="-5">
                <a:latin typeface="微软雅黑"/>
                <a:cs typeface="微软雅黑"/>
              </a:rPr>
              <a:t>e</a:t>
            </a:r>
            <a:r>
              <a:rPr dirty="0" sz="1800">
                <a:latin typeface="微软雅黑"/>
                <a:cs typeface="微软雅黑"/>
              </a:rPr>
              <a:t>状 态的线程，将再次尝试获得同步监视器的锁。</a:t>
            </a:r>
            <a:endParaRPr sz="1800">
              <a:latin typeface="微软雅黑"/>
              <a:cs typeface="微软雅黑"/>
            </a:endParaRPr>
          </a:p>
          <a:p>
            <a:pPr algn="just" lvl="1" marL="417195" marR="650875" indent="-171450">
              <a:lnSpc>
                <a:spcPts val="1939"/>
              </a:lnSpc>
              <a:spcBef>
                <a:spcPts val="375"/>
              </a:spcBef>
              <a:buFont typeface="Arial"/>
              <a:buChar char="•"/>
              <a:tabLst>
                <a:tab pos="417195" algn="l"/>
              </a:tabLst>
            </a:pPr>
            <a:r>
              <a:rPr dirty="0" sz="1800">
                <a:latin typeface="微软雅黑"/>
                <a:cs typeface="微软雅黑"/>
              </a:rPr>
              <a:t>no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</a:t>
            </a:r>
            <a:r>
              <a:rPr dirty="0" sz="1800" spc="30">
                <a:latin typeface="微软雅黑"/>
                <a:cs typeface="微软雅黑"/>
              </a:rPr>
              <a:t>f</a:t>
            </a:r>
            <a:r>
              <a:rPr dirty="0" sz="1800">
                <a:latin typeface="微软雅黑"/>
                <a:cs typeface="微软雅黑"/>
              </a:rPr>
              <a:t>y</a:t>
            </a:r>
            <a:r>
              <a:rPr dirty="0" sz="1800" spc="-5">
                <a:latin typeface="微软雅黑"/>
                <a:cs typeface="微软雅黑"/>
              </a:rPr>
              <a:t>A</a:t>
            </a:r>
            <a:r>
              <a:rPr dirty="0" sz="1800">
                <a:latin typeface="微软雅黑"/>
                <a:cs typeface="微软雅黑"/>
              </a:rPr>
              <a:t>ll</a:t>
            </a:r>
            <a:r>
              <a:rPr dirty="0" sz="1800" spc="-5">
                <a:latin typeface="微软雅黑"/>
                <a:cs typeface="微软雅黑"/>
              </a:rPr>
              <a:t>()</a:t>
            </a:r>
            <a:r>
              <a:rPr dirty="0" sz="1800">
                <a:latin typeface="微软雅黑"/>
                <a:cs typeface="微软雅黑"/>
              </a:rPr>
              <a:t>方法：使因该同步监视器而处于等待状态的全部线程进入  </a:t>
            </a:r>
            <a:r>
              <a:rPr dirty="0" sz="1800" spc="-5">
                <a:latin typeface="微软雅黑"/>
                <a:cs typeface="微软雅黑"/>
              </a:rPr>
              <a:t>runnable</a:t>
            </a:r>
            <a:r>
              <a:rPr dirty="0" sz="1800">
                <a:latin typeface="微软雅黑"/>
                <a:cs typeface="微软雅黑"/>
              </a:rPr>
              <a:t>状态。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585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11.6.1	wait()</a:t>
            </a:r>
            <a:r>
              <a:rPr dirty="0" sz="2100" b="1">
                <a:latin typeface="微软雅黑"/>
                <a:cs typeface="微软雅黑"/>
              </a:rPr>
              <a:t>和notify()方法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83799" y="5185130"/>
            <a:ext cx="462978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编程时应该用no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</a:t>
            </a:r>
            <a:r>
              <a:rPr dirty="0" sz="1800" spc="30">
                <a:latin typeface="微软雅黑"/>
                <a:cs typeface="微软雅黑"/>
              </a:rPr>
              <a:t>f</a:t>
            </a:r>
            <a:r>
              <a:rPr dirty="0" sz="1800">
                <a:latin typeface="微软雅黑"/>
                <a:cs typeface="微软雅黑"/>
              </a:rPr>
              <a:t>y</a:t>
            </a:r>
            <a:r>
              <a:rPr dirty="0" sz="1800" spc="-5">
                <a:latin typeface="微软雅黑"/>
                <a:cs typeface="微软雅黑"/>
              </a:rPr>
              <a:t>A</a:t>
            </a:r>
            <a:r>
              <a:rPr dirty="0" sz="1800">
                <a:latin typeface="微软雅黑"/>
                <a:cs typeface="微软雅黑"/>
              </a:rPr>
              <a:t>ll</a:t>
            </a:r>
            <a:r>
              <a:rPr dirty="0" sz="1800" spc="-5">
                <a:latin typeface="微软雅黑"/>
                <a:cs typeface="微软雅黑"/>
              </a:rPr>
              <a:t>()</a:t>
            </a:r>
            <a:r>
              <a:rPr dirty="0" sz="1800">
                <a:latin typeface="微软雅黑"/>
                <a:cs typeface="微软雅黑"/>
              </a:rPr>
              <a:t>取代no</a:t>
            </a:r>
            <a:r>
              <a:rPr dirty="0" sz="1800" spc="-5">
                <a:latin typeface="微软雅黑"/>
                <a:cs typeface="微软雅黑"/>
              </a:rPr>
              <a:t>t</a:t>
            </a:r>
            <a:r>
              <a:rPr dirty="0" sz="1800">
                <a:latin typeface="微软雅黑"/>
                <a:cs typeface="微软雅黑"/>
              </a:rPr>
              <a:t>i</a:t>
            </a:r>
            <a:r>
              <a:rPr dirty="0" sz="1800" spc="30">
                <a:latin typeface="微软雅黑"/>
                <a:cs typeface="微软雅黑"/>
              </a:rPr>
              <a:t>f</a:t>
            </a:r>
            <a:r>
              <a:rPr dirty="0" sz="1800">
                <a:latin typeface="微软雅黑"/>
                <a:cs typeface="微软雅黑"/>
              </a:rPr>
              <a:t>y</a:t>
            </a:r>
            <a:r>
              <a:rPr dirty="0" sz="1800" spc="-5">
                <a:latin typeface="微软雅黑"/>
                <a:cs typeface="微软雅黑"/>
              </a:rPr>
              <a:t>()</a:t>
            </a:r>
            <a:r>
              <a:rPr dirty="0" sz="1800">
                <a:latin typeface="微软雅黑"/>
                <a:cs typeface="微软雅黑"/>
              </a:rPr>
              <a:t>，因为用  notify()只是从等待池释放出一个线程，至于 是哪一个由线程调度器决定，是不可保证的。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49551" y="5166359"/>
            <a:ext cx="1152144" cy="1409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189230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1">
                <a:latin typeface="微软雅黑"/>
                <a:cs typeface="微软雅黑"/>
              </a:rPr>
              <a:t>线程状态转换图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00513" y="1899056"/>
            <a:ext cx="76200" cy="503555"/>
          </a:xfrm>
          <a:custGeom>
            <a:avLst/>
            <a:gdLst/>
            <a:ahLst/>
            <a:cxnLst/>
            <a:rect l="l" t="t" r="r" b="b"/>
            <a:pathLst>
              <a:path w="76200" h="503555">
                <a:moveTo>
                  <a:pt x="44450" y="446316"/>
                </a:moveTo>
                <a:lnTo>
                  <a:pt x="31750" y="446316"/>
                </a:lnTo>
                <a:lnTo>
                  <a:pt x="31750" y="0"/>
                </a:lnTo>
                <a:lnTo>
                  <a:pt x="44450" y="0"/>
                </a:lnTo>
                <a:lnTo>
                  <a:pt x="44450" y="446316"/>
                </a:lnTo>
                <a:close/>
              </a:path>
              <a:path w="76200" h="503555">
                <a:moveTo>
                  <a:pt x="38100" y="503466"/>
                </a:moveTo>
                <a:lnTo>
                  <a:pt x="0" y="427266"/>
                </a:lnTo>
                <a:lnTo>
                  <a:pt x="31750" y="427266"/>
                </a:lnTo>
                <a:lnTo>
                  <a:pt x="31750" y="446316"/>
                </a:lnTo>
                <a:lnTo>
                  <a:pt x="66675" y="446316"/>
                </a:lnTo>
                <a:lnTo>
                  <a:pt x="38100" y="503466"/>
                </a:lnTo>
                <a:close/>
              </a:path>
              <a:path w="76200" h="503555">
                <a:moveTo>
                  <a:pt x="66675" y="446316"/>
                </a:moveTo>
                <a:lnTo>
                  <a:pt x="44450" y="446316"/>
                </a:lnTo>
                <a:lnTo>
                  <a:pt x="44450" y="427266"/>
                </a:lnTo>
                <a:lnTo>
                  <a:pt x="76200" y="427266"/>
                </a:lnTo>
                <a:lnTo>
                  <a:pt x="66675" y="446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43959" y="2762885"/>
            <a:ext cx="76200" cy="666115"/>
          </a:xfrm>
          <a:custGeom>
            <a:avLst/>
            <a:gdLst/>
            <a:ahLst/>
            <a:cxnLst/>
            <a:rect l="l" t="t" r="r" b="b"/>
            <a:pathLst>
              <a:path w="76200" h="666114">
                <a:moveTo>
                  <a:pt x="44450" y="608964"/>
                </a:moveTo>
                <a:lnTo>
                  <a:pt x="31750" y="608964"/>
                </a:lnTo>
                <a:lnTo>
                  <a:pt x="31750" y="0"/>
                </a:lnTo>
                <a:lnTo>
                  <a:pt x="44450" y="0"/>
                </a:lnTo>
                <a:lnTo>
                  <a:pt x="44450" y="608964"/>
                </a:lnTo>
                <a:close/>
              </a:path>
              <a:path w="76200" h="666114">
                <a:moveTo>
                  <a:pt x="38100" y="666114"/>
                </a:moveTo>
                <a:lnTo>
                  <a:pt x="0" y="589914"/>
                </a:lnTo>
                <a:lnTo>
                  <a:pt x="31750" y="589914"/>
                </a:lnTo>
                <a:lnTo>
                  <a:pt x="31750" y="608964"/>
                </a:lnTo>
                <a:lnTo>
                  <a:pt x="66675" y="608964"/>
                </a:lnTo>
                <a:lnTo>
                  <a:pt x="38100" y="666114"/>
                </a:lnTo>
                <a:close/>
              </a:path>
              <a:path w="76200" h="666114">
                <a:moveTo>
                  <a:pt x="66675" y="608964"/>
                </a:moveTo>
                <a:lnTo>
                  <a:pt x="44450" y="608964"/>
                </a:lnTo>
                <a:lnTo>
                  <a:pt x="44450" y="589914"/>
                </a:lnTo>
                <a:lnTo>
                  <a:pt x="76200" y="589914"/>
                </a:lnTo>
                <a:lnTo>
                  <a:pt x="66675" y="608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755923" y="2762885"/>
            <a:ext cx="76200" cy="666115"/>
          </a:xfrm>
          <a:custGeom>
            <a:avLst/>
            <a:gdLst/>
            <a:ahLst/>
            <a:cxnLst/>
            <a:rect l="l" t="t" r="r" b="b"/>
            <a:pathLst>
              <a:path w="76200" h="666114">
                <a:moveTo>
                  <a:pt x="31750" y="76200"/>
                </a:moveTo>
                <a:lnTo>
                  <a:pt x="0" y="76200"/>
                </a:lnTo>
                <a:lnTo>
                  <a:pt x="38100" y="0"/>
                </a:lnTo>
                <a:lnTo>
                  <a:pt x="66675" y="57150"/>
                </a:lnTo>
                <a:lnTo>
                  <a:pt x="31750" y="57150"/>
                </a:lnTo>
                <a:lnTo>
                  <a:pt x="31750" y="76200"/>
                </a:lnTo>
                <a:close/>
              </a:path>
              <a:path w="76200" h="666114">
                <a:moveTo>
                  <a:pt x="44450" y="666114"/>
                </a:moveTo>
                <a:lnTo>
                  <a:pt x="31750" y="666114"/>
                </a:lnTo>
                <a:lnTo>
                  <a:pt x="31750" y="57150"/>
                </a:lnTo>
                <a:lnTo>
                  <a:pt x="44450" y="57150"/>
                </a:lnTo>
                <a:lnTo>
                  <a:pt x="44450" y="666114"/>
                </a:lnTo>
                <a:close/>
              </a:path>
              <a:path w="76200" h="666114">
                <a:moveTo>
                  <a:pt x="76200" y="76200"/>
                </a:moveTo>
                <a:lnTo>
                  <a:pt x="44450" y="76200"/>
                </a:lnTo>
                <a:lnTo>
                  <a:pt x="44450" y="57150"/>
                </a:lnTo>
                <a:lnTo>
                  <a:pt x="66675" y="5715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258200" y="2605189"/>
            <a:ext cx="0" cy="2318385"/>
          </a:xfrm>
          <a:custGeom>
            <a:avLst/>
            <a:gdLst/>
            <a:ahLst/>
            <a:cxnLst/>
            <a:rect l="l" t="t" r="r" b="b"/>
            <a:pathLst>
              <a:path w="0" h="2318385">
                <a:moveTo>
                  <a:pt x="0" y="0"/>
                </a:moveTo>
                <a:lnTo>
                  <a:pt x="0" y="2318283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089550" y="2567089"/>
            <a:ext cx="3168650" cy="76200"/>
          </a:xfrm>
          <a:custGeom>
            <a:avLst/>
            <a:gdLst/>
            <a:ahLst/>
            <a:cxnLst/>
            <a:rect l="l" t="t" r="r" b="b"/>
            <a:pathLst>
              <a:path w="3168650" h="76200">
                <a:moveTo>
                  <a:pt x="76200" y="76199"/>
                </a:moveTo>
                <a:lnTo>
                  <a:pt x="0" y="38099"/>
                </a:lnTo>
                <a:lnTo>
                  <a:pt x="76200" y="0"/>
                </a:lnTo>
                <a:lnTo>
                  <a:pt x="76200" y="31749"/>
                </a:lnTo>
                <a:lnTo>
                  <a:pt x="57150" y="31749"/>
                </a:lnTo>
                <a:lnTo>
                  <a:pt x="57150" y="44449"/>
                </a:lnTo>
                <a:lnTo>
                  <a:pt x="76200" y="44449"/>
                </a:lnTo>
                <a:lnTo>
                  <a:pt x="76200" y="76199"/>
                </a:lnTo>
                <a:close/>
              </a:path>
              <a:path w="3168650" h="76200">
                <a:moveTo>
                  <a:pt x="76200" y="44449"/>
                </a:moveTo>
                <a:lnTo>
                  <a:pt x="57150" y="44449"/>
                </a:lnTo>
                <a:lnTo>
                  <a:pt x="57150" y="31749"/>
                </a:lnTo>
                <a:lnTo>
                  <a:pt x="76200" y="31749"/>
                </a:lnTo>
                <a:lnTo>
                  <a:pt x="76200" y="44449"/>
                </a:lnTo>
                <a:close/>
              </a:path>
              <a:path w="3168650" h="76200">
                <a:moveTo>
                  <a:pt x="3168649" y="44449"/>
                </a:moveTo>
                <a:lnTo>
                  <a:pt x="76200" y="44449"/>
                </a:lnTo>
                <a:lnTo>
                  <a:pt x="76200" y="31749"/>
                </a:lnTo>
                <a:lnTo>
                  <a:pt x="3168649" y="31749"/>
                </a:lnTo>
                <a:lnTo>
                  <a:pt x="3168649" y="44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8375" y="2619133"/>
            <a:ext cx="0" cy="2304415"/>
          </a:xfrm>
          <a:custGeom>
            <a:avLst/>
            <a:gdLst/>
            <a:ahLst/>
            <a:cxnLst/>
            <a:rect l="l" t="t" r="r" b="b"/>
            <a:pathLst>
              <a:path w="0" h="2304415">
                <a:moveTo>
                  <a:pt x="0" y="0"/>
                </a:moveTo>
                <a:lnTo>
                  <a:pt x="0" y="230433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9962" y="2581033"/>
            <a:ext cx="2002155" cy="76200"/>
          </a:xfrm>
          <a:custGeom>
            <a:avLst/>
            <a:gdLst/>
            <a:ahLst/>
            <a:cxnLst/>
            <a:rect l="l" t="t" r="r" b="b"/>
            <a:pathLst>
              <a:path w="2002155" h="76200">
                <a:moveTo>
                  <a:pt x="1925637" y="76200"/>
                </a:moveTo>
                <a:lnTo>
                  <a:pt x="1925637" y="0"/>
                </a:lnTo>
                <a:lnTo>
                  <a:pt x="1989137" y="31750"/>
                </a:lnTo>
                <a:lnTo>
                  <a:pt x="1944687" y="31750"/>
                </a:lnTo>
                <a:lnTo>
                  <a:pt x="1944687" y="44450"/>
                </a:lnTo>
                <a:lnTo>
                  <a:pt x="1989137" y="44450"/>
                </a:lnTo>
                <a:lnTo>
                  <a:pt x="1925637" y="76200"/>
                </a:lnTo>
                <a:close/>
              </a:path>
              <a:path w="2002155" h="76200">
                <a:moveTo>
                  <a:pt x="1925637" y="44450"/>
                </a:moveTo>
                <a:lnTo>
                  <a:pt x="0" y="44450"/>
                </a:lnTo>
                <a:lnTo>
                  <a:pt x="0" y="31750"/>
                </a:lnTo>
                <a:lnTo>
                  <a:pt x="1925637" y="31750"/>
                </a:lnTo>
                <a:lnTo>
                  <a:pt x="1925637" y="44450"/>
                </a:lnTo>
                <a:close/>
              </a:path>
              <a:path w="2002155" h="76200">
                <a:moveTo>
                  <a:pt x="1989137" y="44450"/>
                </a:moveTo>
                <a:lnTo>
                  <a:pt x="1944687" y="44450"/>
                </a:lnTo>
                <a:lnTo>
                  <a:pt x="1944687" y="31750"/>
                </a:lnTo>
                <a:lnTo>
                  <a:pt x="1989137" y="31750"/>
                </a:lnTo>
                <a:lnTo>
                  <a:pt x="2001837" y="38100"/>
                </a:lnTo>
                <a:lnTo>
                  <a:pt x="1989137" y="44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38613" y="5061584"/>
            <a:ext cx="0" cy="424180"/>
          </a:xfrm>
          <a:custGeom>
            <a:avLst/>
            <a:gdLst/>
            <a:ahLst/>
            <a:cxnLst/>
            <a:rect l="l" t="t" r="r" b="b"/>
            <a:pathLst>
              <a:path w="0" h="424179">
                <a:moveTo>
                  <a:pt x="0" y="0"/>
                </a:moveTo>
                <a:lnTo>
                  <a:pt x="0" y="423925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3262" y="5485510"/>
            <a:ext cx="3435350" cy="0"/>
          </a:xfrm>
          <a:custGeom>
            <a:avLst/>
            <a:gdLst/>
            <a:ahLst/>
            <a:cxnLst/>
            <a:rect l="l" t="t" r="r" b="b"/>
            <a:pathLst>
              <a:path w="3435350" h="0">
                <a:moveTo>
                  <a:pt x="0" y="0"/>
                </a:moveTo>
                <a:lnTo>
                  <a:pt x="343535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03262" y="2546985"/>
            <a:ext cx="0" cy="2938780"/>
          </a:xfrm>
          <a:custGeom>
            <a:avLst/>
            <a:gdLst/>
            <a:ahLst/>
            <a:cxnLst/>
            <a:rect l="l" t="t" r="r" b="b"/>
            <a:pathLst>
              <a:path w="0" h="2938779">
                <a:moveTo>
                  <a:pt x="0" y="0"/>
                </a:moveTo>
                <a:lnTo>
                  <a:pt x="0" y="293852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3262" y="2509024"/>
            <a:ext cx="2268855" cy="76200"/>
          </a:xfrm>
          <a:custGeom>
            <a:avLst/>
            <a:gdLst/>
            <a:ahLst/>
            <a:cxnLst/>
            <a:rect l="l" t="t" r="r" b="b"/>
            <a:pathLst>
              <a:path w="2268855" h="76200">
                <a:moveTo>
                  <a:pt x="2192337" y="76199"/>
                </a:moveTo>
                <a:lnTo>
                  <a:pt x="2192337" y="0"/>
                </a:lnTo>
                <a:lnTo>
                  <a:pt x="2255837" y="31749"/>
                </a:lnTo>
                <a:lnTo>
                  <a:pt x="2211387" y="31749"/>
                </a:lnTo>
                <a:lnTo>
                  <a:pt x="2211387" y="44449"/>
                </a:lnTo>
                <a:lnTo>
                  <a:pt x="2255837" y="44449"/>
                </a:lnTo>
                <a:lnTo>
                  <a:pt x="2192337" y="76199"/>
                </a:lnTo>
                <a:close/>
              </a:path>
              <a:path w="2268855" h="76200">
                <a:moveTo>
                  <a:pt x="2192337" y="44449"/>
                </a:moveTo>
                <a:lnTo>
                  <a:pt x="0" y="44449"/>
                </a:lnTo>
                <a:lnTo>
                  <a:pt x="0" y="31749"/>
                </a:lnTo>
                <a:lnTo>
                  <a:pt x="2192337" y="31749"/>
                </a:lnTo>
                <a:lnTo>
                  <a:pt x="2192337" y="44449"/>
                </a:lnTo>
                <a:close/>
              </a:path>
              <a:path w="2268855" h="76200">
                <a:moveTo>
                  <a:pt x="2255837" y="44449"/>
                </a:moveTo>
                <a:lnTo>
                  <a:pt x="2211387" y="44449"/>
                </a:lnTo>
                <a:lnTo>
                  <a:pt x="2211387" y="31749"/>
                </a:lnTo>
                <a:lnTo>
                  <a:pt x="2255837" y="31749"/>
                </a:lnTo>
                <a:lnTo>
                  <a:pt x="2268537" y="38099"/>
                </a:lnTo>
                <a:lnTo>
                  <a:pt x="2255837" y="444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174900" y="3784130"/>
            <a:ext cx="1118870" cy="917575"/>
          </a:xfrm>
          <a:custGeom>
            <a:avLst/>
            <a:gdLst/>
            <a:ahLst/>
            <a:cxnLst/>
            <a:rect l="l" t="t" r="r" b="b"/>
            <a:pathLst>
              <a:path w="1118870" h="917575">
                <a:moveTo>
                  <a:pt x="62985" y="873736"/>
                </a:moveTo>
                <a:lnTo>
                  <a:pt x="54943" y="863911"/>
                </a:lnTo>
                <a:lnTo>
                  <a:pt x="1110399" y="0"/>
                </a:lnTo>
                <a:lnTo>
                  <a:pt x="1118450" y="9829"/>
                </a:lnTo>
                <a:lnTo>
                  <a:pt x="62985" y="873736"/>
                </a:lnTo>
                <a:close/>
              </a:path>
              <a:path w="1118870" h="917575">
                <a:moveTo>
                  <a:pt x="0" y="917092"/>
                </a:moveTo>
                <a:lnTo>
                  <a:pt x="34836" y="839342"/>
                </a:lnTo>
                <a:lnTo>
                  <a:pt x="54943" y="863911"/>
                </a:lnTo>
                <a:lnTo>
                  <a:pt x="40195" y="875982"/>
                </a:lnTo>
                <a:lnTo>
                  <a:pt x="48247" y="885799"/>
                </a:lnTo>
                <a:lnTo>
                  <a:pt x="72857" y="885799"/>
                </a:lnTo>
                <a:lnTo>
                  <a:pt x="83096" y="898309"/>
                </a:lnTo>
                <a:lnTo>
                  <a:pt x="0" y="917092"/>
                </a:lnTo>
                <a:close/>
              </a:path>
              <a:path w="1118870" h="917575">
                <a:moveTo>
                  <a:pt x="48247" y="885799"/>
                </a:moveTo>
                <a:lnTo>
                  <a:pt x="40195" y="875982"/>
                </a:lnTo>
                <a:lnTo>
                  <a:pt x="54943" y="863911"/>
                </a:lnTo>
                <a:lnTo>
                  <a:pt x="62985" y="873736"/>
                </a:lnTo>
                <a:lnTo>
                  <a:pt x="48247" y="885799"/>
                </a:lnTo>
                <a:close/>
              </a:path>
              <a:path w="1118870" h="917575">
                <a:moveTo>
                  <a:pt x="72857" y="885799"/>
                </a:moveTo>
                <a:lnTo>
                  <a:pt x="48247" y="885799"/>
                </a:lnTo>
                <a:lnTo>
                  <a:pt x="62985" y="873736"/>
                </a:lnTo>
                <a:lnTo>
                  <a:pt x="72857" y="8857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00513" y="3789045"/>
            <a:ext cx="76200" cy="923290"/>
          </a:xfrm>
          <a:custGeom>
            <a:avLst/>
            <a:gdLst/>
            <a:ahLst/>
            <a:cxnLst/>
            <a:rect l="l" t="t" r="r" b="b"/>
            <a:pathLst>
              <a:path w="76200" h="923289">
                <a:moveTo>
                  <a:pt x="44450" y="866139"/>
                </a:moveTo>
                <a:lnTo>
                  <a:pt x="31750" y="866139"/>
                </a:lnTo>
                <a:lnTo>
                  <a:pt x="31750" y="0"/>
                </a:lnTo>
                <a:lnTo>
                  <a:pt x="44450" y="0"/>
                </a:lnTo>
                <a:lnTo>
                  <a:pt x="44450" y="866139"/>
                </a:lnTo>
                <a:close/>
              </a:path>
              <a:path w="76200" h="923289">
                <a:moveTo>
                  <a:pt x="38100" y="923289"/>
                </a:moveTo>
                <a:lnTo>
                  <a:pt x="0" y="847089"/>
                </a:lnTo>
                <a:lnTo>
                  <a:pt x="31750" y="847089"/>
                </a:lnTo>
                <a:lnTo>
                  <a:pt x="31750" y="866139"/>
                </a:lnTo>
                <a:lnTo>
                  <a:pt x="66675" y="866139"/>
                </a:lnTo>
                <a:lnTo>
                  <a:pt x="38100" y="923289"/>
                </a:lnTo>
                <a:close/>
              </a:path>
              <a:path w="76200" h="923289">
                <a:moveTo>
                  <a:pt x="66675" y="866139"/>
                </a:moveTo>
                <a:lnTo>
                  <a:pt x="44450" y="866139"/>
                </a:lnTo>
                <a:lnTo>
                  <a:pt x="44450" y="847089"/>
                </a:lnTo>
                <a:lnTo>
                  <a:pt x="76200" y="847089"/>
                </a:lnTo>
                <a:lnTo>
                  <a:pt x="66675" y="8661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99825" y="3765054"/>
            <a:ext cx="2289175" cy="939165"/>
          </a:xfrm>
          <a:custGeom>
            <a:avLst/>
            <a:gdLst/>
            <a:ahLst/>
            <a:cxnLst/>
            <a:rect l="l" t="t" r="r" b="b"/>
            <a:pathLst>
              <a:path w="2289175" h="939164">
                <a:moveTo>
                  <a:pt x="2215602" y="909670"/>
                </a:moveTo>
                <a:lnTo>
                  <a:pt x="0" y="11772"/>
                </a:lnTo>
                <a:lnTo>
                  <a:pt x="4775" y="0"/>
                </a:lnTo>
                <a:lnTo>
                  <a:pt x="2220370" y="897900"/>
                </a:lnTo>
                <a:lnTo>
                  <a:pt x="2215602" y="909670"/>
                </a:lnTo>
                <a:close/>
              </a:path>
              <a:path w="2289175" h="939164">
                <a:moveTo>
                  <a:pt x="2274877" y="916825"/>
                </a:moveTo>
                <a:lnTo>
                  <a:pt x="2233256" y="916825"/>
                </a:lnTo>
                <a:lnTo>
                  <a:pt x="2238019" y="905052"/>
                </a:lnTo>
                <a:lnTo>
                  <a:pt x="2220370" y="897900"/>
                </a:lnTo>
                <a:lnTo>
                  <a:pt x="2232291" y="868476"/>
                </a:lnTo>
                <a:lnTo>
                  <a:pt x="2274877" y="916825"/>
                </a:lnTo>
                <a:close/>
              </a:path>
              <a:path w="2289175" h="939164">
                <a:moveTo>
                  <a:pt x="2233256" y="916825"/>
                </a:moveTo>
                <a:lnTo>
                  <a:pt x="2215602" y="909670"/>
                </a:lnTo>
                <a:lnTo>
                  <a:pt x="2220370" y="897900"/>
                </a:lnTo>
                <a:lnTo>
                  <a:pt x="2238019" y="905052"/>
                </a:lnTo>
                <a:lnTo>
                  <a:pt x="2233256" y="916825"/>
                </a:lnTo>
                <a:close/>
              </a:path>
              <a:path w="2289175" h="939164">
                <a:moveTo>
                  <a:pt x="2203678" y="939101"/>
                </a:moveTo>
                <a:lnTo>
                  <a:pt x="2215602" y="909670"/>
                </a:lnTo>
                <a:lnTo>
                  <a:pt x="2233256" y="916825"/>
                </a:lnTo>
                <a:lnTo>
                  <a:pt x="2274877" y="916825"/>
                </a:lnTo>
                <a:lnTo>
                  <a:pt x="2288603" y="932408"/>
                </a:lnTo>
                <a:lnTo>
                  <a:pt x="2203678" y="93910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253640" y="4064635"/>
            <a:ext cx="4502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wait(</a:t>
            </a:r>
            <a:r>
              <a:rPr dirty="0" sz="140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8065" y="4064635"/>
            <a:ext cx="50927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sleep(</a:t>
            </a:r>
            <a:r>
              <a:rPr dirty="0" sz="140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83402" y="3889908"/>
            <a:ext cx="226758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等待</a:t>
            </a:r>
            <a:r>
              <a:rPr dirty="0" sz="1400" spc="-5">
                <a:latin typeface="Times New Roman"/>
                <a:cs typeface="Times New Roman"/>
              </a:rPr>
              <a:t>synchronized</a:t>
            </a:r>
            <a:r>
              <a:rPr dirty="0" sz="1400">
                <a:latin typeface="微软雅黑"/>
                <a:cs typeface="微软雅黑"/>
              </a:rPr>
              <a:t>代码块</a:t>
            </a:r>
            <a:r>
              <a:rPr dirty="0" sz="1400" spc="-5">
                <a:latin typeface="Times New Roman"/>
                <a:cs typeface="Times New Roman"/>
              </a:rPr>
              <a:t>/</a:t>
            </a:r>
            <a:r>
              <a:rPr dirty="0" sz="1400">
                <a:latin typeface="微软雅黑"/>
                <a:cs typeface="微软雅黑"/>
              </a:rPr>
              <a:t>方</a:t>
            </a:r>
            <a:r>
              <a:rPr dirty="0" sz="1400" spc="5">
                <a:latin typeface="微软雅黑"/>
                <a:cs typeface="微软雅黑"/>
              </a:rPr>
              <a:t>法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72402" y="4161688"/>
            <a:ext cx="7372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的同步</a:t>
            </a:r>
            <a:r>
              <a:rPr dirty="0" sz="1400" spc="5">
                <a:latin typeface="微软雅黑"/>
                <a:cs typeface="微软雅黑"/>
              </a:rPr>
              <a:t>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17676" y="3350260"/>
            <a:ext cx="5594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获得</a:t>
            </a:r>
            <a:r>
              <a:rPr dirty="0" sz="1400" spc="5">
                <a:latin typeface="微软雅黑"/>
                <a:cs typeface="微软雅黑"/>
              </a:rPr>
              <a:t>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44738" y="5227573"/>
            <a:ext cx="91503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微软雅黑"/>
                <a:cs typeface="微软雅黑"/>
              </a:rPr>
              <a:t>睡眠时间</a:t>
            </a:r>
            <a:r>
              <a:rPr dirty="0" sz="1400" spc="5">
                <a:latin typeface="微软雅黑"/>
                <a:cs typeface="微软雅黑"/>
              </a:rPr>
              <a:t>到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83168" y="5455539"/>
            <a:ext cx="63817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interrupt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48702" y="3440747"/>
            <a:ext cx="915035" cy="880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notify()  notifyAll()  </a:t>
            </a:r>
            <a:r>
              <a:rPr dirty="0" sz="1400">
                <a:latin typeface="微软雅黑"/>
                <a:cs typeface="微软雅黑"/>
              </a:rPr>
              <a:t>等待时间</a:t>
            </a:r>
            <a:r>
              <a:rPr dirty="0" sz="1400">
                <a:latin typeface="微软雅黑"/>
                <a:cs typeface="微软雅黑"/>
              </a:rPr>
              <a:t>到  </a:t>
            </a:r>
            <a:r>
              <a:rPr dirty="0" sz="1400" spc="-5">
                <a:latin typeface="Times New Roman"/>
                <a:cs typeface="Times New Roman"/>
              </a:rPr>
              <a:t>interrupt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682458" y="4923472"/>
            <a:ext cx="575945" cy="0"/>
          </a:xfrm>
          <a:custGeom>
            <a:avLst/>
            <a:gdLst/>
            <a:ahLst/>
            <a:cxnLst/>
            <a:rect l="l" t="t" r="r" b="b"/>
            <a:pathLst>
              <a:path w="575945" h="0">
                <a:moveTo>
                  <a:pt x="0" y="0"/>
                </a:moveTo>
                <a:lnTo>
                  <a:pt x="575741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550920" y="1610867"/>
            <a:ext cx="792480" cy="360045"/>
          </a:xfrm>
          <a:custGeom>
            <a:avLst/>
            <a:gdLst/>
            <a:ahLst/>
            <a:cxnLst/>
            <a:rect l="l" t="t" r="r" b="b"/>
            <a:pathLst>
              <a:path w="792479" h="360044">
                <a:moveTo>
                  <a:pt x="733043" y="359663"/>
                </a:moveTo>
                <a:lnTo>
                  <a:pt x="60959" y="359663"/>
                </a:lnTo>
                <a:lnTo>
                  <a:pt x="37263" y="355258"/>
                </a:lnTo>
                <a:lnTo>
                  <a:pt x="17978" y="342561"/>
                </a:lnTo>
                <a:lnTo>
                  <a:pt x="4944" y="323557"/>
                </a:lnTo>
                <a:lnTo>
                  <a:pt x="0" y="300227"/>
                </a:lnTo>
                <a:lnTo>
                  <a:pt x="0" y="59435"/>
                </a:lnTo>
                <a:lnTo>
                  <a:pt x="4944" y="36499"/>
                </a:lnTo>
                <a:lnTo>
                  <a:pt x="17978" y="17626"/>
                </a:lnTo>
                <a:lnTo>
                  <a:pt x="37263" y="4798"/>
                </a:lnTo>
                <a:lnTo>
                  <a:pt x="60959" y="0"/>
                </a:lnTo>
                <a:lnTo>
                  <a:pt x="733043" y="0"/>
                </a:lnTo>
                <a:lnTo>
                  <a:pt x="756066" y="4798"/>
                </a:lnTo>
                <a:lnTo>
                  <a:pt x="774968" y="17626"/>
                </a:lnTo>
                <a:lnTo>
                  <a:pt x="787766" y="36499"/>
                </a:lnTo>
                <a:lnTo>
                  <a:pt x="792479" y="59435"/>
                </a:lnTo>
                <a:lnTo>
                  <a:pt x="792479" y="300227"/>
                </a:lnTo>
                <a:lnTo>
                  <a:pt x="787766" y="323557"/>
                </a:lnTo>
                <a:lnTo>
                  <a:pt x="774968" y="342561"/>
                </a:lnTo>
                <a:lnTo>
                  <a:pt x="756066" y="355258"/>
                </a:lnTo>
                <a:lnTo>
                  <a:pt x="733043" y="3596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547567" y="1607223"/>
            <a:ext cx="800100" cy="367030"/>
          </a:xfrm>
          <a:custGeom>
            <a:avLst/>
            <a:gdLst/>
            <a:ahLst/>
            <a:cxnLst/>
            <a:rect l="l" t="t" r="r" b="b"/>
            <a:pathLst>
              <a:path w="800100" h="367030">
                <a:moveTo>
                  <a:pt x="748664" y="1269"/>
                </a:moveTo>
                <a:lnTo>
                  <a:pt x="50876" y="1269"/>
                </a:lnTo>
                <a:lnTo>
                  <a:pt x="54025" y="0"/>
                </a:lnTo>
                <a:lnTo>
                  <a:pt x="745528" y="0"/>
                </a:lnTo>
                <a:lnTo>
                  <a:pt x="748664" y="1269"/>
                </a:lnTo>
                <a:close/>
              </a:path>
              <a:path w="800100" h="367030">
                <a:moveTo>
                  <a:pt x="754837" y="364489"/>
                </a:moveTo>
                <a:lnTo>
                  <a:pt x="44716" y="364489"/>
                </a:lnTo>
                <a:lnTo>
                  <a:pt x="38900" y="361950"/>
                </a:lnTo>
                <a:lnTo>
                  <a:pt x="33312" y="359410"/>
                </a:lnTo>
                <a:lnTo>
                  <a:pt x="28054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69"/>
                </a:lnTo>
                <a:lnTo>
                  <a:pt x="10820" y="339089"/>
                </a:lnTo>
                <a:lnTo>
                  <a:pt x="7619" y="334010"/>
                </a:lnTo>
                <a:lnTo>
                  <a:pt x="2806" y="322580"/>
                </a:lnTo>
                <a:lnTo>
                  <a:pt x="1930" y="318769"/>
                </a:lnTo>
                <a:lnTo>
                  <a:pt x="1219" y="316230"/>
                </a:lnTo>
                <a:lnTo>
                  <a:pt x="660" y="312419"/>
                </a:lnTo>
                <a:lnTo>
                  <a:pt x="253" y="309880"/>
                </a:lnTo>
                <a:lnTo>
                  <a:pt x="0" y="306069"/>
                </a:lnTo>
                <a:lnTo>
                  <a:pt x="0" y="59689"/>
                </a:lnTo>
                <a:lnTo>
                  <a:pt x="660" y="53339"/>
                </a:lnTo>
                <a:lnTo>
                  <a:pt x="1219" y="50800"/>
                </a:lnTo>
                <a:lnTo>
                  <a:pt x="1930" y="46989"/>
                </a:lnTo>
                <a:lnTo>
                  <a:pt x="2806" y="44450"/>
                </a:lnTo>
                <a:lnTo>
                  <a:pt x="4940" y="38100"/>
                </a:lnTo>
                <a:lnTo>
                  <a:pt x="7619" y="33019"/>
                </a:lnTo>
                <a:lnTo>
                  <a:pt x="33312" y="7619"/>
                </a:lnTo>
                <a:lnTo>
                  <a:pt x="38900" y="3809"/>
                </a:lnTo>
                <a:lnTo>
                  <a:pt x="44716" y="2540"/>
                </a:lnTo>
                <a:lnTo>
                  <a:pt x="47790" y="1269"/>
                </a:lnTo>
                <a:lnTo>
                  <a:pt x="751763" y="1269"/>
                </a:lnTo>
                <a:lnTo>
                  <a:pt x="754837" y="2540"/>
                </a:lnTo>
                <a:lnTo>
                  <a:pt x="760653" y="3809"/>
                </a:lnTo>
                <a:lnTo>
                  <a:pt x="764370" y="6350"/>
                </a:lnTo>
                <a:lnTo>
                  <a:pt x="63830" y="6350"/>
                </a:lnTo>
                <a:lnTo>
                  <a:pt x="60744" y="7619"/>
                </a:lnTo>
                <a:lnTo>
                  <a:pt x="52501" y="7619"/>
                </a:lnTo>
                <a:lnTo>
                  <a:pt x="49593" y="8890"/>
                </a:lnTo>
                <a:lnTo>
                  <a:pt x="47205" y="8890"/>
                </a:lnTo>
                <a:lnTo>
                  <a:pt x="41694" y="11430"/>
                </a:lnTo>
                <a:lnTo>
                  <a:pt x="42037" y="11430"/>
                </a:lnTo>
                <a:lnTo>
                  <a:pt x="36791" y="13969"/>
                </a:lnTo>
                <a:lnTo>
                  <a:pt x="37109" y="13969"/>
                </a:lnTo>
                <a:lnTo>
                  <a:pt x="32169" y="16509"/>
                </a:lnTo>
                <a:lnTo>
                  <a:pt x="32473" y="16509"/>
                </a:lnTo>
                <a:lnTo>
                  <a:pt x="27851" y="20319"/>
                </a:lnTo>
                <a:lnTo>
                  <a:pt x="28130" y="20319"/>
                </a:lnTo>
                <a:lnTo>
                  <a:pt x="25294" y="22860"/>
                </a:lnTo>
                <a:lnTo>
                  <a:pt x="24129" y="22860"/>
                </a:lnTo>
                <a:lnTo>
                  <a:pt x="21224" y="26669"/>
                </a:lnTo>
                <a:lnTo>
                  <a:pt x="20485" y="26669"/>
                </a:lnTo>
                <a:lnTo>
                  <a:pt x="17030" y="31750"/>
                </a:lnTo>
                <a:lnTo>
                  <a:pt x="17233" y="31750"/>
                </a:lnTo>
                <a:lnTo>
                  <a:pt x="14236" y="36830"/>
                </a:lnTo>
                <a:lnTo>
                  <a:pt x="14401" y="36830"/>
                </a:lnTo>
                <a:lnTo>
                  <a:pt x="12506" y="40639"/>
                </a:lnTo>
                <a:lnTo>
                  <a:pt x="12026" y="40639"/>
                </a:lnTo>
                <a:lnTo>
                  <a:pt x="10007" y="46989"/>
                </a:lnTo>
                <a:lnTo>
                  <a:pt x="9283" y="49530"/>
                </a:lnTo>
                <a:lnTo>
                  <a:pt x="8661" y="52069"/>
                </a:lnTo>
                <a:lnTo>
                  <a:pt x="8178" y="54610"/>
                </a:lnTo>
                <a:lnTo>
                  <a:pt x="7823" y="57150"/>
                </a:lnTo>
                <a:lnTo>
                  <a:pt x="7683" y="59689"/>
                </a:lnTo>
                <a:lnTo>
                  <a:pt x="7607" y="306069"/>
                </a:lnTo>
                <a:lnTo>
                  <a:pt x="7835" y="308610"/>
                </a:lnTo>
                <a:lnTo>
                  <a:pt x="8204" y="312419"/>
                </a:lnTo>
                <a:lnTo>
                  <a:pt x="8352" y="312419"/>
                </a:lnTo>
                <a:lnTo>
                  <a:pt x="8699" y="314960"/>
                </a:lnTo>
                <a:lnTo>
                  <a:pt x="9334" y="317500"/>
                </a:lnTo>
                <a:lnTo>
                  <a:pt x="10096" y="320039"/>
                </a:lnTo>
                <a:lnTo>
                  <a:pt x="12026" y="325119"/>
                </a:lnTo>
                <a:lnTo>
                  <a:pt x="11874" y="325119"/>
                </a:lnTo>
                <a:lnTo>
                  <a:pt x="14401" y="330200"/>
                </a:lnTo>
                <a:lnTo>
                  <a:pt x="14236" y="330200"/>
                </a:lnTo>
                <a:lnTo>
                  <a:pt x="17233" y="335280"/>
                </a:lnTo>
                <a:lnTo>
                  <a:pt x="17894" y="335280"/>
                </a:lnTo>
                <a:lnTo>
                  <a:pt x="20485" y="339089"/>
                </a:lnTo>
                <a:lnTo>
                  <a:pt x="20256" y="339089"/>
                </a:lnTo>
                <a:lnTo>
                  <a:pt x="24129" y="342900"/>
                </a:lnTo>
                <a:lnTo>
                  <a:pt x="23875" y="342900"/>
                </a:lnTo>
                <a:lnTo>
                  <a:pt x="28130" y="346710"/>
                </a:lnTo>
                <a:lnTo>
                  <a:pt x="27851" y="346710"/>
                </a:lnTo>
                <a:lnTo>
                  <a:pt x="32473" y="350519"/>
                </a:lnTo>
                <a:lnTo>
                  <a:pt x="33815" y="350519"/>
                </a:lnTo>
                <a:lnTo>
                  <a:pt x="37109" y="353060"/>
                </a:lnTo>
                <a:lnTo>
                  <a:pt x="36791" y="353060"/>
                </a:lnTo>
                <a:lnTo>
                  <a:pt x="42037" y="355600"/>
                </a:lnTo>
                <a:lnTo>
                  <a:pt x="44450" y="355600"/>
                </a:lnTo>
                <a:lnTo>
                  <a:pt x="47205" y="356869"/>
                </a:lnTo>
                <a:lnTo>
                  <a:pt x="46939" y="356869"/>
                </a:lnTo>
                <a:lnTo>
                  <a:pt x="49783" y="358139"/>
                </a:lnTo>
                <a:lnTo>
                  <a:pt x="55079" y="358139"/>
                </a:lnTo>
                <a:lnTo>
                  <a:pt x="58089" y="359410"/>
                </a:lnTo>
                <a:lnTo>
                  <a:pt x="766229" y="359410"/>
                </a:lnTo>
                <a:lnTo>
                  <a:pt x="760653" y="361950"/>
                </a:lnTo>
                <a:lnTo>
                  <a:pt x="754837" y="364489"/>
                </a:lnTo>
                <a:close/>
              </a:path>
              <a:path w="800100" h="367030">
                <a:moveTo>
                  <a:pt x="735812" y="7619"/>
                </a:moveTo>
                <a:lnTo>
                  <a:pt x="63741" y="7619"/>
                </a:lnTo>
                <a:lnTo>
                  <a:pt x="63830" y="6350"/>
                </a:lnTo>
                <a:lnTo>
                  <a:pt x="735711" y="6350"/>
                </a:lnTo>
                <a:lnTo>
                  <a:pt x="735812" y="7619"/>
                </a:lnTo>
                <a:close/>
              </a:path>
              <a:path w="800100" h="367030">
                <a:moveTo>
                  <a:pt x="775677" y="24130"/>
                </a:moveTo>
                <a:lnTo>
                  <a:pt x="771423" y="20319"/>
                </a:lnTo>
                <a:lnTo>
                  <a:pt x="771702" y="20319"/>
                </a:lnTo>
                <a:lnTo>
                  <a:pt x="767079" y="16509"/>
                </a:lnTo>
                <a:lnTo>
                  <a:pt x="767384" y="16509"/>
                </a:lnTo>
                <a:lnTo>
                  <a:pt x="762431" y="13969"/>
                </a:lnTo>
                <a:lnTo>
                  <a:pt x="762762" y="13969"/>
                </a:lnTo>
                <a:lnTo>
                  <a:pt x="757516" y="11430"/>
                </a:lnTo>
                <a:lnTo>
                  <a:pt x="757859" y="11430"/>
                </a:lnTo>
                <a:lnTo>
                  <a:pt x="752348" y="8890"/>
                </a:lnTo>
                <a:lnTo>
                  <a:pt x="749947" y="8890"/>
                </a:lnTo>
                <a:lnTo>
                  <a:pt x="747052" y="7619"/>
                </a:lnTo>
                <a:lnTo>
                  <a:pt x="738809" y="7619"/>
                </a:lnTo>
                <a:lnTo>
                  <a:pt x="735711" y="6350"/>
                </a:lnTo>
                <a:lnTo>
                  <a:pt x="764370" y="6350"/>
                </a:lnTo>
                <a:lnTo>
                  <a:pt x="766229" y="7619"/>
                </a:lnTo>
                <a:lnTo>
                  <a:pt x="771499" y="10159"/>
                </a:lnTo>
                <a:lnTo>
                  <a:pt x="776414" y="13969"/>
                </a:lnTo>
                <a:lnTo>
                  <a:pt x="780935" y="17780"/>
                </a:lnTo>
                <a:lnTo>
                  <a:pt x="785063" y="22860"/>
                </a:lnTo>
                <a:lnTo>
                  <a:pt x="775423" y="22860"/>
                </a:lnTo>
                <a:lnTo>
                  <a:pt x="775677" y="24130"/>
                </a:lnTo>
                <a:close/>
              </a:path>
              <a:path w="800100" h="367030">
                <a:moveTo>
                  <a:pt x="46939" y="10159"/>
                </a:moveTo>
                <a:lnTo>
                  <a:pt x="47205" y="8890"/>
                </a:lnTo>
                <a:lnTo>
                  <a:pt x="49783" y="8890"/>
                </a:lnTo>
                <a:lnTo>
                  <a:pt x="46939" y="10159"/>
                </a:lnTo>
                <a:close/>
              </a:path>
              <a:path w="800100" h="367030">
                <a:moveTo>
                  <a:pt x="752614" y="10159"/>
                </a:moveTo>
                <a:lnTo>
                  <a:pt x="749769" y="8890"/>
                </a:lnTo>
                <a:lnTo>
                  <a:pt x="752348" y="8890"/>
                </a:lnTo>
                <a:lnTo>
                  <a:pt x="752614" y="10159"/>
                </a:lnTo>
                <a:close/>
              </a:path>
              <a:path w="800100" h="367030">
                <a:moveTo>
                  <a:pt x="23875" y="24130"/>
                </a:moveTo>
                <a:lnTo>
                  <a:pt x="24129" y="22860"/>
                </a:lnTo>
                <a:lnTo>
                  <a:pt x="25294" y="22860"/>
                </a:lnTo>
                <a:lnTo>
                  <a:pt x="23875" y="24130"/>
                </a:lnTo>
                <a:close/>
              </a:path>
              <a:path w="800100" h="367030">
                <a:moveTo>
                  <a:pt x="779297" y="27939"/>
                </a:moveTo>
                <a:lnTo>
                  <a:pt x="775423" y="22860"/>
                </a:lnTo>
                <a:lnTo>
                  <a:pt x="785063" y="22860"/>
                </a:lnTo>
                <a:lnTo>
                  <a:pt x="787815" y="26669"/>
                </a:lnTo>
                <a:lnTo>
                  <a:pt x="779068" y="26669"/>
                </a:lnTo>
                <a:lnTo>
                  <a:pt x="779297" y="27939"/>
                </a:lnTo>
                <a:close/>
              </a:path>
              <a:path w="800100" h="367030">
                <a:moveTo>
                  <a:pt x="20256" y="27939"/>
                </a:moveTo>
                <a:lnTo>
                  <a:pt x="20485" y="26669"/>
                </a:lnTo>
                <a:lnTo>
                  <a:pt x="21224" y="26669"/>
                </a:lnTo>
                <a:lnTo>
                  <a:pt x="20256" y="27939"/>
                </a:lnTo>
                <a:close/>
              </a:path>
              <a:path w="800100" h="367030">
                <a:moveTo>
                  <a:pt x="787666" y="41910"/>
                </a:moveTo>
                <a:lnTo>
                  <a:pt x="785139" y="36830"/>
                </a:lnTo>
                <a:lnTo>
                  <a:pt x="785317" y="36830"/>
                </a:lnTo>
                <a:lnTo>
                  <a:pt x="782319" y="31750"/>
                </a:lnTo>
                <a:lnTo>
                  <a:pt x="782523" y="31750"/>
                </a:lnTo>
                <a:lnTo>
                  <a:pt x="779068" y="26669"/>
                </a:lnTo>
                <a:lnTo>
                  <a:pt x="787815" y="26669"/>
                </a:lnTo>
                <a:lnTo>
                  <a:pt x="788733" y="27939"/>
                </a:lnTo>
                <a:lnTo>
                  <a:pt x="791933" y="33019"/>
                </a:lnTo>
                <a:lnTo>
                  <a:pt x="794613" y="38100"/>
                </a:lnTo>
                <a:lnTo>
                  <a:pt x="795467" y="40639"/>
                </a:lnTo>
                <a:lnTo>
                  <a:pt x="787526" y="40639"/>
                </a:lnTo>
                <a:lnTo>
                  <a:pt x="787666" y="41910"/>
                </a:lnTo>
                <a:close/>
              </a:path>
              <a:path w="800100" h="367030">
                <a:moveTo>
                  <a:pt x="11874" y="41910"/>
                </a:moveTo>
                <a:lnTo>
                  <a:pt x="12026" y="40639"/>
                </a:lnTo>
                <a:lnTo>
                  <a:pt x="12506" y="40639"/>
                </a:lnTo>
                <a:lnTo>
                  <a:pt x="11874" y="41910"/>
                </a:lnTo>
                <a:close/>
              </a:path>
              <a:path w="800100" h="367030">
                <a:moveTo>
                  <a:pt x="798893" y="312419"/>
                </a:moveTo>
                <a:lnTo>
                  <a:pt x="791349" y="312419"/>
                </a:lnTo>
                <a:lnTo>
                  <a:pt x="791730" y="308610"/>
                </a:lnTo>
                <a:lnTo>
                  <a:pt x="791946" y="306069"/>
                </a:lnTo>
                <a:lnTo>
                  <a:pt x="791933" y="59689"/>
                </a:lnTo>
                <a:lnTo>
                  <a:pt x="791705" y="57150"/>
                </a:lnTo>
                <a:lnTo>
                  <a:pt x="791349" y="54610"/>
                </a:lnTo>
                <a:lnTo>
                  <a:pt x="790854" y="52069"/>
                </a:lnTo>
                <a:lnTo>
                  <a:pt x="790219" y="49530"/>
                </a:lnTo>
                <a:lnTo>
                  <a:pt x="789457" y="46989"/>
                </a:lnTo>
                <a:lnTo>
                  <a:pt x="787526" y="40639"/>
                </a:lnTo>
                <a:lnTo>
                  <a:pt x="795467" y="40639"/>
                </a:lnTo>
                <a:lnTo>
                  <a:pt x="796747" y="44450"/>
                </a:lnTo>
                <a:lnTo>
                  <a:pt x="797623" y="46989"/>
                </a:lnTo>
                <a:lnTo>
                  <a:pt x="798334" y="50800"/>
                </a:lnTo>
                <a:lnTo>
                  <a:pt x="798893" y="53339"/>
                </a:lnTo>
                <a:lnTo>
                  <a:pt x="799553" y="59689"/>
                </a:lnTo>
                <a:lnTo>
                  <a:pt x="799553" y="306069"/>
                </a:lnTo>
                <a:lnTo>
                  <a:pt x="799299" y="309880"/>
                </a:lnTo>
                <a:lnTo>
                  <a:pt x="798893" y="312419"/>
                </a:lnTo>
                <a:close/>
              </a:path>
              <a:path w="800100" h="367030">
                <a:moveTo>
                  <a:pt x="7607" y="60960"/>
                </a:moveTo>
                <a:lnTo>
                  <a:pt x="7619" y="59689"/>
                </a:lnTo>
                <a:lnTo>
                  <a:pt x="7607" y="60960"/>
                </a:lnTo>
                <a:close/>
              </a:path>
              <a:path w="800100" h="367030">
                <a:moveTo>
                  <a:pt x="791946" y="60960"/>
                </a:moveTo>
                <a:lnTo>
                  <a:pt x="791866" y="59689"/>
                </a:lnTo>
                <a:lnTo>
                  <a:pt x="791946" y="60960"/>
                </a:lnTo>
                <a:close/>
              </a:path>
              <a:path w="800100" h="367030">
                <a:moveTo>
                  <a:pt x="8352" y="312419"/>
                </a:moveTo>
                <a:lnTo>
                  <a:pt x="8204" y="312419"/>
                </a:lnTo>
                <a:lnTo>
                  <a:pt x="8178" y="311150"/>
                </a:lnTo>
                <a:lnTo>
                  <a:pt x="8352" y="312419"/>
                </a:lnTo>
                <a:close/>
              </a:path>
              <a:path w="800100" h="367030">
                <a:moveTo>
                  <a:pt x="791133" y="335280"/>
                </a:moveTo>
                <a:lnTo>
                  <a:pt x="782319" y="335280"/>
                </a:lnTo>
                <a:lnTo>
                  <a:pt x="785317" y="330200"/>
                </a:lnTo>
                <a:lnTo>
                  <a:pt x="785139" y="330200"/>
                </a:lnTo>
                <a:lnTo>
                  <a:pt x="787666" y="325119"/>
                </a:lnTo>
                <a:lnTo>
                  <a:pt x="787526" y="325119"/>
                </a:lnTo>
                <a:lnTo>
                  <a:pt x="789546" y="320039"/>
                </a:lnTo>
                <a:lnTo>
                  <a:pt x="790270" y="317500"/>
                </a:lnTo>
                <a:lnTo>
                  <a:pt x="790892" y="314960"/>
                </a:lnTo>
                <a:lnTo>
                  <a:pt x="791375" y="311150"/>
                </a:lnTo>
                <a:lnTo>
                  <a:pt x="791349" y="312419"/>
                </a:lnTo>
                <a:lnTo>
                  <a:pt x="798893" y="312419"/>
                </a:lnTo>
                <a:lnTo>
                  <a:pt x="798334" y="316230"/>
                </a:lnTo>
                <a:lnTo>
                  <a:pt x="797623" y="318769"/>
                </a:lnTo>
                <a:lnTo>
                  <a:pt x="796747" y="322580"/>
                </a:lnTo>
                <a:lnTo>
                  <a:pt x="791933" y="334010"/>
                </a:lnTo>
                <a:lnTo>
                  <a:pt x="791133" y="335280"/>
                </a:lnTo>
                <a:close/>
              </a:path>
              <a:path w="800100" h="367030">
                <a:moveTo>
                  <a:pt x="17894" y="335280"/>
                </a:moveTo>
                <a:lnTo>
                  <a:pt x="17233" y="335280"/>
                </a:lnTo>
                <a:lnTo>
                  <a:pt x="17030" y="334010"/>
                </a:lnTo>
                <a:lnTo>
                  <a:pt x="17894" y="335280"/>
                </a:lnTo>
                <a:close/>
              </a:path>
              <a:path w="800100" h="367030">
                <a:moveTo>
                  <a:pt x="778675" y="350519"/>
                </a:moveTo>
                <a:lnTo>
                  <a:pt x="767079" y="350519"/>
                </a:lnTo>
                <a:lnTo>
                  <a:pt x="771702" y="346710"/>
                </a:lnTo>
                <a:lnTo>
                  <a:pt x="771423" y="346710"/>
                </a:lnTo>
                <a:lnTo>
                  <a:pt x="775677" y="342900"/>
                </a:lnTo>
                <a:lnTo>
                  <a:pt x="775423" y="342900"/>
                </a:lnTo>
                <a:lnTo>
                  <a:pt x="779297" y="339089"/>
                </a:lnTo>
                <a:lnTo>
                  <a:pt x="779068" y="339089"/>
                </a:lnTo>
                <a:lnTo>
                  <a:pt x="782523" y="334010"/>
                </a:lnTo>
                <a:lnTo>
                  <a:pt x="782319" y="335280"/>
                </a:lnTo>
                <a:lnTo>
                  <a:pt x="791133" y="335280"/>
                </a:lnTo>
                <a:lnTo>
                  <a:pt x="788733" y="339089"/>
                </a:lnTo>
                <a:lnTo>
                  <a:pt x="785063" y="344169"/>
                </a:lnTo>
                <a:lnTo>
                  <a:pt x="780935" y="347980"/>
                </a:lnTo>
                <a:lnTo>
                  <a:pt x="778675" y="350519"/>
                </a:lnTo>
                <a:close/>
              </a:path>
              <a:path w="800100" h="367030">
                <a:moveTo>
                  <a:pt x="33815" y="350519"/>
                </a:moveTo>
                <a:lnTo>
                  <a:pt x="32473" y="350519"/>
                </a:lnTo>
                <a:lnTo>
                  <a:pt x="32169" y="349250"/>
                </a:lnTo>
                <a:lnTo>
                  <a:pt x="33815" y="350519"/>
                </a:lnTo>
                <a:close/>
              </a:path>
              <a:path w="800100" h="367030">
                <a:moveTo>
                  <a:pt x="771499" y="355600"/>
                </a:moveTo>
                <a:lnTo>
                  <a:pt x="757516" y="355600"/>
                </a:lnTo>
                <a:lnTo>
                  <a:pt x="762762" y="353060"/>
                </a:lnTo>
                <a:lnTo>
                  <a:pt x="762431" y="353060"/>
                </a:lnTo>
                <a:lnTo>
                  <a:pt x="767384" y="349250"/>
                </a:lnTo>
                <a:lnTo>
                  <a:pt x="767079" y="350519"/>
                </a:lnTo>
                <a:lnTo>
                  <a:pt x="778675" y="350519"/>
                </a:lnTo>
                <a:lnTo>
                  <a:pt x="776414" y="353060"/>
                </a:lnTo>
                <a:lnTo>
                  <a:pt x="771499" y="355600"/>
                </a:lnTo>
                <a:close/>
              </a:path>
              <a:path w="800100" h="367030">
                <a:moveTo>
                  <a:pt x="44450" y="355600"/>
                </a:moveTo>
                <a:lnTo>
                  <a:pt x="42037" y="355600"/>
                </a:lnTo>
                <a:lnTo>
                  <a:pt x="41694" y="354330"/>
                </a:lnTo>
                <a:lnTo>
                  <a:pt x="44450" y="355600"/>
                </a:lnTo>
                <a:close/>
              </a:path>
              <a:path w="800100" h="367030">
                <a:moveTo>
                  <a:pt x="766229" y="359410"/>
                </a:moveTo>
                <a:lnTo>
                  <a:pt x="741464" y="359410"/>
                </a:lnTo>
                <a:lnTo>
                  <a:pt x="744474" y="358139"/>
                </a:lnTo>
                <a:lnTo>
                  <a:pt x="749769" y="358139"/>
                </a:lnTo>
                <a:lnTo>
                  <a:pt x="752614" y="356869"/>
                </a:lnTo>
                <a:lnTo>
                  <a:pt x="752348" y="356869"/>
                </a:lnTo>
                <a:lnTo>
                  <a:pt x="757859" y="354330"/>
                </a:lnTo>
                <a:lnTo>
                  <a:pt x="757516" y="355600"/>
                </a:lnTo>
                <a:lnTo>
                  <a:pt x="771499" y="355600"/>
                </a:lnTo>
                <a:lnTo>
                  <a:pt x="766229" y="359410"/>
                </a:lnTo>
                <a:close/>
              </a:path>
              <a:path w="800100" h="367030">
                <a:moveTo>
                  <a:pt x="748664" y="365760"/>
                </a:moveTo>
                <a:lnTo>
                  <a:pt x="50876" y="365760"/>
                </a:lnTo>
                <a:lnTo>
                  <a:pt x="47790" y="364489"/>
                </a:lnTo>
                <a:lnTo>
                  <a:pt x="751763" y="364489"/>
                </a:lnTo>
                <a:lnTo>
                  <a:pt x="748664" y="365760"/>
                </a:lnTo>
                <a:close/>
              </a:path>
              <a:path w="800100" h="367030">
                <a:moveTo>
                  <a:pt x="742327" y="367030"/>
                </a:moveTo>
                <a:lnTo>
                  <a:pt x="57213" y="367030"/>
                </a:lnTo>
                <a:lnTo>
                  <a:pt x="54025" y="365760"/>
                </a:lnTo>
                <a:lnTo>
                  <a:pt x="745528" y="365760"/>
                </a:lnTo>
                <a:lnTo>
                  <a:pt x="742327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3765092" y="1645107"/>
            <a:ext cx="701675" cy="643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new</a:t>
            </a:r>
            <a:endParaRPr sz="160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  <a:spcBef>
                <a:spcPts val="1265"/>
              </a:spcBef>
            </a:pPr>
            <a:r>
              <a:rPr dirty="0" sz="1400" spc="-5">
                <a:latin typeface="Times New Roman"/>
                <a:cs typeface="Times New Roman"/>
              </a:rPr>
              <a:t>start(</a:t>
            </a:r>
            <a:r>
              <a:rPr dirty="0" sz="140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768066" y="2399029"/>
            <a:ext cx="2325370" cy="367030"/>
          </a:xfrm>
          <a:custGeom>
            <a:avLst/>
            <a:gdLst/>
            <a:ahLst/>
            <a:cxnLst/>
            <a:rect l="l" t="t" r="r" b="b"/>
            <a:pathLst>
              <a:path w="2325370" h="367030">
                <a:moveTo>
                  <a:pt x="2274328" y="1270"/>
                </a:moveTo>
                <a:lnTo>
                  <a:pt x="50888" y="1270"/>
                </a:lnTo>
                <a:lnTo>
                  <a:pt x="54025" y="0"/>
                </a:lnTo>
                <a:lnTo>
                  <a:pt x="2271191" y="0"/>
                </a:lnTo>
                <a:lnTo>
                  <a:pt x="2274328" y="1270"/>
                </a:lnTo>
                <a:close/>
              </a:path>
              <a:path w="2325370" h="367030">
                <a:moveTo>
                  <a:pt x="2280500" y="364490"/>
                </a:moveTo>
                <a:lnTo>
                  <a:pt x="44716" y="364490"/>
                </a:lnTo>
                <a:lnTo>
                  <a:pt x="38900" y="361950"/>
                </a:lnTo>
                <a:lnTo>
                  <a:pt x="33312" y="359410"/>
                </a:lnTo>
                <a:lnTo>
                  <a:pt x="28054" y="355600"/>
                </a:lnTo>
                <a:lnTo>
                  <a:pt x="23139" y="353060"/>
                </a:lnTo>
                <a:lnTo>
                  <a:pt x="18605" y="347980"/>
                </a:lnTo>
                <a:lnTo>
                  <a:pt x="14490" y="344170"/>
                </a:lnTo>
                <a:lnTo>
                  <a:pt x="10820" y="339090"/>
                </a:lnTo>
                <a:lnTo>
                  <a:pt x="7619" y="334010"/>
                </a:lnTo>
                <a:lnTo>
                  <a:pt x="2806" y="322580"/>
                </a:lnTo>
                <a:lnTo>
                  <a:pt x="1930" y="318770"/>
                </a:lnTo>
                <a:lnTo>
                  <a:pt x="1219" y="316230"/>
                </a:lnTo>
                <a:lnTo>
                  <a:pt x="660" y="312420"/>
                </a:lnTo>
                <a:lnTo>
                  <a:pt x="254" y="309880"/>
                </a:lnTo>
                <a:lnTo>
                  <a:pt x="0" y="306070"/>
                </a:lnTo>
                <a:lnTo>
                  <a:pt x="0" y="59690"/>
                </a:lnTo>
                <a:lnTo>
                  <a:pt x="660" y="53340"/>
                </a:lnTo>
                <a:lnTo>
                  <a:pt x="1219" y="50800"/>
                </a:lnTo>
                <a:lnTo>
                  <a:pt x="1930" y="46990"/>
                </a:lnTo>
                <a:lnTo>
                  <a:pt x="2806" y="44450"/>
                </a:lnTo>
                <a:lnTo>
                  <a:pt x="4940" y="38100"/>
                </a:lnTo>
                <a:lnTo>
                  <a:pt x="7619" y="33020"/>
                </a:lnTo>
                <a:lnTo>
                  <a:pt x="33312" y="7620"/>
                </a:lnTo>
                <a:lnTo>
                  <a:pt x="38900" y="3810"/>
                </a:lnTo>
                <a:lnTo>
                  <a:pt x="44716" y="2540"/>
                </a:lnTo>
                <a:lnTo>
                  <a:pt x="47790" y="1270"/>
                </a:lnTo>
                <a:lnTo>
                  <a:pt x="2277414" y="1270"/>
                </a:lnTo>
                <a:lnTo>
                  <a:pt x="2280500" y="2540"/>
                </a:lnTo>
                <a:lnTo>
                  <a:pt x="2286317" y="3810"/>
                </a:lnTo>
                <a:lnTo>
                  <a:pt x="2290034" y="6350"/>
                </a:lnTo>
                <a:lnTo>
                  <a:pt x="63830" y="6350"/>
                </a:lnTo>
                <a:lnTo>
                  <a:pt x="60744" y="7620"/>
                </a:lnTo>
                <a:lnTo>
                  <a:pt x="52501" y="7620"/>
                </a:lnTo>
                <a:lnTo>
                  <a:pt x="49606" y="8890"/>
                </a:lnTo>
                <a:lnTo>
                  <a:pt x="47205" y="8890"/>
                </a:lnTo>
                <a:lnTo>
                  <a:pt x="41694" y="11430"/>
                </a:lnTo>
                <a:lnTo>
                  <a:pt x="42037" y="11430"/>
                </a:lnTo>
                <a:lnTo>
                  <a:pt x="36791" y="13970"/>
                </a:lnTo>
                <a:lnTo>
                  <a:pt x="37109" y="13970"/>
                </a:lnTo>
                <a:lnTo>
                  <a:pt x="32169" y="16510"/>
                </a:lnTo>
                <a:lnTo>
                  <a:pt x="32473" y="16510"/>
                </a:lnTo>
                <a:lnTo>
                  <a:pt x="27851" y="20320"/>
                </a:lnTo>
                <a:lnTo>
                  <a:pt x="28130" y="20320"/>
                </a:lnTo>
                <a:lnTo>
                  <a:pt x="25294" y="22860"/>
                </a:lnTo>
                <a:lnTo>
                  <a:pt x="24130" y="22860"/>
                </a:lnTo>
                <a:lnTo>
                  <a:pt x="21224" y="26670"/>
                </a:lnTo>
                <a:lnTo>
                  <a:pt x="20485" y="26670"/>
                </a:lnTo>
                <a:lnTo>
                  <a:pt x="17030" y="31750"/>
                </a:lnTo>
                <a:lnTo>
                  <a:pt x="17233" y="31750"/>
                </a:lnTo>
                <a:lnTo>
                  <a:pt x="14236" y="36830"/>
                </a:lnTo>
                <a:lnTo>
                  <a:pt x="14401" y="36830"/>
                </a:lnTo>
                <a:lnTo>
                  <a:pt x="12506" y="40640"/>
                </a:lnTo>
                <a:lnTo>
                  <a:pt x="12026" y="40640"/>
                </a:lnTo>
                <a:lnTo>
                  <a:pt x="10007" y="46990"/>
                </a:lnTo>
                <a:lnTo>
                  <a:pt x="9283" y="49530"/>
                </a:lnTo>
                <a:lnTo>
                  <a:pt x="8661" y="52070"/>
                </a:lnTo>
                <a:lnTo>
                  <a:pt x="8178" y="54610"/>
                </a:lnTo>
                <a:lnTo>
                  <a:pt x="7823" y="57150"/>
                </a:lnTo>
                <a:lnTo>
                  <a:pt x="7683" y="59690"/>
                </a:lnTo>
                <a:lnTo>
                  <a:pt x="7607" y="306070"/>
                </a:lnTo>
                <a:lnTo>
                  <a:pt x="7835" y="308610"/>
                </a:lnTo>
                <a:lnTo>
                  <a:pt x="8204" y="312420"/>
                </a:lnTo>
                <a:lnTo>
                  <a:pt x="8352" y="312420"/>
                </a:lnTo>
                <a:lnTo>
                  <a:pt x="8699" y="314960"/>
                </a:lnTo>
                <a:lnTo>
                  <a:pt x="9334" y="317500"/>
                </a:lnTo>
                <a:lnTo>
                  <a:pt x="10096" y="320040"/>
                </a:lnTo>
                <a:lnTo>
                  <a:pt x="12026" y="325120"/>
                </a:lnTo>
                <a:lnTo>
                  <a:pt x="11874" y="325120"/>
                </a:lnTo>
                <a:lnTo>
                  <a:pt x="14401" y="330200"/>
                </a:lnTo>
                <a:lnTo>
                  <a:pt x="14236" y="330200"/>
                </a:lnTo>
                <a:lnTo>
                  <a:pt x="17233" y="335280"/>
                </a:lnTo>
                <a:lnTo>
                  <a:pt x="17894" y="335280"/>
                </a:lnTo>
                <a:lnTo>
                  <a:pt x="20485" y="339090"/>
                </a:lnTo>
                <a:lnTo>
                  <a:pt x="20256" y="339090"/>
                </a:lnTo>
                <a:lnTo>
                  <a:pt x="24130" y="342900"/>
                </a:lnTo>
                <a:lnTo>
                  <a:pt x="23875" y="342900"/>
                </a:lnTo>
                <a:lnTo>
                  <a:pt x="28130" y="346710"/>
                </a:lnTo>
                <a:lnTo>
                  <a:pt x="27851" y="346710"/>
                </a:lnTo>
                <a:lnTo>
                  <a:pt x="32473" y="350520"/>
                </a:lnTo>
                <a:lnTo>
                  <a:pt x="33815" y="350520"/>
                </a:lnTo>
                <a:lnTo>
                  <a:pt x="37109" y="353060"/>
                </a:lnTo>
                <a:lnTo>
                  <a:pt x="36791" y="353060"/>
                </a:lnTo>
                <a:lnTo>
                  <a:pt x="42037" y="355600"/>
                </a:lnTo>
                <a:lnTo>
                  <a:pt x="44450" y="355600"/>
                </a:lnTo>
                <a:lnTo>
                  <a:pt x="47205" y="356870"/>
                </a:lnTo>
                <a:lnTo>
                  <a:pt x="46939" y="356870"/>
                </a:lnTo>
                <a:lnTo>
                  <a:pt x="49783" y="358140"/>
                </a:lnTo>
                <a:lnTo>
                  <a:pt x="55079" y="358140"/>
                </a:lnTo>
                <a:lnTo>
                  <a:pt x="58089" y="359410"/>
                </a:lnTo>
                <a:lnTo>
                  <a:pt x="2291892" y="359410"/>
                </a:lnTo>
                <a:lnTo>
                  <a:pt x="2286317" y="361950"/>
                </a:lnTo>
                <a:lnTo>
                  <a:pt x="2280500" y="364490"/>
                </a:lnTo>
                <a:close/>
              </a:path>
              <a:path w="2325370" h="367030">
                <a:moveTo>
                  <a:pt x="2301341" y="24130"/>
                </a:moveTo>
                <a:lnTo>
                  <a:pt x="2297087" y="20320"/>
                </a:lnTo>
                <a:lnTo>
                  <a:pt x="2297366" y="20320"/>
                </a:lnTo>
                <a:lnTo>
                  <a:pt x="2292743" y="16510"/>
                </a:lnTo>
                <a:lnTo>
                  <a:pt x="2293048" y="16510"/>
                </a:lnTo>
                <a:lnTo>
                  <a:pt x="2288095" y="13970"/>
                </a:lnTo>
                <a:lnTo>
                  <a:pt x="2288425" y="13970"/>
                </a:lnTo>
                <a:lnTo>
                  <a:pt x="2283180" y="11430"/>
                </a:lnTo>
                <a:lnTo>
                  <a:pt x="2283523" y="11430"/>
                </a:lnTo>
                <a:lnTo>
                  <a:pt x="2278011" y="8890"/>
                </a:lnTo>
                <a:lnTo>
                  <a:pt x="2275611" y="8890"/>
                </a:lnTo>
                <a:lnTo>
                  <a:pt x="2272715" y="7620"/>
                </a:lnTo>
                <a:lnTo>
                  <a:pt x="2264460" y="7620"/>
                </a:lnTo>
                <a:lnTo>
                  <a:pt x="2261374" y="6350"/>
                </a:lnTo>
                <a:lnTo>
                  <a:pt x="2290034" y="6350"/>
                </a:lnTo>
                <a:lnTo>
                  <a:pt x="2291892" y="7620"/>
                </a:lnTo>
                <a:lnTo>
                  <a:pt x="2297163" y="10160"/>
                </a:lnTo>
                <a:lnTo>
                  <a:pt x="2302078" y="13970"/>
                </a:lnTo>
                <a:lnTo>
                  <a:pt x="2306599" y="17780"/>
                </a:lnTo>
                <a:lnTo>
                  <a:pt x="2310726" y="22860"/>
                </a:lnTo>
                <a:lnTo>
                  <a:pt x="2301087" y="22860"/>
                </a:lnTo>
                <a:lnTo>
                  <a:pt x="2301341" y="24130"/>
                </a:lnTo>
                <a:close/>
              </a:path>
              <a:path w="2325370" h="367030">
                <a:moveTo>
                  <a:pt x="46939" y="10160"/>
                </a:moveTo>
                <a:lnTo>
                  <a:pt x="47205" y="8890"/>
                </a:lnTo>
                <a:lnTo>
                  <a:pt x="49783" y="8890"/>
                </a:lnTo>
                <a:lnTo>
                  <a:pt x="46939" y="10160"/>
                </a:lnTo>
                <a:close/>
              </a:path>
              <a:path w="2325370" h="367030">
                <a:moveTo>
                  <a:pt x="2278278" y="10160"/>
                </a:moveTo>
                <a:lnTo>
                  <a:pt x="2275433" y="8890"/>
                </a:lnTo>
                <a:lnTo>
                  <a:pt x="2278011" y="8890"/>
                </a:lnTo>
                <a:lnTo>
                  <a:pt x="2278278" y="10160"/>
                </a:lnTo>
                <a:close/>
              </a:path>
              <a:path w="2325370" h="367030">
                <a:moveTo>
                  <a:pt x="23875" y="24130"/>
                </a:moveTo>
                <a:lnTo>
                  <a:pt x="24130" y="22860"/>
                </a:lnTo>
                <a:lnTo>
                  <a:pt x="25294" y="22860"/>
                </a:lnTo>
                <a:lnTo>
                  <a:pt x="23875" y="24130"/>
                </a:lnTo>
                <a:close/>
              </a:path>
              <a:path w="2325370" h="367030">
                <a:moveTo>
                  <a:pt x="2304961" y="27940"/>
                </a:moveTo>
                <a:lnTo>
                  <a:pt x="2301087" y="22860"/>
                </a:lnTo>
                <a:lnTo>
                  <a:pt x="2310726" y="22860"/>
                </a:lnTo>
                <a:lnTo>
                  <a:pt x="2313479" y="26670"/>
                </a:lnTo>
                <a:lnTo>
                  <a:pt x="2304732" y="26670"/>
                </a:lnTo>
                <a:lnTo>
                  <a:pt x="2304961" y="27940"/>
                </a:lnTo>
                <a:close/>
              </a:path>
              <a:path w="2325370" h="367030">
                <a:moveTo>
                  <a:pt x="20256" y="27940"/>
                </a:moveTo>
                <a:lnTo>
                  <a:pt x="20485" y="26670"/>
                </a:lnTo>
                <a:lnTo>
                  <a:pt x="21224" y="26670"/>
                </a:lnTo>
                <a:lnTo>
                  <a:pt x="20256" y="27940"/>
                </a:lnTo>
                <a:close/>
              </a:path>
              <a:path w="2325370" h="367030">
                <a:moveTo>
                  <a:pt x="2313330" y="41910"/>
                </a:moveTo>
                <a:lnTo>
                  <a:pt x="2310803" y="36830"/>
                </a:lnTo>
                <a:lnTo>
                  <a:pt x="2310980" y="36830"/>
                </a:lnTo>
                <a:lnTo>
                  <a:pt x="2307983" y="31750"/>
                </a:lnTo>
                <a:lnTo>
                  <a:pt x="2308186" y="31750"/>
                </a:lnTo>
                <a:lnTo>
                  <a:pt x="2304732" y="26670"/>
                </a:lnTo>
                <a:lnTo>
                  <a:pt x="2313479" y="26670"/>
                </a:lnTo>
                <a:lnTo>
                  <a:pt x="2314397" y="27940"/>
                </a:lnTo>
                <a:lnTo>
                  <a:pt x="2317597" y="33020"/>
                </a:lnTo>
                <a:lnTo>
                  <a:pt x="2320277" y="38100"/>
                </a:lnTo>
                <a:lnTo>
                  <a:pt x="2321130" y="40640"/>
                </a:lnTo>
                <a:lnTo>
                  <a:pt x="2313190" y="40640"/>
                </a:lnTo>
                <a:lnTo>
                  <a:pt x="2313330" y="41910"/>
                </a:lnTo>
                <a:close/>
              </a:path>
              <a:path w="2325370" h="367030">
                <a:moveTo>
                  <a:pt x="11874" y="41910"/>
                </a:moveTo>
                <a:lnTo>
                  <a:pt x="12026" y="40640"/>
                </a:lnTo>
                <a:lnTo>
                  <a:pt x="12506" y="40640"/>
                </a:lnTo>
                <a:lnTo>
                  <a:pt x="11874" y="41910"/>
                </a:lnTo>
                <a:close/>
              </a:path>
              <a:path w="2325370" h="367030">
                <a:moveTo>
                  <a:pt x="2324557" y="312420"/>
                </a:moveTo>
                <a:lnTo>
                  <a:pt x="2317013" y="312420"/>
                </a:lnTo>
                <a:lnTo>
                  <a:pt x="2317394" y="308610"/>
                </a:lnTo>
                <a:lnTo>
                  <a:pt x="2317610" y="306070"/>
                </a:lnTo>
                <a:lnTo>
                  <a:pt x="2317597" y="59690"/>
                </a:lnTo>
                <a:lnTo>
                  <a:pt x="2317369" y="57150"/>
                </a:lnTo>
                <a:lnTo>
                  <a:pt x="2317013" y="54610"/>
                </a:lnTo>
                <a:lnTo>
                  <a:pt x="2316518" y="52070"/>
                </a:lnTo>
                <a:lnTo>
                  <a:pt x="2315883" y="49530"/>
                </a:lnTo>
                <a:lnTo>
                  <a:pt x="2315121" y="46990"/>
                </a:lnTo>
                <a:lnTo>
                  <a:pt x="2313190" y="40640"/>
                </a:lnTo>
                <a:lnTo>
                  <a:pt x="2321130" y="40640"/>
                </a:lnTo>
                <a:lnTo>
                  <a:pt x="2322410" y="44450"/>
                </a:lnTo>
                <a:lnTo>
                  <a:pt x="2323287" y="46990"/>
                </a:lnTo>
                <a:lnTo>
                  <a:pt x="2323998" y="50800"/>
                </a:lnTo>
                <a:lnTo>
                  <a:pt x="2324557" y="53340"/>
                </a:lnTo>
                <a:lnTo>
                  <a:pt x="2324963" y="57150"/>
                </a:lnTo>
                <a:lnTo>
                  <a:pt x="2325204" y="59690"/>
                </a:lnTo>
                <a:lnTo>
                  <a:pt x="2325204" y="306070"/>
                </a:lnTo>
                <a:lnTo>
                  <a:pt x="2324963" y="309880"/>
                </a:lnTo>
                <a:lnTo>
                  <a:pt x="2324557" y="312420"/>
                </a:lnTo>
                <a:close/>
              </a:path>
              <a:path w="2325370" h="367030">
                <a:moveTo>
                  <a:pt x="7607" y="60960"/>
                </a:moveTo>
                <a:lnTo>
                  <a:pt x="7619" y="59690"/>
                </a:lnTo>
                <a:lnTo>
                  <a:pt x="7607" y="60960"/>
                </a:lnTo>
                <a:close/>
              </a:path>
              <a:path w="2325370" h="367030">
                <a:moveTo>
                  <a:pt x="2317610" y="60960"/>
                </a:moveTo>
                <a:lnTo>
                  <a:pt x="2317529" y="59690"/>
                </a:lnTo>
                <a:lnTo>
                  <a:pt x="2317610" y="60960"/>
                </a:lnTo>
                <a:close/>
              </a:path>
              <a:path w="2325370" h="367030">
                <a:moveTo>
                  <a:pt x="8352" y="312420"/>
                </a:moveTo>
                <a:lnTo>
                  <a:pt x="8204" y="312420"/>
                </a:lnTo>
                <a:lnTo>
                  <a:pt x="8178" y="311150"/>
                </a:lnTo>
                <a:lnTo>
                  <a:pt x="8352" y="312420"/>
                </a:lnTo>
                <a:close/>
              </a:path>
              <a:path w="2325370" h="367030">
                <a:moveTo>
                  <a:pt x="2316797" y="335280"/>
                </a:moveTo>
                <a:lnTo>
                  <a:pt x="2307983" y="335280"/>
                </a:lnTo>
                <a:lnTo>
                  <a:pt x="2310980" y="330200"/>
                </a:lnTo>
                <a:lnTo>
                  <a:pt x="2310803" y="330200"/>
                </a:lnTo>
                <a:lnTo>
                  <a:pt x="2313330" y="325120"/>
                </a:lnTo>
                <a:lnTo>
                  <a:pt x="2313190" y="325120"/>
                </a:lnTo>
                <a:lnTo>
                  <a:pt x="2315210" y="320040"/>
                </a:lnTo>
                <a:lnTo>
                  <a:pt x="2315933" y="317500"/>
                </a:lnTo>
                <a:lnTo>
                  <a:pt x="2316556" y="314960"/>
                </a:lnTo>
                <a:lnTo>
                  <a:pt x="2317038" y="311150"/>
                </a:lnTo>
                <a:lnTo>
                  <a:pt x="2317013" y="312420"/>
                </a:lnTo>
                <a:lnTo>
                  <a:pt x="2324557" y="312420"/>
                </a:lnTo>
                <a:lnTo>
                  <a:pt x="2323998" y="316230"/>
                </a:lnTo>
                <a:lnTo>
                  <a:pt x="2323287" y="318770"/>
                </a:lnTo>
                <a:lnTo>
                  <a:pt x="2322410" y="322580"/>
                </a:lnTo>
                <a:lnTo>
                  <a:pt x="2317597" y="334010"/>
                </a:lnTo>
                <a:lnTo>
                  <a:pt x="2316797" y="335280"/>
                </a:lnTo>
                <a:close/>
              </a:path>
              <a:path w="2325370" h="367030">
                <a:moveTo>
                  <a:pt x="17894" y="335280"/>
                </a:moveTo>
                <a:lnTo>
                  <a:pt x="17233" y="335280"/>
                </a:lnTo>
                <a:lnTo>
                  <a:pt x="17030" y="334010"/>
                </a:lnTo>
                <a:lnTo>
                  <a:pt x="17894" y="335280"/>
                </a:lnTo>
                <a:close/>
              </a:path>
              <a:path w="2325370" h="367030">
                <a:moveTo>
                  <a:pt x="2304338" y="350520"/>
                </a:moveTo>
                <a:lnTo>
                  <a:pt x="2292743" y="350520"/>
                </a:lnTo>
                <a:lnTo>
                  <a:pt x="2297366" y="346710"/>
                </a:lnTo>
                <a:lnTo>
                  <a:pt x="2297087" y="346710"/>
                </a:lnTo>
                <a:lnTo>
                  <a:pt x="2301341" y="342900"/>
                </a:lnTo>
                <a:lnTo>
                  <a:pt x="2301087" y="342900"/>
                </a:lnTo>
                <a:lnTo>
                  <a:pt x="2304961" y="339090"/>
                </a:lnTo>
                <a:lnTo>
                  <a:pt x="2304732" y="339090"/>
                </a:lnTo>
                <a:lnTo>
                  <a:pt x="2308186" y="334010"/>
                </a:lnTo>
                <a:lnTo>
                  <a:pt x="2307983" y="335280"/>
                </a:lnTo>
                <a:lnTo>
                  <a:pt x="2316797" y="335280"/>
                </a:lnTo>
                <a:lnTo>
                  <a:pt x="2314397" y="339090"/>
                </a:lnTo>
                <a:lnTo>
                  <a:pt x="2310726" y="344170"/>
                </a:lnTo>
                <a:lnTo>
                  <a:pt x="2306599" y="347980"/>
                </a:lnTo>
                <a:lnTo>
                  <a:pt x="2304338" y="350520"/>
                </a:lnTo>
                <a:close/>
              </a:path>
              <a:path w="2325370" h="367030">
                <a:moveTo>
                  <a:pt x="33815" y="350520"/>
                </a:moveTo>
                <a:lnTo>
                  <a:pt x="32473" y="350520"/>
                </a:lnTo>
                <a:lnTo>
                  <a:pt x="32169" y="349250"/>
                </a:lnTo>
                <a:lnTo>
                  <a:pt x="33815" y="350520"/>
                </a:lnTo>
                <a:close/>
              </a:path>
              <a:path w="2325370" h="367030">
                <a:moveTo>
                  <a:pt x="2297163" y="355600"/>
                </a:moveTo>
                <a:lnTo>
                  <a:pt x="2283180" y="355600"/>
                </a:lnTo>
                <a:lnTo>
                  <a:pt x="2288425" y="353060"/>
                </a:lnTo>
                <a:lnTo>
                  <a:pt x="2288095" y="353060"/>
                </a:lnTo>
                <a:lnTo>
                  <a:pt x="2293048" y="349250"/>
                </a:lnTo>
                <a:lnTo>
                  <a:pt x="2292743" y="350520"/>
                </a:lnTo>
                <a:lnTo>
                  <a:pt x="2304338" y="350520"/>
                </a:lnTo>
                <a:lnTo>
                  <a:pt x="2302078" y="353060"/>
                </a:lnTo>
                <a:lnTo>
                  <a:pt x="2297163" y="355600"/>
                </a:lnTo>
                <a:close/>
              </a:path>
              <a:path w="2325370" h="367030">
                <a:moveTo>
                  <a:pt x="44450" y="355600"/>
                </a:moveTo>
                <a:lnTo>
                  <a:pt x="42037" y="355600"/>
                </a:lnTo>
                <a:lnTo>
                  <a:pt x="41694" y="354330"/>
                </a:lnTo>
                <a:lnTo>
                  <a:pt x="44450" y="355600"/>
                </a:lnTo>
                <a:close/>
              </a:path>
              <a:path w="2325370" h="367030">
                <a:moveTo>
                  <a:pt x="2291892" y="359410"/>
                </a:moveTo>
                <a:lnTo>
                  <a:pt x="2267127" y="359410"/>
                </a:lnTo>
                <a:lnTo>
                  <a:pt x="2270137" y="358140"/>
                </a:lnTo>
                <a:lnTo>
                  <a:pt x="2275433" y="358140"/>
                </a:lnTo>
                <a:lnTo>
                  <a:pt x="2278278" y="356870"/>
                </a:lnTo>
                <a:lnTo>
                  <a:pt x="2278011" y="356870"/>
                </a:lnTo>
                <a:lnTo>
                  <a:pt x="2283523" y="354330"/>
                </a:lnTo>
                <a:lnTo>
                  <a:pt x="2283180" y="355600"/>
                </a:lnTo>
                <a:lnTo>
                  <a:pt x="2297163" y="355600"/>
                </a:lnTo>
                <a:lnTo>
                  <a:pt x="2291892" y="359410"/>
                </a:lnTo>
                <a:close/>
              </a:path>
              <a:path w="2325370" h="367030">
                <a:moveTo>
                  <a:pt x="2274328" y="365760"/>
                </a:moveTo>
                <a:lnTo>
                  <a:pt x="50888" y="365760"/>
                </a:lnTo>
                <a:lnTo>
                  <a:pt x="47790" y="364490"/>
                </a:lnTo>
                <a:lnTo>
                  <a:pt x="2277414" y="364490"/>
                </a:lnTo>
                <a:lnTo>
                  <a:pt x="2274328" y="365760"/>
                </a:lnTo>
                <a:close/>
              </a:path>
              <a:path w="2325370" h="367030">
                <a:moveTo>
                  <a:pt x="2267991" y="367030"/>
                </a:moveTo>
                <a:lnTo>
                  <a:pt x="57226" y="367030"/>
                </a:lnTo>
                <a:lnTo>
                  <a:pt x="54025" y="365760"/>
                </a:lnTo>
                <a:lnTo>
                  <a:pt x="2271191" y="365760"/>
                </a:lnTo>
                <a:lnTo>
                  <a:pt x="2267991" y="3670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9962" y="3425190"/>
            <a:ext cx="5492140" cy="25993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350287" y="2436927"/>
            <a:ext cx="2726055" cy="1294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2428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runnable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823085" algn="l"/>
              </a:tabLst>
            </a:pPr>
            <a:r>
              <a:rPr dirty="0" sz="1400">
                <a:latin typeface="微软雅黑"/>
                <a:cs typeface="微软雅黑"/>
              </a:rPr>
              <a:t>时间片用完</a:t>
            </a:r>
            <a:r>
              <a:rPr dirty="0" sz="1400" spc="-5">
                <a:latin typeface="Times New Roman"/>
                <a:cs typeface="Times New Roman"/>
              </a:rPr>
              <a:t>/yield(</a:t>
            </a:r>
            <a:r>
              <a:rPr dirty="0" sz="1400">
                <a:latin typeface="Times New Roman"/>
                <a:cs typeface="Times New Roman"/>
              </a:rPr>
              <a:t>)</a:t>
            </a:r>
            <a:r>
              <a:rPr dirty="0" sz="1400">
                <a:latin typeface="Times New Roman"/>
                <a:cs typeface="Times New Roman"/>
              </a:rPr>
              <a:t>	</a:t>
            </a:r>
            <a:r>
              <a:rPr dirty="0" sz="1400">
                <a:latin typeface="微软雅黑"/>
                <a:cs typeface="微软雅黑"/>
              </a:rPr>
              <a:t>获得时间</a:t>
            </a:r>
            <a:r>
              <a:rPr dirty="0" sz="1400" spc="5">
                <a:latin typeface="微软雅黑"/>
                <a:cs typeface="微软雅黑"/>
              </a:rPr>
              <a:t>片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50">
              <a:latin typeface="微软雅黑"/>
              <a:cs typeface="微软雅黑"/>
            </a:endParaRPr>
          </a:p>
          <a:p>
            <a:pPr marL="1263650">
              <a:lnSpc>
                <a:spcPct val="100000"/>
              </a:lnSpc>
              <a:spcBef>
                <a:spcPts val="5"/>
              </a:spcBef>
            </a:pPr>
            <a:r>
              <a:rPr dirty="0" sz="1600" spc="-5">
                <a:latin typeface="Times New Roman"/>
                <a:cs typeface="Times New Roman"/>
              </a:rPr>
              <a:t>running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15268" y="5695416"/>
            <a:ext cx="40894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dead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96623" y="5586095"/>
            <a:ext cx="1654810" cy="453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run()</a:t>
            </a:r>
            <a:r>
              <a:rPr dirty="0" sz="1400">
                <a:latin typeface="微软雅黑"/>
                <a:cs typeface="微软雅黑"/>
              </a:rPr>
              <a:t>方法执行完</a:t>
            </a:r>
            <a:r>
              <a:rPr dirty="0" sz="1400" spc="5">
                <a:latin typeface="微软雅黑"/>
                <a:cs typeface="微软雅黑"/>
              </a:rPr>
              <a:t>毕 </a:t>
            </a:r>
            <a:r>
              <a:rPr dirty="0" sz="1400">
                <a:latin typeface="微软雅黑"/>
                <a:cs typeface="微软雅黑"/>
              </a:rPr>
              <a:t>抛出</a:t>
            </a:r>
            <a:r>
              <a:rPr dirty="0" sz="1400" spc="-5">
                <a:latin typeface="Times New Roman"/>
                <a:cs typeface="Times New Roman"/>
              </a:rPr>
              <a:t>Exception</a:t>
            </a:r>
            <a:r>
              <a:rPr dirty="0" sz="1400">
                <a:latin typeface="微软雅黑"/>
                <a:cs typeface="微软雅黑"/>
              </a:rPr>
              <a:t>或</a:t>
            </a:r>
            <a:r>
              <a:rPr dirty="0" sz="1400" spc="-5">
                <a:latin typeface="Times New Roman"/>
                <a:cs typeface="Times New Roman"/>
              </a:rPr>
              <a:t>Erro</a:t>
            </a:r>
            <a:r>
              <a:rPr dirty="0" sz="1400">
                <a:latin typeface="Times New Roman"/>
                <a:cs typeface="Times New Roman"/>
              </a:rPr>
              <a:t>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498335" y="4696967"/>
            <a:ext cx="1583690" cy="361315"/>
          </a:xfrm>
          <a:custGeom>
            <a:avLst/>
            <a:gdLst/>
            <a:ahLst/>
            <a:cxnLst/>
            <a:rect l="l" t="t" r="r" b="b"/>
            <a:pathLst>
              <a:path w="1583690" h="361314">
                <a:moveTo>
                  <a:pt x="1523999" y="361188"/>
                </a:moveTo>
                <a:lnTo>
                  <a:pt x="59436" y="361188"/>
                </a:lnTo>
                <a:lnTo>
                  <a:pt x="36083" y="356092"/>
                </a:lnTo>
                <a:lnTo>
                  <a:pt x="17068" y="343004"/>
                </a:lnTo>
                <a:lnTo>
                  <a:pt x="4379" y="323769"/>
                </a:lnTo>
                <a:lnTo>
                  <a:pt x="0" y="300228"/>
                </a:lnTo>
                <a:lnTo>
                  <a:pt x="0" y="60960"/>
                </a:lnTo>
                <a:lnTo>
                  <a:pt x="4379" y="37327"/>
                </a:lnTo>
                <a:lnTo>
                  <a:pt x="17068" y="18064"/>
                </a:lnTo>
                <a:lnTo>
                  <a:pt x="36083" y="5008"/>
                </a:lnTo>
                <a:lnTo>
                  <a:pt x="59436" y="0"/>
                </a:lnTo>
                <a:lnTo>
                  <a:pt x="1523999" y="0"/>
                </a:lnTo>
                <a:lnTo>
                  <a:pt x="1547115" y="5008"/>
                </a:lnTo>
                <a:lnTo>
                  <a:pt x="1566048" y="18064"/>
                </a:lnTo>
                <a:lnTo>
                  <a:pt x="1578815" y="37327"/>
                </a:lnTo>
                <a:lnTo>
                  <a:pt x="1583436" y="60960"/>
                </a:lnTo>
                <a:lnTo>
                  <a:pt x="1583436" y="300228"/>
                </a:lnTo>
                <a:lnTo>
                  <a:pt x="1578815" y="323769"/>
                </a:lnTo>
                <a:lnTo>
                  <a:pt x="1566048" y="343004"/>
                </a:lnTo>
                <a:lnTo>
                  <a:pt x="1547115" y="356092"/>
                </a:lnTo>
                <a:lnTo>
                  <a:pt x="1523999" y="3611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494030" y="4693653"/>
            <a:ext cx="1591945" cy="367030"/>
          </a:xfrm>
          <a:custGeom>
            <a:avLst/>
            <a:gdLst/>
            <a:ahLst/>
            <a:cxnLst/>
            <a:rect l="l" t="t" r="r" b="b"/>
            <a:pathLst>
              <a:path w="1591945" h="367029">
                <a:moveTo>
                  <a:pt x="1540751" y="1270"/>
                </a:moveTo>
                <a:lnTo>
                  <a:pt x="50876" y="1270"/>
                </a:lnTo>
                <a:lnTo>
                  <a:pt x="54013" y="0"/>
                </a:lnTo>
                <a:lnTo>
                  <a:pt x="1537601" y="0"/>
                </a:lnTo>
                <a:lnTo>
                  <a:pt x="1540751" y="1270"/>
                </a:lnTo>
                <a:close/>
              </a:path>
              <a:path w="1591945" h="367029">
                <a:moveTo>
                  <a:pt x="1546910" y="364489"/>
                </a:moveTo>
                <a:lnTo>
                  <a:pt x="44703" y="364489"/>
                </a:lnTo>
                <a:lnTo>
                  <a:pt x="38887" y="361950"/>
                </a:lnTo>
                <a:lnTo>
                  <a:pt x="33312" y="359410"/>
                </a:lnTo>
                <a:lnTo>
                  <a:pt x="28041" y="355600"/>
                </a:lnTo>
                <a:lnTo>
                  <a:pt x="23126" y="353060"/>
                </a:lnTo>
                <a:lnTo>
                  <a:pt x="18605" y="347979"/>
                </a:lnTo>
                <a:lnTo>
                  <a:pt x="14477" y="344170"/>
                </a:lnTo>
                <a:lnTo>
                  <a:pt x="10807" y="339089"/>
                </a:lnTo>
                <a:lnTo>
                  <a:pt x="7607" y="334010"/>
                </a:lnTo>
                <a:lnTo>
                  <a:pt x="2793" y="322579"/>
                </a:lnTo>
                <a:lnTo>
                  <a:pt x="1917" y="318770"/>
                </a:lnTo>
                <a:lnTo>
                  <a:pt x="1206" y="316229"/>
                </a:lnTo>
                <a:lnTo>
                  <a:pt x="647" y="312420"/>
                </a:lnTo>
                <a:lnTo>
                  <a:pt x="241" y="309879"/>
                </a:lnTo>
                <a:lnTo>
                  <a:pt x="0" y="306070"/>
                </a:lnTo>
                <a:lnTo>
                  <a:pt x="0" y="59689"/>
                </a:lnTo>
                <a:lnTo>
                  <a:pt x="241" y="57150"/>
                </a:lnTo>
                <a:lnTo>
                  <a:pt x="647" y="53339"/>
                </a:lnTo>
                <a:lnTo>
                  <a:pt x="1206" y="50800"/>
                </a:lnTo>
                <a:lnTo>
                  <a:pt x="1917" y="46989"/>
                </a:lnTo>
                <a:lnTo>
                  <a:pt x="2793" y="44450"/>
                </a:lnTo>
                <a:lnTo>
                  <a:pt x="4927" y="38100"/>
                </a:lnTo>
                <a:lnTo>
                  <a:pt x="7607" y="33020"/>
                </a:lnTo>
                <a:lnTo>
                  <a:pt x="33312" y="7620"/>
                </a:lnTo>
                <a:lnTo>
                  <a:pt x="38887" y="3810"/>
                </a:lnTo>
                <a:lnTo>
                  <a:pt x="44703" y="2539"/>
                </a:lnTo>
                <a:lnTo>
                  <a:pt x="47790" y="1270"/>
                </a:lnTo>
                <a:lnTo>
                  <a:pt x="1543837" y="1270"/>
                </a:lnTo>
                <a:lnTo>
                  <a:pt x="1546910" y="2539"/>
                </a:lnTo>
                <a:lnTo>
                  <a:pt x="1552740" y="3810"/>
                </a:lnTo>
                <a:lnTo>
                  <a:pt x="1556456" y="6350"/>
                </a:lnTo>
                <a:lnTo>
                  <a:pt x="63830" y="6350"/>
                </a:lnTo>
                <a:lnTo>
                  <a:pt x="60744" y="7620"/>
                </a:lnTo>
                <a:lnTo>
                  <a:pt x="52489" y="7620"/>
                </a:lnTo>
                <a:lnTo>
                  <a:pt x="49593" y="8889"/>
                </a:lnTo>
                <a:lnTo>
                  <a:pt x="47193" y="8889"/>
                </a:lnTo>
                <a:lnTo>
                  <a:pt x="41681" y="11429"/>
                </a:lnTo>
                <a:lnTo>
                  <a:pt x="42024" y="11429"/>
                </a:lnTo>
                <a:lnTo>
                  <a:pt x="36779" y="13970"/>
                </a:lnTo>
                <a:lnTo>
                  <a:pt x="37109" y="13970"/>
                </a:lnTo>
                <a:lnTo>
                  <a:pt x="32156" y="16510"/>
                </a:lnTo>
                <a:lnTo>
                  <a:pt x="32461" y="16510"/>
                </a:lnTo>
                <a:lnTo>
                  <a:pt x="27838" y="20320"/>
                </a:lnTo>
                <a:lnTo>
                  <a:pt x="28117" y="20320"/>
                </a:lnTo>
                <a:lnTo>
                  <a:pt x="25281" y="22860"/>
                </a:lnTo>
                <a:lnTo>
                  <a:pt x="24117" y="22860"/>
                </a:lnTo>
                <a:lnTo>
                  <a:pt x="21212" y="26670"/>
                </a:lnTo>
                <a:lnTo>
                  <a:pt x="20472" y="26670"/>
                </a:lnTo>
                <a:lnTo>
                  <a:pt x="17018" y="31750"/>
                </a:lnTo>
                <a:lnTo>
                  <a:pt x="17233" y="31750"/>
                </a:lnTo>
                <a:lnTo>
                  <a:pt x="14224" y="36829"/>
                </a:lnTo>
                <a:lnTo>
                  <a:pt x="14401" y="36829"/>
                </a:lnTo>
                <a:lnTo>
                  <a:pt x="12506" y="40639"/>
                </a:lnTo>
                <a:lnTo>
                  <a:pt x="12014" y="40639"/>
                </a:lnTo>
                <a:lnTo>
                  <a:pt x="9994" y="46989"/>
                </a:lnTo>
                <a:lnTo>
                  <a:pt x="9271" y="49529"/>
                </a:lnTo>
                <a:lnTo>
                  <a:pt x="8648" y="52070"/>
                </a:lnTo>
                <a:lnTo>
                  <a:pt x="8166" y="54610"/>
                </a:lnTo>
                <a:lnTo>
                  <a:pt x="7810" y="57150"/>
                </a:lnTo>
                <a:lnTo>
                  <a:pt x="7675" y="59689"/>
                </a:lnTo>
                <a:lnTo>
                  <a:pt x="7594" y="306070"/>
                </a:lnTo>
                <a:lnTo>
                  <a:pt x="7835" y="308610"/>
                </a:lnTo>
                <a:lnTo>
                  <a:pt x="8191" y="312420"/>
                </a:lnTo>
                <a:lnTo>
                  <a:pt x="8339" y="312420"/>
                </a:lnTo>
                <a:lnTo>
                  <a:pt x="8686" y="314960"/>
                </a:lnTo>
                <a:lnTo>
                  <a:pt x="9321" y="317500"/>
                </a:lnTo>
                <a:lnTo>
                  <a:pt x="10083" y="320039"/>
                </a:lnTo>
                <a:lnTo>
                  <a:pt x="12014" y="325120"/>
                </a:lnTo>
                <a:lnTo>
                  <a:pt x="11874" y="325120"/>
                </a:lnTo>
                <a:lnTo>
                  <a:pt x="14401" y="330200"/>
                </a:lnTo>
                <a:lnTo>
                  <a:pt x="14224" y="330200"/>
                </a:lnTo>
                <a:lnTo>
                  <a:pt x="17233" y="335279"/>
                </a:lnTo>
                <a:lnTo>
                  <a:pt x="17881" y="335279"/>
                </a:lnTo>
                <a:lnTo>
                  <a:pt x="20472" y="339089"/>
                </a:lnTo>
                <a:lnTo>
                  <a:pt x="20243" y="339089"/>
                </a:lnTo>
                <a:lnTo>
                  <a:pt x="24117" y="342900"/>
                </a:lnTo>
                <a:lnTo>
                  <a:pt x="23863" y="342900"/>
                </a:lnTo>
                <a:lnTo>
                  <a:pt x="28117" y="346710"/>
                </a:lnTo>
                <a:lnTo>
                  <a:pt x="27838" y="346710"/>
                </a:lnTo>
                <a:lnTo>
                  <a:pt x="32461" y="350520"/>
                </a:lnTo>
                <a:lnTo>
                  <a:pt x="33807" y="350520"/>
                </a:lnTo>
                <a:lnTo>
                  <a:pt x="37109" y="353060"/>
                </a:lnTo>
                <a:lnTo>
                  <a:pt x="36779" y="353060"/>
                </a:lnTo>
                <a:lnTo>
                  <a:pt x="42024" y="355600"/>
                </a:lnTo>
                <a:lnTo>
                  <a:pt x="44437" y="355600"/>
                </a:lnTo>
                <a:lnTo>
                  <a:pt x="47193" y="356870"/>
                </a:lnTo>
                <a:lnTo>
                  <a:pt x="46926" y="356870"/>
                </a:lnTo>
                <a:lnTo>
                  <a:pt x="49771" y="358139"/>
                </a:lnTo>
                <a:lnTo>
                  <a:pt x="52311" y="358139"/>
                </a:lnTo>
                <a:lnTo>
                  <a:pt x="55257" y="359410"/>
                </a:lnTo>
                <a:lnTo>
                  <a:pt x="1558315" y="359410"/>
                </a:lnTo>
                <a:lnTo>
                  <a:pt x="1552740" y="361950"/>
                </a:lnTo>
                <a:lnTo>
                  <a:pt x="1546910" y="364489"/>
                </a:lnTo>
                <a:close/>
              </a:path>
              <a:path w="1591945" h="367029">
                <a:moveTo>
                  <a:pt x="1567764" y="24129"/>
                </a:moveTo>
                <a:lnTo>
                  <a:pt x="1563497" y="20320"/>
                </a:lnTo>
                <a:lnTo>
                  <a:pt x="1563776" y="20320"/>
                </a:lnTo>
                <a:lnTo>
                  <a:pt x="1559166" y="16510"/>
                </a:lnTo>
                <a:lnTo>
                  <a:pt x="1559458" y="16510"/>
                </a:lnTo>
                <a:lnTo>
                  <a:pt x="1554518" y="13970"/>
                </a:lnTo>
                <a:lnTo>
                  <a:pt x="1554835" y="13970"/>
                </a:lnTo>
                <a:lnTo>
                  <a:pt x="1549590" y="11429"/>
                </a:lnTo>
                <a:lnTo>
                  <a:pt x="1549933" y="11429"/>
                </a:lnTo>
                <a:lnTo>
                  <a:pt x="1544421" y="8889"/>
                </a:lnTo>
                <a:lnTo>
                  <a:pt x="1542033" y="8889"/>
                </a:lnTo>
                <a:lnTo>
                  <a:pt x="1539125" y="7620"/>
                </a:lnTo>
                <a:lnTo>
                  <a:pt x="1530883" y="7620"/>
                </a:lnTo>
                <a:lnTo>
                  <a:pt x="1527797" y="6350"/>
                </a:lnTo>
                <a:lnTo>
                  <a:pt x="1556456" y="6350"/>
                </a:lnTo>
                <a:lnTo>
                  <a:pt x="1558315" y="7620"/>
                </a:lnTo>
                <a:lnTo>
                  <a:pt x="1563573" y="10160"/>
                </a:lnTo>
                <a:lnTo>
                  <a:pt x="1568488" y="13970"/>
                </a:lnTo>
                <a:lnTo>
                  <a:pt x="1573022" y="17779"/>
                </a:lnTo>
                <a:lnTo>
                  <a:pt x="1577136" y="22860"/>
                </a:lnTo>
                <a:lnTo>
                  <a:pt x="1567497" y="22860"/>
                </a:lnTo>
                <a:lnTo>
                  <a:pt x="1567764" y="24129"/>
                </a:lnTo>
                <a:close/>
              </a:path>
              <a:path w="1591945" h="367029">
                <a:moveTo>
                  <a:pt x="46926" y="10160"/>
                </a:moveTo>
                <a:lnTo>
                  <a:pt x="47193" y="8889"/>
                </a:lnTo>
                <a:lnTo>
                  <a:pt x="49771" y="8889"/>
                </a:lnTo>
                <a:lnTo>
                  <a:pt x="46926" y="10160"/>
                </a:lnTo>
                <a:close/>
              </a:path>
              <a:path w="1591945" h="367029">
                <a:moveTo>
                  <a:pt x="1544701" y="10160"/>
                </a:moveTo>
                <a:lnTo>
                  <a:pt x="1541843" y="8889"/>
                </a:lnTo>
                <a:lnTo>
                  <a:pt x="1544421" y="8889"/>
                </a:lnTo>
                <a:lnTo>
                  <a:pt x="1544701" y="10160"/>
                </a:lnTo>
                <a:close/>
              </a:path>
              <a:path w="1591945" h="367029">
                <a:moveTo>
                  <a:pt x="23863" y="24129"/>
                </a:moveTo>
                <a:lnTo>
                  <a:pt x="24117" y="22860"/>
                </a:lnTo>
                <a:lnTo>
                  <a:pt x="25281" y="22860"/>
                </a:lnTo>
                <a:lnTo>
                  <a:pt x="23863" y="24129"/>
                </a:lnTo>
                <a:close/>
              </a:path>
              <a:path w="1591945" h="367029">
                <a:moveTo>
                  <a:pt x="1571371" y="27939"/>
                </a:moveTo>
                <a:lnTo>
                  <a:pt x="1567497" y="22860"/>
                </a:lnTo>
                <a:lnTo>
                  <a:pt x="1577136" y="22860"/>
                </a:lnTo>
                <a:lnTo>
                  <a:pt x="1579889" y="26670"/>
                </a:lnTo>
                <a:lnTo>
                  <a:pt x="1571142" y="26670"/>
                </a:lnTo>
                <a:lnTo>
                  <a:pt x="1571371" y="27939"/>
                </a:lnTo>
                <a:close/>
              </a:path>
              <a:path w="1591945" h="367029">
                <a:moveTo>
                  <a:pt x="20243" y="27939"/>
                </a:moveTo>
                <a:lnTo>
                  <a:pt x="20472" y="26670"/>
                </a:lnTo>
                <a:lnTo>
                  <a:pt x="21212" y="26670"/>
                </a:lnTo>
                <a:lnTo>
                  <a:pt x="20243" y="27939"/>
                </a:lnTo>
                <a:close/>
              </a:path>
              <a:path w="1591945" h="367029">
                <a:moveTo>
                  <a:pt x="1579752" y="41910"/>
                </a:moveTo>
                <a:lnTo>
                  <a:pt x="1577225" y="36829"/>
                </a:lnTo>
                <a:lnTo>
                  <a:pt x="1577403" y="36829"/>
                </a:lnTo>
                <a:lnTo>
                  <a:pt x="1574393" y="31750"/>
                </a:lnTo>
                <a:lnTo>
                  <a:pt x="1574596" y="31750"/>
                </a:lnTo>
                <a:lnTo>
                  <a:pt x="1571142" y="26670"/>
                </a:lnTo>
                <a:lnTo>
                  <a:pt x="1579889" y="26670"/>
                </a:lnTo>
                <a:lnTo>
                  <a:pt x="1580807" y="27939"/>
                </a:lnTo>
                <a:lnTo>
                  <a:pt x="1584007" y="33020"/>
                </a:lnTo>
                <a:lnTo>
                  <a:pt x="1586699" y="38100"/>
                </a:lnTo>
                <a:lnTo>
                  <a:pt x="1587556" y="40639"/>
                </a:lnTo>
                <a:lnTo>
                  <a:pt x="1579600" y="40639"/>
                </a:lnTo>
                <a:lnTo>
                  <a:pt x="1579752" y="41910"/>
                </a:lnTo>
                <a:close/>
              </a:path>
              <a:path w="1591945" h="367029">
                <a:moveTo>
                  <a:pt x="11874" y="41910"/>
                </a:moveTo>
                <a:lnTo>
                  <a:pt x="12014" y="40639"/>
                </a:lnTo>
                <a:lnTo>
                  <a:pt x="12506" y="40639"/>
                </a:lnTo>
                <a:lnTo>
                  <a:pt x="11874" y="41910"/>
                </a:lnTo>
                <a:close/>
              </a:path>
              <a:path w="1591945" h="367029">
                <a:moveTo>
                  <a:pt x="1590979" y="312420"/>
                </a:moveTo>
                <a:lnTo>
                  <a:pt x="1583423" y="312420"/>
                </a:lnTo>
                <a:lnTo>
                  <a:pt x="1583804" y="308610"/>
                </a:lnTo>
                <a:lnTo>
                  <a:pt x="1584020" y="306070"/>
                </a:lnTo>
                <a:lnTo>
                  <a:pt x="1584096" y="303529"/>
                </a:lnTo>
                <a:lnTo>
                  <a:pt x="1584083" y="63500"/>
                </a:lnTo>
                <a:lnTo>
                  <a:pt x="1584007" y="59689"/>
                </a:lnTo>
                <a:lnTo>
                  <a:pt x="1583791" y="57150"/>
                </a:lnTo>
                <a:lnTo>
                  <a:pt x="1583423" y="54610"/>
                </a:lnTo>
                <a:lnTo>
                  <a:pt x="1582927" y="52070"/>
                </a:lnTo>
                <a:lnTo>
                  <a:pt x="1582293" y="49529"/>
                </a:lnTo>
                <a:lnTo>
                  <a:pt x="1581530" y="46989"/>
                </a:lnTo>
                <a:lnTo>
                  <a:pt x="1579600" y="40639"/>
                </a:lnTo>
                <a:lnTo>
                  <a:pt x="1587556" y="40639"/>
                </a:lnTo>
                <a:lnTo>
                  <a:pt x="1589697" y="46989"/>
                </a:lnTo>
                <a:lnTo>
                  <a:pt x="1590408" y="50800"/>
                </a:lnTo>
                <a:lnTo>
                  <a:pt x="1590979" y="53339"/>
                </a:lnTo>
                <a:lnTo>
                  <a:pt x="1591386" y="57150"/>
                </a:lnTo>
                <a:lnTo>
                  <a:pt x="1591627" y="59689"/>
                </a:lnTo>
                <a:lnTo>
                  <a:pt x="1591627" y="306070"/>
                </a:lnTo>
                <a:lnTo>
                  <a:pt x="1591386" y="309879"/>
                </a:lnTo>
                <a:lnTo>
                  <a:pt x="1590979" y="312420"/>
                </a:lnTo>
                <a:close/>
              </a:path>
              <a:path w="1591945" h="367029">
                <a:moveTo>
                  <a:pt x="7594" y="60960"/>
                </a:moveTo>
                <a:lnTo>
                  <a:pt x="7607" y="59689"/>
                </a:lnTo>
                <a:lnTo>
                  <a:pt x="7594" y="60960"/>
                </a:lnTo>
                <a:close/>
              </a:path>
              <a:path w="1591945" h="367029">
                <a:moveTo>
                  <a:pt x="1584020" y="60960"/>
                </a:moveTo>
                <a:lnTo>
                  <a:pt x="1583944" y="59689"/>
                </a:lnTo>
                <a:lnTo>
                  <a:pt x="1584020" y="60960"/>
                </a:lnTo>
                <a:close/>
              </a:path>
              <a:path w="1591945" h="367029">
                <a:moveTo>
                  <a:pt x="8339" y="312420"/>
                </a:moveTo>
                <a:lnTo>
                  <a:pt x="8191" y="312420"/>
                </a:lnTo>
                <a:lnTo>
                  <a:pt x="8166" y="311150"/>
                </a:lnTo>
                <a:lnTo>
                  <a:pt x="8339" y="312420"/>
                </a:lnTo>
                <a:close/>
              </a:path>
              <a:path w="1591945" h="367029">
                <a:moveTo>
                  <a:pt x="1583207" y="335279"/>
                </a:moveTo>
                <a:lnTo>
                  <a:pt x="1574393" y="335279"/>
                </a:lnTo>
                <a:lnTo>
                  <a:pt x="1577403" y="330200"/>
                </a:lnTo>
                <a:lnTo>
                  <a:pt x="1577225" y="330200"/>
                </a:lnTo>
                <a:lnTo>
                  <a:pt x="1579752" y="325120"/>
                </a:lnTo>
                <a:lnTo>
                  <a:pt x="1579600" y="325120"/>
                </a:lnTo>
                <a:lnTo>
                  <a:pt x="1581619" y="320039"/>
                </a:lnTo>
                <a:lnTo>
                  <a:pt x="1582343" y="317500"/>
                </a:lnTo>
                <a:lnTo>
                  <a:pt x="1582966" y="314960"/>
                </a:lnTo>
                <a:lnTo>
                  <a:pt x="1583461" y="311150"/>
                </a:lnTo>
                <a:lnTo>
                  <a:pt x="1583423" y="312420"/>
                </a:lnTo>
                <a:lnTo>
                  <a:pt x="1590979" y="312420"/>
                </a:lnTo>
                <a:lnTo>
                  <a:pt x="1590408" y="316229"/>
                </a:lnTo>
                <a:lnTo>
                  <a:pt x="1589697" y="318770"/>
                </a:lnTo>
                <a:lnTo>
                  <a:pt x="1588833" y="322579"/>
                </a:lnTo>
                <a:lnTo>
                  <a:pt x="1584007" y="334010"/>
                </a:lnTo>
                <a:lnTo>
                  <a:pt x="1583207" y="335279"/>
                </a:lnTo>
                <a:close/>
              </a:path>
              <a:path w="1591945" h="367029">
                <a:moveTo>
                  <a:pt x="17881" y="335279"/>
                </a:moveTo>
                <a:lnTo>
                  <a:pt x="17233" y="335279"/>
                </a:lnTo>
                <a:lnTo>
                  <a:pt x="17018" y="334010"/>
                </a:lnTo>
                <a:lnTo>
                  <a:pt x="17881" y="335279"/>
                </a:lnTo>
                <a:close/>
              </a:path>
              <a:path w="1591945" h="367029">
                <a:moveTo>
                  <a:pt x="1570755" y="350520"/>
                </a:moveTo>
                <a:lnTo>
                  <a:pt x="1559166" y="350520"/>
                </a:lnTo>
                <a:lnTo>
                  <a:pt x="1563776" y="346710"/>
                </a:lnTo>
                <a:lnTo>
                  <a:pt x="1563497" y="346710"/>
                </a:lnTo>
                <a:lnTo>
                  <a:pt x="1567764" y="342900"/>
                </a:lnTo>
                <a:lnTo>
                  <a:pt x="1567497" y="342900"/>
                </a:lnTo>
                <a:lnTo>
                  <a:pt x="1571371" y="339089"/>
                </a:lnTo>
                <a:lnTo>
                  <a:pt x="1571142" y="339089"/>
                </a:lnTo>
                <a:lnTo>
                  <a:pt x="1574596" y="334010"/>
                </a:lnTo>
                <a:lnTo>
                  <a:pt x="1574393" y="335279"/>
                </a:lnTo>
                <a:lnTo>
                  <a:pt x="1583207" y="335279"/>
                </a:lnTo>
                <a:lnTo>
                  <a:pt x="1580807" y="339089"/>
                </a:lnTo>
                <a:lnTo>
                  <a:pt x="1577136" y="344170"/>
                </a:lnTo>
                <a:lnTo>
                  <a:pt x="1573022" y="347979"/>
                </a:lnTo>
                <a:lnTo>
                  <a:pt x="1570755" y="350520"/>
                </a:lnTo>
                <a:close/>
              </a:path>
              <a:path w="1591945" h="367029">
                <a:moveTo>
                  <a:pt x="33807" y="350520"/>
                </a:moveTo>
                <a:lnTo>
                  <a:pt x="32461" y="350520"/>
                </a:lnTo>
                <a:lnTo>
                  <a:pt x="32156" y="349250"/>
                </a:lnTo>
                <a:lnTo>
                  <a:pt x="33807" y="350520"/>
                </a:lnTo>
                <a:close/>
              </a:path>
              <a:path w="1591945" h="367029">
                <a:moveTo>
                  <a:pt x="1563573" y="355600"/>
                </a:moveTo>
                <a:lnTo>
                  <a:pt x="1549590" y="355600"/>
                </a:lnTo>
                <a:lnTo>
                  <a:pt x="1554835" y="353060"/>
                </a:lnTo>
                <a:lnTo>
                  <a:pt x="1554518" y="353060"/>
                </a:lnTo>
                <a:lnTo>
                  <a:pt x="1559458" y="349250"/>
                </a:lnTo>
                <a:lnTo>
                  <a:pt x="1559166" y="350520"/>
                </a:lnTo>
                <a:lnTo>
                  <a:pt x="1570755" y="350520"/>
                </a:lnTo>
                <a:lnTo>
                  <a:pt x="1568488" y="353060"/>
                </a:lnTo>
                <a:lnTo>
                  <a:pt x="1563573" y="355600"/>
                </a:lnTo>
                <a:close/>
              </a:path>
              <a:path w="1591945" h="367029">
                <a:moveTo>
                  <a:pt x="44437" y="355600"/>
                </a:moveTo>
                <a:lnTo>
                  <a:pt x="42024" y="355600"/>
                </a:lnTo>
                <a:lnTo>
                  <a:pt x="41681" y="354329"/>
                </a:lnTo>
                <a:lnTo>
                  <a:pt x="44437" y="355600"/>
                </a:lnTo>
                <a:close/>
              </a:path>
              <a:path w="1591945" h="367029">
                <a:moveTo>
                  <a:pt x="1558315" y="359410"/>
                </a:moveTo>
                <a:lnTo>
                  <a:pt x="1536357" y="359410"/>
                </a:lnTo>
                <a:lnTo>
                  <a:pt x="1539316" y="358139"/>
                </a:lnTo>
                <a:lnTo>
                  <a:pt x="1541843" y="358139"/>
                </a:lnTo>
                <a:lnTo>
                  <a:pt x="1544701" y="356870"/>
                </a:lnTo>
                <a:lnTo>
                  <a:pt x="1544421" y="356870"/>
                </a:lnTo>
                <a:lnTo>
                  <a:pt x="1549933" y="354329"/>
                </a:lnTo>
                <a:lnTo>
                  <a:pt x="1549590" y="355600"/>
                </a:lnTo>
                <a:lnTo>
                  <a:pt x="1563573" y="355600"/>
                </a:lnTo>
                <a:lnTo>
                  <a:pt x="1558315" y="359410"/>
                </a:lnTo>
                <a:close/>
              </a:path>
              <a:path w="1591945" h="367029">
                <a:moveTo>
                  <a:pt x="58077" y="359410"/>
                </a:moveTo>
                <a:lnTo>
                  <a:pt x="55257" y="359410"/>
                </a:lnTo>
                <a:lnTo>
                  <a:pt x="55067" y="358139"/>
                </a:lnTo>
                <a:lnTo>
                  <a:pt x="58077" y="359410"/>
                </a:lnTo>
                <a:close/>
              </a:path>
              <a:path w="1591945" h="367029">
                <a:moveTo>
                  <a:pt x="1536357" y="359410"/>
                </a:moveTo>
                <a:lnTo>
                  <a:pt x="1533550" y="359410"/>
                </a:lnTo>
                <a:lnTo>
                  <a:pt x="1536547" y="358139"/>
                </a:lnTo>
                <a:lnTo>
                  <a:pt x="1536357" y="359410"/>
                </a:lnTo>
                <a:close/>
              </a:path>
              <a:path w="1591945" h="367029">
                <a:moveTo>
                  <a:pt x="1540751" y="365760"/>
                </a:moveTo>
                <a:lnTo>
                  <a:pt x="50876" y="365760"/>
                </a:lnTo>
                <a:lnTo>
                  <a:pt x="47790" y="364489"/>
                </a:lnTo>
                <a:lnTo>
                  <a:pt x="1543837" y="364489"/>
                </a:lnTo>
                <a:lnTo>
                  <a:pt x="1540751" y="365760"/>
                </a:lnTo>
                <a:close/>
              </a:path>
              <a:path w="1591945" h="367029">
                <a:moveTo>
                  <a:pt x="1534413" y="367029"/>
                </a:moveTo>
                <a:lnTo>
                  <a:pt x="57213" y="367029"/>
                </a:lnTo>
                <a:lnTo>
                  <a:pt x="54013" y="365760"/>
                </a:lnTo>
                <a:lnTo>
                  <a:pt x="1537601" y="365760"/>
                </a:lnTo>
                <a:lnTo>
                  <a:pt x="1534413" y="3670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6684238" y="4730915"/>
            <a:ext cx="121094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blocked(</a:t>
            </a:r>
            <a:r>
              <a:rPr dirty="0" sz="1600">
                <a:latin typeface="微软雅黑"/>
                <a:cs typeface="微软雅黑"/>
              </a:rPr>
              <a:t>锁池</a:t>
            </a:r>
            <a:r>
              <a:rPr dirty="0" sz="1600" spc="-5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18230" y="4733404"/>
            <a:ext cx="1448435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sleeping(</a:t>
            </a:r>
            <a:r>
              <a:rPr dirty="0" sz="1600">
                <a:latin typeface="微软雅黑"/>
                <a:cs typeface="微软雅黑"/>
              </a:rPr>
              <a:t>阻塞池</a:t>
            </a:r>
            <a:r>
              <a:rPr dirty="0" sz="1600" spc="-5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46898" y="4733404"/>
            <a:ext cx="138049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waiting(</a:t>
            </a:r>
            <a:r>
              <a:rPr dirty="0" sz="1600">
                <a:latin typeface="微软雅黑"/>
                <a:cs typeface="微软雅黑"/>
              </a:rPr>
              <a:t>等待池</a:t>
            </a:r>
            <a:r>
              <a:rPr dirty="0" sz="1600" spc="-5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09958" y="4741024"/>
            <a:ext cx="70231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latin typeface="Times New Roman"/>
                <a:cs typeface="Times New Roman"/>
              </a:rPr>
              <a:t>I/O</a:t>
            </a:r>
            <a:r>
              <a:rPr dirty="0" sz="1600">
                <a:latin typeface="微软雅黑"/>
                <a:cs typeface="微软雅黑"/>
              </a:rPr>
              <a:t>阻</a:t>
            </a:r>
            <a:r>
              <a:rPr dirty="0" sz="1600" spc="-5">
                <a:latin typeface="微软雅黑"/>
                <a:cs typeface="微软雅黑"/>
              </a:rPr>
              <a:t>塞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5761558" y="5485510"/>
            <a:ext cx="2713355" cy="0"/>
          </a:xfrm>
          <a:custGeom>
            <a:avLst/>
            <a:gdLst/>
            <a:ahLst/>
            <a:cxnLst/>
            <a:rect l="l" t="t" r="r" b="b"/>
            <a:pathLst>
              <a:path w="2713354" h="0">
                <a:moveTo>
                  <a:pt x="0" y="0"/>
                </a:moveTo>
                <a:lnTo>
                  <a:pt x="2712986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74544" y="2533180"/>
            <a:ext cx="0" cy="2952750"/>
          </a:xfrm>
          <a:custGeom>
            <a:avLst/>
            <a:gdLst/>
            <a:ahLst/>
            <a:cxnLst/>
            <a:rect l="l" t="t" r="r" b="b"/>
            <a:pathLst>
              <a:path w="0" h="2952750">
                <a:moveTo>
                  <a:pt x="0" y="0"/>
                </a:moveTo>
                <a:lnTo>
                  <a:pt x="0" y="295233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089550" y="2495080"/>
            <a:ext cx="3385185" cy="76200"/>
          </a:xfrm>
          <a:custGeom>
            <a:avLst/>
            <a:gdLst/>
            <a:ahLst/>
            <a:cxnLst/>
            <a:rect l="l" t="t" r="r" b="b"/>
            <a:pathLst>
              <a:path w="3385184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  <a:lnTo>
                  <a:pt x="44450" y="31750"/>
                </a:lnTo>
                <a:lnTo>
                  <a:pt x="28575" y="31750"/>
                </a:lnTo>
                <a:lnTo>
                  <a:pt x="28575" y="44450"/>
                </a:lnTo>
                <a:lnTo>
                  <a:pt x="44450" y="44450"/>
                </a:lnTo>
                <a:lnTo>
                  <a:pt x="76200" y="76200"/>
                </a:lnTo>
                <a:close/>
              </a:path>
              <a:path w="3385184" h="76200">
                <a:moveTo>
                  <a:pt x="44450" y="44450"/>
                </a:moveTo>
                <a:lnTo>
                  <a:pt x="28575" y="44450"/>
                </a:lnTo>
                <a:lnTo>
                  <a:pt x="28575" y="31750"/>
                </a:lnTo>
                <a:lnTo>
                  <a:pt x="44450" y="31750"/>
                </a:lnTo>
                <a:lnTo>
                  <a:pt x="38100" y="38100"/>
                </a:lnTo>
                <a:lnTo>
                  <a:pt x="44450" y="44450"/>
                </a:lnTo>
                <a:close/>
              </a:path>
              <a:path w="3385184" h="76200">
                <a:moveTo>
                  <a:pt x="3384994" y="44450"/>
                </a:moveTo>
                <a:lnTo>
                  <a:pt x="44450" y="44450"/>
                </a:lnTo>
                <a:lnTo>
                  <a:pt x="38100" y="38100"/>
                </a:lnTo>
                <a:lnTo>
                  <a:pt x="44450" y="31750"/>
                </a:lnTo>
                <a:lnTo>
                  <a:pt x="3384994" y="31750"/>
                </a:lnTo>
                <a:lnTo>
                  <a:pt x="3384994" y="444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6701205" y="5227573"/>
            <a:ext cx="6184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I/O</a:t>
            </a:r>
            <a:r>
              <a:rPr dirty="0" sz="1400">
                <a:latin typeface="微软雅黑"/>
                <a:cs typeface="微软雅黑"/>
              </a:rPr>
              <a:t>完</a:t>
            </a:r>
            <a:r>
              <a:rPr dirty="0" sz="1400" spc="5">
                <a:latin typeface="微软雅黑"/>
                <a:cs typeface="微软雅黑"/>
              </a:rPr>
              <a:t>成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44" name="object 44"/>
          <p:cNvSpPr txBox="1"/>
          <p:nvPr/>
        </p:nvSpPr>
        <p:spPr>
          <a:xfrm>
            <a:off x="5403113" y="4278261"/>
            <a:ext cx="61849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">
                <a:latin typeface="Times New Roman"/>
                <a:cs typeface="Times New Roman"/>
              </a:rPr>
              <a:t>I/O</a:t>
            </a:r>
            <a:r>
              <a:rPr dirty="0" sz="1400">
                <a:latin typeface="微软雅黑"/>
                <a:cs typeface="微软雅黑"/>
              </a:rPr>
              <a:t>请</a:t>
            </a:r>
            <a:r>
              <a:rPr dirty="0" sz="1400" spc="5">
                <a:latin typeface="微软雅黑"/>
                <a:cs typeface="微软雅黑"/>
              </a:rPr>
              <a:t>求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595" y="1481454"/>
            <a:ext cx="7894320" cy="120840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380"/>
              </a:spcBef>
            </a:pPr>
            <a:r>
              <a:rPr dirty="0" sz="2100">
                <a:latin typeface="微软雅黑"/>
                <a:cs typeface="微软雅黑"/>
              </a:rPr>
              <a:t>【例</a:t>
            </a:r>
            <a:r>
              <a:rPr dirty="0" sz="2100" spc="-5">
                <a:latin typeface="微软雅黑"/>
                <a:cs typeface="微软雅黑"/>
              </a:rPr>
              <a:t>11-8</a:t>
            </a:r>
            <a:r>
              <a:rPr dirty="0" sz="2100">
                <a:latin typeface="微软雅黑"/>
                <a:cs typeface="微软雅黑"/>
              </a:rPr>
              <a:t>】线程间的通信。写两个线程，线程A“做</a:t>
            </a:r>
            <a:r>
              <a:rPr dirty="0" sz="2100" spc="-5">
                <a:latin typeface="微软雅黑"/>
                <a:cs typeface="微软雅黑"/>
              </a:rPr>
              <a:t>”10</a:t>
            </a:r>
            <a:r>
              <a:rPr dirty="0" sz="2100">
                <a:latin typeface="微软雅黑"/>
                <a:cs typeface="微软雅黑"/>
              </a:rPr>
              <a:t>个披萨，  线程B“做”</a:t>
            </a:r>
            <a:r>
              <a:rPr dirty="0" sz="2100" spc="-5">
                <a:latin typeface="微软雅黑"/>
                <a:cs typeface="微软雅黑"/>
              </a:rPr>
              <a:t>20</a:t>
            </a:r>
            <a:r>
              <a:rPr dirty="0" sz="2100">
                <a:latin typeface="微软雅黑"/>
                <a:cs typeface="微软雅黑"/>
              </a:rPr>
              <a:t>份意大利面，要求线程A每做一个披萨，就通知线程  B去做两份意大利面，线程B完成两份意大利面后通知线程A继续做 披萨……。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700"/>
            <a:ext cx="35852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11.6.1	wait()</a:t>
            </a:r>
            <a:r>
              <a:rPr dirty="0" sz="2100" b="1">
                <a:latin typeface="微软雅黑"/>
                <a:cs typeface="微软雅黑"/>
              </a:rPr>
              <a:t>和notify()方法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513" y="3774274"/>
            <a:ext cx="7900034" cy="205740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2400">
                <a:latin typeface="微软雅黑"/>
                <a:cs typeface="微软雅黑"/>
              </a:rPr>
              <a:t>关键问题：找到两个线程中互相向对方通信的对象。</a:t>
            </a:r>
            <a:endParaRPr sz="2400">
              <a:latin typeface="微软雅黑"/>
              <a:cs typeface="微软雅黑"/>
            </a:endParaRPr>
          </a:p>
          <a:p>
            <a:pPr marL="469265" marR="5080" indent="-457200">
              <a:lnSpc>
                <a:spcPct val="100000"/>
              </a:lnSpc>
              <a:spcBef>
                <a:spcPts val="400"/>
              </a:spcBef>
              <a:buClr>
                <a:srgbClr val="006C39"/>
              </a:buClr>
              <a:buSzPct val="66666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400">
                <a:latin typeface="微软雅黑"/>
                <a:cs typeface="微软雅黑"/>
              </a:rPr>
              <a:t>两个线程的w</a:t>
            </a:r>
            <a:r>
              <a:rPr dirty="0" sz="2400" spc="-5">
                <a:latin typeface="微软雅黑"/>
                <a:cs typeface="微软雅黑"/>
              </a:rPr>
              <a:t>a</a:t>
            </a:r>
            <a:r>
              <a:rPr dirty="0" sz="2400">
                <a:latin typeface="微软雅黑"/>
                <a:cs typeface="微软雅黑"/>
              </a:rPr>
              <a:t>it</a:t>
            </a:r>
            <a:r>
              <a:rPr dirty="0" sz="2400" spc="-5">
                <a:latin typeface="微软雅黑"/>
                <a:cs typeface="微软雅黑"/>
              </a:rPr>
              <a:t>()</a:t>
            </a:r>
            <a:r>
              <a:rPr dirty="0" sz="2400">
                <a:latin typeface="微软雅黑"/>
                <a:cs typeface="微软雅黑"/>
              </a:rPr>
              <a:t>和n</a:t>
            </a:r>
            <a:r>
              <a:rPr dirty="0" sz="2400" spc="-5">
                <a:latin typeface="微软雅黑"/>
                <a:cs typeface="微软雅黑"/>
              </a:rPr>
              <a:t>o</a:t>
            </a:r>
            <a:r>
              <a:rPr dirty="0" sz="2400">
                <a:latin typeface="微软雅黑"/>
                <a:cs typeface="微软雅黑"/>
              </a:rPr>
              <a:t>ti</a:t>
            </a:r>
            <a:r>
              <a:rPr dirty="0" sz="2400" spc="35">
                <a:latin typeface="微软雅黑"/>
                <a:cs typeface="微软雅黑"/>
              </a:rPr>
              <a:t>f</a:t>
            </a:r>
            <a:r>
              <a:rPr dirty="0" sz="2400" spc="-5">
                <a:latin typeface="微软雅黑"/>
                <a:cs typeface="微软雅黑"/>
              </a:rPr>
              <a:t>y</a:t>
            </a:r>
            <a:r>
              <a:rPr dirty="0" sz="2400">
                <a:latin typeface="微软雅黑"/>
                <a:cs typeface="微软雅黑"/>
              </a:rPr>
              <a:t>All</a:t>
            </a:r>
            <a:r>
              <a:rPr dirty="0" sz="2400" spc="-5">
                <a:latin typeface="微软雅黑"/>
                <a:cs typeface="微软雅黑"/>
              </a:rPr>
              <a:t>()</a:t>
            </a:r>
            <a:r>
              <a:rPr dirty="0" sz="2400">
                <a:latin typeface="微软雅黑"/>
                <a:cs typeface="微软雅黑"/>
              </a:rPr>
              <a:t>方法需要使用同一个同步 监视器。</a:t>
            </a:r>
            <a:endParaRPr sz="2400"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Clr>
                <a:srgbClr val="006C39"/>
              </a:buClr>
              <a:buSzPct val="66666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400">
                <a:latin typeface="微软雅黑"/>
                <a:cs typeface="微软雅黑"/>
              </a:rPr>
              <a:t>同步监视器应被两个线程共享。</a:t>
            </a:r>
            <a:endParaRPr sz="2400">
              <a:latin typeface="微软雅黑"/>
              <a:cs typeface="微软雅黑"/>
            </a:endParaRPr>
          </a:p>
          <a:p>
            <a:pPr marL="469900" indent="-457200">
              <a:lnSpc>
                <a:spcPct val="100000"/>
              </a:lnSpc>
              <a:spcBef>
                <a:spcPts val="400"/>
              </a:spcBef>
              <a:buClr>
                <a:srgbClr val="006C39"/>
              </a:buClr>
              <a:buSzPct val="66666"/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dirty="0" sz="2400">
                <a:latin typeface="微软雅黑"/>
                <a:cs typeface="微软雅黑"/>
              </a:rPr>
              <a:t>每个线程都引入这个对象，利用构造方法对其初始化。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7931150" cy="11741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【问题描述】生产者和消费者在同一时间段内共用同一个缓冲区（ 仓库），生产者向缓冲区存放数据，而消费者从缓冲区取用数据。</a:t>
            </a:r>
            <a:endParaRPr sz="2100">
              <a:latin typeface="微软雅黑"/>
              <a:cs typeface="微软雅黑"/>
            </a:endParaRPr>
          </a:p>
          <a:p>
            <a:pPr lvl="1" marL="527050" marR="81280" indent="-171450">
              <a:lnSpc>
                <a:spcPts val="1939"/>
              </a:lnSpc>
              <a:spcBef>
                <a:spcPts val="3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问题的关键：保证生产者不会在缓冲区满时再加入数据，消费者也不会在 缓冲区空时再消耗数据。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3947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6</a:t>
            </a:r>
            <a:r>
              <a:rPr dirty="0" sz="2100" b="1">
                <a:latin typeface="微软雅黑"/>
                <a:cs typeface="微软雅黑"/>
              </a:rPr>
              <a:t>.2	消费者和生产者模型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639" y="4148328"/>
            <a:ext cx="5760720" cy="792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481454"/>
            <a:ext cx="7931150" cy="117411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84150" marR="5080" indent="-171450">
              <a:lnSpc>
                <a:spcPts val="2260"/>
              </a:lnSpc>
              <a:spcBef>
                <a:spcPts val="390"/>
              </a:spcBef>
              <a:buFont typeface="Arial"/>
              <a:buChar char="•"/>
              <a:tabLst>
                <a:tab pos="184150" algn="l"/>
              </a:tabLst>
            </a:pPr>
            <a:r>
              <a:rPr dirty="0" sz="2100">
                <a:latin typeface="微软雅黑"/>
                <a:cs typeface="微软雅黑"/>
              </a:rPr>
              <a:t>【问题描述】生产者和消费者在同一时间段内共用同一个缓冲区（ 仓库），生产者向缓冲区存放数据，而消费者从缓冲区取用数据。</a:t>
            </a:r>
            <a:endParaRPr sz="2100">
              <a:latin typeface="微软雅黑"/>
              <a:cs typeface="微软雅黑"/>
            </a:endParaRPr>
          </a:p>
          <a:p>
            <a:pPr lvl="1" marL="527050" marR="81280" indent="-171450">
              <a:lnSpc>
                <a:spcPts val="1939"/>
              </a:lnSpc>
              <a:spcBef>
                <a:spcPts val="380"/>
              </a:spcBef>
              <a:buFont typeface="Arial"/>
              <a:buChar char="•"/>
              <a:tabLst>
                <a:tab pos="527050" algn="l"/>
              </a:tabLst>
            </a:pPr>
            <a:r>
              <a:rPr dirty="0" sz="1800">
                <a:latin typeface="微软雅黑"/>
                <a:cs typeface="微软雅黑"/>
              </a:rPr>
              <a:t>问题的关键：保证生产者不会在缓冲区满时再加入数据，消费者也不会在 缓冲区空时再消耗数据。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83652" y="370357"/>
            <a:ext cx="3394710" cy="3454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</a:tabLst>
            </a:pPr>
            <a:r>
              <a:rPr dirty="0" sz="2100" spc="-5" b="1">
                <a:latin typeface="微软雅黑"/>
                <a:cs typeface="微软雅黑"/>
              </a:rPr>
              <a:t>11</a:t>
            </a:r>
            <a:r>
              <a:rPr dirty="0" sz="2100" b="1">
                <a:latin typeface="微软雅黑"/>
                <a:cs typeface="微软雅黑"/>
              </a:rPr>
              <a:t>.</a:t>
            </a:r>
            <a:r>
              <a:rPr dirty="0" sz="2100" spc="-5" b="1">
                <a:latin typeface="微软雅黑"/>
                <a:cs typeface="微软雅黑"/>
              </a:rPr>
              <a:t>6</a:t>
            </a:r>
            <a:r>
              <a:rPr dirty="0" sz="2100" b="1">
                <a:latin typeface="微软雅黑"/>
                <a:cs typeface="微软雅黑"/>
              </a:rPr>
              <a:t>.2	消费者和生产者模型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24455" y="4148328"/>
            <a:ext cx="4706112" cy="792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15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dirty="0"/>
              <a:t>40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2024-05-06T06:08:33Z</dcterms:created>
  <dcterms:modified xsi:type="dcterms:W3CDTF">2024-05-06T06:08:33Z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2024-04-11T00:00:00Z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2024-05-06T00:00:00Z</vt:filetime>
  </property>
</Properties>
</file>
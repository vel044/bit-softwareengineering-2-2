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Default Extension="jpg" ContentType="image/jpg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93435" y="132587"/>
            <a:ext cx="3750564" cy="6536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484375"/>
            <a:ext cx="2197735" cy="4364990"/>
          </a:xfrm>
          <a:custGeom>
            <a:avLst/>
            <a:gdLst/>
            <a:ahLst/>
            <a:cxnLst/>
            <a:rect l="l" t="t" r="r" b="b"/>
            <a:pathLst>
              <a:path w="2197735" h="4364990">
                <a:moveTo>
                  <a:pt x="0" y="0"/>
                </a:moveTo>
                <a:lnTo>
                  <a:pt x="2197608" y="0"/>
                </a:lnTo>
                <a:lnTo>
                  <a:pt x="2197608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8644128" y="1484375"/>
            <a:ext cx="500380" cy="4364990"/>
          </a:xfrm>
          <a:custGeom>
            <a:avLst/>
            <a:gdLst/>
            <a:ahLst/>
            <a:cxnLst/>
            <a:rect l="l" t="t" r="r" b="b"/>
            <a:pathLst>
              <a:path w="500379" h="4364990">
                <a:moveTo>
                  <a:pt x="0" y="0"/>
                </a:moveTo>
                <a:lnTo>
                  <a:pt x="499872" y="0"/>
                </a:lnTo>
                <a:lnTo>
                  <a:pt x="499872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196083" y="1484375"/>
            <a:ext cx="283845" cy="4364990"/>
          </a:xfrm>
          <a:custGeom>
            <a:avLst/>
            <a:gdLst/>
            <a:ahLst/>
            <a:cxnLst/>
            <a:rect l="l" t="t" r="r" b="b"/>
            <a:pathLst>
              <a:path w="283844" h="4364990">
                <a:moveTo>
                  <a:pt x="0" y="0"/>
                </a:moveTo>
                <a:lnTo>
                  <a:pt x="283463" y="0"/>
                </a:lnTo>
                <a:lnTo>
                  <a:pt x="283463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340852" y="1484375"/>
            <a:ext cx="303530" cy="4364990"/>
          </a:xfrm>
          <a:custGeom>
            <a:avLst/>
            <a:gdLst/>
            <a:ahLst/>
            <a:cxnLst/>
            <a:rect l="l" t="t" r="r" b="b"/>
            <a:pathLst>
              <a:path w="303529" h="4364990">
                <a:moveTo>
                  <a:pt x="0" y="0"/>
                </a:moveTo>
                <a:lnTo>
                  <a:pt x="303275" y="0"/>
                </a:lnTo>
                <a:lnTo>
                  <a:pt x="303275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595" y="1457325"/>
            <a:ext cx="193040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640" y="2004060"/>
            <a:ext cx="7592695" cy="280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8.png"/><Relationship Id="rId10" Type="http://schemas.openxmlformats.org/officeDocument/2006/relationships/image" Target="../media/image29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2987" y="2545155"/>
            <a:ext cx="143510" cy="221996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70" b="1">
                <a:solidFill>
                  <a:srgbClr val="FFFFFF"/>
                </a:solidFill>
                <a:latin typeface="Arial"/>
                <a:cs typeface="Arial"/>
              </a:rPr>
              <a:t>BEIJING INSTITUTE </a:t>
            </a:r>
            <a:r>
              <a:rPr dirty="0" sz="800" spc="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80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80" b="1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029" y="3754005"/>
            <a:ext cx="409575" cy="623570"/>
          </a:xfrm>
          <a:custGeom>
            <a:avLst/>
            <a:gdLst/>
            <a:ahLst/>
            <a:cxnLst/>
            <a:rect l="l" t="t" r="r" b="b"/>
            <a:pathLst>
              <a:path w="409575" h="623570">
                <a:moveTo>
                  <a:pt x="203495" y="189229"/>
                </a:moveTo>
                <a:lnTo>
                  <a:pt x="197313" y="189229"/>
                </a:lnTo>
                <a:lnTo>
                  <a:pt x="191755" y="185420"/>
                </a:lnTo>
                <a:lnTo>
                  <a:pt x="185264" y="175260"/>
                </a:lnTo>
                <a:lnTo>
                  <a:pt x="205203" y="162560"/>
                </a:lnTo>
                <a:lnTo>
                  <a:pt x="220157" y="154939"/>
                </a:lnTo>
                <a:lnTo>
                  <a:pt x="235111" y="148589"/>
                </a:lnTo>
                <a:lnTo>
                  <a:pt x="250066" y="140970"/>
                </a:lnTo>
                <a:lnTo>
                  <a:pt x="265020" y="130810"/>
                </a:lnTo>
                <a:lnTo>
                  <a:pt x="271675" y="130810"/>
                </a:lnTo>
                <a:lnTo>
                  <a:pt x="274989" y="121920"/>
                </a:lnTo>
                <a:lnTo>
                  <a:pt x="278317" y="118110"/>
                </a:lnTo>
                <a:lnTo>
                  <a:pt x="282780" y="97789"/>
                </a:lnTo>
                <a:lnTo>
                  <a:pt x="290465" y="54610"/>
                </a:lnTo>
                <a:lnTo>
                  <a:pt x="294928" y="34289"/>
                </a:lnTo>
                <a:lnTo>
                  <a:pt x="296020" y="27939"/>
                </a:lnTo>
                <a:lnTo>
                  <a:pt x="298670" y="20320"/>
                </a:lnTo>
                <a:lnTo>
                  <a:pt x="301942" y="12700"/>
                </a:lnTo>
                <a:lnTo>
                  <a:pt x="304898" y="7620"/>
                </a:lnTo>
                <a:lnTo>
                  <a:pt x="308225" y="0"/>
                </a:lnTo>
                <a:lnTo>
                  <a:pt x="321522" y="0"/>
                </a:lnTo>
                <a:lnTo>
                  <a:pt x="321522" y="3810"/>
                </a:lnTo>
                <a:lnTo>
                  <a:pt x="324837" y="16510"/>
                </a:lnTo>
                <a:lnTo>
                  <a:pt x="324837" y="21589"/>
                </a:lnTo>
                <a:lnTo>
                  <a:pt x="313726" y="45720"/>
                </a:lnTo>
                <a:lnTo>
                  <a:pt x="308224" y="69850"/>
                </a:lnTo>
                <a:lnTo>
                  <a:pt x="305215" y="96520"/>
                </a:lnTo>
                <a:lnTo>
                  <a:pt x="301583" y="121920"/>
                </a:lnTo>
                <a:lnTo>
                  <a:pt x="317055" y="127000"/>
                </a:lnTo>
                <a:lnTo>
                  <a:pt x="358084" y="127000"/>
                </a:lnTo>
                <a:lnTo>
                  <a:pt x="364715" y="130810"/>
                </a:lnTo>
                <a:lnTo>
                  <a:pt x="359629" y="140970"/>
                </a:lnTo>
                <a:lnTo>
                  <a:pt x="353920" y="148589"/>
                </a:lnTo>
                <a:lnTo>
                  <a:pt x="334806" y="148589"/>
                </a:lnTo>
                <a:lnTo>
                  <a:pt x="313625" y="152400"/>
                </a:lnTo>
                <a:lnTo>
                  <a:pt x="312255" y="153670"/>
                </a:lnTo>
                <a:lnTo>
                  <a:pt x="271675" y="153670"/>
                </a:lnTo>
                <a:lnTo>
                  <a:pt x="255317" y="162560"/>
                </a:lnTo>
                <a:lnTo>
                  <a:pt x="240518" y="170179"/>
                </a:lnTo>
                <a:lnTo>
                  <a:pt x="226344" y="177800"/>
                </a:lnTo>
                <a:lnTo>
                  <a:pt x="211858" y="184150"/>
                </a:lnTo>
                <a:lnTo>
                  <a:pt x="203495" y="189229"/>
                </a:lnTo>
                <a:close/>
              </a:path>
              <a:path w="409575" h="623570">
                <a:moveTo>
                  <a:pt x="116431" y="144779"/>
                </a:moveTo>
                <a:lnTo>
                  <a:pt x="88896" y="144779"/>
                </a:lnTo>
                <a:lnTo>
                  <a:pt x="105463" y="130810"/>
                </a:lnTo>
                <a:lnTo>
                  <a:pt x="119224" y="115570"/>
                </a:lnTo>
                <a:lnTo>
                  <a:pt x="128623" y="95250"/>
                </a:lnTo>
                <a:lnTo>
                  <a:pt x="132102" y="69850"/>
                </a:lnTo>
                <a:lnTo>
                  <a:pt x="133192" y="59689"/>
                </a:lnTo>
                <a:lnTo>
                  <a:pt x="135839" y="48260"/>
                </a:lnTo>
                <a:lnTo>
                  <a:pt x="139110" y="36829"/>
                </a:lnTo>
                <a:lnTo>
                  <a:pt x="142071" y="25400"/>
                </a:lnTo>
                <a:lnTo>
                  <a:pt x="145386" y="21589"/>
                </a:lnTo>
                <a:lnTo>
                  <a:pt x="155355" y="12700"/>
                </a:lnTo>
                <a:lnTo>
                  <a:pt x="158683" y="12700"/>
                </a:lnTo>
                <a:lnTo>
                  <a:pt x="170884" y="19050"/>
                </a:lnTo>
                <a:lnTo>
                  <a:pt x="181530" y="30479"/>
                </a:lnTo>
                <a:lnTo>
                  <a:pt x="189062" y="46989"/>
                </a:lnTo>
                <a:lnTo>
                  <a:pt x="191919" y="64770"/>
                </a:lnTo>
                <a:lnTo>
                  <a:pt x="191919" y="78739"/>
                </a:lnTo>
                <a:lnTo>
                  <a:pt x="195233" y="82550"/>
                </a:lnTo>
                <a:lnTo>
                  <a:pt x="221512" y="113029"/>
                </a:lnTo>
                <a:lnTo>
                  <a:pt x="225975" y="127000"/>
                </a:lnTo>
                <a:lnTo>
                  <a:pt x="176492" y="127000"/>
                </a:lnTo>
                <a:lnTo>
                  <a:pt x="169899" y="128270"/>
                </a:lnTo>
                <a:lnTo>
                  <a:pt x="165174" y="135889"/>
                </a:lnTo>
                <a:lnTo>
                  <a:pt x="164225" y="139700"/>
                </a:lnTo>
                <a:lnTo>
                  <a:pt x="118805" y="139700"/>
                </a:lnTo>
                <a:lnTo>
                  <a:pt x="116431" y="144779"/>
                </a:lnTo>
                <a:close/>
              </a:path>
              <a:path w="409575" h="623570">
                <a:moveTo>
                  <a:pt x="72285" y="250189"/>
                </a:moveTo>
                <a:lnTo>
                  <a:pt x="64808" y="247650"/>
                </a:lnTo>
                <a:lnTo>
                  <a:pt x="49853" y="243839"/>
                </a:lnTo>
                <a:lnTo>
                  <a:pt x="42376" y="241300"/>
                </a:lnTo>
                <a:lnTo>
                  <a:pt x="31831" y="233679"/>
                </a:lnTo>
                <a:lnTo>
                  <a:pt x="25339" y="222250"/>
                </a:lnTo>
                <a:lnTo>
                  <a:pt x="23210" y="208279"/>
                </a:lnTo>
                <a:lnTo>
                  <a:pt x="25752" y="193039"/>
                </a:lnTo>
                <a:lnTo>
                  <a:pt x="27728" y="185420"/>
                </a:lnTo>
                <a:lnTo>
                  <a:pt x="30431" y="167639"/>
                </a:lnTo>
                <a:lnTo>
                  <a:pt x="49849" y="114300"/>
                </a:lnTo>
                <a:lnTo>
                  <a:pt x="82254" y="87629"/>
                </a:lnTo>
                <a:lnTo>
                  <a:pt x="85832" y="85089"/>
                </a:lnTo>
                <a:lnTo>
                  <a:pt x="90971" y="86360"/>
                </a:lnTo>
                <a:lnTo>
                  <a:pt x="96736" y="90170"/>
                </a:lnTo>
                <a:lnTo>
                  <a:pt x="102193" y="96520"/>
                </a:lnTo>
                <a:lnTo>
                  <a:pt x="104943" y="100329"/>
                </a:lnTo>
                <a:lnTo>
                  <a:pt x="104268" y="105410"/>
                </a:lnTo>
                <a:lnTo>
                  <a:pt x="101724" y="111760"/>
                </a:lnTo>
                <a:lnTo>
                  <a:pt x="98866" y="118110"/>
                </a:lnTo>
                <a:lnTo>
                  <a:pt x="94974" y="123189"/>
                </a:lnTo>
                <a:lnTo>
                  <a:pt x="92638" y="129539"/>
                </a:lnTo>
                <a:lnTo>
                  <a:pt x="90924" y="137160"/>
                </a:lnTo>
                <a:lnTo>
                  <a:pt x="88896" y="144779"/>
                </a:lnTo>
                <a:lnTo>
                  <a:pt x="116431" y="144779"/>
                </a:lnTo>
                <a:lnTo>
                  <a:pt x="106344" y="166370"/>
                </a:lnTo>
                <a:lnTo>
                  <a:pt x="81418" y="217170"/>
                </a:lnTo>
                <a:lnTo>
                  <a:pt x="68957" y="241300"/>
                </a:lnTo>
                <a:lnTo>
                  <a:pt x="68957" y="245110"/>
                </a:lnTo>
                <a:lnTo>
                  <a:pt x="72285" y="250189"/>
                </a:lnTo>
                <a:close/>
              </a:path>
              <a:path w="409575" h="623570">
                <a:moveTo>
                  <a:pt x="358084" y="127000"/>
                </a:moveTo>
                <a:lnTo>
                  <a:pt x="317055" y="127000"/>
                </a:lnTo>
                <a:lnTo>
                  <a:pt x="333149" y="123189"/>
                </a:lnTo>
                <a:lnTo>
                  <a:pt x="349243" y="121920"/>
                </a:lnTo>
                <a:lnTo>
                  <a:pt x="358084" y="127000"/>
                </a:lnTo>
                <a:close/>
              </a:path>
              <a:path w="409575" h="623570">
                <a:moveTo>
                  <a:pt x="217671" y="144779"/>
                </a:moveTo>
                <a:lnTo>
                  <a:pt x="208530" y="144779"/>
                </a:lnTo>
                <a:lnTo>
                  <a:pt x="203495" y="140970"/>
                </a:lnTo>
                <a:lnTo>
                  <a:pt x="198145" y="138429"/>
                </a:lnTo>
                <a:lnTo>
                  <a:pt x="192171" y="134620"/>
                </a:lnTo>
                <a:lnTo>
                  <a:pt x="185264" y="130810"/>
                </a:lnTo>
                <a:lnTo>
                  <a:pt x="176492" y="127000"/>
                </a:lnTo>
                <a:lnTo>
                  <a:pt x="225975" y="127000"/>
                </a:lnTo>
                <a:lnTo>
                  <a:pt x="227224" y="134620"/>
                </a:lnTo>
                <a:lnTo>
                  <a:pt x="224318" y="142239"/>
                </a:lnTo>
                <a:lnTo>
                  <a:pt x="217671" y="144779"/>
                </a:lnTo>
                <a:close/>
              </a:path>
              <a:path w="409575" h="623570">
                <a:moveTo>
                  <a:pt x="47356" y="377189"/>
                </a:moveTo>
                <a:lnTo>
                  <a:pt x="29910" y="368300"/>
                </a:lnTo>
                <a:lnTo>
                  <a:pt x="12468" y="355600"/>
                </a:lnTo>
                <a:lnTo>
                  <a:pt x="3117" y="347979"/>
                </a:lnTo>
                <a:lnTo>
                  <a:pt x="0" y="339089"/>
                </a:lnTo>
                <a:lnTo>
                  <a:pt x="3117" y="330200"/>
                </a:lnTo>
                <a:lnTo>
                  <a:pt x="12468" y="320039"/>
                </a:lnTo>
                <a:lnTo>
                  <a:pt x="37335" y="303529"/>
                </a:lnTo>
                <a:lnTo>
                  <a:pt x="61895" y="284479"/>
                </a:lnTo>
                <a:lnTo>
                  <a:pt x="85832" y="265429"/>
                </a:lnTo>
                <a:lnTo>
                  <a:pt x="108835" y="245110"/>
                </a:lnTo>
                <a:lnTo>
                  <a:pt x="112163" y="241300"/>
                </a:lnTo>
                <a:lnTo>
                  <a:pt x="118805" y="237489"/>
                </a:lnTo>
                <a:lnTo>
                  <a:pt x="118805" y="228600"/>
                </a:lnTo>
                <a:lnTo>
                  <a:pt x="120728" y="207010"/>
                </a:lnTo>
                <a:lnTo>
                  <a:pt x="121716" y="186689"/>
                </a:lnTo>
                <a:lnTo>
                  <a:pt x="122016" y="168910"/>
                </a:lnTo>
                <a:lnTo>
                  <a:pt x="122132" y="139700"/>
                </a:lnTo>
                <a:lnTo>
                  <a:pt x="164225" y="139700"/>
                </a:lnTo>
                <a:lnTo>
                  <a:pt x="162010" y="148589"/>
                </a:lnTo>
                <a:lnTo>
                  <a:pt x="157437" y="185420"/>
                </a:lnTo>
                <a:lnTo>
                  <a:pt x="155433" y="219710"/>
                </a:lnTo>
                <a:lnTo>
                  <a:pt x="155462" y="222250"/>
                </a:lnTo>
                <a:lnTo>
                  <a:pt x="158267" y="256539"/>
                </a:lnTo>
                <a:lnTo>
                  <a:pt x="168652" y="289560"/>
                </a:lnTo>
                <a:lnTo>
                  <a:pt x="206282" y="289560"/>
                </a:lnTo>
                <a:lnTo>
                  <a:pt x="206817" y="290829"/>
                </a:lnTo>
                <a:lnTo>
                  <a:pt x="211858" y="302260"/>
                </a:lnTo>
                <a:lnTo>
                  <a:pt x="388813" y="302260"/>
                </a:lnTo>
                <a:lnTo>
                  <a:pt x="381334" y="306070"/>
                </a:lnTo>
                <a:lnTo>
                  <a:pt x="371366" y="309879"/>
                </a:lnTo>
                <a:lnTo>
                  <a:pt x="361400" y="311150"/>
                </a:lnTo>
                <a:lnTo>
                  <a:pt x="288286" y="311150"/>
                </a:lnTo>
                <a:lnTo>
                  <a:pt x="278316" y="321310"/>
                </a:lnTo>
                <a:lnTo>
                  <a:pt x="268347" y="328929"/>
                </a:lnTo>
                <a:lnTo>
                  <a:pt x="258379" y="335279"/>
                </a:lnTo>
                <a:lnTo>
                  <a:pt x="248408" y="342900"/>
                </a:lnTo>
                <a:lnTo>
                  <a:pt x="235430" y="351789"/>
                </a:lnTo>
                <a:lnTo>
                  <a:pt x="230328" y="355600"/>
                </a:lnTo>
                <a:lnTo>
                  <a:pt x="82254" y="355600"/>
                </a:lnTo>
                <a:lnTo>
                  <a:pt x="64805" y="374650"/>
                </a:lnTo>
                <a:lnTo>
                  <a:pt x="47356" y="377189"/>
                </a:lnTo>
                <a:close/>
              </a:path>
              <a:path w="409575" h="623570">
                <a:moveTo>
                  <a:pt x="346963" y="153670"/>
                </a:moveTo>
                <a:lnTo>
                  <a:pt x="338134" y="153670"/>
                </a:lnTo>
                <a:lnTo>
                  <a:pt x="338134" y="148589"/>
                </a:lnTo>
                <a:lnTo>
                  <a:pt x="353920" y="148589"/>
                </a:lnTo>
                <a:lnTo>
                  <a:pt x="346963" y="153670"/>
                </a:lnTo>
                <a:close/>
              </a:path>
              <a:path w="409575" h="623570">
                <a:moveTo>
                  <a:pt x="294550" y="205739"/>
                </a:moveTo>
                <a:lnTo>
                  <a:pt x="265020" y="205739"/>
                </a:lnTo>
                <a:lnTo>
                  <a:pt x="265592" y="195579"/>
                </a:lnTo>
                <a:lnTo>
                  <a:pt x="267100" y="182879"/>
                </a:lnTo>
                <a:lnTo>
                  <a:pt x="269231" y="168910"/>
                </a:lnTo>
                <a:lnTo>
                  <a:pt x="271675" y="153670"/>
                </a:lnTo>
                <a:lnTo>
                  <a:pt x="312255" y="153670"/>
                </a:lnTo>
                <a:lnTo>
                  <a:pt x="299918" y="165100"/>
                </a:lnTo>
                <a:lnTo>
                  <a:pt x="293685" y="185420"/>
                </a:lnTo>
                <a:lnTo>
                  <a:pt x="294550" y="205739"/>
                </a:lnTo>
                <a:close/>
              </a:path>
              <a:path w="409575" h="623570">
                <a:moveTo>
                  <a:pt x="388813" y="302260"/>
                </a:moveTo>
                <a:lnTo>
                  <a:pt x="211858" y="302260"/>
                </a:lnTo>
                <a:lnTo>
                  <a:pt x="248408" y="254000"/>
                </a:lnTo>
                <a:lnTo>
                  <a:pt x="245081" y="245110"/>
                </a:lnTo>
                <a:lnTo>
                  <a:pt x="245081" y="241300"/>
                </a:lnTo>
                <a:lnTo>
                  <a:pt x="241607" y="234950"/>
                </a:lnTo>
                <a:lnTo>
                  <a:pt x="233406" y="223520"/>
                </a:lnTo>
                <a:lnTo>
                  <a:pt x="231797" y="219710"/>
                </a:lnTo>
                <a:lnTo>
                  <a:pt x="235427" y="210820"/>
                </a:lnTo>
                <a:lnTo>
                  <a:pt x="240928" y="205739"/>
                </a:lnTo>
                <a:lnTo>
                  <a:pt x="247677" y="204470"/>
                </a:lnTo>
                <a:lnTo>
                  <a:pt x="255050" y="205739"/>
                </a:lnTo>
                <a:lnTo>
                  <a:pt x="294550" y="205739"/>
                </a:lnTo>
                <a:lnTo>
                  <a:pt x="294928" y="214629"/>
                </a:lnTo>
                <a:lnTo>
                  <a:pt x="297994" y="224789"/>
                </a:lnTo>
                <a:lnTo>
                  <a:pt x="301993" y="234950"/>
                </a:lnTo>
                <a:lnTo>
                  <a:pt x="306616" y="246379"/>
                </a:lnTo>
                <a:lnTo>
                  <a:pt x="311553" y="259079"/>
                </a:lnTo>
                <a:lnTo>
                  <a:pt x="394061" y="259079"/>
                </a:lnTo>
                <a:lnTo>
                  <a:pt x="404606" y="267970"/>
                </a:lnTo>
                <a:lnTo>
                  <a:pt x="408290" y="274320"/>
                </a:lnTo>
                <a:lnTo>
                  <a:pt x="409171" y="281939"/>
                </a:lnTo>
                <a:lnTo>
                  <a:pt x="406938" y="289560"/>
                </a:lnTo>
                <a:lnTo>
                  <a:pt x="401278" y="294639"/>
                </a:lnTo>
                <a:lnTo>
                  <a:pt x="391306" y="300989"/>
                </a:lnTo>
                <a:lnTo>
                  <a:pt x="388813" y="302260"/>
                </a:lnTo>
                <a:close/>
              </a:path>
              <a:path w="409575" h="623570">
                <a:moveTo>
                  <a:pt x="394061" y="259079"/>
                </a:moveTo>
                <a:lnTo>
                  <a:pt x="311553" y="259079"/>
                </a:lnTo>
                <a:lnTo>
                  <a:pt x="333565" y="256539"/>
                </a:lnTo>
                <a:lnTo>
                  <a:pt x="345664" y="252729"/>
                </a:lnTo>
                <a:lnTo>
                  <a:pt x="358073" y="250189"/>
                </a:lnTo>
                <a:lnTo>
                  <a:pt x="370482" y="248920"/>
                </a:lnTo>
                <a:lnTo>
                  <a:pt x="382582" y="252729"/>
                </a:lnTo>
                <a:lnTo>
                  <a:pt x="394061" y="259079"/>
                </a:lnTo>
                <a:close/>
              </a:path>
              <a:path w="409575" h="623570">
                <a:moveTo>
                  <a:pt x="206282" y="289560"/>
                </a:moveTo>
                <a:lnTo>
                  <a:pt x="168652" y="289560"/>
                </a:lnTo>
                <a:lnTo>
                  <a:pt x="173636" y="283210"/>
                </a:lnTo>
                <a:lnTo>
                  <a:pt x="178622" y="275589"/>
                </a:lnTo>
                <a:lnTo>
                  <a:pt x="183608" y="266700"/>
                </a:lnTo>
                <a:lnTo>
                  <a:pt x="188591" y="254000"/>
                </a:lnTo>
                <a:lnTo>
                  <a:pt x="195497" y="266700"/>
                </a:lnTo>
                <a:lnTo>
                  <a:pt x="201468" y="278129"/>
                </a:lnTo>
                <a:lnTo>
                  <a:pt x="206282" y="289560"/>
                </a:lnTo>
                <a:close/>
              </a:path>
              <a:path w="409575" h="623570">
                <a:moveTo>
                  <a:pt x="265020" y="527050"/>
                </a:moveTo>
                <a:lnTo>
                  <a:pt x="250589" y="519429"/>
                </a:lnTo>
                <a:lnTo>
                  <a:pt x="241761" y="506729"/>
                </a:lnTo>
                <a:lnTo>
                  <a:pt x="237918" y="492760"/>
                </a:lnTo>
                <a:lnTo>
                  <a:pt x="238439" y="474979"/>
                </a:lnTo>
                <a:lnTo>
                  <a:pt x="247162" y="431800"/>
                </a:lnTo>
                <a:lnTo>
                  <a:pt x="258376" y="391160"/>
                </a:lnTo>
                <a:lnTo>
                  <a:pt x="272084" y="351789"/>
                </a:lnTo>
                <a:lnTo>
                  <a:pt x="288286" y="311150"/>
                </a:lnTo>
                <a:lnTo>
                  <a:pt x="361400" y="311150"/>
                </a:lnTo>
                <a:lnTo>
                  <a:pt x="345664" y="312420"/>
                </a:lnTo>
                <a:lnTo>
                  <a:pt x="332733" y="321310"/>
                </a:lnTo>
                <a:lnTo>
                  <a:pt x="321674" y="332739"/>
                </a:lnTo>
                <a:lnTo>
                  <a:pt x="311553" y="346710"/>
                </a:lnTo>
                <a:lnTo>
                  <a:pt x="319496" y="349250"/>
                </a:lnTo>
                <a:lnTo>
                  <a:pt x="327750" y="351789"/>
                </a:lnTo>
                <a:lnTo>
                  <a:pt x="335382" y="354329"/>
                </a:lnTo>
                <a:lnTo>
                  <a:pt x="341461" y="359410"/>
                </a:lnTo>
                <a:lnTo>
                  <a:pt x="346391" y="364489"/>
                </a:lnTo>
                <a:lnTo>
                  <a:pt x="351010" y="372110"/>
                </a:lnTo>
                <a:lnTo>
                  <a:pt x="354341" y="378460"/>
                </a:lnTo>
                <a:lnTo>
                  <a:pt x="318192" y="378460"/>
                </a:lnTo>
                <a:lnTo>
                  <a:pt x="308117" y="381000"/>
                </a:lnTo>
                <a:lnTo>
                  <a:pt x="294928" y="394970"/>
                </a:lnTo>
                <a:lnTo>
                  <a:pt x="301371" y="403860"/>
                </a:lnTo>
                <a:lnTo>
                  <a:pt x="309057" y="410210"/>
                </a:lnTo>
                <a:lnTo>
                  <a:pt x="315495" y="419100"/>
                </a:lnTo>
                <a:lnTo>
                  <a:pt x="315945" y="421639"/>
                </a:lnTo>
                <a:lnTo>
                  <a:pt x="288286" y="421639"/>
                </a:lnTo>
                <a:lnTo>
                  <a:pt x="280911" y="433070"/>
                </a:lnTo>
                <a:lnTo>
                  <a:pt x="279144" y="440689"/>
                </a:lnTo>
                <a:lnTo>
                  <a:pt x="283609" y="445770"/>
                </a:lnTo>
                <a:lnTo>
                  <a:pt x="294928" y="452120"/>
                </a:lnTo>
                <a:lnTo>
                  <a:pt x="305993" y="463550"/>
                </a:lnTo>
                <a:lnTo>
                  <a:pt x="313628" y="474979"/>
                </a:lnTo>
                <a:lnTo>
                  <a:pt x="271675" y="474979"/>
                </a:lnTo>
                <a:lnTo>
                  <a:pt x="269699" y="487679"/>
                </a:lnTo>
                <a:lnTo>
                  <a:pt x="266996" y="514350"/>
                </a:lnTo>
                <a:lnTo>
                  <a:pt x="265020" y="527050"/>
                </a:lnTo>
                <a:close/>
              </a:path>
              <a:path w="409575" h="623570">
                <a:moveTo>
                  <a:pt x="76069" y="530860"/>
                </a:moveTo>
                <a:lnTo>
                  <a:pt x="65630" y="527050"/>
                </a:lnTo>
                <a:lnTo>
                  <a:pt x="55610" y="518160"/>
                </a:lnTo>
                <a:lnTo>
                  <a:pt x="50263" y="505460"/>
                </a:lnTo>
                <a:lnTo>
                  <a:pt x="49278" y="490220"/>
                </a:lnTo>
                <a:lnTo>
                  <a:pt x="52346" y="474979"/>
                </a:lnTo>
                <a:lnTo>
                  <a:pt x="74777" y="387350"/>
                </a:lnTo>
                <a:lnTo>
                  <a:pt x="82254" y="355600"/>
                </a:lnTo>
                <a:lnTo>
                  <a:pt x="230328" y="355600"/>
                </a:lnTo>
                <a:lnTo>
                  <a:pt x="208219" y="372110"/>
                </a:lnTo>
                <a:lnTo>
                  <a:pt x="195233" y="382270"/>
                </a:lnTo>
                <a:lnTo>
                  <a:pt x="191919" y="382270"/>
                </a:lnTo>
                <a:lnTo>
                  <a:pt x="185264" y="386079"/>
                </a:lnTo>
                <a:lnTo>
                  <a:pt x="175294" y="386079"/>
                </a:lnTo>
                <a:lnTo>
                  <a:pt x="159825" y="430529"/>
                </a:lnTo>
                <a:lnTo>
                  <a:pt x="158683" y="443229"/>
                </a:lnTo>
                <a:lnTo>
                  <a:pt x="159112" y="466089"/>
                </a:lnTo>
                <a:lnTo>
                  <a:pt x="118805" y="466089"/>
                </a:lnTo>
                <a:lnTo>
                  <a:pt x="115791" y="474979"/>
                </a:lnTo>
                <a:lnTo>
                  <a:pt x="108521" y="491489"/>
                </a:lnTo>
                <a:lnTo>
                  <a:pt x="105508" y="500379"/>
                </a:lnTo>
                <a:lnTo>
                  <a:pt x="96941" y="516889"/>
                </a:lnTo>
                <a:lnTo>
                  <a:pt x="86817" y="527050"/>
                </a:lnTo>
                <a:lnTo>
                  <a:pt x="76069" y="530860"/>
                </a:lnTo>
                <a:close/>
              </a:path>
              <a:path w="409575" h="623570">
                <a:moveTo>
                  <a:pt x="367159" y="571500"/>
                </a:moveTo>
                <a:lnTo>
                  <a:pt x="328164" y="571500"/>
                </a:lnTo>
                <a:lnTo>
                  <a:pt x="328164" y="566420"/>
                </a:lnTo>
                <a:lnTo>
                  <a:pt x="331492" y="566420"/>
                </a:lnTo>
                <a:lnTo>
                  <a:pt x="331492" y="403860"/>
                </a:lnTo>
                <a:lnTo>
                  <a:pt x="325775" y="386079"/>
                </a:lnTo>
                <a:lnTo>
                  <a:pt x="318192" y="378460"/>
                </a:lnTo>
                <a:lnTo>
                  <a:pt x="354341" y="378460"/>
                </a:lnTo>
                <a:lnTo>
                  <a:pt x="355008" y="379729"/>
                </a:lnTo>
                <a:lnTo>
                  <a:pt x="358073" y="386079"/>
                </a:lnTo>
                <a:lnTo>
                  <a:pt x="360940" y="445770"/>
                </a:lnTo>
                <a:lnTo>
                  <a:pt x="367159" y="571500"/>
                </a:lnTo>
                <a:close/>
              </a:path>
              <a:path w="409575" h="623570">
                <a:moveTo>
                  <a:pt x="318195" y="434339"/>
                </a:moveTo>
                <a:lnTo>
                  <a:pt x="288286" y="421639"/>
                </a:lnTo>
                <a:lnTo>
                  <a:pt x="315945" y="421639"/>
                </a:lnTo>
                <a:lnTo>
                  <a:pt x="318195" y="434339"/>
                </a:lnTo>
                <a:close/>
              </a:path>
              <a:path w="409575" h="623570">
                <a:moveTo>
                  <a:pt x="165325" y="601979"/>
                </a:moveTo>
                <a:lnTo>
                  <a:pt x="131474" y="581660"/>
                </a:lnTo>
                <a:lnTo>
                  <a:pt x="121922" y="563879"/>
                </a:lnTo>
                <a:lnTo>
                  <a:pt x="122132" y="548639"/>
                </a:lnTo>
                <a:lnTo>
                  <a:pt x="125452" y="529589"/>
                </a:lnTo>
                <a:lnTo>
                  <a:pt x="126280" y="509270"/>
                </a:lnTo>
                <a:lnTo>
                  <a:pt x="125447" y="469900"/>
                </a:lnTo>
                <a:lnTo>
                  <a:pt x="122132" y="469900"/>
                </a:lnTo>
                <a:lnTo>
                  <a:pt x="118805" y="466089"/>
                </a:lnTo>
                <a:lnTo>
                  <a:pt x="159112" y="466089"/>
                </a:lnTo>
                <a:lnTo>
                  <a:pt x="159255" y="473710"/>
                </a:lnTo>
                <a:lnTo>
                  <a:pt x="160761" y="502920"/>
                </a:lnTo>
                <a:lnTo>
                  <a:pt x="162889" y="532129"/>
                </a:lnTo>
                <a:lnTo>
                  <a:pt x="165325" y="562610"/>
                </a:lnTo>
                <a:lnTo>
                  <a:pt x="165325" y="601979"/>
                </a:lnTo>
                <a:close/>
              </a:path>
              <a:path w="409575" h="623570">
                <a:moveTo>
                  <a:pt x="305474" y="497839"/>
                </a:moveTo>
                <a:lnTo>
                  <a:pt x="297013" y="495300"/>
                </a:lnTo>
                <a:lnTo>
                  <a:pt x="289173" y="490220"/>
                </a:lnTo>
                <a:lnTo>
                  <a:pt x="281644" y="482600"/>
                </a:lnTo>
                <a:lnTo>
                  <a:pt x="278317" y="482600"/>
                </a:lnTo>
                <a:lnTo>
                  <a:pt x="271675" y="474979"/>
                </a:lnTo>
                <a:lnTo>
                  <a:pt x="313628" y="474979"/>
                </a:lnTo>
                <a:lnTo>
                  <a:pt x="316897" y="486410"/>
                </a:lnTo>
                <a:lnTo>
                  <a:pt x="314867" y="491489"/>
                </a:lnTo>
                <a:lnTo>
                  <a:pt x="305474" y="497839"/>
                </a:lnTo>
                <a:close/>
              </a:path>
              <a:path w="409575" h="623570">
                <a:moveTo>
                  <a:pt x="361400" y="623570"/>
                </a:moveTo>
                <a:lnTo>
                  <a:pt x="353975" y="621029"/>
                </a:lnTo>
                <a:lnTo>
                  <a:pt x="346860" y="619760"/>
                </a:lnTo>
                <a:lnTo>
                  <a:pt x="340367" y="617220"/>
                </a:lnTo>
                <a:lnTo>
                  <a:pt x="312377" y="586739"/>
                </a:lnTo>
                <a:lnTo>
                  <a:pt x="294928" y="557529"/>
                </a:lnTo>
                <a:lnTo>
                  <a:pt x="291614" y="553720"/>
                </a:lnTo>
                <a:lnTo>
                  <a:pt x="291614" y="539750"/>
                </a:lnTo>
                <a:lnTo>
                  <a:pt x="299661" y="547370"/>
                </a:lnTo>
                <a:lnTo>
                  <a:pt x="308641" y="553720"/>
                </a:lnTo>
                <a:lnTo>
                  <a:pt x="318246" y="562610"/>
                </a:lnTo>
                <a:lnTo>
                  <a:pt x="328164" y="571500"/>
                </a:lnTo>
                <a:lnTo>
                  <a:pt x="367159" y="571500"/>
                </a:lnTo>
                <a:lnTo>
                  <a:pt x="368042" y="589279"/>
                </a:lnTo>
                <a:lnTo>
                  <a:pt x="367004" y="598170"/>
                </a:lnTo>
                <a:lnTo>
                  <a:pt x="364721" y="608329"/>
                </a:lnTo>
                <a:lnTo>
                  <a:pt x="362438" y="615950"/>
                </a:lnTo>
                <a:lnTo>
                  <a:pt x="361400" y="623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3402" y="4802526"/>
            <a:ext cx="229870" cy="461009"/>
          </a:xfrm>
          <a:custGeom>
            <a:avLst/>
            <a:gdLst/>
            <a:ahLst/>
            <a:cxnLst/>
            <a:rect l="l" t="t" r="r" b="b"/>
            <a:pathLst>
              <a:path w="229870" h="461010">
                <a:moveTo>
                  <a:pt x="72342" y="460712"/>
                </a:moveTo>
                <a:lnTo>
                  <a:pt x="31705" y="429614"/>
                </a:lnTo>
                <a:lnTo>
                  <a:pt x="7729" y="370729"/>
                </a:lnTo>
                <a:lnTo>
                  <a:pt x="1346" y="337989"/>
                </a:lnTo>
                <a:lnTo>
                  <a:pt x="0" y="331380"/>
                </a:lnTo>
                <a:lnTo>
                  <a:pt x="519" y="324776"/>
                </a:lnTo>
                <a:lnTo>
                  <a:pt x="2284" y="318174"/>
                </a:lnTo>
                <a:lnTo>
                  <a:pt x="5135" y="310330"/>
                </a:lnTo>
                <a:lnTo>
                  <a:pt x="22112" y="264652"/>
                </a:lnTo>
                <a:lnTo>
                  <a:pt x="56983" y="169162"/>
                </a:lnTo>
                <a:lnTo>
                  <a:pt x="74422" y="122241"/>
                </a:lnTo>
                <a:lnTo>
                  <a:pt x="74422" y="109033"/>
                </a:lnTo>
                <a:lnTo>
                  <a:pt x="71094" y="100232"/>
                </a:lnTo>
                <a:lnTo>
                  <a:pt x="63107" y="90257"/>
                </a:lnTo>
                <a:lnTo>
                  <a:pt x="54494" y="79869"/>
                </a:lnTo>
                <a:lnTo>
                  <a:pt x="45879" y="68655"/>
                </a:lnTo>
                <a:lnTo>
                  <a:pt x="37884" y="56201"/>
                </a:lnTo>
                <a:lnTo>
                  <a:pt x="34771" y="47121"/>
                </a:lnTo>
                <a:lnTo>
                  <a:pt x="35396" y="39693"/>
                </a:lnTo>
                <a:lnTo>
                  <a:pt x="39757" y="33914"/>
                </a:lnTo>
                <a:lnTo>
                  <a:pt x="47853" y="29785"/>
                </a:lnTo>
                <a:lnTo>
                  <a:pt x="62278" y="25730"/>
                </a:lnTo>
                <a:lnTo>
                  <a:pt x="76079" y="20433"/>
                </a:lnTo>
                <a:lnTo>
                  <a:pt x="104305" y="7776"/>
                </a:lnTo>
                <a:lnTo>
                  <a:pt x="134253" y="0"/>
                </a:lnTo>
                <a:lnTo>
                  <a:pt x="162017" y="8325"/>
                </a:lnTo>
                <a:lnTo>
                  <a:pt x="184175" y="30686"/>
                </a:lnTo>
                <a:lnTo>
                  <a:pt x="197307" y="65015"/>
                </a:lnTo>
                <a:lnTo>
                  <a:pt x="198653" y="74852"/>
                </a:lnTo>
                <a:lnTo>
                  <a:pt x="198134" y="84276"/>
                </a:lnTo>
                <a:lnTo>
                  <a:pt x="196369" y="92874"/>
                </a:lnTo>
                <a:lnTo>
                  <a:pt x="193979" y="100232"/>
                </a:lnTo>
                <a:lnTo>
                  <a:pt x="188480" y="110826"/>
                </a:lnTo>
                <a:lnTo>
                  <a:pt x="176238" y="133668"/>
                </a:lnTo>
                <a:lnTo>
                  <a:pt x="170738" y="144263"/>
                </a:lnTo>
                <a:lnTo>
                  <a:pt x="110947" y="302759"/>
                </a:lnTo>
                <a:lnTo>
                  <a:pt x="110947" y="311573"/>
                </a:lnTo>
                <a:lnTo>
                  <a:pt x="107632" y="320374"/>
                </a:lnTo>
                <a:lnTo>
                  <a:pt x="215604" y="320374"/>
                </a:lnTo>
                <a:lnTo>
                  <a:pt x="223045" y="334682"/>
                </a:lnTo>
                <a:lnTo>
                  <a:pt x="229482" y="363989"/>
                </a:lnTo>
                <a:lnTo>
                  <a:pt x="227203" y="390821"/>
                </a:lnTo>
                <a:lnTo>
                  <a:pt x="220561" y="399622"/>
                </a:lnTo>
                <a:lnTo>
                  <a:pt x="217233" y="399622"/>
                </a:lnTo>
                <a:lnTo>
                  <a:pt x="202340" y="401619"/>
                </a:lnTo>
                <a:lnTo>
                  <a:pt x="160769" y="408435"/>
                </a:lnTo>
                <a:lnTo>
                  <a:pt x="125900" y="428797"/>
                </a:lnTo>
                <a:lnTo>
                  <a:pt x="91021" y="452454"/>
                </a:lnTo>
                <a:lnTo>
                  <a:pt x="81525" y="458029"/>
                </a:lnTo>
                <a:lnTo>
                  <a:pt x="72342" y="460712"/>
                </a:lnTo>
                <a:close/>
              </a:path>
              <a:path w="229870" h="461010">
                <a:moveTo>
                  <a:pt x="215604" y="320374"/>
                </a:moveTo>
                <a:lnTo>
                  <a:pt x="107632" y="320374"/>
                </a:lnTo>
                <a:lnTo>
                  <a:pt x="117077" y="314597"/>
                </a:lnTo>
                <a:lnTo>
                  <a:pt x="125901" y="310469"/>
                </a:lnTo>
                <a:lnTo>
                  <a:pt x="134725" y="307992"/>
                </a:lnTo>
                <a:lnTo>
                  <a:pt x="144170" y="307166"/>
                </a:lnTo>
                <a:lnTo>
                  <a:pt x="156621" y="303931"/>
                </a:lnTo>
                <a:lnTo>
                  <a:pt x="169075" y="301113"/>
                </a:lnTo>
                <a:lnTo>
                  <a:pt x="181528" y="299120"/>
                </a:lnTo>
                <a:lnTo>
                  <a:pt x="193979" y="298365"/>
                </a:lnTo>
                <a:lnTo>
                  <a:pt x="210381" y="310330"/>
                </a:lnTo>
                <a:lnTo>
                  <a:pt x="215604" y="32037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8863" y="2075091"/>
            <a:ext cx="418465" cy="462280"/>
          </a:xfrm>
          <a:custGeom>
            <a:avLst/>
            <a:gdLst/>
            <a:ahLst/>
            <a:cxnLst/>
            <a:rect l="l" t="t" r="r" b="b"/>
            <a:pathLst>
              <a:path w="418465" h="462280">
                <a:moveTo>
                  <a:pt x="225920" y="62610"/>
                </a:moveTo>
                <a:lnTo>
                  <a:pt x="192902" y="62610"/>
                </a:lnTo>
                <a:lnTo>
                  <a:pt x="197680" y="59928"/>
                </a:lnTo>
                <a:lnTo>
                  <a:pt x="202455" y="54774"/>
                </a:lnTo>
                <a:lnTo>
                  <a:pt x="240041" y="14297"/>
                </a:lnTo>
                <a:lnTo>
                  <a:pt x="279082" y="0"/>
                </a:lnTo>
                <a:lnTo>
                  <a:pt x="290917" y="1718"/>
                </a:lnTo>
                <a:lnTo>
                  <a:pt x="301505" y="7148"/>
                </a:lnTo>
                <a:lnTo>
                  <a:pt x="310848" y="16700"/>
                </a:lnTo>
                <a:lnTo>
                  <a:pt x="318947" y="30784"/>
                </a:lnTo>
                <a:lnTo>
                  <a:pt x="324059" y="43980"/>
                </a:lnTo>
                <a:lnTo>
                  <a:pt x="239204" y="43980"/>
                </a:lnTo>
                <a:lnTo>
                  <a:pt x="232562" y="52781"/>
                </a:lnTo>
                <a:lnTo>
                  <a:pt x="225920" y="57175"/>
                </a:lnTo>
                <a:lnTo>
                  <a:pt x="225920" y="62610"/>
                </a:lnTo>
                <a:close/>
              </a:path>
              <a:path w="418465" h="462280">
                <a:moveTo>
                  <a:pt x="132429" y="198753"/>
                </a:moveTo>
                <a:lnTo>
                  <a:pt x="102997" y="171538"/>
                </a:lnTo>
                <a:lnTo>
                  <a:pt x="90375" y="120203"/>
                </a:lnTo>
                <a:lnTo>
                  <a:pt x="96342" y="101168"/>
                </a:lnTo>
                <a:lnTo>
                  <a:pt x="100293" y="91271"/>
                </a:lnTo>
                <a:lnTo>
                  <a:pt x="105695" y="71478"/>
                </a:lnTo>
                <a:lnTo>
                  <a:pt x="109641" y="61575"/>
                </a:lnTo>
                <a:lnTo>
                  <a:pt x="112953" y="52781"/>
                </a:lnTo>
                <a:lnTo>
                  <a:pt x="116281" y="39585"/>
                </a:lnTo>
                <a:lnTo>
                  <a:pt x="119608" y="39585"/>
                </a:lnTo>
                <a:lnTo>
                  <a:pt x="142862" y="65976"/>
                </a:lnTo>
                <a:lnTo>
                  <a:pt x="146189" y="70370"/>
                </a:lnTo>
                <a:lnTo>
                  <a:pt x="224985" y="70370"/>
                </a:lnTo>
                <a:lnTo>
                  <a:pt x="224516" y="72575"/>
                </a:lnTo>
                <a:lnTo>
                  <a:pt x="224672" y="79171"/>
                </a:lnTo>
                <a:lnTo>
                  <a:pt x="225452" y="85768"/>
                </a:lnTo>
                <a:lnTo>
                  <a:pt x="225920" y="92367"/>
                </a:lnTo>
                <a:lnTo>
                  <a:pt x="226567" y="105562"/>
                </a:lnTo>
                <a:lnTo>
                  <a:pt x="156146" y="105562"/>
                </a:lnTo>
                <a:lnTo>
                  <a:pt x="156249" y="154974"/>
                </a:lnTo>
                <a:lnTo>
                  <a:pt x="156406" y="163291"/>
                </a:lnTo>
                <a:lnTo>
                  <a:pt x="155733" y="177036"/>
                </a:lnTo>
                <a:lnTo>
                  <a:pt x="151945" y="189131"/>
                </a:lnTo>
                <a:lnTo>
                  <a:pt x="142862" y="197929"/>
                </a:lnTo>
                <a:lnTo>
                  <a:pt x="132429" y="198753"/>
                </a:lnTo>
                <a:close/>
              </a:path>
              <a:path w="418465" h="462280">
                <a:moveTo>
                  <a:pt x="251367" y="243700"/>
                </a:moveTo>
                <a:lnTo>
                  <a:pt x="123138" y="243700"/>
                </a:lnTo>
                <a:lnTo>
                  <a:pt x="129578" y="241909"/>
                </a:lnTo>
                <a:lnTo>
                  <a:pt x="169129" y="219165"/>
                </a:lnTo>
                <a:lnTo>
                  <a:pt x="199340" y="185283"/>
                </a:lnTo>
                <a:lnTo>
                  <a:pt x="222077" y="142329"/>
                </a:lnTo>
                <a:lnTo>
                  <a:pt x="239204" y="92367"/>
                </a:lnTo>
                <a:lnTo>
                  <a:pt x="239204" y="87972"/>
                </a:lnTo>
                <a:lnTo>
                  <a:pt x="245859" y="70370"/>
                </a:lnTo>
                <a:lnTo>
                  <a:pt x="245859" y="48386"/>
                </a:lnTo>
                <a:lnTo>
                  <a:pt x="239204" y="43980"/>
                </a:lnTo>
                <a:lnTo>
                  <a:pt x="324059" y="43980"/>
                </a:lnTo>
                <a:lnTo>
                  <a:pt x="325177" y="57731"/>
                </a:lnTo>
                <a:lnTo>
                  <a:pt x="323151" y="72232"/>
                </a:lnTo>
                <a:lnTo>
                  <a:pt x="318947" y="87972"/>
                </a:lnTo>
                <a:lnTo>
                  <a:pt x="307059" y="111818"/>
                </a:lnTo>
                <a:lnTo>
                  <a:pt x="296103" y="136902"/>
                </a:lnTo>
                <a:lnTo>
                  <a:pt x="285772" y="162810"/>
                </a:lnTo>
                <a:lnTo>
                  <a:pt x="275755" y="189128"/>
                </a:lnTo>
                <a:lnTo>
                  <a:pt x="287072" y="189816"/>
                </a:lnTo>
                <a:lnTo>
                  <a:pt x="296521" y="191331"/>
                </a:lnTo>
                <a:lnTo>
                  <a:pt x="304724" y="192846"/>
                </a:lnTo>
                <a:lnTo>
                  <a:pt x="312305" y="193535"/>
                </a:lnTo>
                <a:lnTo>
                  <a:pt x="338983" y="201984"/>
                </a:lnTo>
                <a:lnTo>
                  <a:pt x="363794" y="214974"/>
                </a:lnTo>
                <a:lnTo>
                  <a:pt x="386114" y="233738"/>
                </a:lnTo>
                <a:lnTo>
                  <a:pt x="386468" y="234213"/>
                </a:lnTo>
                <a:lnTo>
                  <a:pt x="290709" y="234213"/>
                </a:lnTo>
                <a:lnTo>
                  <a:pt x="266415" y="236552"/>
                </a:lnTo>
                <a:lnTo>
                  <a:pt x="251367" y="243700"/>
                </a:lnTo>
                <a:close/>
              </a:path>
              <a:path w="418465" h="462280">
                <a:moveTo>
                  <a:pt x="224985" y="70370"/>
                </a:moveTo>
                <a:lnTo>
                  <a:pt x="146189" y="70370"/>
                </a:lnTo>
                <a:lnTo>
                  <a:pt x="156204" y="61575"/>
                </a:lnTo>
                <a:lnTo>
                  <a:pt x="166531" y="56080"/>
                </a:lnTo>
                <a:lnTo>
                  <a:pt x="177482" y="55533"/>
                </a:lnTo>
                <a:lnTo>
                  <a:pt x="189369" y="61582"/>
                </a:lnTo>
                <a:lnTo>
                  <a:pt x="192902" y="62610"/>
                </a:lnTo>
                <a:lnTo>
                  <a:pt x="225920" y="62610"/>
                </a:lnTo>
                <a:lnTo>
                  <a:pt x="225920" y="65976"/>
                </a:lnTo>
                <a:lnTo>
                  <a:pt x="224985" y="70370"/>
                </a:lnTo>
                <a:close/>
              </a:path>
              <a:path w="418465" h="462280">
                <a:moveTo>
                  <a:pt x="213775" y="128243"/>
                </a:moveTo>
                <a:lnTo>
                  <a:pt x="196024" y="127558"/>
                </a:lnTo>
                <a:lnTo>
                  <a:pt x="189369" y="127558"/>
                </a:lnTo>
                <a:lnTo>
                  <a:pt x="156146" y="105562"/>
                </a:lnTo>
                <a:lnTo>
                  <a:pt x="226567" y="105562"/>
                </a:lnTo>
                <a:lnTo>
                  <a:pt x="226856" y="111471"/>
                </a:lnTo>
                <a:lnTo>
                  <a:pt x="223431" y="123155"/>
                </a:lnTo>
                <a:lnTo>
                  <a:pt x="213775" y="128243"/>
                </a:lnTo>
                <a:close/>
              </a:path>
              <a:path w="418465" h="462280">
                <a:moveTo>
                  <a:pt x="46507" y="461835"/>
                </a:moveTo>
                <a:lnTo>
                  <a:pt x="43192" y="457428"/>
                </a:lnTo>
                <a:lnTo>
                  <a:pt x="33222" y="452688"/>
                </a:lnTo>
                <a:lnTo>
                  <a:pt x="23255" y="445885"/>
                </a:lnTo>
                <a:lnTo>
                  <a:pt x="13290" y="438256"/>
                </a:lnTo>
                <a:lnTo>
                  <a:pt x="3327" y="431037"/>
                </a:lnTo>
                <a:lnTo>
                  <a:pt x="0" y="426643"/>
                </a:lnTo>
                <a:lnTo>
                  <a:pt x="0" y="409054"/>
                </a:lnTo>
                <a:lnTo>
                  <a:pt x="49834" y="263905"/>
                </a:lnTo>
                <a:lnTo>
                  <a:pt x="49834" y="259511"/>
                </a:lnTo>
                <a:lnTo>
                  <a:pt x="53162" y="259511"/>
                </a:lnTo>
                <a:lnTo>
                  <a:pt x="53162" y="255104"/>
                </a:lnTo>
                <a:lnTo>
                  <a:pt x="57572" y="247273"/>
                </a:lnTo>
                <a:lnTo>
                  <a:pt x="61047" y="238613"/>
                </a:lnTo>
                <a:lnTo>
                  <a:pt x="63901" y="231601"/>
                </a:lnTo>
                <a:lnTo>
                  <a:pt x="66446" y="228714"/>
                </a:lnTo>
                <a:lnTo>
                  <a:pt x="76877" y="228851"/>
                </a:lnTo>
                <a:lnTo>
                  <a:pt x="87622" y="229814"/>
                </a:lnTo>
                <a:lnTo>
                  <a:pt x="97744" y="232427"/>
                </a:lnTo>
                <a:lnTo>
                  <a:pt x="106311" y="237515"/>
                </a:lnTo>
                <a:lnTo>
                  <a:pt x="112750" y="240675"/>
                </a:lnTo>
                <a:lnTo>
                  <a:pt x="117944" y="243012"/>
                </a:lnTo>
                <a:lnTo>
                  <a:pt x="123138" y="243700"/>
                </a:lnTo>
                <a:lnTo>
                  <a:pt x="251367" y="243700"/>
                </a:lnTo>
                <a:lnTo>
                  <a:pt x="245859" y="246316"/>
                </a:lnTo>
                <a:lnTo>
                  <a:pt x="243831" y="248994"/>
                </a:lnTo>
                <a:lnTo>
                  <a:pt x="211486" y="248994"/>
                </a:lnTo>
                <a:lnTo>
                  <a:pt x="197677" y="250163"/>
                </a:lnTo>
                <a:lnTo>
                  <a:pt x="119608" y="285889"/>
                </a:lnTo>
                <a:lnTo>
                  <a:pt x="93027" y="321081"/>
                </a:lnTo>
                <a:lnTo>
                  <a:pt x="83057" y="351526"/>
                </a:lnTo>
                <a:lnTo>
                  <a:pt x="73090" y="383208"/>
                </a:lnTo>
                <a:lnTo>
                  <a:pt x="63125" y="415716"/>
                </a:lnTo>
                <a:lnTo>
                  <a:pt x="53162" y="448640"/>
                </a:lnTo>
                <a:lnTo>
                  <a:pt x="53162" y="453034"/>
                </a:lnTo>
                <a:lnTo>
                  <a:pt x="46507" y="461835"/>
                </a:lnTo>
                <a:close/>
              </a:path>
              <a:path w="418465" h="462280">
                <a:moveTo>
                  <a:pt x="362134" y="334273"/>
                </a:moveTo>
                <a:lnTo>
                  <a:pt x="343550" y="330975"/>
                </a:lnTo>
                <a:lnTo>
                  <a:pt x="325589" y="321081"/>
                </a:lnTo>
                <a:lnTo>
                  <a:pt x="319930" y="314413"/>
                </a:lnTo>
                <a:lnTo>
                  <a:pt x="317696" y="307336"/>
                </a:lnTo>
                <a:lnTo>
                  <a:pt x="318578" y="299435"/>
                </a:lnTo>
                <a:lnTo>
                  <a:pt x="322262" y="290296"/>
                </a:lnTo>
                <a:lnTo>
                  <a:pt x="325275" y="282940"/>
                </a:lnTo>
                <a:lnTo>
                  <a:pt x="328910" y="274348"/>
                </a:lnTo>
                <a:lnTo>
                  <a:pt x="332545" y="264932"/>
                </a:lnTo>
                <a:lnTo>
                  <a:pt x="335559" y="255104"/>
                </a:lnTo>
                <a:lnTo>
                  <a:pt x="315003" y="240122"/>
                </a:lnTo>
                <a:lnTo>
                  <a:pt x="290709" y="234213"/>
                </a:lnTo>
                <a:lnTo>
                  <a:pt x="386468" y="234213"/>
                </a:lnTo>
                <a:lnTo>
                  <a:pt x="405320" y="259511"/>
                </a:lnTo>
                <a:lnTo>
                  <a:pt x="415966" y="277166"/>
                </a:lnTo>
                <a:lnTo>
                  <a:pt x="418201" y="291939"/>
                </a:lnTo>
                <a:lnTo>
                  <a:pt x="412335" y="305890"/>
                </a:lnTo>
                <a:lnTo>
                  <a:pt x="398678" y="321081"/>
                </a:lnTo>
                <a:lnTo>
                  <a:pt x="380718" y="330975"/>
                </a:lnTo>
                <a:lnTo>
                  <a:pt x="362134" y="334273"/>
                </a:lnTo>
                <a:close/>
              </a:path>
              <a:path w="418465" h="462280">
                <a:moveTo>
                  <a:pt x="232562" y="255104"/>
                </a:moveTo>
                <a:lnTo>
                  <a:pt x="225920" y="250710"/>
                </a:lnTo>
                <a:lnTo>
                  <a:pt x="211486" y="248994"/>
                </a:lnTo>
                <a:lnTo>
                  <a:pt x="243831" y="248994"/>
                </a:lnTo>
                <a:lnTo>
                  <a:pt x="242531" y="250710"/>
                </a:lnTo>
                <a:lnTo>
                  <a:pt x="232562" y="25510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2157" y="2356129"/>
            <a:ext cx="258445" cy="419734"/>
          </a:xfrm>
          <a:custGeom>
            <a:avLst/>
            <a:gdLst/>
            <a:ahLst/>
            <a:cxnLst/>
            <a:rect l="l" t="t" r="r" b="b"/>
            <a:pathLst>
              <a:path w="258445" h="419735">
                <a:moveTo>
                  <a:pt x="27331" y="112749"/>
                </a:moveTo>
                <a:lnTo>
                  <a:pt x="19357" y="108691"/>
                </a:lnTo>
                <a:lnTo>
                  <a:pt x="13246" y="96799"/>
                </a:lnTo>
                <a:lnTo>
                  <a:pt x="10715" y="90887"/>
                </a:lnTo>
                <a:lnTo>
                  <a:pt x="7870" y="85801"/>
                </a:lnTo>
                <a:lnTo>
                  <a:pt x="4402" y="80715"/>
                </a:lnTo>
                <a:lnTo>
                  <a:pt x="0" y="74803"/>
                </a:lnTo>
                <a:lnTo>
                  <a:pt x="29761" y="57685"/>
                </a:lnTo>
                <a:lnTo>
                  <a:pt x="88046" y="23446"/>
                </a:lnTo>
                <a:lnTo>
                  <a:pt x="131375" y="3712"/>
                </a:lnTo>
                <a:lnTo>
                  <a:pt x="178892" y="0"/>
                </a:lnTo>
                <a:lnTo>
                  <a:pt x="184323" y="2887"/>
                </a:lnTo>
                <a:lnTo>
                  <a:pt x="190068" y="9901"/>
                </a:lnTo>
                <a:lnTo>
                  <a:pt x="195194" y="18564"/>
                </a:lnTo>
                <a:lnTo>
                  <a:pt x="198767" y="26403"/>
                </a:lnTo>
                <a:lnTo>
                  <a:pt x="200062" y="33690"/>
                </a:lnTo>
                <a:lnTo>
                  <a:pt x="199182" y="41802"/>
                </a:lnTo>
                <a:lnTo>
                  <a:pt x="198436" y="44005"/>
                </a:lnTo>
                <a:lnTo>
                  <a:pt x="145757" y="44005"/>
                </a:lnTo>
                <a:lnTo>
                  <a:pt x="128934" y="53146"/>
                </a:lnTo>
                <a:lnTo>
                  <a:pt x="113044" y="61052"/>
                </a:lnTo>
                <a:lnTo>
                  <a:pt x="97775" y="68133"/>
                </a:lnTo>
                <a:lnTo>
                  <a:pt x="82816" y="74803"/>
                </a:lnTo>
                <a:lnTo>
                  <a:pt x="72931" y="82090"/>
                </a:lnTo>
                <a:lnTo>
                  <a:pt x="63355" y="90201"/>
                </a:lnTo>
                <a:lnTo>
                  <a:pt x="46380" y="105600"/>
                </a:lnTo>
                <a:lnTo>
                  <a:pt x="36547" y="111031"/>
                </a:lnTo>
                <a:lnTo>
                  <a:pt x="27331" y="112749"/>
                </a:lnTo>
                <a:close/>
              </a:path>
              <a:path w="258445" h="419735">
                <a:moveTo>
                  <a:pt x="256302" y="165001"/>
                </a:moveTo>
                <a:lnTo>
                  <a:pt x="35403" y="165001"/>
                </a:lnTo>
                <a:lnTo>
                  <a:pt x="53003" y="160601"/>
                </a:lnTo>
                <a:lnTo>
                  <a:pt x="70603" y="152900"/>
                </a:lnTo>
                <a:lnTo>
                  <a:pt x="89446" y="145199"/>
                </a:lnTo>
                <a:lnTo>
                  <a:pt x="92760" y="145199"/>
                </a:lnTo>
                <a:lnTo>
                  <a:pt x="99377" y="140804"/>
                </a:lnTo>
                <a:lnTo>
                  <a:pt x="106006" y="140804"/>
                </a:lnTo>
                <a:lnTo>
                  <a:pt x="102433" y="125881"/>
                </a:lnTo>
                <a:lnTo>
                  <a:pt x="102277" y="113849"/>
                </a:lnTo>
                <a:lnTo>
                  <a:pt x="106473" y="104293"/>
                </a:lnTo>
                <a:lnTo>
                  <a:pt x="115951" y="96799"/>
                </a:lnTo>
                <a:lnTo>
                  <a:pt x="123453" y="86214"/>
                </a:lnTo>
                <a:lnTo>
                  <a:pt x="131268" y="74803"/>
                </a:lnTo>
                <a:lnTo>
                  <a:pt x="139705" y="63391"/>
                </a:lnTo>
                <a:lnTo>
                  <a:pt x="149072" y="52806"/>
                </a:lnTo>
                <a:lnTo>
                  <a:pt x="145757" y="48399"/>
                </a:lnTo>
                <a:lnTo>
                  <a:pt x="145757" y="44005"/>
                </a:lnTo>
                <a:lnTo>
                  <a:pt x="198436" y="44005"/>
                </a:lnTo>
                <a:lnTo>
                  <a:pt x="171764" y="90887"/>
                </a:lnTo>
                <a:lnTo>
                  <a:pt x="149072" y="127596"/>
                </a:lnTo>
                <a:lnTo>
                  <a:pt x="165895" y="130693"/>
                </a:lnTo>
                <a:lnTo>
                  <a:pt x="181786" y="132549"/>
                </a:lnTo>
                <a:lnTo>
                  <a:pt x="234715" y="132549"/>
                </a:lnTo>
                <a:lnTo>
                  <a:pt x="243900" y="139150"/>
                </a:lnTo>
                <a:lnTo>
                  <a:pt x="255340" y="157922"/>
                </a:lnTo>
                <a:lnTo>
                  <a:pt x="256302" y="165001"/>
                </a:lnTo>
                <a:close/>
              </a:path>
              <a:path w="258445" h="419735">
                <a:moveTo>
                  <a:pt x="234715" y="132549"/>
                </a:moveTo>
                <a:lnTo>
                  <a:pt x="181786" y="132549"/>
                </a:lnTo>
                <a:lnTo>
                  <a:pt x="197055" y="131929"/>
                </a:lnTo>
                <a:lnTo>
                  <a:pt x="212013" y="127596"/>
                </a:lnTo>
                <a:lnTo>
                  <a:pt x="228111" y="127804"/>
                </a:lnTo>
                <a:lnTo>
                  <a:pt x="234715" y="132549"/>
                </a:lnTo>
                <a:close/>
              </a:path>
              <a:path w="258445" h="419735">
                <a:moveTo>
                  <a:pt x="38098" y="249145"/>
                </a:moveTo>
                <a:lnTo>
                  <a:pt x="3727" y="208446"/>
                </a:lnTo>
                <a:lnTo>
                  <a:pt x="1191" y="191191"/>
                </a:lnTo>
                <a:lnTo>
                  <a:pt x="3314" y="175996"/>
                </a:lnTo>
                <a:lnTo>
                  <a:pt x="3314" y="171602"/>
                </a:lnTo>
                <a:lnTo>
                  <a:pt x="13246" y="162801"/>
                </a:lnTo>
                <a:lnTo>
                  <a:pt x="16560" y="162801"/>
                </a:lnTo>
                <a:lnTo>
                  <a:pt x="35403" y="165001"/>
                </a:lnTo>
                <a:lnTo>
                  <a:pt x="256302" y="165001"/>
                </a:lnTo>
                <a:lnTo>
                  <a:pt x="258394" y="180403"/>
                </a:lnTo>
                <a:lnTo>
                  <a:pt x="258394" y="184797"/>
                </a:lnTo>
                <a:lnTo>
                  <a:pt x="250165" y="188444"/>
                </a:lnTo>
                <a:lnTo>
                  <a:pt x="181528" y="188444"/>
                </a:lnTo>
                <a:lnTo>
                  <a:pt x="173504" y="193049"/>
                </a:lnTo>
                <a:lnTo>
                  <a:pt x="170193" y="202399"/>
                </a:lnTo>
                <a:lnTo>
                  <a:pt x="139141" y="202399"/>
                </a:lnTo>
                <a:lnTo>
                  <a:pt x="120919" y="202808"/>
                </a:lnTo>
                <a:lnTo>
                  <a:pt x="105182" y="208995"/>
                </a:lnTo>
                <a:lnTo>
                  <a:pt x="90686" y="218485"/>
                </a:lnTo>
                <a:lnTo>
                  <a:pt x="76187" y="228803"/>
                </a:lnTo>
                <a:lnTo>
                  <a:pt x="69570" y="228803"/>
                </a:lnTo>
                <a:lnTo>
                  <a:pt x="66255" y="237591"/>
                </a:lnTo>
                <a:lnTo>
                  <a:pt x="59626" y="237591"/>
                </a:lnTo>
                <a:lnTo>
                  <a:pt x="48241" y="246874"/>
                </a:lnTo>
                <a:lnTo>
                  <a:pt x="38098" y="249145"/>
                </a:lnTo>
                <a:close/>
              </a:path>
              <a:path w="258445" h="419735">
                <a:moveTo>
                  <a:pt x="248450" y="189204"/>
                </a:moveTo>
                <a:lnTo>
                  <a:pt x="195453" y="189204"/>
                </a:lnTo>
                <a:lnTo>
                  <a:pt x="181528" y="188444"/>
                </a:lnTo>
                <a:lnTo>
                  <a:pt x="250165" y="188444"/>
                </a:lnTo>
                <a:lnTo>
                  <a:pt x="248450" y="189204"/>
                </a:lnTo>
                <a:close/>
              </a:path>
              <a:path w="258445" h="419735">
                <a:moveTo>
                  <a:pt x="163757" y="327242"/>
                </a:moveTo>
                <a:lnTo>
                  <a:pt x="115117" y="327242"/>
                </a:lnTo>
                <a:lnTo>
                  <a:pt x="124020" y="321123"/>
                </a:lnTo>
                <a:lnTo>
                  <a:pt x="129197" y="307987"/>
                </a:lnTo>
                <a:lnTo>
                  <a:pt x="139141" y="202399"/>
                </a:lnTo>
                <a:lnTo>
                  <a:pt x="170193" y="202399"/>
                </a:lnTo>
                <a:lnTo>
                  <a:pt x="169828" y="203431"/>
                </a:lnTo>
                <a:lnTo>
                  <a:pt x="168948" y="220002"/>
                </a:lnTo>
                <a:lnTo>
                  <a:pt x="166928" y="260286"/>
                </a:lnTo>
                <a:lnTo>
                  <a:pt x="165220" y="301396"/>
                </a:lnTo>
                <a:lnTo>
                  <a:pt x="163757" y="327242"/>
                </a:lnTo>
                <a:close/>
              </a:path>
              <a:path w="258445" h="419735">
                <a:moveTo>
                  <a:pt x="136181" y="419298"/>
                </a:moveTo>
                <a:lnTo>
                  <a:pt x="119253" y="417995"/>
                </a:lnTo>
                <a:lnTo>
                  <a:pt x="91407" y="402522"/>
                </a:lnTo>
                <a:lnTo>
                  <a:pt x="70394" y="376742"/>
                </a:lnTo>
                <a:lnTo>
                  <a:pt x="60561" y="341889"/>
                </a:lnTo>
                <a:lnTo>
                  <a:pt x="66255" y="299199"/>
                </a:lnTo>
                <a:lnTo>
                  <a:pt x="66307" y="292598"/>
                </a:lnTo>
                <a:lnTo>
                  <a:pt x="66670" y="285997"/>
                </a:lnTo>
                <a:lnTo>
                  <a:pt x="67654" y="279396"/>
                </a:lnTo>
                <a:lnTo>
                  <a:pt x="69570" y="272796"/>
                </a:lnTo>
                <a:lnTo>
                  <a:pt x="75105" y="283381"/>
                </a:lnTo>
                <a:lnTo>
                  <a:pt x="81575" y="294792"/>
                </a:lnTo>
                <a:lnTo>
                  <a:pt x="88669" y="306203"/>
                </a:lnTo>
                <a:lnTo>
                  <a:pt x="96075" y="316788"/>
                </a:lnTo>
                <a:lnTo>
                  <a:pt x="104974" y="325934"/>
                </a:lnTo>
                <a:lnTo>
                  <a:pt x="115117" y="327242"/>
                </a:lnTo>
                <a:lnTo>
                  <a:pt x="163757" y="327242"/>
                </a:lnTo>
                <a:lnTo>
                  <a:pt x="162893" y="342506"/>
                </a:lnTo>
                <a:lnTo>
                  <a:pt x="159016" y="382790"/>
                </a:lnTo>
                <a:lnTo>
                  <a:pt x="155132" y="403761"/>
                </a:lnTo>
                <a:lnTo>
                  <a:pt x="147831" y="415242"/>
                </a:lnTo>
                <a:lnTo>
                  <a:pt x="136181" y="419298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0737" y="3175431"/>
            <a:ext cx="81354" cy="251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6736" y="3075177"/>
            <a:ext cx="99060" cy="381635"/>
          </a:xfrm>
          <a:custGeom>
            <a:avLst/>
            <a:gdLst/>
            <a:ahLst/>
            <a:cxnLst/>
            <a:rect l="l" t="t" r="r" b="b"/>
            <a:pathLst>
              <a:path w="99059" h="381635">
                <a:moveTo>
                  <a:pt x="17549" y="320382"/>
                </a:moveTo>
                <a:lnTo>
                  <a:pt x="4176" y="294055"/>
                </a:lnTo>
                <a:lnTo>
                  <a:pt x="1356" y="284109"/>
                </a:lnTo>
                <a:lnTo>
                  <a:pt x="0" y="273753"/>
                </a:lnTo>
                <a:lnTo>
                  <a:pt x="731" y="262575"/>
                </a:lnTo>
                <a:lnTo>
                  <a:pt x="4176" y="250164"/>
                </a:lnTo>
                <a:lnTo>
                  <a:pt x="13859" y="230343"/>
                </a:lnTo>
                <a:lnTo>
                  <a:pt x="23125" y="210113"/>
                </a:lnTo>
                <a:lnTo>
                  <a:pt x="32390" y="189062"/>
                </a:lnTo>
                <a:lnTo>
                  <a:pt x="42073" y="166776"/>
                </a:lnTo>
                <a:lnTo>
                  <a:pt x="48796" y="147023"/>
                </a:lnTo>
                <a:lnTo>
                  <a:pt x="55730" y="127273"/>
                </a:lnTo>
                <a:lnTo>
                  <a:pt x="63081" y="107522"/>
                </a:lnTo>
                <a:lnTo>
                  <a:pt x="71054" y="87769"/>
                </a:lnTo>
                <a:lnTo>
                  <a:pt x="74819" y="70625"/>
                </a:lnTo>
                <a:lnTo>
                  <a:pt x="76074" y="52660"/>
                </a:lnTo>
                <a:lnTo>
                  <a:pt x="74819" y="34695"/>
                </a:lnTo>
                <a:lnTo>
                  <a:pt x="71054" y="17551"/>
                </a:lnTo>
                <a:lnTo>
                  <a:pt x="68835" y="13163"/>
                </a:lnTo>
                <a:lnTo>
                  <a:pt x="68832" y="4381"/>
                </a:lnTo>
                <a:lnTo>
                  <a:pt x="95542" y="45597"/>
                </a:lnTo>
                <a:lnTo>
                  <a:pt x="98645" y="68570"/>
                </a:lnTo>
                <a:lnTo>
                  <a:pt x="97986" y="92367"/>
                </a:lnTo>
                <a:lnTo>
                  <a:pt x="93356" y="114109"/>
                </a:lnTo>
                <a:lnTo>
                  <a:pt x="86280" y="137219"/>
                </a:lnTo>
                <a:lnTo>
                  <a:pt x="78581" y="160740"/>
                </a:lnTo>
                <a:lnTo>
                  <a:pt x="70465" y="185086"/>
                </a:lnTo>
                <a:lnTo>
                  <a:pt x="62139" y="210667"/>
                </a:lnTo>
                <a:lnTo>
                  <a:pt x="62139" y="228219"/>
                </a:lnTo>
                <a:lnTo>
                  <a:pt x="64374" y="228219"/>
                </a:lnTo>
                <a:lnTo>
                  <a:pt x="74752" y="246941"/>
                </a:lnTo>
                <a:lnTo>
                  <a:pt x="75017" y="247969"/>
                </a:lnTo>
                <a:lnTo>
                  <a:pt x="54895" y="247969"/>
                </a:lnTo>
                <a:lnTo>
                  <a:pt x="51131" y="250984"/>
                </a:lnTo>
                <a:lnTo>
                  <a:pt x="46531" y="258940"/>
                </a:lnTo>
                <a:lnTo>
                  <a:pt x="39809" y="274712"/>
                </a:lnTo>
                <a:lnTo>
                  <a:pt x="32878" y="289661"/>
                </a:lnTo>
                <a:lnTo>
                  <a:pt x="25528" y="304610"/>
                </a:lnTo>
                <a:lnTo>
                  <a:pt x="17549" y="320382"/>
                </a:lnTo>
                <a:close/>
              </a:path>
              <a:path w="99059" h="381635">
                <a:moveTo>
                  <a:pt x="83243" y="381627"/>
                </a:moveTo>
                <a:lnTo>
                  <a:pt x="67433" y="345968"/>
                </a:lnTo>
                <a:lnTo>
                  <a:pt x="66180" y="312712"/>
                </a:lnTo>
                <a:lnTo>
                  <a:pt x="64928" y="296252"/>
                </a:lnTo>
                <a:lnTo>
                  <a:pt x="62841" y="279793"/>
                </a:lnTo>
                <a:lnTo>
                  <a:pt x="57823" y="251537"/>
                </a:lnTo>
                <a:lnTo>
                  <a:pt x="54895" y="247969"/>
                </a:lnTo>
                <a:lnTo>
                  <a:pt x="75017" y="247969"/>
                </a:lnTo>
                <a:lnTo>
                  <a:pt x="80533" y="269366"/>
                </a:lnTo>
                <a:lnTo>
                  <a:pt x="83807" y="294259"/>
                </a:lnTo>
                <a:lnTo>
                  <a:pt x="86663" y="320382"/>
                </a:lnTo>
                <a:lnTo>
                  <a:pt x="87948" y="331013"/>
                </a:lnTo>
                <a:lnTo>
                  <a:pt x="88607" y="342877"/>
                </a:lnTo>
                <a:lnTo>
                  <a:pt x="88850" y="355565"/>
                </a:lnTo>
                <a:lnTo>
                  <a:pt x="88885" y="368668"/>
                </a:lnTo>
                <a:lnTo>
                  <a:pt x="88119" y="376829"/>
                </a:lnTo>
                <a:lnTo>
                  <a:pt x="86099" y="381285"/>
                </a:lnTo>
                <a:lnTo>
                  <a:pt x="83243" y="38162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0997" y="3075177"/>
            <a:ext cx="55244" cy="78105"/>
          </a:xfrm>
          <a:custGeom>
            <a:avLst/>
            <a:gdLst/>
            <a:ahLst/>
            <a:cxnLst/>
            <a:rect l="l" t="t" r="r" b="b"/>
            <a:pathLst>
              <a:path w="55245" h="78105">
                <a:moveTo>
                  <a:pt x="35029" y="78049"/>
                </a:moveTo>
                <a:lnTo>
                  <a:pt x="6769" y="47574"/>
                </a:lnTo>
                <a:lnTo>
                  <a:pt x="0" y="0"/>
                </a:lnTo>
                <a:lnTo>
                  <a:pt x="12748" y="2496"/>
                </a:lnTo>
                <a:lnTo>
                  <a:pt x="24225" y="3778"/>
                </a:lnTo>
                <a:lnTo>
                  <a:pt x="34854" y="4250"/>
                </a:lnTo>
                <a:lnTo>
                  <a:pt x="45059" y="4318"/>
                </a:lnTo>
                <a:lnTo>
                  <a:pt x="50871" y="9319"/>
                </a:lnTo>
                <a:lnTo>
                  <a:pt x="54357" y="21618"/>
                </a:lnTo>
                <a:lnTo>
                  <a:pt x="54884" y="37161"/>
                </a:lnTo>
                <a:lnTo>
                  <a:pt x="51815" y="51892"/>
                </a:lnTo>
                <a:lnTo>
                  <a:pt x="47631" y="63852"/>
                </a:lnTo>
                <a:lnTo>
                  <a:pt x="41965" y="72977"/>
                </a:lnTo>
                <a:lnTo>
                  <a:pt x="35029" y="7804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27022" y="3820414"/>
            <a:ext cx="190500" cy="439420"/>
          </a:xfrm>
          <a:custGeom>
            <a:avLst/>
            <a:gdLst/>
            <a:ahLst/>
            <a:cxnLst/>
            <a:rect l="l" t="t" r="r" b="b"/>
            <a:pathLst>
              <a:path w="190500" h="439420">
                <a:moveTo>
                  <a:pt x="111335" y="55258"/>
                </a:moveTo>
                <a:lnTo>
                  <a:pt x="88444" y="51071"/>
                </a:lnTo>
                <a:lnTo>
                  <a:pt x="73651" y="37823"/>
                </a:lnTo>
                <a:lnTo>
                  <a:pt x="69761" y="17576"/>
                </a:lnTo>
                <a:lnTo>
                  <a:pt x="89169" y="11122"/>
                </a:lnTo>
                <a:lnTo>
                  <a:pt x="107957" y="5492"/>
                </a:lnTo>
                <a:lnTo>
                  <a:pt x="126748" y="1510"/>
                </a:lnTo>
                <a:lnTo>
                  <a:pt x="146164" y="0"/>
                </a:lnTo>
                <a:lnTo>
                  <a:pt x="167855" y="3570"/>
                </a:lnTo>
                <a:lnTo>
                  <a:pt x="182699" y="18673"/>
                </a:lnTo>
                <a:lnTo>
                  <a:pt x="190069" y="42014"/>
                </a:lnTo>
                <a:lnTo>
                  <a:pt x="189907" y="48323"/>
                </a:lnTo>
                <a:lnTo>
                  <a:pt x="139522" y="48323"/>
                </a:lnTo>
                <a:lnTo>
                  <a:pt x="111335" y="55258"/>
                </a:lnTo>
                <a:close/>
              </a:path>
              <a:path w="190500" h="439420">
                <a:moveTo>
                  <a:pt x="186084" y="171348"/>
                </a:moveTo>
                <a:lnTo>
                  <a:pt x="142836" y="171348"/>
                </a:lnTo>
                <a:lnTo>
                  <a:pt x="142318" y="141620"/>
                </a:lnTo>
                <a:lnTo>
                  <a:pt x="140040" y="80522"/>
                </a:lnTo>
                <a:lnTo>
                  <a:pt x="139522" y="48323"/>
                </a:lnTo>
                <a:lnTo>
                  <a:pt x="189907" y="48323"/>
                </a:lnTo>
                <a:lnTo>
                  <a:pt x="189344" y="70294"/>
                </a:lnTo>
                <a:lnTo>
                  <a:pt x="187420" y="103935"/>
                </a:lnTo>
                <a:lnTo>
                  <a:pt x="186432" y="138398"/>
                </a:lnTo>
                <a:lnTo>
                  <a:pt x="186084" y="171348"/>
                </a:lnTo>
                <a:close/>
              </a:path>
              <a:path w="190500" h="439420">
                <a:moveTo>
                  <a:pt x="119206" y="348464"/>
                </a:moveTo>
                <a:lnTo>
                  <a:pt x="14894" y="348464"/>
                </a:lnTo>
                <a:lnTo>
                  <a:pt x="29479" y="345992"/>
                </a:lnTo>
                <a:lnTo>
                  <a:pt x="43441" y="335281"/>
                </a:lnTo>
                <a:lnTo>
                  <a:pt x="56464" y="316331"/>
                </a:lnTo>
                <a:lnTo>
                  <a:pt x="51430" y="312282"/>
                </a:lnTo>
                <a:lnTo>
                  <a:pt x="46086" y="307000"/>
                </a:lnTo>
                <a:lnTo>
                  <a:pt x="40121" y="300893"/>
                </a:lnTo>
                <a:lnTo>
                  <a:pt x="33223" y="294373"/>
                </a:lnTo>
                <a:lnTo>
                  <a:pt x="27511" y="287026"/>
                </a:lnTo>
                <a:lnTo>
                  <a:pt x="24914" y="278444"/>
                </a:lnTo>
                <a:lnTo>
                  <a:pt x="24807" y="269037"/>
                </a:lnTo>
                <a:lnTo>
                  <a:pt x="26568" y="259219"/>
                </a:lnTo>
                <a:lnTo>
                  <a:pt x="34563" y="219610"/>
                </a:lnTo>
                <a:lnTo>
                  <a:pt x="43179" y="179587"/>
                </a:lnTo>
                <a:lnTo>
                  <a:pt x="51861" y="138398"/>
                </a:lnTo>
                <a:lnTo>
                  <a:pt x="59791" y="96659"/>
                </a:lnTo>
                <a:lnTo>
                  <a:pt x="86372" y="70294"/>
                </a:lnTo>
                <a:lnTo>
                  <a:pt x="99968" y="75237"/>
                </a:lnTo>
                <a:lnTo>
                  <a:pt x="110450" y="83477"/>
                </a:lnTo>
                <a:lnTo>
                  <a:pt x="117196" y="95011"/>
                </a:lnTo>
                <a:lnTo>
                  <a:pt x="119583" y="109842"/>
                </a:lnTo>
                <a:lnTo>
                  <a:pt x="119482" y="132423"/>
                </a:lnTo>
                <a:lnTo>
                  <a:pt x="123737" y="147731"/>
                </a:lnTo>
                <a:lnTo>
                  <a:pt x="131729" y="160569"/>
                </a:lnTo>
                <a:lnTo>
                  <a:pt x="142836" y="171348"/>
                </a:lnTo>
                <a:lnTo>
                  <a:pt x="186084" y="171348"/>
                </a:lnTo>
                <a:lnTo>
                  <a:pt x="186044" y="188925"/>
                </a:lnTo>
                <a:lnTo>
                  <a:pt x="106299" y="188925"/>
                </a:lnTo>
                <a:lnTo>
                  <a:pt x="103805" y="211300"/>
                </a:lnTo>
                <a:lnTo>
                  <a:pt x="98823" y="254413"/>
                </a:lnTo>
                <a:lnTo>
                  <a:pt x="96329" y="276796"/>
                </a:lnTo>
                <a:lnTo>
                  <a:pt x="182702" y="276796"/>
                </a:lnTo>
                <a:lnTo>
                  <a:pt x="182182" y="283456"/>
                </a:lnTo>
                <a:lnTo>
                  <a:pt x="181038" y="290526"/>
                </a:lnTo>
                <a:lnTo>
                  <a:pt x="179894" y="298418"/>
                </a:lnTo>
                <a:lnTo>
                  <a:pt x="179374" y="307543"/>
                </a:lnTo>
                <a:lnTo>
                  <a:pt x="177406" y="333908"/>
                </a:lnTo>
                <a:lnTo>
                  <a:pt x="177181" y="338302"/>
                </a:lnTo>
                <a:lnTo>
                  <a:pt x="129552" y="338302"/>
                </a:lnTo>
                <a:lnTo>
                  <a:pt x="119206" y="348464"/>
                </a:lnTo>
                <a:close/>
              </a:path>
              <a:path w="190500" h="439420">
                <a:moveTo>
                  <a:pt x="182702" y="276796"/>
                </a:moveTo>
                <a:lnTo>
                  <a:pt x="96329" y="276796"/>
                </a:lnTo>
                <a:lnTo>
                  <a:pt x="117094" y="265742"/>
                </a:lnTo>
                <a:lnTo>
                  <a:pt x="130384" y="250982"/>
                </a:lnTo>
                <a:lnTo>
                  <a:pt x="137445" y="230456"/>
                </a:lnTo>
                <a:lnTo>
                  <a:pt x="139522" y="202107"/>
                </a:lnTo>
                <a:lnTo>
                  <a:pt x="131993" y="198812"/>
                </a:lnTo>
                <a:lnTo>
                  <a:pt x="124153" y="195516"/>
                </a:lnTo>
                <a:lnTo>
                  <a:pt x="115692" y="192220"/>
                </a:lnTo>
                <a:lnTo>
                  <a:pt x="106299" y="188925"/>
                </a:lnTo>
                <a:lnTo>
                  <a:pt x="186044" y="188925"/>
                </a:lnTo>
                <a:lnTo>
                  <a:pt x="186016" y="206501"/>
                </a:lnTo>
                <a:lnTo>
                  <a:pt x="186536" y="213159"/>
                </a:lnTo>
                <a:lnTo>
                  <a:pt x="187680" y="220227"/>
                </a:lnTo>
                <a:lnTo>
                  <a:pt x="188824" y="228118"/>
                </a:lnTo>
                <a:lnTo>
                  <a:pt x="189344" y="237248"/>
                </a:lnTo>
                <a:lnTo>
                  <a:pt x="188772" y="247135"/>
                </a:lnTo>
                <a:lnTo>
                  <a:pt x="187266" y="257022"/>
                </a:lnTo>
                <a:lnTo>
                  <a:pt x="185138" y="266909"/>
                </a:lnTo>
                <a:lnTo>
                  <a:pt x="182702" y="276796"/>
                </a:lnTo>
                <a:close/>
              </a:path>
              <a:path w="190500" h="439420">
                <a:moveTo>
                  <a:pt x="162775" y="439356"/>
                </a:moveTo>
                <a:lnTo>
                  <a:pt x="156121" y="439356"/>
                </a:lnTo>
                <a:lnTo>
                  <a:pt x="146164" y="434962"/>
                </a:lnTo>
                <a:lnTo>
                  <a:pt x="142836" y="426173"/>
                </a:lnTo>
                <a:lnTo>
                  <a:pt x="133703" y="416081"/>
                </a:lnTo>
                <a:lnTo>
                  <a:pt x="127058" y="404753"/>
                </a:lnTo>
                <a:lnTo>
                  <a:pt x="124150" y="390956"/>
                </a:lnTo>
                <a:lnTo>
                  <a:pt x="126225" y="373456"/>
                </a:lnTo>
                <a:lnTo>
                  <a:pt x="128148" y="366109"/>
                </a:lnTo>
                <a:lnTo>
                  <a:pt x="129136" y="357527"/>
                </a:lnTo>
                <a:lnTo>
                  <a:pt x="129487" y="348464"/>
                </a:lnTo>
                <a:lnTo>
                  <a:pt x="129552" y="338302"/>
                </a:lnTo>
                <a:lnTo>
                  <a:pt x="177181" y="338302"/>
                </a:lnTo>
                <a:lnTo>
                  <a:pt x="174708" y="386633"/>
                </a:lnTo>
                <a:lnTo>
                  <a:pt x="170245" y="427821"/>
                </a:lnTo>
                <a:lnTo>
                  <a:pt x="167133" y="434619"/>
                </a:lnTo>
                <a:lnTo>
                  <a:pt x="162775" y="439356"/>
                </a:lnTo>
                <a:close/>
              </a:path>
              <a:path w="190500" h="439420">
                <a:moveTo>
                  <a:pt x="41521" y="416836"/>
                </a:moveTo>
                <a:lnTo>
                  <a:pt x="8302" y="380595"/>
                </a:lnTo>
                <a:lnTo>
                  <a:pt x="0" y="342696"/>
                </a:lnTo>
                <a:lnTo>
                  <a:pt x="14894" y="348464"/>
                </a:lnTo>
                <a:lnTo>
                  <a:pt x="119206" y="348464"/>
                </a:lnTo>
                <a:lnTo>
                  <a:pt x="110188" y="357321"/>
                </a:lnTo>
                <a:lnTo>
                  <a:pt x="91760" y="375102"/>
                </a:lnTo>
                <a:lnTo>
                  <a:pt x="56464" y="408597"/>
                </a:lnTo>
                <a:lnTo>
                  <a:pt x="48994" y="415394"/>
                </a:lnTo>
                <a:lnTo>
                  <a:pt x="41521" y="416836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22445" y="3776573"/>
            <a:ext cx="175260" cy="527685"/>
          </a:xfrm>
          <a:custGeom>
            <a:avLst/>
            <a:gdLst/>
            <a:ahLst/>
            <a:cxnLst/>
            <a:rect l="l" t="t" r="r" b="b"/>
            <a:pathLst>
              <a:path w="175260" h="527685">
                <a:moveTo>
                  <a:pt x="36937" y="65951"/>
                </a:moveTo>
                <a:lnTo>
                  <a:pt x="33597" y="65951"/>
                </a:lnTo>
                <a:lnTo>
                  <a:pt x="26916" y="57150"/>
                </a:lnTo>
                <a:lnTo>
                  <a:pt x="26916" y="48361"/>
                </a:lnTo>
                <a:lnTo>
                  <a:pt x="23576" y="48361"/>
                </a:lnTo>
                <a:lnTo>
                  <a:pt x="64491" y="10993"/>
                </a:lnTo>
                <a:lnTo>
                  <a:pt x="100386" y="0"/>
                </a:lnTo>
                <a:lnTo>
                  <a:pt x="122246" y="5975"/>
                </a:lnTo>
                <a:lnTo>
                  <a:pt x="137533" y="18135"/>
                </a:lnTo>
                <a:lnTo>
                  <a:pt x="142955" y="30772"/>
                </a:lnTo>
                <a:lnTo>
                  <a:pt x="97046" y="30772"/>
                </a:lnTo>
                <a:lnTo>
                  <a:pt x="90366" y="35178"/>
                </a:lnTo>
                <a:lnTo>
                  <a:pt x="82852" y="39161"/>
                </a:lnTo>
                <a:lnTo>
                  <a:pt x="67831" y="48773"/>
                </a:lnTo>
                <a:lnTo>
                  <a:pt x="60317" y="52755"/>
                </a:lnTo>
                <a:lnTo>
                  <a:pt x="55255" y="56671"/>
                </a:lnTo>
                <a:lnTo>
                  <a:pt x="49880" y="61001"/>
                </a:lnTo>
                <a:lnTo>
                  <a:pt x="43878" y="64507"/>
                </a:lnTo>
                <a:lnTo>
                  <a:pt x="36937" y="65951"/>
                </a:lnTo>
                <a:close/>
              </a:path>
              <a:path w="175260" h="527685">
                <a:moveTo>
                  <a:pt x="145308" y="175856"/>
                </a:moveTo>
                <a:lnTo>
                  <a:pt x="63657" y="175856"/>
                </a:lnTo>
                <a:lnTo>
                  <a:pt x="70597" y="167478"/>
                </a:lnTo>
                <a:lnTo>
                  <a:pt x="76594" y="161569"/>
                </a:lnTo>
                <a:lnTo>
                  <a:pt x="81965" y="157308"/>
                </a:lnTo>
                <a:lnTo>
                  <a:pt x="87025" y="153873"/>
                </a:lnTo>
                <a:lnTo>
                  <a:pt x="94958" y="147968"/>
                </a:lnTo>
                <a:lnTo>
                  <a:pt x="115990" y="108810"/>
                </a:lnTo>
                <a:lnTo>
                  <a:pt x="116669" y="85731"/>
                </a:lnTo>
                <a:lnTo>
                  <a:pt x="114215" y="62649"/>
                </a:lnTo>
                <a:lnTo>
                  <a:pt x="107066" y="39573"/>
                </a:lnTo>
                <a:lnTo>
                  <a:pt x="107066" y="35178"/>
                </a:lnTo>
                <a:lnTo>
                  <a:pt x="97046" y="30772"/>
                </a:lnTo>
                <a:lnTo>
                  <a:pt x="142955" y="30772"/>
                </a:lnTo>
                <a:lnTo>
                  <a:pt x="145934" y="37715"/>
                </a:lnTo>
                <a:lnTo>
                  <a:pt x="147073" y="64507"/>
                </a:lnTo>
                <a:lnTo>
                  <a:pt x="146985" y="108810"/>
                </a:lnTo>
                <a:lnTo>
                  <a:pt x="146799" y="126401"/>
                </a:lnTo>
                <a:lnTo>
                  <a:pt x="146676" y="135536"/>
                </a:lnTo>
                <a:lnTo>
                  <a:pt x="145725" y="168574"/>
                </a:lnTo>
                <a:lnTo>
                  <a:pt x="145308" y="175856"/>
                </a:lnTo>
                <a:close/>
              </a:path>
              <a:path w="175260" h="527685">
                <a:moveTo>
                  <a:pt x="26916" y="457225"/>
                </a:moveTo>
                <a:lnTo>
                  <a:pt x="16909" y="457225"/>
                </a:lnTo>
                <a:lnTo>
                  <a:pt x="9602" y="456263"/>
                </a:lnTo>
                <a:lnTo>
                  <a:pt x="3548" y="452829"/>
                </a:lnTo>
                <a:lnTo>
                  <a:pt x="0" y="446097"/>
                </a:lnTo>
                <a:lnTo>
                  <a:pt x="208" y="435241"/>
                </a:lnTo>
                <a:lnTo>
                  <a:pt x="2191" y="418761"/>
                </a:lnTo>
                <a:lnTo>
                  <a:pt x="4905" y="385790"/>
                </a:lnTo>
                <a:lnTo>
                  <a:pt x="6888" y="369303"/>
                </a:lnTo>
                <a:lnTo>
                  <a:pt x="16551" y="316273"/>
                </a:lnTo>
                <a:lnTo>
                  <a:pt x="34120" y="214739"/>
                </a:lnTo>
                <a:lnTo>
                  <a:pt x="43617" y="162674"/>
                </a:lnTo>
                <a:lnTo>
                  <a:pt x="55725" y="107165"/>
                </a:lnTo>
                <a:lnTo>
                  <a:pt x="70338" y="48361"/>
                </a:lnTo>
                <a:lnTo>
                  <a:pt x="78524" y="55092"/>
                </a:lnTo>
                <a:lnTo>
                  <a:pt x="83270" y="62652"/>
                </a:lnTo>
                <a:lnTo>
                  <a:pt x="84886" y="71853"/>
                </a:lnTo>
                <a:lnTo>
                  <a:pt x="83685" y="83527"/>
                </a:lnTo>
                <a:lnTo>
                  <a:pt x="78683" y="104142"/>
                </a:lnTo>
                <a:lnTo>
                  <a:pt x="73676" y="126401"/>
                </a:lnTo>
                <a:lnTo>
                  <a:pt x="68667" y="150305"/>
                </a:lnTo>
                <a:lnTo>
                  <a:pt x="63657" y="175856"/>
                </a:lnTo>
                <a:lnTo>
                  <a:pt x="145308" y="175856"/>
                </a:lnTo>
                <a:lnTo>
                  <a:pt x="143794" y="202234"/>
                </a:lnTo>
                <a:lnTo>
                  <a:pt x="144473" y="213914"/>
                </a:lnTo>
                <a:lnTo>
                  <a:pt x="146717" y="223119"/>
                </a:lnTo>
                <a:lnTo>
                  <a:pt x="149713" y="228612"/>
                </a:lnTo>
                <a:lnTo>
                  <a:pt x="70338" y="228612"/>
                </a:lnTo>
                <a:lnTo>
                  <a:pt x="58856" y="270727"/>
                </a:lnTo>
                <a:lnTo>
                  <a:pt x="51132" y="311602"/>
                </a:lnTo>
                <a:lnTo>
                  <a:pt x="49671" y="351651"/>
                </a:lnTo>
                <a:lnTo>
                  <a:pt x="56977" y="391287"/>
                </a:lnTo>
                <a:lnTo>
                  <a:pt x="33597" y="391287"/>
                </a:lnTo>
                <a:lnTo>
                  <a:pt x="31666" y="403785"/>
                </a:lnTo>
                <a:lnTo>
                  <a:pt x="30674" y="415463"/>
                </a:lnTo>
                <a:lnTo>
                  <a:pt x="30309" y="427143"/>
                </a:lnTo>
                <a:lnTo>
                  <a:pt x="30256" y="439648"/>
                </a:lnTo>
                <a:lnTo>
                  <a:pt x="26916" y="448437"/>
                </a:lnTo>
                <a:lnTo>
                  <a:pt x="26916" y="457225"/>
                </a:lnTo>
                <a:close/>
              </a:path>
              <a:path w="175260" h="527685">
                <a:moveTo>
                  <a:pt x="83685" y="334124"/>
                </a:moveTo>
                <a:lnTo>
                  <a:pt x="77018" y="334124"/>
                </a:lnTo>
                <a:lnTo>
                  <a:pt x="73678" y="329730"/>
                </a:lnTo>
                <a:lnTo>
                  <a:pt x="73678" y="325335"/>
                </a:lnTo>
                <a:lnTo>
                  <a:pt x="77018" y="320941"/>
                </a:lnTo>
                <a:lnTo>
                  <a:pt x="83685" y="316547"/>
                </a:lnTo>
                <a:lnTo>
                  <a:pt x="87025" y="312153"/>
                </a:lnTo>
                <a:lnTo>
                  <a:pt x="92036" y="308781"/>
                </a:lnTo>
                <a:lnTo>
                  <a:pt x="97046" y="305001"/>
                </a:lnTo>
                <a:lnTo>
                  <a:pt x="102056" y="300400"/>
                </a:lnTo>
                <a:lnTo>
                  <a:pt x="107066" y="294563"/>
                </a:lnTo>
                <a:lnTo>
                  <a:pt x="113746" y="290169"/>
                </a:lnTo>
                <a:lnTo>
                  <a:pt x="113746" y="276974"/>
                </a:lnTo>
                <a:lnTo>
                  <a:pt x="103726" y="276974"/>
                </a:lnTo>
                <a:lnTo>
                  <a:pt x="92403" y="269419"/>
                </a:lnTo>
                <a:lnTo>
                  <a:pt x="83274" y="259389"/>
                </a:lnTo>
                <a:lnTo>
                  <a:pt x="76024" y="246061"/>
                </a:lnTo>
                <a:lnTo>
                  <a:pt x="70338" y="228612"/>
                </a:lnTo>
                <a:lnTo>
                  <a:pt x="149713" y="228612"/>
                </a:lnTo>
                <a:lnTo>
                  <a:pt x="150840" y="230677"/>
                </a:lnTo>
                <a:lnTo>
                  <a:pt x="157155" y="237413"/>
                </a:lnTo>
                <a:lnTo>
                  <a:pt x="170306" y="257128"/>
                </a:lnTo>
                <a:lnTo>
                  <a:pt x="174690" y="276431"/>
                </a:lnTo>
                <a:lnTo>
                  <a:pt x="170306" y="294910"/>
                </a:lnTo>
                <a:lnTo>
                  <a:pt x="157155" y="312153"/>
                </a:lnTo>
                <a:lnTo>
                  <a:pt x="150840" y="316273"/>
                </a:lnTo>
                <a:lnTo>
                  <a:pt x="146717" y="322041"/>
                </a:lnTo>
                <a:lnTo>
                  <a:pt x="144473" y="329460"/>
                </a:lnTo>
                <a:lnTo>
                  <a:pt x="144453" y="329730"/>
                </a:lnTo>
                <a:lnTo>
                  <a:pt x="93706" y="329730"/>
                </a:lnTo>
                <a:lnTo>
                  <a:pt x="83685" y="334124"/>
                </a:lnTo>
                <a:close/>
              </a:path>
              <a:path w="175260" h="527685">
                <a:moveTo>
                  <a:pt x="143965" y="470420"/>
                </a:moveTo>
                <a:lnTo>
                  <a:pt x="107066" y="470420"/>
                </a:lnTo>
                <a:lnTo>
                  <a:pt x="109049" y="437445"/>
                </a:lnTo>
                <a:lnTo>
                  <a:pt x="111763" y="371499"/>
                </a:lnTo>
                <a:lnTo>
                  <a:pt x="113746" y="338531"/>
                </a:lnTo>
                <a:lnTo>
                  <a:pt x="103726" y="329730"/>
                </a:lnTo>
                <a:lnTo>
                  <a:pt x="144453" y="329730"/>
                </a:lnTo>
                <a:lnTo>
                  <a:pt x="143794" y="338531"/>
                </a:lnTo>
                <a:lnTo>
                  <a:pt x="145075" y="371499"/>
                </a:lnTo>
                <a:lnTo>
                  <a:pt x="144952" y="415463"/>
                </a:lnTo>
                <a:lnTo>
                  <a:pt x="144291" y="446097"/>
                </a:lnTo>
                <a:lnTo>
                  <a:pt x="143965" y="470420"/>
                </a:lnTo>
                <a:close/>
              </a:path>
              <a:path w="175260" h="527685">
                <a:moveTo>
                  <a:pt x="133774" y="527570"/>
                </a:moveTo>
                <a:lnTo>
                  <a:pt x="86766" y="489104"/>
                </a:lnTo>
                <a:lnTo>
                  <a:pt x="55357" y="429753"/>
                </a:lnTo>
                <a:lnTo>
                  <a:pt x="40277" y="400075"/>
                </a:lnTo>
                <a:lnTo>
                  <a:pt x="36937" y="395681"/>
                </a:lnTo>
                <a:lnTo>
                  <a:pt x="36937" y="391287"/>
                </a:lnTo>
                <a:lnTo>
                  <a:pt x="56977" y="391287"/>
                </a:lnTo>
                <a:lnTo>
                  <a:pt x="66213" y="414778"/>
                </a:lnTo>
                <a:lnTo>
                  <a:pt x="78264" y="434149"/>
                </a:lnTo>
                <a:lnTo>
                  <a:pt x="92194" y="451873"/>
                </a:lnTo>
                <a:lnTo>
                  <a:pt x="107066" y="470420"/>
                </a:lnTo>
                <a:lnTo>
                  <a:pt x="143965" y="470420"/>
                </a:lnTo>
                <a:lnTo>
                  <a:pt x="143794" y="483603"/>
                </a:lnTo>
                <a:lnTo>
                  <a:pt x="143794" y="492404"/>
                </a:lnTo>
                <a:lnTo>
                  <a:pt x="147135" y="496798"/>
                </a:lnTo>
                <a:lnTo>
                  <a:pt x="143794" y="501192"/>
                </a:lnTo>
                <a:lnTo>
                  <a:pt x="141289" y="509021"/>
                </a:lnTo>
                <a:lnTo>
                  <a:pt x="138784" y="517677"/>
                </a:lnTo>
                <a:lnTo>
                  <a:pt x="136279" y="524685"/>
                </a:lnTo>
                <a:lnTo>
                  <a:pt x="133774" y="527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14640" y="2037909"/>
            <a:ext cx="424180" cy="671830"/>
          </a:xfrm>
          <a:custGeom>
            <a:avLst/>
            <a:gdLst/>
            <a:ahLst/>
            <a:cxnLst/>
            <a:rect l="l" t="t" r="r" b="b"/>
            <a:pathLst>
              <a:path w="424180" h="671830">
                <a:moveTo>
                  <a:pt x="232935" y="328930"/>
                </a:moveTo>
                <a:lnTo>
                  <a:pt x="179920" y="328930"/>
                </a:lnTo>
                <a:lnTo>
                  <a:pt x="209905" y="302260"/>
                </a:lnTo>
                <a:lnTo>
                  <a:pt x="203975" y="280670"/>
                </a:lnTo>
                <a:lnTo>
                  <a:pt x="207413" y="262890"/>
                </a:lnTo>
                <a:lnTo>
                  <a:pt x="214599" y="245110"/>
                </a:lnTo>
                <a:lnTo>
                  <a:pt x="219913" y="227330"/>
                </a:lnTo>
                <a:lnTo>
                  <a:pt x="211889" y="227330"/>
                </a:lnTo>
                <a:lnTo>
                  <a:pt x="194604" y="224790"/>
                </a:lnTo>
                <a:lnTo>
                  <a:pt x="163258" y="200660"/>
                </a:lnTo>
                <a:lnTo>
                  <a:pt x="163258" y="195580"/>
                </a:lnTo>
                <a:lnTo>
                  <a:pt x="166598" y="195580"/>
                </a:lnTo>
                <a:lnTo>
                  <a:pt x="178573" y="193040"/>
                </a:lnTo>
                <a:lnTo>
                  <a:pt x="201270" y="190500"/>
                </a:lnTo>
                <a:lnTo>
                  <a:pt x="213245" y="186690"/>
                </a:lnTo>
                <a:lnTo>
                  <a:pt x="222041" y="185420"/>
                </a:lnTo>
                <a:lnTo>
                  <a:pt x="228652" y="180340"/>
                </a:lnTo>
                <a:lnTo>
                  <a:pt x="233389" y="172720"/>
                </a:lnTo>
                <a:lnTo>
                  <a:pt x="246562" y="124460"/>
                </a:lnTo>
                <a:lnTo>
                  <a:pt x="266555" y="53340"/>
                </a:lnTo>
                <a:lnTo>
                  <a:pt x="276555" y="20320"/>
                </a:lnTo>
                <a:lnTo>
                  <a:pt x="278687" y="10160"/>
                </a:lnTo>
                <a:lnTo>
                  <a:pt x="281133" y="2540"/>
                </a:lnTo>
                <a:lnTo>
                  <a:pt x="285456" y="0"/>
                </a:lnTo>
                <a:lnTo>
                  <a:pt x="293217" y="2540"/>
                </a:lnTo>
                <a:lnTo>
                  <a:pt x="301805" y="11430"/>
                </a:lnTo>
                <a:lnTo>
                  <a:pt x="306958" y="21590"/>
                </a:lnTo>
                <a:lnTo>
                  <a:pt x="307740" y="33020"/>
                </a:lnTo>
                <a:lnTo>
                  <a:pt x="303212" y="41910"/>
                </a:lnTo>
                <a:lnTo>
                  <a:pt x="287645" y="71120"/>
                </a:lnTo>
                <a:lnTo>
                  <a:pt x="278638" y="102870"/>
                </a:lnTo>
                <a:lnTo>
                  <a:pt x="272755" y="138430"/>
                </a:lnTo>
                <a:lnTo>
                  <a:pt x="266560" y="173990"/>
                </a:lnTo>
                <a:lnTo>
                  <a:pt x="353186" y="173990"/>
                </a:lnTo>
                <a:lnTo>
                  <a:pt x="353186" y="179070"/>
                </a:lnTo>
                <a:lnTo>
                  <a:pt x="349859" y="186690"/>
                </a:lnTo>
                <a:lnTo>
                  <a:pt x="343192" y="186690"/>
                </a:lnTo>
                <a:lnTo>
                  <a:pt x="273215" y="213360"/>
                </a:lnTo>
                <a:lnTo>
                  <a:pt x="264941" y="214630"/>
                </a:lnTo>
                <a:lnTo>
                  <a:pt x="259476" y="217170"/>
                </a:lnTo>
                <a:lnTo>
                  <a:pt x="255884" y="223520"/>
                </a:lnTo>
                <a:lnTo>
                  <a:pt x="253225" y="231140"/>
                </a:lnTo>
                <a:lnTo>
                  <a:pt x="248746" y="243840"/>
                </a:lnTo>
                <a:lnTo>
                  <a:pt x="241041" y="266700"/>
                </a:lnTo>
                <a:lnTo>
                  <a:pt x="236562" y="279400"/>
                </a:lnTo>
                <a:lnTo>
                  <a:pt x="327341" y="279400"/>
                </a:lnTo>
                <a:lnTo>
                  <a:pt x="339864" y="284480"/>
                </a:lnTo>
                <a:lnTo>
                  <a:pt x="349648" y="288290"/>
                </a:lnTo>
                <a:lnTo>
                  <a:pt x="358182" y="295910"/>
                </a:lnTo>
                <a:lnTo>
                  <a:pt x="364219" y="304800"/>
                </a:lnTo>
                <a:lnTo>
                  <a:pt x="364410" y="306070"/>
                </a:lnTo>
                <a:lnTo>
                  <a:pt x="269887" y="306070"/>
                </a:lnTo>
                <a:lnTo>
                  <a:pt x="269887" y="314960"/>
                </a:lnTo>
                <a:lnTo>
                  <a:pt x="253225" y="314960"/>
                </a:lnTo>
                <a:lnTo>
                  <a:pt x="246301" y="318770"/>
                </a:lnTo>
                <a:lnTo>
                  <a:pt x="240314" y="322580"/>
                </a:lnTo>
                <a:lnTo>
                  <a:pt x="234953" y="326390"/>
                </a:lnTo>
                <a:lnTo>
                  <a:pt x="232935" y="328930"/>
                </a:lnTo>
                <a:close/>
              </a:path>
              <a:path w="424180" h="671830">
                <a:moveTo>
                  <a:pt x="44977" y="528320"/>
                </a:moveTo>
                <a:lnTo>
                  <a:pt x="14053" y="499110"/>
                </a:lnTo>
                <a:lnTo>
                  <a:pt x="117" y="448310"/>
                </a:lnTo>
                <a:lnTo>
                  <a:pt x="0" y="443230"/>
                </a:lnTo>
                <a:lnTo>
                  <a:pt x="3327" y="438150"/>
                </a:lnTo>
                <a:lnTo>
                  <a:pt x="3327" y="434340"/>
                </a:lnTo>
                <a:lnTo>
                  <a:pt x="18789" y="403860"/>
                </a:lnTo>
                <a:lnTo>
                  <a:pt x="34566" y="374650"/>
                </a:lnTo>
                <a:lnTo>
                  <a:pt x="49718" y="342900"/>
                </a:lnTo>
                <a:lnTo>
                  <a:pt x="70231" y="293370"/>
                </a:lnTo>
                <a:lnTo>
                  <a:pt x="81576" y="255270"/>
                </a:lnTo>
                <a:lnTo>
                  <a:pt x="86626" y="236220"/>
                </a:lnTo>
                <a:lnTo>
                  <a:pt x="89966" y="231140"/>
                </a:lnTo>
                <a:lnTo>
                  <a:pt x="83299" y="227330"/>
                </a:lnTo>
                <a:lnTo>
                  <a:pt x="83299" y="218440"/>
                </a:lnTo>
                <a:lnTo>
                  <a:pt x="70072" y="194310"/>
                </a:lnTo>
                <a:lnTo>
                  <a:pt x="64968" y="173990"/>
                </a:lnTo>
                <a:lnTo>
                  <a:pt x="67363" y="152400"/>
                </a:lnTo>
                <a:lnTo>
                  <a:pt x="76631" y="125730"/>
                </a:lnTo>
                <a:lnTo>
                  <a:pt x="99541" y="83820"/>
                </a:lnTo>
                <a:lnTo>
                  <a:pt x="129946" y="54610"/>
                </a:lnTo>
                <a:lnTo>
                  <a:pt x="144262" y="48260"/>
                </a:lnTo>
                <a:lnTo>
                  <a:pt x="157018" y="48260"/>
                </a:lnTo>
                <a:lnTo>
                  <a:pt x="167899" y="53340"/>
                </a:lnTo>
                <a:lnTo>
                  <a:pt x="176593" y="63500"/>
                </a:lnTo>
                <a:lnTo>
                  <a:pt x="182111" y="76200"/>
                </a:lnTo>
                <a:lnTo>
                  <a:pt x="183256" y="85090"/>
                </a:lnTo>
                <a:lnTo>
                  <a:pt x="179402" y="92710"/>
                </a:lnTo>
                <a:lnTo>
                  <a:pt x="169925" y="99060"/>
                </a:lnTo>
                <a:lnTo>
                  <a:pt x="154675" y="107950"/>
                </a:lnTo>
                <a:lnTo>
                  <a:pt x="142859" y="120650"/>
                </a:lnTo>
                <a:lnTo>
                  <a:pt x="132914" y="135890"/>
                </a:lnTo>
                <a:lnTo>
                  <a:pt x="123278" y="152400"/>
                </a:lnTo>
                <a:lnTo>
                  <a:pt x="121511" y="161290"/>
                </a:lnTo>
                <a:lnTo>
                  <a:pt x="121616" y="171450"/>
                </a:lnTo>
                <a:lnTo>
                  <a:pt x="124220" y="180340"/>
                </a:lnTo>
                <a:lnTo>
                  <a:pt x="129946" y="186690"/>
                </a:lnTo>
                <a:lnTo>
                  <a:pt x="136613" y="191770"/>
                </a:lnTo>
                <a:lnTo>
                  <a:pt x="139941" y="200660"/>
                </a:lnTo>
                <a:lnTo>
                  <a:pt x="143268" y="204470"/>
                </a:lnTo>
                <a:lnTo>
                  <a:pt x="161338" y="233680"/>
                </a:lnTo>
                <a:lnTo>
                  <a:pt x="170345" y="257810"/>
                </a:lnTo>
                <a:lnTo>
                  <a:pt x="169979" y="283210"/>
                </a:lnTo>
                <a:lnTo>
                  <a:pt x="159931" y="314960"/>
                </a:lnTo>
                <a:lnTo>
                  <a:pt x="179920" y="328930"/>
                </a:lnTo>
                <a:lnTo>
                  <a:pt x="232935" y="328930"/>
                </a:lnTo>
                <a:lnTo>
                  <a:pt x="229908" y="332740"/>
                </a:lnTo>
                <a:lnTo>
                  <a:pt x="226568" y="332740"/>
                </a:lnTo>
                <a:lnTo>
                  <a:pt x="223240" y="336550"/>
                </a:lnTo>
                <a:lnTo>
                  <a:pt x="143268" y="336550"/>
                </a:lnTo>
                <a:lnTo>
                  <a:pt x="113284" y="403860"/>
                </a:lnTo>
                <a:lnTo>
                  <a:pt x="109956" y="407670"/>
                </a:lnTo>
                <a:lnTo>
                  <a:pt x="109956" y="416560"/>
                </a:lnTo>
                <a:lnTo>
                  <a:pt x="113284" y="425450"/>
                </a:lnTo>
                <a:lnTo>
                  <a:pt x="113803" y="433070"/>
                </a:lnTo>
                <a:lnTo>
                  <a:pt x="116091" y="448310"/>
                </a:lnTo>
                <a:lnTo>
                  <a:pt x="116611" y="455930"/>
                </a:lnTo>
                <a:lnTo>
                  <a:pt x="108454" y="513080"/>
                </a:lnTo>
                <a:lnTo>
                  <a:pt x="66636" y="513080"/>
                </a:lnTo>
                <a:lnTo>
                  <a:pt x="55181" y="525780"/>
                </a:lnTo>
                <a:lnTo>
                  <a:pt x="44977" y="528320"/>
                </a:lnTo>
                <a:close/>
              </a:path>
              <a:path w="424180" h="671830">
                <a:moveTo>
                  <a:pt x="353186" y="173990"/>
                </a:moveTo>
                <a:lnTo>
                  <a:pt x="266560" y="173990"/>
                </a:lnTo>
                <a:lnTo>
                  <a:pt x="279571" y="167640"/>
                </a:lnTo>
                <a:lnTo>
                  <a:pt x="293211" y="161290"/>
                </a:lnTo>
                <a:lnTo>
                  <a:pt x="306851" y="156210"/>
                </a:lnTo>
                <a:lnTo>
                  <a:pt x="319862" y="152400"/>
                </a:lnTo>
                <a:lnTo>
                  <a:pt x="326529" y="147320"/>
                </a:lnTo>
                <a:lnTo>
                  <a:pt x="336524" y="147320"/>
                </a:lnTo>
                <a:lnTo>
                  <a:pt x="339864" y="152400"/>
                </a:lnTo>
                <a:lnTo>
                  <a:pt x="344753" y="156210"/>
                </a:lnTo>
                <a:lnTo>
                  <a:pt x="349021" y="161290"/>
                </a:lnTo>
                <a:lnTo>
                  <a:pt x="352041" y="167640"/>
                </a:lnTo>
                <a:lnTo>
                  <a:pt x="353186" y="173990"/>
                </a:lnTo>
                <a:close/>
              </a:path>
              <a:path w="424180" h="671830">
                <a:moveTo>
                  <a:pt x="327341" y="279400"/>
                </a:moveTo>
                <a:lnTo>
                  <a:pt x="236562" y="279400"/>
                </a:lnTo>
                <a:lnTo>
                  <a:pt x="263480" y="274320"/>
                </a:lnTo>
                <a:lnTo>
                  <a:pt x="289461" y="271780"/>
                </a:lnTo>
                <a:lnTo>
                  <a:pt x="314819" y="274320"/>
                </a:lnTo>
                <a:lnTo>
                  <a:pt x="327341" y="279400"/>
                </a:lnTo>
                <a:close/>
              </a:path>
              <a:path w="424180" h="671830">
                <a:moveTo>
                  <a:pt x="357532" y="389890"/>
                </a:moveTo>
                <a:lnTo>
                  <a:pt x="269887" y="389890"/>
                </a:lnTo>
                <a:lnTo>
                  <a:pt x="316534" y="328930"/>
                </a:lnTo>
                <a:lnTo>
                  <a:pt x="319191" y="318770"/>
                </a:lnTo>
                <a:lnTo>
                  <a:pt x="317785" y="312420"/>
                </a:lnTo>
                <a:lnTo>
                  <a:pt x="313255" y="307340"/>
                </a:lnTo>
                <a:lnTo>
                  <a:pt x="306539" y="306070"/>
                </a:lnTo>
                <a:lnTo>
                  <a:pt x="364410" y="306070"/>
                </a:lnTo>
                <a:lnTo>
                  <a:pt x="366509" y="320040"/>
                </a:lnTo>
                <a:lnTo>
                  <a:pt x="367138" y="335280"/>
                </a:lnTo>
                <a:lnTo>
                  <a:pt x="364015" y="349250"/>
                </a:lnTo>
                <a:lnTo>
                  <a:pt x="357142" y="359410"/>
                </a:lnTo>
                <a:lnTo>
                  <a:pt x="346519" y="368300"/>
                </a:lnTo>
                <a:lnTo>
                  <a:pt x="343192" y="368300"/>
                </a:lnTo>
                <a:lnTo>
                  <a:pt x="336524" y="377190"/>
                </a:lnTo>
                <a:lnTo>
                  <a:pt x="343192" y="381000"/>
                </a:lnTo>
                <a:lnTo>
                  <a:pt x="349859" y="381000"/>
                </a:lnTo>
                <a:lnTo>
                  <a:pt x="353186" y="386080"/>
                </a:lnTo>
                <a:lnTo>
                  <a:pt x="357532" y="389890"/>
                </a:lnTo>
                <a:close/>
              </a:path>
              <a:path w="424180" h="671830">
                <a:moveTo>
                  <a:pt x="365240" y="398780"/>
                </a:moveTo>
                <a:lnTo>
                  <a:pt x="226568" y="398780"/>
                </a:lnTo>
                <a:lnTo>
                  <a:pt x="239636" y="389890"/>
                </a:lnTo>
                <a:lnTo>
                  <a:pt x="248645" y="372110"/>
                </a:lnTo>
                <a:lnTo>
                  <a:pt x="253280" y="346710"/>
                </a:lnTo>
                <a:lnTo>
                  <a:pt x="253225" y="314960"/>
                </a:lnTo>
                <a:lnTo>
                  <a:pt x="269887" y="314960"/>
                </a:lnTo>
                <a:lnTo>
                  <a:pt x="269315" y="355600"/>
                </a:lnTo>
                <a:lnTo>
                  <a:pt x="263220" y="386080"/>
                </a:lnTo>
                <a:lnTo>
                  <a:pt x="266560" y="386080"/>
                </a:lnTo>
                <a:lnTo>
                  <a:pt x="266560" y="389890"/>
                </a:lnTo>
                <a:lnTo>
                  <a:pt x="357532" y="389890"/>
                </a:lnTo>
                <a:lnTo>
                  <a:pt x="361878" y="393700"/>
                </a:lnTo>
                <a:lnTo>
                  <a:pt x="365240" y="398780"/>
                </a:lnTo>
                <a:close/>
              </a:path>
              <a:path w="424180" h="671830">
                <a:moveTo>
                  <a:pt x="370118" y="420370"/>
                </a:moveTo>
                <a:lnTo>
                  <a:pt x="169925" y="420370"/>
                </a:lnTo>
                <a:lnTo>
                  <a:pt x="162949" y="398780"/>
                </a:lnTo>
                <a:lnTo>
                  <a:pt x="156597" y="377190"/>
                </a:lnTo>
                <a:lnTo>
                  <a:pt x="150244" y="356870"/>
                </a:lnTo>
                <a:lnTo>
                  <a:pt x="143268" y="336550"/>
                </a:lnTo>
                <a:lnTo>
                  <a:pt x="223240" y="336550"/>
                </a:lnTo>
                <a:lnTo>
                  <a:pt x="223283" y="342900"/>
                </a:lnTo>
                <a:lnTo>
                  <a:pt x="223543" y="350520"/>
                </a:lnTo>
                <a:lnTo>
                  <a:pt x="209905" y="350520"/>
                </a:lnTo>
                <a:lnTo>
                  <a:pt x="194083" y="359410"/>
                </a:lnTo>
                <a:lnTo>
                  <a:pt x="185754" y="365760"/>
                </a:lnTo>
                <a:lnTo>
                  <a:pt x="183671" y="372110"/>
                </a:lnTo>
                <a:lnTo>
                  <a:pt x="186588" y="381000"/>
                </a:lnTo>
                <a:lnTo>
                  <a:pt x="191743" y="397510"/>
                </a:lnTo>
                <a:lnTo>
                  <a:pt x="197832" y="405130"/>
                </a:lnTo>
                <a:lnTo>
                  <a:pt x="205796" y="407670"/>
                </a:lnTo>
                <a:lnTo>
                  <a:pt x="369142" y="407670"/>
                </a:lnTo>
                <a:lnTo>
                  <a:pt x="370523" y="412750"/>
                </a:lnTo>
                <a:lnTo>
                  <a:pt x="370118" y="420370"/>
                </a:lnTo>
                <a:close/>
              </a:path>
              <a:path w="424180" h="671830">
                <a:moveTo>
                  <a:pt x="369142" y="407670"/>
                </a:moveTo>
                <a:lnTo>
                  <a:pt x="205796" y="407670"/>
                </a:lnTo>
                <a:lnTo>
                  <a:pt x="216573" y="403860"/>
                </a:lnTo>
                <a:lnTo>
                  <a:pt x="214127" y="389890"/>
                </a:lnTo>
                <a:lnTo>
                  <a:pt x="211991" y="377190"/>
                </a:lnTo>
                <a:lnTo>
                  <a:pt x="210479" y="363220"/>
                </a:lnTo>
                <a:lnTo>
                  <a:pt x="209905" y="350520"/>
                </a:lnTo>
                <a:lnTo>
                  <a:pt x="223543" y="350520"/>
                </a:lnTo>
                <a:lnTo>
                  <a:pt x="223760" y="356870"/>
                </a:lnTo>
                <a:lnTo>
                  <a:pt x="224904" y="372110"/>
                </a:lnTo>
                <a:lnTo>
                  <a:pt x="226048" y="386080"/>
                </a:lnTo>
                <a:lnTo>
                  <a:pt x="226568" y="398780"/>
                </a:lnTo>
                <a:lnTo>
                  <a:pt x="365240" y="398780"/>
                </a:lnTo>
                <a:lnTo>
                  <a:pt x="367761" y="402590"/>
                </a:lnTo>
                <a:lnTo>
                  <a:pt x="369142" y="407670"/>
                </a:lnTo>
                <a:close/>
              </a:path>
              <a:path w="424180" h="671830">
                <a:moveTo>
                  <a:pt x="153687" y="495300"/>
                </a:moveTo>
                <a:lnTo>
                  <a:pt x="125361" y="453390"/>
                </a:lnTo>
                <a:lnTo>
                  <a:pt x="124891" y="436880"/>
                </a:lnTo>
                <a:lnTo>
                  <a:pt x="126606" y="420370"/>
                </a:lnTo>
                <a:lnTo>
                  <a:pt x="126606" y="416560"/>
                </a:lnTo>
                <a:lnTo>
                  <a:pt x="154933" y="416560"/>
                </a:lnTo>
                <a:lnTo>
                  <a:pt x="162429" y="417830"/>
                </a:lnTo>
                <a:lnTo>
                  <a:pt x="169925" y="420370"/>
                </a:lnTo>
                <a:lnTo>
                  <a:pt x="370118" y="420370"/>
                </a:lnTo>
                <a:lnTo>
                  <a:pt x="306539" y="452120"/>
                </a:lnTo>
                <a:lnTo>
                  <a:pt x="292431" y="458470"/>
                </a:lnTo>
                <a:lnTo>
                  <a:pt x="283187" y="469900"/>
                </a:lnTo>
                <a:lnTo>
                  <a:pt x="236562" y="469900"/>
                </a:lnTo>
                <a:lnTo>
                  <a:pt x="229066" y="472440"/>
                </a:lnTo>
                <a:lnTo>
                  <a:pt x="214074" y="474980"/>
                </a:lnTo>
                <a:lnTo>
                  <a:pt x="206578" y="478790"/>
                </a:lnTo>
                <a:lnTo>
                  <a:pt x="198562" y="481330"/>
                </a:lnTo>
                <a:lnTo>
                  <a:pt x="181282" y="487680"/>
                </a:lnTo>
                <a:lnTo>
                  <a:pt x="173266" y="491490"/>
                </a:lnTo>
                <a:lnTo>
                  <a:pt x="163319" y="494030"/>
                </a:lnTo>
                <a:lnTo>
                  <a:pt x="153687" y="495300"/>
                </a:lnTo>
                <a:close/>
              </a:path>
              <a:path w="424180" h="671830">
                <a:moveTo>
                  <a:pt x="360679" y="610870"/>
                </a:moveTo>
                <a:lnTo>
                  <a:pt x="313207" y="610870"/>
                </a:lnTo>
                <a:lnTo>
                  <a:pt x="293217" y="557530"/>
                </a:lnTo>
                <a:lnTo>
                  <a:pt x="286550" y="553720"/>
                </a:lnTo>
                <a:lnTo>
                  <a:pt x="283209" y="553720"/>
                </a:lnTo>
                <a:lnTo>
                  <a:pt x="255774" y="548640"/>
                </a:lnTo>
                <a:lnTo>
                  <a:pt x="241146" y="537210"/>
                </a:lnTo>
                <a:lnTo>
                  <a:pt x="235888" y="516890"/>
                </a:lnTo>
                <a:lnTo>
                  <a:pt x="236437" y="488950"/>
                </a:lnTo>
                <a:lnTo>
                  <a:pt x="236562" y="469900"/>
                </a:lnTo>
                <a:lnTo>
                  <a:pt x="283187" y="469900"/>
                </a:lnTo>
                <a:lnTo>
                  <a:pt x="281133" y="472440"/>
                </a:lnTo>
                <a:lnTo>
                  <a:pt x="274207" y="488950"/>
                </a:lnTo>
                <a:lnTo>
                  <a:pt x="273215" y="509270"/>
                </a:lnTo>
                <a:lnTo>
                  <a:pt x="423619" y="509270"/>
                </a:lnTo>
                <a:lnTo>
                  <a:pt x="423470" y="511810"/>
                </a:lnTo>
                <a:lnTo>
                  <a:pt x="419823" y="521970"/>
                </a:lnTo>
                <a:lnTo>
                  <a:pt x="359017" y="521970"/>
                </a:lnTo>
                <a:lnTo>
                  <a:pt x="340796" y="527050"/>
                </a:lnTo>
                <a:lnTo>
                  <a:pt x="323202" y="535940"/>
                </a:lnTo>
                <a:lnTo>
                  <a:pt x="333768" y="558800"/>
                </a:lnTo>
                <a:lnTo>
                  <a:pt x="345273" y="581660"/>
                </a:lnTo>
                <a:lnTo>
                  <a:pt x="357404" y="604520"/>
                </a:lnTo>
                <a:lnTo>
                  <a:pt x="360679" y="610870"/>
                </a:lnTo>
                <a:close/>
              </a:path>
              <a:path w="424180" h="671830">
                <a:moveTo>
                  <a:pt x="423619" y="509270"/>
                </a:moveTo>
                <a:lnTo>
                  <a:pt x="283209" y="509270"/>
                </a:lnTo>
                <a:lnTo>
                  <a:pt x="286550" y="504190"/>
                </a:lnTo>
                <a:lnTo>
                  <a:pt x="309090" y="490220"/>
                </a:lnTo>
                <a:lnTo>
                  <a:pt x="331944" y="481330"/>
                </a:lnTo>
                <a:lnTo>
                  <a:pt x="355424" y="474980"/>
                </a:lnTo>
                <a:lnTo>
                  <a:pt x="379844" y="473710"/>
                </a:lnTo>
                <a:lnTo>
                  <a:pt x="389264" y="477520"/>
                </a:lnTo>
                <a:lnTo>
                  <a:pt x="397748" y="480060"/>
                </a:lnTo>
                <a:lnTo>
                  <a:pt x="405608" y="483870"/>
                </a:lnTo>
                <a:lnTo>
                  <a:pt x="413156" y="486410"/>
                </a:lnTo>
                <a:lnTo>
                  <a:pt x="420761" y="494030"/>
                </a:lnTo>
                <a:lnTo>
                  <a:pt x="423991" y="502920"/>
                </a:lnTo>
                <a:lnTo>
                  <a:pt x="423619" y="509270"/>
                </a:lnTo>
                <a:close/>
              </a:path>
              <a:path w="424180" h="671830">
                <a:moveTo>
                  <a:pt x="86626" y="671830"/>
                </a:moveTo>
                <a:lnTo>
                  <a:pt x="67782" y="666750"/>
                </a:lnTo>
                <a:lnTo>
                  <a:pt x="55808" y="655320"/>
                </a:lnTo>
                <a:lnTo>
                  <a:pt x="50081" y="637540"/>
                </a:lnTo>
                <a:lnTo>
                  <a:pt x="49974" y="614680"/>
                </a:lnTo>
                <a:lnTo>
                  <a:pt x="54453" y="590550"/>
                </a:lnTo>
                <a:lnTo>
                  <a:pt x="58305" y="566420"/>
                </a:lnTo>
                <a:lnTo>
                  <a:pt x="62158" y="539750"/>
                </a:lnTo>
                <a:lnTo>
                  <a:pt x="66636" y="513080"/>
                </a:lnTo>
                <a:lnTo>
                  <a:pt x="108454" y="513080"/>
                </a:lnTo>
                <a:lnTo>
                  <a:pt x="102036" y="558800"/>
                </a:lnTo>
                <a:lnTo>
                  <a:pt x="95531" y="609600"/>
                </a:lnTo>
                <a:lnTo>
                  <a:pt x="89966" y="659130"/>
                </a:lnTo>
                <a:lnTo>
                  <a:pt x="86626" y="662940"/>
                </a:lnTo>
                <a:lnTo>
                  <a:pt x="86626" y="671830"/>
                </a:lnTo>
                <a:close/>
              </a:path>
              <a:path w="424180" h="671830">
                <a:moveTo>
                  <a:pt x="411081" y="533400"/>
                </a:moveTo>
                <a:lnTo>
                  <a:pt x="405302" y="533400"/>
                </a:lnTo>
                <a:lnTo>
                  <a:pt x="399834" y="530860"/>
                </a:lnTo>
                <a:lnTo>
                  <a:pt x="378489" y="521970"/>
                </a:lnTo>
                <a:lnTo>
                  <a:pt x="419823" y="521970"/>
                </a:lnTo>
                <a:lnTo>
                  <a:pt x="416234" y="529590"/>
                </a:lnTo>
                <a:lnTo>
                  <a:pt x="411081" y="533400"/>
                </a:lnTo>
                <a:close/>
              </a:path>
              <a:path w="424180" h="671830">
                <a:moveTo>
                  <a:pt x="369849" y="668020"/>
                </a:moveTo>
                <a:lnTo>
                  <a:pt x="349859" y="668020"/>
                </a:lnTo>
                <a:lnTo>
                  <a:pt x="315030" y="656590"/>
                </a:lnTo>
                <a:lnTo>
                  <a:pt x="249120" y="624840"/>
                </a:lnTo>
                <a:lnTo>
                  <a:pt x="210434" y="591820"/>
                </a:lnTo>
                <a:lnTo>
                  <a:pt x="192733" y="571500"/>
                </a:lnTo>
                <a:lnTo>
                  <a:pt x="183260" y="561340"/>
                </a:lnTo>
                <a:lnTo>
                  <a:pt x="176593" y="553720"/>
                </a:lnTo>
                <a:lnTo>
                  <a:pt x="176593" y="527050"/>
                </a:lnTo>
                <a:lnTo>
                  <a:pt x="193255" y="527050"/>
                </a:lnTo>
                <a:lnTo>
                  <a:pt x="199910" y="535940"/>
                </a:lnTo>
                <a:lnTo>
                  <a:pt x="203250" y="544830"/>
                </a:lnTo>
                <a:lnTo>
                  <a:pt x="226417" y="570230"/>
                </a:lnTo>
                <a:lnTo>
                  <a:pt x="251147" y="590550"/>
                </a:lnTo>
                <a:lnTo>
                  <a:pt x="277751" y="603250"/>
                </a:lnTo>
                <a:lnTo>
                  <a:pt x="306539" y="610870"/>
                </a:lnTo>
                <a:lnTo>
                  <a:pt x="360679" y="610870"/>
                </a:lnTo>
                <a:lnTo>
                  <a:pt x="369849" y="628650"/>
                </a:lnTo>
                <a:lnTo>
                  <a:pt x="371721" y="636270"/>
                </a:lnTo>
                <a:lnTo>
                  <a:pt x="372344" y="645160"/>
                </a:lnTo>
                <a:lnTo>
                  <a:pt x="371721" y="655320"/>
                </a:lnTo>
                <a:lnTo>
                  <a:pt x="369849" y="662940"/>
                </a:lnTo>
                <a:lnTo>
                  <a:pt x="369849" y="66802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31734" y="2561132"/>
            <a:ext cx="50800" cy="189230"/>
          </a:xfrm>
          <a:custGeom>
            <a:avLst/>
            <a:gdLst/>
            <a:ahLst/>
            <a:cxnLst/>
            <a:rect l="l" t="t" r="r" b="b"/>
            <a:pathLst>
              <a:path w="50800" h="189230">
                <a:moveTo>
                  <a:pt x="29819" y="189001"/>
                </a:moveTo>
                <a:lnTo>
                  <a:pt x="22933" y="183165"/>
                </a:lnTo>
                <a:lnTo>
                  <a:pt x="16981" y="178565"/>
                </a:lnTo>
                <a:lnTo>
                  <a:pt x="11651" y="174788"/>
                </a:lnTo>
                <a:lnTo>
                  <a:pt x="6629" y="171424"/>
                </a:lnTo>
                <a:lnTo>
                  <a:pt x="0" y="162636"/>
                </a:lnTo>
                <a:lnTo>
                  <a:pt x="0" y="153835"/>
                </a:lnTo>
                <a:lnTo>
                  <a:pt x="7456" y="116818"/>
                </a:lnTo>
                <a:lnTo>
                  <a:pt x="14909" y="78565"/>
                </a:lnTo>
                <a:lnTo>
                  <a:pt x="22363" y="39488"/>
                </a:lnTo>
                <a:lnTo>
                  <a:pt x="29819" y="0"/>
                </a:lnTo>
                <a:lnTo>
                  <a:pt x="41776" y="10024"/>
                </a:lnTo>
                <a:lnTo>
                  <a:pt x="48453" y="20874"/>
                </a:lnTo>
                <a:lnTo>
                  <a:pt x="50782" y="33373"/>
                </a:lnTo>
                <a:lnTo>
                  <a:pt x="49695" y="48348"/>
                </a:lnTo>
                <a:lnTo>
                  <a:pt x="43332" y="82070"/>
                </a:lnTo>
                <a:lnTo>
                  <a:pt x="38519" y="117027"/>
                </a:lnTo>
                <a:lnTo>
                  <a:pt x="34325" y="152808"/>
                </a:lnTo>
                <a:lnTo>
                  <a:pt x="29819" y="189001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92399" y="3075546"/>
            <a:ext cx="182245" cy="324485"/>
          </a:xfrm>
          <a:custGeom>
            <a:avLst/>
            <a:gdLst/>
            <a:ahLst/>
            <a:cxnLst/>
            <a:rect l="l" t="t" r="r" b="b"/>
            <a:pathLst>
              <a:path w="182244" h="324485">
                <a:moveTo>
                  <a:pt x="20816" y="271181"/>
                </a:moveTo>
                <a:lnTo>
                  <a:pt x="16604" y="268511"/>
                </a:lnTo>
                <a:lnTo>
                  <a:pt x="12080" y="262966"/>
                </a:lnTo>
                <a:lnTo>
                  <a:pt x="2760" y="245369"/>
                </a:lnTo>
                <a:lnTo>
                  <a:pt x="0" y="230646"/>
                </a:lnTo>
                <a:lnTo>
                  <a:pt x="4112" y="216744"/>
                </a:lnTo>
                <a:lnTo>
                  <a:pt x="15408" y="201612"/>
                </a:lnTo>
                <a:lnTo>
                  <a:pt x="32888" y="179286"/>
                </a:lnTo>
                <a:lnTo>
                  <a:pt x="67859" y="136282"/>
                </a:lnTo>
                <a:lnTo>
                  <a:pt x="85347" y="113957"/>
                </a:lnTo>
                <a:lnTo>
                  <a:pt x="97262" y="96834"/>
                </a:lnTo>
                <a:lnTo>
                  <a:pt x="108240" y="78892"/>
                </a:lnTo>
                <a:lnTo>
                  <a:pt x="118592" y="60950"/>
                </a:lnTo>
                <a:lnTo>
                  <a:pt x="128628" y="43827"/>
                </a:lnTo>
                <a:lnTo>
                  <a:pt x="128628" y="39446"/>
                </a:lnTo>
                <a:lnTo>
                  <a:pt x="131968" y="30683"/>
                </a:lnTo>
                <a:lnTo>
                  <a:pt x="131968" y="26301"/>
                </a:lnTo>
                <a:lnTo>
                  <a:pt x="131235" y="16646"/>
                </a:lnTo>
                <a:lnTo>
                  <a:pt x="133629" y="8221"/>
                </a:lnTo>
                <a:lnTo>
                  <a:pt x="138523" y="2261"/>
                </a:lnTo>
                <a:lnTo>
                  <a:pt x="145291" y="0"/>
                </a:lnTo>
                <a:lnTo>
                  <a:pt x="152727" y="823"/>
                </a:lnTo>
                <a:lnTo>
                  <a:pt x="181914" y="48763"/>
                </a:lnTo>
                <a:lnTo>
                  <a:pt x="179416" y="70469"/>
                </a:lnTo>
                <a:lnTo>
                  <a:pt x="171923" y="87655"/>
                </a:lnTo>
                <a:lnTo>
                  <a:pt x="158915" y="107379"/>
                </a:lnTo>
                <a:lnTo>
                  <a:pt x="131653" y="146823"/>
                </a:lnTo>
                <a:lnTo>
                  <a:pt x="118646" y="166547"/>
                </a:lnTo>
                <a:lnTo>
                  <a:pt x="132075" y="197436"/>
                </a:lnTo>
                <a:lnTo>
                  <a:pt x="92211" y="197436"/>
                </a:lnTo>
                <a:lnTo>
                  <a:pt x="85347" y="201612"/>
                </a:lnTo>
                <a:lnTo>
                  <a:pt x="72332" y="217360"/>
                </a:lnTo>
                <a:lnTo>
                  <a:pt x="45065" y="247218"/>
                </a:lnTo>
                <a:lnTo>
                  <a:pt x="32057" y="262966"/>
                </a:lnTo>
                <a:lnTo>
                  <a:pt x="25655" y="269743"/>
                </a:lnTo>
                <a:lnTo>
                  <a:pt x="20816" y="271181"/>
                </a:lnTo>
                <a:close/>
              </a:path>
              <a:path w="182244" h="324485">
                <a:moveTo>
                  <a:pt x="145964" y="324467"/>
                </a:moveTo>
                <a:lnTo>
                  <a:pt x="137377" y="318849"/>
                </a:lnTo>
                <a:lnTo>
                  <a:pt x="131911" y="308302"/>
                </a:lnTo>
                <a:lnTo>
                  <a:pt x="128628" y="293649"/>
                </a:lnTo>
                <a:lnTo>
                  <a:pt x="123115" y="273240"/>
                </a:lnTo>
                <a:lnTo>
                  <a:pt x="110799" y="230646"/>
                </a:lnTo>
                <a:lnTo>
                  <a:pt x="105324" y="210375"/>
                </a:lnTo>
                <a:lnTo>
                  <a:pt x="102202" y="202228"/>
                </a:lnTo>
                <a:lnTo>
                  <a:pt x="97831" y="197778"/>
                </a:lnTo>
                <a:lnTo>
                  <a:pt x="92211" y="197436"/>
                </a:lnTo>
                <a:lnTo>
                  <a:pt x="132075" y="197436"/>
                </a:lnTo>
                <a:lnTo>
                  <a:pt x="134722" y="203526"/>
                </a:lnTo>
                <a:lnTo>
                  <a:pt x="147369" y="242149"/>
                </a:lnTo>
                <a:lnTo>
                  <a:pt x="155645" y="282417"/>
                </a:lnTo>
                <a:lnTo>
                  <a:pt x="158613" y="324332"/>
                </a:lnTo>
                <a:lnTo>
                  <a:pt x="145964" y="32446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95304" y="3078835"/>
            <a:ext cx="141827" cy="3200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21041" y="4686876"/>
            <a:ext cx="328930" cy="627380"/>
          </a:xfrm>
          <a:custGeom>
            <a:avLst/>
            <a:gdLst/>
            <a:ahLst/>
            <a:cxnLst/>
            <a:rect l="l" t="t" r="r" b="b"/>
            <a:pathLst>
              <a:path w="328930" h="627379">
                <a:moveTo>
                  <a:pt x="107945" y="87915"/>
                </a:moveTo>
                <a:lnTo>
                  <a:pt x="98678" y="83420"/>
                </a:lnTo>
                <a:lnTo>
                  <a:pt x="90741" y="75407"/>
                </a:lnTo>
                <a:lnTo>
                  <a:pt x="82888" y="58900"/>
                </a:lnTo>
                <a:lnTo>
                  <a:pt x="81260" y="46495"/>
                </a:lnTo>
                <a:lnTo>
                  <a:pt x="86748" y="37606"/>
                </a:lnTo>
                <a:lnTo>
                  <a:pt x="100241" y="31643"/>
                </a:lnTo>
                <a:lnTo>
                  <a:pt x="132338" y="17972"/>
                </a:lnTo>
                <a:lnTo>
                  <a:pt x="164880" y="6643"/>
                </a:lnTo>
                <a:lnTo>
                  <a:pt x="198314" y="0"/>
                </a:lnTo>
                <a:lnTo>
                  <a:pt x="233083" y="388"/>
                </a:lnTo>
                <a:lnTo>
                  <a:pt x="259106" y="6738"/>
                </a:lnTo>
                <a:lnTo>
                  <a:pt x="281125" y="23053"/>
                </a:lnTo>
                <a:lnTo>
                  <a:pt x="300475" y="45228"/>
                </a:lnTo>
                <a:lnTo>
                  <a:pt x="303415" y="49134"/>
                </a:lnTo>
                <a:lnTo>
                  <a:pt x="202764" y="49134"/>
                </a:lnTo>
                <a:lnTo>
                  <a:pt x="176742" y="54314"/>
                </a:lnTo>
                <a:lnTo>
                  <a:pt x="151611" y="65354"/>
                </a:lnTo>
                <a:lnTo>
                  <a:pt x="128701" y="81668"/>
                </a:lnTo>
                <a:lnTo>
                  <a:pt x="118100" y="87721"/>
                </a:lnTo>
                <a:lnTo>
                  <a:pt x="107945" y="87915"/>
                </a:lnTo>
                <a:close/>
              </a:path>
              <a:path w="328930" h="627379">
                <a:moveTo>
                  <a:pt x="249696" y="256712"/>
                </a:moveTo>
                <a:lnTo>
                  <a:pt x="171399" y="256712"/>
                </a:lnTo>
                <a:lnTo>
                  <a:pt x="188010" y="246557"/>
                </a:lnTo>
                <a:lnTo>
                  <a:pt x="196759" y="240012"/>
                </a:lnTo>
                <a:lnTo>
                  <a:pt x="204622" y="231706"/>
                </a:lnTo>
                <a:lnTo>
                  <a:pt x="261556" y="119171"/>
                </a:lnTo>
                <a:lnTo>
                  <a:pt x="267043" y="95240"/>
                </a:lnTo>
                <a:lnTo>
                  <a:pt x="262743" y="73065"/>
                </a:lnTo>
                <a:lnTo>
                  <a:pt x="249547" y="56751"/>
                </a:lnTo>
                <a:lnTo>
                  <a:pt x="228345" y="50401"/>
                </a:lnTo>
                <a:lnTo>
                  <a:pt x="202764" y="49134"/>
                </a:lnTo>
                <a:lnTo>
                  <a:pt x="303415" y="49134"/>
                </a:lnTo>
                <a:lnTo>
                  <a:pt x="318490" y="69159"/>
                </a:lnTo>
                <a:lnTo>
                  <a:pt x="327755" y="85277"/>
                </a:lnTo>
                <a:lnTo>
                  <a:pt x="328540" y="103640"/>
                </a:lnTo>
                <a:lnTo>
                  <a:pt x="328542" y="104425"/>
                </a:lnTo>
                <a:lnTo>
                  <a:pt x="323157" y="124544"/>
                </a:lnTo>
                <a:lnTo>
                  <a:pt x="313740" y="144177"/>
                </a:lnTo>
                <a:lnTo>
                  <a:pt x="249696" y="256712"/>
                </a:lnTo>
                <a:close/>
              </a:path>
              <a:path w="328930" h="627379">
                <a:moveTo>
                  <a:pt x="200532" y="156687"/>
                </a:moveTo>
                <a:lnTo>
                  <a:pt x="90741" y="156687"/>
                </a:lnTo>
                <a:lnTo>
                  <a:pt x="111205" y="151901"/>
                </a:lnTo>
                <a:lnTo>
                  <a:pt x="129889" y="146527"/>
                </a:lnTo>
                <a:lnTo>
                  <a:pt x="168287" y="124942"/>
                </a:lnTo>
                <a:lnTo>
                  <a:pt x="179323" y="104325"/>
                </a:lnTo>
                <a:lnTo>
                  <a:pt x="185635" y="94165"/>
                </a:lnTo>
                <a:lnTo>
                  <a:pt x="195122" y="81668"/>
                </a:lnTo>
                <a:lnTo>
                  <a:pt x="199872" y="81668"/>
                </a:lnTo>
                <a:lnTo>
                  <a:pt x="202618" y="87428"/>
                </a:lnTo>
                <a:lnTo>
                  <a:pt x="203973" y="94655"/>
                </a:lnTo>
                <a:lnTo>
                  <a:pt x="204046" y="95240"/>
                </a:lnTo>
                <a:lnTo>
                  <a:pt x="204548" y="103640"/>
                </a:lnTo>
                <a:lnTo>
                  <a:pt x="204498" y="115271"/>
                </a:lnTo>
                <a:lnTo>
                  <a:pt x="203880" y="126991"/>
                </a:lnTo>
                <a:lnTo>
                  <a:pt x="200614" y="155123"/>
                </a:lnTo>
                <a:lnTo>
                  <a:pt x="200532" y="156687"/>
                </a:lnTo>
                <a:close/>
              </a:path>
              <a:path w="328930" h="627379">
                <a:moveTo>
                  <a:pt x="105056" y="310441"/>
                </a:moveTo>
                <a:lnTo>
                  <a:pt x="67017" y="262961"/>
                </a:lnTo>
                <a:lnTo>
                  <a:pt x="53364" y="194102"/>
                </a:lnTo>
                <a:lnTo>
                  <a:pt x="43294" y="125432"/>
                </a:lnTo>
                <a:lnTo>
                  <a:pt x="42186" y="115172"/>
                </a:lnTo>
                <a:lnTo>
                  <a:pt x="45079" y="104325"/>
                </a:lnTo>
                <a:lnTo>
                  <a:pt x="50638" y="94655"/>
                </a:lnTo>
                <a:lnTo>
                  <a:pt x="57538" y="87913"/>
                </a:lnTo>
                <a:lnTo>
                  <a:pt x="67318" y="83811"/>
                </a:lnTo>
                <a:lnTo>
                  <a:pt x="75327" y="87916"/>
                </a:lnTo>
                <a:lnTo>
                  <a:pt x="81553" y="96707"/>
                </a:lnTo>
                <a:lnTo>
                  <a:pt x="86004" y="106674"/>
                </a:lnTo>
                <a:lnTo>
                  <a:pt x="86744" y="119764"/>
                </a:lnTo>
                <a:lnTo>
                  <a:pt x="90001" y="143597"/>
                </a:lnTo>
                <a:lnTo>
                  <a:pt x="90741" y="156687"/>
                </a:lnTo>
                <a:lnTo>
                  <a:pt x="200532" y="156687"/>
                </a:lnTo>
                <a:lnTo>
                  <a:pt x="199872" y="169184"/>
                </a:lnTo>
                <a:lnTo>
                  <a:pt x="152425" y="169184"/>
                </a:lnTo>
                <a:lnTo>
                  <a:pt x="135820" y="179349"/>
                </a:lnTo>
                <a:lnTo>
                  <a:pt x="127072" y="185891"/>
                </a:lnTo>
                <a:lnTo>
                  <a:pt x="119194" y="194196"/>
                </a:lnTo>
                <a:lnTo>
                  <a:pt x="112321" y="196340"/>
                </a:lnTo>
                <a:lnTo>
                  <a:pt x="106762" y="202008"/>
                </a:lnTo>
                <a:lnTo>
                  <a:pt x="103870" y="210022"/>
                </a:lnTo>
                <a:lnTo>
                  <a:pt x="104978" y="219209"/>
                </a:lnTo>
                <a:lnTo>
                  <a:pt x="106534" y="228584"/>
                </a:lnTo>
                <a:lnTo>
                  <a:pt x="110315" y="237961"/>
                </a:lnTo>
                <a:lnTo>
                  <a:pt x="114986" y="247338"/>
                </a:lnTo>
                <a:lnTo>
                  <a:pt x="119214" y="256712"/>
                </a:lnTo>
                <a:lnTo>
                  <a:pt x="249696" y="256712"/>
                </a:lnTo>
                <a:lnTo>
                  <a:pt x="231902" y="287980"/>
                </a:lnTo>
                <a:lnTo>
                  <a:pt x="171399" y="287980"/>
                </a:lnTo>
                <a:lnTo>
                  <a:pt x="167918" y="293740"/>
                </a:lnTo>
                <a:lnTo>
                  <a:pt x="165195" y="300476"/>
                </a:lnTo>
                <a:lnTo>
                  <a:pt x="133451" y="300476"/>
                </a:lnTo>
                <a:lnTo>
                  <a:pt x="105056" y="310441"/>
                </a:lnTo>
                <a:close/>
              </a:path>
              <a:path w="328930" h="627379">
                <a:moveTo>
                  <a:pt x="171399" y="256712"/>
                </a:moveTo>
                <a:lnTo>
                  <a:pt x="119214" y="256712"/>
                </a:lnTo>
                <a:lnTo>
                  <a:pt x="124252" y="255638"/>
                </a:lnTo>
                <a:lnTo>
                  <a:pt x="131071" y="252807"/>
                </a:lnTo>
                <a:lnTo>
                  <a:pt x="150052" y="212173"/>
                </a:lnTo>
                <a:lnTo>
                  <a:pt x="157175" y="175445"/>
                </a:lnTo>
                <a:lnTo>
                  <a:pt x="152425" y="169184"/>
                </a:lnTo>
                <a:lnTo>
                  <a:pt x="199872" y="169184"/>
                </a:lnTo>
                <a:lnTo>
                  <a:pt x="184673" y="180032"/>
                </a:lnTo>
                <a:lnTo>
                  <a:pt x="177928" y="199670"/>
                </a:lnTo>
                <a:lnTo>
                  <a:pt x="173853" y="222823"/>
                </a:lnTo>
                <a:lnTo>
                  <a:pt x="166662" y="244215"/>
                </a:lnTo>
                <a:lnTo>
                  <a:pt x="166662" y="250464"/>
                </a:lnTo>
                <a:lnTo>
                  <a:pt x="171399" y="250464"/>
                </a:lnTo>
                <a:lnTo>
                  <a:pt x="171399" y="256712"/>
                </a:lnTo>
                <a:close/>
              </a:path>
              <a:path w="328930" h="627379">
                <a:moveTo>
                  <a:pt x="213510" y="311421"/>
                </a:moveTo>
                <a:lnTo>
                  <a:pt x="204984" y="310051"/>
                </a:lnTo>
                <a:lnTo>
                  <a:pt x="195122" y="300476"/>
                </a:lnTo>
                <a:lnTo>
                  <a:pt x="190085" y="295888"/>
                </a:lnTo>
                <a:lnTo>
                  <a:pt x="183265" y="291885"/>
                </a:lnTo>
                <a:lnTo>
                  <a:pt x="176443" y="289053"/>
                </a:lnTo>
                <a:lnTo>
                  <a:pt x="171399" y="287980"/>
                </a:lnTo>
                <a:lnTo>
                  <a:pt x="231902" y="287980"/>
                </a:lnTo>
                <a:lnTo>
                  <a:pt x="228345" y="294228"/>
                </a:lnTo>
                <a:lnTo>
                  <a:pt x="221149" y="305756"/>
                </a:lnTo>
                <a:lnTo>
                  <a:pt x="213510" y="311421"/>
                </a:lnTo>
                <a:close/>
              </a:path>
              <a:path w="328930" h="627379">
                <a:moveTo>
                  <a:pt x="38557" y="469272"/>
                </a:moveTo>
                <a:lnTo>
                  <a:pt x="2149" y="451007"/>
                </a:lnTo>
                <a:lnTo>
                  <a:pt x="0" y="441923"/>
                </a:lnTo>
                <a:lnTo>
                  <a:pt x="4079" y="434009"/>
                </a:lnTo>
                <a:lnTo>
                  <a:pt x="14833" y="425508"/>
                </a:lnTo>
                <a:lnTo>
                  <a:pt x="42487" y="411447"/>
                </a:lnTo>
                <a:lnTo>
                  <a:pt x="68805" y="397382"/>
                </a:lnTo>
                <a:lnTo>
                  <a:pt x="119214" y="369247"/>
                </a:lnTo>
                <a:lnTo>
                  <a:pt x="123952" y="369247"/>
                </a:lnTo>
                <a:lnTo>
                  <a:pt x="128698" y="356745"/>
                </a:lnTo>
                <a:lnTo>
                  <a:pt x="128701" y="350489"/>
                </a:lnTo>
                <a:lnTo>
                  <a:pt x="131447" y="340040"/>
                </a:lnTo>
                <a:lnTo>
                  <a:pt x="132857" y="327831"/>
                </a:lnTo>
                <a:lnTo>
                  <a:pt x="133377" y="314447"/>
                </a:lnTo>
                <a:lnTo>
                  <a:pt x="133451" y="300476"/>
                </a:lnTo>
                <a:lnTo>
                  <a:pt x="165195" y="300476"/>
                </a:lnTo>
                <a:lnTo>
                  <a:pt x="164879" y="301259"/>
                </a:lnTo>
                <a:lnTo>
                  <a:pt x="162752" y="309855"/>
                </a:lnTo>
                <a:lnTo>
                  <a:pt x="162599" y="311421"/>
                </a:lnTo>
                <a:lnTo>
                  <a:pt x="159692" y="344438"/>
                </a:lnTo>
                <a:lnTo>
                  <a:pt x="161918" y="356745"/>
                </a:lnTo>
                <a:lnTo>
                  <a:pt x="171259" y="359673"/>
                </a:lnTo>
                <a:lnTo>
                  <a:pt x="245603" y="359673"/>
                </a:lnTo>
                <a:lnTo>
                  <a:pt x="247319" y="362998"/>
                </a:lnTo>
                <a:lnTo>
                  <a:pt x="249991" y="373350"/>
                </a:lnTo>
                <a:lnTo>
                  <a:pt x="250882" y="384876"/>
                </a:lnTo>
                <a:lnTo>
                  <a:pt x="249991" y="396404"/>
                </a:lnTo>
                <a:lnTo>
                  <a:pt x="247319" y="406763"/>
                </a:lnTo>
                <a:lnTo>
                  <a:pt x="242943" y="415061"/>
                </a:lnTo>
                <a:lnTo>
                  <a:pt x="237234" y="421604"/>
                </a:lnTo>
                <a:lnTo>
                  <a:pt x="232441" y="425508"/>
                </a:lnTo>
                <a:lnTo>
                  <a:pt x="123952" y="425508"/>
                </a:lnTo>
                <a:lnTo>
                  <a:pt x="116836" y="426584"/>
                </a:lnTo>
                <a:lnTo>
                  <a:pt x="109721" y="429419"/>
                </a:lnTo>
                <a:lnTo>
                  <a:pt x="102606" y="433427"/>
                </a:lnTo>
                <a:lnTo>
                  <a:pt x="95491" y="438017"/>
                </a:lnTo>
                <a:lnTo>
                  <a:pt x="81258" y="443780"/>
                </a:lnTo>
                <a:lnTo>
                  <a:pt x="67024" y="451302"/>
                </a:lnTo>
                <a:lnTo>
                  <a:pt x="52789" y="459995"/>
                </a:lnTo>
                <a:lnTo>
                  <a:pt x="38557" y="469272"/>
                </a:lnTo>
                <a:close/>
              </a:path>
              <a:path w="328930" h="627379">
                <a:moveTo>
                  <a:pt x="245603" y="359673"/>
                </a:moveTo>
                <a:lnTo>
                  <a:pt x="171259" y="359673"/>
                </a:lnTo>
                <a:lnTo>
                  <a:pt x="190385" y="356737"/>
                </a:lnTo>
                <a:lnTo>
                  <a:pt x="198243" y="352246"/>
                </a:lnTo>
                <a:lnTo>
                  <a:pt x="206990" y="348927"/>
                </a:lnTo>
                <a:lnTo>
                  <a:pt x="215738" y="347951"/>
                </a:lnTo>
                <a:lnTo>
                  <a:pt x="223596" y="350489"/>
                </a:lnTo>
                <a:lnTo>
                  <a:pt x="231305" y="351563"/>
                </a:lnTo>
                <a:lnTo>
                  <a:pt x="239015" y="354396"/>
                </a:lnTo>
                <a:lnTo>
                  <a:pt x="244947" y="358402"/>
                </a:lnTo>
                <a:lnTo>
                  <a:pt x="245603" y="359673"/>
                </a:lnTo>
                <a:close/>
              </a:path>
              <a:path w="328930" h="627379">
                <a:moveTo>
                  <a:pt x="105872" y="626840"/>
                </a:moveTo>
                <a:lnTo>
                  <a:pt x="94308" y="621664"/>
                </a:lnTo>
                <a:lnTo>
                  <a:pt x="84523" y="610628"/>
                </a:lnTo>
                <a:lnTo>
                  <a:pt x="76517" y="594316"/>
                </a:lnTo>
                <a:lnTo>
                  <a:pt x="71767" y="594316"/>
                </a:lnTo>
                <a:lnTo>
                  <a:pt x="71767" y="588055"/>
                </a:lnTo>
                <a:lnTo>
                  <a:pt x="67017" y="581807"/>
                </a:lnTo>
                <a:lnTo>
                  <a:pt x="56641" y="544978"/>
                </a:lnTo>
                <a:lnTo>
                  <a:pt x="55160" y="521631"/>
                </a:lnTo>
                <a:lnTo>
                  <a:pt x="64355" y="501804"/>
                </a:lnTo>
                <a:lnTo>
                  <a:pt x="86004" y="475533"/>
                </a:lnTo>
                <a:lnTo>
                  <a:pt x="95939" y="465175"/>
                </a:lnTo>
                <a:lnTo>
                  <a:pt x="114023" y="442120"/>
                </a:lnTo>
                <a:lnTo>
                  <a:pt x="123952" y="431769"/>
                </a:lnTo>
                <a:lnTo>
                  <a:pt x="123952" y="425508"/>
                </a:lnTo>
                <a:lnTo>
                  <a:pt x="232441" y="425508"/>
                </a:lnTo>
                <a:lnTo>
                  <a:pt x="230637" y="426978"/>
                </a:lnTo>
                <a:lnTo>
                  <a:pt x="223596" y="431769"/>
                </a:lnTo>
                <a:lnTo>
                  <a:pt x="208771" y="445152"/>
                </a:lnTo>
                <a:lnTo>
                  <a:pt x="193944" y="459120"/>
                </a:lnTo>
                <a:lnTo>
                  <a:pt x="180894" y="476605"/>
                </a:lnTo>
                <a:lnTo>
                  <a:pt x="171399" y="500539"/>
                </a:lnTo>
                <a:lnTo>
                  <a:pt x="209359" y="500539"/>
                </a:lnTo>
                <a:lnTo>
                  <a:pt x="229601" y="503957"/>
                </a:lnTo>
                <a:lnTo>
                  <a:pt x="246727" y="513820"/>
                </a:lnTo>
                <a:lnTo>
                  <a:pt x="259403" y="529547"/>
                </a:lnTo>
                <a:lnTo>
                  <a:pt x="266293" y="550552"/>
                </a:lnTo>
                <a:lnTo>
                  <a:pt x="266518" y="569014"/>
                </a:lnTo>
                <a:lnTo>
                  <a:pt x="260959" y="585717"/>
                </a:lnTo>
                <a:lnTo>
                  <a:pt x="250952" y="598903"/>
                </a:lnTo>
                <a:lnTo>
                  <a:pt x="237832" y="606813"/>
                </a:lnTo>
                <a:lnTo>
                  <a:pt x="150423" y="620884"/>
                </a:lnTo>
                <a:lnTo>
                  <a:pt x="119214" y="625571"/>
                </a:lnTo>
                <a:lnTo>
                  <a:pt x="105872" y="62684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71485" y="4708097"/>
            <a:ext cx="178435" cy="610870"/>
          </a:xfrm>
          <a:custGeom>
            <a:avLst/>
            <a:gdLst/>
            <a:ahLst/>
            <a:cxnLst/>
            <a:rect l="l" t="t" r="r" b="b"/>
            <a:pathLst>
              <a:path w="178434" h="610870">
                <a:moveTo>
                  <a:pt x="41268" y="99221"/>
                </a:moveTo>
                <a:lnTo>
                  <a:pt x="30657" y="98927"/>
                </a:lnTo>
                <a:lnTo>
                  <a:pt x="20046" y="97460"/>
                </a:lnTo>
                <a:lnTo>
                  <a:pt x="9436" y="96579"/>
                </a:lnTo>
                <a:lnTo>
                  <a:pt x="5968" y="90896"/>
                </a:lnTo>
                <a:lnTo>
                  <a:pt x="2946" y="84038"/>
                </a:lnTo>
                <a:lnTo>
                  <a:pt x="810" y="77180"/>
                </a:lnTo>
                <a:lnTo>
                  <a:pt x="0" y="71497"/>
                </a:lnTo>
                <a:lnTo>
                  <a:pt x="9436" y="58962"/>
                </a:lnTo>
                <a:lnTo>
                  <a:pt x="14147" y="58962"/>
                </a:lnTo>
                <a:lnTo>
                  <a:pt x="29037" y="51617"/>
                </a:lnTo>
                <a:lnTo>
                  <a:pt x="44810" y="47210"/>
                </a:lnTo>
                <a:lnTo>
                  <a:pt x="60580" y="43976"/>
                </a:lnTo>
                <a:lnTo>
                  <a:pt x="75463" y="40153"/>
                </a:lnTo>
                <a:lnTo>
                  <a:pt x="86149" y="30850"/>
                </a:lnTo>
                <a:lnTo>
                  <a:pt x="97280" y="22133"/>
                </a:lnTo>
                <a:lnTo>
                  <a:pt x="109294" y="14591"/>
                </a:lnTo>
                <a:lnTo>
                  <a:pt x="122631" y="8810"/>
                </a:lnTo>
                <a:lnTo>
                  <a:pt x="131033" y="4308"/>
                </a:lnTo>
                <a:lnTo>
                  <a:pt x="140317" y="978"/>
                </a:lnTo>
                <a:lnTo>
                  <a:pt x="147832" y="0"/>
                </a:lnTo>
                <a:lnTo>
                  <a:pt x="150926" y="2548"/>
                </a:lnTo>
                <a:lnTo>
                  <a:pt x="157120" y="13028"/>
                </a:lnTo>
                <a:lnTo>
                  <a:pt x="161545" y="25270"/>
                </a:lnTo>
                <a:lnTo>
                  <a:pt x="164201" y="38687"/>
                </a:lnTo>
                <a:lnTo>
                  <a:pt x="165087" y="52688"/>
                </a:lnTo>
                <a:lnTo>
                  <a:pt x="169798" y="52688"/>
                </a:lnTo>
                <a:lnTo>
                  <a:pt x="160362" y="65236"/>
                </a:lnTo>
                <a:lnTo>
                  <a:pt x="157455" y="71497"/>
                </a:lnTo>
                <a:lnTo>
                  <a:pt x="108483" y="71497"/>
                </a:lnTo>
                <a:lnTo>
                  <a:pt x="94331" y="77180"/>
                </a:lnTo>
                <a:lnTo>
                  <a:pt x="66031" y="90896"/>
                </a:lnTo>
                <a:lnTo>
                  <a:pt x="51879" y="96579"/>
                </a:lnTo>
                <a:lnTo>
                  <a:pt x="41268" y="99221"/>
                </a:lnTo>
                <a:close/>
              </a:path>
              <a:path w="178434" h="610870">
                <a:moveTo>
                  <a:pt x="127455" y="235758"/>
                </a:moveTo>
                <a:lnTo>
                  <a:pt x="70311" y="235758"/>
                </a:lnTo>
                <a:lnTo>
                  <a:pt x="77828" y="230566"/>
                </a:lnTo>
                <a:lnTo>
                  <a:pt x="81807" y="219499"/>
                </a:lnTo>
                <a:lnTo>
                  <a:pt x="84899" y="203145"/>
                </a:lnTo>
                <a:lnTo>
                  <a:pt x="89245" y="171116"/>
                </a:lnTo>
                <a:lnTo>
                  <a:pt x="94919" y="139674"/>
                </a:lnTo>
                <a:lnTo>
                  <a:pt x="101480" y="107054"/>
                </a:lnTo>
                <a:lnTo>
                  <a:pt x="108483" y="71497"/>
                </a:lnTo>
                <a:lnTo>
                  <a:pt x="157455" y="71497"/>
                </a:lnTo>
                <a:lnTo>
                  <a:pt x="141943" y="104899"/>
                </a:lnTo>
                <a:lnTo>
                  <a:pt x="133248" y="147505"/>
                </a:lnTo>
                <a:lnTo>
                  <a:pt x="129859" y="191289"/>
                </a:lnTo>
                <a:lnTo>
                  <a:pt x="127355" y="234489"/>
                </a:lnTo>
                <a:lnTo>
                  <a:pt x="127455" y="235758"/>
                </a:lnTo>
                <a:close/>
              </a:path>
              <a:path w="178434" h="610870">
                <a:moveTo>
                  <a:pt x="177805" y="272093"/>
                </a:moveTo>
                <a:lnTo>
                  <a:pt x="141503" y="272093"/>
                </a:lnTo>
                <a:lnTo>
                  <a:pt x="148573" y="257891"/>
                </a:lnTo>
                <a:lnTo>
                  <a:pt x="155646" y="243102"/>
                </a:lnTo>
                <a:lnTo>
                  <a:pt x="162722" y="227138"/>
                </a:lnTo>
                <a:lnTo>
                  <a:pt x="169798" y="209406"/>
                </a:lnTo>
                <a:lnTo>
                  <a:pt x="173849" y="236639"/>
                </a:lnTo>
                <a:lnTo>
                  <a:pt x="177460" y="262692"/>
                </a:lnTo>
                <a:lnTo>
                  <a:pt x="177805" y="272093"/>
                </a:lnTo>
                <a:close/>
              </a:path>
              <a:path w="178434" h="610870">
                <a:moveTo>
                  <a:pt x="99047" y="610599"/>
                </a:moveTo>
                <a:lnTo>
                  <a:pt x="88510" y="606881"/>
                </a:lnTo>
                <a:lnTo>
                  <a:pt x="78414" y="604336"/>
                </a:lnTo>
                <a:lnTo>
                  <a:pt x="69202" y="601789"/>
                </a:lnTo>
                <a:lnTo>
                  <a:pt x="61315" y="598064"/>
                </a:lnTo>
                <a:lnTo>
                  <a:pt x="42155" y="585332"/>
                </a:lnTo>
                <a:lnTo>
                  <a:pt x="28300" y="566722"/>
                </a:lnTo>
                <a:lnTo>
                  <a:pt x="21519" y="543409"/>
                </a:lnTo>
                <a:lnTo>
                  <a:pt x="23583" y="516568"/>
                </a:lnTo>
                <a:lnTo>
                  <a:pt x="51879" y="384933"/>
                </a:lnTo>
                <a:lnTo>
                  <a:pt x="57704" y="355742"/>
                </a:lnTo>
                <a:lnTo>
                  <a:pt x="59550" y="325378"/>
                </a:lnTo>
                <a:lnTo>
                  <a:pt x="55204" y="295016"/>
                </a:lnTo>
                <a:lnTo>
                  <a:pt x="42456" y="265832"/>
                </a:lnTo>
                <a:lnTo>
                  <a:pt x="38696" y="250353"/>
                </a:lnTo>
                <a:lnTo>
                  <a:pt x="40686" y="240754"/>
                </a:lnTo>
                <a:lnTo>
                  <a:pt x="47097" y="235859"/>
                </a:lnTo>
                <a:lnTo>
                  <a:pt x="56603" y="234489"/>
                </a:lnTo>
                <a:lnTo>
                  <a:pt x="70311" y="235758"/>
                </a:lnTo>
                <a:lnTo>
                  <a:pt x="127455" y="235758"/>
                </a:lnTo>
                <a:lnTo>
                  <a:pt x="128091" y="243890"/>
                </a:lnTo>
                <a:lnTo>
                  <a:pt x="131331" y="262694"/>
                </a:lnTo>
                <a:lnTo>
                  <a:pt x="132067" y="272093"/>
                </a:lnTo>
                <a:lnTo>
                  <a:pt x="177805" y="272093"/>
                </a:lnTo>
                <a:lnTo>
                  <a:pt x="178417" y="288746"/>
                </a:lnTo>
                <a:lnTo>
                  <a:pt x="174510" y="315972"/>
                </a:lnTo>
                <a:lnTo>
                  <a:pt x="160364" y="363967"/>
                </a:lnTo>
                <a:lnTo>
                  <a:pt x="132066" y="462311"/>
                </a:lnTo>
                <a:lnTo>
                  <a:pt x="117919" y="510307"/>
                </a:lnTo>
                <a:lnTo>
                  <a:pt x="112316" y="533913"/>
                </a:lnTo>
                <a:lnTo>
                  <a:pt x="108483" y="558105"/>
                </a:lnTo>
                <a:lnTo>
                  <a:pt x="104649" y="583472"/>
                </a:lnTo>
                <a:lnTo>
                  <a:pt x="99047" y="61059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6615" y="515112"/>
            <a:ext cx="1722120" cy="504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95995" y="1355991"/>
            <a:ext cx="0" cy="4590415"/>
          </a:xfrm>
          <a:custGeom>
            <a:avLst/>
            <a:gdLst/>
            <a:ahLst/>
            <a:cxnLst/>
            <a:rect l="l" t="t" r="r" b="b"/>
            <a:pathLst>
              <a:path w="0" h="4590415">
                <a:moveTo>
                  <a:pt x="0" y="0"/>
                </a:moveTo>
                <a:lnTo>
                  <a:pt x="0" y="458984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641905" y="1400594"/>
            <a:ext cx="0" cy="4545330"/>
          </a:xfrm>
          <a:custGeom>
            <a:avLst/>
            <a:gdLst/>
            <a:ahLst/>
            <a:cxnLst/>
            <a:rect l="l" t="t" r="r" b="b"/>
            <a:pathLst>
              <a:path w="0" h="4545330">
                <a:moveTo>
                  <a:pt x="0" y="0"/>
                </a:moveTo>
                <a:lnTo>
                  <a:pt x="0" y="454524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740647" y="1788477"/>
            <a:ext cx="402590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/>
              <a:t>类的组合和继承</a:t>
            </a:r>
            <a:endParaRPr sz="4500"/>
          </a:p>
        </p:txBody>
      </p:sp>
      <p:sp>
        <p:nvSpPr>
          <p:cNvPr id="22" name="object 22"/>
          <p:cNvSpPr/>
          <p:nvPr/>
        </p:nvSpPr>
        <p:spPr>
          <a:xfrm>
            <a:off x="2661907" y="3865397"/>
            <a:ext cx="5465445" cy="0"/>
          </a:xfrm>
          <a:custGeom>
            <a:avLst/>
            <a:gdLst/>
            <a:ahLst/>
            <a:cxnLst/>
            <a:rect l="l" t="t" r="r" b="b"/>
            <a:pathLst>
              <a:path w="5465445" h="0">
                <a:moveTo>
                  <a:pt x="0" y="0"/>
                </a:moveTo>
                <a:lnTo>
                  <a:pt x="546533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3589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本章知识点</a:t>
            </a:r>
            <a:endParaRPr sz="2100"/>
          </a:p>
        </p:txBody>
      </p:sp>
      <p:sp>
        <p:nvSpPr>
          <p:cNvPr id="4" name="object 4"/>
          <p:cNvSpPr txBox="1"/>
          <p:nvPr/>
        </p:nvSpPr>
        <p:spPr>
          <a:xfrm>
            <a:off x="8548052" y="6401152"/>
            <a:ext cx="165735" cy="2266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2</a:t>
            </a:fld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3969" y="1417827"/>
            <a:ext cx="6216650" cy="385572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类与类的关</a:t>
            </a:r>
            <a:r>
              <a:rPr dirty="0" sz="2800" spc="-5">
                <a:latin typeface="微软雅黑"/>
                <a:cs typeface="微软雅黑"/>
              </a:rPr>
              <a:t>系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类的组</a:t>
            </a:r>
            <a:r>
              <a:rPr dirty="0" sz="2800" spc="-5">
                <a:latin typeface="微软雅黑"/>
                <a:cs typeface="微软雅黑"/>
              </a:rPr>
              <a:t>合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类的继</a:t>
            </a:r>
            <a:r>
              <a:rPr dirty="0" sz="2800" spc="-5">
                <a:latin typeface="微软雅黑"/>
                <a:cs typeface="微软雅黑"/>
              </a:rPr>
              <a:t>承</a:t>
            </a:r>
            <a:endParaRPr sz="2800">
              <a:latin typeface="微软雅黑"/>
              <a:cs typeface="微软雅黑"/>
            </a:endParaRPr>
          </a:p>
          <a:p>
            <a:pPr marL="749935" marR="2613660">
              <a:lnSpc>
                <a:spcPct val="112200"/>
              </a:lnSpc>
            </a:pPr>
            <a:r>
              <a:rPr dirty="0" sz="2800">
                <a:latin typeface="微软雅黑"/>
                <a:cs typeface="微软雅黑"/>
              </a:rPr>
              <a:t>继承的概念和作</a:t>
            </a:r>
            <a:r>
              <a:rPr dirty="0" sz="2800" spc="-5">
                <a:latin typeface="微软雅黑"/>
                <a:cs typeface="微软雅黑"/>
              </a:rPr>
              <a:t>用 </a:t>
            </a:r>
            <a:r>
              <a:rPr dirty="0" sz="2800">
                <a:latin typeface="微软雅黑"/>
                <a:cs typeface="微软雅黑"/>
              </a:rPr>
              <a:t>子类的声</a:t>
            </a:r>
            <a:r>
              <a:rPr dirty="0" sz="2800" spc="-5">
                <a:latin typeface="微软雅黑"/>
                <a:cs typeface="微软雅黑"/>
              </a:rPr>
              <a:t>明</a:t>
            </a:r>
            <a:endParaRPr sz="2800">
              <a:latin typeface="微软雅黑"/>
              <a:cs typeface="微软雅黑"/>
            </a:endParaRPr>
          </a:p>
          <a:p>
            <a:pPr marL="749935" marR="1191260">
              <a:lnSpc>
                <a:spcPct val="112200"/>
              </a:lnSpc>
            </a:pPr>
            <a:r>
              <a:rPr dirty="0" sz="2800">
                <a:latin typeface="微软雅黑"/>
                <a:cs typeface="微软雅黑"/>
              </a:rPr>
              <a:t>类成员修饰符与继承的关</a:t>
            </a:r>
            <a:r>
              <a:rPr dirty="0" sz="2800" spc="-5">
                <a:latin typeface="微软雅黑"/>
                <a:cs typeface="微软雅黑"/>
              </a:rPr>
              <a:t>系 </a:t>
            </a:r>
            <a:r>
              <a:rPr dirty="0" sz="2800">
                <a:latin typeface="微软雅黑"/>
                <a:cs typeface="微软雅黑"/>
              </a:rPr>
              <a:t>继承机制下对象的创</a:t>
            </a:r>
            <a:r>
              <a:rPr dirty="0" sz="2800" spc="-5">
                <a:latin typeface="微软雅黑"/>
                <a:cs typeface="微软雅黑"/>
              </a:rPr>
              <a:t>建</a:t>
            </a:r>
            <a:endParaRPr sz="2800">
              <a:latin typeface="微软雅黑"/>
              <a:cs typeface="微软雅黑"/>
            </a:endParaRPr>
          </a:p>
          <a:p>
            <a:pPr marL="749935">
              <a:lnSpc>
                <a:spcPct val="100000"/>
              </a:lnSpc>
              <a:spcBef>
                <a:spcPts val="409"/>
              </a:spcBef>
            </a:pPr>
            <a:r>
              <a:rPr dirty="0" sz="2800">
                <a:latin typeface="微软雅黑"/>
                <a:cs typeface="微软雅黑"/>
              </a:rPr>
              <a:t>子类对父类方法的重写</a:t>
            </a:r>
            <a:r>
              <a:rPr dirty="0" sz="2800" spc="-5">
                <a:latin typeface="微软雅黑"/>
                <a:cs typeface="微软雅黑"/>
              </a:rPr>
              <a:t>(super</a:t>
            </a:r>
            <a:r>
              <a:rPr dirty="0" sz="2800">
                <a:latin typeface="微软雅黑"/>
                <a:cs typeface="微软雅黑"/>
              </a:rPr>
              <a:t>调用</a:t>
            </a:r>
            <a:r>
              <a:rPr dirty="0" sz="2800" spc="-5">
                <a:latin typeface="微软雅黑"/>
                <a:cs typeface="微软雅黑"/>
              </a:rPr>
              <a:t>)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6217285" cy="5382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5.1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2085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dirty="0" sz="2800">
                <a:latin typeface="微软雅黑"/>
                <a:cs typeface="微软雅黑"/>
              </a:rPr>
              <a:t>类与类的关</a:t>
            </a:r>
            <a:r>
              <a:rPr dirty="0" sz="2800" spc="-5">
                <a:latin typeface="微软雅黑"/>
                <a:cs typeface="微软雅黑"/>
              </a:rPr>
              <a:t>系</a:t>
            </a:r>
            <a:endParaRPr sz="2800">
              <a:latin typeface="微软雅黑"/>
              <a:cs typeface="微软雅黑"/>
            </a:endParaRPr>
          </a:p>
          <a:p>
            <a:pPr marL="184150" indent="-17208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800">
                <a:latin typeface="微软雅黑"/>
                <a:cs typeface="微软雅黑"/>
              </a:rPr>
              <a:t>类的组</a:t>
            </a:r>
            <a:r>
              <a:rPr dirty="0" sz="2800" spc="-5">
                <a:latin typeface="微软雅黑"/>
                <a:cs typeface="微软雅黑"/>
              </a:rPr>
              <a:t>合</a:t>
            </a:r>
            <a:endParaRPr sz="2800">
              <a:latin typeface="微软雅黑"/>
              <a:cs typeface="微软雅黑"/>
            </a:endParaRPr>
          </a:p>
          <a:p>
            <a:pPr marL="184150" indent="-17208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800">
                <a:latin typeface="微软雅黑"/>
                <a:cs typeface="微软雅黑"/>
              </a:rPr>
              <a:t>类的继</a:t>
            </a:r>
            <a:r>
              <a:rPr dirty="0" sz="2800" spc="-5">
                <a:latin typeface="微软雅黑"/>
                <a:cs typeface="微软雅黑"/>
              </a:rPr>
              <a:t>承</a:t>
            </a:r>
            <a:endParaRPr sz="2800">
              <a:latin typeface="微软雅黑"/>
              <a:cs typeface="微软雅黑"/>
            </a:endParaRPr>
          </a:p>
          <a:p>
            <a:pPr marL="750570" marR="2613660">
              <a:lnSpc>
                <a:spcPct val="112200"/>
              </a:lnSpc>
            </a:pPr>
            <a:r>
              <a:rPr dirty="0" sz="2800">
                <a:latin typeface="微软雅黑"/>
                <a:cs typeface="微软雅黑"/>
              </a:rPr>
              <a:t>继承的概念和作</a:t>
            </a:r>
            <a:r>
              <a:rPr dirty="0" sz="2800" spc="-5">
                <a:latin typeface="微软雅黑"/>
                <a:cs typeface="微软雅黑"/>
              </a:rPr>
              <a:t>用 </a:t>
            </a:r>
            <a:r>
              <a:rPr dirty="0" sz="2800">
                <a:latin typeface="微软雅黑"/>
                <a:cs typeface="微软雅黑"/>
              </a:rPr>
              <a:t>子类的声</a:t>
            </a:r>
            <a:r>
              <a:rPr dirty="0" sz="2800" spc="-5">
                <a:latin typeface="微软雅黑"/>
                <a:cs typeface="微软雅黑"/>
              </a:rPr>
              <a:t>明</a:t>
            </a:r>
            <a:endParaRPr sz="2800">
              <a:latin typeface="微软雅黑"/>
              <a:cs typeface="微软雅黑"/>
            </a:endParaRPr>
          </a:p>
          <a:p>
            <a:pPr marL="750570" marR="1191260">
              <a:lnSpc>
                <a:spcPct val="112200"/>
              </a:lnSpc>
            </a:pPr>
            <a:r>
              <a:rPr dirty="0" sz="2800">
                <a:latin typeface="微软雅黑"/>
                <a:cs typeface="微软雅黑"/>
              </a:rPr>
              <a:t>类成员修饰符与继承的关</a:t>
            </a:r>
            <a:r>
              <a:rPr dirty="0" sz="2800" spc="-5">
                <a:latin typeface="微软雅黑"/>
                <a:cs typeface="微软雅黑"/>
              </a:rPr>
              <a:t>系 </a:t>
            </a:r>
            <a:r>
              <a:rPr dirty="0" sz="2800">
                <a:latin typeface="微软雅黑"/>
                <a:cs typeface="微软雅黑"/>
              </a:rPr>
              <a:t>继承机制下对象的创</a:t>
            </a:r>
            <a:r>
              <a:rPr dirty="0" sz="2800" spc="-5">
                <a:latin typeface="微软雅黑"/>
                <a:cs typeface="微软雅黑"/>
              </a:rPr>
              <a:t>建</a:t>
            </a:r>
            <a:endParaRPr sz="2800">
              <a:latin typeface="微软雅黑"/>
              <a:cs typeface="微软雅黑"/>
            </a:endParaRPr>
          </a:p>
          <a:p>
            <a:pPr marL="750570">
              <a:lnSpc>
                <a:spcPct val="100000"/>
              </a:lnSpc>
              <a:spcBef>
                <a:spcPts val="409"/>
              </a:spcBef>
            </a:pPr>
            <a:r>
              <a:rPr dirty="0" sz="2800">
                <a:latin typeface="微软雅黑"/>
                <a:cs typeface="微软雅黑"/>
              </a:rPr>
              <a:t>子类对父类方法的重写</a:t>
            </a:r>
            <a:r>
              <a:rPr dirty="0" sz="2800" spc="-5">
                <a:latin typeface="微软雅黑"/>
                <a:cs typeface="微软雅黑"/>
              </a:rPr>
              <a:t>(super</a:t>
            </a:r>
            <a:r>
              <a:rPr dirty="0" sz="2800">
                <a:latin typeface="微软雅黑"/>
                <a:cs typeface="微软雅黑"/>
              </a:rPr>
              <a:t>调用</a:t>
            </a:r>
            <a:r>
              <a:rPr dirty="0" sz="2800" spc="-5">
                <a:latin typeface="微软雅黑"/>
                <a:cs typeface="微软雅黑"/>
              </a:rPr>
              <a:t>)</a:t>
            </a:r>
            <a:endParaRPr sz="2800">
              <a:latin typeface="微软雅黑"/>
              <a:cs typeface="微软雅黑"/>
            </a:endParaRPr>
          </a:p>
          <a:p>
            <a:pPr marL="184150" indent="-17208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800">
                <a:latin typeface="微软雅黑"/>
                <a:cs typeface="微软雅黑"/>
              </a:rPr>
              <a:t>对象的初始化顺</a:t>
            </a:r>
            <a:r>
              <a:rPr dirty="0" sz="2800" spc="-5">
                <a:latin typeface="微软雅黑"/>
                <a:cs typeface="微软雅黑"/>
              </a:rPr>
              <a:t>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48052" y="6401152"/>
            <a:ext cx="165735" cy="2266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2</a:t>
            </a:fld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03073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1</a:t>
            </a:r>
            <a:r>
              <a:rPr dirty="0" sz="2100"/>
              <a:t>类与类的关系</a:t>
            </a:r>
            <a:endParaRPr sz="2100"/>
          </a:p>
        </p:txBody>
      </p:sp>
      <p:sp>
        <p:nvSpPr>
          <p:cNvPr id="5" name="object 5"/>
          <p:cNvSpPr txBox="1"/>
          <p:nvPr/>
        </p:nvSpPr>
        <p:spPr>
          <a:xfrm>
            <a:off x="8548052" y="6401152"/>
            <a:ext cx="165735" cy="2266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2</a:t>
            </a:fld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522" y="5542508"/>
            <a:ext cx="795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从泛化→实现→</a:t>
            </a:r>
            <a:r>
              <a:rPr dirty="0" sz="2400">
                <a:solidFill>
                  <a:srgbClr val="6F2F9F"/>
                </a:solidFill>
                <a:latin typeface="微软雅黑"/>
                <a:cs typeface="微软雅黑"/>
              </a:rPr>
              <a:t>组合→聚合→关联</a:t>
            </a:r>
            <a:r>
              <a:rPr dirty="0" sz="2400">
                <a:latin typeface="微软雅黑"/>
                <a:cs typeface="微软雅黑"/>
              </a:rPr>
              <a:t>→依赖，关系越来越弱。</a:t>
            </a:r>
            <a:endParaRPr sz="24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6865" y="1334135"/>
          <a:ext cx="8168005" cy="4055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675"/>
                <a:gridCol w="2651125"/>
                <a:gridCol w="2399029"/>
                <a:gridCol w="2651125"/>
              </a:tblGrid>
              <a:tr h="485139">
                <a:tc gridSpan="2">
                  <a:txBody>
                    <a:bodyPr/>
                    <a:lstStyle/>
                    <a:p>
                      <a:pPr algn="ctr" marL="269875">
                        <a:lnSpc>
                          <a:spcPct val="100000"/>
                        </a:lnSpc>
                        <a:spcBef>
                          <a:spcPts val="660"/>
                        </a:spcBef>
                        <a:tabLst>
                          <a:tab pos="674370" algn="l"/>
                        </a:tabLst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关	系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2698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Java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中的表现与实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现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69264">
                <a:tc gridSpan="2"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泛化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（Generalization）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79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600" spc="-5">
                          <a:latin typeface="微软雅黑"/>
                          <a:cs typeface="微软雅黑"/>
                        </a:rPr>
                        <a:t>extends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继</a:t>
                      </a:r>
                      <a:r>
                        <a:rPr dirty="0" sz="1600" spc="-5">
                          <a:latin typeface="微软雅黑"/>
                          <a:cs typeface="微软雅黑"/>
                        </a:rPr>
                        <a:t>承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79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9885">
                <a:tc gridSpan="2"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实现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（Realization）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600" spc="-5">
                          <a:latin typeface="微软雅黑"/>
                          <a:cs typeface="微软雅黑"/>
                        </a:rPr>
                        <a:t>implements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实</a:t>
                      </a:r>
                      <a:r>
                        <a:rPr dirty="0" sz="1600" spc="-5">
                          <a:latin typeface="微软雅黑"/>
                          <a:cs typeface="微软雅黑"/>
                        </a:rPr>
                        <a:t>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953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21285" marR="116205">
                        <a:lnSpc>
                          <a:spcPct val="10000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关 联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algn="r" marR="248285">
                        <a:lnSpc>
                          <a:spcPct val="100000"/>
                        </a:lnSpc>
                      </a:pPr>
                      <a:r>
                        <a:rPr dirty="0" sz="1600" spc="5">
                          <a:latin typeface="微软雅黑"/>
                          <a:cs typeface="微软雅黑"/>
                        </a:rPr>
                        <a:t>组合（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dirty="0" sz="1600" spc="5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position）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386080" marR="75565" indent="-304800">
                        <a:lnSpc>
                          <a:spcPct val="100000"/>
                        </a:lnSpc>
                      </a:pPr>
                      <a:r>
                        <a:rPr dirty="0" sz="1600" spc="5">
                          <a:latin typeface="微软雅黑"/>
                          <a:cs typeface="微软雅黑"/>
                        </a:rPr>
                        <a:t>某个类以成员变量的形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式 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出现在另一个类</a:t>
                      </a:r>
                      <a:r>
                        <a:rPr dirty="0" sz="1600" spc="-5">
                          <a:latin typeface="微软雅黑"/>
                          <a:cs typeface="微软雅黑"/>
                        </a:rPr>
                        <a:t>中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37820" marR="71120">
                        <a:lnSpc>
                          <a:spcPct val="100000"/>
                        </a:lnSpc>
                      </a:pPr>
                      <a:r>
                        <a:rPr dirty="0" sz="1600" spc="5">
                          <a:latin typeface="微软雅黑"/>
                          <a:cs typeface="微软雅黑"/>
                        </a:rPr>
                        <a:t>整体与部分，二者不可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分 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例如学生和学生</a:t>
                      </a:r>
                      <a:r>
                        <a:rPr dirty="0" sz="1600" spc="-5">
                          <a:latin typeface="微软雅黑"/>
                          <a:cs typeface="微软雅黑"/>
                        </a:rPr>
                        <a:t>证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</a:tr>
              <a:tr h="7150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74320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dirty="0" sz="1600" spc="5">
                          <a:latin typeface="微软雅黑"/>
                          <a:cs typeface="微软雅黑"/>
                        </a:rPr>
                        <a:t>聚合（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Agg</a:t>
                      </a:r>
                      <a:r>
                        <a:rPr dirty="0" sz="1600" spc="-25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dirty="0" sz="1600" spc="5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gation）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2311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marL="337820" marR="27432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5">
                          <a:latin typeface="微软雅黑"/>
                          <a:cs typeface="微软雅黑"/>
                        </a:rPr>
                        <a:t>整体与部分，相对独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立 </a:t>
                      </a:r>
                      <a:r>
                        <a:rPr dirty="0" sz="1600">
                          <a:latin typeface="微软雅黑"/>
                          <a:cs typeface="微软雅黑"/>
                        </a:rPr>
                        <a:t>例如学校和学</a:t>
                      </a:r>
                      <a:r>
                        <a:rPr dirty="0" sz="1600" spc="-5">
                          <a:latin typeface="微软雅黑"/>
                          <a:cs typeface="微软雅黑"/>
                        </a:rPr>
                        <a:t>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</a:tr>
              <a:tr h="46926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600">
                          <a:latin typeface="微软雅黑"/>
                          <a:cs typeface="微软雅黑"/>
                        </a:rPr>
                        <a:t>其</a:t>
                      </a:r>
                      <a:r>
                        <a:rPr dirty="0" sz="1600" spc="-5">
                          <a:latin typeface="微软雅黑"/>
                          <a:cs typeface="微软雅黑"/>
                        </a:rPr>
                        <a:t>他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79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</a:tr>
              <a:tr h="458470">
                <a:tc gridSpan="2"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依赖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（Dependency）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600">
                          <a:latin typeface="微软雅黑"/>
                          <a:cs typeface="微软雅黑"/>
                        </a:rPr>
                        <a:t>某个类以局部变量或参数的形式出现在另一个类</a:t>
                      </a:r>
                      <a:r>
                        <a:rPr dirty="0" sz="1600" spc="-5">
                          <a:latin typeface="微软雅黑"/>
                          <a:cs typeface="微软雅黑"/>
                        </a:rPr>
                        <a:t>中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244" y="1350010"/>
            <a:ext cx="7525384" cy="79121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组合关系</a:t>
            </a:r>
            <a:r>
              <a:rPr dirty="0" sz="2100" spc="-5">
                <a:latin typeface="微软雅黑"/>
                <a:cs typeface="微软雅黑"/>
              </a:rPr>
              <a:t>：“has</a:t>
            </a:r>
            <a:r>
              <a:rPr dirty="0" sz="2100" spc="-65">
                <a:latin typeface="微软雅黑"/>
                <a:cs typeface="微软雅黑"/>
              </a:rPr>
              <a:t> </a:t>
            </a:r>
            <a:r>
              <a:rPr dirty="0" sz="2100" spc="-5">
                <a:latin typeface="微软雅黑"/>
                <a:cs typeface="微软雅黑"/>
              </a:rPr>
              <a:t>a”，</a:t>
            </a:r>
            <a:r>
              <a:rPr dirty="0" sz="2100">
                <a:latin typeface="微软雅黑"/>
                <a:cs typeface="微软雅黑"/>
              </a:rPr>
              <a:t>一个类的成员可以是其他类的对象引用</a:t>
            </a:r>
            <a:endParaRPr sz="21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组合是</a:t>
            </a:r>
            <a:r>
              <a:rPr dirty="0" sz="2100" spc="-5">
                <a:latin typeface="微软雅黑"/>
                <a:cs typeface="微软雅黑"/>
              </a:rPr>
              <a:t>OO</a:t>
            </a:r>
            <a:r>
              <a:rPr dirty="0" sz="2100">
                <a:latin typeface="微软雅黑"/>
                <a:cs typeface="微软雅黑"/>
              </a:rPr>
              <a:t>设计中大量存在的类间关系。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8535" y="530225"/>
            <a:ext cx="34143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0">
                <a:latin typeface="微软雅黑"/>
                <a:cs typeface="微软雅黑"/>
              </a:rPr>
              <a:t>5.1</a:t>
            </a:r>
            <a:r>
              <a:rPr dirty="0" b="0">
                <a:latin typeface="微软雅黑"/>
                <a:cs typeface="微软雅黑"/>
              </a:rPr>
              <a:t>类与类的关系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4991" y="2924200"/>
          <a:ext cx="5665470" cy="324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3005"/>
                <a:gridCol w="589280"/>
                <a:gridCol w="2602865"/>
              </a:tblGrid>
              <a:tr h="13125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spc="-260" b="1">
                          <a:latin typeface="Tahoma"/>
                          <a:cs typeface="Tahoma"/>
                        </a:rPr>
                        <a:t>Student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29679">
                <a:tc rowSpan="2"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spc="-270" b="1">
                          <a:latin typeface="Tahoma"/>
                          <a:cs typeface="Tahoma"/>
                        </a:rPr>
                        <a:t>Course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3124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spc="-265">
                          <a:latin typeface="Tahoma"/>
                          <a:cs typeface="Tahoma"/>
                        </a:rPr>
                        <a:t>-name: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15">
                          <a:latin typeface="Tahoma"/>
                          <a:cs typeface="Tahoma"/>
                        </a:rPr>
                        <a:t>String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20">
                          <a:latin typeface="Tahoma"/>
                          <a:cs typeface="Tahoma"/>
                        </a:rPr>
                        <a:t>-grade: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00">
                          <a:latin typeface="Tahoma"/>
                          <a:cs typeface="Tahoma"/>
                        </a:rPr>
                        <a:t>int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15">
                          <a:latin typeface="Tahoma"/>
                          <a:cs typeface="Tahoma"/>
                        </a:rPr>
                        <a:t>-courses: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5">
                          <a:latin typeface="Tahoma"/>
                          <a:cs typeface="Tahoma"/>
                        </a:rPr>
                        <a:t>Course[]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97487">
                <a:tc>
                  <a:txBody>
                    <a:bodyPr/>
                    <a:lstStyle/>
                    <a:p>
                      <a:pPr marL="53340">
                        <a:lnSpc>
                          <a:spcPts val="1575"/>
                        </a:lnSpc>
                        <a:spcBef>
                          <a:spcPts val="665"/>
                        </a:spcBef>
                      </a:pPr>
                      <a:r>
                        <a:rPr dirty="0" sz="1400" spc="-254">
                          <a:latin typeface="Tahoma"/>
                          <a:cs typeface="Tahoma"/>
                        </a:rPr>
                        <a:t>-courseName: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15">
                          <a:latin typeface="Tahoma"/>
                          <a:cs typeface="Tahoma"/>
                        </a:rPr>
                        <a:t>String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76730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35">
                          <a:latin typeface="Tahoma"/>
                          <a:cs typeface="Tahoma"/>
                        </a:rPr>
                        <a:t>-courseHour: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00">
                          <a:latin typeface="Tahoma"/>
                          <a:cs typeface="Tahoma"/>
                        </a:rPr>
                        <a:t>int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82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98425">
                <a:tc rowSpan="2">
                  <a:txBody>
                    <a:bodyPr/>
                    <a:lstStyle/>
                    <a:p>
                      <a:pPr marL="53340">
                        <a:lnSpc>
                          <a:spcPts val="1575"/>
                        </a:lnSpc>
                        <a:spcBef>
                          <a:spcPts val="20"/>
                        </a:spcBef>
                      </a:pPr>
                      <a:r>
                        <a:rPr dirty="0" sz="1400" spc="-240">
                          <a:latin typeface="Tahoma"/>
                          <a:cs typeface="Tahoma"/>
                        </a:rPr>
                        <a:t>+Course()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254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spc="-235">
                          <a:latin typeface="Tahoma"/>
                          <a:cs typeface="Tahoma"/>
                        </a:rPr>
                        <a:t>+Student()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80">
                          <a:latin typeface="Tahoma"/>
                          <a:cs typeface="Tahoma"/>
                        </a:rPr>
                        <a:t>+setName(name: </a:t>
                      </a:r>
                      <a:r>
                        <a:rPr dirty="0" sz="1400" spc="-210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1400" spc="-2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0">
                          <a:latin typeface="Tahoma"/>
                          <a:cs typeface="Tahoma"/>
                        </a:rPr>
                        <a:t>void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65">
                          <a:latin typeface="Tahoma"/>
                          <a:cs typeface="Tahoma"/>
                        </a:rPr>
                        <a:t>+getName():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15">
                          <a:latin typeface="Tahoma"/>
                          <a:cs typeface="Tahoma"/>
                        </a:rPr>
                        <a:t>String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35">
                          <a:latin typeface="Tahoma"/>
                          <a:cs typeface="Tahoma"/>
                        </a:rPr>
                        <a:t>+setGrade(grade: 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iint):</a:t>
                      </a:r>
                      <a:r>
                        <a:rPr dirty="0" sz="14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0">
                          <a:latin typeface="Tahoma"/>
                          <a:cs typeface="Tahoma"/>
                        </a:rPr>
                        <a:t>void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35">
                          <a:latin typeface="Tahoma"/>
                          <a:cs typeface="Tahoma"/>
                        </a:rPr>
                        <a:t>+getGrade():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00">
                          <a:latin typeface="Tahoma"/>
                          <a:cs typeface="Tahoma"/>
                        </a:rPr>
                        <a:t>int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25">
                          <a:latin typeface="Tahoma"/>
                          <a:cs typeface="Tahoma"/>
                        </a:rPr>
                        <a:t>+setCourses(courses: </a:t>
                      </a:r>
                      <a:r>
                        <a:rPr dirty="0" sz="1400" spc="-220">
                          <a:latin typeface="Tahoma"/>
                          <a:cs typeface="Tahoma"/>
                        </a:rPr>
                        <a:t>Course[]):</a:t>
                      </a:r>
                      <a:r>
                        <a:rPr dirty="0" sz="1400" spc="-1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0">
                          <a:latin typeface="Tahoma"/>
                          <a:cs typeface="Tahoma"/>
                        </a:rPr>
                        <a:t>void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29">
                          <a:latin typeface="Tahoma"/>
                          <a:cs typeface="Tahoma"/>
                        </a:rPr>
                        <a:t>+getCourse():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5">
                          <a:latin typeface="Tahoma"/>
                          <a:cs typeface="Tahoma"/>
                        </a:rPr>
                        <a:t>Course[]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40">
                          <a:latin typeface="Tahoma"/>
                          <a:cs typeface="Tahoma"/>
                        </a:rPr>
                        <a:t>+getHours():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00">
                          <a:latin typeface="Tahoma"/>
                          <a:cs typeface="Tahoma"/>
                        </a:rPr>
                        <a:t>int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54">
                          <a:latin typeface="Tahoma"/>
                          <a:cs typeface="Tahoma"/>
                        </a:rPr>
                        <a:t>+showMessage():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0">
                          <a:latin typeface="Tahoma"/>
                          <a:cs typeface="Tahoma"/>
                        </a:rPr>
                        <a:t>void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170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13277">
                <a:tc>
                  <a:txBody>
                    <a:bodyPr/>
                    <a:lstStyle/>
                    <a:p>
                      <a:pPr marL="53340">
                        <a:lnSpc>
                          <a:spcPts val="1575"/>
                        </a:lnSpc>
                      </a:pPr>
                      <a:r>
                        <a:rPr dirty="0" sz="1400" spc="-254">
                          <a:latin typeface="Tahoma"/>
                          <a:cs typeface="Tahoma"/>
                        </a:rPr>
                        <a:t>+Course(courseName: </a:t>
                      </a:r>
                      <a:r>
                        <a:rPr dirty="0" sz="1400" spc="-204">
                          <a:latin typeface="Tahoma"/>
                          <a:cs typeface="Tahoma"/>
                        </a:rPr>
                        <a:t>String, </a:t>
                      </a:r>
                      <a:r>
                        <a:rPr dirty="0" sz="1400" spc="-245">
                          <a:latin typeface="Tahoma"/>
                          <a:cs typeface="Tahoma"/>
                        </a:rPr>
                        <a:t>couseHour:</a:t>
                      </a:r>
                      <a:r>
                        <a:rPr dirty="0" sz="1400" spc="-22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190">
                          <a:latin typeface="Tahoma"/>
                          <a:cs typeface="Tahoma"/>
                        </a:rPr>
                        <a:t>int)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13277">
                <a:tc>
                  <a:txBody>
                    <a:bodyPr/>
                    <a:lstStyle/>
                    <a:p>
                      <a:pPr marL="53340">
                        <a:lnSpc>
                          <a:spcPts val="1575"/>
                        </a:lnSpc>
                      </a:pPr>
                      <a:r>
                        <a:rPr dirty="0" sz="1400" spc="-260">
                          <a:latin typeface="Tahoma"/>
                          <a:cs typeface="Tahoma"/>
                        </a:rPr>
                        <a:t>+setCourseName(courseName: </a:t>
                      </a:r>
                      <a:r>
                        <a:rPr dirty="0" sz="1400" spc="-210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1400" spc="-27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0">
                          <a:latin typeface="Tahoma"/>
                          <a:cs typeface="Tahoma"/>
                        </a:rPr>
                        <a:t>void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13277">
                <a:tc>
                  <a:txBody>
                    <a:bodyPr/>
                    <a:lstStyle/>
                    <a:p>
                      <a:pPr marL="53340">
                        <a:lnSpc>
                          <a:spcPts val="1575"/>
                        </a:lnSpc>
                      </a:pPr>
                      <a:r>
                        <a:rPr dirty="0" sz="1400" spc="-254">
                          <a:latin typeface="Tahoma"/>
                          <a:cs typeface="Tahoma"/>
                        </a:rPr>
                        <a:t>+getCourseName():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15">
                          <a:latin typeface="Tahoma"/>
                          <a:cs typeface="Tahoma"/>
                        </a:rPr>
                        <a:t>String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13277">
                <a:tc>
                  <a:txBody>
                    <a:bodyPr/>
                    <a:lstStyle/>
                    <a:p>
                      <a:pPr marL="53340">
                        <a:lnSpc>
                          <a:spcPts val="1575"/>
                        </a:lnSpc>
                      </a:pPr>
                      <a:r>
                        <a:rPr dirty="0" sz="1400" spc="-240">
                          <a:latin typeface="Tahoma"/>
                          <a:cs typeface="Tahoma"/>
                        </a:rPr>
                        <a:t>+setCourseHour(courseHour: </a:t>
                      </a:r>
                      <a:r>
                        <a:rPr dirty="0" sz="1400" spc="-190">
                          <a:latin typeface="Tahoma"/>
                          <a:cs typeface="Tahoma"/>
                        </a:rPr>
                        <a:t>int):</a:t>
                      </a:r>
                      <a:r>
                        <a:rPr dirty="0" sz="14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20">
                          <a:latin typeface="Tahoma"/>
                          <a:cs typeface="Tahoma"/>
                        </a:rPr>
                        <a:t>void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93138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dirty="0" sz="1400" spc="-240">
                          <a:latin typeface="Tahoma"/>
                          <a:cs typeface="Tahoma"/>
                        </a:rPr>
                        <a:t>+getCourseHour():</a:t>
                      </a:r>
                      <a:r>
                        <a:rPr dirty="0"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00">
                          <a:latin typeface="Tahoma"/>
                          <a:cs typeface="Tahoma"/>
                        </a:rPr>
                        <a:t>int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218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388550" y="4105427"/>
            <a:ext cx="249212" cy="1448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72846" y="3521595"/>
            <a:ext cx="1467485" cy="1558925"/>
          </a:xfrm>
          <a:custGeom>
            <a:avLst/>
            <a:gdLst/>
            <a:ahLst/>
            <a:cxnLst/>
            <a:rect l="l" t="t" r="r" b="b"/>
            <a:pathLst>
              <a:path w="1467484" h="1558925">
                <a:moveTo>
                  <a:pt x="0" y="0"/>
                </a:moveTo>
                <a:lnTo>
                  <a:pt x="1467421" y="0"/>
                </a:lnTo>
                <a:lnTo>
                  <a:pt x="1467421" y="1558569"/>
                </a:lnTo>
                <a:lnTo>
                  <a:pt x="0" y="1558569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72846" y="3521595"/>
            <a:ext cx="1467485" cy="1558925"/>
          </a:xfrm>
          <a:custGeom>
            <a:avLst/>
            <a:gdLst/>
            <a:ahLst/>
            <a:cxnLst/>
            <a:rect l="l" t="t" r="r" b="b"/>
            <a:pathLst>
              <a:path w="1467484" h="1558925">
                <a:moveTo>
                  <a:pt x="0" y="0"/>
                </a:moveTo>
                <a:lnTo>
                  <a:pt x="1467421" y="0"/>
                </a:lnTo>
                <a:lnTo>
                  <a:pt x="1467421" y="1558569"/>
                </a:lnTo>
                <a:lnTo>
                  <a:pt x="0" y="1558569"/>
                </a:lnTo>
                <a:lnTo>
                  <a:pt x="0" y="0"/>
                </a:lnTo>
                <a:close/>
              </a:path>
            </a:pathLst>
          </a:custGeom>
          <a:ln w="135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72846" y="3521595"/>
            <a:ext cx="1467485" cy="361315"/>
          </a:xfrm>
          <a:prstGeom prst="rect">
            <a:avLst/>
          </a:prstGeom>
          <a:solidFill>
            <a:srgbClr val="FFFFB8"/>
          </a:solidFill>
          <a:ln w="13563">
            <a:solidFill>
              <a:srgbClr val="800000"/>
            </a:solidFill>
          </a:ln>
        </p:spPr>
        <p:txBody>
          <a:bodyPr wrap="square" lIns="0" tIns="8445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665"/>
              </a:spcBef>
            </a:pPr>
            <a:r>
              <a:rPr dirty="0" sz="1400" spc="-245" b="1">
                <a:latin typeface="Tahoma"/>
                <a:cs typeface="Tahoma"/>
              </a:rPr>
              <a:t>Client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72846" y="3875747"/>
            <a:ext cx="1478280" cy="13970"/>
          </a:xfrm>
          <a:custGeom>
            <a:avLst/>
            <a:gdLst/>
            <a:ahLst/>
            <a:cxnLst/>
            <a:rect l="l" t="t" r="r" b="b"/>
            <a:pathLst>
              <a:path w="1478279" h="13970">
                <a:moveTo>
                  <a:pt x="0" y="0"/>
                </a:moveTo>
                <a:lnTo>
                  <a:pt x="1478140" y="0"/>
                </a:lnTo>
                <a:lnTo>
                  <a:pt x="1478140" y="13563"/>
                </a:lnTo>
                <a:lnTo>
                  <a:pt x="0" y="13563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72846" y="4030179"/>
            <a:ext cx="1467485" cy="1050290"/>
          </a:xfrm>
          <a:prstGeom prst="rect">
            <a:avLst/>
          </a:prstGeom>
          <a:solidFill>
            <a:srgbClr val="FFFFB8"/>
          </a:solidFill>
          <a:ln w="13563">
            <a:solidFill>
              <a:srgbClr val="800000"/>
            </a:solidFill>
          </a:ln>
        </p:spPr>
        <p:txBody>
          <a:bodyPr wrap="square" lIns="0" tIns="8445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665"/>
              </a:spcBef>
            </a:pPr>
            <a:r>
              <a:rPr dirty="0" u="heavy" sz="1400" spc="-254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+main(args: </a:t>
            </a:r>
            <a:r>
              <a:rPr dirty="0" u="heavy" sz="1400" spc="-2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String[]):</a:t>
            </a:r>
            <a:r>
              <a:rPr dirty="0" u="heavy" sz="1400" spc="-29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1400" spc="-2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void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87249" y="4309084"/>
            <a:ext cx="386080" cy="33020"/>
          </a:xfrm>
          <a:custGeom>
            <a:avLst/>
            <a:gdLst/>
            <a:ahLst/>
            <a:cxnLst/>
            <a:rect l="l" t="t" r="r" b="b"/>
            <a:pathLst>
              <a:path w="386079" h="33020">
                <a:moveTo>
                  <a:pt x="385597" y="0"/>
                </a:moveTo>
                <a:lnTo>
                  <a:pt x="149961" y="0"/>
                </a:lnTo>
                <a:lnTo>
                  <a:pt x="0" y="32816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87249" y="4309084"/>
            <a:ext cx="386080" cy="33020"/>
          </a:xfrm>
          <a:custGeom>
            <a:avLst/>
            <a:gdLst/>
            <a:ahLst/>
            <a:cxnLst/>
            <a:rect l="l" t="t" r="r" b="b"/>
            <a:pathLst>
              <a:path w="386079" h="33020">
                <a:moveTo>
                  <a:pt x="385597" y="0"/>
                </a:moveTo>
                <a:lnTo>
                  <a:pt x="149961" y="0"/>
                </a:lnTo>
                <a:lnTo>
                  <a:pt x="0" y="32816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87249" y="4259859"/>
            <a:ext cx="107314" cy="114935"/>
          </a:xfrm>
          <a:custGeom>
            <a:avLst/>
            <a:gdLst/>
            <a:ahLst/>
            <a:cxnLst/>
            <a:rect l="l" t="t" r="r" b="b"/>
            <a:pathLst>
              <a:path w="107315" h="114935">
                <a:moveTo>
                  <a:pt x="96405" y="0"/>
                </a:moveTo>
                <a:lnTo>
                  <a:pt x="0" y="82041"/>
                </a:lnTo>
                <a:lnTo>
                  <a:pt x="107111" y="114846"/>
                </a:lnTo>
              </a:path>
            </a:pathLst>
          </a:custGeom>
          <a:ln w="135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362584"/>
            <a:ext cx="379095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0">
                <a:latin typeface="微软雅黑"/>
                <a:cs typeface="微软雅黑"/>
              </a:rPr>
              <a:t>5.1</a:t>
            </a:r>
            <a:r>
              <a:rPr dirty="0" sz="4000" b="0">
                <a:latin typeface="微软雅黑"/>
                <a:cs typeface="微软雅黑"/>
              </a:rPr>
              <a:t>类与类的关</a:t>
            </a:r>
            <a:r>
              <a:rPr dirty="0" sz="4000" spc="-5" b="0">
                <a:latin typeface="微软雅黑"/>
                <a:cs typeface="微软雅黑"/>
              </a:rPr>
              <a:t>系</a:t>
            </a:r>
            <a:endParaRPr sz="4000">
              <a:latin typeface="微软雅黑"/>
              <a:cs typeface="微软雅黑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2417" y="1348136"/>
          <a:ext cx="5586095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8715"/>
                <a:gridCol w="581025"/>
                <a:gridCol w="2566669"/>
              </a:tblGrid>
              <a:tr h="12047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00" spc="-210" b="1">
                          <a:latin typeface="Tahoma"/>
                          <a:cs typeface="Tahoma"/>
                        </a:rPr>
                        <a:t>Student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10819">
                <a:tc rowSpan="2"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00" spc="-220" b="1">
                          <a:latin typeface="Tahoma"/>
                          <a:cs typeface="Tahoma"/>
                        </a:rPr>
                        <a:t>Course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204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  <a:spcBef>
                          <a:spcPts val="595"/>
                        </a:spcBef>
                      </a:pPr>
                      <a:r>
                        <a:rPr dirty="0" sz="1300" spc="-220">
                          <a:latin typeface="Tahoma"/>
                          <a:cs typeface="Tahoma"/>
                        </a:rPr>
                        <a:t>-name: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80">
                          <a:latin typeface="Tahoma"/>
                          <a:cs typeface="Tahoma"/>
                        </a:rPr>
                        <a:t>-grade: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175">
                          <a:latin typeface="Tahoma"/>
                          <a:cs typeface="Tahoma"/>
                        </a:rPr>
                        <a:t>-courses: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5">
                          <a:latin typeface="Tahoma"/>
                          <a:cs typeface="Tahoma"/>
                        </a:rPr>
                        <a:t>Course[]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73051">
                <a:tc>
                  <a:txBody>
                    <a:bodyPr/>
                    <a:lstStyle/>
                    <a:p>
                      <a:pPr marL="52705">
                        <a:lnSpc>
                          <a:spcPts val="1455"/>
                        </a:lnSpc>
                        <a:spcBef>
                          <a:spcPts val="595"/>
                        </a:spcBef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-courseName: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53998">
                <a:tc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190">
                          <a:latin typeface="Tahoma"/>
                          <a:cs typeface="Tahoma"/>
                        </a:rPr>
                        <a:t>-courseHour: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5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90347">
                <a:tc rowSpan="2">
                  <a:txBody>
                    <a:bodyPr/>
                    <a:lstStyle/>
                    <a:p>
                      <a:pPr marL="52705">
                        <a:lnSpc>
                          <a:spcPts val="1455"/>
                        </a:lnSpc>
                        <a:spcBef>
                          <a:spcPts val="5"/>
                        </a:spcBef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+Course()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  <a:spcBef>
                          <a:spcPts val="595"/>
                        </a:spcBef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+Student()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229">
                          <a:latin typeface="Tahoma"/>
                          <a:cs typeface="Tahoma"/>
                        </a:rPr>
                        <a:t>+setName(name: </a:t>
                      </a:r>
                      <a:r>
                        <a:rPr dirty="0" sz="1300" spc="-170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1300" spc="-2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215">
                          <a:latin typeface="Tahoma"/>
                          <a:cs typeface="Tahoma"/>
                        </a:rPr>
                        <a:t>+getName():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90">
                          <a:latin typeface="Tahoma"/>
                          <a:cs typeface="Tahoma"/>
                        </a:rPr>
                        <a:t>+setGrade(grade: 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iint):</a:t>
                      </a:r>
                      <a:r>
                        <a:rPr dirty="0" sz="13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+getGrade():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85">
                          <a:latin typeface="Tahoma"/>
                          <a:cs typeface="Tahoma"/>
                        </a:rPr>
                        <a:t>+setCourses(courses: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Course[]):</a:t>
                      </a:r>
                      <a:r>
                        <a:rPr dirty="0" sz="13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85">
                          <a:latin typeface="Tahoma"/>
                          <a:cs typeface="Tahoma"/>
                        </a:rPr>
                        <a:t>+getCourse():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5">
                          <a:latin typeface="Tahoma"/>
                          <a:cs typeface="Tahoma"/>
                        </a:rPr>
                        <a:t>Course[]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+getHours():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+showMessage():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074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57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+Course(courseName: </a:t>
                      </a:r>
                      <a:r>
                        <a:rPr dirty="0" sz="1300" spc="-170">
                          <a:latin typeface="Tahoma"/>
                          <a:cs typeface="Tahoma"/>
                        </a:rPr>
                        <a:t>String, </a:t>
                      </a:r>
                      <a:r>
                        <a:rPr dirty="0" sz="1300" spc="-200">
                          <a:latin typeface="Tahoma"/>
                          <a:cs typeface="Tahoma"/>
                        </a:rPr>
                        <a:t>couseHour:</a:t>
                      </a:r>
                      <a:r>
                        <a:rPr dirty="0" sz="13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int)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64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215">
                          <a:latin typeface="Tahoma"/>
                          <a:cs typeface="Tahoma"/>
                        </a:rPr>
                        <a:t>+setCourseName(courseName: </a:t>
                      </a:r>
                      <a:r>
                        <a:rPr dirty="0" sz="1300" spc="-170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1300" spc="-2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64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+getCourseName():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57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+setCourseHour(courseHour: 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int):</a:t>
                      </a:r>
                      <a:r>
                        <a:rPr dirty="0" sz="13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69073">
                <a:tc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+getCourseHour():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66257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281927" y="2432348"/>
            <a:ext cx="245198" cy="1332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36131" y="2619463"/>
            <a:ext cx="380365" cy="30480"/>
          </a:xfrm>
          <a:custGeom>
            <a:avLst/>
            <a:gdLst/>
            <a:ahLst/>
            <a:cxnLst/>
            <a:rect l="l" t="t" r="r" b="b"/>
            <a:pathLst>
              <a:path w="380365" h="30480">
                <a:moveTo>
                  <a:pt x="380276" y="0"/>
                </a:moveTo>
                <a:lnTo>
                  <a:pt x="147878" y="0"/>
                </a:lnTo>
                <a:lnTo>
                  <a:pt x="0" y="30111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36131" y="2619463"/>
            <a:ext cx="380365" cy="30480"/>
          </a:xfrm>
          <a:custGeom>
            <a:avLst/>
            <a:gdLst/>
            <a:ahLst/>
            <a:cxnLst/>
            <a:rect l="l" t="t" r="r" b="b"/>
            <a:pathLst>
              <a:path w="380365" h="30480">
                <a:moveTo>
                  <a:pt x="380276" y="0"/>
                </a:moveTo>
                <a:lnTo>
                  <a:pt x="147878" y="0"/>
                </a:lnTo>
                <a:lnTo>
                  <a:pt x="0" y="30111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577603" y="1890248"/>
          <a:ext cx="1699260" cy="1443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410"/>
                <a:gridCol w="1447165"/>
              </a:tblGrid>
              <a:tr h="33127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B w="3175">
                      <a:solidFill>
                        <a:srgbClr val="8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00" spc="-200" b="1">
                          <a:latin typeface="Tahoma"/>
                          <a:cs typeface="Tahoma"/>
                        </a:rPr>
                        <a:t>Client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3553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B w="3175">
                      <a:solidFill>
                        <a:srgbClr val="8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5599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B w="3175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u="heavy" sz="1300" spc="-21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+main(args: </a:t>
                      </a:r>
                      <a:r>
                        <a:rPr dirty="0" u="heavy" sz="1300" spc="-17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String[]):</a:t>
                      </a:r>
                      <a:r>
                        <a:rPr dirty="0" u="heavy" sz="1300" spc="-125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u="heavy" sz="1300" spc="-18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077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T w="3175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436131" y="2574289"/>
            <a:ext cx="106045" cy="105410"/>
          </a:xfrm>
          <a:custGeom>
            <a:avLst/>
            <a:gdLst/>
            <a:ahLst/>
            <a:cxnLst/>
            <a:rect l="l" t="t" r="r" b="b"/>
            <a:pathLst>
              <a:path w="106045" h="105410">
                <a:moveTo>
                  <a:pt x="95072" y="0"/>
                </a:moveTo>
                <a:lnTo>
                  <a:pt x="0" y="75285"/>
                </a:lnTo>
                <a:lnTo>
                  <a:pt x="105625" y="105410"/>
                </a:lnTo>
              </a:path>
            </a:pathLst>
          </a:custGeom>
          <a:ln w="12814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7822" y="4589640"/>
            <a:ext cx="7816850" cy="120269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spc="-5">
                <a:latin typeface="微软雅黑"/>
                <a:cs typeface="微软雅黑"/>
              </a:rPr>
              <a:t>UML</a:t>
            </a:r>
            <a:r>
              <a:rPr dirty="0" sz="2400">
                <a:latin typeface="微软雅黑"/>
                <a:cs typeface="微软雅黑"/>
              </a:rPr>
              <a:t>图</a:t>
            </a:r>
            <a:r>
              <a:rPr dirty="0" sz="2400" spc="-5">
                <a:latin typeface="微软雅黑"/>
                <a:cs typeface="微软雅黑"/>
              </a:rPr>
              <a:t>：Unified</a:t>
            </a:r>
            <a:r>
              <a:rPr dirty="0" sz="2400" spc="-1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Modeling</a:t>
            </a:r>
            <a:r>
              <a:rPr dirty="0" sz="2400" spc="-1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Language</a:t>
            </a:r>
            <a:r>
              <a:rPr dirty="0" sz="2400" spc="-10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统一建模语言</a:t>
            </a:r>
            <a:endParaRPr sz="2400">
              <a:latin typeface="微软雅黑"/>
              <a:cs typeface="微软雅黑"/>
            </a:endParaRPr>
          </a:p>
          <a:p>
            <a:pPr marL="184150" marR="5080" indent="-171450">
              <a:lnSpc>
                <a:spcPts val="2590"/>
              </a:lnSpc>
              <a:spcBef>
                <a:spcPts val="78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展示面向对象中的类之间的关系，每种关系的表达都有特 定的符号。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2940" y="2106415"/>
          <a:ext cx="1699260" cy="1443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410"/>
                <a:gridCol w="1447165"/>
              </a:tblGrid>
              <a:tr h="331342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B w="3175">
                      <a:solidFill>
                        <a:srgbClr val="8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00" spc="-200" b="1">
                          <a:latin typeface="Tahoma"/>
                          <a:cs typeface="Tahoma"/>
                        </a:rPr>
                        <a:t>Client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355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B w="3175">
                      <a:solidFill>
                        <a:srgbClr val="8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5603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B w="3175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u="heavy" sz="1300" spc="-21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+main(args: </a:t>
                      </a:r>
                      <a:r>
                        <a:rPr dirty="0" u="heavy" sz="1300" spc="-17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String[]):</a:t>
                      </a:r>
                      <a:r>
                        <a:rPr dirty="0" u="heavy" sz="1300" spc="-125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u="heavy" sz="1300" spc="-18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0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  <a:lnT w="3175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7742" y="1564214"/>
          <a:ext cx="5586095" cy="298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8715"/>
                <a:gridCol w="581025"/>
                <a:gridCol w="2566669"/>
              </a:tblGrid>
              <a:tr h="12048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00" spc="-210" b="1">
                          <a:latin typeface="Tahoma"/>
                          <a:cs typeface="Tahoma"/>
                        </a:rPr>
                        <a:t>Student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10858">
                <a:tc rowSpan="2"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00" spc="-220" b="1">
                          <a:latin typeface="Tahoma"/>
                          <a:cs typeface="Tahoma"/>
                        </a:rPr>
                        <a:t>Course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2049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  <a:spcBef>
                          <a:spcPts val="595"/>
                        </a:spcBef>
                      </a:pPr>
                      <a:r>
                        <a:rPr dirty="0" sz="1300" spc="-220">
                          <a:latin typeface="Tahoma"/>
                          <a:cs typeface="Tahoma"/>
                        </a:rPr>
                        <a:t>-name: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80">
                          <a:latin typeface="Tahoma"/>
                          <a:cs typeface="Tahoma"/>
                        </a:rPr>
                        <a:t>-grade: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175">
                          <a:latin typeface="Tahoma"/>
                          <a:cs typeface="Tahoma"/>
                        </a:rPr>
                        <a:t>-courses: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5">
                          <a:latin typeface="Tahoma"/>
                          <a:cs typeface="Tahoma"/>
                        </a:rPr>
                        <a:t>Course[]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73095">
                <a:tc>
                  <a:txBody>
                    <a:bodyPr/>
                    <a:lstStyle/>
                    <a:p>
                      <a:pPr marL="52705">
                        <a:lnSpc>
                          <a:spcPts val="1455"/>
                        </a:lnSpc>
                        <a:spcBef>
                          <a:spcPts val="595"/>
                        </a:spcBef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-courseName: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54043">
                <a:tc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190">
                          <a:latin typeface="Tahoma"/>
                          <a:cs typeface="Tahoma"/>
                        </a:rPr>
                        <a:t>-courseHour: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5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90360">
                <a:tc rowSpan="2">
                  <a:txBody>
                    <a:bodyPr/>
                    <a:lstStyle/>
                    <a:p>
                      <a:pPr marL="52705">
                        <a:lnSpc>
                          <a:spcPts val="1455"/>
                        </a:lnSpc>
                        <a:spcBef>
                          <a:spcPts val="5"/>
                        </a:spcBef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+Course()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  <a:spcBef>
                          <a:spcPts val="595"/>
                        </a:spcBef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+Student()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229">
                          <a:latin typeface="Tahoma"/>
                          <a:cs typeface="Tahoma"/>
                        </a:rPr>
                        <a:t>+setName(name: </a:t>
                      </a:r>
                      <a:r>
                        <a:rPr dirty="0" sz="1300" spc="-170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1300" spc="-2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215">
                          <a:latin typeface="Tahoma"/>
                          <a:cs typeface="Tahoma"/>
                        </a:rPr>
                        <a:t>+getName():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90">
                          <a:latin typeface="Tahoma"/>
                          <a:cs typeface="Tahoma"/>
                        </a:rPr>
                        <a:t>+setGrade(grade: 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iint):</a:t>
                      </a:r>
                      <a:r>
                        <a:rPr dirty="0" sz="13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+getGrade():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85">
                          <a:latin typeface="Tahoma"/>
                          <a:cs typeface="Tahoma"/>
                        </a:rPr>
                        <a:t>+setCourses(courses: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Course[]):</a:t>
                      </a:r>
                      <a:r>
                        <a:rPr dirty="0" sz="13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85">
                          <a:latin typeface="Tahoma"/>
                          <a:cs typeface="Tahoma"/>
                        </a:rPr>
                        <a:t>+getCourse():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5">
                          <a:latin typeface="Tahoma"/>
                          <a:cs typeface="Tahoma"/>
                        </a:rPr>
                        <a:t>Course[]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4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+getHours():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+showMessage():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0743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95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+Course(courseName: </a:t>
                      </a:r>
                      <a:r>
                        <a:rPr dirty="0" sz="1300" spc="-170">
                          <a:latin typeface="Tahoma"/>
                          <a:cs typeface="Tahoma"/>
                        </a:rPr>
                        <a:t>String, </a:t>
                      </a:r>
                      <a:r>
                        <a:rPr dirty="0" sz="1300" spc="-200">
                          <a:latin typeface="Tahoma"/>
                          <a:cs typeface="Tahoma"/>
                        </a:rPr>
                        <a:t>couseHour:</a:t>
                      </a:r>
                      <a:r>
                        <a:rPr dirty="0" sz="13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int)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95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215">
                          <a:latin typeface="Tahoma"/>
                          <a:cs typeface="Tahoma"/>
                        </a:rPr>
                        <a:t>+setCourseName(courseName: </a:t>
                      </a:r>
                      <a:r>
                        <a:rPr dirty="0" sz="1300" spc="-170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1300" spc="-2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95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210">
                          <a:latin typeface="Tahoma"/>
                          <a:cs typeface="Tahoma"/>
                        </a:rPr>
                        <a:t>+getCourseName():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75">
                          <a:latin typeface="Tahoma"/>
                          <a:cs typeface="Tahoma"/>
                        </a:rPr>
                        <a:t>String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5795">
                <a:tc>
                  <a:txBody>
                    <a:bodyPr/>
                    <a:lstStyle/>
                    <a:p>
                      <a:pPr marL="52705">
                        <a:lnSpc>
                          <a:spcPts val="144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+setCourseHour(courseHour: 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int):</a:t>
                      </a:r>
                      <a:r>
                        <a:rPr dirty="0" sz="13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80">
                          <a:latin typeface="Tahoma"/>
                          <a:cs typeface="Tahoma"/>
                        </a:rPr>
                        <a:t>void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69092">
                <a:tc>
                  <a:txBody>
                    <a:bodyPr/>
                    <a:lstStyle/>
                    <a:p>
                      <a:pPr marL="52705">
                        <a:lnSpc>
                          <a:spcPts val="1550"/>
                        </a:lnSpc>
                      </a:pPr>
                      <a:r>
                        <a:rPr dirty="0" sz="1300" spc="-195">
                          <a:latin typeface="Tahoma"/>
                          <a:cs typeface="Tahoma"/>
                        </a:rPr>
                        <a:t>+getCourseHour():</a:t>
                      </a:r>
                      <a:r>
                        <a:rPr dirty="0" sz="13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5">
                          <a:latin typeface="Tahoma"/>
                          <a:cs typeface="Tahoma"/>
                        </a:rPr>
                        <a:t>int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662698">
                <a:tc gridSpan="2"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r>
                        <a:rPr dirty="0" sz="24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组合</a:t>
                      </a:r>
                      <a:r>
                        <a:rPr dirty="0" sz="1800">
                          <a:latin typeface="微软雅黑"/>
                          <a:cs typeface="微软雅黑"/>
                        </a:rPr>
                        <a:t>：</a:t>
                      </a:r>
                      <a:r>
                        <a:rPr dirty="0" sz="1800" b="1">
                          <a:latin typeface="微软雅黑"/>
                          <a:cs typeface="微软雅黑"/>
                        </a:rPr>
                        <a:t>整体与部分，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203835">
                    <a:lnR w="19050">
                      <a:solidFill>
                        <a:srgbClr val="8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5565">
                    <a:lnL w="19050">
                      <a:solidFill>
                        <a:srgbClr val="800000"/>
                      </a:solidFill>
                      <a:prstDash val="solid"/>
                    </a:lnL>
                    <a:lnR w="19050">
                      <a:solidFill>
                        <a:srgbClr val="800000"/>
                      </a:solidFill>
                      <a:prstDash val="solid"/>
                    </a:lnR>
                    <a:lnT w="19050">
                      <a:solidFill>
                        <a:srgbClr val="800000"/>
                      </a:solidFill>
                      <a:prstDash val="solid"/>
                    </a:lnT>
                    <a:lnB w="1905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57252" y="2648616"/>
            <a:ext cx="245211" cy="1333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11456" y="2835757"/>
            <a:ext cx="380365" cy="30480"/>
          </a:xfrm>
          <a:custGeom>
            <a:avLst/>
            <a:gdLst/>
            <a:ahLst/>
            <a:cxnLst/>
            <a:rect l="l" t="t" r="r" b="b"/>
            <a:pathLst>
              <a:path w="380364" h="30480">
                <a:moveTo>
                  <a:pt x="380276" y="0"/>
                </a:moveTo>
                <a:lnTo>
                  <a:pt x="147891" y="0"/>
                </a:lnTo>
                <a:lnTo>
                  <a:pt x="0" y="30124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11456" y="2835757"/>
            <a:ext cx="380365" cy="30480"/>
          </a:xfrm>
          <a:custGeom>
            <a:avLst/>
            <a:gdLst/>
            <a:ahLst/>
            <a:cxnLst/>
            <a:rect l="l" t="t" r="r" b="b"/>
            <a:pathLst>
              <a:path w="380364" h="30480">
                <a:moveTo>
                  <a:pt x="380276" y="0"/>
                </a:moveTo>
                <a:lnTo>
                  <a:pt x="147891" y="0"/>
                </a:lnTo>
                <a:lnTo>
                  <a:pt x="0" y="30124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11456" y="2790583"/>
            <a:ext cx="106045" cy="106045"/>
          </a:xfrm>
          <a:custGeom>
            <a:avLst/>
            <a:gdLst/>
            <a:ahLst/>
            <a:cxnLst/>
            <a:rect l="l" t="t" r="r" b="b"/>
            <a:pathLst>
              <a:path w="106045" h="106044">
                <a:moveTo>
                  <a:pt x="95072" y="0"/>
                </a:moveTo>
                <a:lnTo>
                  <a:pt x="0" y="75298"/>
                </a:lnTo>
                <a:lnTo>
                  <a:pt x="105638" y="105422"/>
                </a:lnTo>
              </a:path>
            </a:pathLst>
          </a:custGeom>
          <a:ln w="12814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92977" y="3927881"/>
            <a:ext cx="2311400" cy="942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依赖</a:t>
            </a: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dirty="0" sz="1800" b="1">
                <a:latin typeface="微软雅黑"/>
                <a:cs typeface="微软雅黑"/>
              </a:rPr>
              <a:t>某个类以局部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微软雅黑"/>
                <a:cs typeface="微软雅黑"/>
              </a:rPr>
              <a:t>变量或参数的形式出现 在另一个类中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0565" y="4434675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微软雅黑"/>
                <a:cs typeface="微软雅黑"/>
              </a:rPr>
              <a:t>二者不可分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157833" y="1880730"/>
          <a:ext cx="1643380" cy="1229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7505"/>
              </a:tblGrid>
              <a:tr h="225412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20" b="1">
                          <a:latin typeface="Tahoma"/>
                          <a:cs typeface="Tahoma"/>
                        </a:rPr>
                        <a:t>Product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5820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5">
                          <a:latin typeface="Tahoma"/>
                          <a:cs typeface="Tahoma"/>
                        </a:rPr>
                        <a:t>-productName: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 spc="5">
                          <a:latin typeface="Tahoma"/>
                          <a:cs typeface="Tahoma"/>
                        </a:rPr>
                        <a:t>-desciption: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5">
                          <a:latin typeface="Tahoma"/>
                          <a:cs typeface="Tahoma"/>
                        </a:rPr>
                        <a:t>-addTime: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5">
                          <a:latin typeface="Tahoma"/>
                          <a:cs typeface="Tahoma"/>
                        </a:rPr>
                        <a:t>Date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 spc="5">
                          <a:latin typeface="Tahoma"/>
                          <a:cs typeface="Tahoma"/>
                        </a:rPr>
                        <a:t>-salePrice:</a:t>
                      </a:r>
                      <a:r>
                        <a:rPr dirty="0" sz="85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>
                          <a:latin typeface="Tahoma"/>
                          <a:cs typeface="Tahoma"/>
                        </a:rPr>
                        <a:t>double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 spc="15">
                          <a:latin typeface="Tahoma"/>
                          <a:cs typeface="Tahoma"/>
                        </a:rPr>
                        <a:t>-keywords:</a:t>
                      </a:r>
                      <a:r>
                        <a:rPr dirty="0" sz="850" spc="-8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35648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15">
                          <a:latin typeface="Tahoma"/>
                          <a:cs typeface="Tahoma"/>
                        </a:rPr>
                        <a:t>+……()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9780" y="3520084"/>
          <a:ext cx="1469390" cy="1393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3515"/>
              </a:tblGrid>
              <a:tr h="225412"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15" b="1">
                          <a:latin typeface="Tahoma"/>
                          <a:cs typeface="Tahoma"/>
                        </a:rPr>
                        <a:t>Book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89138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15">
                          <a:latin typeface="Tahoma"/>
                          <a:cs typeface="Tahoma"/>
                        </a:rPr>
                        <a:t>-author: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>
                          <a:latin typeface="Tahoma"/>
                          <a:cs typeface="Tahoma"/>
                        </a:rPr>
                        <a:t>-publisher: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50" spc="-10">
                          <a:latin typeface="Tahoma"/>
                          <a:cs typeface="Tahoma"/>
                        </a:rPr>
                        <a:t>-publishTime: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15">
                          <a:latin typeface="Tahoma"/>
                          <a:cs typeface="Tahoma"/>
                        </a:rPr>
                        <a:t>Date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 spc="5">
                          <a:latin typeface="Tahoma"/>
                          <a:cs typeface="Tahoma"/>
                        </a:rPr>
                        <a:t>-wordsNumber:</a:t>
                      </a:r>
                      <a:r>
                        <a:rPr dirty="0" sz="85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 spc="5">
                          <a:latin typeface="Tahoma"/>
                          <a:cs typeface="Tahoma"/>
                        </a:rPr>
                        <a:t>-edition: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>
                          <a:latin typeface="Tahoma"/>
                          <a:cs typeface="Tahoma"/>
                        </a:rPr>
                        <a:t>-isbn: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6639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15">
                          <a:latin typeface="Tahoma"/>
                          <a:cs typeface="Tahoma"/>
                        </a:rPr>
                        <a:t>+……()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40635" y="3520084"/>
          <a:ext cx="1356995" cy="1434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120"/>
              </a:tblGrid>
              <a:tr h="225412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20" b="1">
                          <a:latin typeface="Tahoma"/>
                          <a:cs typeface="Tahoma"/>
                        </a:rPr>
                        <a:t>Clothes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35859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5">
                          <a:latin typeface="Tahoma"/>
                          <a:cs typeface="Tahoma"/>
                        </a:rPr>
                        <a:t>-color: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850" spc="10">
                          <a:latin typeface="Tahoma"/>
                          <a:cs typeface="Tahoma"/>
                        </a:rPr>
                        <a:t>-size: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5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840168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850" spc="15">
                          <a:latin typeface="Tahoma"/>
                          <a:cs typeface="Tahoma"/>
                        </a:rPr>
                        <a:t>+……()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459839" y="3115360"/>
            <a:ext cx="205104" cy="410209"/>
          </a:xfrm>
          <a:custGeom>
            <a:avLst/>
            <a:gdLst/>
            <a:ahLst/>
            <a:cxnLst/>
            <a:rect l="l" t="t" r="r" b="b"/>
            <a:pathLst>
              <a:path w="205105" h="410210">
                <a:moveTo>
                  <a:pt x="0" y="409841"/>
                </a:moveTo>
                <a:lnTo>
                  <a:pt x="204749" y="0"/>
                </a:lnTo>
              </a:path>
            </a:pathLst>
          </a:custGeom>
          <a:ln w="1023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00784" y="3115360"/>
            <a:ext cx="163830" cy="215265"/>
          </a:xfrm>
          <a:custGeom>
            <a:avLst/>
            <a:gdLst/>
            <a:ahLst/>
            <a:cxnLst/>
            <a:rect l="l" t="t" r="r" b="b"/>
            <a:pathLst>
              <a:path w="163830" h="215264">
                <a:moveTo>
                  <a:pt x="153568" y="215163"/>
                </a:moveTo>
                <a:lnTo>
                  <a:pt x="163804" y="0"/>
                </a:lnTo>
                <a:lnTo>
                  <a:pt x="0" y="143446"/>
                </a:lnTo>
                <a:lnTo>
                  <a:pt x="153568" y="215163"/>
                </a:lnTo>
              </a:path>
            </a:pathLst>
          </a:custGeom>
          <a:ln w="1023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78837" y="3115360"/>
            <a:ext cx="194945" cy="410209"/>
          </a:xfrm>
          <a:custGeom>
            <a:avLst/>
            <a:gdLst/>
            <a:ahLst/>
            <a:cxnLst/>
            <a:rect l="l" t="t" r="r" b="b"/>
            <a:pathLst>
              <a:path w="194944" h="410210">
                <a:moveTo>
                  <a:pt x="194513" y="409841"/>
                </a:moveTo>
                <a:lnTo>
                  <a:pt x="0" y="0"/>
                </a:lnTo>
              </a:path>
            </a:pathLst>
          </a:custGeom>
          <a:ln w="1023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78837" y="3115360"/>
            <a:ext cx="163830" cy="215265"/>
          </a:xfrm>
          <a:custGeom>
            <a:avLst/>
            <a:gdLst/>
            <a:ahLst/>
            <a:cxnLst/>
            <a:rect l="l" t="t" r="r" b="b"/>
            <a:pathLst>
              <a:path w="163830" h="215264">
                <a:moveTo>
                  <a:pt x="163804" y="143446"/>
                </a:moveTo>
                <a:lnTo>
                  <a:pt x="0" y="0"/>
                </a:lnTo>
                <a:lnTo>
                  <a:pt x="10236" y="215163"/>
                </a:lnTo>
                <a:lnTo>
                  <a:pt x="163804" y="143446"/>
                </a:lnTo>
              </a:path>
            </a:pathLst>
          </a:custGeom>
          <a:ln w="1023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47966" y="5068811"/>
            <a:ext cx="2227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泛化</a:t>
            </a: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dirty="0" sz="1800" b="1">
                <a:latin typeface="微软雅黑"/>
                <a:cs typeface="微软雅黑"/>
              </a:rPr>
              <a:t>ex</a:t>
            </a:r>
            <a:r>
              <a:rPr dirty="0" sz="1800" spc="-15" b="1">
                <a:latin typeface="微软雅黑"/>
                <a:cs typeface="微软雅黑"/>
              </a:rPr>
              <a:t>t</a:t>
            </a:r>
            <a:r>
              <a:rPr dirty="0" sz="1800" b="1">
                <a:latin typeface="微软雅黑"/>
                <a:cs typeface="微软雅黑"/>
              </a:rPr>
              <a:t>e</a:t>
            </a:r>
            <a:r>
              <a:rPr dirty="0" sz="1800" spc="-5" b="1">
                <a:latin typeface="微软雅黑"/>
                <a:cs typeface="微软雅黑"/>
              </a:rPr>
              <a:t>nd</a:t>
            </a:r>
            <a:r>
              <a:rPr dirty="0" sz="1800" b="1">
                <a:latin typeface="微软雅黑"/>
                <a:cs typeface="微软雅黑"/>
              </a:rPr>
              <a:t>s继承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85575" y="2529789"/>
            <a:ext cx="1725930" cy="969010"/>
          </a:xfrm>
          <a:custGeom>
            <a:avLst/>
            <a:gdLst/>
            <a:ahLst/>
            <a:cxnLst/>
            <a:rect l="l" t="t" r="r" b="b"/>
            <a:pathLst>
              <a:path w="1725929" h="969010">
                <a:moveTo>
                  <a:pt x="0" y="0"/>
                </a:moveTo>
                <a:lnTo>
                  <a:pt x="1725790" y="0"/>
                </a:lnTo>
                <a:lnTo>
                  <a:pt x="1725790" y="968540"/>
                </a:lnTo>
                <a:lnTo>
                  <a:pt x="0" y="968540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85575" y="2529789"/>
            <a:ext cx="1725930" cy="969010"/>
          </a:xfrm>
          <a:custGeom>
            <a:avLst/>
            <a:gdLst/>
            <a:ahLst/>
            <a:cxnLst/>
            <a:rect l="l" t="t" r="r" b="b"/>
            <a:pathLst>
              <a:path w="1725929" h="969010">
                <a:moveTo>
                  <a:pt x="0" y="0"/>
                </a:moveTo>
                <a:lnTo>
                  <a:pt x="1725790" y="0"/>
                </a:lnTo>
                <a:lnTo>
                  <a:pt x="1725790" y="968540"/>
                </a:lnTo>
                <a:lnTo>
                  <a:pt x="0" y="968540"/>
                </a:lnTo>
                <a:lnTo>
                  <a:pt x="0" y="0"/>
                </a:lnTo>
                <a:close/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85575" y="2529789"/>
            <a:ext cx="1725930" cy="389890"/>
          </a:xfrm>
          <a:prstGeom prst="rect">
            <a:avLst/>
          </a:prstGeom>
          <a:solidFill>
            <a:srgbClr val="FFFFB8"/>
          </a:solidFill>
          <a:ln w="11137">
            <a:solidFill>
              <a:srgbClr val="8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450"/>
              </a:spcBef>
            </a:pPr>
            <a:r>
              <a:rPr dirty="0" sz="950" spc="5">
                <a:latin typeface="Tahoma"/>
                <a:cs typeface="Tahoma"/>
              </a:rPr>
              <a:t>&lt;&lt;interface&gt;&gt;</a:t>
            </a:r>
            <a:endParaRPr sz="950">
              <a:latin typeface="Tahoma"/>
              <a:cs typeface="Tahoma"/>
            </a:endParaRPr>
          </a:p>
          <a:p>
            <a:pPr marL="389255">
              <a:lnSpc>
                <a:spcPct val="100000"/>
              </a:lnSpc>
            </a:pPr>
            <a:r>
              <a:rPr dirty="0" sz="950" spc="10" b="1">
                <a:latin typeface="Tahoma"/>
                <a:cs typeface="Tahoma"/>
              </a:rPr>
              <a:t>IMobileStorage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5575" y="2919425"/>
            <a:ext cx="1725930" cy="579120"/>
          </a:xfrm>
          <a:prstGeom prst="rect">
            <a:avLst/>
          </a:prstGeom>
          <a:solidFill>
            <a:srgbClr val="FFFFB8"/>
          </a:solidFill>
          <a:ln w="11137">
            <a:solidFill>
              <a:srgbClr val="8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Tahoma"/>
                <a:cs typeface="Tahoma"/>
              </a:rPr>
              <a:t>+read():</a:t>
            </a:r>
            <a:r>
              <a:rPr dirty="0" sz="950" spc="-90">
                <a:latin typeface="Tahoma"/>
                <a:cs typeface="Tahoma"/>
              </a:rPr>
              <a:t> </a:t>
            </a:r>
            <a:r>
              <a:rPr dirty="0" sz="950" spc="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</a:pPr>
            <a:r>
              <a:rPr dirty="0" sz="950" spc="-5">
                <a:latin typeface="Tahoma"/>
                <a:cs typeface="Tahoma"/>
              </a:rPr>
              <a:t>+write():</a:t>
            </a:r>
            <a:r>
              <a:rPr dirty="0" sz="950" spc="-80">
                <a:latin typeface="Tahoma"/>
                <a:cs typeface="Tahoma"/>
              </a:rPr>
              <a:t> </a:t>
            </a:r>
            <a:r>
              <a:rPr dirty="0" sz="950" spc="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72990" y="971219"/>
            <a:ext cx="3140075" cy="1180465"/>
          </a:xfrm>
          <a:custGeom>
            <a:avLst/>
            <a:gdLst/>
            <a:ahLst/>
            <a:cxnLst/>
            <a:rect l="l" t="t" r="r" b="b"/>
            <a:pathLst>
              <a:path w="3140075" h="1180464">
                <a:moveTo>
                  <a:pt x="0" y="0"/>
                </a:moveTo>
                <a:lnTo>
                  <a:pt x="3139820" y="0"/>
                </a:lnTo>
                <a:lnTo>
                  <a:pt x="3139820" y="1180058"/>
                </a:lnTo>
                <a:lnTo>
                  <a:pt x="0" y="1180058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72990" y="971219"/>
            <a:ext cx="3140075" cy="1180465"/>
          </a:xfrm>
          <a:custGeom>
            <a:avLst/>
            <a:gdLst/>
            <a:ahLst/>
            <a:cxnLst/>
            <a:rect l="l" t="t" r="r" b="b"/>
            <a:pathLst>
              <a:path w="3140075" h="1180464">
                <a:moveTo>
                  <a:pt x="0" y="0"/>
                </a:moveTo>
                <a:lnTo>
                  <a:pt x="3139820" y="0"/>
                </a:lnTo>
                <a:lnTo>
                  <a:pt x="3139820" y="1180058"/>
                </a:lnTo>
                <a:lnTo>
                  <a:pt x="0" y="1180058"/>
                </a:lnTo>
                <a:lnTo>
                  <a:pt x="0" y="0"/>
                </a:lnTo>
                <a:close/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372990" y="971219"/>
            <a:ext cx="3140075" cy="245110"/>
          </a:xfrm>
          <a:prstGeom prst="rect">
            <a:avLst/>
          </a:prstGeom>
          <a:solidFill>
            <a:srgbClr val="FFFFB8"/>
          </a:solidFill>
          <a:ln w="11137">
            <a:solidFill>
              <a:srgbClr val="8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algn="ctr" marL="19685">
              <a:lnSpc>
                <a:spcPct val="100000"/>
              </a:lnSpc>
              <a:spcBef>
                <a:spcPts val="450"/>
              </a:spcBef>
            </a:pPr>
            <a:r>
              <a:rPr dirty="0" sz="950" spc="20" b="1">
                <a:latin typeface="Tahoma"/>
                <a:cs typeface="Tahoma"/>
              </a:rPr>
              <a:t>Computer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72990" y="1216139"/>
            <a:ext cx="3140075" cy="245110"/>
          </a:xfrm>
          <a:prstGeom prst="rect">
            <a:avLst/>
          </a:prstGeom>
          <a:solidFill>
            <a:srgbClr val="FFFFB8"/>
          </a:solidFill>
          <a:ln w="11137">
            <a:solidFill>
              <a:srgbClr val="8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Tahoma"/>
                <a:cs typeface="Tahoma"/>
              </a:rPr>
              <a:t>-usbDriver:</a:t>
            </a:r>
            <a:r>
              <a:rPr dirty="0" sz="950" spc="-30">
                <a:latin typeface="Tahoma"/>
                <a:cs typeface="Tahoma"/>
              </a:rPr>
              <a:t> </a:t>
            </a:r>
            <a:r>
              <a:rPr dirty="0" sz="950" spc="-5">
                <a:latin typeface="Tahoma"/>
                <a:cs typeface="Tahoma"/>
              </a:rPr>
              <a:t>IMobileStorage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72990" y="1461058"/>
            <a:ext cx="3140075" cy="690245"/>
          </a:xfrm>
          <a:prstGeom prst="rect">
            <a:avLst/>
          </a:prstGeom>
          <a:solidFill>
            <a:srgbClr val="FFFFB8"/>
          </a:solidFill>
          <a:ln w="11137">
            <a:solidFill>
              <a:srgbClr val="8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Tahoma"/>
                <a:cs typeface="Tahoma"/>
              </a:rPr>
              <a:t>+Computer(usbDriver:</a:t>
            </a:r>
            <a:r>
              <a:rPr dirty="0" sz="950" spc="-30">
                <a:latin typeface="Tahoma"/>
                <a:cs typeface="Tahoma"/>
              </a:rPr>
              <a:t> </a:t>
            </a:r>
            <a:r>
              <a:rPr dirty="0" sz="950" spc="-5">
                <a:latin typeface="Tahoma"/>
                <a:cs typeface="Tahoma"/>
              </a:rPr>
              <a:t>IMobileStorage)</a:t>
            </a:r>
            <a:endParaRPr sz="95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</a:pPr>
            <a:r>
              <a:rPr dirty="0" sz="950">
                <a:latin typeface="Tahoma"/>
                <a:cs typeface="Tahoma"/>
              </a:rPr>
              <a:t>+setUsbDriver(usbDriver: </a:t>
            </a:r>
            <a:r>
              <a:rPr dirty="0" sz="950" spc="-5">
                <a:latin typeface="Tahoma"/>
                <a:cs typeface="Tahoma"/>
              </a:rPr>
              <a:t>IMobileStorage):</a:t>
            </a:r>
            <a:r>
              <a:rPr dirty="0" sz="950" spc="-45">
                <a:latin typeface="Tahoma"/>
                <a:cs typeface="Tahoma"/>
              </a:rPr>
              <a:t> </a:t>
            </a:r>
            <a:r>
              <a:rPr dirty="0" sz="950" spc="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</a:pPr>
            <a:r>
              <a:rPr dirty="0" sz="950" spc="5">
                <a:latin typeface="Tahoma"/>
                <a:cs typeface="Tahoma"/>
              </a:rPr>
              <a:t>+readData():</a:t>
            </a:r>
            <a:r>
              <a:rPr dirty="0" sz="950" spc="-110">
                <a:latin typeface="Tahoma"/>
                <a:cs typeface="Tahoma"/>
              </a:rPr>
              <a:t> </a:t>
            </a:r>
            <a:r>
              <a:rPr dirty="0" sz="950" spc="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</a:pPr>
            <a:r>
              <a:rPr dirty="0" sz="950">
                <a:latin typeface="Tahoma"/>
                <a:cs typeface="Tahoma"/>
              </a:rPr>
              <a:t>+writeData():</a:t>
            </a:r>
            <a:r>
              <a:rPr dirty="0" sz="950" spc="-85">
                <a:latin typeface="Tahoma"/>
                <a:cs typeface="Tahoma"/>
              </a:rPr>
              <a:t> </a:t>
            </a:r>
            <a:r>
              <a:rPr dirty="0" sz="950" spc="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743915" y="4082776"/>
          <a:ext cx="1252855" cy="83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5710"/>
              </a:tblGrid>
              <a:tr h="244919"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950" spc="10" b="1">
                          <a:latin typeface="Tahoma"/>
                          <a:cs typeface="Tahoma"/>
                        </a:rPr>
                        <a:t>FlashDriver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00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47870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950">
                          <a:latin typeface="Tahoma"/>
                          <a:cs typeface="Tahoma"/>
                        </a:rPr>
                        <a:t>+read():</a:t>
                      </a:r>
                      <a:r>
                        <a:rPr dirty="0" sz="950" spc="-9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5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50" spc="-5">
                          <a:latin typeface="Tahoma"/>
                          <a:cs typeface="Tahoma"/>
                        </a:rPr>
                        <a:t>+write():</a:t>
                      </a:r>
                      <a:r>
                        <a:rPr dirty="0" sz="950" spc="-8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5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4818354" y="3509454"/>
            <a:ext cx="612775" cy="579120"/>
          </a:xfrm>
          <a:custGeom>
            <a:avLst/>
            <a:gdLst/>
            <a:ahLst/>
            <a:cxnLst/>
            <a:rect l="l" t="t" r="r" b="b"/>
            <a:pathLst>
              <a:path w="612775" h="579120">
                <a:moveTo>
                  <a:pt x="0" y="578891"/>
                </a:moveTo>
                <a:lnTo>
                  <a:pt x="612381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08054" y="3509454"/>
            <a:ext cx="222885" cy="222885"/>
          </a:xfrm>
          <a:custGeom>
            <a:avLst/>
            <a:gdLst/>
            <a:ahLst/>
            <a:cxnLst/>
            <a:rect l="l" t="t" r="r" b="b"/>
            <a:pathLst>
              <a:path w="222885" h="222885">
                <a:moveTo>
                  <a:pt x="133603" y="222656"/>
                </a:moveTo>
                <a:lnTo>
                  <a:pt x="222681" y="0"/>
                </a:lnTo>
                <a:lnTo>
                  <a:pt x="0" y="77927"/>
                </a:lnTo>
                <a:lnTo>
                  <a:pt x="133603" y="222656"/>
                </a:lnTo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19191" y="4088345"/>
            <a:ext cx="1325245" cy="824230"/>
          </a:xfrm>
          <a:custGeom>
            <a:avLst/>
            <a:gdLst/>
            <a:ahLst/>
            <a:cxnLst/>
            <a:rect l="l" t="t" r="r" b="b"/>
            <a:pathLst>
              <a:path w="1325245" h="824229">
                <a:moveTo>
                  <a:pt x="0" y="0"/>
                </a:moveTo>
                <a:lnTo>
                  <a:pt x="1324965" y="0"/>
                </a:lnTo>
                <a:lnTo>
                  <a:pt x="1324965" y="823810"/>
                </a:lnTo>
                <a:lnTo>
                  <a:pt x="0" y="823810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219191" y="4088345"/>
            <a:ext cx="1325245" cy="824230"/>
          </a:xfrm>
          <a:custGeom>
            <a:avLst/>
            <a:gdLst/>
            <a:ahLst/>
            <a:cxnLst/>
            <a:rect l="l" t="t" r="r" b="b"/>
            <a:pathLst>
              <a:path w="1325245" h="824229">
                <a:moveTo>
                  <a:pt x="0" y="0"/>
                </a:moveTo>
                <a:lnTo>
                  <a:pt x="1324965" y="0"/>
                </a:lnTo>
                <a:lnTo>
                  <a:pt x="1324965" y="823810"/>
                </a:lnTo>
                <a:lnTo>
                  <a:pt x="0" y="823810"/>
                </a:lnTo>
                <a:lnTo>
                  <a:pt x="0" y="0"/>
                </a:lnTo>
                <a:close/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219191" y="4088345"/>
            <a:ext cx="1325245" cy="245110"/>
          </a:xfrm>
          <a:prstGeom prst="rect">
            <a:avLst/>
          </a:prstGeom>
          <a:ln w="11137">
            <a:solidFill>
              <a:srgbClr val="8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450"/>
              </a:spcBef>
            </a:pPr>
            <a:r>
              <a:rPr dirty="0" sz="950" spc="5" b="1">
                <a:latin typeface="Tahoma"/>
                <a:cs typeface="Tahoma"/>
              </a:rPr>
              <a:t>MobileHardDisk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19191" y="4333265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 h="0">
                <a:moveTo>
                  <a:pt x="0" y="0"/>
                </a:moveTo>
                <a:lnTo>
                  <a:pt x="1336090" y="0"/>
                </a:lnTo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219191" y="4433455"/>
            <a:ext cx="1325245" cy="478790"/>
          </a:xfrm>
          <a:prstGeom prst="rect">
            <a:avLst/>
          </a:prstGeom>
          <a:solidFill>
            <a:srgbClr val="FFFFB8"/>
          </a:solidFill>
          <a:ln w="11137">
            <a:solidFill>
              <a:srgbClr val="800000"/>
            </a:solidFill>
          </a:ln>
        </p:spPr>
        <p:txBody>
          <a:bodyPr wrap="square" lIns="0" tIns="5715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Tahoma"/>
                <a:cs typeface="Tahoma"/>
              </a:rPr>
              <a:t>+read():</a:t>
            </a:r>
            <a:r>
              <a:rPr dirty="0" sz="950" spc="-90">
                <a:latin typeface="Tahoma"/>
                <a:cs typeface="Tahoma"/>
              </a:rPr>
              <a:t> </a:t>
            </a:r>
            <a:r>
              <a:rPr dirty="0" sz="950" spc="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55244">
              <a:lnSpc>
                <a:spcPct val="100000"/>
              </a:lnSpc>
            </a:pPr>
            <a:r>
              <a:rPr dirty="0" sz="950" spc="-5">
                <a:latin typeface="Tahoma"/>
                <a:cs typeface="Tahoma"/>
              </a:rPr>
              <a:t>+write():</a:t>
            </a:r>
            <a:r>
              <a:rPr dirty="0" sz="950" spc="-80">
                <a:latin typeface="Tahoma"/>
                <a:cs typeface="Tahoma"/>
              </a:rPr>
              <a:t> </a:t>
            </a:r>
            <a:r>
              <a:rPr dirty="0" sz="950" spc="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931776" y="3509454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578891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931776" y="3509454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578891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37129" y="3503885"/>
            <a:ext cx="189280" cy="233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861473" y="4127315"/>
          <a:ext cx="1508760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/>
              </a:tblGrid>
              <a:tr h="244906"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950" spc="15" b="1">
                          <a:latin typeface="Tahoma"/>
                          <a:cs typeface="Tahoma"/>
                        </a:rPr>
                        <a:t>MP3Player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002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434174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950">
                          <a:latin typeface="Tahoma"/>
                          <a:cs typeface="Tahoma"/>
                        </a:rPr>
                        <a:t>+read():</a:t>
                      </a:r>
                      <a:r>
                        <a:rPr dirty="0" sz="950" spc="-9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5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50" spc="-5">
                          <a:latin typeface="Tahoma"/>
                          <a:cs typeface="Tahoma"/>
                        </a:rPr>
                        <a:t>+write():</a:t>
                      </a:r>
                      <a:r>
                        <a:rPr dirty="0" sz="950" spc="-8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5">
                          <a:latin typeface="Tahoma"/>
                          <a:cs typeface="Tahoma"/>
                        </a:rPr>
                        <a:t>void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6488480" y="3509454"/>
            <a:ext cx="690880" cy="623570"/>
          </a:xfrm>
          <a:custGeom>
            <a:avLst/>
            <a:gdLst/>
            <a:ahLst/>
            <a:cxnLst/>
            <a:rect l="l" t="t" r="r" b="b"/>
            <a:pathLst>
              <a:path w="690879" h="623570">
                <a:moveTo>
                  <a:pt x="690308" y="623430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488480" y="3509454"/>
            <a:ext cx="690880" cy="623570"/>
          </a:xfrm>
          <a:custGeom>
            <a:avLst/>
            <a:gdLst/>
            <a:ahLst/>
            <a:cxnLst/>
            <a:rect l="l" t="t" r="r" b="b"/>
            <a:pathLst>
              <a:path w="690879" h="623570">
                <a:moveTo>
                  <a:pt x="690308" y="623430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488480" y="3509454"/>
            <a:ext cx="222885" cy="212090"/>
          </a:xfrm>
          <a:custGeom>
            <a:avLst/>
            <a:gdLst/>
            <a:ahLst/>
            <a:cxnLst/>
            <a:rect l="l" t="t" r="r" b="b"/>
            <a:pathLst>
              <a:path w="222884" h="212089">
                <a:moveTo>
                  <a:pt x="222681" y="77927"/>
                </a:moveTo>
                <a:lnTo>
                  <a:pt x="0" y="0"/>
                </a:lnTo>
                <a:lnTo>
                  <a:pt x="100202" y="211518"/>
                </a:lnTo>
                <a:lnTo>
                  <a:pt x="222681" y="77927"/>
                </a:lnTo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42901" y="2162416"/>
            <a:ext cx="0" cy="367665"/>
          </a:xfrm>
          <a:custGeom>
            <a:avLst/>
            <a:gdLst/>
            <a:ahLst/>
            <a:cxnLst/>
            <a:rect l="l" t="t" r="r" b="b"/>
            <a:pathLst>
              <a:path w="0" h="367664">
                <a:moveTo>
                  <a:pt x="0" y="0"/>
                </a:moveTo>
                <a:lnTo>
                  <a:pt x="0" y="367372"/>
                </a:lnTo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898362" y="2418460"/>
            <a:ext cx="89535" cy="111760"/>
          </a:xfrm>
          <a:custGeom>
            <a:avLst/>
            <a:gdLst/>
            <a:ahLst/>
            <a:cxnLst/>
            <a:rect l="l" t="t" r="r" b="b"/>
            <a:pathLst>
              <a:path w="89535" h="111760">
                <a:moveTo>
                  <a:pt x="0" y="0"/>
                </a:moveTo>
                <a:lnTo>
                  <a:pt x="44538" y="111328"/>
                </a:lnTo>
                <a:lnTo>
                  <a:pt x="89077" y="0"/>
                </a:lnTo>
              </a:path>
            </a:pathLst>
          </a:custGeom>
          <a:ln w="11137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136641" y="5082870"/>
            <a:ext cx="2110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实现</a:t>
            </a:r>
            <a:r>
              <a:rPr dirty="0" sz="1800" spc="-5" b="1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dirty="0" sz="1800" spc="-5" b="1">
                <a:latin typeface="微软雅黑"/>
                <a:cs typeface="微软雅黑"/>
              </a:rPr>
              <a:t>implement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0700"/>
            <a:ext cx="5721350" cy="4448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5.2.1</a:t>
            </a:r>
            <a:r>
              <a:rPr dirty="0" sz="2100" spc="-10" b="1">
                <a:latin typeface="微软雅黑"/>
                <a:cs typeface="微软雅黑"/>
              </a:rPr>
              <a:t> </a:t>
            </a:r>
            <a:r>
              <a:rPr dirty="0" sz="2100" b="1">
                <a:latin typeface="微软雅黑"/>
                <a:cs typeface="微软雅黑"/>
              </a:rPr>
              <a:t>继承的概念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代码复用的手</a:t>
            </a:r>
            <a:r>
              <a:rPr dirty="0" sz="2800" spc="-5">
                <a:latin typeface="微软雅黑"/>
                <a:cs typeface="微软雅黑"/>
              </a:rPr>
              <a:t>段</a:t>
            </a:r>
            <a:endParaRPr sz="2800">
              <a:latin typeface="微软雅黑"/>
              <a:cs typeface="微软雅黑"/>
            </a:endParaRPr>
          </a:p>
          <a:p>
            <a:pPr lvl="1" marL="617220" indent="-26162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616585" algn="l"/>
                <a:tab pos="617220" algn="l"/>
              </a:tabLst>
            </a:pPr>
            <a:r>
              <a:rPr dirty="0" sz="2400" spc="-5">
                <a:latin typeface="微软雅黑"/>
                <a:cs typeface="微软雅黑"/>
              </a:rPr>
              <a:t>“is-a”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关系:</a:t>
            </a:r>
            <a:r>
              <a:rPr dirty="0" sz="2400" spc="-1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类之间是继承的关系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 spc="-5">
                <a:latin typeface="微软雅黑"/>
                <a:cs typeface="微软雅黑"/>
              </a:rPr>
              <a:t>“has-a”</a:t>
            </a:r>
            <a:r>
              <a:rPr dirty="0" sz="2400">
                <a:latin typeface="微软雅黑"/>
                <a:cs typeface="微软雅黑"/>
              </a:rPr>
              <a:t>关系: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类之间是组合的关系</a:t>
            </a:r>
            <a:endParaRPr sz="24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har char="•"/>
            </a:pPr>
            <a:endParaRPr sz="185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继承：从已有的类中派生出新的类。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新的类能吸收已有类的数据成员和行为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并能扩展新的能力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24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举例：商品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09683" y="3244729"/>
          <a:ext cx="1440815" cy="1078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845"/>
              </a:tblGrid>
              <a:tr h="197599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15" b="1">
                          <a:latin typeface="Tahoma"/>
                          <a:cs typeface="Tahoma"/>
                        </a:rPr>
                        <a:t>Product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664629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5">
                          <a:latin typeface="Tahoma"/>
                          <a:cs typeface="Tahoma"/>
                        </a:rPr>
                        <a:t>-productName:</a:t>
                      </a:r>
                      <a:r>
                        <a:rPr dirty="0" sz="75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-desciption: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5">
                          <a:latin typeface="Tahoma"/>
                          <a:cs typeface="Tahoma"/>
                        </a:rPr>
                        <a:t>-addTime: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10">
                          <a:latin typeface="Tahoma"/>
                          <a:cs typeface="Tahoma"/>
                        </a:rPr>
                        <a:t>Date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5">
                          <a:latin typeface="Tahoma"/>
                          <a:cs typeface="Tahoma"/>
                        </a:rPr>
                        <a:t>-salePrice:</a:t>
                      </a:r>
                      <a:r>
                        <a:rPr dirty="0" sz="750" spc="-9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>
                          <a:latin typeface="Tahoma"/>
                          <a:cs typeface="Tahoma"/>
                        </a:rPr>
                        <a:t>double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-keywords:</a:t>
                      </a:r>
                      <a:r>
                        <a:rPr dirty="0" sz="750" spc="-9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06565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+……()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27731" y="4681772"/>
          <a:ext cx="1287780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4445"/>
              </a:tblGrid>
              <a:tr h="197599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10" b="1">
                          <a:latin typeface="Tahoma"/>
                          <a:cs typeface="Tahoma"/>
                        </a:rPr>
                        <a:t>Book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8138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-author: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-publisher: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-10">
                          <a:latin typeface="Tahoma"/>
                          <a:cs typeface="Tahoma"/>
                        </a:rPr>
                        <a:t>-publishTime: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10">
                          <a:latin typeface="Tahoma"/>
                          <a:cs typeface="Tahoma"/>
                        </a:rPr>
                        <a:t>Date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-wordsNumber: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-edition: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-isbn: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33527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+……()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71098" y="4681772"/>
          <a:ext cx="1189355" cy="1257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5385"/>
              </a:tblGrid>
              <a:tr h="197599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15" b="1">
                          <a:latin typeface="Tahoma"/>
                          <a:cs typeface="Tahoma"/>
                        </a:rPr>
                        <a:t>Clothes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31435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-color: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5">
                          <a:latin typeface="Tahoma"/>
                          <a:cs typeface="Tahoma"/>
                        </a:rPr>
                        <a:t>-size: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36485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+……()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774383" y="4327004"/>
            <a:ext cx="179705" cy="359410"/>
          </a:xfrm>
          <a:custGeom>
            <a:avLst/>
            <a:gdLst/>
            <a:ahLst/>
            <a:cxnLst/>
            <a:rect l="l" t="t" r="r" b="b"/>
            <a:pathLst>
              <a:path w="179704" h="359410">
                <a:moveTo>
                  <a:pt x="0" y="359257"/>
                </a:moveTo>
                <a:lnTo>
                  <a:pt x="179463" y="0"/>
                </a:lnTo>
              </a:path>
            </a:pathLst>
          </a:custGeom>
          <a:ln w="8978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10285" y="4327004"/>
            <a:ext cx="144145" cy="189230"/>
          </a:xfrm>
          <a:custGeom>
            <a:avLst/>
            <a:gdLst/>
            <a:ahLst/>
            <a:cxnLst/>
            <a:rect l="l" t="t" r="r" b="b"/>
            <a:pathLst>
              <a:path w="144145" h="189229">
                <a:moveTo>
                  <a:pt x="134594" y="188607"/>
                </a:moveTo>
                <a:lnTo>
                  <a:pt x="143560" y="0"/>
                </a:lnTo>
                <a:lnTo>
                  <a:pt x="0" y="125742"/>
                </a:lnTo>
                <a:lnTo>
                  <a:pt x="134594" y="188607"/>
                </a:lnTo>
              </a:path>
            </a:pathLst>
          </a:custGeom>
          <a:ln w="8978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92238" y="4327004"/>
            <a:ext cx="170815" cy="359410"/>
          </a:xfrm>
          <a:custGeom>
            <a:avLst/>
            <a:gdLst/>
            <a:ahLst/>
            <a:cxnLst/>
            <a:rect l="l" t="t" r="r" b="b"/>
            <a:pathLst>
              <a:path w="170815" h="359410">
                <a:moveTo>
                  <a:pt x="170484" y="359257"/>
                </a:moveTo>
                <a:lnTo>
                  <a:pt x="0" y="0"/>
                </a:lnTo>
              </a:path>
            </a:pathLst>
          </a:custGeom>
          <a:ln w="8978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92238" y="4327004"/>
            <a:ext cx="144145" cy="189230"/>
          </a:xfrm>
          <a:custGeom>
            <a:avLst/>
            <a:gdLst/>
            <a:ahLst/>
            <a:cxnLst/>
            <a:rect l="l" t="t" r="r" b="b"/>
            <a:pathLst>
              <a:path w="144145" h="189229">
                <a:moveTo>
                  <a:pt x="143560" y="125742"/>
                </a:moveTo>
                <a:lnTo>
                  <a:pt x="0" y="0"/>
                </a:lnTo>
                <a:lnTo>
                  <a:pt x="8966" y="188607"/>
                </a:lnTo>
                <a:lnTo>
                  <a:pt x="143560" y="125742"/>
                </a:lnTo>
              </a:path>
            </a:pathLst>
          </a:custGeom>
          <a:ln w="8978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0840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/>
              <a:t>5.1.1</a:t>
            </a:r>
            <a:r>
              <a:rPr dirty="0" sz="2100" spc="-80"/>
              <a:t> </a:t>
            </a:r>
            <a:r>
              <a:rPr dirty="0" sz="2100"/>
              <a:t>继承的概念</a:t>
            </a:r>
            <a:endParaRPr sz="21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1232" y="2640507"/>
          <a:ext cx="4847590" cy="2118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5455"/>
                <a:gridCol w="3096260"/>
              </a:tblGrid>
              <a:tr h="335279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父</a:t>
                      </a:r>
                      <a:r>
                        <a:rPr dirty="0" sz="1600" spc="-40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类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子</a:t>
                      </a:r>
                      <a:r>
                        <a:rPr dirty="0" sz="1600" spc="-40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类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学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研究生、大学生、小学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形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状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三角形、圆、矩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形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0679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雇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教师、医生、职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交通工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具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轿车、卡车、公交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车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水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果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苹果、梨、桃、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桔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656387" y="2831477"/>
            <a:ext cx="795655" cy="441325"/>
          </a:xfrm>
          <a:custGeom>
            <a:avLst/>
            <a:gdLst/>
            <a:ahLst/>
            <a:cxnLst/>
            <a:rect l="l" t="t" r="r" b="b"/>
            <a:pathLst>
              <a:path w="795654" h="441325">
                <a:moveTo>
                  <a:pt x="795197" y="441325"/>
                </a:moveTo>
                <a:lnTo>
                  <a:pt x="0" y="441325"/>
                </a:lnTo>
                <a:lnTo>
                  <a:pt x="0" y="0"/>
                </a:lnTo>
                <a:lnTo>
                  <a:pt x="795197" y="0"/>
                </a:lnTo>
                <a:lnTo>
                  <a:pt x="795197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31800"/>
                </a:lnTo>
                <a:lnTo>
                  <a:pt x="4762" y="431800"/>
                </a:lnTo>
                <a:lnTo>
                  <a:pt x="9525" y="436562"/>
                </a:lnTo>
                <a:lnTo>
                  <a:pt x="795197" y="436562"/>
                </a:lnTo>
                <a:lnTo>
                  <a:pt x="795197" y="441325"/>
                </a:lnTo>
                <a:close/>
              </a:path>
              <a:path w="795654" h="441325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795654" h="441325">
                <a:moveTo>
                  <a:pt x="785672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785672" y="4762"/>
                </a:lnTo>
                <a:lnTo>
                  <a:pt x="785672" y="9524"/>
                </a:lnTo>
                <a:close/>
              </a:path>
              <a:path w="795654" h="441325">
                <a:moveTo>
                  <a:pt x="785672" y="436562"/>
                </a:moveTo>
                <a:lnTo>
                  <a:pt x="785672" y="4762"/>
                </a:lnTo>
                <a:lnTo>
                  <a:pt x="790435" y="9524"/>
                </a:lnTo>
                <a:lnTo>
                  <a:pt x="795197" y="9524"/>
                </a:lnTo>
                <a:lnTo>
                  <a:pt x="795197" y="431800"/>
                </a:lnTo>
                <a:lnTo>
                  <a:pt x="790435" y="431800"/>
                </a:lnTo>
                <a:lnTo>
                  <a:pt x="785672" y="436562"/>
                </a:lnTo>
                <a:close/>
              </a:path>
              <a:path w="795654" h="441325">
                <a:moveTo>
                  <a:pt x="795197" y="9524"/>
                </a:moveTo>
                <a:lnTo>
                  <a:pt x="790435" y="9524"/>
                </a:lnTo>
                <a:lnTo>
                  <a:pt x="785672" y="4762"/>
                </a:lnTo>
                <a:lnTo>
                  <a:pt x="795197" y="4762"/>
                </a:lnTo>
                <a:lnTo>
                  <a:pt x="795197" y="9524"/>
                </a:lnTo>
                <a:close/>
              </a:path>
              <a:path w="795654" h="441325">
                <a:moveTo>
                  <a:pt x="9525" y="436562"/>
                </a:moveTo>
                <a:lnTo>
                  <a:pt x="4762" y="431800"/>
                </a:lnTo>
                <a:lnTo>
                  <a:pt x="9525" y="431800"/>
                </a:lnTo>
                <a:lnTo>
                  <a:pt x="9525" y="436562"/>
                </a:lnTo>
                <a:close/>
              </a:path>
              <a:path w="795654" h="441325">
                <a:moveTo>
                  <a:pt x="785672" y="436562"/>
                </a:moveTo>
                <a:lnTo>
                  <a:pt x="9525" y="436562"/>
                </a:lnTo>
                <a:lnTo>
                  <a:pt x="9525" y="431800"/>
                </a:lnTo>
                <a:lnTo>
                  <a:pt x="785672" y="431800"/>
                </a:lnTo>
                <a:lnTo>
                  <a:pt x="785672" y="436562"/>
                </a:lnTo>
                <a:close/>
              </a:path>
              <a:path w="795654" h="441325">
                <a:moveTo>
                  <a:pt x="795197" y="436562"/>
                </a:moveTo>
                <a:lnTo>
                  <a:pt x="785672" y="436562"/>
                </a:lnTo>
                <a:lnTo>
                  <a:pt x="790435" y="431800"/>
                </a:lnTo>
                <a:lnTo>
                  <a:pt x="795197" y="431800"/>
                </a:lnTo>
                <a:lnTo>
                  <a:pt x="795197" y="436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15886" y="3268040"/>
            <a:ext cx="76200" cy="431800"/>
          </a:xfrm>
          <a:custGeom>
            <a:avLst/>
            <a:gdLst/>
            <a:ahLst/>
            <a:cxnLst/>
            <a:rect l="l" t="t" r="r" b="b"/>
            <a:pathLst>
              <a:path w="76200" h="431800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431800">
                <a:moveTo>
                  <a:pt x="42862" y="431800"/>
                </a:moveTo>
                <a:lnTo>
                  <a:pt x="33337" y="431800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431800"/>
                </a:lnTo>
                <a:close/>
              </a:path>
              <a:path w="76200" h="431800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56387" y="3695077"/>
            <a:ext cx="795655" cy="441325"/>
          </a:xfrm>
          <a:custGeom>
            <a:avLst/>
            <a:gdLst/>
            <a:ahLst/>
            <a:cxnLst/>
            <a:rect l="l" t="t" r="r" b="b"/>
            <a:pathLst>
              <a:path w="795654" h="441325">
                <a:moveTo>
                  <a:pt x="795197" y="441325"/>
                </a:moveTo>
                <a:lnTo>
                  <a:pt x="0" y="441325"/>
                </a:lnTo>
                <a:lnTo>
                  <a:pt x="0" y="0"/>
                </a:lnTo>
                <a:lnTo>
                  <a:pt x="795197" y="0"/>
                </a:lnTo>
                <a:lnTo>
                  <a:pt x="79519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31800"/>
                </a:lnTo>
                <a:lnTo>
                  <a:pt x="4762" y="431800"/>
                </a:lnTo>
                <a:lnTo>
                  <a:pt x="9525" y="436562"/>
                </a:lnTo>
                <a:lnTo>
                  <a:pt x="795197" y="436562"/>
                </a:lnTo>
                <a:lnTo>
                  <a:pt x="795197" y="441325"/>
                </a:lnTo>
                <a:close/>
              </a:path>
              <a:path w="795654" h="441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95654" h="441325">
                <a:moveTo>
                  <a:pt x="78567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85672" y="4762"/>
                </a:lnTo>
                <a:lnTo>
                  <a:pt x="785672" y="9525"/>
                </a:lnTo>
                <a:close/>
              </a:path>
              <a:path w="795654" h="441325">
                <a:moveTo>
                  <a:pt x="785672" y="436562"/>
                </a:moveTo>
                <a:lnTo>
                  <a:pt x="785672" y="4762"/>
                </a:lnTo>
                <a:lnTo>
                  <a:pt x="790435" y="9525"/>
                </a:lnTo>
                <a:lnTo>
                  <a:pt x="795197" y="9525"/>
                </a:lnTo>
                <a:lnTo>
                  <a:pt x="795197" y="431800"/>
                </a:lnTo>
                <a:lnTo>
                  <a:pt x="790435" y="431800"/>
                </a:lnTo>
                <a:lnTo>
                  <a:pt x="785672" y="436562"/>
                </a:lnTo>
                <a:close/>
              </a:path>
              <a:path w="795654" h="441325">
                <a:moveTo>
                  <a:pt x="795197" y="9525"/>
                </a:moveTo>
                <a:lnTo>
                  <a:pt x="790435" y="9525"/>
                </a:lnTo>
                <a:lnTo>
                  <a:pt x="785672" y="4762"/>
                </a:lnTo>
                <a:lnTo>
                  <a:pt x="795197" y="4762"/>
                </a:lnTo>
                <a:lnTo>
                  <a:pt x="795197" y="9525"/>
                </a:lnTo>
                <a:close/>
              </a:path>
              <a:path w="795654" h="441325">
                <a:moveTo>
                  <a:pt x="9525" y="436562"/>
                </a:moveTo>
                <a:lnTo>
                  <a:pt x="4762" y="431800"/>
                </a:lnTo>
                <a:lnTo>
                  <a:pt x="9525" y="431800"/>
                </a:lnTo>
                <a:lnTo>
                  <a:pt x="9525" y="436562"/>
                </a:lnTo>
                <a:close/>
              </a:path>
              <a:path w="795654" h="441325">
                <a:moveTo>
                  <a:pt x="785672" y="436562"/>
                </a:moveTo>
                <a:lnTo>
                  <a:pt x="9525" y="436562"/>
                </a:lnTo>
                <a:lnTo>
                  <a:pt x="9525" y="431800"/>
                </a:lnTo>
                <a:lnTo>
                  <a:pt x="785672" y="431800"/>
                </a:lnTo>
                <a:lnTo>
                  <a:pt x="785672" y="436562"/>
                </a:lnTo>
                <a:close/>
              </a:path>
              <a:path w="795654" h="441325">
                <a:moveTo>
                  <a:pt x="795197" y="436562"/>
                </a:moveTo>
                <a:lnTo>
                  <a:pt x="785672" y="436562"/>
                </a:lnTo>
                <a:lnTo>
                  <a:pt x="790435" y="431800"/>
                </a:lnTo>
                <a:lnTo>
                  <a:pt x="795197" y="431800"/>
                </a:lnTo>
                <a:lnTo>
                  <a:pt x="795197" y="436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739" y="1417955"/>
            <a:ext cx="8559800" cy="31261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父类是子类的一般化，子类是父类的特例化</a:t>
            </a:r>
            <a:r>
              <a:rPr dirty="0" sz="2400">
                <a:latin typeface="宋体"/>
                <a:cs typeface="宋体"/>
              </a:rPr>
              <a:t>(</a:t>
            </a:r>
            <a:r>
              <a:rPr dirty="0" sz="2400">
                <a:latin typeface="微软雅黑"/>
                <a:cs typeface="微软雅黑"/>
              </a:rPr>
              <a:t>具体化</a:t>
            </a:r>
            <a:r>
              <a:rPr dirty="0" sz="2400">
                <a:latin typeface="宋体"/>
                <a:cs typeface="宋体"/>
              </a:rPr>
              <a:t>)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父类也称为超类或基类。</a:t>
            </a:r>
            <a:endParaRPr sz="2400">
              <a:latin typeface="微软雅黑"/>
              <a:cs typeface="微软雅黑"/>
            </a:endParaRPr>
          </a:p>
          <a:p>
            <a:pPr algn="r" marR="275590">
              <a:lnSpc>
                <a:spcPct val="100000"/>
              </a:lnSpc>
              <a:spcBef>
                <a:spcPts val="765"/>
              </a:spcBef>
            </a:pP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sz="2400" spc="-5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s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sup</a:t>
            </a:r>
            <a:r>
              <a:rPr dirty="0" sz="2400" spc="-5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se</a:t>
            </a:r>
            <a:endParaRPr sz="2400">
              <a:latin typeface="Times New Roman"/>
              <a:cs typeface="Times New Roman"/>
            </a:endParaRPr>
          </a:p>
          <a:p>
            <a:pPr marL="6720205">
              <a:lnSpc>
                <a:spcPct val="100000"/>
              </a:lnSpc>
              <a:spcBef>
                <a:spcPts val="1050"/>
              </a:spcBef>
              <a:tabLst>
                <a:tab pos="7459345" algn="l"/>
              </a:tabLst>
            </a:pPr>
            <a:r>
              <a:rPr dirty="0" sz="2000">
                <a:latin typeface="微软雅黑"/>
                <a:cs typeface="微软雅黑"/>
              </a:rPr>
              <a:t>父</a:t>
            </a:r>
            <a:r>
              <a:rPr dirty="0" sz="2000" spc="5">
                <a:latin typeface="微软雅黑"/>
                <a:cs typeface="微软雅黑"/>
              </a:rPr>
              <a:t>类</a:t>
            </a:r>
            <a:r>
              <a:rPr dirty="0" sz="2000">
                <a:latin typeface="微软雅黑"/>
                <a:cs typeface="微软雅黑"/>
              </a:rPr>
              <a:t>	</a:t>
            </a:r>
            <a:r>
              <a:rPr dirty="0" sz="2000">
                <a:latin typeface="微软雅黑"/>
                <a:cs typeface="微软雅黑"/>
              </a:rPr>
              <a:t>超类</a:t>
            </a:r>
            <a:r>
              <a:rPr dirty="0" sz="2000" spc="-5">
                <a:latin typeface="Times New Roman"/>
                <a:cs typeface="Times New Roman"/>
              </a:rPr>
              <a:t>/</a:t>
            </a:r>
            <a:r>
              <a:rPr dirty="0" sz="2000">
                <a:latin typeface="微软雅黑"/>
                <a:cs typeface="微软雅黑"/>
              </a:rPr>
              <a:t>基</a:t>
            </a:r>
            <a:r>
              <a:rPr dirty="0" sz="2000" spc="5">
                <a:latin typeface="微软雅黑"/>
                <a:cs typeface="微软雅黑"/>
              </a:rPr>
              <a:t>类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350">
              <a:latin typeface="微软雅黑"/>
              <a:cs typeface="微软雅黑"/>
            </a:endParaRPr>
          </a:p>
          <a:p>
            <a:pPr marL="6720205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子</a:t>
            </a:r>
            <a:r>
              <a:rPr dirty="0" sz="2000" spc="5">
                <a:latin typeface="微软雅黑"/>
                <a:cs typeface="微软雅黑"/>
              </a:rPr>
              <a:t>类</a:t>
            </a:r>
            <a:endParaRPr sz="2000">
              <a:latin typeface="微软雅黑"/>
              <a:cs typeface="微软雅黑"/>
            </a:endParaRPr>
          </a:p>
          <a:p>
            <a:pPr algn="r" marR="702310">
              <a:lnSpc>
                <a:spcPct val="100000"/>
              </a:lnSpc>
              <a:spcBef>
                <a:spcPts val="955"/>
              </a:spcBef>
            </a:pPr>
            <a:r>
              <a:rPr dirty="0" sz="2400" spc="-5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h</a:t>
            </a:r>
            <a:r>
              <a:rPr dirty="0" sz="2400" spc="-5">
                <a:latin typeface="Times New Roman"/>
                <a:cs typeface="Times New Roman"/>
              </a:rPr>
              <a:t>il</a:t>
            </a:r>
            <a:r>
              <a:rPr dirty="0" sz="2400">
                <a:latin typeface="Times New Roman"/>
                <a:cs typeface="Times New Roman"/>
              </a:rPr>
              <a:t>d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d</a:t>
            </a:r>
            <a:r>
              <a:rPr dirty="0" sz="2400" spc="-5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v</a:t>
            </a:r>
            <a:r>
              <a:rPr dirty="0" sz="2400" spc="-5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0700"/>
            <a:ext cx="8072120" cy="3434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5.1.1</a:t>
            </a:r>
            <a:r>
              <a:rPr dirty="0" sz="2100" spc="-10" b="1">
                <a:latin typeface="微软雅黑"/>
                <a:cs typeface="微软雅黑"/>
              </a:rPr>
              <a:t> </a:t>
            </a:r>
            <a:r>
              <a:rPr dirty="0" sz="2100" b="1">
                <a:latin typeface="微软雅黑"/>
                <a:cs typeface="微软雅黑"/>
              </a:rPr>
              <a:t>继承的概念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继承分</a:t>
            </a:r>
            <a:r>
              <a:rPr dirty="0" sz="2800" spc="-5">
                <a:latin typeface="微软雅黑"/>
                <a:cs typeface="微软雅黑"/>
              </a:rPr>
              <a:t>类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单继承：一个子类最多只能有一个父类。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多继承：一个子类可有两个以上的父类。</a:t>
            </a:r>
            <a:endParaRPr sz="24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Font typeface="Arial"/>
              <a:buChar char="•"/>
            </a:pPr>
            <a:endParaRPr sz="2000">
              <a:latin typeface="微软雅黑"/>
              <a:cs typeface="微软雅黑"/>
            </a:endParaRPr>
          </a:p>
          <a:p>
            <a:pPr marL="184150" marR="5080" indent="-171450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spc="30">
                <a:latin typeface="微软雅黑"/>
                <a:cs typeface="微软雅黑"/>
              </a:rPr>
              <a:t>J</a:t>
            </a:r>
            <a:r>
              <a:rPr dirty="0" sz="2400" spc="65">
                <a:latin typeface="微软雅黑"/>
                <a:cs typeface="微软雅黑"/>
              </a:rPr>
              <a:t>a</a:t>
            </a:r>
            <a:r>
              <a:rPr dirty="0" sz="2400" spc="20">
                <a:latin typeface="微软雅黑"/>
                <a:cs typeface="微软雅黑"/>
              </a:rPr>
              <a:t>v</a:t>
            </a:r>
            <a:r>
              <a:rPr dirty="0" sz="2400" spc="65">
                <a:latin typeface="微软雅黑"/>
                <a:cs typeface="微软雅黑"/>
              </a:rPr>
              <a:t>a</a:t>
            </a:r>
            <a:r>
              <a:rPr dirty="0" sz="2400" spc="70">
                <a:solidFill>
                  <a:srgbClr val="FF0000"/>
                </a:solidFill>
                <a:latin typeface="微软雅黑"/>
                <a:cs typeface="微软雅黑"/>
              </a:rPr>
              <a:t>类只支持</a:t>
            </a:r>
            <a:r>
              <a:rPr dirty="0" sz="2400" spc="75">
                <a:solidFill>
                  <a:srgbClr val="FF0000"/>
                </a:solidFill>
                <a:latin typeface="微软雅黑"/>
                <a:cs typeface="微软雅黑"/>
              </a:rPr>
              <a:t>单继承，而接口支持多继承</a:t>
            </a:r>
            <a:r>
              <a:rPr dirty="0" sz="2400" spc="75">
                <a:latin typeface="微软雅黑"/>
                <a:cs typeface="微软雅黑"/>
              </a:rPr>
              <a:t>。</a:t>
            </a:r>
            <a:r>
              <a:rPr dirty="0" sz="2400" spc="35">
                <a:latin typeface="微软雅黑"/>
                <a:cs typeface="微软雅黑"/>
              </a:rPr>
              <a:t>J</a:t>
            </a:r>
            <a:r>
              <a:rPr dirty="0" sz="2400" spc="70">
                <a:latin typeface="微软雅黑"/>
                <a:cs typeface="微软雅黑"/>
              </a:rPr>
              <a:t>a</a:t>
            </a:r>
            <a:r>
              <a:rPr dirty="0" sz="2400" spc="25">
                <a:latin typeface="微软雅黑"/>
                <a:cs typeface="微软雅黑"/>
              </a:rPr>
              <a:t>v</a:t>
            </a:r>
            <a:r>
              <a:rPr dirty="0" sz="2400" spc="70">
                <a:latin typeface="微软雅黑"/>
                <a:cs typeface="微软雅黑"/>
              </a:rPr>
              <a:t>a</a:t>
            </a:r>
            <a:r>
              <a:rPr dirty="0" sz="2400" spc="75">
                <a:latin typeface="微软雅黑"/>
                <a:cs typeface="微软雅黑"/>
              </a:rPr>
              <a:t>多继承</a:t>
            </a:r>
            <a:r>
              <a:rPr dirty="0" sz="2400">
                <a:latin typeface="微软雅黑"/>
                <a:cs typeface="微软雅黑"/>
              </a:rPr>
              <a:t>的 功能则是通过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接口方式和内部类</a:t>
            </a:r>
            <a:r>
              <a:rPr dirty="0" sz="2400">
                <a:latin typeface="微软雅黑"/>
                <a:cs typeface="微软雅黑"/>
              </a:rPr>
              <a:t>来间接实现的。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709" y="370357"/>
            <a:ext cx="7472045" cy="438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2325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5.1.2</a:t>
            </a:r>
            <a:r>
              <a:rPr dirty="0" sz="2100" spc="-10" b="1">
                <a:latin typeface="微软雅黑"/>
                <a:cs typeface="微软雅黑"/>
              </a:rPr>
              <a:t> </a:t>
            </a:r>
            <a:r>
              <a:rPr dirty="0" sz="2100" b="1">
                <a:latin typeface="微软雅黑"/>
                <a:cs typeface="微软雅黑"/>
              </a:rPr>
              <a:t>继承的实现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微软雅黑"/>
              <a:cs typeface="微软雅黑"/>
            </a:endParaRPr>
          </a:p>
          <a:p>
            <a:pPr marL="373380" indent="-360680">
              <a:lnSpc>
                <a:spcPct val="100000"/>
              </a:lnSpc>
              <a:buFont typeface="Arial"/>
              <a:buChar char="•"/>
              <a:tabLst>
                <a:tab pos="372745" algn="l"/>
                <a:tab pos="373380" algn="l"/>
              </a:tabLst>
            </a:pPr>
            <a:r>
              <a:rPr dirty="0" sz="2800">
                <a:latin typeface="微软雅黑"/>
                <a:cs typeface="微软雅黑"/>
              </a:rPr>
              <a:t>继承的语</a:t>
            </a:r>
            <a:r>
              <a:rPr dirty="0" sz="2800" spc="-5">
                <a:latin typeface="微软雅黑"/>
                <a:cs typeface="微软雅黑"/>
              </a:rPr>
              <a:t>法</a:t>
            </a:r>
            <a:endParaRPr sz="2800">
              <a:latin typeface="微软雅黑"/>
              <a:cs typeface="微软雅黑"/>
            </a:endParaRPr>
          </a:p>
          <a:p>
            <a:pPr marL="1841500" marR="913765" indent="-914400">
              <a:lnSpc>
                <a:spcPct val="118700"/>
              </a:lnSpc>
              <a:spcBef>
                <a:spcPts val="270"/>
              </a:spcBef>
              <a:tabLst>
                <a:tab pos="2529205" algn="l"/>
              </a:tabLst>
            </a:pPr>
            <a:r>
              <a:rPr dirty="0" sz="2400" spc="-5">
                <a:solidFill>
                  <a:srgbClr val="FF0066"/>
                </a:solidFill>
                <a:latin typeface="微软雅黑"/>
                <a:cs typeface="微软雅黑"/>
              </a:rPr>
              <a:t>[</a:t>
            </a:r>
            <a:r>
              <a:rPr dirty="0" sz="2400">
                <a:solidFill>
                  <a:srgbClr val="FF0066"/>
                </a:solidFill>
                <a:latin typeface="微软雅黑"/>
                <a:cs typeface="微软雅黑"/>
              </a:rPr>
              <a:t>类修饰符]	</a:t>
            </a:r>
            <a:r>
              <a:rPr dirty="0" sz="2400" spc="-5">
                <a:solidFill>
                  <a:srgbClr val="006C39"/>
                </a:solidFill>
                <a:latin typeface="微软雅黑"/>
                <a:cs typeface="微软雅黑"/>
              </a:rPr>
              <a:t>class</a:t>
            </a:r>
            <a:r>
              <a:rPr dirty="0" sz="2400" spc="-25">
                <a:solidFill>
                  <a:srgbClr val="006C39"/>
                </a:solidFill>
                <a:latin typeface="微软雅黑"/>
                <a:cs typeface="微软雅黑"/>
              </a:rPr>
              <a:t> </a:t>
            </a:r>
            <a:r>
              <a:rPr dirty="0" sz="2400">
                <a:solidFill>
                  <a:srgbClr val="006C39"/>
                </a:solidFill>
                <a:latin typeface="微软雅黑"/>
                <a:cs typeface="微软雅黑"/>
              </a:rPr>
              <a:t>子类名</a:t>
            </a:r>
            <a:r>
              <a:rPr dirty="0" sz="2400" spc="-25">
                <a:solidFill>
                  <a:srgbClr val="006C39"/>
                </a:solidFill>
                <a:latin typeface="微软雅黑"/>
                <a:cs typeface="微软雅黑"/>
              </a:rPr>
              <a:t> </a:t>
            </a:r>
            <a:r>
              <a:rPr dirty="0" sz="2400" spc="-10">
                <a:solidFill>
                  <a:srgbClr val="ED7A07"/>
                </a:solidFill>
                <a:latin typeface="微软雅黑"/>
                <a:cs typeface="微软雅黑"/>
              </a:rPr>
              <a:t>extends</a:t>
            </a:r>
            <a:r>
              <a:rPr dirty="0" sz="2400" spc="-20">
                <a:solidFill>
                  <a:srgbClr val="ED7A07"/>
                </a:solidFill>
                <a:latin typeface="微软雅黑"/>
                <a:cs typeface="微软雅黑"/>
              </a:rPr>
              <a:t> </a:t>
            </a:r>
            <a:r>
              <a:rPr dirty="0" sz="2400">
                <a:solidFill>
                  <a:srgbClr val="006C39"/>
                </a:solidFill>
                <a:latin typeface="微软雅黑"/>
                <a:cs typeface="微软雅黑"/>
              </a:rPr>
              <a:t>父类名{  成员变量定义；</a:t>
            </a:r>
            <a:endParaRPr sz="24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  <a:spcBef>
                <a:spcPts val="459"/>
              </a:spcBef>
            </a:pPr>
            <a:r>
              <a:rPr dirty="0" sz="2400">
                <a:solidFill>
                  <a:srgbClr val="006C39"/>
                </a:solidFill>
                <a:latin typeface="微软雅黑"/>
                <a:cs typeface="微软雅黑"/>
              </a:rPr>
              <a:t>成员方法定义；</a:t>
            </a:r>
            <a:endParaRPr sz="24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dirty="0" sz="2400">
                <a:solidFill>
                  <a:srgbClr val="006C39"/>
                </a:solidFill>
                <a:latin typeface="微软雅黑"/>
                <a:cs typeface="微软雅黑"/>
              </a:rPr>
              <a:t>}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800">
              <a:latin typeface="微软雅黑"/>
              <a:cs typeface="微软雅黑"/>
            </a:endParaRPr>
          </a:p>
          <a:p>
            <a:pPr lvl="1" marL="838200" marR="5080" indent="-171450">
              <a:lnSpc>
                <a:spcPts val="2590"/>
              </a:lnSpc>
              <a:buFont typeface="Arial"/>
              <a:buChar char="•"/>
              <a:tabLst>
                <a:tab pos="838200" algn="l"/>
              </a:tabLst>
            </a:pPr>
            <a:r>
              <a:rPr dirty="0" sz="2400">
                <a:latin typeface="微软雅黑"/>
                <a:cs typeface="微软雅黑"/>
              </a:rPr>
              <a:t>在子类的定义中，用关键字</a:t>
            </a:r>
            <a:r>
              <a:rPr dirty="0" sz="2400" spc="-5">
                <a:latin typeface="微软雅黑"/>
                <a:cs typeface="微软雅黑"/>
              </a:rPr>
              <a:t>ex</a:t>
            </a:r>
            <a:r>
              <a:rPr dirty="0" sz="2400" spc="-20">
                <a:latin typeface="微软雅黑"/>
                <a:cs typeface="微软雅黑"/>
              </a:rPr>
              <a:t>t</a:t>
            </a:r>
            <a:r>
              <a:rPr dirty="0" sz="2400" spc="-5">
                <a:latin typeface="微软雅黑"/>
                <a:cs typeface="微软雅黑"/>
              </a:rPr>
              <a:t>e</a:t>
            </a:r>
            <a:r>
              <a:rPr dirty="0" sz="2400">
                <a:latin typeface="微软雅黑"/>
                <a:cs typeface="微软雅黑"/>
              </a:rPr>
              <a:t>n</a:t>
            </a:r>
            <a:r>
              <a:rPr dirty="0" sz="2400" spc="-5">
                <a:latin typeface="微软雅黑"/>
                <a:cs typeface="微软雅黑"/>
              </a:rPr>
              <a:t>ds</a:t>
            </a:r>
            <a:r>
              <a:rPr dirty="0" sz="2400">
                <a:latin typeface="微软雅黑"/>
                <a:cs typeface="微软雅黑"/>
              </a:rPr>
              <a:t>来明确指出它 所继承的父类。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0840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/>
              <a:t>5.1.2</a:t>
            </a:r>
            <a:r>
              <a:rPr dirty="0" sz="2100" spc="-80"/>
              <a:t> </a:t>
            </a:r>
            <a:r>
              <a:rPr dirty="0" sz="2100"/>
              <a:t>继承的实现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188595" y="1481454"/>
            <a:ext cx="6129655" cy="465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5-1</a:t>
            </a:r>
            <a:r>
              <a:rPr dirty="0" sz="2100">
                <a:latin typeface="微软雅黑"/>
                <a:cs typeface="微软雅黑"/>
              </a:rPr>
              <a:t>】通过继承</a:t>
            </a:r>
            <a:r>
              <a:rPr dirty="0" sz="2100" spc="-15">
                <a:latin typeface="微软雅黑"/>
                <a:cs typeface="微软雅黑"/>
              </a:rPr>
              <a:t>Person</a:t>
            </a:r>
            <a:r>
              <a:rPr dirty="0" sz="2100">
                <a:latin typeface="微软雅黑"/>
                <a:cs typeface="微软雅黑"/>
              </a:rPr>
              <a:t>类派生DeliveryMan类。</a:t>
            </a:r>
            <a:endParaRPr sz="2100">
              <a:latin typeface="微软雅黑"/>
              <a:cs typeface="微软雅黑"/>
            </a:endParaRPr>
          </a:p>
          <a:p>
            <a:pPr marL="226060" marR="3152140">
              <a:lnSpc>
                <a:spcPts val="5760"/>
              </a:lnSpc>
              <a:spcBef>
                <a:spcPts val="35"/>
              </a:spcBef>
            </a:pPr>
            <a:r>
              <a:rPr dirty="0" sz="2400">
                <a:latin typeface="微软雅黑"/>
                <a:cs typeface="微软雅黑"/>
              </a:rPr>
              <a:t>快递公司的不同职工 职工</a:t>
            </a:r>
            <a:r>
              <a:rPr dirty="0" sz="2400" spc="-20">
                <a:latin typeface="微软雅黑"/>
                <a:cs typeface="微软雅黑"/>
              </a:rPr>
              <a:t>Person</a:t>
            </a:r>
            <a:endParaRPr sz="2400">
              <a:latin typeface="微软雅黑"/>
              <a:cs typeface="微软雅黑"/>
            </a:endParaRPr>
          </a:p>
          <a:p>
            <a:pPr marL="226060">
              <a:lnSpc>
                <a:spcPts val="2210"/>
              </a:lnSpc>
            </a:pPr>
            <a:r>
              <a:rPr dirty="0" sz="2400">
                <a:latin typeface="微软雅黑"/>
                <a:cs typeface="微软雅黑"/>
              </a:rPr>
              <a:t>快递员</a:t>
            </a:r>
            <a:r>
              <a:rPr dirty="0" sz="2400" spc="-10">
                <a:latin typeface="微软雅黑"/>
                <a:cs typeface="微软雅黑"/>
              </a:rPr>
              <a:t> </a:t>
            </a:r>
            <a:r>
              <a:rPr dirty="0" sz="2400" spc="5">
                <a:latin typeface="微软雅黑"/>
                <a:cs typeface="微软雅黑"/>
              </a:rPr>
              <a:t>DeliveryMan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微软雅黑"/>
              <a:cs typeface="微软雅黑"/>
            </a:endParaRPr>
          </a:p>
          <a:p>
            <a:pPr marL="568960" indent="-343535">
              <a:lnSpc>
                <a:spcPct val="100000"/>
              </a:lnSpc>
              <a:buFont typeface="Arial"/>
              <a:buChar char="•"/>
              <a:tabLst>
                <a:tab pos="568960" algn="l"/>
                <a:tab pos="569595" algn="l"/>
              </a:tabLst>
            </a:pPr>
            <a:r>
              <a:rPr dirty="0" sz="2400">
                <a:latin typeface="微软雅黑"/>
                <a:cs typeface="微软雅黑"/>
              </a:rPr>
              <a:t>数据成员配送区域deliveryArea</a:t>
            </a:r>
            <a:endParaRPr sz="2400">
              <a:latin typeface="微软雅黑"/>
              <a:cs typeface="微软雅黑"/>
            </a:endParaRPr>
          </a:p>
          <a:p>
            <a:pPr marL="568960" marR="3012440" indent="-342900">
              <a:lnSpc>
                <a:spcPct val="100000"/>
              </a:lnSpc>
              <a:buFont typeface="Arial"/>
              <a:buChar char="•"/>
              <a:tabLst>
                <a:tab pos="568960" algn="l"/>
                <a:tab pos="569595" algn="l"/>
              </a:tabLst>
            </a:pPr>
            <a:r>
              <a:rPr dirty="0" sz="2400">
                <a:latin typeface="微软雅黑"/>
                <a:cs typeface="微软雅黑"/>
              </a:rPr>
              <a:t>获取配送区域方法 </a:t>
            </a:r>
            <a:r>
              <a:rPr dirty="0" sz="2400" spc="-5">
                <a:latin typeface="微软雅黑"/>
                <a:cs typeface="微软雅黑"/>
              </a:rPr>
              <a:t>getDeliveryArea()</a:t>
            </a:r>
            <a:endParaRPr sz="2400">
              <a:latin typeface="微软雅黑"/>
              <a:cs typeface="微软雅黑"/>
            </a:endParaRPr>
          </a:p>
          <a:p>
            <a:pPr marL="568960" indent="-343535">
              <a:lnSpc>
                <a:spcPct val="100000"/>
              </a:lnSpc>
              <a:buFont typeface="Arial"/>
              <a:buChar char="•"/>
              <a:tabLst>
                <a:tab pos="568960" algn="l"/>
                <a:tab pos="569595" algn="l"/>
              </a:tabLst>
            </a:pPr>
            <a:r>
              <a:rPr dirty="0" sz="2400">
                <a:latin typeface="微软雅黑"/>
                <a:cs typeface="微软雅黑"/>
              </a:rPr>
              <a:t>获取快递员信息方法</a:t>
            </a:r>
            <a:r>
              <a:rPr dirty="0" sz="2400" spc="-5">
                <a:latin typeface="微软雅黑"/>
                <a:cs typeface="微软雅黑"/>
              </a:rPr>
              <a:t>getInfo()</a:t>
            </a:r>
            <a:endParaRPr sz="2400">
              <a:latin typeface="微软雅黑"/>
              <a:cs typeface="微软雅黑"/>
            </a:endParaRPr>
          </a:p>
          <a:p>
            <a:pPr marL="568960" marR="1285240" indent="-342900">
              <a:lnSpc>
                <a:spcPct val="100000"/>
              </a:lnSpc>
              <a:buFont typeface="Arial"/>
              <a:buChar char="•"/>
              <a:tabLst>
                <a:tab pos="568960" algn="l"/>
                <a:tab pos="569595" algn="l"/>
              </a:tabLst>
            </a:pPr>
            <a:r>
              <a:rPr dirty="0" sz="2400">
                <a:latin typeface="微软雅黑"/>
                <a:cs typeface="微软雅黑"/>
              </a:rPr>
              <a:t>判断某区域是否在配送范围内方 法</a:t>
            </a:r>
            <a:r>
              <a:rPr dirty="0" sz="2400" spc="-5">
                <a:latin typeface="微软雅黑"/>
                <a:cs typeface="微软雅黑"/>
              </a:rPr>
              <a:t>isArrived()</a:t>
            </a:r>
            <a:endParaRPr sz="24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37593" y="2335682"/>
          <a:ext cx="2339340" cy="368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865"/>
                <a:gridCol w="977265"/>
                <a:gridCol w="967740"/>
                <a:gridCol w="189864"/>
              </a:tblGrid>
              <a:tr h="222618">
                <a:tc gridSpan="4"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850" spc="-5" b="1">
                          <a:latin typeface="Tahoma"/>
                          <a:cs typeface="Tahoma"/>
                        </a:rPr>
                        <a:t>Person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17270">
                <a:tc gridSpan="4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850" spc="-25">
                          <a:latin typeface="Tahoma"/>
                          <a:cs typeface="Tahoma"/>
                        </a:rPr>
                        <a:t>-id: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30">
                          <a:latin typeface="Tahoma"/>
                          <a:cs typeface="Tahoma"/>
                        </a:rPr>
                        <a:t>-name: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15">
                          <a:latin typeface="Tahoma"/>
                          <a:cs typeface="Tahoma"/>
                        </a:rPr>
                        <a:t>-birthday: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15">
                          <a:latin typeface="Tahoma"/>
                          <a:cs typeface="Tahoma"/>
                        </a:rPr>
                        <a:t>Date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20">
                          <a:latin typeface="Tahoma"/>
                          <a:cs typeface="Tahoma"/>
                        </a:rPr>
                        <a:t>-……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33347">
                <a:tc gridSpan="4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850" spc="-20">
                          <a:latin typeface="Tahoma"/>
                          <a:cs typeface="Tahoma"/>
                        </a:rPr>
                        <a:t>+Person()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20">
                          <a:latin typeface="Tahoma"/>
                          <a:cs typeface="Tahoma"/>
                        </a:rPr>
                        <a:t>+setId(id: </a:t>
                      </a:r>
                      <a:r>
                        <a:rPr dirty="0" sz="850" spc="-25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85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15">
                          <a:latin typeface="Tahoma"/>
                          <a:cs typeface="Tahoma"/>
                        </a:rPr>
                        <a:t>void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20">
                          <a:latin typeface="Tahoma"/>
                          <a:cs typeface="Tahoma"/>
                        </a:rPr>
                        <a:t>+getId():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30">
                          <a:latin typeface="Tahoma"/>
                          <a:cs typeface="Tahoma"/>
                        </a:rPr>
                        <a:t>+setName(name: </a:t>
                      </a:r>
                      <a:r>
                        <a:rPr dirty="0" sz="850" spc="-25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850" spc="-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15">
                          <a:latin typeface="Tahoma"/>
                          <a:cs typeface="Tahoma"/>
                        </a:rPr>
                        <a:t>void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30">
                          <a:latin typeface="Tahoma"/>
                          <a:cs typeface="Tahoma"/>
                        </a:rPr>
                        <a:t>+getName():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15">
                          <a:latin typeface="Tahoma"/>
                          <a:cs typeface="Tahoma"/>
                        </a:rPr>
                        <a:t>+setBirthday(birthday: Date):</a:t>
                      </a:r>
                      <a:r>
                        <a:rPr dirty="0" sz="85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15">
                          <a:latin typeface="Tahoma"/>
                          <a:cs typeface="Tahoma"/>
                        </a:rPr>
                        <a:t>void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850" spc="-20">
                          <a:latin typeface="Tahoma"/>
                          <a:cs typeface="Tahoma"/>
                        </a:rPr>
                        <a:t>+getBirthday():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15">
                          <a:latin typeface="Tahoma"/>
                          <a:cs typeface="Tahoma"/>
                        </a:rPr>
                        <a:t>Date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53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00000"/>
                      </a:solidFill>
                      <a:prstDash val="solid"/>
                    </a:lnL>
                    <a:lnT w="12700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2618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4452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850" spc="-5" b="1">
                          <a:latin typeface="Tahoma"/>
                          <a:cs typeface="Tahoma"/>
                        </a:rPr>
                        <a:t>DeliveryMan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</a:tr>
              <a:tr h="22261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850" spc="-10">
                          <a:latin typeface="Tahoma"/>
                          <a:cs typeface="Tahoma"/>
                        </a:rPr>
                        <a:t>-deliveryArea: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5">
                          <a:latin typeface="Tahoma"/>
                          <a:cs typeface="Tahoma"/>
                        </a:rPr>
                        <a:t>String[]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</a:tr>
              <a:tr h="7994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850" spc="-20">
                          <a:latin typeface="Tahoma"/>
                          <a:cs typeface="Tahoma"/>
                        </a:rPr>
                        <a:t>+DeliveryMan()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15">
                          <a:latin typeface="Tahoma"/>
                          <a:cs typeface="Tahoma"/>
                        </a:rPr>
                        <a:t>+DeliveryMan(deliveryArea: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5">
                          <a:latin typeface="Tahoma"/>
                          <a:cs typeface="Tahoma"/>
                        </a:rPr>
                        <a:t>String[])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10">
                          <a:latin typeface="Tahoma"/>
                          <a:cs typeface="Tahoma"/>
                        </a:rPr>
                        <a:t>+setDeliveryArea(deliveryArea:</a:t>
                      </a:r>
                      <a:r>
                        <a:rPr dirty="0" sz="850" spc="-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5">
                          <a:latin typeface="Tahoma"/>
                          <a:cs typeface="Tahoma"/>
                        </a:rPr>
                        <a:t>String[])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15">
                          <a:latin typeface="Tahoma"/>
                          <a:cs typeface="Tahoma"/>
                        </a:rPr>
                        <a:t>+getInfo():</a:t>
                      </a:r>
                      <a:r>
                        <a:rPr dirty="0" sz="8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String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50" spc="-15">
                          <a:latin typeface="Tahoma"/>
                          <a:cs typeface="Tahoma"/>
                        </a:rPr>
                        <a:t>+isArrived(area: </a:t>
                      </a:r>
                      <a:r>
                        <a:rPr dirty="0" sz="850" spc="-25">
                          <a:latin typeface="Tahoma"/>
                          <a:cs typeface="Tahoma"/>
                        </a:rPr>
                        <a:t>String):</a:t>
                      </a:r>
                      <a:r>
                        <a:rPr dirty="0" sz="85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50" spc="-20">
                          <a:latin typeface="Tahoma"/>
                          <a:cs typeface="Tahoma"/>
                        </a:rPr>
                        <a:t>boolean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928637" y="4319028"/>
            <a:ext cx="161594" cy="212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357"/>
            <a:ext cx="296354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1</a:t>
            </a:r>
            <a:r>
              <a:rPr dirty="0" sz="2100" b="1">
                <a:latin typeface="微软雅黑"/>
                <a:cs typeface="微软雅黑"/>
              </a:rPr>
              <a:t>.3	类成员的访问控制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412771"/>
          <a:ext cx="8371840" cy="3233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2560"/>
                <a:gridCol w="1854200"/>
                <a:gridCol w="1266825"/>
                <a:gridCol w="1266189"/>
                <a:gridCol w="1266825"/>
                <a:gridCol w="1266190"/>
              </a:tblGrid>
              <a:tr h="5943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240029" marR="233045" indent="23495">
                        <a:lnSpc>
                          <a:spcPts val="1700"/>
                        </a:lnSpc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类A成员的 访问控制符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50850" marR="300355" indent="-143510">
                        <a:lnSpc>
                          <a:spcPts val="1700"/>
                        </a:lnSpc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类A对类A成员 的访问权限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89305" marR="426084" indent="-357505">
                        <a:lnSpc>
                          <a:spcPts val="1700"/>
                        </a:lnSpc>
                        <a:spcBef>
                          <a:spcPts val="595"/>
                        </a:spcBef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第三方类对类A成员 的访问权限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789940" marR="455930" indent="-327025">
                        <a:lnSpc>
                          <a:spcPts val="1700"/>
                        </a:lnSpc>
                        <a:spcBef>
                          <a:spcPts val="595"/>
                        </a:spcBef>
                      </a:pPr>
                      <a:r>
                        <a:rPr dirty="0" sz="1500" b="1">
                          <a:solidFill>
                            <a:srgbClr val="FFFF00"/>
                          </a:solidFill>
                          <a:latin typeface="微软雅黑"/>
                          <a:cs typeface="微软雅黑"/>
                        </a:rPr>
                        <a:t>子类</a:t>
                      </a:r>
                      <a:r>
                        <a:rPr dirty="0" sz="1500" spc="-5" b="1">
                          <a:solidFill>
                            <a:srgbClr val="FFFF00"/>
                          </a:solidFill>
                          <a:latin typeface="微软雅黑"/>
                          <a:cs typeface="微软雅黑"/>
                        </a:rPr>
                        <a:t>B</a:t>
                      </a:r>
                      <a:r>
                        <a:rPr dirty="0" sz="1500" b="1">
                          <a:solidFill>
                            <a:srgbClr val="FFFF00"/>
                          </a:solidFill>
                          <a:latin typeface="微软雅黑"/>
                          <a:cs typeface="微软雅黑"/>
                        </a:rPr>
                        <a:t>对父类A成员 的访问权限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179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>
                          <a:latin typeface="微软雅黑"/>
                          <a:cs typeface="微软雅黑"/>
                        </a:rPr>
                        <a:t>与</a:t>
                      </a:r>
                      <a:r>
                        <a:rPr dirty="0" sz="1500" spc="-5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dirty="0" sz="1500">
                          <a:latin typeface="微软雅黑"/>
                          <a:cs typeface="微软雅黑"/>
                        </a:rPr>
                        <a:t>同包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>
                          <a:latin typeface="微软雅黑"/>
                          <a:cs typeface="微软雅黑"/>
                        </a:rPr>
                        <a:t>与</a:t>
                      </a:r>
                      <a:r>
                        <a:rPr dirty="0" sz="1500" spc="-5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dirty="0" sz="1500">
                          <a:latin typeface="微软雅黑"/>
                          <a:cs typeface="微软雅黑"/>
                        </a:rPr>
                        <a:t>不同包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>
                          <a:latin typeface="微软雅黑"/>
                          <a:cs typeface="微软雅黑"/>
                        </a:rPr>
                        <a:t>与</a:t>
                      </a:r>
                      <a:r>
                        <a:rPr dirty="0" sz="1500" spc="-5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dirty="0" sz="1500">
                          <a:latin typeface="微软雅黑"/>
                          <a:cs typeface="微软雅黑"/>
                        </a:rPr>
                        <a:t>同包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>
                          <a:latin typeface="微软雅黑"/>
                          <a:cs typeface="微软雅黑"/>
                        </a:rPr>
                        <a:t>与</a:t>
                      </a:r>
                      <a:r>
                        <a:rPr dirty="0" sz="1500" spc="-5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dirty="0" sz="1500">
                          <a:latin typeface="微软雅黑"/>
                          <a:cs typeface="微软雅黑"/>
                        </a:rPr>
                        <a:t>不同包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public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>
                          <a:latin typeface="微软雅黑"/>
                          <a:cs typeface="微软雅黑"/>
                        </a:rPr>
                        <a:t>√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47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 spc="-10" b="1">
                          <a:solidFill>
                            <a:srgbClr val="FFFF00"/>
                          </a:solidFill>
                          <a:latin typeface="微软雅黑"/>
                          <a:cs typeface="微软雅黑"/>
                        </a:rPr>
                        <a:t>protected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6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√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</a:tr>
              <a:tr h="8972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默认</a:t>
                      </a:r>
                      <a:r>
                        <a:rPr dirty="0" sz="15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(package)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00">
                          <a:latin typeface="微软雅黑"/>
                          <a:cs typeface="微软雅黑"/>
                        </a:rPr>
                        <a:t>√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R="23495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R="12700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√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R="59690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 spc="-1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private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>
                          <a:latin typeface="微软雅黑"/>
                          <a:cs typeface="微软雅黑"/>
                        </a:rPr>
                        <a:t>√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984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984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922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800" b="1">
                          <a:latin typeface="微软雅黑"/>
                          <a:cs typeface="微软雅黑"/>
                        </a:rPr>
                        <a:t>×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B="0" marT="984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4344" y="1042035"/>
            <a:ext cx="6287135" cy="1276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72745" algn="l"/>
                <a:tab pos="373380" algn="l"/>
              </a:tabLst>
            </a:pPr>
            <a:r>
              <a:rPr dirty="0" sz="2800">
                <a:latin typeface="微软雅黑"/>
                <a:cs typeface="微软雅黑"/>
              </a:rPr>
              <a:t>成员访问控制修饰符在继承中的性</a:t>
            </a:r>
            <a:r>
              <a:rPr dirty="0" sz="2800" spc="-5">
                <a:latin typeface="微软雅黑"/>
                <a:cs typeface="微软雅黑"/>
              </a:rPr>
              <a:t>质</a:t>
            </a:r>
            <a:endParaRPr sz="2800">
              <a:latin typeface="微软雅黑"/>
              <a:cs typeface="微软雅黑"/>
            </a:endParaRPr>
          </a:p>
          <a:p>
            <a:pPr lvl="1" marL="838200" indent="-172085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838200" algn="l"/>
              </a:tabLst>
            </a:pPr>
            <a:r>
              <a:rPr dirty="0" sz="2400">
                <a:latin typeface="微软雅黑"/>
                <a:cs typeface="微软雅黑"/>
              </a:rPr>
              <a:t>public、</a:t>
            </a:r>
            <a:r>
              <a:rPr dirty="0" sz="2400" spc="-15">
                <a:latin typeface="微软雅黑"/>
                <a:cs typeface="微软雅黑"/>
              </a:rPr>
              <a:t>private</a:t>
            </a:r>
            <a:r>
              <a:rPr dirty="0" sz="2400">
                <a:latin typeface="微软雅黑"/>
                <a:cs typeface="微软雅黑"/>
              </a:rPr>
              <a:t>、</a:t>
            </a:r>
            <a:r>
              <a:rPr dirty="0" sz="2400" spc="-10">
                <a:latin typeface="微软雅黑"/>
                <a:cs typeface="微软雅黑"/>
              </a:rPr>
              <a:t>package</a:t>
            </a:r>
            <a:r>
              <a:rPr dirty="0" sz="2400">
                <a:latin typeface="微软雅黑"/>
                <a:cs typeface="微软雅黑"/>
              </a:rPr>
              <a:t>、</a:t>
            </a:r>
            <a:r>
              <a:rPr dirty="0" sz="2400" spc="-15">
                <a:latin typeface="微软雅黑"/>
                <a:cs typeface="微软雅黑"/>
              </a:rPr>
              <a:t>protected</a:t>
            </a:r>
            <a:endParaRPr sz="2400">
              <a:latin typeface="微软雅黑"/>
              <a:cs typeface="微软雅黑"/>
            </a:endParaRPr>
          </a:p>
          <a:p>
            <a:pPr marL="3918585">
              <a:lnSpc>
                <a:spcPct val="100000"/>
              </a:lnSpc>
              <a:spcBef>
                <a:spcPts val="655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对象</a:t>
            </a:r>
            <a:r>
              <a:rPr dirty="0" sz="2400" spc="-5" b="1">
                <a:solidFill>
                  <a:srgbClr val="FF0000"/>
                </a:solidFill>
                <a:latin typeface="微软雅黑"/>
                <a:cs typeface="微软雅黑"/>
              </a:rPr>
              <a:t>.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成员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6382" y="1956942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直接使用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1</a:t>
            </a:r>
            <a:r>
              <a:rPr dirty="0" sz="2100"/>
              <a:t>.3	类成员的访问控制</a:t>
            </a:r>
            <a:endParaRPr sz="21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83314" y="1865649"/>
          <a:ext cx="1942464" cy="1454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0"/>
              </a:tblGrid>
              <a:tr h="266509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b="1">
                          <a:latin typeface="Tahoma"/>
                          <a:cs typeface="Tahoma"/>
                        </a:rPr>
                        <a:t>Product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896391">
                <a:tc>
                  <a:txBody>
                    <a:bodyPr/>
                    <a:lstStyle/>
                    <a:p>
                      <a:pPr marL="60325">
                        <a:lnSpc>
                          <a:spcPts val="1250"/>
                        </a:lnSpc>
                        <a:spcBef>
                          <a:spcPts val="475"/>
                        </a:spcBef>
                      </a:pPr>
                      <a:r>
                        <a:rPr dirty="0" sz="1050" spc="-15">
                          <a:latin typeface="Tahoma"/>
                          <a:cs typeface="Tahoma"/>
                        </a:rPr>
                        <a:t>-productName: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40"/>
                        </a:lnSpc>
                      </a:pPr>
                      <a:r>
                        <a:rPr dirty="0" sz="1050" spc="-10">
                          <a:latin typeface="Tahoma"/>
                          <a:cs typeface="Tahoma"/>
                        </a:rPr>
                        <a:t>-desciption: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40"/>
                        </a:lnSpc>
                      </a:pPr>
                      <a:r>
                        <a:rPr dirty="0" sz="1050" spc="-25">
                          <a:latin typeface="Tahoma"/>
                          <a:cs typeface="Tahoma"/>
                        </a:rPr>
                        <a:t>-addTime: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latin typeface="Tahoma"/>
                          <a:cs typeface="Tahoma"/>
                        </a:rPr>
                        <a:t>Date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40"/>
                        </a:lnSpc>
                      </a:pPr>
                      <a:r>
                        <a:rPr dirty="0" sz="1050" spc="-10">
                          <a:latin typeface="Tahoma"/>
                          <a:cs typeface="Tahoma"/>
                        </a:rPr>
                        <a:t>-salePrice:</a:t>
                      </a:r>
                      <a:r>
                        <a:rPr dirty="0" sz="1050" spc="-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5">
                          <a:latin typeface="Tahoma"/>
                          <a:cs typeface="Tahoma"/>
                        </a:rPr>
                        <a:t>double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50"/>
                        </a:lnSpc>
                      </a:pPr>
                      <a:r>
                        <a:rPr dirty="0" sz="1050" spc="-5">
                          <a:latin typeface="Tahoma"/>
                          <a:cs typeface="Tahoma"/>
                        </a:rPr>
                        <a:t>-keywords:</a:t>
                      </a:r>
                      <a:r>
                        <a:rPr dirty="0" sz="1050" spc="-9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78612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10">
                          <a:latin typeface="Tahoma"/>
                          <a:cs typeface="Tahoma"/>
                        </a:rPr>
                        <a:t>+……()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3567" y="3803821"/>
          <a:ext cx="1736725" cy="1647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8310"/>
              </a:tblGrid>
              <a:tr h="266496"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5" b="1">
                          <a:latin typeface="Tahoma"/>
                          <a:cs typeface="Tahoma"/>
                        </a:rPr>
                        <a:t>Book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053884">
                <a:tc>
                  <a:txBody>
                    <a:bodyPr/>
                    <a:lstStyle/>
                    <a:p>
                      <a:pPr marL="60325">
                        <a:lnSpc>
                          <a:spcPts val="1250"/>
                        </a:lnSpc>
                        <a:spcBef>
                          <a:spcPts val="475"/>
                        </a:spcBef>
                      </a:pPr>
                      <a:r>
                        <a:rPr dirty="0" sz="1050">
                          <a:latin typeface="Tahoma"/>
                          <a:cs typeface="Tahoma"/>
                        </a:rPr>
                        <a:t>-author: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40"/>
                        </a:lnSpc>
                      </a:pPr>
                      <a:r>
                        <a:rPr dirty="0" sz="1050" spc="-15">
                          <a:latin typeface="Tahoma"/>
                          <a:cs typeface="Tahoma"/>
                        </a:rPr>
                        <a:t>-publisher: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40"/>
                        </a:lnSpc>
                      </a:pPr>
                      <a:r>
                        <a:rPr dirty="0" sz="1050" spc="-30">
                          <a:latin typeface="Tahoma"/>
                          <a:cs typeface="Tahoma"/>
                        </a:rPr>
                        <a:t>-publishTime: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>
                          <a:latin typeface="Tahoma"/>
                          <a:cs typeface="Tahoma"/>
                        </a:rPr>
                        <a:t>Date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40"/>
                        </a:lnSpc>
                      </a:pPr>
                      <a:r>
                        <a:rPr dirty="0" sz="1050" spc="-15">
                          <a:latin typeface="Tahoma"/>
                          <a:cs typeface="Tahoma"/>
                        </a:rPr>
                        <a:t>-wordsNumber:</a:t>
                      </a:r>
                      <a:r>
                        <a:rPr dirty="0" sz="1050" spc="-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40"/>
                        </a:lnSpc>
                      </a:pPr>
                      <a:r>
                        <a:rPr dirty="0" sz="1050" spc="-10">
                          <a:latin typeface="Tahoma"/>
                          <a:cs typeface="Tahoma"/>
                        </a:rPr>
                        <a:t>-edition: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50"/>
                        </a:lnSpc>
                      </a:pPr>
                      <a:r>
                        <a:rPr dirty="0" sz="1050" spc="-15">
                          <a:latin typeface="Tahoma"/>
                          <a:cs typeface="Tahoma"/>
                        </a:rPr>
                        <a:t>-isbn: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314947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10">
                          <a:latin typeface="Tahoma"/>
                          <a:cs typeface="Tahoma"/>
                        </a:rPr>
                        <a:t>+……()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45097" y="3803821"/>
          <a:ext cx="1604010" cy="169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5595"/>
              </a:tblGrid>
              <a:tr h="266496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b="1">
                          <a:latin typeface="Tahoma"/>
                          <a:cs typeface="Tahoma"/>
                        </a:rPr>
                        <a:t>Clothes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423976">
                <a:tc>
                  <a:txBody>
                    <a:bodyPr/>
                    <a:lstStyle/>
                    <a:p>
                      <a:pPr marL="60325">
                        <a:lnSpc>
                          <a:spcPts val="1250"/>
                        </a:lnSpc>
                        <a:spcBef>
                          <a:spcPts val="475"/>
                        </a:spcBef>
                      </a:pPr>
                      <a:r>
                        <a:rPr dirty="0" sz="1050" spc="-10">
                          <a:latin typeface="Tahoma"/>
                          <a:cs typeface="Tahoma"/>
                        </a:rPr>
                        <a:t>-color: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  <a:p>
                      <a:pPr marL="60325">
                        <a:lnSpc>
                          <a:spcPts val="1250"/>
                        </a:lnSpc>
                      </a:pPr>
                      <a:r>
                        <a:rPr dirty="0" sz="1050" spc="-5">
                          <a:latin typeface="Tahoma"/>
                          <a:cs typeface="Tahoma"/>
                        </a:rPr>
                        <a:t>-size:</a:t>
                      </a:r>
                      <a:r>
                        <a:rPr dirty="0" sz="105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50" spc="-10">
                          <a:latin typeface="Tahoma"/>
                          <a:cs typeface="Tahoma"/>
                        </a:rPr>
                        <a:t>String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993305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10">
                          <a:latin typeface="Tahoma"/>
                          <a:cs typeface="Tahoma"/>
                        </a:rPr>
                        <a:t>+……()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340317" y="3325329"/>
            <a:ext cx="242570" cy="485140"/>
          </a:xfrm>
          <a:custGeom>
            <a:avLst/>
            <a:gdLst/>
            <a:ahLst/>
            <a:cxnLst/>
            <a:rect l="l" t="t" r="r" b="b"/>
            <a:pathLst>
              <a:path w="242569" h="485139">
                <a:moveTo>
                  <a:pt x="0" y="484543"/>
                </a:moveTo>
                <a:lnTo>
                  <a:pt x="242049" y="0"/>
                </a:lnTo>
              </a:path>
            </a:pathLst>
          </a:custGeom>
          <a:ln w="1210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88730" y="3325329"/>
            <a:ext cx="193675" cy="254635"/>
          </a:xfrm>
          <a:custGeom>
            <a:avLst/>
            <a:gdLst/>
            <a:ahLst/>
            <a:cxnLst/>
            <a:rect l="l" t="t" r="r" b="b"/>
            <a:pathLst>
              <a:path w="193675" h="254635">
                <a:moveTo>
                  <a:pt x="181533" y="254393"/>
                </a:moveTo>
                <a:lnTo>
                  <a:pt x="193636" y="0"/>
                </a:lnTo>
                <a:lnTo>
                  <a:pt x="0" y="169595"/>
                </a:lnTo>
                <a:lnTo>
                  <a:pt x="181533" y="254393"/>
                </a:lnTo>
              </a:path>
            </a:pathLst>
          </a:custGeom>
          <a:ln w="1210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8477" y="3325329"/>
            <a:ext cx="230504" cy="485140"/>
          </a:xfrm>
          <a:custGeom>
            <a:avLst/>
            <a:gdLst/>
            <a:ahLst/>
            <a:cxnLst/>
            <a:rect l="l" t="t" r="r" b="b"/>
            <a:pathLst>
              <a:path w="230504" h="485139">
                <a:moveTo>
                  <a:pt x="229933" y="484543"/>
                </a:moveTo>
                <a:lnTo>
                  <a:pt x="0" y="0"/>
                </a:lnTo>
              </a:path>
            </a:pathLst>
          </a:custGeom>
          <a:ln w="1210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08477" y="3325329"/>
            <a:ext cx="193675" cy="254635"/>
          </a:xfrm>
          <a:custGeom>
            <a:avLst/>
            <a:gdLst/>
            <a:ahLst/>
            <a:cxnLst/>
            <a:rect l="l" t="t" r="r" b="b"/>
            <a:pathLst>
              <a:path w="193675" h="254635">
                <a:moveTo>
                  <a:pt x="193636" y="169595"/>
                </a:moveTo>
                <a:lnTo>
                  <a:pt x="0" y="0"/>
                </a:lnTo>
                <a:lnTo>
                  <a:pt x="12103" y="254393"/>
                </a:lnTo>
                <a:lnTo>
                  <a:pt x="193636" y="169595"/>
                </a:lnTo>
              </a:path>
            </a:pathLst>
          </a:custGeom>
          <a:ln w="1210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67400" y="1845564"/>
            <a:ext cx="2161540" cy="1440180"/>
          </a:xfrm>
          <a:custGeom>
            <a:avLst/>
            <a:gdLst/>
            <a:ahLst/>
            <a:cxnLst/>
            <a:rect l="l" t="t" r="r" b="b"/>
            <a:pathLst>
              <a:path w="2161540" h="1440179">
                <a:moveTo>
                  <a:pt x="0" y="0"/>
                </a:moveTo>
                <a:lnTo>
                  <a:pt x="2161031" y="0"/>
                </a:lnTo>
                <a:lnTo>
                  <a:pt x="216103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64339" y="1841017"/>
            <a:ext cx="2167890" cy="1447800"/>
          </a:xfrm>
          <a:custGeom>
            <a:avLst/>
            <a:gdLst/>
            <a:ahLst/>
            <a:cxnLst/>
            <a:rect l="l" t="t" r="r" b="b"/>
            <a:pathLst>
              <a:path w="2167890" h="1447800">
                <a:moveTo>
                  <a:pt x="2167851" y="1447774"/>
                </a:moveTo>
                <a:lnTo>
                  <a:pt x="0" y="1447774"/>
                </a:lnTo>
                <a:lnTo>
                  <a:pt x="0" y="0"/>
                </a:lnTo>
                <a:lnTo>
                  <a:pt x="2167851" y="0"/>
                </a:lnTo>
                <a:lnTo>
                  <a:pt x="2167851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1440154"/>
                </a:lnTo>
                <a:lnTo>
                  <a:pt x="3810" y="1440154"/>
                </a:lnTo>
                <a:lnTo>
                  <a:pt x="7619" y="1443964"/>
                </a:lnTo>
                <a:lnTo>
                  <a:pt x="2167851" y="1443964"/>
                </a:lnTo>
                <a:lnTo>
                  <a:pt x="2167851" y="1447774"/>
                </a:lnTo>
                <a:close/>
              </a:path>
              <a:path w="2167890" h="144780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167890" h="1447800">
                <a:moveTo>
                  <a:pt x="2160231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160231" y="3810"/>
                </a:lnTo>
                <a:lnTo>
                  <a:pt x="2160231" y="7620"/>
                </a:lnTo>
                <a:close/>
              </a:path>
              <a:path w="2167890" h="1447800">
                <a:moveTo>
                  <a:pt x="2160231" y="1443964"/>
                </a:moveTo>
                <a:lnTo>
                  <a:pt x="2160231" y="3810"/>
                </a:lnTo>
                <a:lnTo>
                  <a:pt x="2164041" y="7620"/>
                </a:lnTo>
                <a:lnTo>
                  <a:pt x="2167851" y="7620"/>
                </a:lnTo>
                <a:lnTo>
                  <a:pt x="2167851" y="1440154"/>
                </a:lnTo>
                <a:lnTo>
                  <a:pt x="2164041" y="1440154"/>
                </a:lnTo>
                <a:lnTo>
                  <a:pt x="2160231" y="1443964"/>
                </a:lnTo>
                <a:close/>
              </a:path>
              <a:path w="2167890" h="1447800">
                <a:moveTo>
                  <a:pt x="2167851" y="7620"/>
                </a:moveTo>
                <a:lnTo>
                  <a:pt x="2164041" y="7620"/>
                </a:lnTo>
                <a:lnTo>
                  <a:pt x="2160231" y="3810"/>
                </a:lnTo>
                <a:lnTo>
                  <a:pt x="2167851" y="3810"/>
                </a:lnTo>
                <a:lnTo>
                  <a:pt x="2167851" y="7620"/>
                </a:lnTo>
                <a:close/>
              </a:path>
              <a:path w="2167890" h="1447800">
                <a:moveTo>
                  <a:pt x="7619" y="1443964"/>
                </a:moveTo>
                <a:lnTo>
                  <a:pt x="3810" y="1440154"/>
                </a:lnTo>
                <a:lnTo>
                  <a:pt x="7619" y="1440154"/>
                </a:lnTo>
                <a:lnTo>
                  <a:pt x="7619" y="1443964"/>
                </a:lnTo>
                <a:close/>
              </a:path>
              <a:path w="2167890" h="1447800">
                <a:moveTo>
                  <a:pt x="2160231" y="1443964"/>
                </a:moveTo>
                <a:lnTo>
                  <a:pt x="7619" y="1443964"/>
                </a:lnTo>
                <a:lnTo>
                  <a:pt x="7619" y="1440154"/>
                </a:lnTo>
                <a:lnTo>
                  <a:pt x="2160231" y="1440154"/>
                </a:lnTo>
                <a:lnTo>
                  <a:pt x="2160231" y="1443964"/>
                </a:lnTo>
                <a:close/>
              </a:path>
              <a:path w="2167890" h="1447800">
                <a:moveTo>
                  <a:pt x="2167851" y="1443964"/>
                </a:moveTo>
                <a:lnTo>
                  <a:pt x="2160231" y="1443964"/>
                </a:lnTo>
                <a:lnTo>
                  <a:pt x="2164041" y="1440154"/>
                </a:lnTo>
                <a:lnTo>
                  <a:pt x="2167851" y="1440154"/>
                </a:lnTo>
                <a:lnTo>
                  <a:pt x="2167851" y="1443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64339" y="1841017"/>
            <a:ext cx="2167890" cy="295910"/>
          </a:xfrm>
          <a:custGeom>
            <a:avLst/>
            <a:gdLst/>
            <a:ahLst/>
            <a:cxnLst/>
            <a:rect l="l" t="t" r="r" b="b"/>
            <a:pathLst>
              <a:path w="2167890" h="295910">
                <a:moveTo>
                  <a:pt x="2167851" y="295643"/>
                </a:moveTo>
                <a:lnTo>
                  <a:pt x="0" y="295643"/>
                </a:lnTo>
                <a:lnTo>
                  <a:pt x="0" y="0"/>
                </a:lnTo>
                <a:lnTo>
                  <a:pt x="2167851" y="0"/>
                </a:lnTo>
                <a:lnTo>
                  <a:pt x="2167851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288023"/>
                </a:lnTo>
                <a:lnTo>
                  <a:pt x="3810" y="288023"/>
                </a:lnTo>
                <a:lnTo>
                  <a:pt x="7619" y="291833"/>
                </a:lnTo>
                <a:lnTo>
                  <a:pt x="2167851" y="291833"/>
                </a:lnTo>
                <a:lnTo>
                  <a:pt x="2167851" y="295643"/>
                </a:lnTo>
                <a:close/>
              </a:path>
              <a:path w="2167890" h="29591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167890" h="295910">
                <a:moveTo>
                  <a:pt x="2160231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160231" y="3810"/>
                </a:lnTo>
                <a:lnTo>
                  <a:pt x="2160231" y="7620"/>
                </a:lnTo>
                <a:close/>
              </a:path>
              <a:path w="2167890" h="295910">
                <a:moveTo>
                  <a:pt x="2160231" y="291833"/>
                </a:moveTo>
                <a:lnTo>
                  <a:pt x="2160231" y="3810"/>
                </a:lnTo>
                <a:lnTo>
                  <a:pt x="2164041" y="7620"/>
                </a:lnTo>
                <a:lnTo>
                  <a:pt x="2167851" y="7620"/>
                </a:lnTo>
                <a:lnTo>
                  <a:pt x="2167851" y="288023"/>
                </a:lnTo>
                <a:lnTo>
                  <a:pt x="2164041" y="288023"/>
                </a:lnTo>
                <a:lnTo>
                  <a:pt x="2160231" y="291833"/>
                </a:lnTo>
                <a:close/>
              </a:path>
              <a:path w="2167890" h="295910">
                <a:moveTo>
                  <a:pt x="2167851" y="7620"/>
                </a:moveTo>
                <a:lnTo>
                  <a:pt x="2164041" y="7620"/>
                </a:lnTo>
                <a:lnTo>
                  <a:pt x="2160231" y="3810"/>
                </a:lnTo>
                <a:lnTo>
                  <a:pt x="2167851" y="3810"/>
                </a:lnTo>
                <a:lnTo>
                  <a:pt x="2167851" y="7620"/>
                </a:lnTo>
                <a:close/>
              </a:path>
              <a:path w="2167890" h="295910">
                <a:moveTo>
                  <a:pt x="7619" y="291833"/>
                </a:moveTo>
                <a:lnTo>
                  <a:pt x="3810" y="288023"/>
                </a:lnTo>
                <a:lnTo>
                  <a:pt x="7619" y="288023"/>
                </a:lnTo>
                <a:lnTo>
                  <a:pt x="7619" y="291833"/>
                </a:lnTo>
                <a:close/>
              </a:path>
              <a:path w="2167890" h="295910">
                <a:moveTo>
                  <a:pt x="2160231" y="291833"/>
                </a:moveTo>
                <a:lnTo>
                  <a:pt x="7619" y="291833"/>
                </a:lnTo>
                <a:lnTo>
                  <a:pt x="7619" y="288023"/>
                </a:lnTo>
                <a:lnTo>
                  <a:pt x="2160231" y="288023"/>
                </a:lnTo>
                <a:lnTo>
                  <a:pt x="2160231" y="291833"/>
                </a:lnTo>
                <a:close/>
              </a:path>
              <a:path w="2167890" h="295910">
                <a:moveTo>
                  <a:pt x="2167851" y="291833"/>
                </a:moveTo>
                <a:lnTo>
                  <a:pt x="2160231" y="291833"/>
                </a:lnTo>
                <a:lnTo>
                  <a:pt x="2164041" y="288023"/>
                </a:lnTo>
                <a:lnTo>
                  <a:pt x="2167851" y="288023"/>
                </a:lnTo>
                <a:lnTo>
                  <a:pt x="2167851" y="2918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804774" y="1858797"/>
            <a:ext cx="29908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130">
                <a:latin typeface="Calibri"/>
                <a:cs typeface="Calibri"/>
              </a:rPr>
              <a:t>T</a:t>
            </a:r>
            <a:r>
              <a:rPr dirty="0" sz="1400" spc="-5">
                <a:latin typeface="Calibri"/>
                <a:cs typeface="Calibri"/>
              </a:rPr>
              <a:t>e</a:t>
            </a:r>
            <a:r>
              <a:rPr dirty="0" sz="1400" spc="-20">
                <a:latin typeface="Calibri"/>
                <a:cs typeface="Calibri"/>
              </a:rPr>
              <a:t>s</a:t>
            </a:r>
            <a:r>
              <a:rPr dirty="0" sz="1400"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68149" y="2564904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 h="0">
                <a:moveTo>
                  <a:pt x="0" y="0"/>
                </a:moveTo>
                <a:lnTo>
                  <a:pt x="2160244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64339" y="2561094"/>
            <a:ext cx="2167890" cy="295910"/>
          </a:xfrm>
          <a:custGeom>
            <a:avLst/>
            <a:gdLst/>
            <a:ahLst/>
            <a:cxnLst/>
            <a:rect l="l" t="t" r="r" b="b"/>
            <a:pathLst>
              <a:path w="2167890" h="295910">
                <a:moveTo>
                  <a:pt x="2167851" y="295656"/>
                </a:moveTo>
                <a:lnTo>
                  <a:pt x="0" y="295656"/>
                </a:lnTo>
                <a:lnTo>
                  <a:pt x="0" y="0"/>
                </a:lnTo>
                <a:lnTo>
                  <a:pt x="2167851" y="0"/>
                </a:lnTo>
                <a:lnTo>
                  <a:pt x="2167851" y="3810"/>
                </a:lnTo>
                <a:lnTo>
                  <a:pt x="7619" y="3810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288036"/>
                </a:lnTo>
                <a:lnTo>
                  <a:pt x="3810" y="288036"/>
                </a:lnTo>
                <a:lnTo>
                  <a:pt x="7619" y="291845"/>
                </a:lnTo>
                <a:lnTo>
                  <a:pt x="2167851" y="291845"/>
                </a:lnTo>
                <a:lnTo>
                  <a:pt x="2167851" y="295656"/>
                </a:lnTo>
                <a:close/>
              </a:path>
              <a:path w="2167890" h="295910">
                <a:moveTo>
                  <a:pt x="7619" y="7619"/>
                </a:moveTo>
                <a:lnTo>
                  <a:pt x="3810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2167890" h="295910">
                <a:moveTo>
                  <a:pt x="2160231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2160231" y="3810"/>
                </a:lnTo>
                <a:lnTo>
                  <a:pt x="2160231" y="7619"/>
                </a:lnTo>
                <a:close/>
              </a:path>
              <a:path w="2167890" h="295910">
                <a:moveTo>
                  <a:pt x="2160231" y="291845"/>
                </a:moveTo>
                <a:lnTo>
                  <a:pt x="2160231" y="3810"/>
                </a:lnTo>
                <a:lnTo>
                  <a:pt x="2164041" y="7619"/>
                </a:lnTo>
                <a:lnTo>
                  <a:pt x="2167851" y="7619"/>
                </a:lnTo>
                <a:lnTo>
                  <a:pt x="2167851" y="288036"/>
                </a:lnTo>
                <a:lnTo>
                  <a:pt x="2164041" y="288036"/>
                </a:lnTo>
                <a:lnTo>
                  <a:pt x="2160231" y="291845"/>
                </a:lnTo>
                <a:close/>
              </a:path>
              <a:path w="2167890" h="295910">
                <a:moveTo>
                  <a:pt x="2167851" y="7619"/>
                </a:moveTo>
                <a:lnTo>
                  <a:pt x="2164041" y="7619"/>
                </a:lnTo>
                <a:lnTo>
                  <a:pt x="2160231" y="3810"/>
                </a:lnTo>
                <a:lnTo>
                  <a:pt x="2167851" y="3810"/>
                </a:lnTo>
                <a:lnTo>
                  <a:pt x="2167851" y="7619"/>
                </a:lnTo>
                <a:close/>
              </a:path>
              <a:path w="2167890" h="295910">
                <a:moveTo>
                  <a:pt x="7619" y="291845"/>
                </a:moveTo>
                <a:lnTo>
                  <a:pt x="3810" y="288036"/>
                </a:lnTo>
                <a:lnTo>
                  <a:pt x="7619" y="288036"/>
                </a:lnTo>
                <a:lnTo>
                  <a:pt x="7619" y="291845"/>
                </a:lnTo>
                <a:close/>
              </a:path>
              <a:path w="2167890" h="295910">
                <a:moveTo>
                  <a:pt x="2160231" y="291845"/>
                </a:moveTo>
                <a:lnTo>
                  <a:pt x="7619" y="291845"/>
                </a:lnTo>
                <a:lnTo>
                  <a:pt x="7619" y="288036"/>
                </a:lnTo>
                <a:lnTo>
                  <a:pt x="2160231" y="288036"/>
                </a:lnTo>
                <a:lnTo>
                  <a:pt x="2160231" y="291845"/>
                </a:lnTo>
                <a:close/>
              </a:path>
              <a:path w="2167890" h="295910">
                <a:moveTo>
                  <a:pt x="2167851" y="291845"/>
                </a:moveTo>
                <a:lnTo>
                  <a:pt x="2160231" y="291845"/>
                </a:lnTo>
                <a:lnTo>
                  <a:pt x="2164041" y="288036"/>
                </a:lnTo>
                <a:lnTo>
                  <a:pt x="2167851" y="288036"/>
                </a:lnTo>
                <a:lnTo>
                  <a:pt x="2167851" y="291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867400" y="2578874"/>
            <a:ext cx="216154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Calibri"/>
                <a:cs typeface="Calibri"/>
              </a:rPr>
              <a:t>+main:void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95940" y="2212644"/>
            <a:ext cx="1872614" cy="128905"/>
          </a:xfrm>
          <a:custGeom>
            <a:avLst/>
            <a:gdLst/>
            <a:ahLst/>
            <a:cxnLst/>
            <a:rect l="l" t="t" r="r" b="b"/>
            <a:pathLst>
              <a:path w="1872614" h="128905">
                <a:moveTo>
                  <a:pt x="115506" y="128447"/>
                </a:moveTo>
                <a:lnTo>
                  <a:pt x="112521" y="128435"/>
                </a:lnTo>
                <a:lnTo>
                  <a:pt x="109600" y="127800"/>
                </a:lnTo>
                <a:lnTo>
                  <a:pt x="106883" y="126580"/>
                </a:lnTo>
                <a:lnTo>
                  <a:pt x="0" y="64223"/>
                </a:lnTo>
                <a:lnTo>
                  <a:pt x="106883" y="1879"/>
                </a:lnTo>
                <a:lnTo>
                  <a:pt x="109600" y="647"/>
                </a:lnTo>
                <a:lnTo>
                  <a:pt x="112521" y="12"/>
                </a:lnTo>
                <a:lnTo>
                  <a:pt x="115506" y="0"/>
                </a:lnTo>
                <a:lnTo>
                  <a:pt x="118427" y="609"/>
                </a:lnTo>
                <a:lnTo>
                  <a:pt x="128358" y="14160"/>
                </a:lnTo>
                <a:lnTo>
                  <a:pt x="128066" y="17132"/>
                </a:lnTo>
                <a:lnTo>
                  <a:pt x="81207" y="49936"/>
                </a:lnTo>
                <a:lnTo>
                  <a:pt x="28346" y="49936"/>
                </a:lnTo>
                <a:lnTo>
                  <a:pt x="28346" y="78511"/>
                </a:lnTo>
                <a:lnTo>
                  <a:pt x="81196" y="78511"/>
                </a:lnTo>
                <a:lnTo>
                  <a:pt x="121272" y="101892"/>
                </a:lnTo>
                <a:lnTo>
                  <a:pt x="128358" y="114300"/>
                </a:lnTo>
                <a:lnTo>
                  <a:pt x="128041" y="117271"/>
                </a:lnTo>
                <a:lnTo>
                  <a:pt x="118427" y="127838"/>
                </a:lnTo>
                <a:lnTo>
                  <a:pt x="115506" y="128447"/>
                </a:lnTo>
                <a:close/>
              </a:path>
              <a:path w="1872614" h="128905">
                <a:moveTo>
                  <a:pt x="71983" y="78511"/>
                </a:moveTo>
                <a:lnTo>
                  <a:pt x="28346" y="78511"/>
                </a:lnTo>
                <a:lnTo>
                  <a:pt x="28346" y="49936"/>
                </a:lnTo>
                <a:lnTo>
                  <a:pt x="71983" y="49936"/>
                </a:lnTo>
                <a:lnTo>
                  <a:pt x="71983" y="51879"/>
                </a:lnTo>
                <a:lnTo>
                  <a:pt x="35547" y="51879"/>
                </a:lnTo>
                <a:lnTo>
                  <a:pt x="35547" y="76568"/>
                </a:lnTo>
                <a:lnTo>
                  <a:pt x="71983" y="76568"/>
                </a:lnTo>
                <a:lnTo>
                  <a:pt x="71983" y="78511"/>
                </a:lnTo>
                <a:close/>
              </a:path>
              <a:path w="1872614" h="128905">
                <a:moveTo>
                  <a:pt x="71983" y="55316"/>
                </a:moveTo>
                <a:lnTo>
                  <a:pt x="71983" y="49936"/>
                </a:lnTo>
                <a:lnTo>
                  <a:pt x="81207" y="49936"/>
                </a:lnTo>
                <a:lnTo>
                  <a:pt x="71983" y="55316"/>
                </a:lnTo>
                <a:close/>
              </a:path>
              <a:path w="1872614" h="128905">
                <a:moveTo>
                  <a:pt x="35547" y="76568"/>
                </a:moveTo>
                <a:lnTo>
                  <a:pt x="35547" y="51879"/>
                </a:lnTo>
                <a:lnTo>
                  <a:pt x="56709" y="64225"/>
                </a:lnTo>
                <a:lnTo>
                  <a:pt x="35547" y="76568"/>
                </a:lnTo>
                <a:close/>
              </a:path>
              <a:path w="1872614" h="128905">
                <a:moveTo>
                  <a:pt x="56709" y="64225"/>
                </a:moveTo>
                <a:lnTo>
                  <a:pt x="35547" y="51879"/>
                </a:lnTo>
                <a:lnTo>
                  <a:pt x="71983" y="51879"/>
                </a:lnTo>
                <a:lnTo>
                  <a:pt x="71983" y="55316"/>
                </a:lnTo>
                <a:lnTo>
                  <a:pt x="56709" y="64225"/>
                </a:lnTo>
                <a:close/>
              </a:path>
              <a:path w="1872614" h="128905">
                <a:moveTo>
                  <a:pt x="71983" y="73136"/>
                </a:moveTo>
                <a:lnTo>
                  <a:pt x="56709" y="64225"/>
                </a:lnTo>
                <a:lnTo>
                  <a:pt x="71983" y="55316"/>
                </a:lnTo>
                <a:lnTo>
                  <a:pt x="71983" y="73136"/>
                </a:lnTo>
                <a:close/>
              </a:path>
              <a:path w="1872614" h="128905">
                <a:moveTo>
                  <a:pt x="71983" y="76568"/>
                </a:moveTo>
                <a:lnTo>
                  <a:pt x="35547" y="76568"/>
                </a:lnTo>
                <a:lnTo>
                  <a:pt x="56709" y="64225"/>
                </a:lnTo>
                <a:lnTo>
                  <a:pt x="71983" y="73136"/>
                </a:lnTo>
                <a:lnTo>
                  <a:pt x="71983" y="76568"/>
                </a:lnTo>
                <a:close/>
              </a:path>
              <a:path w="1872614" h="128905">
                <a:moveTo>
                  <a:pt x="81196" y="78511"/>
                </a:moveTo>
                <a:lnTo>
                  <a:pt x="71983" y="78511"/>
                </a:lnTo>
                <a:lnTo>
                  <a:pt x="71983" y="73136"/>
                </a:lnTo>
                <a:lnTo>
                  <a:pt x="81196" y="78511"/>
                </a:lnTo>
                <a:close/>
              </a:path>
              <a:path w="1872614" h="128905">
                <a:moveTo>
                  <a:pt x="1872208" y="78511"/>
                </a:moveTo>
                <a:lnTo>
                  <a:pt x="1757908" y="78511"/>
                </a:lnTo>
                <a:lnTo>
                  <a:pt x="1757908" y="49936"/>
                </a:lnTo>
                <a:lnTo>
                  <a:pt x="1872208" y="49936"/>
                </a:lnTo>
                <a:lnTo>
                  <a:pt x="1872208" y="78511"/>
                </a:lnTo>
                <a:close/>
              </a:path>
              <a:path w="1872614" h="128905">
                <a:moveTo>
                  <a:pt x="1672183" y="78511"/>
                </a:moveTo>
                <a:lnTo>
                  <a:pt x="1557883" y="78511"/>
                </a:lnTo>
                <a:lnTo>
                  <a:pt x="1557883" y="49936"/>
                </a:lnTo>
                <a:lnTo>
                  <a:pt x="1672183" y="49936"/>
                </a:lnTo>
                <a:lnTo>
                  <a:pt x="1672183" y="78511"/>
                </a:lnTo>
                <a:close/>
              </a:path>
              <a:path w="1872614" h="128905">
                <a:moveTo>
                  <a:pt x="1472158" y="78511"/>
                </a:moveTo>
                <a:lnTo>
                  <a:pt x="1357858" y="78511"/>
                </a:lnTo>
                <a:lnTo>
                  <a:pt x="1357858" y="49936"/>
                </a:lnTo>
                <a:lnTo>
                  <a:pt x="1472158" y="49936"/>
                </a:lnTo>
                <a:lnTo>
                  <a:pt x="1472158" y="78511"/>
                </a:lnTo>
                <a:close/>
              </a:path>
              <a:path w="1872614" h="128905">
                <a:moveTo>
                  <a:pt x="1272133" y="78511"/>
                </a:moveTo>
                <a:lnTo>
                  <a:pt x="1157833" y="78511"/>
                </a:lnTo>
                <a:lnTo>
                  <a:pt x="1157833" y="49936"/>
                </a:lnTo>
                <a:lnTo>
                  <a:pt x="1272133" y="49936"/>
                </a:lnTo>
                <a:lnTo>
                  <a:pt x="1272133" y="78511"/>
                </a:lnTo>
                <a:close/>
              </a:path>
              <a:path w="1872614" h="128905">
                <a:moveTo>
                  <a:pt x="1072108" y="78511"/>
                </a:moveTo>
                <a:lnTo>
                  <a:pt x="957808" y="78511"/>
                </a:lnTo>
                <a:lnTo>
                  <a:pt x="957808" y="49936"/>
                </a:lnTo>
                <a:lnTo>
                  <a:pt x="1072108" y="49936"/>
                </a:lnTo>
                <a:lnTo>
                  <a:pt x="1072108" y="78511"/>
                </a:lnTo>
                <a:close/>
              </a:path>
              <a:path w="1872614" h="128905">
                <a:moveTo>
                  <a:pt x="872083" y="78511"/>
                </a:moveTo>
                <a:lnTo>
                  <a:pt x="757783" y="78511"/>
                </a:lnTo>
                <a:lnTo>
                  <a:pt x="757783" y="49936"/>
                </a:lnTo>
                <a:lnTo>
                  <a:pt x="872083" y="49936"/>
                </a:lnTo>
                <a:lnTo>
                  <a:pt x="872083" y="78511"/>
                </a:lnTo>
                <a:close/>
              </a:path>
              <a:path w="1872614" h="128905">
                <a:moveTo>
                  <a:pt x="672058" y="78511"/>
                </a:moveTo>
                <a:lnTo>
                  <a:pt x="557758" y="78511"/>
                </a:lnTo>
                <a:lnTo>
                  <a:pt x="557758" y="49936"/>
                </a:lnTo>
                <a:lnTo>
                  <a:pt x="672058" y="49936"/>
                </a:lnTo>
                <a:lnTo>
                  <a:pt x="672058" y="78511"/>
                </a:lnTo>
                <a:close/>
              </a:path>
              <a:path w="1872614" h="128905">
                <a:moveTo>
                  <a:pt x="472033" y="78511"/>
                </a:moveTo>
                <a:lnTo>
                  <a:pt x="357733" y="78511"/>
                </a:lnTo>
                <a:lnTo>
                  <a:pt x="357733" y="49936"/>
                </a:lnTo>
                <a:lnTo>
                  <a:pt x="472033" y="49936"/>
                </a:lnTo>
                <a:lnTo>
                  <a:pt x="472033" y="78511"/>
                </a:lnTo>
                <a:close/>
              </a:path>
              <a:path w="1872614" h="128905">
                <a:moveTo>
                  <a:pt x="272008" y="78511"/>
                </a:moveTo>
                <a:lnTo>
                  <a:pt x="157708" y="78511"/>
                </a:lnTo>
                <a:lnTo>
                  <a:pt x="157708" y="49936"/>
                </a:lnTo>
                <a:lnTo>
                  <a:pt x="272008" y="49936"/>
                </a:lnTo>
                <a:lnTo>
                  <a:pt x="272008" y="78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2272" y="231051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父类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254190" y="4210304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子类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19113" y="3367582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第三方类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296354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1</a:t>
            </a:r>
            <a:r>
              <a:rPr dirty="0" sz="2100" b="1">
                <a:latin typeface="微软雅黑"/>
                <a:cs typeface="微软雅黑"/>
              </a:rPr>
              <a:t>.3	类成员的访问控制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02640" y="1529734"/>
            <a:ext cx="8243570" cy="416306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成员访问控制修饰符的具体应</a:t>
            </a:r>
            <a:r>
              <a:rPr dirty="0" sz="2800" spc="-5">
                <a:latin typeface="微软雅黑"/>
                <a:cs typeface="微软雅黑"/>
              </a:rPr>
              <a:t>用</a:t>
            </a:r>
            <a:endParaRPr sz="2800">
              <a:latin typeface="微软雅黑"/>
              <a:cs typeface="微软雅黑"/>
            </a:endParaRPr>
          </a:p>
          <a:p>
            <a:pPr lvl="1" marL="527050" marR="89535" indent="-171450">
              <a:lnSpc>
                <a:spcPts val="2730"/>
              </a:lnSpc>
              <a:spcBef>
                <a:spcPts val="45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父类中</a:t>
            </a:r>
            <a:r>
              <a:rPr dirty="0" sz="2400">
                <a:solidFill>
                  <a:srgbClr val="C00000"/>
                </a:solidFill>
                <a:latin typeface="微软雅黑"/>
                <a:cs typeface="微软雅黑"/>
              </a:rPr>
              <a:t>数据成员的修饰符</a:t>
            </a:r>
            <a:r>
              <a:rPr dirty="0" sz="2400">
                <a:latin typeface="微软雅黑"/>
                <a:cs typeface="微软雅黑"/>
              </a:rPr>
              <a:t>：尽可能应该将父类中的成员变 量声明为</a:t>
            </a:r>
            <a:r>
              <a:rPr dirty="0" sz="2400" spc="-15">
                <a:latin typeface="微软雅黑"/>
                <a:cs typeface="微软雅黑"/>
              </a:rPr>
              <a:t>private，</a:t>
            </a:r>
            <a:r>
              <a:rPr dirty="0" sz="2400">
                <a:latin typeface="微软雅黑"/>
                <a:cs typeface="微软雅黑"/>
              </a:rPr>
              <a:t>并在父类中定义访问这些</a:t>
            </a:r>
            <a:r>
              <a:rPr dirty="0" sz="2400" spc="-15">
                <a:latin typeface="微软雅黑"/>
                <a:cs typeface="微软雅黑"/>
              </a:rPr>
              <a:t>private</a:t>
            </a:r>
            <a:r>
              <a:rPr dirty="0" sz="2400">
                <a:latin typeface="微软雅黑"/>
                <a:cs typeface="微软雅黑"/>
              </a:rPr>
              <a:t>成员 变量的public型的方法。</a:t>
            </a:r>
            <a:endParaRPr sz="2400">
              <a:latin typeface="微软雅黑"/>
              <a:cs typeface="微软雅黑"/>
            </a:endParaRPr>
          </a:p>
          <a:p>
            <a:pPr algn="just" lvl="1" marL="527050" marR="5080" indent="-171450">
              <a:lnSpc>
                <a:spcPts val="2740"/>
              </a:lnSpc>
              <a:spcBef>
                <a:spcPts val="3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父类中</a:t>
            </a:r>
            <a:r>
              <a:rPr dirty="0" sz="2400">
                <a:solidFill>
                  <a:srgbClr val="C00000"/>
                </a:solidFill>
                <a:latin typeface="微软雅黑"/>
                <a:cs typeface="微软雅黑"/>
              </a:rPr>
              <a:t>方法的修饰符</a:t>
            </a:r>
            <a:r>
              <a:rPr dirty="0" sz="2400">
                <a:solidFill>
                  <a:srgbClr val="993300"/>
                </a:solidFill>
                <a:latin typeface="微软雅黑"/>
                <a:cs typeface="微软雅黑"/>
              </a:rPr>
              <a:t>：</a:t>
            </a:r>
            <a:r>
              <a:rPr dirty="0" sz="2400">
                <a:latin typeface="微软雅黑"/>
                <a:cs typeface="微软雅黑"/>
              </a:rPr>
              <a:t>关于父类中的p</a:t>
            </a:r>
            <a:r>
              <a:rPr dirty="0" sz="2400" spc="-5">
                <a:latin typeface="微软雅黑"/>
                <a:cs typeface="微软雅黑"/>
              </a:rPr>
              <a:t>r</a:t>
            </a:r>
            <a:r>
              <a:rPr dirty="0" sz="2400">
                <a:latin typeface="微软雅黑"/>
                <a:cs typeface="微软雅黑"/>
              </a:rPr>
              <a:t>i</a:t>
            </a:r>
            <a:r>
              <a:rPr dirty="0" sz="2400" spc="-50">
                <a:latin typeface="微软雅黑"/>
                <a:cs typeface="微软雅黑"/>
              </a:rPr>
              <a:t>v</a:t>
            </a:r>
            <a:r>
              <a:rPr dirty="0" sz="2400" spc="-5">
                <a:latin typeface="微软雅黑"/>
                <a:cs typeface="微软雅黑"/>
              </a:rPr>
              <a:t>a</a:t>
            </a:r>
            <a:r>
              <a:rPr dirty="0" sz="2400" spc="-20">
                <a:latin typeface="微软雅黑"/>
                <a:cs typeface="微软雅黑"/>
              </a:rPr>
              <a:t>t</a:t>
            </a:r>
            <a:r>
              <a:rPr dirty="0" sz="2400" spc="-5">
                <a:latin typeface="微软雅黑"/>
                <a:cs typeface="微软雅黑"/>
              </a:rPr>
              <a:t>e</a:t>
            </a:r>
            <a:r>
              <a:rPr dirty="0" sz="2400">
                <a:latin typeface="微软雅黑"/>
                <a:cs typeface="微软雅黑"/>
              </a:rPr>
              <a:t>方法，如果某 个方法是为类中其他的方法提供服务，只在类中使用，将 其定义为</a:t>
            </a:r>
            <a:r>
              <a:rPr dirty="0" sz="2400" spc="-15">
                <a:latin typeface="微软雅黑"/>
                <a:cs typeface="微软雅黑"/>
              </a:rPr>
              <a:t>private，</a:t>
            </a:r>
            <a:r>
              <a:rPr dirty="0" sz="2400">
                <a:latin typeface="微软雅黑"/>
                <a:cs typeface="微软雅黑"/>
              </a:rPr>
              <a:t>对外界隐藏。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微软雅黑"/>
              <a:cs typeface="微软雅黑"/>
            </a:endParaRPr>
          </a:p>
          <a:p>
            <a:pPr marL="908685">
              <a:lnSpc>
                <a:spcPct val="100000"/>
              </a:lnSpc>
            </a:pPr>
            <a:r>
              <a:rPr dirty="0" sz="2800">
                <a:solidFill>
                  <a:srgbClr val="FF0000"/>
                </a:solidFill>
                <a:latin typeface="微软雅黑"/>
                <a:cs typeface="微软雅黑"/>
              </a:rPr>
              <a:t>尽可能的</a:t>
            </a:r>
            <a:r>
              <a:rPr dirty="0" sz="2800" spc="-15">
                <a:solidFill>
                  <a:srgbClr val="FF0000"/>
                </a:solidFill>
                <a:latin typeface="微软雅黑"/>
                <a:cs typeface="微软雅黑"/>
              </a:rPr>
              <a:t>private</a:t>
            </a:r>
            <a:endParaRPr sz="2800">
              <a:latin typeface="微软雅黑"/>
              <a:cs typeface="微软雅黑"/>
            </a:endParaRPr>
          </a:p>
          <a:p>
            <a:pPr marL="980440">
              <a:lnSpc>
                <a:spcPct val="100000"/>
              </a:lnSpc>
              <a:spcBef>
                <a:spcPts val="1645"/>
              </a:spcBef>
              <a:tabLst>
                <a:tab pos="2501900" algn="l"/>
              </a:tabLst>
            </a:pPr>
            <a:r>
              <a:rPr dirty="0" sz="2800" spc="-5">
                <a:solidFill>
                  <a:srgbClr val="ED7A07"/>
                </a:solidFill>
                <a:latin typeface="Times New Roman"/>
                <a:cs typeface="Times New Roman"/>
              </a:rPr>
              <a:t>Sample</a:t>
            </a:r>
            <a:r>
              <a:rPr dirty="0" sz="2800" spc="5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:	IceCream.java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1</a:t>
            </a:r>
            <a:r>
              <a:rPr dirty="0" sz="2100"/>
              <a:t>.3	类成员的访问控制</a:t>
            </a:r>
            <a:endParaRPr sz="21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36650" y="1470660"/>
            <a:ext cx="6797040" cy="26422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84150" marR="508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子类从父类继承成员时，父类的所</a:t>
            </a:r>
            <a:r>
              <a:rPr dirty="0" sz="2800" spc="-5">
                <a:latin typeface="微软雅黑"/>
                <a:cs typeface="微软雅黑"/>
              </a:rPr>
              <a:t>有 public</a:t>
            </a:r>
            <a:r>
              <a:rPr dirty="0" sz="2800">
                <a:latin typeface="微软雅黑"/>
                <a:cs typeface="微软雅黑"/>
              </a:rPr>
              <a:t>、</a:t>
            </a:r>
            <a:r>
              <a:rPr dirty="0" sz="2800" spc="-15">
                <a:latin typeface="微软雅黑"/>
                <a:cs typeface="微软雅黑"/>
              </a:rPr>
              <a:t>protected</a:t>
            </a:r>
            <a:r>
              <a:rPr dirty="0" sz="2800">
                <a:latin typeface="微软雅黑"/>
                <a:cs typeface="微软雅黑"/>
              </a:rPr>
              <a:t>、</a:t>
            </a:r>
            <a:r>
              <a:rPr dirty="0" sz="2800" spc="-10">
                <a:latin typeface="微软雅黑"/>
                <a:cs typeface="微软雅黑"/>
              </a:rPr>
              <a:t>package</a:t>
            </a:r>
            <a:r>
              <a:rPr dirty="0" sz="2800">
                <a:latin typeface="微软雅黑"/>
                <a:cs typeface="微软雅黑"/>
              </a:rPr>
              <a:t>成员，在</a:t>
            </a:r>
            <a:r>
              <a:rPr dirty="0" sz="2800" spc="-5">
                <a:latin typeface="微软雅黑"/>
                <a:cs typeface="微软雅黑"/>
              </a:rPr>
              <a:t>子 </a:t>
            </a:r>
            <a:r>
              <a:rPr dirty="0" sz="2800">
                <a:latin typeface="微软雅黑"/>
                <a:cs typeface="微软雅黑"/>
              </a:rPr>
              <a:t>类中都保持它们原有的访问修饰符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22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注意</a:t>
            </a:r>
            <a:r>
              <a:rPr dirty="0" sz="2800" spc="-5" b="1">
                <a:latin typeface="Verdana"/>
                <a:cs typeface="Verdana"/>
              </a:rPr>
              <a:t>The default</a:t>
            </a:r>
            <a:r>
              <a:rPr dirty="0" sz="2800" spc="-10" b="1">
                <a:latin typeface="Verdana"/>
                <a:cs typeface="Verdana"/>
              </a:rPr>
              <a:t> </a:t>
            </a:r>
            <a:r>
              <a:rPr dirty="0" sz="2800" spc="-5" b="1">
                <a:latin typeface="Verdana"/>
                <a:cs typeface="Verdana"/>
              </a:rPr>
              <a:t>package :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  <a:tabLst>
                <a:tab pos="1534160" algn="l"/>
                <a:tab pos="3392170" algn="l"/>
              </a:tabLst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</a:t>
            </a:r>
            <a:r>
              <a:rPr dirty="0" sz="2800" spc="5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:	Cake.java	Pie.java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81454"/>
            <a:ext cx="76542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</a:t>
            </a:r>
            <a:r>
              <a:rPr dirty="0" sz="2100">
                <a:latin typeface="微软雅黑"/>
                <a:cs typeface="微软雅黑"/>
              </a:rPr>
              <a:t>-</a:t>
            </a:r>
            <a:r>
              <a:rPr dirty="0" sz="2100" spc="-5">
                <a:latin typeface="微软雅黑"/>
                <a:cs typeface="微软雅黑"/>
              </a:rPr>
              <a:t>2</a:t>
            </a:r>
            <a:r>
              <a:rPr dirty="0" sz="2100">
                <a:latin typeface="微软雅黑"/>
                <a:cs typeface="微软雅黑"/>
              </a:rPr>
              <a:t>】分析同包下无继承关系的类之间成员的访问控制权限。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1</a:t>
            </a:r>
            <a:r>
              <a:rPr dirty="0" sz="2100"/>
              <a:t>.3	类成员的访问控制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108204" y="1988820"/>
            <a:ext cx="4249420" cy="2307590"/>
          </a:xfrm>
          <a:custGeom>
            <a:avLst/>
            <a:gdLst/>
            <a:ahLst/>
            <a:cxnLst/>
            <a:rect l="l" t="t" r="r" b="b"/>
            <a:pathLst>
              <a:path w="4249420" h="2307590">
                <a:moveTo>
                  <a:pt x="0" y="0"/>
                </a:moveTo>
                <a:lnTo>
                  <a:pt x="4248912" y="0"/>
                </a:lnTo>
                <a:lnTo>
                  <a:pt x="4248912" y="2307335"/>
                </a:lnTo>
                <a:lnTo>
                  <a:pt x="0" y="2307335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1790" y="1982609"/>
            <a:ext cx="4261485" cy="2319655"/>
          </a:xfrm>
          <a:custGeom>
            <a:avLst/>
            <a:gdLst/>
            <a:ahLst/>
            <a:cxnLst/>
            <a:rect l="l" t="t" r="r" b="b"/>
            <a:pathLst>
              <a:path w="4261485" h="2319654">
                <a:moveTo>
                  <a:pt x="4261167" y="2319655"/>
                </a:moveTo>
                <a:lnTo>
                  <a:pt x="0" y="2319655"/>
                </a:lnTo>
                <a:lnTo>
                  <a:pt x="0" y="0"/>
                </a:lnTo>
                <a:lnTo>
                  <a:pt x="4261167" y="0"/>
                </a:lnTo>
                <a:lnTo>
                  <a:pt x="426116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306955"/>
                </a:lnTo>
                <a:lnTo>
                  <a:pt x="6350" y="2306955"/>
                </a:lnTo>
                <a:lnTo>
                  <a:pt x="12700" y="2313305"/>
                </a:lnTo>
                <a:lnTo>
                  <a:pt x="4261167" y="2313305"/>
                </a:lnTo>
                <a:lnTo>
                  <a:pt x="4261167" y="2319655"/>
                </a:lnTo>
                <a:close/>
              </a:path>
              <a:path w="4261485" h="231965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4261485" h="2319654">
                <a:moveTo>
                  <a:pt x="424846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4248467" y="6350"/>
                </a:lnTo>
                <a:lnTo>
                  <a:pt x="4248467" y="12700"/>
                </a:lnTo>
                <a:close/>
              </a:path>
              <a:path w="4261485" h="2319654">
                <a:moveTo>
                  <a:pt x="4248467" y="2313305"/>
                </a:moveTo>
                <a:lnTo>
                  <a:pt x="4248467" y="6350"/>
                </a:lnTo>
                <a:lnTo>
                  <a:pt x="4254817" y="12700"/>
                </a:lnTo>
                <a:lnTo>
                  <a:pt x="4261167" y="12700"/>
                </a:lnTo>
                <a:lnTo>
                  <a:pt x="4261167" y="2306954"/>
                </a:lnTo>
                <a:lnTo>
                  <a:pt x="4254817" y="2306955"/>
                </a:lnTo>
                <a:lnTo>
                  <a:pt x="4248467" y="2313305"/>
                </a:lnTo>
                <a:close/>
              </a:path>
              <a:path w="4261485" h="2319654">
                <a:moveTo>
                  <a:pt x="4261167" y="12700"/>
                </a:moveTo>
                <a:lnTo>
                  <a:pt x="4254817" y="12700"/>
                </a:lnTo>
                <a:lnTo>
                  <a:pt x="4248467" y="6350"/>
                </a:lnTo>
                <a:lnTo>
                  <a:pt x="4261167" y="6350"/>
                </a:lnTo>
                <a:lnTo>
                  <a:pt x="4261167" y="12700"/>
                </a:lnTo>
                <a:close/>
              </a:path>
              <a:path w="4261485" h="2319654">
                <a:moveTo>
                  <a:pt x="12700" y="2313305"/>
                </a:moveTo>
                <a:lnTo>
                  <a:pt x="6350" y="2306955"/>
                </a:lnTo>
                <a:lnTo>
                  <a:pt x="12700" y="2306955"/>
                </a:lnTo>
                <a:lnTo>
                  <a:pt x="12700" y="2313305"/>
                </a:lnTo>
                <a:close/>
              </a:path>
              <a:path w="4261485" h="2319654">
                <a:moveTo>
                  <a:pt x="4248467" y="2313305"/>
                </a:moveTo>
                <a:lnTo>
                  <a:pt x="12700" y="2313305"/>
                </a:lnTo>
                <a:lnTo>
                  <a:pt x="12700" y="2306955"/>
                </a:lnTo>
                <a:lnTo>
                  <a:pt x="4248467" y="2306955"/>
                </a:lnTo>
                <a:lnTo>
                  <a:pt x="4248467" y="2313305"/>
                </a:lnTo>
                <a:close/>
              </a:path>
              <a:path w="4261485" h="2319654">
                <a:moveTo>
                  <a:pt x="4261167" y="2313305"/>
                </a:moveTo>
                <a:lnTo>
                  <a:pt x="4248467" y="2313305"/>
                </a:lnTo>
                <a:lnTo>
                  <a:pt x="4254817" y="2306955"/>
                </a:lnTo>
                <a:lnTo>
                  <a:pt x="4261167" y="2306954"/>
                </a:lnTo>
                <a:lnTo>
                  <a:pt x="4261167" y="231330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6880" y="2016899"/>
            <a:ext cx="34944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package</a:t>
            </a:r>
            <a:r>
              <a:rPr dirty="0" sz="1800" spc="-2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chap5.example.access;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880" y="2291219"/>
            <a:ext cx="391922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public </a:t>
            </a: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class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r>
              <a:rPr dirty="0" sz="1800" spc="-1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927100" marR="910590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public int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a=1;  </a:t>
            </a: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protected int</a:t>
            </a:r>
            <a:r>
              <a:rPr dirty="0" sz="1800" spc="-8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b=2;  </a:t>
            </a: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int</a:t>
            </a:r>
            <a:r>
              <a:rPr dirty="0" sz="1800" spc="-1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c=3;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dirty="0" sz="1800" spc="-10" b="1">
                <a:solidFill>
                  <a:srgbClr val="FFFFFF"/>
                </a:solidFill>
                <a:latin typeface="微软雅黑"/>
                <a:cs typeface="微软雅黑"/>
              </a:rPr>
              <a:t>private </a:t>
            </a: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int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d=4;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public int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getD(){</a:t>
            </a: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return</a:t>
            </a:r>
            <a:r>
              <a:rPr dirty="0" sz="1800" spc="-5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d;}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40708" y="2133600"/>
            <a:ext cx="5003292" cy="2788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36390" y="2129154"/>
            <a:ext cx="5007610" cy="2796540"/>
          </a:xfrm>
          <a:custGeom>
            <a:avLst/>
            <a:gdLst/>
            <a:ahLst/>
            <a:cxnLst/>
            <a:rect l="l" t="t" r="r" b="b"/>
            <a:pathLst>
              <a:path w="5007609" h="2796540">
                <a:moveTo>
                  <a:pt x="5007610" y="2796540"/>
                </a:moveTo>
                <a:lnTo>
                  <a:pt x="0" y="2796540"/>
                </a:lnTo>
                <a:lnTo>
                  <a:pt x="0" y="0"/>
                </a:lnTo>
                <a:lnTo>
                  <a:pt x="5007610" y="0"/>
                </a:lnTo>
                <a:lnTo>
                  <a:pt x="5007610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788920"/>
                </a:lnTo>
                <a:lnTo>
                  <a:pt x="3810" y="2788920"/>
                </a:lnTo>
                <a:lnTo>
                  <a:pt x="7620" y="2792730"/>
                </a:lnTo>
                <a:lnTo>
                  <a:pt x="5007610" y="2792730"/>
                </a:lnTo>
                <a:lnTo>
                  <a:pt x="5007610" y="2796540"/>
                </a:lnTo>
                <a:close/>
              </a:path>
              <a:path w="5007609" h="2796540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5007609" h="2796540">
                <a:moveTo>
                  <a:pt x="5003800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5003800" y="3810"/>
                </a:lnTo>
                <a:lnTo>
                  <a:pt x="5003800" y="7619"/>
                </a:lnTo>
                <a:close/>
              </a:path>
              <a:path w="5007609" h="2796540">
                <a:moveTo>
                  <a:pt x="5003800" y="2792730"/>
                </a:moveTo>
                <a:lnTo>
                  <a:pt x="5003800" y="3810"/>
                </a:lnTo>
                <a:lnTo>
                  <a:pt x="5007610" y="7619"/>
                </a:lnTo>
                <a:lnTo>
                  <a:pt x="5007610" y="2788920"/>
                </a:lnTo>
                <a:lnTo>
                  <a:pt x="5003800" y="2792730"/>
                </a:lnTo>
                <a:close/>
              </a:path>
              <a:path w="5007609" h="2796540">
                <a:moveTo>
                  <a:pt x="5007610" y="7619"/>
                </a:moveTo>
                <a:lnTo>
                  <a:pt x="5003800" y="3810"/>
                </a:lnTo>
                <a:lnTo>
                  <a:pt x="5007610" y="3810"/>
                </a:lnTo>
                <a:lnTo>
                  <a:pt x="5007610" y="7619"/>
                </a:lnTo>
                <a:close/>
              </a:path>
              <a:path w="5007609" h="2796540">
                <a:moveTo>
                  <a:pt x="7620" y="2792730"/>
                </a:moveTo>
                <a:lnTo>
                  <a:pt x="3810" y="2788920"/>
                </a:lnTo>
                <a:lnTo>
                  <a:pt x="7620" y="2788920"/>
                </a:lnTo>
                <a:lnTo>
                  <a:pt x="7620" y="2792730"/>
                </a:lnTo>
                <a:close/>
              </a:path>
              <a:path w="5007609" h="2796540">
                <a:moveTo>
                  <a:pt x="5003800" y="2792730"/>
                </a:moveTo>
                <a:lnTo>
                  <a:pt x="7620" y="2792730"/>
                </a:lnTo>
                <a:lnTo>
                  <a:pt x="7620" y="2788920"/>
                </a:lnTo>
                <a:lnTo>
                  <a:pt x="5003800" y="2788920"/>
                </a:lnTo>
                <a:lnTo>
                  <a:pt x="5003800" y="2792730"/>
                </a:lnTo>
                <a:close/>
              </a:path>
              <a:path w="5007609" h="2796540">
                <a:moveTo>
                  <a:pt x="5007610" y="2792730"/>
                </a:moveTo>
                <a:lnTo>
                  <a:pt x="5003800" y="2792730"/>
                </a:lnTo>
                <a:lnTo>
                  <a:pt x="5007610" y="2788920"/>
                </a:lnTo>
                <a:lnTo>
                  <a:pt x="5007610" y="279273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18940" y="2162175"/>
            <a:ext cx="310705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微软雅黑"/>
                <a:cs typeface="微软雅黑"/>
              </a:rPr>
              <a:t>package</a:t>
            </a:r>
            <a:r>
              <a:rPr dirty="0" sz="1600" b="1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chap5.example.access;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4218940" y="2406014"/>
            <a:ext cx="262445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微软雅黑"/>
                <a:cs typeface="微软雅黑"/>
              </a:rPr>
              <a:t>public class </a:t>
            </a:r>
            <a:r>
              <a:rPr dirty="0" sz="1600" spc="-5">
                <a:latin typeface="微软雅黑"/>
                <a:cs typeface="微软雅黑"/>
              </a:rPr>
              <a:t>AccessDemo</a:t>
            </a:r>
            <a:r>
              <a:rPr dirty="0" sz="1600" spc="-2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{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3340" y="2649855"/>
            <a:ext cx="3815079" cy="148780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927100" marR="5080" indent="-914400">
              <a:lnSpc>
                <a:spcPts val="1920"/>
              </a:lnSpc>
              <a:spcBef>
                <a:spcPts val="155"/>
              </a:spcBef>
            </a:pPr>
            <a:r>
              <a:rPr dirty="0" sz="1600" spc="-5" b="1">
                <a:latin typeface="微软雅黑"/>
                <a:cs typeface="微软雅黑"/>
              </a:rPr>
              <a:t>public static </a:t>
            </a:r>
            <a:r>
              <a:rPr dirty="0" sz="1600" spc="-10" b="1">
                <a:latin typeface="微软雅黑"/>
                <a:cs typeface="微软雅黑"/>
              </a:rPr>
              <a:t>void </a:t>
            </a:r>
            <a:r>
              <a:rPr dirty="0" sz="1600" spc="-10">
                <a:latin typeface="微软雅黑"/>
                <a:cs typeface="微软雅黑"/>
              </a:rPr>
              <a:t>main(String[] args) </a:t>
            </a:r>
            <a:r>
              <a:rPr dirty="0" sz="1600" spc="-5">
                <a:latin typeface="微软雅黑"/>
                <a:cs typeface="微软雅黑"/>
              </a:rPr>
              <a:t>{  C coo = </a:t>
            </a:r>
            <a:r>
              <a:rPr dirty="0" sz="1600" spc="-5" b="1">
                <a:latin typeface="微软雅黑"/>
                <a:cs typeface="微软雅黑"/>
              </a:rPr>
              <a:t>new </a:t>
            </a:r>
            <a:r>
              <a:rPr dirty="0" sz="1600" spc="-5">
                <a:latin typeface="微软雅黑"/>
                <a:cs typeface="微软雅黑"/>
              </a:rPr>
              <a:t>C();  </a:t>
            </a:r>
            <a:r>
              <a:rPr dirty="0" sz="1600" spc="-90">
                <a:latin typeface="微软雅黑"/>
                <a:cs typeface="微软雅黑"/>
              </a:rPr>
              <a:t>System.</a:t>
            </a:r>
            <a:r>
              <a:rPr dirty="0" sz="1650" spc="-90" i="1">
                <a:latin typeface="微软雅黑"/>
                <a:cs typeface="微软雅黑"/>
              </a:rPr>
              <a:t>out</a:t>
            </a:r>
            <a:r>
              <a:rPr dirty="0" sz="1600" spc="-90">
                <a:latin typeface="微软雅黑"/>
                <a:cs typeface="微软雅黑"/>
              </a:rPr>
              <a:t>.println(coo.a);  System.</a:t>
            </a:r>
            <a:r>
              <a:rPr dirty="0" sz="1650" spc="-90" i="1">
                <a:latin typeface="微软雅黑"/>
                <a:cs typeface="微软雅黑"/>
              </a:rPr>
              <a:t>out</a:t>
            </a:r>
            <a:r>
              <a:rPr dirty="0" sz="1600" spc="-90">
                <a:latin typeface="微软雅黑"/>
                <a:cs typeface="微软雅黑"/>
              </a:rPr>
              <a:t>.println(coo.b);  System.</a:t>
            </a:r>
            <a:r>
              <a:rPr dirty="0" sz="1650" spc="-90" i="1">
                <a:latin typeface="微软雅黑"/>
                <a:cs typeface="微软雅黑"/>
              </a:rPr>
              <a:t>out</a:t>
            </a:r>
            <a:r>
              <a:rPr dirty="0" sz="1600" spc="-90">
                <a:latin typeface="微软雅黑"/>
                <a:cs typeface="微软雅黑"/>
              </a:rPr>
              <a:t>.println(coo.c);</a:t>
            </a:r>
            <a:endParaRPr sz="1600">
              <a:latin typeface="微软雅黑"/>
              <a:cs typeface="微软雅黑"/>
            </a:endParaRPr>
          </a:p>
          <a:p>
            <a:pPr marL="927100">
              <a:lnSpc>
                <a:spcPts val="1855"/>
              </a:lnSpc>
            </a:pPr>
            <a:r>
              <a:rPr dirty="0" sz="1600" spc="-5">
                <a:latin typeface="微软雅黑"/>
                <a:cs typeface="微软雅黑"/>
              </a:rPr>
              <a:t>//System.out.println(coo.d);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8940" y="4346616"/>
            <a:ext cx="4690745" cy="1010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11325">
              <a:lnSpc>
                <a:spcPct val="100000"/>
              </a:lnSpc>
              <a:spcBef>
                <a:spcPts val="125"/>
              </a:spcBef>
            </a:pPr>
            <a:r>
              <a:rPr dirty="0" sz="1600" spc="-75">
                <a:latin typeface="微软雅黑"/>
                <a:cs typeface="微软雅黑"/>
              </a:rPr>
              <a:t>System.</a:t>
            </a:r>
            <a:r>
              <a:rPr dirty="0" sz="1650" spc="-75" i="1">
                <a:latin typeface="微软雅黑"/>
                <a:cs typeface="微软雅黑"/>
              </a:rPr>
              <a:t>out</a:t>
            </a:r>
            <a:r>
              <a:rPr dirty="0" sz="1600" spc="-75">
                <a:latin typeface="微软雅黑"/>
                <a:cs typeface="微软雅黑"/>
              </a:rPr>
              <a:t>.println(coo.getD());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微软雅黑"/>
                <a:cs typeface="微软雅黑"/>
              </a:rPr>
              <a:t>}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907415"/>
            <a:ext cx="68541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</a:t>
            </a:r>
            <a:r>
              <a:rPr dirty="0" sz="2100">
                <a:latin typeface="微软雅黑"/>
                <a:cs typeface="微软雅黑"/>
              </a:rPr>
              <a:t>-</a:t>
            </a:r>
            <a:r>
              <a:rPr dirty="0" sz="2100" spc="-5">
                <a:latin typeface="微软雅黑"/>
                <a:cs typeface="微软雅黑"/>
              </a:rPr>
              <a:t>3</a:t>
            </a:r>
            <a:r>
              <a:rPr dirty="0" sz="2100">
                <a:latin typeface="微软雅黑"/>
                <a:cs typeface="微软雅黑"/>
              </a:rPr>
              <a:t>】分析不同包下子类对父类成员的访问控制权限。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635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1</a:t>
            </a:r>
            <a:r>
              <a:rPr dirty="0" sz="2100"/>
              <a:t>.3	类成员的访问控制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179831" y="1487424"/>
            <a:ext cx="4572000" cy="2307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5704" y="1484261"/>
            <a:ext cx="4579620" cy="2314575"/>
          </a:xfrm>
          <a:custGeom>
            <a:avLst/>
            <a:gdLst/>
            <a:ahLst/>
            <a:cxnLst/>
            <a:rect l="l" t="t" r="r" b="b"/>
            <a:pathLst>
              <a:path w="4579620" h="2314575">
                <a:moveTo>
                  <a:pt x="4579620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4579620" y="0"/>
                </a:lnTo>
                <a:lnTo>
                  <a:pt x="457962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306955"/>
                </a:lnTo>
                <a:lnTo>
                  <a:pt x="3809" y="2306955"/>
                </a:lnTo>
                <a:lnTo>
                  <a:pt x="7619" y="2310765"/>
                </a:lnTo>
                <a:lnTo>
                  <a:pt x="4579620" y="2310765"/>
                </a:lnTo>
                <a:lnTo>
                  <a:pt x="4579620" y="2314575"/>
                </a:lnTo>
                <a:close/>
              </a:path>
              <a:path w="4579620" h="231457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4579620" h="2314575">
                <a:moveTo>
                  <a:pt x="457200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4572000" y="3810"/>
                </a:lnTo>
                <a:lnTo>
                  <a:pt x="4572000" y="7620"/>
                </a:lnTo>
                <a:close/>
              </a:path>
              <a:path w="4579620" h="2314575">
                <a:moveTo>
                  <a:pt x="4572000" y="2310765"/>
                </a:moveTo>
                <a:lnTo>
                  <a:pt x="4572000" y="3810"/>
                </a:lnTo>
                <a:lnTo>
                  <a:pt x="4575810" y="7620"/>
                </a:lnTo>
                <a:lnTo>
                  <a:pt x="4579620" y="7620"/>
                </a:lnTo>
                <a:lnTo>
                  <a:pt x="4579620" y="2306955"/>
                </a:lnTo>
                <a:lnTo>
                  <a:pt x="4575810" y="2306955"/>
                </a:lnTo>
                <a:lnTo>
                  <a:pt x="4572000" y="2310765"/>
                </a:lnTo>
                <a:close/>
              </a:path>
              <a:path w="4579620" h="2314575">
                <a:moveTo>
                  <a:pt x="4579620" y="7620"/>
                </a:moveTo>
                <a:lnTo>
                  <a:pt x="4575810" y="7620"/>
                </a:lnTo>
                <a:lnTo>
                  <a:pt x="4572000" y="3810"/>
                </a:lnTo>
                <a:lnTo>
                  <a:pt x="4579620" y="3810"/>
                </a:lnTo>
                <a:lnTo>
                  <a:pt x="4579620" y="7620"/>
                </a:lnTo>
                <a:close/>
              </a:path>
              <a:path w="4579620" h="2314575">
                <a:moveTo>
                  <a:pt x="7619" y="2310765"/>
                </a:moveTo>
                <a:lnTo>
                  <a:pt x="3809" y="2306955"/>
                </a:lnTo>
                <a:lnTo>
                  <a:pt x="7619" y="2306955"/>
                </a:lnTo>
                <a:lnTo>
                  <a:pt x="7619" y="2310765"/>
                </a:lnTo>
                <a:close/>
              </a:path>
              <a:path w="4579620" h="2314575">
                <a:moveTo>
                  <a:pt x="4572000" y="2310765"/>
                </a:moveTo>
                <a:lnTo>
                  <a:pt x="7619" y="2310765"/>
                </a:lnTo>
                <a:lnTo>
                  <a:pt x="7619" y="2306955"/>
                </a:lnTo>
                <a:lnTo>
                  <a:pt x="4572000" y="2306955"/>
                </a:lnTo>
                <a:lnTo>
                  <a:pt x="4572000" y="2310765"/>
                </a:lnTo>
                <a:close/>
              </a:path>
              <a:path w="4579620" h="2314575">
                <a:moveTo>
                  <a:pt x="4579620" y="2310765"/>
                </a:moveTo>
                <a:lnTo>
                  <a:pt x="4572000" y="2310765"/>
                </a:lnTo>
                <a:lnTo>
                  <a:pt x="4575810" y="2306955"/>
                </a:lnTo>
                <a:lnTo>
                  <a:pt x="4579620" y="2306955"/>
                </a:lnTo>
                <a:lnTo>
                  <a:pt x="4579620" y="231076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9831" y="1516011"/>
            <a:ext cx="457200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微软雅黑"/>
                <a:cs typeface="微软雅黑"/>
              </a:rPr>
              <a:t>package</a:t>
            </a:r>
            <a:r>
              <a:rPr dirty="0" sz="180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chap5.example.access.sub;</a:t>
            </a:r>
            <a:endParaRPr sz="18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</a:t>
            </a:r>
            <a:r>
              <a:rPr dirty="0" sz="1800" b="1">
                <a:latin typeface="微软雅黑"/>
                <a:cs typeface="微软雅黑"/>
              </a:rPr>
              <a:t>class </a:t>
            </a:r>
            <a:r>
              <a:rPr dirty="0" sz="1800">
                <a:latin typeface="微软雅黑"/>
                <a:cs typeface="微软雅黑"/>
              </a:rPr>
              <a:t>C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005205" marR="1788795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int </a:t>
            </a:r>
            <a:r>
              <a:rPr dirty="0" sz="1800">
                <a:latin typeface="微软雅黑"/>
                <a:cs typeface="微软雅黑"/>
              </a:rPr>
              <a:t>a;  </a:t>
            </a:r>
            <a:r>
              <a:rPr dirty="0" sz="1800" spc="-5" b="1">
                <a:latin typeface="微软雅黑"/>
                <a:cs typeface="微软雅黑"/>
              </a:rPr>
              <a:t>protected int</a:t>
            </a:r>
            <a:r>
              <a:rPr dirty="0" sz="1800" spc="-90" b="1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b;  </a:t>
            </a:r>
            <a:r>
              <a:rPr dirty="0" sz="1800" spc="-5" b="1">
                <a:latin typeface="微软雅黑"/>
                <a:cs typeface="微软雅黑"/>
              </a:rPr>
              <a:t>int</a:t>
            </a:r>
            <a:r>
              <a:rPr dirty="0" sz="1800" spc="-10" b="1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c;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dirty="0" sz="1800" spc="-10" b="1">
                <a:latin typeface="微软雅黑"/>
                <a:cs typeface="微软雅黑"/>
              </a:rPr>
              <a:t>private </a:t>
            </a:r>
            <a:r>
              <a:rPr dirty="0" sz="1800" spc="-5" b="1">
                <a:latin typeface="微软雅黑"/>
                <a:cs typeface="微软雅黑"/>
              </a:rPr>
              <a:t>int</a:t>
            </a:r>
            <a:r>
              <a:rPr dirty="0" sz="180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d;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int </a:t>
            </a:r>
            <a:r>
              <a:rPr dirty="0" sz="1800" spc="-5">
                <a:latin typeface="微软雅黑"/>
                <a:cs typeface="微软雅黑"/>
              </a:rPr>
              <a:t>getD(){</a:t>
            </a:r>
            <a:r>
              <a:rPr dirty="0" sz="1800" spc="-5" b="1">
                <a:latin typeface="微软雅黑"/>
                <a:cs typeface="微软雅黑"/>
              </a:rPr>
              <a:t>return</a:t>
            </a:r>
            <a:r>
              <a:rPr dirty="0" sz="1800" spc="-2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d;}</a:t>
            </a:r>
            <a:endParaRPr sz="18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53940" y="1798320"/>
            <a:ext cx="4111752" cy="4245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50129" y="1793875"/>
            <a:ext cx="4118610" cy="4253865"/>
          </a:xfrm>
          <a:custGeom>
            <a:avLst/>
            <a:gdLst/>
            <a:ahLst/>
            <a:cxnLst/>
            <a:rect l="l" t="t" r="r" b="b"/>
            <a:pathLst>
              <a:path w="4118609" h="4253865">
                <a:moveTo>
                  <a:pt x="4118610" y="4253865"/>
                </a:moveTo>
                <a:lnTo>
                  <a:pt x="0" y="4253865"/>
                </a:lnTo>
                <a:lnTo>
                  <a:pt x="0" y="0"/>
                </a:lnTo>
                <a:lnTo>
                  <a:pt x="4118610" y="0"/>
                </a:lnTo>
                <a:lnTo>
                  <a:pt x="4118610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4246245"/>
                </a:lnTo>
                <a:lnTo>
                  <a:pt x="3810" y="4246245"/>
                </a:lnTo>
                <a:lnTo>
                  <a:pt x="7620" y="4250055"/>
                </a:lnTo>
                <a:lnTo>
                  <a:pt x="4118610" y="4250055"/>
                </a:lnTo>
                <a:lnTo>
                  <a:pt x="4118610" y="4253865"/>
                </a:lnTo>
                <a:close/>
              </a:path>
              <a:path w="4118609" h="4253865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4118609" h="4253865">
                <a:moveTo>
                  <a:pt x="4110990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4110990" y="3810"/>
                </a:lnTo>
                <a:lnTo>
                  <a:pt x="4110990" y="7619"/>
                </a:lnTo>
                <a:close/>
              </a:path>
              <a:path w="4118609" h="4253865">
                <a:moveTo>
                  <a:pt x="4110990" y="4250055"/>
                </a:moveTo>
                <a:lnTo>
                  <a:pt x="4110990" y="3810"/>
                </a:lnTo>
                <a:lnTo>
                  <a:pt x="4114800" y="7619"/>
                </a:lnTo>
                <a:lnTo>
                  <a:pt x="4118610" y="7619"/>
                </a:lnTo>
                <a:lnTo>
                  <a:pt x="4118610" y="4246245"/>
                </a:lnTo>
                <a:lnTo>
                  <a:pt x="4114800" y="4246245"/>
                </a:lnTo>
                <a:lnTo>
                  <a:pt x="4110990" y="4250055"/>
                </a:lnTo>
                <a:close/>
              </a:path>
              <a:path w="4118609" h="4253865">
                <a:moveTo>
                  <a:pt x="4118610" y="7619"/>
                </a:moveTo>
                <a:lnTo>
                  <a:pt x="4114800" y="7619"/>
                </a:lnTo>
                <a:lnTo>
                  <a:pt x="4110990" y="3810"/>
                </a:lnTo>
                <a:lnTo>
                  <a:pt x="4118610" y="3810"/>
                </a:lnTo>
                <a:lnTo>
                  <a:pt x="4118610" y="7619"/>
                </a:lnTo>
                <a:close/>
              </a:path>
              <a:path w="4118609" h="4253865">
                <a:moveTo>
                  <a:pt x="7620" y="4250055"/>
                </a:moveTo>
                <a:lnTo>
                  <a:pt x="3810" y="4246245"/>
                </a:lnTo>
                <a:lnTo>
                  <a:pt x="7620" y="4246245"/>
                </a:lnTo>
                <a:lnTo>
                  <a:pt x="7620" y="4250055"/>
                </a:lnTo>
                <a:close/>
              </a:path>
              <a:path w="4118609" h="4253865">
                <a:moveTo>
                  <a:pt x="4110990" y="4250055"/>
                </a:moveTo>
                <a:lnTo>
                  <a:pt x="7620" y="4250055"/>
                </a:lnTo>
                <a:lnTo>
                  <a:pt x="7620" y="4246245"/>
                </a:lnTo>
                <a:lnTo>
                  <a:pt x="4110990" y="4246245"/>
                </a:lnTo>
                <a:lnTo>
                  <a:pt x="4110990" y="4250055"/>
                </a:lnTo>
                <a:close/>
              </a:path>
              <a:path w="4118609" h="4253865">
                <a:moveTo>
                  <a:pt x="4118610" y="4250055"/>
                </a:moveTo>
                <a:lnTo>
                  <a:pt x="4110990" y="4250055"/>
                </a:lnTo>
                <a:lnTo>
                  <a:pt x="4114800" y="4246245"/>
                </a:lnTo>
                <a:lnTo>
                  <a:pt x="4118610" y="4246245"/>
                </a:lnTo>
                <a:lnTo>
                  <a:pt x="4118610" y="425005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53940" y="1825625"/>
            <a:ext cx="4112260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 marR="46355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微软雅黑"/>
                <a:cs typeface="微软雅黑"/>
              </a:rPr>
              <a:t>package </a:t>
            </a:r>
            <a:r>
              <a:rPr dirty="0" sz="1800" spc="-5">
                <a:latin typeface="微软雅黑"/>
                <a:cs typeface="微软雅黑"/>
              </a:rPr>
              <a:t>chap5.example.access;  </a:t>
            </a:r>
            <a:r>
              <a:rPr dirty="0" sz="1800" spc="5" b="1">
                <a:latin typeface="微软雅黑"/>
                <a:cs typeface="微软雅黑"/>
              </a:rPr>
              <a:t>import </a:t>
            </a:r>
            <a:r>
              <a:rPr dirty="0" sz="1800" spc="-5">
                <a:latin typeface="微软雅黑"/>
                <a:cs typeface="微软雅黑"/>
              </a:rPr>
              <a:t>chap5.example.access.sub.C;  </a:t>
            </a:r>
            <a:r>
              <a:rPr dirty="0" sz="1800" spc="-5" b="1">
                <a:latin typeface="微软雅黑"/>
                <a:cs typeface="微软雅黑"/>
              </a:rPr>
              <a:t>public </a:t>
            </a:r>
            <a:r>
              <a:rPr dirty="0" sz="1800" b="1">
                <a:latin typeface="微软雅黑"/>
                <a:cs typeface="微软雅黑"/>
              </a:rPr>
              <a:t>class </a:t>
            </a:r>
            <a:r>
              <a:rPr dirty="0" sz="1800" spc="-5">
                <a:latin typeface="微软雅黑"/>
                <a:cs typeface="微软雅黑"/>
              </a:rPr>
              <a:t>AccessDemo </a:t>
            </a:r>
            <a:r>
              <a:rPr dirty="0" sz="1800" spc="-5" b="1">
                <a:latin typeface="微软雅黑"/>
                <a:cs typeface="微软雅黑"/>
              </a:rPr>
              <a:t>extends  </a:t>
            </a:r>
            <a:r>
              <a:rPr dirty="0" sz="1800">
                <a:latin typeface="微软雅黑"/>
                <a:cs typeface="微软雅黑"/>
              </a:rPr>
              <a:t>C{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void</a:t>
            </a:r>
            <a:r>
              <a:rPr dirty="0" sz="1800" spc="-15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getInfo(){</a:t>
            </a:r>
            <a:endParaRPr sz="1800">
              <a:latin typeface="微软雅黑"/>
              <a:cs typeface="微软雅黑"/>
            </a:endParaRPr>
          </a:p>
          <a:p>
            <a:pPr marL="1005205" marR="575945">
              <a:lnSpc>
                <a:spcPct val="200000"/>
              </a:lnSpc>
            </a:pPr>
            <a:r>
              <a:rPr dirty="0" sz="1800" spc="-5">
                <a:latin typeface="微软雅黑"/>
                <a:cs typeface="微软雅黑"/>
              </a:rPr>
              <a:t>System.out.println(a);  System.out.println(b);  </a:t>
            </a:r>
            <a:r>
              <a:rPr dirty="0" sz="1800" spc="-5" b="1">
                <a:latin typeface="微软雅黑"/>
                <a:cs typeface="微软雅黑"/>
              </a:rPr>
              <a:t>System.out.println(c);  </a:t>
            </a:r>
            <a:r>
              <a:rPr dirty="0" sz="1800" spc="-50" b="1">
                <a:latin typeface="微软雅黑"/>
                <a:cs typeface="微软雅黑"/>
              </a:rPr>
              <a:t>S</a:t>
            </a:r>
            <a:r>
              <a:rPr dirty="0" sz="1800" b="1">
                <a:latin typeface="微软雅黑"/>
                <a:cs typeface="微软雅黑"/>
              </a:rPr>
              <a:t>ys</a:t>
            </a:r>
            <a:r>
              <a:rPr dirty="0" sz="1800" spc="-15" b="1">
                <a:latin typeface="微软雅黑"/>
                <a:cs typeface="微软雅黑"/>
              </a:rPr>
              <a:t>t</a:t>
            </a:r>
            <a:r>
              <a:rPr dirty="0" sz="1800" b="1">
                <a:latin typeface="微软雅黑"/>
                <a:cs typeface="微软雅黑"/>
              </a:rPr>
              <a:t>e</a:t>
            </a:r>
            <a:r>
              <a:rPr dirty="0" sz="1800" spc="-5" b="1">
                <a:latin typeface="微软雅黑"/>
                <a:cs typeface="微软雅黑"/>
              </a:rPr>
              <a:t>m</a:t>
            </a:r>
            <a:r>
              <a:rPr dirty="0" sz="1800" b="1">
                <a:latin typeface="微软雅黑"/>
                <a:cs typeface="微软雅黑"/>
              </a:rPr>
              <a:t>.o</a:t>
            </a:r>
            <a:r>
              <a:rPr dirty="0" sz="1800" spc="-5" b="1">
                <a:latin typeface="微软雅黑"/>
                <a:cs typeface="微软雅黑"/>
              </a:rPr>
              <a:t>ut</a:t>
            </a:r>
            <a:r>
              <a:rPr dirty="0" sz="1800" b="1">
                <a:latin typeface="微软雅黑"/>
                <a:cs typeface="微软雅黑"/>
              </a:rPr>
              <a:t>.p</a:t>
            </a:r>
            <a:r>
              <a:rPr dirty="0" sz="1800" spc="5" b="1">
                <a:latin typeface="微软雅黑"/>
                <a:cs typeface="微软雅黑"/>
              </a:rPr>
              <a:t>r</a:t>
            </a:r>
            <a:r>
              <a:rPr dirty="0" sz="1800" b="1">
                <a:latin typeface="微软雅黑"/>
                <a:cs typeface="微软雅黑"/>
              </a:rPr>
              <a:t>i</a:t>
            </a:r>
            <a:r>
              <a:rPr dirty="0" sz="1800" spc="-5" b="1">
                <a:latin typeface="微软雅黑"/>
                <a:cs typeface="微软雅黑"/>
              </a:rPr>
              <a:t>nt</a:t>
            </a:r>
            <a:r>
              <a:rPr dirty="0" sz="1800" b="1">
                <a:latin typeface="微软雅黑"/>
                <a:cs typeface="微软雅黑"/>
              </a:rPr>
              <a:t>l</a:t>
            </a:r>
            <a:r>
              <a:rPr dirty="0" sz="1800" spc="-5" b="1">
                <a:latin typeface="微软雅黑"/>
                <a:cs typeface="微软雅黑"/>
              </a:rPr>
              <a:t>n(d)</a:t>
            </a:r>
            <a:r>
              <a:rPr dirty="0" sz="1800" b="1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100520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78739" y="4358640"/>
            <a:ext cx="4344035" cy="1047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微软雅黑"/>
                <a:cs typeface="微软雅黑"/>
              </a:rPr>
              <a:t>单例模式：一个类只能创建一个对象</a:t>
            </a:r>
            <a:r>
              <a:rPr dirty="0" sz="2000" b="1">
                <a:latin typeface="微软雅黑"/>
                <a:cs typeface="微软雅黑"/>
              </a:rPr>
              <a:t>。 </a:t>
            </a:r>
            <a:r>
              <a:rPr dirty="0" sz="2000" b="1">
                <a:latin typeface="微软雅黑"/>
                <a:cs typeface="微软雅黑"/>
              </a:rPr>
              <a:t>如何实现单例模式</a:t>
            </a:r>
            <a:r>
              <a:rPr dirty="0" sz="2000" spc="5" b="1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ts val="3240"/>
              </a:lnSpc>
              <a:tabLst>
                <a:tab pos="1534160" algn="l"/>
              </a:tabLst>
            </a:pPr>
            <a:r>
              <a:rPr dirty="0" sz="2800" spc="-5">
                <a:solidFill>
                  <a:srgbClr val="ED7A07"/>
                </a:solidFill>
                <a:latin typeface="Times New Roman"/>
                <a:cs typeface="Times New Roman"/>
              </a:rPr>
              <a:t>Sample</a:t>
            </a:r>
            <a:r>
              <a:rPr dirty="0" sz="2800" spc="5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:	Lunch.java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4301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1</a:t>
            </a:r>
            <a:r>
              <a:rPr dirty="0" sz="2100"/>
              <a:t>.4	类的访问控制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173354" y="2198370"/>
            <a:ext cx="7795259" cy="657860"/>
          </a:xfrm>
          <a:custGeom>
            <a:avLst/>
            <a:gdLst/>
            <a:ahLst/>
            <a:cxnLst/>
            <a:rect l="l" t="t" r="r" b="b"/>
            <a:pathLst>
              <a:path w="7795259" h="657860">
                <a:moveTo>
                  <a:pt x="7795260" y="657859"/>
                </a:moveTo>
                <a:lnTo>
                  <a:pt x="0" y="657859"/>
                </a:lnTo>
                <a:lnTo>
                  <a:pt x="0" y="0"/>
                </a:lnTo>
                <a:lnTo>
                  <a:pt x="7795260" y="0"/>
                </a:lnTo>
                <a:lnTo>
                  <a:pt x="779526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645159"/>
                </a:lnTo>
                <a:lnTo>
                  <a:pt x="6350" y="645159"/>
                </a:lnTo>
                <a:lnTo>
                  <a:pt x="12700" y="651509"/>
                </a:lnTo>
                <a:lnTo>
                  <a:pt x="7795260" y="651509"/>
                </a:lnTo>
                <a:lnTo>
                  <a:pt x="7795260" y="657859"/>
                </a:lnTo>
                <a:close/>
              </a:path>
              <a:path w="7795259" h="65786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7795259" h="657860">
                <a:moveTo>
                  <a:pt x="778256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7782560" y="6349"/>
                </a:lnTo>
                <a:lnTo>
                  <a:pt x="7782560" y="12699"/>
                </a:lnTo>
                <a:close/>
              </a:path>
              <a:path w="7795259" h="657860">
                <a:moveTo>
                  <a:pt x="7782560" y="651509"/>
                </a:moveTo>
                <a:lnTo>
                  <a:pt x="7782560" y="6349"/>
                </a:lnTo>
                <a:lnTo>
                  <a:pt x="7788910" y="12699"/>
                </a:lnTo>
                <a:lnTo>
                  <a:pt x="7795260" y="12699"/>
                </a:lnTo>
                <a:lnTo>
                  <a:pt x="7795260" y="645159"/>
                </a:lnTo>
                <a:lnTo>
                  <a:pt x="7788910" y="645159"/>
                </a:lnTo>
                <a:lnTo>
                  <a:pt x="7782560" y="651509"/>
                </a:lnTo>
                <a:close/>
              </a:path>
              <a:path w="7795259" h="657860">
                <a:moveTo>
                  <a:pt x="7795260" y="12699"/>
                </a:moveTo>
                <a:lnTo>
                  <a:pt x="7788910" y="12699"/>
                </a:lnTo>
                <a:lnTo>
                  <a:pt x="7782560" y="6349"/>
                </a:lnTo>
                <a:lnTo>
                  <a:pt x="7795260" y="6349"/>
                </a:lnTo>
                <a:lnTo>
                  <a:pt x="7795260" y="12699"/>
                </a:lnTo>
                <a:close/>
              </a:path>
              <a:path w="7795259" h="657860">
                <a:moveTo>
                  <a:pt x="12700" y="651509"/>
                </a:moveTo>
                <a:lnTo>
                  <a:pt x="6350" y="645159"/>
                </a:lnTo>
                <a:lnTo>
                  <a:pt x="12700" y="645159"/>
                </a:lnTo>
                <a:lnTo>
                  <a:pt x="12700" y="651509"/>
                </a:lnTo>
                <a:close/>
              </a:path>
              <a:path w="7795259" h="657860">
                <a:moveTo>
                  <a:pt x="7782560" y="651509"/>
                </a:moveTo>
                <a:lnTo>
                  <a:pt x="12700" y="651509"/>
                </a:lnTo>
                <a:lnTo>
                  <a:pt x="12700" y="645159"/>
                </a:lnTo>
                <a:lnTo>
                  <a:pt x="7782560" y="645159"/>
                </a:lnTo>
                <a:lnTo>
                  <a:pt x="7782560" y="651509"/>
                </a:lnTo>
                <a:close/>
              </a:path>
              <a:path w="7795259" h="657860">
                <a:moveTo>
                  <a:pt x="7795260" y="651509"/>
                </a:moveTo>
                <a:lnTo>
                  <a:pt x="7782560" y="651509"/>
                </a:lnTo>
                <a:lnTo>
                  <a:pt x="7788910" y="645159"/>
                </a:lnTo>
                <a:lnTo>
                  <a:pt x="7795260" y="645159"/>
                </a:lnTo>
                <a:lnTo>
                  <a:pt x="7795260" y="6515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8595" y="1481454"/>
            <a:ext cx="7640955" cy="1325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访问权限修饰符还可以放在</a:t>
            </a:r>
            <a:r>
              <a:rPr dirty="0" sz="2100" spc="-5">
                <a:latin typeface="微软雅黑"/>
                <a:cs typeface="微软雅黑"/>
              </a:rPr>
              <a:t>Class</a:t>
            </a:r>
            <a:r>
              <a:rPr dirty="0" sz="2100">
                <a:latin typeface="微软雅黑"/>
                <a:cs typeface="微软雅黑"/>
              </a:rPr>
              <a:t>前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>
              <a:latin typeface="微软雅黑"/>
              <a:cs typeface="微软雅黑"/>
            </a:endParaRPr>
          </a:p>
          <a:p>
            <a:pPr marL="82550" marR="5080">
              <a:lnSpc>
                <a:spcPct val="100000"/>
              </a:lnSpc>
            </a:pPr>
            <a:r>
              <a:rPr dirty="0" sz="1800" spc="-15">
                <a:latin typeface="微软雅黑"/>
                <a:cs typeface="微软雅黑"/>
              </a:rPr>
              <a:t>java</a:t>
            </a:r>
            <a:r>
              <a:rPr dirty="0" sz="1800">
                <a:latin typeface="微软雅黑"/>
                <a:cs typeface="微软雅黑"/>
              </a:rPr>
              <a:t>文件中Class的访问权限修饰符只有public</a:t>
            </a:r>
            <a:r>
              <a:rPr dirty="0" sz="1800" spc="-4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和</a:t>
            </a:r>
            <a:r>
              <a:rPr dirty="0" sz="1800" spc="-5">
                <a:latin typeface="微软雅黑"/>
                <a:cs typeface="微软雅黑"/>
              </a:rPr>
              <a:t>friendly，</a:t>
            </a:r>
            <a:r>
              <a:rPr dirty="0" sz="1800">
                <a:latin typeface="微软雅黑"/>
                <a:cs typeface="微软雅黑"/>
              </a:rPr>
              <a:t>一个</a:t>
            </a:r>
            <a:r>
              <a:rPr dirty="0" sz="1800" spc="-15">
                <a:latin typeface="微软雅黑"/>
                <a:cs typeface="微软雅黑"/>
              </a:rPr>
              <a:t>java</a:t>
            </a:r>
            <a:r>
              <a:rPr dirty="0" sz="1800">
                <a:latin typeface="微软雅黑"/>
                <a:cs typeface="微软雅黑"/>
              </a:rPr>
              <a:t>文件只 能有一个public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类，且该类的类名和文件名一致。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9881" y="3805428"/>
            <a:ext cx="7315915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265" y="370700"/>
            <a:ext cx="7340600" cy="2953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2770">
              <a:lnSpc>
                <a:spcPct val="100000"/>
              </a:lnSpc>
              <a:spcBef>
                <a:spcPts val="100"/>
              </a:spcBef>
              <a:tabLst>
                <a:tab pos="1136650" algn="l"/>
              </a:tabLst>
            </a:pPr>
            <a:r>
              <a:rPr dirty="0" sz="2100" spc="-5" b="1">
                <a:latin typeface="微软雅黑"/>
                <a:cs typeface="微软雅黑"/>
              </a:rPr>
              <a:t>5.2	</a:t>
            </a:r>
            <a:r>
              <a:rPr dirty="0" sz="2100" b="1">
                <a:latin typeface="微软雅黑"/>
                <a:cs typeface="微软雅黑"/>
              </a:rPr>
              <a:t>类中方法重写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方法的重写</a:t>
            </a:r>
            <a:r>
              <a:rPr dirty="0" sz="2800" spc="-5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ct val="89900"/>
              </a:lnSpc>
              <a:spcBef>
                <a:spcPts val="680"/>
              </a:spcBef>
            </a:pPr>
            <a:r>
              <a:rPr dirty="0" sz="2400">
                <a:latin typeface="宋体"/>
                <a:cs typeface="宋体"/>
              </a:rPr>
              <a:t>在子类中如果创建了一个与父类中相同名称、相同参数 列表的方法，只是方法体中的实现不同，以实现不同于 父类的功能，这种方式被称为方法重写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override</a:t>
            </a:r>
            <a:r>
              <a:rPr dirty="0" sz="2400" spc="-5">
                <a:latin typeface="宋体"/>
                <a:cs typeface="宋体"/>
              </a:rPr>
              <a:t>），  </a:t>
            </a:r>
            <a:r>
              <a:rPr dirty="0" sz="2400">
                <a:latin typeface="宋体"/>
                <a:cs typeface="宋体"/>
              </a:rPr>
              <a:t>又称为方法覆盖。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4301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2</a:t>
            </a:r>
            <a:r>
              <a:rPr dirty="0" sz="2100"/>
              <a:t>.1	重写及其意义</a:t>
            </a:r>
            <a:endParaRPr sz="21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88595" y="1481454"/>
            <a:ext cx="7539990" cy="447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5-4</a:t>
            </a:r>
            <a:r>
              <a:rPr dirty="0" sz="2100">
                <a:latin typeface="微软雅黑"/>
                <a:cs typeface="微软雅黑"/>
              </a:rPr>
              <a:t>】定义</a:t>
            </a:r>
            <a:r>
              <a:rPr dirty="0" sz="2100" spc="-5">
                <a:latin typeface="微软雅黑"/>
                <a:cs typeface="微软雅黑"/>
              </a:rPr>
              <a:t>Animal</a:t>
            </a:r>
            <a:r>
              <a:rPr dirty="0" sz="2100">
                <a:latin typeface="微软雅黑"/>
                <a:cs typeface="微软雅黑"/>
              </a:rPr>
              <a:t>类的子类</a:t>
            </a:r>
            <a:r>
              <a:rPr dirty="0" sz="2100" spc="-10">
                <a:latin typeface="微软雅黑"/>
                <a:cs typeface="微软雅黑"/>
              </a:rPr>
              <a:t>Bird，</a:t>
            </a:r>
            <a:r>
              <a:rPr dirty="0" sz="2100">
                <a:latin typeface="微软雅黑"/>
                <a:cs typeface="微软雅黑"/>
              </a:rPr>
              <a:t>并重写它的</a:t>
            </a:r>
            <a:r>
              <a:rPr dirty="0" sz="2100" spc="-10">
                <a:latin typeface="微软雅黑"/>
                <a:cs typeface="微软雅黑"/>
              </a:rPr>
              <a:t>move()</a:t>
            </a:r>
            <a:r>
              <a:rPr dirty="0" sz="2100">
                <a:latin typeface="微软雅黑"/>
                <a:cs typeface="微软雅黑"/>
              </a:rPr>
              <a:t>方法。</a:t>
            </a:r>
            <a:endParaRPr sz="2100">
              <a:latin typeface="微软雅黑"/>
              <a:cs typeface="微软雅黑"/>
            </a:endParaRPr>
          </a:p>
          <a:p>
            <a:pPr marL="298450">
              <a:lnSpc>
                <a:spcPct val="100000"/>
              </a:lnSpc>
              <a:spcBef>
                <a:spcPts val="2260"/>
              </a:spcBef>
            </a:pPr>
            <a:r>
              <a:rPr dirty="0" sz="1800" spc="-5" b="1">
                <a:latin typeface="微软雅黑"/>
                <a:cs typeface="微软雅黑"/>
              </a:rPr>
              <a:t>public </a:t>
            </a:r>
            <a:r>
              <a:rPr dirty="0" sz="1800" b="1">
                <a:latin typeface="微软雅黑"/>
                <a:cs typeface="微软雅黑"/>
              </a:rPr>
              <a:t>class </a:t>
            </a:r>
            <a:r>
              <a:rPr dirty="0" sz="1800" spc="-5">
                <a:latin typeface="微软雅黑"/>
                <a:cs typeface="微软雅黑"/>
              </a:rPr>
              <a:t>Animal </a:t>
            </a:r>
            <a:r>
              <a:rPr dirty="0" sz="180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212850">
              <a:lnSpc>
                <a:spcPts val="2135"/>
              </a:lnSpc>
            </a:pPr>
            <a:r>
              <a:rPr dirty="0" sz="1800" spc="-5" b="1">
                <a:latin typeface="微软雅黑"/>
                <a:cs typeface="微软雅黑"/>
              </a:rPr>
              <a:t>public void</a:t>
            </a:r>
            <a:r>
              <a:rPr dirty="0" sz="1800" spc="-1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move(){</a:t>
            </a:r>
            <a:endParaRPr sz="1800">
              <a:latin typeface="微软雅黑"/>
              <a:cs typeface="微软雅黑"/>
            </a:endParaRPr>
          </a:p>
          <a:p>
            <a:pPr marL="2127250">
              <a:lnSpc>
                <a:spcPts val="2190"/>
              </a:lnSpc>
            </a:pPr>
            <a:r>
              <a:rPr dirty="0" sz="1800" spc="-125">
                <a:latin typeface="微软雅黑"/>
                <a:cs typeface="微软雅黑"/>
              </a:rPr>
              <a:t>System.</a:t>
            </a:r>
            <a:r>
              <a:rPr dirty="0" sz="1850" spc="-125" i="1">
                <a:latin typeface="微软雅黑"/>
                <a:cs typeface="微软雅黑"/>
              </a:rPr>
              <a:t>out</a:t>
            </a:r>
            <a:r>
              <a:rPr dirty="0" sz="1800" spc="-125">
                <a:latin typeface="微软雅黑"/>
                <a:cs typeface="微软雅黑"/>
              </a:rPr>
              <a:t>.println("</a:t>
            </a:r>
            <a:r>
              <a:rPr dirty="0" sz="1800">
                <a:latin typeface="微软雅黑"/>
                <a:cs typeface="微软雅黑"/>
              </a:rPr>
              <a:t>我可以</a:t>
            </a:r>
            <a:r>
              <a:rPr dirty="0" sz="1800" spc="-5">
                <a:latin typeface="微软雅黑"/>
                <a:cs typeface="微软雅黑"/>
              </a:rPr>
              <a:t>move...");</a:t>
            </a:r>
            <a:endParaRPr sz="1800">
              <a:latin typeface="微软雅黑"/>
              <a:cs typeface="微软雅黑"/>
            </a:endParaRPr>
          </a:p>
          <a:p>
            <a:pPr marL="1212850">
              <a:lnSpc>
                <a:spcPts val="2155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29845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298450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</a:t>
            </a:r>
            <a:r>
              <a:rPr dirty="0" sz="1800" b="1">
                <a:latin typeface="微软雅黑"/>
                <a:cs typeface="微软雅黑"/>
              </a:rPr>
              <a:t>class </a:t>
            </a:r>
            <a:r>
              <a:rPr dirty="0" sz="1800" spc="-10">
                <a:latin typeface="微软雅黑"/>
                <a:cs typeface="微软雅黑"/>
              </a:rPr>
              <a:t>Bird </a:t>
            </a:r>
            <a:r>
              <a:rPr dirty="0" sz="1800" spc="-5" b="1">
                <a:latin typeface="微软雅黑"/>
                <a:cs typeface="微软雅黑"/>
              </a:rPr>
              <a:t>extends</a:t>
            </a:r>
            <a:r>
              <a:rPr dirty="0" sz="1800" spc="5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Animal{</a:t>
            </a:r>
            <a:endParaRPr sz="1800">
              <a:latin typeface="微软雅黑"/>
              <a:cs typeface="微软雅黑"/>
            </a:endParaRPr>
          </a:p>
          <a:p>
            <a:pPr marL="1212850">
              <a:lnSpc>
                <a:spcPts val="2135"/>
              </a:lnSpc>
            </a:pPr>
            <a:r>
              <a:rPr dirty="0" sz="1800" spc="-5" b="1">
                <a:latin typeface="微软雅黑"/>
                <a:cs typeface="微软雅黑"/>
              </a:rPr>
              <a:t>public void</a:t>
            </a:r>
            <a:r>
              <a:rPr dirty="0" sz="1800" spc="-1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move(){</a:t>
            </a:r>
            <a:endParaRPr sz="1800">
              <a:latin typeface="微软雅黑"/>
              <a:cs typeface="微软雅黑"/>
            </a:endParaRPr>
          </a:p>
          <a:p>
            <a:pPr marL="2127250">
              <a:lnSpc>
                <a:spcPts val="2190"/>
              </a:lnSpc>
            </a:pPr>
            <a:r>
              <a:rPr dirty="0" sz="1800" spc="-125">
                <a:latin typeface="微软雅黑"/>
                <a:cs typeface="微软雅黑"/>
              </a:rPr>
              <a:t>System.</a:t>
            </a:r>
            <a:r>
              <a:rPr dirty="0" sz="1850" spc="-125" i="1">
                <a:latin typeface="微软雅黑"/>
                <a:cs typeface="微软雅黑"/>
              </a:rPr>
              <a:t>out</a:t>
            </a:r>
            <a:r>
              <a:rPr dirty="0" sz="1800" spc="-125">
                <a:latin typeface="微软雅黑"/>
                <a:cs typeface="微软雅黑"/>
              </a:rPr>
              <a:t>.println("</a:t>
            </a:r>
            <a:r>
              <a:rPr dirty="0" sz="1800">
                <a:latin typeface="微软雅黑"/>
                <a:cs typeface="微软雅黑"/>
              </a:rPr>
              <a:t>我可以在天空飞翔</a:t>
            </a:r>
            <a:r>
              <a:rPr dirty="0" sz="1800" spc="-5">
                <a:latin typeface="微软雅黑"/>
                <a:cs typeface="微软雅黑"/>
              </a:rPr>
              <a:t>.....");</a:t>
            </a:r>
            <a:endParaRPr sz="1800">
              <a:latin typeface="微软雅黑"/>
              <a:cs typeface="微软雅黑"/>
            </a:endParaRPr>
          </a:p>
          <a:p>
            <a:pPr marL="1212850">
              <a:lnSpc>
                <a:spcPts val="2155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2127250" marR="2259330" indent="-914400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staticvoid </a:t>
            </a:r>
            <a:r>
              <a:rPr dirty="0" sz="1800" spc="-10">
                <a:latin typeface="微软雅黑"/>
                <a:cs typeface="微软雅黑"/>
              </a:rPr>
              <a:t>main(String[] args){  Bird bird </a:t>
            </a:r>
            <a:r>
              <a:rPr dirty="0" sz="1800">
                <a:latin typeface="微软雅黑"/>
                <a:cs typeface="微软雅黑"/>
              </a:rPr>
              <a:t>=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-10" b="1">
                <a:latin typeface="微软雅黑"/>
                <a:cs typeface="微软雅黑"/>
              </a:rPr>
              <a:t>new</a:t>
            </a:r>
            <a:r>
              <a:rPr dirty="0" sz="1800" spc="-10">
                <a:latin typeface="微软雅黑"/>
                <a:cs typeface="微软雅黑"/>
              </a:rPr>
              <a:t>Bird();</a:t>
            </a:r>
            <a:endParaRPr sz="1800">
              <a:latin typeface="微软雅黑"/>
              <a:cs typeface="微软雅黑"/>
            </a:endParaRPr>
          </a:p>
          <a:p>
            <a:pPr marL="2127250">
              <a:lnSpc>
                <a:spcPct val="100000"/>
              </a:lnSpc>
              <a:tabLst>
                <a:tab pos="3636645" algn="l"/>
              </a:tabLst>
            </a:pPr>
            <a:r>
              <a:rPr dirty="0" sz="1800" spc="-10">
                <a:latin typeface="微软雅黑"/>
                <a:cs typeface="微软雅黑"/>
              </a:rPr>
              <a:t>bird.move();	</a:t>
            </a:r>
            <a:r>
              <a:rPr dirty="0" sz="1800">
                <a:latin typeface="微软雅黑"/>
                <a:cs typeface="微软雅黑"/>
              </a:rPr>
              <a:t>//输出"我可以在天空飞翔....."</a:t>
            </a:r>
            <a:endParaRPr sz="1800">
              <a:latin typeface="微软雅黑"/>
              <a:cs typeface="微软雅黑"/>
            </a:endParaRPr>
          </a:p>
          <a:p>
            <a:pPr marL="121285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29845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0700"/>
            <a:ext cx="7776209" cy="438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  <a:tabLst>
                <a:tab pos="2021839" algn="l"/>
              </a:tabLst>
            </a:pPr>
            <a:r>
              <a:rPr dirty="0" sz="2100" spc="-5" b="1">
                <a:latin typeface="微软雅黑"/>
                <a:cs typeface="微软雅黑"/>
              </a:rPr>
              <a:t>5.2.1	</a:t>
            </a:r>
            <a:r>
              <a:rPr dirty="0" sz="2100" b="1">
                <a:latin typeface="微软雅黑"/>
                <a:cs typeface="微软雅黑"/>
              </a:rPr>
              <a:t>重写及其意义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微软雅黑"/>
                <a:cs typeface="微软雅黑"/>
              </a:rPr>
              <a:t>方法的重写遵循“</a:t>
            </a:r>
            <a:r>
              <a:rPr dirty="0" sz="2800">
                <a:solidFill>
                  <a:srgbClr val="FF0000"/>
                </a:solidFill>
                <a:latin typeface="微软雅黑"/>
                <a:cs typeface="微软雅黑"/>
              </a:rPr>
              <a:t>两同两小一大</a:t>
            </a:r>
            <a:r>
              <a:rPr dirty="0" sz="2800">
                <a:latin typeface="微软雅黑"/>
                <a:cs typeface="微软雅黑"/>
              </a:rPr>
              <a:t>”的规</a:t>
            </a:r>
            <a:r>
              <a:rPr dirty="0" sz="2800" spc="-5">
                <a:latin typeface="微软雅黑"/>
                <a:cs typeface="微软雅黑"/>
              </a:rPr>
              <a:t>则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“两同”：方法名称相同、形参列表相同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“两小”</a:t>
            </a:r>
            <a:endParaRPr sz="2400">
              <a:latin typeface="微软雅黑"/>
              <a:cs typeface="微软雅黑"/>
            </a:endParaRPr>
          </a:p>
          <a:p>
            <a:pPr lvl="2" marL="869950" indent="-171450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869950" algn="l"/>
              </a:tabLst>
            </a:pPr>
            <a:r>
              <a:rPr dirty="0" sz="1800">
                <a:latin typeface="微软雅黑"/>
                <a:cs typeface="微软雅黑"/>
              </a:rPr>
              <a:t>子类方法返回值类型</a:t>
            </a:r>
            <a:r>
              <a:rPr dirty="0" sz="1800" spc="-5">
                <a:latin typeface="微软雅黑"/>
                <a:cs typeface="微软雅黑"/>
              </a:rPr>
              <a:t>≤</a:t>
            </a:r>
            <a:r>
              <a:rPr dirty="0" sz="1800">
                <a:latin typeface="微软雅黑"/>
                <a:cs typeface="微软雅黑"/>
              </a:rPr>
              <a:t>父类方法返回值类型</a:t>
            </a:r>
            <a:endParaRPr sz="1800">
              <a:latin typeface="微软雅黑"/>
              <a:cs typeface="微软雅黑"/>
            </a:endParaRPr>
          </a:p>
          <a:p>
            <a:pPr lvl="2" marL="8699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869950" algn="l"/>
              </a:tabLst>
            </a:pPr>
            <a:r>
              <a:rPr dirty="0" sz="1800">
                <a:latin typeface="微软雅黑"/>
                <a:cs typeface="微软雅黑"/>
              </a:rPr>
              <a:t>子类方法抛出的异常</a:t>
            </a:r>
            <a:r>
              <a:rPr dirty="0" sz="1800" spc="-5">
                <a:latin typeface="微软雅黑"/>
                <a:cs typeface="微软雅黑"/>
              </a:rPr>
              <a:t>≤</a:t>
            </a:r>
            <a:r>
              <a:rPr dirty="0" sz="1800">
                <a:latin typeface="微软雅黑"/>
                <a:cs typeface="微软雅黑"/>
              </a:rPr>
              <a:t>父类方法抛出的异常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“一大”：子类方法的访问权限</a:t>
            </a:r>
            <a:r>
              <a:rPr dirty="0" sz="2400" spc="-5">
                <a:latin typeface="微软雅黑"/>
                <a:cs typeface="微软雅黑"/>
              </a:rPr>
              <a:t>≥</a:t>
            </a:r>
            <a:r>
              <a:rPr dirty="0" sz="2400">
                <a:latin typeface="微软雅黑"/>
                <a:cs typeface="微软雅黑"/>
              </a:rPr>
              <a:t>父类方法的访问权限</a:t>
            </a:r>
            <a:endParaRPr sz="24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65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重写方法时不能改变方法的</a:t>
            </a:r>
            <a:r>
              <a:rPr dirty="0" sz="2400" spc="-5">
                <a:latin typeface="微软雅黑"/>
                <a:cs typeface="微软雅黑"/>
              </a:rPr>
              <a:t>static</a:t>
            </a:r>
            <a:r>
              <a:rPr dirty="0" sz="2400">
                <a:latin typeface="微软雅黑"/>
                <a:cs typeface="微软雅黑"/>
              </a:rPr>
              <a:t>或非</a:t>
            </a:r>
            <a:r>
              <a:rPr dirty="0" sz="2400" spc="-5">
                <a:latin typeface="微软雅黑"/>
                <a:cs typeface="微软雅黑"/>
              </a:rPr>
              <a:t>static</a:t>
            </a:r>
            <a:r>
              <a:rPr dirty="0" sz="2400">
                <a:latin typeface="微软雅黑"/>
                <a:cs typeface="微软雅黑"/>
              </a:rPr>
              <a:t>性质。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2400" b="1">
                <a:latin typeface="宋体"/>
                <a:cs typeface="宋体"/>
              </a:rPr>
              <a:t>重写的方法可以使</a:t>
            </a:r>
            <a:r>
              <a:rPr dirty="0" sz="2400" spc="-10" b="1">
                <a:latin typeface="宋体"/>
                <a:cs typeface="宋体"/>
              </a:rPr>
              <a:t>用</a:t>
            </a:r>
            <a:r>
              <a:rPr dirty="0" sz="2400" spc="-605" b="1">
                <a:latin typeface="宋体"/>
                <a:cs typeface="宋体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@Override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宋体"/>
                <a:cs typeface="宋体"/>
              </a:rPr>
              <a:t>注解来标识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81454"/>
            <a:ext cx="8034655" cy="433324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71755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solidFill>
                  <a:srgbClr val="006C39"/>
                </a:solidFill>
                <a:latin typeface="微软雅黑"/>
                <a:cs typeface="微软雅黑"/>
              </a:rPr>
              <a:t>Obje</a:t>
            </a:r>
            <a:r>
              <a:rPr dirty="0" sz="2100">
                <a:solidFill>
                  <a:srgbClr val="006C39"/>
                </a:solidFill>
                <a:latin typeface="微软雅黑"/>
                <a:cs typeface="微软雅黑"/>
              </a:rPr>
              <a:t>c</a:t>
            </a:r>
            <a:r>
              <a:rPr dirty="0" sz="2100" spc="-5">
                <a:solidFill>
                  <a:srgbClr val="006C39"/>
                </a:solidFill>
                <a:latin typeface="微软雅黑"/>
                <a:cs typeface="微软雅黑"/>
              </a:rPr>
              <a:t>t</a:t>
            </a:r>
            <a:r>
              <a:rPr dirty="0" sz="2100">
                <a:solidFill>
                  <a:srgbClr val="006C39"/>
                </a:solidFill>
                <a:latin typeface="微软雅黑"/>
                <a:cs typeface="微软雅黑"/>
              </a:rPr>
              <a:t>类：</a:t>
            </a:r>
            <a:r>
              <a:rPr dirty="0" sz="2100" spc="-35">
                <a:latin typeface="微软雅黑"/>
                <a:cs typeface="微软雅黑"/>
              </a:rPr>
              <a:t>J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 spc="-50">
                <a:latin typeface="微软雅黑"/>
                <a:cs typeface="微软雅黑"/>
              </a:rPr>
              <a:t>v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中所有类的父类，定义和实现了</a:t>
            </a:r>
            <a:r>
              <a:rPr dirty="0" sz="2100" spc="-35">
                <a:latin typeface="微软雅黑"/>
                <a:cs typeface="微软雅黑"/>
              </a:rPr>
              <a:t>J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 spc="-50">
                <a:latin typeface="微软雅黑"/>
                <a:cs typeface="微软雅黑"/>
              </a:rPr>
              <a:t>v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系统下所有类 的共同行为，所有的类都是由这个类继承、扩充而来的。</a:t>
            </a:r>
            <a:endParaRPr sz="21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认识</a:t>
            </a:r>
            <a:r>
              <a:rPr dirty="0" sz="2100" spc="-5">
                <a:latin typeface="微软雅黑"/>
                <a:cs typeface="微软雅黑"/>
              </a:rPr>
              <a:t>Object</a:t>
            </a:r>
            <a:r>
              <a:rPr dirty="0" sz="2100">
                <a:latin typeface="微软雅黑"/>
                <a:cs typeface="微软雅黑"/>
              </a:rPr>
              <a:t>类中的方法</a:t>
            </a:r>
            <a:endParaRPr sz="2100">
              <a:latin typeface="微软雅黑"/>
              <a:cs typeface="微软雅黑"/>
            </a:endParaRPr>
          </a:p>
          <a:p>
            <a:pPr marL="184150" indent="-171450">
              <a:lnSpc>
                <a:spcPts val="2390"/>
              </a:lnSpc>
              <a:spcBef>
                <a:spcPts val="4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10">
                <a:latin typeface="微软雅黑"/>
                <a:cs typeface="微软雅黑"/>
              </a:rPr>
              <a:t>https://docs.oracle.com/en/java/javase/17/docs/api/java.base</a:t>
            </a:r>
            <a:endParaRPr sz="2100">
              <a:latin typeface="微软雅黑"/>
              <a:cs typeface="微软雅黑"/>
            </a:endParaRPr>
          </a:p>
          <a:p>
            <a:pPr marL="184150">
              <a:lnSpc>
                <a:spcPts val="2390"/>
              </a:lnSpc>
            </a:pPr>
            <a:r>
              <a:rPr dirty="0" sz="2100" spc="-10">
                <a:latin typeface="微软雅黑"/>
                <a:cs typeface="微软雅黑"/>
              </a:rPr>
              <a:t>/java/lang/Object.html</a:t>
            </a:r>
            <a:endParaRPr sz="21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clone()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finalize()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15">
                <a:solidFill>
                  <a:srgbClr val="FF0000"/>
                </a:solidFill>
                <a:latin typeface="微软雅黑"/>
                <a:cs typeface="微软雅黑"/>
              </a:rPr>
              <a:t>toString()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equals()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hashCode()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notify()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notifyAll()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微软雅黑"/>
                <a:cs typeface="微软雅黑"/>
              </a:rPr>
              <a:t>wait()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微软雅黑"/>
                <a:cs typeface="微软雅黑"/>
              </a:rPr>
              <a:t>getClass()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460883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5.2.2	Object</a:t>
            </a:r>
            <a:r>
              <a:rPr dirty="0" sz="2100"/>
              <a:t>类与重写</a:t>
            </a:r>
            <a:r>
              <a:rPr dirty="0" sz="2100" spc="-10"/>
              <a:t>toString()</a:t>
            </a:r>
            <a:r>
              <a:rPr dirty="0" sz="2100"/>
              <a:t>方法</a:t>
            </a:r>
            <a:endParaRPr sz="2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8589"/>
            <a:ext cx="7882255" cy="165417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15">
                <a:latin typeface="微软雅黑"/>
                <a:cs typeface="微软雅黑"/>
              </a:rPr>
              <a:t>toString()</a:t>
            </a:r>
            <a:r>
              <a:rPr dirty="0" sz="2100">
                <a:latin typeface="微软雅黑"/>
                <a:cs typeface="微软雅黑"/>
              </a:rPr>
              <a:t>方法：对对象的文字描述，返回一个字符串。</a:t>
            </a:r>
            <a:endParaRPr sz="2100">
              <a:latin typeface="微软雅黑"/>
              <a:cs typeface="微软雅黑"/>
            </a:endParaRPr>
          </a:p>
          <a:p>
            <a:pPr marL="184150" marR="5080" indent="-171450">
              <a:lnSpc>
                <a:spcPts val="2270"/>
              </a:lnSpc>
              <a:spcBef>
                <a:spcPts val="77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如果在新创建的类中重写</a:t>
            </a:r>
            <a:r>
              <a:rPr dirty="0" sz="2100" spc="-15">
                <a:latin typeface="微软雅黑"/>
                <a:cs typeface="微软雅黑"/>
              </a:rPr>
              <a:t>toString</a:t>
            </a:r>
            <a:r>
              <a:rPr dirty="0" sz="2100" spc="-85">
                <a:latin typeface="微软雅黑"/>
                <a:cs typeface="微软雅黑"/>
              </a:rPr>
              <a:t> </a:t>
            </a:r>
            <a:r>
              <a:rPr dirty="0" sz="2100" spc="-5">
                <a:latin typeface="微软雅黑"/>
                <a:cs typeface="微软雅黑"/>
              </a:rPr>
              <a:t>()</a:t>
            </a:r>
            <a:r>
              <a:rPr dirty="0" sz="2100">
                <a:latin typeface="微软雅黑"/>
                <a:cs typeface="微软雅黑"/>
              </a:rPr>
              <a:t>方法，返回一个与该类具体相 关的字符串，则打印对象的操作将变得非常简单，直接调用 </a:t>
            </a:r>
            <a:r>
              <a:rPr dirty="0" sz="2100" spc="-150">
                <a:latin typeface="微软雅黑"/>
                <a:cs typeface="微软雅黑"/>
              </a:rPr>
              <a:t>System.</a:t>
            </a:r>
            <a:r>
              <a:rPr dirty="0" sz="2200" spc="-150" i="1">
                <a:latin typeface="微软雅黑"/>
                <a:cs typeface="微软雅黑"/>
              </a:rPr>
              <a:t>out</a:t>
            </a:r>
            <a:r>
              <a:rPr dirty="0" sz="2100" spc="-150">
                <a:latin typeface="微软雅黑"/>
                <a:cs typeface="微软雅黑"/>
              </a:rPr>
              <a:t>.println()</a:t>
            </a:r>
            <a:r>
              <a:rPr dirty="0" sz="2100">
                <a:latin typeface="微软雅黑"/>
                <a:cs typeface="微软雅黑"/>
              </a:rPr>
              <a:t>方法即可。正因为如此</a:t>
            </a:r>
            <a:r>
              <a:rPr dirty="0" sz="2100" spc="-15">
                <a:latin typeface="微软雅黑"/>
                <a:cs typeface="微软雅黑"/>
              </a:rPr>
              <a:t>，toString()</a:t>
            </a:r>
            <a:r>
              <a:rPr dirty="0" sz="2100">
                <a:latin typeface="微软雅黑"/>
                <a:cs typeface="微软雅黑"/>
              </a:rPr>
              <a:t>方法通常 都会被重写。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460883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5.2.2	Object</a:t>
            </a:r>
            <a:r>
              <a:rPr dirty="0" sz="2100"/>
              <a:t>类与重写</a:t>
            </a:r>
            <a:r>
              <a:rPr dirty="0" sz="2100" spc="-10"/>
              <a:t>toString()</a:t>
            </a:r>
            <a:r>
              <a:rPr dirty="0" sz="2100"/>
              <a:t>方法</a:t>
            </a:r>
            <a:endParaRPr sz="2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460883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5.2.2	Object</a:t>
            </a:r>
            <a:r>
              <a:rPr dirty="0" sz="2100"/>
              <a:t>类与重写</a:t>
            </a:r>
            <a:r>
              <a:rPr dirty="0" sz="2100" spc="-10"/>
              <a:t>toString()</a:t>
            </a:r>
            <a:r>
              <a:rPr dirty="0" sz="2100"/>
              <a:t>方法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827532" y="2112264"/>
            <a:ext cx="7777480" cy="3693160"/>
          </a:xfrm>
          <a:custGeom>
            <a:avLst/>
            <a:gdLst/>
            <a:ahLst/>
            <a:cxnLst/>
            <a:rect l="l" t="t" r="r" b="b"/>
            <a:pathLst>
              <a:path w="7777480" h="3693160">
                <a:moveTo>
                  <a:pt x="0" y="0"/>
                </a:moveTo>
                <a:lnTo>
                  <a:pt x="7776972" y="0"/>
                </a:lnTo>
                <a:lnTo>
                  <a:pt x="7776972" y="3692652"/>
                </a:lnTo>
                <a:lnTo>
                  <a:pt x="0" y="36926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21232" y="2105596"/>
            <a:ext cx="7790180" cy="3705225"/>
          </a:xfrm>
          <a:custGeom>
            <a:avLst/>
            <a:gdLst/>
            <a:ahLst/>
            <a:cxnLst/>
            <a:rect l="l" t="t" r="r" b="b"/>
            <a:pathLst>
              <a:path w="7790180" h="3705225">
                <a:moveTo>
                  <a:pt x="7789570" y="3705225"/>
                </a:moveTo>
                <a:lnTo>
                  <a:pt x="0" y="3705225"/>
                </a:lnTo>
                <a:lnTo>
                  <a:pt x="0" y="0"/>
                </a:lnTo>
                <a:lnTo>
                  <a:pt x="7789570" y="0"/>
                </a:lnTo>
                <a:lnTo>
                  <a:pt x="778957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692525"/>
                </a:lnTo>
                <a:lnTo>
                  <a:pt x="6350" y="3692525"/>
                </a:lnTo>
                <a:lnTo>
                  <a:pt x="12700" y="3698875"/>
                </a:lnTo>
                <a:lnTo>
                  <a:pt x="7789570" y="3698875"/>
                </a:lnTo>
                <a:lnTo>
                  <a:pt x="7789570" y="3705225"/>
                </a:lnTo>
                <a:close/>
              </a:path>
              <a:path w="7790180" h="370522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790180" h="3705225">
                <a:moveTo>
                  <a:pt x="777687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776870" y="6350"/>
                </a:lnTo>
                <a:lnTo>
                  <a:pt x="7776870" y="12700"/>
                </a:lnTo>
                <a:close/>
              </a:path>
              <a:path w="7790180" h="3705225">
                <a:moveTo>
                  <a:pt x="7776870" y="3698875"/>
                </a:moveTo>
                <a:lnTo>
                  <a:pt x="7776870" y="6350"/>
                </a:lnTo>
                <a:lnTo>
                  <a:pt x="7783220" y="12700"/>
                </a:lnTo>
                <a:lnTo>
                  <a:pt x="7789570" y="12700"/>
                </a:lnTo>
                <a:lnTo>
                  <a:pt x="7789570" y="3692525"/>
                </a:lnTo>
                <a:lnTo>
                  <a:pt x="7783220" y="3692525"/>
                </a:lnTo>
                <a:lnTo>
                  <a:pt x="7776870" y="3698875"/>
                </a:lnTo>
                <a:close/>
              </a:path>
              <a:path w="7790180" h="3705225">
                <a:moveTo>
                  <a:pt x="7789570" y="12700"/>
                </a:moveTo>
                <a:lnTo>
                  <a:pt x="7783220" y="12700"/>
                </a:lnTo>
                <a:lnTo>
                  <a:pt x="7776870" y="6350"/>
                </a:lnTo>
                <a:lnTo>
                  <a:pt x="7789570" y="6350"/>
                </a:lnTo>
                <a:lnTo>
                  <a:pt x="7789570" y="12700"/>
                </a:lnTo>
                <a:close/>
              </a:path>
              <a:path w="7790180" h="3705225">
                <a:moveTo>
                  <a:pt x="12700" y="3698875"/>
                </a:moveTo>
                <a:lnTo>
                  <a:pt x="6350" y="3692525"/>
                </a:lnTo>
                <a:lnTo>
                  <a:pt x="12700" y="3692525"/>
                </a:lnTo>
                <a:lnTo>
                  <a:pt x="12700" y="3698875"/>
                </a:lnTo>
                <a:close/>
              </a:path>
              <a:path w="7790180" h="3705225">
                <a:moveTo>
                  <a:pt x="7776870" y="3698875"/>
                </a:moveTo>
                <a:lnTo>
                  <a:pt x="12700" y="3698875"/>
                </a:lnTo>
                <a:lnTo>
                  <a:pt x="12700" y="3692525"/>
                </a:lnTo>
                <a:lnTo>
                  <a:pt x="7776870" y="3692525"/>
                </a:lnTo>
                <a:lnTo>
                  <a:pt x="7776870" y="3698875"/>
                </a:lnTo>
                <a:close/>
              </a:path>
              <a:path w="7790180" h="3705225">
                <a:moveTo>
                  <a:pt x="7789570" y="3698875"/>
                </a:moveTo>
                <a:lnTo>
                  <a:pt x="7776870" y="3698875"/>
                </a:lnTo>
                <a:lnTo>
                  <a:pt x="7783220" y="3692525"/>
                </a:lnTo>
                <a:lnTo>
                  <a:pt x="7789570" y="3692525"/>
                </a:lnTo>
                <a:lnTo>
                  <a:pt x="7789570" y="369887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8595" y="1481454"/>
            <a:ext cx="8533130" cy="425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5-1</a:t>
            </a:r>
            <a:r>
              <a:rPr dirty="0" sz="2100">
                <a:latin typeface="微软雅黑"/>
                <a:cs typeface="微软雅黑"/>
              </a:rPr>
              <a:t>】在DeliveryMan类中重写</a:t>
            </a:r>
            <a:r>
              <a:rPr dirty="0" sz="2100" spc="-15">
                <a:latin typeface="微软雅黑"/>
                <a:cs typeface="微软雅黑"/>
              </a:rPr>
              <a:t>toString</a:t>
            </a:r>
            <a:r>
              <a:rPr dirty="0" sz="2100">
                <a:latin typeface="微软雅黑"/>
                <a:cs typeface="微软雅黑"/>
              </a:rPr>
              <a:t>方法。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微软雅黑"/>
              <a:cs typeface="微软雅黑"/>
            </a:endParaRPr>
          </a:p>
          <a:p>
            <a:pPr marL="681355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public </a:t>
            </a: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class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DeliveryMan </a:t>
            </a: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extends </a:t>
            </a:r>
            <a:r>
              <a:rPr dirty="0" sz="1800" spc="-15">
                <a:solidFill>
                  <a:srgbClr val="FFFFFF"/>
                </a:solidFill>
                <a:latin typeface="微软雅黑"/>
                <a:cs typeface="微软雅黑"/>
              </a:rPr>
              <a:t>Person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 {</a:t>
            </a:r>
            <a:endParaRPr sz="1800">
              <a:latin typeface="微软雅黑"/>
              <a:cs typeface="微软雅黑"/>
            </a:endParaRPr>
          </a:p>
          <a:p>
            <a:pPr marL="1595755">
              <a:lnSpc>
                <a:spcPct val="100000"/>
              </a:lnSpc>
            </a:pPr>
            <a:r>
              <a:rPr dirty="0" sz="1800" spc="-10" b="1">
                <a:solidFill>
                  <a:srgbClr val="FFFFFF"/>
                </a:solidFill>
                <a:latin typeface="微软雅黑"/>
                <a:cs typeface="微软雅黑"/>
              </a:rPr>
              <a:t>private </a:t>
            </a:r>
            <a:r>
              <a:rPr dirty="0" sz="1800" spc="-15">
                <a:solidFill>
                  <a:srgbClr val="FFFFFF"/>
                </a:solidFill>
                <a:latin typeface="微软雅黑"/>
                <a:cs typeface="微软雅黑"/>
              </a:rPr>
              <a:t>String[]</a:t>
            </a:r>
            <a:r>
              <a:rPr dirty="0" sz="1800" spc="1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deliveryArea;</a:t>
            </a:r>
            <a:endParaRPr sz="1800">
              <a:latin typeface="微软雅黑"/>
              <a:cs typeface="微软雅黑"/>
            </a:endParaRPr>
          </a:p>
          <a:p>
            <a:pPr marL="6813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……</a:t>
            </a:r>
            <a:endParaRPr sz="1800">
              <a:latin typeface="微软雅黑"/>
              <a:cs typeface="微软雅黑"/>
            </a:endParaRPr>
          </a:p>
          <a:p>
            <a:pPr marL="1595755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public </a:t>
            </a:r>
            <a:r>
              <a:rPr dirty="0" sz="1800" spc="-15">
                <a:solidFill>
                  <a:srgbClr val="FFFFFF"/>
                </a:solidFill>
                <a:latin typeface="微软雅黑"/>
                <a:cs typeface="微软雅黑"/>
              </a:rPr>
              <a:t>String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微软雅黑"/>
                <a:cs typeface="微软雅黑"/>
              </a:rPr>
              <a:t>toString(){</a:t>
            </a:r>
            <a:endParaRPr sz="1800">
              <a:latin typeface="微软雅黑"/>
              <a:cs typeface="微软雅黑"/>
            </a:endParaRPr>
          </a:p>
          <a:p>
            <a:pPr marL="2510155">
              <a:lnSpc>
                <a:spcPct val="100000"/>
              </a:lnSpc>
            </a:pPr>
            <a:r>
              <a:rPr dirty="0" sz="1800" spc="-15">
                <a:solidFill>
                  <a:srgbClr val="FFFFFF"/>
                </a:solidFill>
                <a:latin typeface="微软雅黑"/>
                <a:cs typeface="微软雅黑"/>
              </a:rPr>
              <a:t>String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 str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 =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 getId()+","+getName()+"\n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配送范围:";</a:t>
            </a:r>
            <a:endParaRPr sz="1800">
              <a:latin typeface="微软雅黑"/>
              <a:cs typeface="微软雅黑"/>
            </a:endParaRPr>
          </a:p>
          <a:p>
            <a:pPr marL="2510155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int</a:t>
            </a:r>
            <a:r>
              <a:rPr dirty="0" sz="1800" spc="-1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i;</a:t>
            </a:r>
            <a:endParaRPr sz="1800">
              <a:latin typeface="微软雅黑"/>
              <a:cs typeface="微软雅黑"/>
            </a:endParaRPr>
          </a:p>
          <a:p>
            <a:pPr marL="2559050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for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(i=0;</a:t>
            </a:r>
            <a:r>
              <a:rPr dirty="0" sz="1800" spc="1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i&lt;deliveryArea.length-1;</a:t>
            </a:r>
            <a:r>
              <a:rPr dirty="0" sz="1800" spc="15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i++){//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除最后一个外，</a:t>
            </a:r>
            <a:endParaRPr sz="1800">
              <a:latin typeface="微软雅黑"/>
              <a:cs typeface="微软雅黑"/>
            </a:endParaRPr>
          </a:p>
          <a:p>
            <a:pPr marL="6813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都有一个逗号</a:t>
            </a:r>
            <a:endParaRPr sz="1800">
              <a:latin typeface="微软雅黑"/>
              <a:cs typeface="微软雅黑"/>
            </a:endParaRPr>
          </a:p>
          <a:p>
            <a:pPr marL="3424554">
              <a:lnSpc>
                <a:spcPct val="100000"/>
              </a:lnSpc>
            </a:pP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str+=deliveryArea[i]+",";</a:t>
            </a:r>
            <a:endParaRPr sz="1800">
              <a:latin typeface="微软雅黑"/>
              <a:cs typeface="微软雅黑"/>
            </a:endParaRPr>
          </a:p>
          <a:p>
            <a:pPr marL="25101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2510155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return</a:t>
            </a:r>
            <a:r>
              <a:rPr dirty="0" sz="1800" spc="-1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str+deliveryArea[i];</a:t>
            </a:r>
            <a:endParaRPr sz="1800">
              <a:latin typeface="微软雅黑"/>
              <a:cs typeface="微软雅黑"/>
            </a:endParaRPr>
          </a:p>
          <a:p>
            <a:pPr marL="15957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6813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81454"/>
            <a:ext cx="6015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5-1</a:t>
            </a:r>
            <a:r>
              <a:rPr dirty="0" sz="2100">
                <a:latin typeface="微软雅黑"/>
                <a:cs typeface="微软雅黑"/>
              </a:rPr>
              <a:t>】在DeliveryMan类中重写</a:t>
            </a:r>
            <a:r>
              <a:rPr dirty="0" sz="2100" spc="-15">
                <a:latin typeface="微软雅黑"/>
                <a:cs typeface="微软雅黑"/>
              </a:rPr>
              <a:t>toString</a:t>
            </a:r>
            <a:r>
              <a:rPr dirty="0" sz="2100">
                <a:latin typeface="微软雅黑"/>
                <a:cs typeface="微软雅黑"/>
              </a:rPr>
              <a:t>方法。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460883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5.2.2	Object</a:t>
            </a:r>
            <a:r>
              <a:rPr dirty="0" sz="2100"/>
              <a:t>类与重写</a:t>
            </a:r>
            <a:r>
              <a:rPr dirty="0" sz="2100" spc="-10"/>
              <a:t>toString()</a:t>
            </a:r>
            <a:r>
              <a:rPr dirty="0" sz="2100"/>
              <a:t>方法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827532" y="2205227"/>
            <a:ext cx="7777480" cy="3138170"/>
          </a:xfrm>
          <a:custGeom>
            <a:avLst/>
            <a:gdLst/>
            <a:ahLst/>
            <a:cxnLst/>
            <a:rect l="l" t="t" r="r" b="b"/>
            <a:pathLst>
              <a:path w="7777480" h="3138170">
                <a:moveTo>
                  <a:pt x="0" y="0"/>
                </a:moveTo>
                <a:lnTo>
                  <a:pt x="7776972" y="0"/>
                </a:lnTo>
                <a:lnTo>
                  <a:pt x="7776972" y="3137916"/>
                </a:lnTo>
                <a:lnTo>
                  <a:pt x="0" y="31379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21232" y="2198509"/>
            <a:ext cx="7790180" cy="3150870"/>
          </a:xfrm>
          <a:custGeom>
            <a:avLst/>
            <a:gdLst/>
            <a:ahLst/>
            <a:cxnLst/>
            <a:rect l="l" t="t" r="r" b="b"/>
            <a:pathLst>
              <a:path w="7790180" h="3150870">
                <a:moveTo>
                  <a:pt x="7789570" y="3150870"/>
                </a:moveTo>
                <a:lnTo>
                  <a:pt x="0" y="3150870"/>
                </a:lnTo>
                <a:lnTo>
                  <a:pt x="0" y="0"/>
                </a:lnTo>
                <a:lnTo>
                  <a:pt x="7789570" y="0"/>
                </a:lnTo>
                <a:lnTo>
                  <a:pt x="778957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38170"/>
                </a:lnTo>
                <a:lnTo>
                  <a:pt x="6350" y="3138170"/>
                </a:lnTo>
                <a:lnTo>
                  <a:pt x="12700" y="3144520"/>
                </a:lnTo>
                <a:lnTo>
                  <a:pt x="7789570" y="3144520"/>
                </a:lnTo>
                <a:lnTo>
                  <a:pt x="7789570" y="3150870"/>
                </a:lnTo>
                <a:close/>
              </a:path>
              <a:path w="7790180" h="315087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7790180" h="3150870">
                <a:moveTo>
                  <a:pt x="777687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7776870" y="6350"/>
                </a:lnTo>
                <a:lnTo>
                  <a:pt x="7776870" y="12700"/>
                </a:lnTo>
                <a:close/>
              </a:path>
              <a:path w="7790180" h="3150870">
                <a:moveTo>
                  <a:pt x="7776870" y="3144520"/>
                </a:moveTo>
                <a:lnTo>
                  <a:pt x="7776870" y="6350"/>
                </a:lnTo>
                <a:lnTo>
                  <a:pt x="7783220" y="12700"/>
                </a:lnTo>
                <a:lnTo>
                  <a:pt x="7789570" y="12700"/>
                </a:lnTo>
                <a:lnTo>
                  <a:pt x="7789570" y="3138170"/>
                </a:lnTo>
                <a:lnTo>
                  <a:pt x="7783220" y="3138170"/>
                </a:lnTo>
                <a:lnTo>
                  <a:pt x="7776870" y="3144520"/>
                </a:lnTo>
                <a:close/>
              </a:path>
              <a:path w="7790180" h="3150870">
                <a:moveTo>
                  <a:pt x="7789570" y="12700"/>
                </a:moveTo>
                <a:lnTo>
                  <a:pt x="7783220" y="12700"/>
                </a:lnTo>
                <a:lnTo>
                  <a:pt x="7776870" y="6350"/>
                </a:lnTo>
                <a:lnTo>
                  <a:pt x="7789570" y="6350"/>
                </a:lnTo>
                <a:lnTo>
                  <a:pt x="7789570" y="12700"/>
                </a:lnTo>
                <a:close/>
              </a:path>
              <a:path w="7790180" h="3150870">
                <a:moveTo>
                  <a:pt x="12700" y="3144520"/>
                </a:moveTo>
                <a:lnTo>
                  <a:pt x="6350" y="3138170"/>
                </a:lnTo>
                <a:lnTo>
                  <a:pt x="12700" y="3138170"/>
                </a:lnTo>
                <a:lnTo>
                  <a:pt x="12700" y="3144520"/>
                </a:lnTo>
                <a:close/>
              </a:path>
              <a:path w="7790180" h="3150870">
                <a:moveTo>
                  <a:pt x="7776870" y="3144520"/>
                </a:moveTo>
                <a:lnTo>
                  <a:pt x="12700" y="3144520"/>
                </a:lnTo>
                <a:lnTo>
                  <a:pt x="12700" y="3138170"/>
                </a:lnTo>
                <a:lnTo>
                  <a:pt x="7776870" y="3138170"/>
                </a:lnTo>
                <a:lnTo>
                  <a:pt x="7776870" y="3144520"/>
                </a:lnTo>
                <a:close/>
              </a:path>
              <a:path w="7790180" h="3150870">
                <a:moveTo>
                  <a:pt x="7789570" y="3144520"/>
                </a:moveTo>
                <a:lnTo>
                  <a:pt x="7776870" y="3144520"/>
                </a:lnTo>
                <a:lnTo>
                  <a:pt x="7783220" y="3138170"/>
                </a:lnTo>
                <a:lnTo>
                  <a:pt x="7789570" y="3138170"/>
                </a:lnTo>
                <a:lnTo>
                  <a:pt x="7789570" y="314452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6322" y="2232799"/>
            <a:ext cx="7428230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public </a:t>
            </a: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class </a:t>
            </a:r>
            <a:r>
              <a:rPr dirty="0" sz="1800" spc="-55">
                <a:solidFill>
                  <a:srgbClr val="FFFFFF"/>
                </a:solidFill>
                <a:latin typeface="微软雅黑"/>
                <a:cs typeface="微软雅黑"/>
              </a:rPr>
              <a:t>Test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841500" marR="1330325" indent="-914400">
              <a:lnSpc>
                <a:spcPct val="100000"/>
              </a:lnSpc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public static void </a:t>
            </a:r>
            <a:r>
              <a:rPr dirty="0" sz="1800" spc="-10">
                <a:solidFill>
                  <a:srgbClr val="FFFFFF"/>
                </a:solidFill>
                <a:latin typeface="微软雅黑"/>
                <a:cs typeface="微软雅黑"/>
              </a:rPr>
              <a:t>main(String[] args)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{  DeliveryMan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dm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= </a:t>
            </a: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new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DeliveryMan(); 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dm.setId("007");</a:t>
            </a:r>
            <a:endParaRPr sz="1800">
              <a:latin typeface="微软雅黑"/>
              <a:cs typeface="微软雅黑"/>
            </a:endParaRPr>
          </a:p>
          <a:p>
            <a:pPr marL="1841500">
              <a:lnSpc>
                <a:spcPct val="100000"/>
              </a:lnSpc>
            </a:pP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dm.setName("Bang");</a:t>
            </a:r>
            <a:endParaRPr sz="1800">
              <a:latin typeface="微软雅黑"/>
              <a:cs typeface="微软雅黑"/>
            </a:endParaRPr>
          </a:p>
          <a:p>
            <a:pPr marL="12700" marR="5080" indent="1828800">
              <a:lnSpc>
                <a:spcPct val="100000"/>
              </a:lnSpc>
              <a:spcBef>
                <a:spcPts val="2160"/>
              </a:spcBef>
            </a:pP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dm.setDeliveryArea(</a:t>
            </a: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new</a:t>
            </a:r>
            <a:r>
              <a:rPr dirty="0" sz="1800" spc="-2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微软雅黑"/>
                <a:cs typeface="微软雅黑"/>
              </a:rPr>
              <a:t>String[]{"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南锣鼓巷","烟袋斜 街","雨儿胡同","帽儿胡同","黑芝麻胡同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"});</a:t>
            </a:r>
            <a:endParaRPr sz="1800">
              <a:latin typeface="微软雅黑"/>
              <a:cs typeface="微软雅黑"/>
            </a:endParaRPr>
          </a:p>
          <a:p>
            <a:pPr marL="1841500">
              <a:lnSpc>
                <a:spcPts val="2165"/>
              </a:lnSpc>
            </a:pPr>
            <a:r>
              <a:rPr dirty="0" sz="1800" spc="-125">
                <a:solidFill>
                  <a:srgbClr val="FFFFFF"/>
                </a:solidFill>
                <a:latin typeface="微软雅黑"/>
                <a:cs typeface="微软雅黑"/>
              </a:rPr>
              <a:t>System.</a:t>
            </a:r>
            <a:r>
              <a:rPr dirty="0" sz="1850" spc="-125" i="1">
                <a:solidFill>
                  <a:srgbClr val="FFFFFF"/>
                </a:solidFill>
                <a:latin typeface="微软雅黑"/>
                <a:cs typeface="微软雅黑"/>
              </a:rPr>
              <a:t>out</a:t>
            </a:r>
            <a:r>
              <a:rPr dirty="0" sz="1800" spc="-125">
                <a:solidFill>
                  <a:srgbClr val="FFFFFF"/>
                </a:solidFill>
                <a:latin typeface="微软雅黑"/>
                <a:cs typeface="微软雅黑"/>
              </a:rPr>
              <a:t>.println("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快递员信息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:"+dm);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ts val="2155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81454"/>
            <a:ext cx="7931150" cy="2069464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如果子类重写了父类的方法，那么在子类对象默认调用的是自己重 写后的方法，</a:t>
            </a:r>
            <a:r>
              <a:rPr dirty="0" sz="2100">
                <a:solidFill>
                  <a:srgbClr val="FF0000"/>
                </a:solidFill>
                <a:latin typeface="微软雅黑"/>
                <a:cs typeface="微软雅黑"/>
              </a:rPr>
              <a:t>调用父类被重写了的方法需要使用关键字</a:t>
            </a:r>
            <a:r>
              <a:rPr dirty="0" sz="2100" spc="-5">
                <a:solidFill>
                  <a:srgbClr val="FF0000"/>
                </a:solidFill>
                <a:latin typeface="微软雅黑"/>
                <a:cs typeface="微软雅黑"/>
              </a:rPr>
              <a:t>super</a:t>
            </a:r>
            <a:r>
              <a:rPr dirty="0" sz="210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  <a:p>
            <a:pPr marL="184150" marR="97790" indent="-171450">
              <a:lnSpc>
                <a:spcPts val="2260"/>
              </a:lnSpc>
              <a:spcBef>
                <a:spcPts val="76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微软雅黑"/>
                <a:cs typeface="微软雅黑"/>
              </a:rPr>
              <a:t>s</a:t>
            </a:r>
            <a:r>
              <a:rPr dirty="0" sz="2100">
                <a:latin typeface="微软雅黑"/>
                <a:cs typeface="微软雅黑"/>
              </a:rPr>
              <a:t>u</a:t>
            </a:r>
            <a:r>
              <a:rPr dirty="0" sz="2100" spc="-5">
                <a:latin typeface="微软雅黑"/>
                <a:cs typeface="微软雅黑"/>
              </a:rPr>
              <a:t>per</a:t>
            </a:r>
            <a:r>
              <a:rPr dirty="0" sz="2100">
                <a:latin typeface="微软雅黑"/>
                <a:cs typeface="微软雅黑"/>
              </a:rPr>
              <a:t>是</a:t>
            </a:r>
            <a:r>
              <a:rPr dirty="0" sz="2100" spc="-35">
                <a:latin typeface="微软雅黑"/>
                <a:cs typeface="微软雅黑"/>
              </a:rPr>
              <a:t>J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 spc="-50">
                <a:latin typeface="微软雅黑"/>
                <a:cs typeface="微软雅黑"/>
              </a:rPr>
              <a:t>v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提供的一个关键字，用于对象调用它从父类继承得到 的数据成员或方法）。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85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与</a:t>
            </a:r>
            <a:r>
              <a:rPr dirty="0" sz="2100" spc="-5">
                <a:latin typeface="微软雅黑"/>
                <a:cs typeface="微软雅黑"/>
              </a:rPr>
              <a:t>this</a:t>
            </a:r>
            <a:r>
              <a:rPr dirty="0" sz="2100">
                <a:latin typeface="微软雅黑"/>
                <a:cs typeface="微软雅黑"/>
              </a:rPr>
              <a:t>一样</a:t>
            </a:r>
            <a:r>
              <a:rPr dirty="0" sz="2100" spc="-5">
                <a:latin typeface="微软雅黑"/>
                <a:cs typeface="微软雅黑"/>
              </a:rPr>
              <a:t>，super</a:t>
            </a:r>
            <a:r>
              <a:rPr dirty="0" sz="2100">
                <a:latin typeface="微软雅黑"/>
                <a:cs typeface="微软雅黑"/>
              </a:rPr>
              <a:t>也不能出现在</a:t>
            </a:r>
            <a:r>
              <a:rPr dirty="0" sz="2100" spc="-5">
                <a:latin typeface="微软雅黑"/>
                <a:cs typeface="微软雅黑"/>
              </a:rPr>
              <a:t>static</a:t>
            </a:r>
            <a:r>
              <a:rPr dirty="0" sz="2100">
                <a:latin typeface="微软雅黑"/>
                <a:cs typeface="微软雅黑"/>
              </a:rPr>
              <a:t>修饰的方法中。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4969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2</a:t>
            </a:r>
            <a:r>
              <a:rPr dirty="0" sz="2100"/>
              <a:t>.3	调用父类被重写的方法</a:t>
            </a:r>
            <a:endParaRPr sz="2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4969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2</a:t>
            </a:r>
            <a:r>
              <a:rPr dirty="0" sz="2100"/>
              <a:t>.3	调用父类被重写的方法</a:t>
            </a:r>
            <a:endParaRPr sz="2100"/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88595" y="1481454"/>
            <a:ext cx="6278245" cy="2553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5-4</a:t>
            </a:r>
            <a:r>
              <a:rPr dirty="0" sz="2100">
                <a:latin typeface="微软雅黑"/>
                <a:cs typeface="微软雅黑"/>
              </a:rPr>
              <a:t>】利用</a:t>
            </a:r>
            <a:r>
              <a:rPr dirty="0" sz="2100" spc="-5">
                <a:latin typeface="微软雅黑"/>
                <a:cs typeface="微软雅黑"/>
              </a:rPr>
              <a:t>super</a:t>
            </a:r>
            <a:r>
              <a:rPr dirty="0" sz="2100">
                <a:latin typeface="微软雅黑"/>
                <a:cs typeface="微软雅黑"/>
              </a:rPr>
              <a:t>调用父类的同名方法。</a:t>
            </a:r>
            <a:endParaRPr sz="2100">
              <a:latin typeface="微软雅黑"/>
              <a:cs typeface="微软雅黑"/>
            </a:endParaRPr>
          </a:p>
          <a:p>
            <a:pPr marL="586105">
              <a:lnSpc>
                <a:spcPct val="100000"/>
              </a:lnSpc>
              <a:spcBef>
                <a:spcPts val="2260"/>
              </a:spcBef>
            </a:pPr>
            <a:r>
              <a:rPr dirty="0" sz="1800" spc="-5" b="1">
                <a:latin typeface="微软雅黑"/>
                <a:cs typeface="微软雅黑"/>
              </a:rPr>
              <a:t>public </a:t>
            </a:r>
            <a:r>
              <a:rPr dirty="0" sz="1800" b="1">
                <a:latin typeface="微软雅黑"/>
                <a:cs typeface="微软雅黑"/>
              </a:rPr>
              <a:t>class </a:t>
            </a:r>
            <a:r>
              <a:rPr dirty="0" sz="1800" spc="-5">
                <a:latin typeface="微软雅黑"/>
                <a:cs typeface="微软雅黑"/>
              </a:rPr>
              <a:t>Animal </a:t>
            </a:r>
            <a:r>
              <a:rPr dirty="0" sz="180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500505">
              <a:lnSpc>
                <a:spcPts val="2135"/>
              </a:lnSpc>
            </a:pPr>
            <a:r>
              <a:rPr dirty="0" sz="1800" spc="-5" b="1">
                <a:latin typeface="微软雅黑"/>
                <a:cs typeface="微软雅黑"/>
              </a:rPr>
              <a:t>public void</a:t>
            </a:r>
            <a:r>
              <a:rPr dirty="0" sz="1800" spc="-1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move(){</a:t>
            </a:r>
            <a:endParaRPr sz="1800">
              <a:latin typeface="微软雅黑"/>
              <a:cs typeface="微软雅黑"/>
            </a:endParaRPr>
          </a:p>
          <a:p>
            <a:pPr marL="2414905">
              <a:lnSpc>
                <a:spcPts val="2190"/>
              </a:lnSpc>
            </a:pPr>
            <a:r>
              <a:rPr dirty="0" sz="1800" spc="-125">
                <a:latin typeface="微软雅黑"/>
                <a:cs typeface="微软雅黑"/>
              </a:rPr>
              <a:t>System.</a:t>
            </a:r>
            <a:r>
              <a:rPr dirty="0" sz="1850" spc="-125" i="1">
                <a:latin typeface="微软雅黑"/>
                <a:cs typeface="微软雅黑"/>
              </a:rPr>
              <a:t>out</a:t>
            </a:r>
            <a:r>
              <a:rPr dirty="0" sz="1800" spc="-125">
                <a:latin typeface="微软雅黑"/>
                <a:cs typeface="微软雅黑"/>
              </a:rPr>
              <a:t>.println("</a:t>
            </a:r>
            <a:r>
              <a:rPr dirty="0" sz="1800">
                <a:latin typeface="微软雅黑"/>
                <a:cs typeface="微软雅黑"/>
              </a:rPr>
              <a:t>我可以</a:t>
            </a:r>
            <a:r>
              <a:rPr dirty="0" sz="1800" spc="-5">
                <a:latin typeface="微软雅黑"/>
                <a:cs typeface="微软雅黑"/>
              </a:rPr>
              <a:t>move...");</a:t>
            </a:r>
            <a:endParaRPr sz="1800">
              <a:latin typeface="微软雅黑"/>
              <a:cs typeface="微软雅黑"/>
            </a:endParaRPr>
          </a:p>
          <a:p>
            <a:pPr marL="1500505">
              <a:lnSpc>
                <a:spcPts val="2155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58610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586105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</a:t>
            </a:r>
            <a:r>
              <a:rPr dirty="0" sz="1800" b="1">
                <a:latin typeface="微软雅黑"/>
                <a:cs typeface="微软雅黑"/>
              </a:rPr>
              <a:t>class </a:t>
            </a:r>
            <a:r>
              <a:rPr dirty="0" sz="1800" spc="-10">
                <a:latin typeface="微软雅黑"/>
                <a:cs typeface="微软雅黑"/>
              </a:rPr>
              <a:t>Bird </a:t>
            </a:r>
            <a:r>
              <a:rPr dirty="0" sz="1800" spc="-5" b="1">
                <a:latin typeface="微软雅黑"/>
                <a:cs typeface="微软雅黑"/>
              </a:rPr>
              <a:t>extends</a:t>
            </a:r>
            <a:r>
              <a:rPr dirty="0" sz="1800" spc="5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Animal{</a:t>
            </a:r>
            <a:endParaRPr sz="1800">
              <a:latin typeface="微软雅黑"/>
              <a:cs typeface="微软雅黑"/>
            </a:endParaRPr>
          </a:p>
          <a:p>
            <a:pPr marL="1500505">
              <a:lnSpc>
                <a:spcPct val="100000"/>
              </a:lnSpc>
            </a:pPr>
            <a:r>
              <a:rPr dirty="0" sz="1800" spc="-5" b="1">
                <a:latin typeface="微软雅黑"/>
                <a:cs typeface="微软雅黑"/>
              </a:rPr>
              <a:t>public void</a:t>
            </a:r>
            <a:r>
              <a:rPr dirty="0" sz="1800" spc="-1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move(){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1784" y="3997602"/>
            <a:ext cx="1691639" cy="3136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850" spc="-705" b="1" i="1">
                <a:solidFill>
                  <a:srgbClr val="FF0000"/>
                </a:solidFill>
                <a:latin typeface="微软雅黑"/>
                <a:cs typeface="微软雅黑"/>
              </a:rPr>
              <a:t>super.move();</a:t>
            </a:r>
            <a:endParaRPr sz="185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9904" y="4009021"/>
            <a:ext cx="25806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//调用父类的</a:t>
            </a:r>
            <a:r>
              <a:rPr dirty="0" sz="1800" spc="-10">
                <a:latin typeface="微软雅黑"/>
                <a:cs typeface="微软雅黑"/>
              </a:rPr>
              <a:t>move()</a:t>
            </a:r>
            <a:r>
              <a:rPr dirty="0" sz="1800">
                <a:latin typeface="微软雅黑"/>
                <a:cs typeface="微软雅黑"/>
              </a:rPr>
              <a:t>方法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6704" y="4271922"/>
            <a:ext cx="5436235" cy="5854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927100">
              <a:lnSpc>
                <a:spcPts val="2215"/>
              </a:lnSpc>
              <a:spcBef>
                <a:spcPts val="140"/>
              </a:spcBef>
            </a:pPr>
            <a:r>
              <a:rPr dirty="0" sz="1800" spc="-125">
                <a:latin typeface="微软雅黑"/>
                <a:cs typeface="微软雅黑"/>
              </a:rPr>
              <a:t>System.</a:t>
            </a:r>
            <a:r>
              <a:rPr dirty="0" sz="1850" spc="-125" i="1">
                <a:latin typeface="微软雅黑"/>
                <a:cs typeface="微软雅黑"/>
              </a:rPr>
              <a:t>out</a:t>
            </a:r>
            <a:r>
              <a:rPr dirty="0" sz="1800" spc="-125">
                <a:latin typeface="微软雅黑"/>
                <a:cs typeface="微软雅黑"/>
              </a:rPr>
              <a:t>.println("</a:t>
            </a:r>
            <a:r>
              <a:rPr dirty="0" sz="1800">
                <a:latin typeface="微软雅黑"/>
                <a:cs typeface="微软雅黑"/>
              </a:rPr>
              <a:t>我可以在天空飞翔</a:t>
            </a:r>
            <a:r>
              <a:rPr dirty="0" sz="1800" spc="-5">
                <a:latin typeface="微软雅黑"/>
                <a:cs typeface="微软雅黑"/>
              </a:rPr>
              <a:t>.....");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ts val="2155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304" y="5654941"/>
            <a:ext cx="629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翔....."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6704" y="4831981"/>
            <a:ext cx="628142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0" marR="2132965" indent="-9144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微软雅黑"/>
                <a:cs typeface="微软雅黑"/>
              </a:rPr>
              <a:t>public static void </a:t>
            </a:r>
            <a:r>
              <a:rPr dirty="0" sz="1800" spc="-10">
                <a:latin typeface="微软雅黑"/>
                <a:cs typeface="微软雅黑"/>
              </a:rPr>
              <a:t>main(String[] args){  Bird bird </a:t>
            </a:r>
            <a:r>
              <a:rPr dirty="0" sz="1800">
                <a:latin typeface="微软雅黑"/>
                <a:cs typeface="微软雅黑"/>
              </a:rPr>
              <a:t>= </a:t>
            </a:r>
            <a:r>
              <a:rPr dirty="0" sz="1800" spc="-5" b="1">
                <a:latin typeface="微软雅黑"/>
                <a:cs typeface="微软雅黑"/>
              </a:rPr>
              <a:t>new</a:t>
            </a:r>
            <a:r>
              <a:rPr dirty="0" sz="1800" b="1">
                <a:latin typeface="微软雅黑"/>
                <a:cs typeface="微软雅黑"/>
              </a:rPr>
              <a:t> </a:t>
            </a:r>
            <a:r>
              <a:rPr dirty="0" sz="1800" spc="-10">
                <a:latin typeface="微软雅黑"/>
                <a:cs typeface="微软雅黑"/>
              </a:rPr>
              <a:t>Bird();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tabLst>
                <a:tab pos="2436495" algn="l"/>
              </a:tabLst>
            </a:pPr>
            <a:r>
              <a:rPr dirty="0" sz="1800">
                <a:latin typeface="微软雅黑"/>
                <a:cs typeface="微软雅黑"/>
              </a:rPr>
              <a:t>bi</a:t>
            </a:r>
            <a:r>
              <a:rPr dirty="0" sz="1800" spc="-35">
                <a:latin typeface="微软雅黑"/>
                <a:cs typeface="微软雅黑"/>
              </a:rPr>
              <a:t>r</a:t>
            </a:r>
            <a:r>
              <a:rPr dirty="0" sz="1800" spc="-5">
                <a:latin typeface="微软雅黑"/>
                <a:cs typeface="微软雅黑"/>
              </a:rPr>
              <a:t>d</a:t>
            </a:r>
            <a:r>
              <a:rPr dirty="0" sz="1800">
                <a:latin typeface="微软雅黑"/>
                <a:cs typeface="微软雅黑"/>
              </a:rPr>
              <a:t>.</a:t>
            </a:r>
            <a:r>
              <a:rPr dirty="0" sz="1800" spc="-5">
                <a:latin typeface="微软雅黑"/>
                <a:cs typeface="微软雅黑"/>
              </a:rPr>
              <a:t>m</a:t>
            </a:r>
            <a:r>
              <a:rPr dirty="0" sz="1800">
                <a:latin typeface="微软雅黑"/>
                <a:cs typeface="微软雅黑"/>
              </a:rPr>
              <a:t>o</a:t>
            </a:r>
            <a:r>
              <a:rPr dirty="0" sz="1800" spc="-15">
                <a:latin typeface="微软雅黑"/>
                <a:cs typeface="微软雅黑"/>
              </a:rPr>
              <a:t>v</a:t>
            </a:r>
            <a:r>
              <a:rPr dirty="0" sz="1800" spc="-5">
                <a:latin typeface="微软雅黑"/>
                <a:cs typeface="微软雅黑"/>
              </a:rPr>
              <a:t>e()</a:t>
            </a:r>
            <a:r>
              <a:rPr dirty="0" sz="1800">
                <a:latin typeface="微软雅黑"/>
                <a:cs typeface="微软雅黑"/>
              </a:rPr>
              <a:t>;	//输出"我可以</a:t>
            </a:r>
            <a:r>
              <a:rPr dirty="0" sz="1800" spc="-5">
                <a:latin typeface="微软雅黑"/>
                <a:cs typeface="微软雅黑"/>
              </a:rPr>
              <a:t>m</a:t>
            </a:r>
            <a:r>
              <a:rPr dirty="0" sz="1800">
                <a:latin typeface="微软雅黑"/>
                <a:cs typeface="微软雅黑"/>
              </a:rPr>
              <a:t>o</a:t>
            </a:r>
            <a:r>
              <a:rPr dirty="0" sz="1800" spc="-15">
                <a:latin typeface="微软雅黑"/>
                <a:cs typeface="微软雅黑"/>
              </a:rPr>
              <a:t>v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…我可以在天空飞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304" y="6203581"/>
            <a:ext cx="102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77683" y="251459"/>
            <a:ext cx="1476755" cy="4328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122428"/>
            <a:ext cx="413384" cy="699770"/>
          </a:xfrm>
          <a:custGeom>
            <a:avLst/>
            <a:gdLst/>
            <a:ahLst/>
            <a:cxnLst/>
            <a:rect l="l" t="t" r="r" b="b"/>
            <a:pathLst>
              <a:path w="413384" h="699769">
                <a:moveTo>
                  <a:pt x="234302" y="699300"/>
                </a:moveTo>
                <a:lnTo>
                  <a:pt x="0" y="699300"/>
                </a:lnTo>
                <a:lnTo>
                  <a:pt x="0" y="0"/>
                </a:lnTo>
                <a:lnTo>
                  <a:pt x="412800" y="0"/>
                </a:lnTo>
                <a:lnTo>
                  <a:pt x="234302" y="6993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2978" y="379234"/>
            <a:ext cx="73025" cy="222250"/>
          </a:xfrm>
          <a:custGeom>
            <a:avLst/>
            <a:gdLst/>
            <a:ahLst/>
            <a:cxnLst/>
            <a:rect l="l" t="t" r="r" b="b"/>
            <a:pathLst>
              <a:path w="73025" h="222250">
                <a:moveTo>
                  <a:pt x="15824" y="221907"/>
                </a:moveTo>
                <a:lnTo>
                  <a:pt x="0" y="221907"/>
                </a:lnTo>
                <a:lnTo>
                  <a:pt x="56642" y="0"/>
                </a:lnTo>
                <a:lnTo>
                  <a:pt x="72466" y="0"/>
                </a:lnTo>
                <a:lnTo>
                  <a:pt x="15824" y="2219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8455" y="360184"/>
            <a:ext cx="121920" cy="260350"/>
          </a:xfrm>
          <a:custGeom>
            <a:avLst/>
            <a:gdLst/>
            <a:ahLst/>
            <a:cxnLst/>
            <a:rect l="l" t="t" r="r" b="b"/>
            <a:pathLst>
              <a:path w="121920" h="260350">
                <a:moveTo>
                  <a:pt x="55156" y="260007"/>
                </a:moveTo>
                <a:lnTo>
                  <a:pt x="0" y="260007"/>
                </a:lnTo>
                <a:lnTo>
                  <a:pt x="66370" y="0"/>
                </a:lnTo>
                <a:lnTo>
                  <a:pt x="121513" y="0"/>
                </a:lnTo>
                <a:lnTo>
                  <a:pt x="117854" y="14338"/>
                </a:lnTo>
                <a:lnTo>
                  <a:pt x="78536" y="14338"/>
                </a:lnTo>
                <a:lnTo>
                  <a:pt x="25554" y="221907"/>
                </a:lnTo>
                <a:lnTo>
                  <a:pt x="24523" y="221907"/>
                </a:lnTo>
                <a:lnTo>
                  <a:pt x="25299" y="222905"/>
                </a:lnTo>
                <a:lnTo>
                  <a:pt x="21894" y="236245"/>
                </a:lnTo>
                <a:lnTo>
                  <a:pt x="35666" y="236245"/>
                </a:lnTo>
                <a:lnTo>
                  <a:pt x="42989" y="245668"/>
                </a:lnTo>
                <a:lnTo>
                  <a:pt x="58815" y="245668"/>
                </a:lnTo>
                <a:lnTo>
                  <a:pt x="55156" y="260007"/>
                </a:lnTo>
                <a:close/>
              </a:path>
              <a:path w="121920" h="260350">
                <a:moveTo>
                  <a:pt x="30481" y="229573"/>
                </a:moveTo>
                <a:lnTo>
                  <a:pt x="25299" y="222905"/>
                </a:lnTo>
                <a:lnTo>
                  <a:pt x="78536" y="14338"/>
                </a:lnTo>
                <a:lnTo>
                  <a:pt x="91037" y="30434"/>
                </a:lnTo>
                <a:lnTo>
                  <a:pt x="81165" y="38100"/>
                </a:lnTo>
                <a:lnTo>
                  <a:pt x="95971" y="38100"/>
                </a:lnTo>
                <a:lnTo>
                  <a:pt x="49054" y="221907"/>
                </a:lnTo>
                <a:lnTo>
                  <a:pt x="40347" y="221907"/>
                </a:lnTo>
                <a:lnTo>
                  <a:pt x="30481" y="229573"/>
                </a:lnTo>
                <a:close/>
              </a:path>
              <a:path w="121920" h="260350">
                <a:moveTo>
                  <a:pt x="91037" y="30434"/>
                </a:moveTo>
                <a:lnTo>
                  <a:pt x="78536" y="14338"/>
                </a:lnTo>
                <a:lnTo>
                  <a:pt x="117854" y="14338"/>
                </a:lnTo>
                <a:lnTo>
                  <a:pt x="115449" y="23761"/>
                </a:lnTo>
                <a:lnTo>
                  <a:pt x="99631" y="23761"/>
                </a:lnTo>
                <a:lnTo>
                  <a:pt x="91037" y="30434"/>
                </a:lnTo>
                <a:close/>
              </a:path>
              <a:path w="121920" h="260350">
                <a:moveTo>
                  <a:pt x="96223" y="37113"/>
                </a:moveTo>
                <a:lnTo>
                  <a:pt x="91037" y="30434"/>
                </a:lnTo>
                <a:lnTo>
                  <a:pt x="99631" y="23761"/>
                </a:lnTo>
                <a:lnTo>
                  <a:pt x="96223" y="37113"/>
                </a:lnTo>
                <a:close/>
              </a:path>
              <a:path w="121920" h="260350">
                <a:moveTo>
                  <a:pt x="111789" y="38100"/>
                </a:moveTo>
                <a:lnTo>
                  <a:pt x="96989" y="38100"/>
                </a:lnTo>
                <a:lnTo>
                  <a:pt x="96223" y="37113"/>
                </a:lnTo>
                <a:lnTo>
                  <a:pt x="99631" y="23761"/>
                </a:lnTo>
                <a:lnTo>
                  <a:pt x="115449" y="23761"/>
                </a:lnTo>
                <a:lnTo>
                  <a:pt x="111789" y="38100"/>
                </a:lnTo>
                <a:close/>
              </a:path>
              <a:path w="121920" h="260350">
                <a:moveTo>
                  <a:pt x="95971" y="38100"/>
                </a:moveTo>
                <a:lnTo>
                  <a:pt x="81165" y="38100"/>
                </a:lnTo>
                <a:lnTo>
                  <a:pt x="91037" y="30434"/>
                </a:lnTo>
                <a:lnTo>
                  <a:pt x="96223" y="37113"/>
                </a:lnTo>
                <a:lnTo>
                  <a:pt x="95971" y="38100"/>
                </a:lnTo>
                <a:close/>
              </a:path>
              <a:path w="121920" h="260350">
                <a:moveTo>
                  <a:pt x="58815" y="245668"/>
                </a:moveTo>
                <a:lnTo>
                  <a:pt x="42989" y="245668"/>
                </a:lnTo>
                <a:lnTo>
                  <a:pt x="96223" y="37113"/>
                </a:lnTo>
                <a:lnTo>
                  <a:pt x="96989" y="38100"/>
                </a:lnTo>
                <a:lnTo>
                  <a:pt x="111789" y="38100"/>
                </a:lnTo>
                <a:lnTo>
                  <a:pt x="58815" y="245668"/>
                </a:lnTo>
                <a:close/>
              </a:path>
              <a:path w="121920" h="260350">
                <a:moveTo>
                  <a:pt x="25299" y="222905"/>
                </a:moveTo>
                <a:lnTo>
                  <a:pt x="24523" y="221907"/>
                </a:lnTo>
                <a:lnTo>
                  <a:pt x="25554" y="221907"/>
                </a:lnTo>
                <a:lnTo>
                  <a:pt x="25299" y="222905"/>
                </a:lnTo>
                <a:close/>
              </a:path>
              <a:path w="121920" h="260350">
                <a:moveTo>
                  <a:pt x="42989" y="245668"/>
                </a:moveTo>
                <a:lnTo>
                  <a:pt x="30481" y="229573"/>
                </a:lnTo>
                <a:lnTo>
                  <a:pt x="40347" y="221907"/>
                </a:lnTo>
                <a:lnTo>
                  <a:pt x="49054" y="221907"/>
                </a:lnTo>
                <a:lnTo>
                  <a:pt x="42989" y="245668"/>
                </a:lnTo>
                <a:close/>
              </a:path>
              <a:path w="121920" h="260350">
                <a:moveTo>
                  <a:pt x="21894" y="236245"/>
                </a:moveTo>
                <a:lnTo>
                  <a:pt x="25299" y="222905"/>
                </a:lnTo>
                <a:lnTo>
                  <a:pt x="30481" y="229573"/>
                </a:lnTo>
                <a:lnTo>
                  <a:pt x="21894" y="236245"/>
                </a:lnTo>
                <a:close/>
              </a:path>
              <a:path w="121920" h="260350">
                <a:moveTo>
                  <a:pt x="35666" y="236245"/>
                </a:moveTo>
                <a:lnTo>
                  <a:pt x="21894" y="236245"/>
                </a:lnTo>
                <a:lnTo>
                  <a:pt x="30481" y="229573"/>
                </a:lnTo>
                <a:lnTo>
                  <a:pt x="35666" y="23624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2181" y="821728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 h="0">
                <a:moveTo>
                  <a:pt x="0" y="0"/>
                </a:moveTo>
                <a:lnTo>
                  <a:pt x="8479624" y="0"/>
                </a:lnTo>
              </a:path>
            </a:pathLst>
          </a:custGeom>
          <a:ln w="7619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127235" y="336804"/>
            <a:ext cx="0" cy="265430"/>
          </a:xfrm>
          <a:custGeom>
            <a:avLst/>
            <a:gdLst/>
            <a:ahLst/>
            <a:cxnLst/>
            <a:rect l="l" t="t" r="r" b="b"/>
            <a:pathLst>
              <a:path w="0" h="265430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33527">
            <a:solidFill>
              <a:srgbClr val="A03E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2181" y="6264275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 h="0">
                <a:moveTo>
                  <a:pt x="0" y="0"/>
                </a:moveTo>
                <a:lnTo>
                  <a:pt x="8479624" y="0"/>
                </a:lnTo>
              </a:path>
            </a:pathLst>
          </a:custGeom>
          <a:ln w="762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12127" y="275450"/>
            <a:ext cx="400431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5.2.4</a:t>
            </a:r>
            <a:r>
              <a:rPr dirty="0" sz="2100" b="1">
                <a:latin typeface="微软雅黑"/>
                <a:cs typeface="微软雅黑"/>
              </a:rPr>
              <a:t>名字隐藏</a:t>
            </a:r>
            <a:r>
              <a:rPr dirty="0" sz="2100" spc="-5" b="1">
                <a:latin typeface="微软雅黑"/>
                <a:cs typeface="微软雅黑"/>
              </a:rPr>
              <a:t>（Name</a:t>
            </a:r>
            <a:r>
              <a:rPr dirty="0" sz="2100" spc="-65" b="1">
                <a:latin typeface="微软雅黑"/>
                <a:cs typeface="微软雅黑"/>
              </a:rPr>
              <a:t> </a:t>
            </a:r>
            <a:r>
              <a:rPr dirty="0" sz="2100" spc="-5" b="1">
                <a:latin typeface="微软雅黑"/>
                <a:cs typeface="微软雅黑"/>
              </a:rPr>
              <a:t>hiding）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5863" y="1380744"/>
            <a:ext cx="7357872" cy="11643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70255" y="2939415"/>
            <a:ext cx="80981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5360" algn="l"/>
              </a:tabLst>
            </a:pPr>
            <a:r>
              <a:rPr dirty="0" sz="2400" spc="-5" b="0">
                <a:solidFill>
                  <a:srgbClr val="006C39"/>
                </a:solidFill>
                <a:latin typeface="Times New Roman"/>
                <a:cs typeface="Times New Roman"/>
              </a:rPr>
              <a:t>Sample:HideDataMember	HideStaticDataMember(com.hn.cn</a:t>
            </a:r>
            <a:r>
              <a:rPr dirty="0" sz="2400" spc="-5" b="0">
                <a:solidFill>
                  <a:srgbClr val="006C39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494030" y="3763009"/>
            <a:ext cx="8052434" cy="1857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0000"/>
                </a:solidFill>
                <a:latin typeface="Georgia"/>
                <a:cs typeface="Georgia"/>
              </a:rPr>
              <a:t>Method</a:t>
            </a:r>
            <a:r>
              <a:rPr dirty="0" sz="1800" spc="-35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Georgia"/>
                <a:cs typeface="Georgia"/>
              </a:rPr>
              <a:t>hide:</a:t>
            </a:r>
            <a:r>
              <a:rPr dirty="0" sz="1800" spc="-35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400">
                <a:latin typeface="宋体"/>
                <a:cs typeface="宋体"/>
              </a:rPr>
              <a:t>如果父类中的方法被重载多次，在子类中重写时 不会隐藏父类重载的方法。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宋体"/>
              <a:cs typeface="宋体"/>
            </a:endParaRPr>
          </a:p>
          <a:p>
            <a:pPr marL="1504950">
              <a:lnSpc>
                <a:spcPct val="100000"/>
              </a:lnSpc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dirty="0" sz="280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Hide.java 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0700"/>
            <a:ext cx="8051800" cy="498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  <a:tabLst>
                <a:tab pos="1781175" algn="l"/>
              </a:tabLst>
            </a:pPr>
            <a:r>
              <a:rPr dirty="0" sz="2100" spc="-5" b="1">
                <a:latin typeface="微软雅黑"/>
                <a:cs typeface="微软雅黑"/>
              </a:rPr>
              <a:t>5.3	</a:t>
            </a:r>
            <a:r>
              <a:rPr dirty="0" sz="2100" b="1">
                <a:latin typeface="微软雅黑"/>
                <a:cs typeface="微软雅黑"/>
              </a:rPr>
              <a:t>子类对象的构造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373380" indent="-360680">
              <a:lnSpc>
                <a:spcPct val="100000"/>
              </a:lnSpc>
              <a:buFont typeface="Arial"/>
              <a:buChar char="•"/>
              <a:tabLst>
                <a:tab pos="372745" algn="l"/>
                <a:tab pos="373380" algn="l"/>
              </a:tabLst>
            </a:pPr>
            <a:r>
              <a:rPr dirty="0" sz="2800" b="1">
                <a:latin typeface="微软雅黑"/>
                <a:cs typeface="微软雅黑"/>
              </a:rPr>
              <a:t>继承下的构造方法的调用次</a:t>
            </a:r>
            <a:r>
              <a:rPr dirty="0" sz="2800" spc="-5" b="1">
                <a:latin typeface="微软雅黑"/>
                <a:cs typeface="微软雅黑"/>
              </a:rPr>
              <a:t>序</a:t>
            </a:r>
            <a:endParaRPr sz="2800">
              <a:latin typeface="微软雅黑"/>
              <a:cs typeface="微软雅黑"/>
            </a:endParaRPr>
          </a:p>
          <a:p>
            <a:pPr lvl="1" marL="927100" marR="5080" indent="-171450">
              <a:lnSpc>
                <a:spcPts val="2590"/>
              </a:lnSpc>
              <a:spcBef>
                <a:spcPts val="415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2400">
                <a:latin typeface="微软雅黑"/>
                <a:cs typeface="微软雅黑"/>
              </a:rPr>
              <a:t>子类构造方法在执行自己的任务之前，将</a:t>
            </a:r>
            <a:r>
              <a:rPr dirty="0" sz="2400" b="1">
                <a:solidFill>
                  <a:srgbClr val="ED7A07"/>
                </a:solidFill>
                <a:latin typeface="微软雅黑"/>
                <a:cs typeface="微软雅黑"/>
              </a:rPr>
              <a:t>显式</a:t>
            </a:r>
            <a:r>
              <a:rPr dirty="0" sz="2400">
                <a:latin typeface="微软雅黑"/>
                <a:cs typeface="微软雅黑"/>
              </a:rPr>
              <a:t>地</a:t>
            </a:r>
            <a:r>
              <a:rPr dirty="0" sz="2400" spc="-5">
                <a:latin typeface="微软雅黑"/>
                <a:cs typeface="微软雅黑"/>
              </a:rPr>
              <a:t>(</a:t>
            </a:r>
            <a:r>
              <a:rPr dirty="0" sz="2400">
                <a:latin typeface="微软雅黑"/>
                <a:cs typeface="微软雅黑"/>
              </a:rPr>
              <a:t>通过  </a:t>
            </a:r>
            <a:r>
              <a:rPr dirty="0" sz="2400" spc="-5">
                <a:latin typeface="微软雅黑"/>
                <a:cs typeface="微软雅黑"/>
              </a:rPr>
              <a:t>s</a:t>
            </a:r>
            <a:r>
              <a:rPr dirty="0" sz="2400">
                <a:latin typeface="微软雅黑"/>
                <a:cs typeface="微软雅黑"/>
              </a:rPr>
              <a:t>up</a:t>
            </a:r>
            <a:r>
              <a:rPr dirty="0" sz="2400" spc="-5">
                <a:latin typeface="微软雅黑"/>
                <a:cs typeface="微软雅黑"/>
              </a:rPr>
              <a:t>er</a:t>
            </a:r>
            <a:r>
              <a:rPr dirty="0" sz="2400">
                <a:latin typeface="微软雅黑"/>
                <a:cs typeface="微软雅黑"/>
              </a:rPr>
              <a:t>引用</a:t>
            </a:r>
            <a:r>
              <a:rPr dirty="0" sz="2400" spc="-5">
                <a:latin typeface="微软雅黑"/>
                <a:cs typeface="微软雅黑"/>
              </a:rPr>
              <a:t>)</a:t>
            </a:r>
            <a:r>
              <a:rPr dirty="0" sz="2400">
                <a:latin typeface="微软雅黑"/>
                <a:cs typeface="微软雅黑"/>
              </a:rPr>
              <a:t>或</a:t>
            </a:r>
            <a:r>
              <a:rPr dirty="0" sz="2400" b="1">
                <a:solidFill>
                  <a:srgbClr val="ED7A07"/>
                </a:solidFill>
                <a:latin typeface="微软雅黑"/>
                <a:cs typeface="微软雅黑"/>
              </a:rPr>
              <a:t>隐式</a:t>
            </a:r>
            <a:r>
              <a:rPr dirty="0" sz="2400">
                <a:latin typeface="微软雅黑"/>
                <a:cs typeface="微软雅黑"/>
              </a:rPr>
              <a:t>地</a:t>
            </a:r>
            <a:r>
              <a:rPr dirty="0" sz="2400" spc="-5">
                <a:latin typeface="微软雅黑"/>
                <a:cs typeface="微软雅黑"/>
              </a:rPr>
              <a:t>(</a:t>
            </a:r>
            <a:r>
              <a:rPr dirty="0" sz="2400">
                <a:latin typeface="微软雅黑"/>
                <a:cs typeface="微软雅黑"/>
              </a:rPr>
              <a:t>调用父类默认的无参数构造方法</a:t>
            </a:r>
            <a:endParaRPr sz="2400">
              <a:latin typeface="微软雅黑"/>
              <a:cs typeface="微软雅黑"/>
            </a:endParaRPr>
          </a:p>
          <a:p>
            <a:pPr marL="927100">
              <a:lnSpc>
                <a:spcPts val="2550"/>
              </a:lnSpc>
            </a:pPr>
            <a:r>
              <a:rPr dirty="0" sz="2400" spc="-5">
                <a:latin typeface="微软雅黑"/>
                <a:cs typeface="微软雅黑"/>
              </a:rPr>
              <a:t>)</a:t>
            </a:r>
            <a:r>
              <a:rPr dirty="0" sz="2400">
                <a:latin typeface="微软雅黑"/>
                <a:cs typeface="微软雅黑"/>
              </a:rPr>
              <a:t>调用其直接父类的构造方法。</a:t>
            </a:r>
            <a:endParaRPr sz="2400">
              <a:latin typeface="微软雅黑"/>
              <a:cs typeface="微软雅黑"/>
            </a:endParaRPr>
          </a:p>
          <a:p>
            <a:pPr algn="just" lvl="1" marL="927100" marR="106680" indent="-171450">
              <a:lnSpc>
                <a:spcPts val="2590"/>
              </a:lnSpc>
              <a:spcBef>
                <a:spcPts val="414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2400">
                <a:latin typeface="微软雅黑"/>
                <a:cs typeface="微软雅黑"/>
              </a:rPr>
              <a:t>类似地，如果父类派生于另一个类，则要求父类的构 造方法调用上一级类的构造方法，依此类推。调用请 求中，最先调用的一定是</a:t>
            </a:r>
            <a:r>
              <a:rPr dirty="0" sz="2400" spc="-5">
                <a:latin typeface="微软雅黑"/>
                <a:cs typeface="微软雅黑"/>
              </a:rPr>
              <a:t>Object</a:t>
            </a:r>
            <a:r>
              <a:rPr dirty="0" sz="2400">
                <a:latin typeface="微软雅黑"/>
                <a:cs typeface="微软雅黑"/>
              </a:rPr>
              <a:t>类的构造方法。</a:t>
            </a:r>
            <a:endParaRPr sz="2400">
              <a:latin typeface="微软雅黑"/>
              <a:cs typeface="微软雅黑"/>
            </a:endParaRPr>
          </a:p>
          <a:p>
            <a:pPr algn="just" lvl="1" marL="927100" indent="-1714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927100" algn="l"/>
              </a:tabLst>
            </a:pPr>
            <a:r>
              <a:rPr dirty="0" sz="2400">
                <a:latin typeface="微软雅黑"/>
                <a:cs typeface="微软雅黑"/>
              </a:rPr>
              <a:t>创建对象的过程：先父后子。</a:t>
            </a:r>
            <a:endParaRPr sz="2400">
              <a:latin typeface="微软雅黑"/>
              <a:cs typeface="微软雅黑"/>
            </a:endParaRPr>
          </a:p>
          <a:p>
            <a:pPr marL="1129665" marR="816610">
              <a:lnSpc>
                <a:spcPct val="101000"/>
              </a:lnSpc>
              <a:spcBef>
                <a:spcPts val="197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When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you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create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an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object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 the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derived class,  it contains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subobject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 the base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29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32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88595" y="1481454"/>
            <a:ext cx="7815580" cy="6330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39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5-8</a:t>
            </a:r>
            <a:r>
              <a:rPr dirty="0" sz="2100">
                <a:latin typeface="微软雅黑"/>
                <a:cs typeface="微软雅黑"/>
              </a:rPr>
              <a:t>】已知圆</a:t>
            </a:r>
            <a:r>
              <a:rPr dirty="0" sz="2100" spc="-10">
                <a:latin typeface="微软雅黑"/>
                <a:cs typeface="微软雅黑"/>
              </a:rPr>
              <a:t>Circle→</a:t>
            </a:r>
            <a:r>
              <a:rPr dirty="0" sz="2100">
                <a:latin typeface="微软雅黑"/>
                <a:cs typeface="微软雅黑"/>
              </a:rPr>
              <a:t>椭圆</a:t>
            </a:r>
            <a:r>
              <a:rPr dirty="0" sz="2100" spc="-5">
                <a:latin typeface="微软雅黑"/>
                <a:cs typeface="微软雅黑"/>
              </a:rPr>
              <a:t>Ellipse→</a:t>
            </a:r>
            <a:r>
              <a:rPr dirty="0" sz="2100">
                <a:latin typeface="微软雅黑"/>
                <a:cs typeface="微软雅黑"/>
              </a:rPr>
              <a:t>形状</a:t>
            </a:r>
            <a:r>
              <a:rPr dirty="0" sz="2100" spc="-5">
                <a:latin typeface="微软雅黑"/>
                <a:cs typeface="微软雅黑"/>
              </a:rPr>
              <a:t>Shape</a:t>
            </a:r>
            <a:r>
              <a:rPr dirty="0" sz="2100">
                <a:latin typeface="微软雅黑"/>
                <a:cs typeface="微软雅黑"/>
              </a:rPr>
              <a:t>的继承关系，查 看</a:t>
            </a:r>
            <a:r>
              <a:rPr dirty="0" sz="2100" spc="-10">
                <a:latin typeface="微软雅黑"/>
                <a:cs typeface="微软雅黑"/>
              </a:rPr>
              <a:t>Circle</a:t>
            </a:r>
            <a:r>
              <a:rPr dirty="0" sz="2100">
                <a:latin typeface="微软雅黑"/>
                <a:cs typeface="微软雅黑"/>
              </a:rPr>
              <a:t>对象构建的过程。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2302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3</a:t>
            </a:r>
            <a:r>
              <a:rPr dirty="0" sz="2100"/>
              <a:t>.1	子类对象的构造过程</a:t>
            </a:r>
            <a:endParaRPr sz="2100"/>
          </a:p>
        </p:txBody>
      </p:sp>
      <p:sp>
        <p:nvSpPr>
          <p:cNvPr id="24" name="object 24"/>
          <p:cNvSpPr/>
          <p:nvPr/>
        </p:nvSpPr>
        <p:spPr>
          <a:xfrm>
            <a:off x="867867" y="2758681"/>
            <a:ext cx="1188085" cy="375920"/>
          </a:xfrm>
          <a:custGeom>
            <a:avLst/>
            <a:gdLst/>
            <a:ahLst/>
            <a:cxnLst/>
            <a:rect l="l" t="t" r="r" b="b"/>
            <a:pathLst>
              <a:path w="1188085" h="375919">
                <a:moveTo>
                  <a:pt x="0" y="0"/>
                </a:moveTo>
                <a:lnTo>
                  <a:pt x="1188046" y="0"/>
                </a:lnTo>
                <a:lnTo>
                  <a:pt x="1188046" y="375551"/>
                </a:lnTo>
                <a:lnTo>
                  <a:pt x="0" y="375551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67867" y="2758681"/>
            <a:ext cx="1188085" cy="375920"/>
          </a:xfrm>
          <a:custGeom>
            <a:avLst/>
            <a:gdLst/>
            <a:ahLst/>
            <a:cxnLst/>
            <a:rect l="l" t="t" r="r" b="b"/>
            <a:pathLst>
              <a:path w="1188085" h="375919">
                <a:moveTo>
                  <a:pt x="0" y="0"/>
                </a:moveTo>
                <a:lnTo>
                  <a:pt x="1188046" y="0"/>
                </a:lnTo>
                <a:lnTo>
                  <a:pt x="1188046" y="375551"/>
                </a:lnTo>
                <a:lnTo>
                  <a:pt x="0" y="375551"/>
                </a:lnTo>
                <a:lnTo>
                  <a:pt x="0" y="0"/>
                </a:lnTo>
                <a:close/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57017" y="2758681"/>
            <a:ext cx="1199515" cy="179705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325"/>
              </a:spcBef>
            </a:pPr>
            <a:r>
              <a:rPr dirty="0" sz="700" b="1">
                <a:latin typeface="Tahoma"/>
                <a:cs typeface="Tahoma"/>
              </a:rPr>
              <a:t>java.lang.Object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67867" y="2938297"/>
            <a:ext cx="1196340" cy="0"/>
          </a:xfrm>
          <a:custGeom>
            <a:avLst/>
            <a:gdLst/>
            <a:ahLst/>
            <a:cxnLst/>
            <a:rect l="l" t="t" r="r" b="b"/>
            <a:pathLst>
              <a:path w="1196339" h="0">
                <a:moveTo>
                  <a:pt x="0" y="0"/>
                </a:moveTo>
                <a:lnTo>
                  <a:pt x="1196187" y="0"/>
                </a:lnTo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67867" y="3011779"/>
            <a:ext cx="1196340" cy="0"/>
          </a:xfrm>
          <a:custGeom>
            <a:avLst/>
            <a:gdLst/>
            <a:ahLst/>
            <a:cxnLst/>
            <a:rect l="l" t="t" r="r" b="b"/>
            <a:pathLst>
              <a:path w="1196339" h="0">
                <a:moveTo>
                  <a:pt x="0" y="0"/>
                </a:moveTo>
                <a:lnTo>
                  <a:pt x="1196187" y="0"/>
                </a:lnTo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07479" y="4391545"/>
            <a:ext cx="1774189" cy="971550"/>
          </a:xfrm>
          <a:custGeom>
            <a:avLst/>
            <a:gdLst/>
            <a:ahLst/>
            <a:cxnLst/>
            <a:rect l="l" t="t" r="r" b="b"/>
            <a:pathLst>
              <a:path w="1774189" h="971550">
                <a:moveTo>
                  <a:pt x="0" y="0"/>
                </a:moveTo>
                <a:lnTo>
                  <a:pt x="1773936" y="0"/>
                </a:lnTo>
                <a:lnTo>
                  <a:pt x="1773936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7479" y="4391545"/>
            <a:ext cx="1774189" cy="971550"/>
          </a:xfrm>
          <a:custGeom>
            <a:avLst/>
            <a:gdLst/>
            <a:ahLst/>
            <a:cxnLst/>
            <a:rect l="l" t="t" r="r" b="b"/>
            <a:pathLst>
              <a:path w="1774189" h="971550">
                <a:moveTo>
                  <a:pt x="0" y="0"/>
                </a:moveTo>
                <a:lnTo>
                  <a:pt x="1773936" y="0"/>
                </a:lnTo>
                <a:lnTo>
                  <a:pt x="1773936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07479" y="4391545"/>
            <a:ext cx="1774189" cy="179705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325"/>
              </a:spcBef>
            </a:pPr>
            <a:r>
              <a:rPr dirty="0" sz="700" spc="-15" b="1">
                <a:latin typeface="Tahoma"/>
                <a:cs typeface="Tahoma"/>
              </a:rPr>
              <a:t>Ellipse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7479" y="4571149"/>
            <a:ext cx="1774189" cy="285750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40640">
              <a:lnSpc>
                <a:spcPts val="840"/>
              </a:lnSpc>
              <a:spcBef>
                <a:spcPts val="325"/>
              </a:spcBef>
            </a:pPr>
            <a:r>
              <a:rPr dirty="0" sz="700" spc="5">
                <a:latin typeface="Tahoma"/>
                <a:cs typeface="Tahoma"/>
              </a:rPr>
              <a:t>-a:</a:t>
            </a:r>
            <a:r>
              <a:rPr dirty="0" sz="700" spc="-110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double</a:t>
            </a:r>
            <a:endParaRPr sz="700">
              <a:latin typeface="Tahoma"/>
              <a:cs typeface="Tahoma"/>
            </a:endParaRPr>
          </a:p>
          <a:p>
            <a:pPr marL="40640">
              <a:lnSpc>
                <a:spcPts val="840"/>
              </a:lnSpc>
            </a:pPr>
            <a:r>
              <a:rPr dirty="0" sz="700" spc="-5">
                <a:latin typeface="Tahoma"/>
                <a:cs typeface="Tahoma"/>
              </a:rPr>
              <a:t>-b:</a:t>
            </a:r>
            <a:r>
              <a:rPr dirty="0" sz="700" spc="-100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double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7479" y="4856899"/>
            <a:ext cx="1774189" cy="506730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40640">
              <a:lnSpc>
                <a:spcPts val="840"/>
              </a:lnSpc>
              <a:spcBef>
                <a:spcPts val="325"/>
              </a:spcBef>
            </a:pPr>
            <a:r>
              <a:rPr dirty="0" sz="700" spc="-15">
                <a:latin typeface="Tahoma"/>
                <a:cs typeface="Tahoma"/>
              </a:rPr>
              <a:t>+Ellipse()</a:t>
            </a:r>
            <a:endParaRPr sz="700">
              <a:latin typeface="Tahoma"/>
              <a:cs typeface="Tahoma"/>
            </a:endParaRPr>
          </a:p>
          <a:p>
            <a:pPr marL="40640">
              <a:lnSpc>
                <a:spcPts val="835"/>
              </a:lnSpc>
            </a:pPr>
            <a:r>
              <a:rPr dirty="0" sz="700" spc="-15">
                <a:latin typeface="Tahoma"/>
                <a:cs typeface="Tahoma"/>
              </a:rPr>
              <a:t>+Ellipse(name:</a:t>
            </a:r>
            <a:r>
              <a:rPr dirty="0" sz="700" spc="-25">
                <a:latin typeface="Tahoma"/>
                <a:cs typeface="Tahoma"/>
              </a:rPr>
              <a:t> </a:t>
            </a:r>
            <a:r>
              <a:rPr dirty="0" sz="700" spc="-5">
                <a:latin typeface="Tahoma"/>
                <a:cs typeface="Tahoma"/>
              </a:rPr>
              <a:t>String)</a:t>
            </a:r>
            <a:endParaRPr sz="700">
              <a:latin typeface="Tahoma"/>
              <a:cs typeface="Tahoma"/>
            </a:endParaRPr>
          </a:p>
          <a:p>
            <a:pPr marL="40640">
              <a:lnSpc>
                <a:spcPts val="835"/>
              </a:lnSpc>
            </a:pPr>
            <a:r>
              <a:rPr dirty="0" sz="700" spc="-15">
                <a:latin typeface="Tahoma"/>
                <a:cs typeface="Tahoma"/>
              </a:rPr>
              <a:t>+Ellipse(name: </a:t>
            </a:r>
            <a:r>
              <a:rPr dirty="0" sz="700" spc="-5">
                <a:latin typeface="Tahoma"/>
                <a:cs typeface="Tahoma"/>
              </a:rPr>
              <a:t>String, </a:t>
            </a:r>
            <a:r>
              <a:rPr dirty="0" sz="700" spc="5">
                <a:latin typeface="Tahoma"/>
                <a:cs typeface="Tahoma"/>
              </a:rPr>
              <a:t>a: </a:t>
            </a:r>
            <a:r>
              <a:rPr dirty="0" sz="700" spc="-10">
                <a:latin typeface="Tahoma"/>
                <a:cs typeface="Tahoma"/>
              </a:rPr>
              <a:t>double, </a:t>
            </a:r>
            <a:r>
              <a:rPr dirty="0" sz="700" spc="-5">
                <a:latin typeface="Tahoma"/>
                <a:cs typeface="Tahoma"/>
              </a:rPr>
              <a:t>b:</a:t>
            </a:r>
            <a:r>
              <a:rPr dirty="0" sz="700" spc="5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double)</a:t>
            </a:r>
            <a:endParaRPr sz="700">
              <a:latin typeface="Tahoma"/>
              <a:cs typeface="Tahoma"/>
            </a:endParaRPr>
          </a:p>
          <a:p>
            <a:pPr marL="40640">
              <a:lnSpc>
                <a:spcPts val="840"/>
              </a:lnSpc>
            </a:pPr>
            <a:r>
              <a:rPr dirty="0" sz="700" spc="5">
                <a:latin typeface="Tahoma"/>
                <a:cs typeface="Tahoma"/>
              </a:rPr>
              <a:t>+getArea():</a:t>
            </a:r>
            <a:r>
              <a:rPr dirty="0" sz="700" spc="-25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double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35317" y="3444481"/>
            <a:ext cx="1285875" cy="669925"/>
          </a:xfrm>
          <a:custGeom>
            <a:avLst/>
            <a:gdLst/>
            <a:ahLst/>
            <a:cxnLst/>
            <a:rect l="l" t="t" r="r" b="b"/>
            <a:pathLst>
              <a:path w="1285875" h="669925">
                <a:moveTo>
                  <a:pt x="0" y="0"/>
                </a:moveTo>
                <a:lnTo>
                  <a:pt x="1285697" y="0"/>
                </a:lnTo>
                <a:lnTo>
                  <a:pt x="1285697" y="669467"/>
                </a:lnTo>
                <a:lnTo>
                  <a:pt x="0" y="669467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35317" y="3444481"/>
            <a:ext cx="1285875" cy="669925"/>
          </a:xfrm>
          <a:custGeom>
            <a:avLst/>
            <a:gdLst/>
            <a:ahLst/>
            <a:cxnLst/>
            <a:rect l="l" t="t" r="r" b="b"/>
            <a:pathLst>
              <a:path w="1285875" h="669925">
                <a:moveTo>
                  <a:pt x="0" y="0"/>
                </a:moveTo>
                <a:lnTo>
                  <a:pt x="1285697" y="0"/>
                </a:lnTo>
                <a:lnTo>
                  <a:pt x="1285697" y="669467"/>
                </a:lnTo>
                <a:lnTo>
                  <a:pt x="0" y="669467"/>
                </a:lnTo>
                <a:lnTo>
                  <a:pt x="0" y="0"/>
                </a:lnTo>
                <a:close/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857017" y="3444481"/>
            <a:ext cx="1264285" cy="179705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ctr" marR="9525">
              <a:lnSpc>
                <a:spcPct val="100000"/>
              </a:lnSpc>
              <a:spcBef>
                <a:spcPts val="325"/>
              </a:spcBef>
            </a:pPr>
            <a:r>
              <a:rPr dirty="0" sz="700" spc="5" b="1">
                <a:latin typeface="Tahoma"/>
                <a:cs typeface="Tahoma"/>
              </a:rPr>
              <a:t>Shape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7017" y="3624097"/>
            <a:ext cx="1264285" cy="179705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325"/>
              </a:spcBef>
            </a:pPr>
            <a:r>
              <a:rPr dirty="0" sz="700" spc="-10">
                <a:latin typeface="Tahoma"/>
                <a:cs typeface="Tahoma"/>
              </a:rPr>
              <a:t>-name:</a:t>
            </a:r>
            <a:r>
              <a:rPr dirty="0" sz="700" spc="-25">
                <a:latin typeface="Tahoma"/>
                <a:cs typeface="Tahoma"/>
              </a:rPr>
              <a:t> </a:t>
            </a:r>
            <a:r>
              <a:rPr dirty="0" sz="700" spc="-5">
                <a:latin typeface="Tahoma"/>
                <a:cs typeface="Tahoma"/>
              </a:rPr>
              <a:t>String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7017" y="3803713"/>
            <a:ext cx="1264285" cy="310515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8415">
              <a:lnSpc>
                <a:spcPts val="840"/>
              </a:lnSpc>
              <a:spcBef>
                <a:spcPts val="325"/>
              </a:spcBef>
            </a:pPr>
            <a:r>
              <a:rPr dirty="0" sz="700" spc="-5">
                <a:latin typeface="Tahoma"/>
                <a:cs typeface="Tahoma"/>
              </a:rPr>
              <a:t>+Shape()</a:t>
            </a:r>
            <a:endParaRPr sz="700">
              <a:latin typeface="Tahoma"/>
              <a:cs typeface="Tahoma"/>
            </a:endParaRPr>
          </a:p>
          <a:p>
            <a:pPr marL="18415">
              <a:lnSpc>
                <a:spcPts val="840"/>
              </a:lnSpc>
            </a:pPr>
            <a:r>
              <a:rPr dirty="0" sz="700" spc="-10">
                <a:latin typeface="Tahoma"/>
                <a:cs typeface="Tahoma"/>
              </a:rPr>
              <a:t>+Shape(name:</a:t>
            </a:r>
            <a:r>
              <a:rPr dirty="0" sz="700" spc="-25">
                <a:latin typeface="Tahoma"/>
                <a:cs typeface="Tahoma"/>
              </a:rPr>
              <a:t> </a:t>
            </a:r>
            <a:r>
              <a:rPr dirty="0" sz="700" spc="-5">
                <a:latin typeface="Tahoma"/>
                <a:cs typeface="Tahoma"/>
              </a:rPr>
              <a:t>String)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67867" y="5632513"/>
            <a:ext cx="1310640" cy="735330"/>
          </a:xfrm>
          <a:custGeom>
            <a:avLst/>
            <a:gdLst/>
            <a:ahLst/>
            <a:cxnLst/>
            <a:rect l="l" t="t" r="r" b="b"/>
            <a:pathLst>
              <a:path w="1310639" h="735329">
                <a:moveTo>
                  <a:pt x="0" y="0"/>
                </a:moveTo>
                <a:lnTo>
                  <a:pt x="1310106" y="0"/>
                </a:lnTo>
                <a:lnTo>
                  <a:pt x="1310106" y="734783"/>
                </a:lnTo>
                <a:lnTo>
                  <a:pt x="0" y="734783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67867" y="5632513"/>
            <a:ext cx="1310640" cy="735330"/>
          </a:xfrm>
          <a:custGeom>
            <a:avLst/>
            <a:gdLst/>
            <a:ahLst/>
            <a:cxnLst/>
            <a:rect l="l" t="t" r="r" b="b"/>
            <a:pathLst>
              <a:path w="1310639" h="735329">
                <a:moveTo>
                  <a:pt x="0" y="0"/>
                </a:moveTo>
                <a:lnTo>
                  <a:pt x="1310106" y="0"/>
                </a:lnTo>
                <a:lnTo>
                  <a:pt x="1310106" y="734783"/>
                </a:lnTo>
                <a:lnTo>
                  <a:pt x="0" y="734783"/>
                </a:lnTo>
                <a:lnTo>
                  <a:pt x="0" y="0"/>
                </a:lnTo>
                <a:close/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857017" y="5632513"/>
            <a:ext cx="1321435" cy="179705"/>
          </a:xfrm>
          <a:prstGeom prst="rect">
            <a:avLst/>
          </a:prstGeom>
          <a:solidFill>
            <a:srgbClr val="FFFFB8"/>
          </a:solidFill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algn="ctr" marL="22860">
              <a:lnSpc>
                <a:spcPct val="100000"/>
              </a:lnSpc>
              <a:spcBef>
                <a:spcPts val="325"/>
              </a:spcBef>
            </a:pPr>
            <a:r>
              <a:rPr dirty="0" sz="700" spc="-10" b="1">
                <a:latin typeface="Tahoma"/>
                <a:cs typeface="Tahoma"/>
              </a:rPr>
              <a:t>Circle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67867" y="5812129"/>
            <a:ext cx="1318260" cy="0"/>
          </a:xfrm>
          <a:custGeom>
            <a:avLst/>
            <a:gdLst/>
            <a:ahLst/>
            <a:cxnLst/>
            <a:rect l="l" t="t" r="r" b="b"/>
            <a:pathLst>
              <a:path w="1318260" h="0">
                <a:moveTo>
                  <a:pt x="0" y="0"/>
                </a:moveTo>
                <a:lnTo>
                  <a:pt x="1318247" y="0"/>
                </a:lnTo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57017" y="5885599"/>
            <a:ext cx="1321435" cy="481965"/>
          </a:xfrm>
          <a:prstGeom prst="rect">
            <a:avLst/>
          </a:prstGeom>
          <a:ln w="8153">
            <a:solidFill>
              <a:srgbClr val="8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51435">
              <a:lnSpc>
                <a:spcPts val="840"/>
              </a:lnSpc>
              <a:spcBef>
                <a:spcPts val="325"/>
              </a:spcBef>
            </a:pPr>
            <a:r>
              <a:rPr dirty="0" sz="700" spc="-5">
                <a:latin typeface="Tahoma"/>
                <a:cs typeface="Tahoma"/>
              </a:rPr>
              <a:t>+Circle()</a:t>
            </a:r>
            <a:endParaRPr sz="700">
              <a:latin typeface="Tahoma"/>
              <a:cs typeface="Tahoma"/>
            </a:endParaRPr>
          </a:p>
          <a:p>
            <a:pPr marL="51435">
              <a:lnSpc>
                <a:spcPts val="835"/>
              </a:lnSpc>
            </a:pPr>
            <a:r>
              <a:rPr dirty="0" sz="700" spc="-10">
                <a:latin typeface="Tahoma"/>
                <a:cs typeface="Tahoma"/>
              </a:rPr>
              <a:t>+Circle(name: </a:t>
            </a:r>
            <a:r>
              <a:rPr dirty="0" sz="700" spc="-5">
                <a:latin typeface="Tahoma"/>
                <a:cs typeface="Tahoma"/>
              </a:rPr>
              <a:t>String, </a:t>
            </a:r>
            <a:r>
              <a:rPr dirty="0" sz="700">
                <a:latin typeface="Tahoma"/>
                <a:cs typeface="Tahoma"/>
              </a:rPr>
              <a:t>r:</a:t>
            </a:r>
            <a:r>
              <a:rPr dirty="0" sz="700" spc="-30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double)</a:t>
            </a:r>
            <a:endParaRPr sz="700">
              <a:latin typeface="Tahoma"/>
              <a:cs typeface="Tahoma"/>
            </a:endParaRPr>
          </a:p>
          <a:p>
            <a:pPr marL="51435">
              <a:lnSpc>
                <a:spcPts val="840"/>
              </a:lnSpc>
            </a:pPr>
            <a:r>
              <a:rPr dirty="0" sz="700" spc="5">
                <a:latin typeface="Tahoma"/>
                <a:cs typeface="Tahoma"/>
              </a:rPr>
              <a:t>+getArea():</a:t>
            </a:r>
            <a:r>
              <a:rPr dirty="0" sz="700" spc="-25">
                <a:latin typeface="Tahoma"/>
                <a:cs typeface="Tahoma"/>
              </a:rPr>
              <a:t> </a:t>
            </a:r>
            <a:r>
              <a:rPr dirty="0" sz="700" spc="-10">
                <a:latin typeface="Tahoma"/>
                <a:cs typeface="Tahoma"/>
              </a:rPr>
              <a:t>double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510715" y="5371249"/>
            <a:ext cx="8255" cy="261620"/>
          </a:xfrm>
          <a:custGeom>
            <a:avLst/>
            <a:gdLst/>
            <a:ahLst/>
            <a:cxnLst/>
            <a:rect l="l" t="t" r="r" b="b"/>
            <a:pathLst>
              <a:path w="8255" h="261620">
                <a:moveTo>
                  <a:pt x="8140" y="261264"/>
                </a:moveTo>
                <a:lnTo>
                  <a:pt x="0" y="0"/>
                </a:lnTo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449679" y="5367172"/>
            <a:ext cx="138353" cy="1714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486306" y="4122115"/>
            <a:ext cx="0" cy="269875"/>
          </a:xfrm>
          <a:custGeom>
            <a:avLst/>
            <a:gdLst/>
            <a:ahLst/>
            <a:cxnLst/>
            <a:rect l="l" t="t" r="r" b="b"/>
            <a:pathLst>
              <a:path w="0" h="269875">
                <a:moveTo>
                  <a:pt x="0" y="269430"/>
                </a:moveTo>
                <a:lnTo>
                  <a:pt x="0" y="0"/>
                </a:lnTo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417129" y="4118038"/>
            <a:ext cx="138353" cy="1714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461897" y="3142399"/>
            <a:ext cx="8255" cy="302260"/>
          </a:xfrm>
          <a:custGeom>
            <a:avLst/>
            <a:gdLst/>
            <a:ahLst/>
            <a:cxnLst/>
            <a:rect l="l" t="t" r="r" b="b"/>
            <a:pathLst>
              <a:path w="8255" h="302260">
                <a:moveTo>
                  <a:pt x="8140" y="302082"/>
                </a:moveTo>
                <a:lnTo>
                  <a:pt x="0" y="0"/>
                </a:lnTo>
              </a:path>
            </a:pathLst>
          </a:custGeom>
          <a:ln w="81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400860" y="3138322"/>
            <a:ext cx="130213" cy="1714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743200" y="2371344"/>
            <a:ext cx="5760720" cy="439978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739542" y="2367419"/>
            <a:ext cx="5768340" cy="4407535"/>
          </a:xfrm>
          <a:custGeom>
            <a:avLst/>
            <a:gdLst/>
            <a:ahLst/>
            <a:cxnLst/>
            <a:rect l="l" t="t" r="r" b="b"/>
            <a:pathLst>
              <a:path w="5768340" h="4407534">
                <a:moveTo>
                  <a:pt x="5768263" y="4407535"/>
                </a:moveTo>
                <a:lnTo>
                  <a:pt x="0" y="4407535"/>
                </a:lnTo>
                <a:lnTo>
                  <a:pt x="0" y="0"/>
                </a:lnTo>
                <a:lnTo>
                  <a:pt x="5768263" y="0"/>
                </a:lnTo>
                <a:lnTo>
                  <a:pt x="5768263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4399915"/>
                </a:lnTo>
                <a:lnTo>
                  <a:pt x="3810" y="4399915"/>
                </a:lnTo>
                <a:lnTo>
                  <a:pt x="7620" y="4403724"/>
                </a:lnTo>
                <a:lnTo>
                  <a:pt x="5768263" y="4403725"/>
                </a:lnTo>
                <a:lnTo>
                  <a:pt x="5768263" y="4407535"/>
                </a:lnTo>
                <a:close/>
              </a:path>
              <a:path w="5768340" h="4407534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5768340" h="4407534">
                <a:moveTo>
                  <a:pt x="5760643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5760643" y="3810"/>
                </a:lnTo>
                <a:lnTo>
                  <a:pt x="5760643" y="7619"/>
                </a:lnTo>
                <a:close/>
              </a:path>
              <a:path w="5768340" h="4407534">
                <a:moveTo>
                  <a:pt x="5760643" y="4403724"/>
                </a:moveTo>
                <a:lnTo>
                  <a:pt x="5760643" y="3810"/>
                </a:lnTo>
                <a:lnTo>
                  <a:pt x="5764453" y="7619"/>
                </a:lnTo>
                <a:lnTo>
                  <a:pt x="5768263" y="7619"/>
                </a:lnTo>
                <a:lnTo>
                  <a:pt x="5768263" y="4399915"/>
                </a:lnTo>
                <a:lnTo>
                  <a:pt x="5764453" y="4399915"/>
                </a:lnTo>
                <a:lnTo>
                  <a:pt x="5760643" y="4403724"/>
                </a:lnTo>
                <a:close/>
              </a:path>
              <a:path w="5768340" h="4407534">
                <a:moveTo>
                  <a:pt x="5768263" y="7619"/>
                </a:moveTo>
                <a:lnTo>
                  <a:pt x="5764453" y="7619"/>
                </a:lnTo>
                <a:lnTo>
                  <a:pt x="5760643" y="3810"/>
                </a:lnTo>
                <a:lnTo>
                  <a:pt x="5768263" y="3810"/>
                </a:lnTo>
                <a:lnTo>
                  <a:pt x="5768263" y="7619"/>
                </a:lnTo>
                <a:close/>
              </a:path>
              <a:path w="5768340" h="4407534">
                <a:moveTo>
                  <a:pt x="7620" y="4403724"/>
                </a:moveTo>
                <a:lnTo>
                  <a:pt x="3810" y="4399915"/>
                </a:lnTo>
                <a:lnTo>
                  <a:pt x="7620" y="4399915"/>
                </a:lnTo>
                <a:lnTo>
                  <a:pt x="7620" y="4403724"/>
                </a:lnTo>
                <a:close/>
              </a:path>
              <a:path w="5768340" h="4407534">
                <a:moveTo>
                  <a:pt x="5760643" y="4403724"/>
                </a:moveTo>
                <a:lnTo>
                  <a:pt x="7620" y="4403724"/>
                </a:lnTo>
                <a:lnTo>
                  <a:pt x="7620" y="4399915"/>
                </a:lnTo>
                <a:lnTo>
                  <a:pt x="5760643" y="4399915"/>
                </a:lnTo>
                <a:lnTo>
                  <a:pt x="5760643" y="4403724"/>
                </a:lnTo>
                <a:close/>
              </a:path>
              <a:path w="5768340" h="4407534">
                <a:moveTo>
                  <a:pt x="5768263" y="4403725"/>
                </a:moveTo>
                <a:lnTo>
                  <a:pt x="5760643" y="4403724"/>
                </a:lnTo>
                <a:lnTo>
                  <a:pt x="5764453" y="4399915"/>
                </a:lnTo>
                <a:lnTo>
                  <a:pt x="5768263" y="4399915"/>
                </a:lnTo>
                <a:lnTo>
                  <a:pt x="5768263" y="44037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822092" y="2399804"/>
            <a:ext cx="269049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latin typeface="微软雅黑"/>
                <a:cs typeface="微软雅黑"/>
              </a:rPr>
              <a:t>public class </a:t>
            </a:r>
            <a:r>
              <a:rPr dirty="0" sz="1400" spc="-5">
                <a:latin typeface="微软雅黑"/>
                <a:cs typeface="微软雅黑"/>
              </a:rPr>
              <a:t>Shape</a:t>
            </a:r>
            <a:r>
              <a:rPr dirty="0" sz="1400" spc="-20">
                <a:latin typeface="微软雅黑"/>
                <a:cs typeface="微软雅黑"/>
              </a:rPr>
              <a:t> </a:t>
            </a:r>
            <a:r>
              <a:rPr dirty="0" sz="1400">
                <a:latin typeface="微软雅黑"/>
                <a:cs typeface="微软雅黑"/>
              </a:rPr>
              <a:t>{</a:t>
            </a:r>
            <a:endParaRPr sz="14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</a:pPr>
            <a:r>
              <a:rPr dirty="0" sz="1400" spc="-10" b="1">
                <a:latin typeface="微软雅黑"/>
                <a:cs typeface="微软雅黑"/>
              </a:rPr>
              <a:t>private </a:t>
            </a:r>
            <a:r>
              <a:rPr dirty="0" sz="1400" spc="-10">
                <a:latin typeface="微软雅黑"/>
                <a:cs typeface="微软雅黑"/>
              </a:rPr>
              <a:t>String</a:t>
            </a:r>
            <a:r>
              <a:rPr dirty="0" sz="1400" spc="-55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name;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36492" y="2826524"/>
            <a:ext cx="13836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latin typeface="微软雅黑"/>
                <a:cs typeface="微软雅黑"/>
              </a:rPr>
              <a:t>public </a:t>
            </a:r>
            <a:r>
              <a:rPr dirty="0" sz="1400" spc="-5">
                <a:latin typeface="微软雅黑"/>
                <a:cs typeface="微软雅黑"/>
              </a:rPr>
              <a:t>Shape()</a:t>
            </a:r>
            <a:r>
              <a:rPr dirty="0" sz="1400" spc="-60">
                <a:latin typeface="微软雅黑"/>
                <a:cs typeface="微软雅黑"/>
              </a:rPr>
              <a:t> </a:t>
            </a:r>
            <a:r>
              <a:rPr dirty="0" sz="1400">
                <a:latin typeface="微软雅黑"/>
                <a:cs typeface="微软雅黑"/>
              </a:rPr>
              <a:t>{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650892" y="3030971"/>
            <a:ext cx="265811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60">
                <a:latin typeface="微软雅黑"/>
                <a:cs typeface="微软雅黑"/>
              </a:rPr>
              <a:t>System.</a:t>
            </a:r>
            <a:r>
              <a:rPr dirty="0" sz="1450" spc="-60" i="1">
                <a:latin typeface="微软雅黑"/>
                <a:cs typeface="微软雅黑"/>
              </a:rPr>
              <a:t>out</a:t>
            </a:r>
            <a:r>
              <a:rPr dirty="0" sz="1400" spc="-60">
                <a:latin typeface="微软雅黑"/>
                <a:cs typeface="微软雅黑"/>
              </a:rPr>
              <a:t>.println("Shape()...");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36492" y="3253244"/>
            <a:ext cx="31559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}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400" spc="-5">
                <a:latin typeface="微软雅黑"/>
                <a:cs typeface="微软雅黑"/>
              </a:rPr>
              <a:t>…</a:t>
            </a:r>
            <a:r>
              <a:rPr dirty="0" sz="1400">
                <a:latin typeface="微软雅黑"/>
                <a:cs typeface="微软雅黑"/>
              </a:rPr>
              <a:t>…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22092" y="3679964"/>
            <a:ext cx="850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}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22092" y="3893324"/>
            <a:ext cx="306451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4925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latin typeface="微软雅黑"/>
                <a:cs typeface="微软雅黑"/>
              </a:rPr>
              <a:t>public class </a:t>
            </a:r>
            <a:r>
              <a:rPr dirty="0" sz="1400">
                <a:latin typeface="微软雅黑"/>
                <a:cs typeface="微软雅黑"/>
              </a:rPr>
              <a:t>Ellipse </a:t>
            </a:r>
            <a:r>
              <a:rPr dirty="0" sz="1400" spc="-5" b="1">
                <a:latin typeface="微软雅黑"/>
                <a:cs typeface="微软雅黑"/>
              </a:rPr>
              <a:t>extends</a:t>
            </a:r>
            <a:r>
              <a:rPr dirty="0" sz="1400" spc="-75" b="1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Shape{</a:t>
            </a:r>
            <a:endParaRPr sz="1400">
              <a:latin typeface="微软雅黑"/>
              <a:cs typeface="微软雅黑"/>
            </a:endParaRPr>
          </a:p>
          <a:p>
            <a:pPr algn="r" marR="73660">
              <a:lnSpc>
                <a:spcPct val="100000"/>
              </a:lnSpc>
            </a:pPr>
            <a:r>
              <a:rPr dirty="0" sz="1400" spc="-10" b="1">
                <a:latin typeface="微软雅黑"/>
                <a:cs typeface="微软雅黑"/>
              </a:rPr>
              <a:t>private</a:t>
            </a:r>
            <a:r>
              <a:rPr dirty="0" sz="1400" spc="-25" b="1">
                <a:latin typeface="微软雅黑"/>
                <a:cs typeface="微软雅黑"/>
              </a:rPr>
              <a:t> </a:t>
            </a:r>
            <a:r>
              <a:rPr dirty="0" sz="1400" spc="-5" b="1">
                <a:latin typeface="微软雅黑"/>
                <a:cs typeface="微软雅黑"/>
              </a:rPr>
              <a:t>double</a:t>
            </a:r>
            <a:r>
              <a:rPr dirty="0" sz="1400" spc="-25" b="1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a;</a:t>
            </a:r>
            <a:r>
              <a:rPr dirty="0" sz="1400" spc="-25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//</a:t>
            </a:r>
            <a:r>
              <a:rPr dirty="0" sz="1400">
                <a:latin typeface="微软雅黑"/>
                <a:cs typeface="微软雅黑"/>
              </a:rPr>
              <a:t>短</a:t>
            </a:r>
            <a:r>
              <a:rPr dirty="0" sz="1400" spc="5">
                <a:latin typeface="微软雅黑"/>
                <a:cs typeface="微软雅黑"/>
              </a:rPr>
              <a:t>轴</a:t>
            </a:r>
            <a:endParaRPr sz="1400">
              <a:latin typeface="微软雅黑"/>
              <a:cs typeface="微软雅黑"/>
            </a:endParaRPr>
          </a:p>
          <a:p>
            <a:pPr algn="r" marR="5080">
              <a:lnSpc>
                <a:spcPct val="100000"/>
              </a:lnSpc>
            </a:pPr>
            <a:r>
              <a:rPr dirty="0" sz="1400" spc="-10" b="1">
                <a:latin typeface="微软雅黑"/>
                <a:cs typeface="微软雅黑"/>
              </a:rPr>
              <a:t>private</a:t>
            </a:r>
            <a:r>
              <a:rPr dirty="0" sz="1400" spc="-20" b="1">
                <a:latin typeface="微软雅黑"/>
                <a:cs typeface="微软雅黑"/>
              </a:rPr>
              <a:t> </a:t>
            </a:r>
            <a:r>
              <a:rPr dirty="0" sz="1400" spc="-5" b="1">
                <a:latin typeface="微软雅黑"/>
                <a:cs typeface="微软雅黑"/>
              </a:rPr>
              <a:t>double</a:t>
            </a:r>
            <a:r>
              <a:rPr dirty="0" sz="1400" spc="-20" b="1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b;</a:t>
            </a:r>
            <a:r>
              <a:rPr dirty="0" sz="1400" spc="380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//</a:t>
            </a:r>
            <a:r>
              <a:rPr dirty="0" sz="1400">
                <a:latin typeface="微软雅黑"/>
                <a:cs typeface="微软雅黑"/>
              </a:rPr>
              <a:t>长</a:t>
            </a:r>
            <a:r>
              <a:rPr dirty="0" sz="1400" spc="5">
                <a:latin typeface="微软雅黑"/>
                <a:cs typeface="微软雅黑"/>
              </a:rPr>
              <a:t>轴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36492" y="4533404"/>
            <a:ext cx="13963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latin typeface="微软雅黑"/>
                <a:cs typeface="微软雅黑"/>
              </a:rPr>
              <a:t>public </a:t>
            </a:r>
            <a:r>
              <a:rPr dirty="0" sz="1400" spc="-5">
                <a:latin typeface="微软雅黑"/>
                <a:cs typeface="微软雅黑"/>
              </a:rPr>
              <a:t>Ellipse()</a:t>
            </a:r>
            <a:r>
              <a:rPr dirty="0" sz="1400" spc="-45">
                <a:latin typeface="微软雅黑"/>
                <a:cs typeface="微软雅黑"/>
              </a:rPr>
              <a:t> </a:t>
            </a:r>
            <a:r>
              <a:rPr dirty="0" sz="1400">
                <a:latin typeface="微软雅黑"/>
                <a:cs typeface="微软雅黑"/>
              </a:rPr>
              <a:t>{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50892" y="4737851"/>
            <a:ext cx="267081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60">
                <a:latin typeface="微软雅黑"/>
                <a:cs typeface="微软雅黑"/>
              </a:rPr>
              <a:t>System.</a:t>
            </a:r>
            <a:r>
              <a:rPr dirty="0" sz="1450" spc="-60" i="1">
                <a:latin typeface="微软雅黑"/>
                <a:cs typeface="微软雅黑"/>
              </a:rPr>
              <a:t>out</a:t>
            </a:r>
            <a:r>
              <a:rPr dirty="0" sz="1400" spc="-60">
                <a:latin typeface="微软雅黑"/>
                <a:cs typeface="微软雅黑"/>
              </a:rPr>
              <a:t>.println("Ellipse()...");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36492" y="4960124"/>
            <a:ext cx="31559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}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400" spc="-5">
                <a:latin typeface="微软雅黑"/>
                <a:cs typeface="微软雅黑"/>
              </a:rPr>
              <a:t>…</a:t>
            </a:r>
            <a:r>
              <a:rPr dirty="0" sz="1400">
                <a:latin typeface="微软雅黑"/>
                <a:cs typeface="微软雅黑"/>
              </a:rPr>
              <a:t>…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822092" y="5386844"/>
            <a:ext cx="850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}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22092" y="5600204"/>
            <a:ext cx="297878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latin typeface="微软雅黑"/>
                <a:cs typeface="微软雅黑"/>
              </a:rPr>
              <a:t>public class </a:t>
            </a:r>
            <a:r>
              <a:rPr dirty="0" sz="1400" spc="-5">
                <a:latin typeface="微软雅黑"/>
                <a:cs typeface="微软雅黑"/>
              </a:rPr>
              <a:t>Circle </a:t>
            </a:r>
            <a:r>
              <a:rPr dirty="0" sz="1400" spc="-5" b="1">
                <a:latin typeface="微软雅黑"/>
                <a:cs typeface="微软雅黑"/>
              </a:rPr>
              <a:t>extends</a:t>
            </a:r>
            <a:r>
              <a:rPr dirty="0" sz="1400" spc="-40" b="1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Ellipse{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36492" y="5813564"/>
            <a:ext cx="132778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latin typeface="微软雅黑"/>
                <a:cs typeface="微软雅黑"/>
              </a:rPr>
              <a:t>public </a:t>
            </a:r>
            <a:r>
              <a:rPr dirty="0" sz="1400" spc="-5">
                <a:latin typeface="微软雅黑"/>
                <a:cs typeface="微软雅黑"/>
              </a:rPr>
              <a:t>Circle()</a:t>
            </a:r>
            <a:r>
              <a:rPr dirty="0" sz="1400" spc="-70">
                <a:latin typeface="微软雅黑"/>
                <a:cs typeface="微软雅黑"/>
              </a:rPr>
              <a:t> </a:t>
            </a:r>
            <a:r>
              <a:rPr dirty="0" sz="1400">
                <a:latin typeface="微软雅黑"/>
                <a:cs typeface="微软雅黑"/>
              </a:rPr>
              <a:t>{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650892" y="6018011"/>
            <a:ext cx="2536825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60">
                <a:latin typeface="微软雅黑"/>
                <a:cs typeface="微软雅黑"/>
              </a:rPr>
              <a:t>System.</a:t>
            </a:r>
            <a:r>
              <a:rPr dirty="0" sz="1450" spc="-60" i="1">
                <a:latin typeface="微软雅黑"/>
                <a:cs typeface="微软雅黑"/>
              </a:rPr>
              <a:t>out</a:t>
            </a:r>
            <a:r>
              <a:rPr dirty="0" sz="1400" spc="-60">
                <a:latin typeface="微软雅黑"/>
                <a:cs typeface="微软雅黑"/>
              </a:rPr>
              <a:t>.println("Cicle()...");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736492" y="6240284"/>
            <a:ext cx="850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}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822092" y="6453644"/>
            <a:ext cx="850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}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90894" y="5545175"/>
            <a:ext cx="8426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sup</a:t>
            </a: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er()</a:t>
            </a: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90894" y="4399279"/>
            <a:ext cx="8426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sup</a:t>
            </a: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er()</a:t>
            </a: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18885" y="2689491"/>
            <a:ext cx="8426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sup</a:t>
            </a: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er()</a:t>
            </a: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2302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3</a:t>
            </a:r>
            <a:r>
              <a:rPr dirty="0" sz="2100"/>
              <a:t>.1	子类对象的构造过程</a:t>
            </a:r>
            <a:endParaRPr sz="2100"/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57200" y="3933444"/>
            <a:ext cx="8065134" cy="1169035"/>
          </a:xfrm>
          <a:prstGeom prst="rect">
            <a:avLst/>
          </a:prstGeom>
          <a:solidFill>
            <a:srgbClr val="CC0000"/>
          </a:solidFill>
        </p:spPr>
        <p:txBody>
          <a:bodyPr wrap="square" lIns="0" tIns="361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2800" b="1">
                <a:solidFill>
                  <a:srgbClr val="FFFFFF"/>
                </a:solidFill>
                <a:latin typeface="微软雅黑"/>
                <a:cs typeface="微软雅黑"/>
              </a:rPr>
              <a:t>为了避免错误，建议父类中至少定义一</a:t>
            </a:r>
            <a:r>
              <a:rPr dirty="0" sz="2800" spc="-5" b="1">
                <a:solidFill>
                  <a:srgbClr val="FFFFFF"/>
                </a:solidFill>
                <a:latin typeface="微软雅黑"/>
                <a:cs typeface="微软雅黑"/>
              </a:rPr>
              <a:t>个</a:t>
            </a:r>
            <a:endParaRPr sz="2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r>
              <a:rPr dirty="0" sz="2800" b="1">
                <a:solidFill>
                  <a:srgbClr val="FFFFFF"/>
                </a:solidFill>
                <a:latin typeface="微软雅黑"/>
                <a:cs typeface="微软雅黑"/>
              </a:rPr>
              <a:t>无参的构造方法</a:t>
            </a:r>
            <a:r>
              <a:rPr dirty="0" sz="2800" spc="-5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189" y="1293494"/>
            <a:ext cx="6781165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如果子类构造方法体中没有显式调用超类</a:t>
            </a:r>
            <a:r>
              <a:rPr dirty="0" sz="2800" spc="-5">
                <a:latin typeface="微软雅黑"/>
                <a:cs typeface="微软雅黑"/>
              </a:rPr>
              <a:t>构 </a:t>
            </a:r>
            <a:r>
              <a:rPr dirty="0" sz="2800">
                <a:latin typeface="微软雅黑"/>
                <a:cs typeface="微软雅黑"/>
              </a:rPr>
              <a:t>造方法，则系统在执行子类的构造器时自</a:t>
            </a:r>
            <a:r>
              <a:rPr dirty="0" sz="2800" spc="-5">
                <a:latin typeface="微软雅黑"/>
                <a:cs typeface="微软雅黑"/>
              </a:rPr>
              <a:t>动 </a:t>
            </a:r>
            <a:r>
              <a:rPr dirty="0" sz="2800">
                <a:latin typeface="微软雅黑"/>
                <a:cs typeface="微软雅黑"/>
              </a:rPr>
              <a:t>调用父类的无参构造器（自定义或默认的</a:t>
            </a:r>
            <a:r>
              <a:rPr dirty="0" sz="2800" spc="-5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2302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3</a:t>
            </a:r>
            <a:r>
              <a:rPr dirty="0" sz="2100"/>
              <a:t>.1	子类对象的构造过程</a:t>
            </a:r>
            <a:endParaRPr sz="21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35940" y="1717319"/>
            <a:ext cx="6071235" cy="3559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2000" spc="-5" b="1">
                <a:latin typeface="Consolas"/>
                <a:cs typeface="Consolas"/>
              </a:rPr>
              <a:t>Test</a:t>
            </a:r>
            <a:r>
              <a:rPr dirty="0" sz="2000" spc="-10" b="1">
                <a:latin typeface="Consolas"/>
                <a:cs typeface="Consolas"/>
              </a:rPr>
              <a:t> </a:t>
            </a:r>
            <a:r>
              <a:rPr dirty="0" sz="2000" b="1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Consolas"/>
              <a:cs typeface="Consolas"/>
            </a:endParaRPr>
          </a:p>
          <a:p>
            <a:pPr marL="927100" marR="5080" indent="-457200">
              <a:lnSpc>
                <a:spcPct val="103099"/>
              </a:lnSpc>
            </a:pPr>
            <a:r>
              <a:rPr dirty="0" sz="2000" spc="-5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2000" spc="-5" b="1">
                <a:latin typeface="Consolas"/>
                <a:cs typeface="Consolas"/>
              </a:rPr>
              <a:t>main(String[] </a:t>
            </a:r>
            <a:r>
              <a:rPr dirty="0" sz="2000" spc="-5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2000" spc="-5" b="1">
                <a:latin typeface="Consolas"/>
                <a:cs typeface="Consolas"/>
              </a:rPr>
              <a:t>) </a:t>
            </a:r>
            <a:r>
              <a:rPr dirty="0" sz="2000" b="1">
                <a:latin typeface="Consolas"/>
                <a:cs typeface="Consolas"/>
              </a:rPr>
              <a:t>{  </a:t>
            </a:r>
            <a:r>
              <a:rPr dirty="0" sz="2000" spc="-5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2000" spc="-1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2000" spc="-5" b="1">
                <a:latin typeface="Consolas"/>
                <a:cs typeface="Consolas"/>
              </a:rPr>
              <a:t>Circle(</a:t>
            </a:r>
            <a:r>
              <a:rPr dirty="0" sz="2000" spc="-5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2000" b="1">
                <a:solidFill>
                  <a:srgbClr val="2A00FF"/>
                </a:solidFill>
                <a:latin typeface="微软雅黑"/>
                <a:cs typeface="微软雅黑"/>
              </a:rPr>
              <a:t>大圆</a:t>
            </a:r>
            <a:r>
              <a:rPr dirty="0" sz="2000" spc="-5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2000" spc="-5" b="1">
                <a:latin typeface="Consolas"/>
                <a:cs typeface="Consolas"/>
              </a:rPr>
              <a:t>,100);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ts val="2325"/>
              </a:lnSpc>
            </a:pPr>
            <a:r>
              <a:rPr dirty="0" sz="200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Consolas"/>
              <a:cs typeface="Consolas"/>
            </a:endParaRPr>
          </a:p>
          <a:p>
            <a:pPr marL="12700" marR="2244725">
              <a:lnSpc>
                <a:spcPct val="100000"/>
              </a:lnSpc>
            </a:pPr>
            <a:r>
              <a:rPr dirty="0" sz="2400" spc="-5">
                <a:latin typeface="Calibri"/>
                <a:cs typeface="Calibri"/>
              </a:rPr>
              <a:t>Shape(String)...  Ellipse(String)...  Ellipse(String,double,double)...  Circle(String,double)...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72" y="1145705"/>
            <a:ext cx="3175000" cy="3682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class </a:t>
            </a:r>
            <a:r>
              <a:rPr dirty="0" sz="1600" spc="-5" b="1">
                <a:latin typeface="Consolas"/>
                <a:cs typeface="Consolas"/>
              </a:rPr>
              <a:t>Pet{</a:t>
            </a:r>
            <a:endParaRPr sz="1600">
              <a:latin typeface="Consolas"/>
              <a:cs typeface="Consolas"/>
            </a:endParaRPr>
          </a:p>
          <a:p>
            <a:pPr marL="469900" marR="46228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private </a:t>
            </a:r>
            <a:r>
              <a:rPr dirty="0" sz="1600" spc="-5" b="1">
                <a:latin typeface="Consolas"/>
                <a:cs typeface="Consolas"/>
              </a:rPr>
              <a:t>String 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name</a:t>
            </a:r>
            <a:r>
              <a:rPr dirty="0" sz="1600" spc="-5" b="1">
                <a:latin typeface="Consolas"/>
                <a:cs typeface="Consolas"/>
              </a:rPr>
              <a:t>;  </a:t>
            </a: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600" spc="-5" b="1">
                <a:latin typeface="Consolas"/>
                <a:cs typeface="Consolas"/>
              </a:rPr>
              <a:t>Pet(){</a:t>
            </a:r>
            <a:endParaRPr sz="1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System.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600" spc="-5" b="1">
                <a:latin typeface="Consolas"/>
                <a:cs typeface="Consolas"/>
              </a:rPr>
              <a:t>.print(1);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 </a:t>
            </a:r>
            <a:r>
              <a:rPr dirty="0" sz="1600" spc="-5" b="1">
                <a:latin typeface="Consolas"/>
                <a:cs typeface="Consolas"/>
              </a:rPr>
              <a:t>Pet(String</a:t>
            </a:r>
            <a:r>
              <a:rPr dirty="0" sz="1600" spc="-50" b="1">
                <a:latin typeface="Consolas"/>
                <a:cs typeface="Consolas"/>
              </a:rPr>
              <a:t> </a:t>
            </a:r>
            <a:r>
              <a:rPr dirty="0" sz="1600" spc="-5" b="1">
                <a:solidFill>
                  <a:srgbClr val="6A3D3D"/>
                </a:solidFill>
                <a:latin typeface="Consolas"/>
                <a:cs typeface="Consolas"/>
              </a:rPr>
              <a:t>name</a:t>
            </a:r>
            <a:r>
              <a:rPr dirty="0" sz="1600" spc="-5" b="1">
                <a:latin typeface="Consolas"/>
                <a:cs typeface="Consolas"/>
              </a:rPr>
              <a:t>){</a:t>
            </a:r>
            <a:endParaRPr sz="1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System.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600" spc="-5" b="1">
                <a:latin typeface="Consolas"/>
                <a:cs typeface="Consolas"/>
              </a:rPr>
              <a:t>.print(2);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69900" marR="15240" indent="-45720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class </a:t>
            </a:r>
            <a:r>
              <a:rPr dirty="0" sz="1600" spc="-5" b="1">
                <a:latin typeface="Consolas"/>
                <a:cs typeface="Consolas"/>
              </a:rPr>
              <a:t>Dog </a:t>
            </a: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extends </a:t>
            </a:r>
            <a:r>
              <a:rPr dirty="0" sz="1600" spc="-5" b="1">
                <a:latin typeface="Consolas"/>
                <a:cs typeface="Consolas"/>
              </a:rPr>
              <a:t>Pet{  </a:t>
            </a: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 </a:t>
            </a:r>
            <a:r>
              <a:rPr dirty="0" sz="1600" spc="-5" b="1">
                <a:latin typeface="Consolas"/>
                <a:cs typeface="Consolas"/>
              </a:rPr>
              <a:t>Dog(String</a:t>
            </a:r>
            <a:r>
              <a:rPr dirty="0" sz="1600" spc="-50" b="1">
                <a:latin typeface="Consolas"/>
                <a:cs typeface="Consolas"/>
              </a:rPr>
              <a:t> </a:t>
            </a:r>
            <a:r>
              <a:rPr dirty="0" sz="1600" spc="-5" b="1">
                <a:solidFill>
                  <a:srgbClr val="6A3D3D"/>
                </a:solidFill>
                <a:latin typeface="Consolas"/>
                <a:cs typeface="Consolas"/>
              </a:rPr>
              <a:t>name</a:t>
            </a:r>
            <a:r>
              <a:rPr dirty="0" sz="1600" spc="-5" b="1">
                <a:latin typeface="Consolas"/>
                <a:cs typeface="Consolas"/>
              </a:rPr>
              <a:t>){</a:t>
            </a:r>
            <a:endParaRPr sz="1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System.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600" spc="-5" b="1">
                <a:latin typeface="Consolas"/>
                <a:cs typeface="Consolas"/>
              </a:rPr>
              <a:t>.print(3);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class </a:t>
            </a:r>
            <a:r>
              <a:rPr dirty="0" sz="1600" spc="-5" b="1">
                <a:latin typeface="Consolas"/>
                <a:cs typeface="Consolas"/>
              </a:rPr>
              <a:t>Test{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02272" y="4803292"/>
            <a:ext cx="4953000" cy="100012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927100" marR="5080" indent="-457200">
              <a:lnSpc>
                <a:spcPct val="103400"/>
              </a:lnSpc>
              <a:spcBef>
                <a:spcPts val="30"/>
              </a:spcBef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600" spc="-5" b="1">
                <a:latin typeface="Consolas"/>
                <a:cs typeface="Consolas"/>
              </a:rPr>
              <a:t>main(String[] </a:t>
            </a:r>
            <a:r>
              <a:rPr dirty="0" sz="1600" spc="-5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600" spc="-5" b="1">
                <a:latin typeface="Consolas"/>
                <a:cs typeface="Consolas"/>
              </a:rPr>
              <a:t>) {  </a:t>
            </a:r>
            <a:r>
              <a:rPr dirty="0" sz="1600" spc="-5" b="1">
                <a:solidFill>
                  <a:srgbClr val="C00000"/>
                </a:solidFill>
                <a:latin typeface="Consolas"/>
                <a:cs typeface="Consolas"/>
              </a:rPr>
              <a:t>new Dog("</a:t>
            </a:r>
            <a:r>
              <a:rPr dirty="0" sz="1600" b="1">
                <a:solidFill>
                  <a:srgbClr val="C00000"/>
                </a:solidFill>
                <a:latin typeface="微软雅黑"/>
                <a:cs typeface="微软雅黑"/>
              </a:rPr>
              <a:t>秋田</a:t>
            </a:r>
            <a:r>
              <a:rPr dirty="0" sz="1600" spc="-5" b="1">
                <a:solidFill>
                  <a:srgbClr val="C00000"/>
                </a:solidFill>
                <a:latin typeface="Consolas"/>
                <a:cs typeface="Consolas"/>
              </a:rPr>
              <a:t>");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ts val="1855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4162" y="429933"/>
            <a:ext cx="500443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/>
              <a:t>子类构造方法</a:t>
            </a:r>
            <a:r>
              <a:rPr dirty="0" sz="2800">
                <a:solidFill>
                  <a:srgbClr val="C00000"/>
                </a:solidFill>
              </a:rPr>
              <a:t>隐式调用</a:t>
            </a:r>
            <a:r>
              <a:rPr dirty="0" sz="2000"/>
              <a:t>父类无参构造方</a:t>
            </a:r>
            <a:r>
              <a:rPr dirty="0" sz="2000" spc="5"/>
              <a:t>法</a:t>
            </a:r>
            <a:endParaRPr sz="2000"/>
          </a:p>
        </p:txBody>
      </p:sp>
      <p:sp>
        <p:nvSpPr>
          <p:cNvPr id="5" name="object 5"/>
          <p:cNvSpPr txBox="1"/>
          <p:nvPr/>
        </p:nvSpPr>
        <p:spPr>
          <a:xfrm>
            <a:off x="4768850" y="1373504"/>
            <a:ext cx="2063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微软雅黑"/>
                <a:cs typeface="微软雅黑"/>
              </a:rPr>
              <a:t>Example：DogTest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0652" y="213397"/>
            <a:ext cx="500443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/>
              <a:t>子类构造方法</a:t>
            </a:r>
            <a:r>
              <a:rPr dirty="0" sz="2800">
                <a:solidFill>
                  <a:srgbClr val="C00000"/>
                </a:solidFill>
              </a:rPr>
              <a:t>隐式调用</a:t>
            </a:r>
            <a:r>
              <a:rPr dirty="0" sz="2000"/>
              <a:t>父类无参构造方</a:t>
            </a:r>
            <a:r>
              <a:rPr dirty="0" sz="2000" spc="5"/>
              <a:t>法</a:t>
            </a:r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1421447" y="3802964"/>
            <a:ext cx="903605" cy="247015"/>
          </a:xfrm>
          <a:custGeom>
            <a:avLst/>
            <a:gdLst/>
            <a:ahLst/>
            <a:cxnLst/>
            <a:rect l="l" t="t" r="r" b="b"/>
            <a:pathLst>
              <a:path w="903605" h="247014">
                <a:moveTo>
                  <a:pt x="0" y="0"/>
                </a:moveTo>
                <a:lnTo>
                  <a:pt x="903604" y="0"/>
                </a:lnTo>
                <a:lnTo>
                  <a:pt x="903604" y="247014"/>
                </a:lnTo>
                <a:lnTo>
                  <a:pt x="0" y="247014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2272" y="1102309"/>
            <a:ext cx="4953000" cy="4901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class </a:t>
            </a:r>
            <a:r>
              <a:rPr dirty="0" sz="1600" spc="-5" b="1">
                <a:latin typeface="Consolas"/>
                <a:cs typeface="Consolas"/>
              </a:rPr>
              <a:t>Pet{</a:t>
            </a:r>
            <a:endParaRPr sz="1600">
              <a:latin typeface="Consolas"/>
              <a:cs typeface="Consolas"/>
            </a:endParaRPr>
          </a:p>
          <a:p>
            <a:pPr marL="469900" marR="224028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private </a:t>
            </a:r>
            <a:r>
              <a:rPr dirty="0" sz="1600" spc="-5" b="1">
                <a:latin typeface="Consolas"/>
                <a:cs typeface="Consolas"/>
              </a:rPr>
              <a:t>String 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name</a:t>
            </a:r>
            <a:r>
              <a:rPr dirty="0" sz="1600" spc="-5" b="1">
                <a:latin typeface="Consolas"/>
                <a:cs typeface="Consolas"/>
              </a:rPr>
              <a:t>;  </a:t>
            </a: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600" spc="-5" b="1">
                <a:latin typeface="Consolas"/>
                <a:cs typeface="Consolas"/>
              </a:rPr>
              <a:t>Pet(){</a:t>
            </a:r>
            <a:endParaRPr sz="1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System.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600" spc="-5" b="1">
                <a:latin typeface="Consolas"/>
                <a:cs typeface="Consolas"/>
              </a:rPr>
              <a:t>.print(1);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 </a:t>
            </a:r>
            <a:r>
              <a:rPr dirty="0" sz="1600" spc="-5" b="1">
                <a:latin typeface="Consolas"/>
                <a:cs typeface="Consolas"/>
              </a:rPr>
              <a:t>Pet(String</a:t>
            </a:r>
            <a:r>
              <a:rPr dirty="0" sz="1600" spc="-50" b="1">
                <a:latin typeface="Consolas"/>
                <a:cs typeface="Consolas"/>
              </a:rPr>
              <a:t> </a:t>
            </a:r>
            <a:r>
              <a:rPr dirty="0" sz="1600" spc="-5" b="1">
                <a:solidFill>
                  <a:srgbClr val="6A3D3D"/>
                </a:solidFill>
                <a:latin typeface="Consolas"/>
                <a:cs typeface="Consolas"/>
              </a:rPr>
              <a:t>name</a:t>
            </a:r>
            <a:r>
              <a:rPr dirty="0" sz="1600" spc="-5" b="1">
                <a:latin typeface="Consolas"/>
                <a:cs typeface="Consolas"/>
              </a:rPr>
              <a:t>){</a:t>
            </a:r>
            <a:endParaRPr sz="1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System.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600" spc="-5" b="1">
                <a:latin typeface="Consolas"/>
                <a:cs typeface="Consolas"/>
              </a:rPr>
              <a:t>.print(2);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69900" marR="1793239" indent="-45720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class </a:t>
            </a:r>
            <a:r>
              <a:rPr dirty="0" sz="1600" spc="-5" b="1">
                <a:latin typeface="Consolas"/>
                <a:cs typeface="Consolas"/>
              </a:rPr>
              <a:t>Dog </a:t>
            </a: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extends </a:t>
            </a:r>
            <a:r>
              <a:rPr dirty="0" sz="1600" spc="-5" b="1">
                <a:latin typeface="Consolas"/>
                <a:cs typeface="Consolas"/>
              </a:rPr>
              <a:t>Pet{  </a:t>
            </a: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 </a:t>
            </a:r>
            <a:r>
              <a:rPr dirty="0" sz="1600" spc="-5" b="1">
                <a:latin typeface="Consolas"/>
                <a:cs typeface="Consolas"/>
              </a:rPr>
              <a:t>Dog(String</a:t>
            </a:r>
            <a:r>
              <a:rPr dirty="0" sz="1600" spc="-50" b="1">
                <a:latin typeface="Consolas"/>
                <a:cs typeface="Consolas"/>
              </a:rPr>
              <a:t> </a:t>
            </a:r>
            <a:r>
              <a:rPr dirty="0" sz="1600" spc="-5" b="1">
                <a:solidFill>
                  <a:srgbClr val="6A3D3D"/>
                </a:solidFill>
                <a:latin typeface="Consolas"/>
                <a:cs typeface="Consolas"/>
              </a:rPr>
              <a:t>name</a:t>
            </a:r>
            <a:r>
              <a:rPr dirty="0" sz="1600" spc="-5" b="1">
                <a:latin typeface="Consolas"/>
                <a:cs typeface="Consolas"/>
              </a:rPr>
              <a:t>){</a:t>
            </a:r>
            <a:endParaRPr sz="1600">
              <a:latin typeface="Consolas"/>
              <a:cs typeface="Consolas"/>
            </a:endParaRPr>
          </a:p>
          <a:p>
            <a:pPr marL="1028700">
              <a:lnSpc>
                <a:spcPct val="100000"/>
              </a:lnSpc>
            </a:pPr>
            <a:r>
              <a:rPr dirty="0" sz="1600" spc="-5" b="1">
                <a:latin typeface="Consolas"/>
                <a:cs typeface="Consolas"/>
              </a:rPr>
              <a:t>super();</a:t>
            </a:r>
            <a:endParaRPr sz="1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System.</a:t>
            </a:r>
            <a:r>
              <a:rPr dirty="0" sz="16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600" spc="-5" b="1">
                <a:latin typeface="Consolas"/>
                <a:cs typeface="Consolas"/>
              </a:rPr>
              <a:t>.print(3);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class </a:t>
            </a:r>
            <a:r>
              <a:rPr dirty="0" sz="1600" spc="-5" b="1">
                <a:latin typeface="Consolas"/>
                <a:cs typeface="Consolas"/>
              </a:rPr>
              <a:t>Test{</a:t>
            </a:r>
            <a:endParaRPr sz="1600">
              <a:latin typeface="Consolas"/>
              <a:cs typeface="Consolas"/>
            </a:endParaRPr>
          </a:p>
          <a:p>
            <a:pPr marL="927100" marR="5080" indent="-457200">
              <a:lnSpc>
                <a:spcPts val="1980"/>
              </a:lnSpc>
              <a:spcBef>
                <a:spcPts val="15"/>
              </a:spcBef>
            </a:pPr>
            <a:r>
              <a:rPr dirty="0" sz="1600" spc="-5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600" spc="-5" b="1">
                <a:latin typeface="Consolas"/>
                <a:cs typeface="Consolas"/>
              </a:rPr>
              <a:t>main(String[] </a:t>
            </a:r>
            <a:r>
              <a:rPr dirty="0" sz="1600" spc="-5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600" spc="-5" b="1">
                <a:latin typeface="Consolas"/>
                <a:cs typeface="Consolas"/>
              </a:rPr>
              <a:t>) {  </a:t>
            </a:r>
            <a:r>
              <a:rPr dirty="0" sz="1600" spc="-5" b="1">
                <a:solidFill>
                  <a:srgbClr val="C00000"/>
                </a:solidFill>
                <a:latin typeface="Consolas"/>
                <a:cs typeface="Consolas"/>
              </a:rPr>
              <a:t>new Dog("</a:t>
            </a:r>
            <a:r>
              <a:rPr dirty="0" sz="1600" b="1">
                <a:solidFill>
                  <a:srgbClr val="C00000"/>
                </a:solidFill>
                <a:latin typeface="微软雅黑"/>
                <a:cs typeface="微软雅黑"/>
              </a:rPr>
              <a:t>秋田</a:t>
            </a:r>
            <a:r>
              <a:rPr dirty="0" sz="1600" spc="-5" b="1">
                <a:solidFill>
                  <a:srgbClr val="C00000"/>
                </a:solidFill>
                <a:latin typeface="Consolas"/>
                <a:cs typeface="Consolas"/>
              </a:rPr>
              <a:t>");</a:t>
            </a:r>
            <a:endParaRPr sz="1600">
              <a:latin typeface="Consolas"/>
              <a:cs typeface="Consolas"/>
            </a:endParaRPr>
          </a:p>
          <a:p>
            <a:pPr marL="469900">
              <a:lnSpc>
                <a:spcPts val="1785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6375"/>
            <a:ext cx="7934325" cy="13779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84150" marR="5080" indent="-17145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子类不会继承父类的构造方法，但是子类可以调用父类的 构造方法，如同一个类的构造方法可以用thi</a:t>
            </a:r>
            <a:r>
              <a:rPr dirty="0" sz="2400" spc="-5">
                <a:latin typeface="微软雅黑"/>
                <a:cs typeface="微软雅黑"/>
              </a:rPr>
              <a:t>s()</a:t>
            </a:r>
            <a:r>
              <a:rPr dirty="0" sz="2400">
                <a:latin typeface="微软雅黑"/>
                <a:cs typeface="微软雅黑"/>
              </a:rPr>
              <a:t>调用自己的 重载构造方法一样。子类调用父类构造方法使用</a:t>
            </a:r>
            <a:r>
              <a:rPr dirty="0" sz="2400" spc="-5">
                <a:latin typeface="微软雅黑"/>
                <a:cs typeface="微软雅黑"/>
              </a:rPr>
              <a:t>super()</a:t>
            </a:r>
            <a:r>
              <a:rPr dirty="0" sz="2400">
                <a:latin typeface="微软雅黑"/>
                <a:cs typeface="微软雅黑"/>
              </a:rPr>
              <a:t>完 成。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93954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5.3.2	super</a:t>
            </a:r>
            <a:r>
              <a:rPr dirty="0" sz="2100"/>
              <a:t>与</a:t>
            </a:r>
            <a:r>
              <a:rPr dirty="0" sz="2100" spc="-5"/>
              <a:t>this</a:t>
            </a:r>
            <a:r>
              <a:rPr dirty="0" sz="2100"/>
              <a:t>调用构造方法</a:t>
            </a:r>
            <a:endParaRPr sz="2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18081"/>
            <a:ext cx="6216650" cy="372110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000" spc="-5" b="1">
                <a:latin typeface="微软雅黑"/>
                <a:cs typeface="微软雅黑"/>
              </a:rPr>
              <a:t>public class </a:t>
            </a:r>
            <a:r>
              <a:rPr dirty="0" sz="2000" spc="-5">
                <a:latin typeface="微软雅黑"/>
                <a:cs typeface="微软雅黑"/>
              </a:rPr>
              <a:t>Shape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{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09"/>
              </a:spcBef>
            </a:pPr>
            <a:r>
              <a:rPr dirty="0" sz="2000" spc="-10" b="1">
                <a:latin typeface="微软雅黑"/>
                <a:cs typeface="微软雅黑"/>
              </a:rPr>
              <a:t>private </a:t>
            </a:r>
            <a:r>
              <a:rPr dirty="0" sz="2000" spc="-15">
                <a:latin typeface="微软雅黑"/>
                <a:cs typeface="微软雅黑"/>
              </a:rPr>
              <a:t>String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name;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09"/>
              </a:spcBef>
            </a:pPr>
            <a:r>
              <a:rPr dirty="0" sz="2000" spc="-5" b="1">
                <a:latin typeface="微软雅黑"/>
                <a:cs typeface="微软雅黑"/>
              </a:rPr>
              <a:t>public </a:t>
            </a:r>
            <a:r>
              <a:rPr dirty="0" sz="2000" spc="-5">
                <a:latin typeface="微软雅黑"/>
                <a:cs typeface="微软雅黑"/>
              </a:rPr>
              <a:t>Shape()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{</a:t>
            </a:r>
            <a:endParaRPr sz="20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405"/>
              </a:spcBef>
            </a:pPr>
            <a:r>
              <a:rPr dirty="0" sz="2000" spc="-90">
                <a:latin typeface="微软雅黑"/>
                <a:cs typeface="微软雅黑"/>
              </a:rPr>
              <a:t>System.</a:t>
            </a:r>
            <a:r>
              <a:rPr dirty="0" sz="2100" spc="-90" i="1">
                <a:latin typeface="微软雅黑"/>
                <a:cs typeface="微软雅黑"/>
              </a:rPr>
              <a:t>out</a:t>
            </a:r>
            <a:r>
              <a:rPr dirty="0" sz="2000" spc="-90">
                <a:latin typeface="微软雅黑"/>
                <a:cs typeface="微软雅黑"/>
              </a:rPr>
              <a:t>.println("Shape()...");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490"/>
              </a:spcBef>
            </a:pPr>
            <a:r>
              <a:rPr dirty="0" sz="200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15"/>
              </a:spcBef>
            </a:pPr>
            <a:r>
              <a:rPr dirty="0" sz="2000" spc="-5" b="1">
                <a:latin typeface="微软雅黑"/>
                <a:cs typeface="微软雅黑"/>
              </a:rPr>
              <a:t>public </a:t>
            </a:r>
            <a:r>
              <a:rPr dirty="0" sz="2000" spc="-10">
                <a:latin typeface="微软雅黑"/>
                <a:cs typeface="微软雅黑"/>
              </a:rPr>
              <a:t>Shape(String </a:t>
            </a:r>
            <a:r>
              <a:rPr dirty="0" sz="2000" spc="-5">
                <a:latin typeface="微软雅黑"/>
                <a:cs typeface="微软雅黑"/>
              </a:rPr>
              <a:t>name)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{</a:t>
            </a:r>
            <a:endParaRPr sz="2000">
              <a:latin typeface="微软雅黑"/>
              <a:cs typeface="微软雅黑"/>
            </a:endParaRPr>
          </a:p>
          <a:p>
            <a:pPr marL="1731645" marR="5080">
              <a:lnSpc>
                <a:spcPct val="117100"/>
              </a:lnSpc>
              <a:spcBef>
                <a:spcPts val="95"/>
              </a:spcBef>
            </a:pPr>
            <a:r>
              <a:rPr dirty="0" sz="2000" spc="-5" b="1">
                <a:latin typeface="微软雅黑"/>
                <a:cs typeface="微软雅黑"/>
              </a:rPr>
              <a:t>this</a:t>
            </a:r>
            <a:r>
              <a:rPr dirty="0" sz="2000" spc="-5">
                <a:latin typeface="微软雅黑"/>
                <a:cs typeface="微软雅黑"/>
              </a:rPr>
              <a:t>.name </a:t>
            </a:r>
            <a:r>
              <a:rPr dirty="0" sz="2000">
                <a:latin typeface="微软雅黑"/>
                <a:cs typeface="微软雅黑"/>
              </a:rPr>
              <a:t>= </a:t>
            </a:r>
            <a:r>
              <a:rPr dirty="0" sz="2000" spc="-5">
                <a:latin typeface="微软雅黑"/>
                <a:cs typeface="微软雅黑"/>
              </a:rPr>
              <a:t>name;  </a:t>
            </a:r>
            <a:r>
              <a:rPr dirty="0" sz="2000" spc="-80">
                <a:latin typeface="微软雅黑"/>
                <a:cs typeface="微软雅黑"/>
              </a:rPr>
              <a:t>System.</a:t>
            </a:r>
            <a:r>
              <a:rPr dirty="0" sz="2100" spc="-80" i="1">
                <a:latin typeface="微软雅黑"/>
                <a:cs typeface="微软雅黑"/>
              </a:rPr>
              <a:t>out</a:t>
            </a:r>
            <a:r>
              <a:rPr dirty="0" sz="2000" spc="-80">
                <a:latin typeface="微软雅黑"/>
                <a:cs typeface="微软雅黑"/>
              </a:rPr>
              <a:t>.println("Shape(String)...");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490"/>
              </a:spcBef>
            </a:pPr>
            <a:r>
              <a:rPr dirty="0" sz="200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00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93954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5.3.2	super</a:t>
            </a:r>
            <a:r>
              <a:rPr dirty="0" sz="2100"/>
              <a:t>与</a:t>
            </a:r>
            <a:r>
              <a:rPr dirty="0" sz="2100" spc="-5"/>
              <a:t>this</a:t>
            </a:r>
            <a:r>
              <a:rPr dirty="0" sz="2100"/>
              <a:t>调用构造方法</a:t>
            </a:r>
            <a:endParaRPr sz="2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26209"/>
            <a:ext cx="6012815" cy="2833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7244" marR="2768600" indent="-804545">
              <a:lnSpc>
                <a:spcPct val="111700"/>
              </a:lnSpc>
              <a:spcBef>
                <a:spcPts val="100"/>
              </a:spcBef>
            </a:pPr>
            <a:r>
              <a:rPr dirty="0" sz="1500" spc="-5" b="1">
                <a:latin typeface="微软雅黑"/>
                <a:cs typeface="微软雅黑"/>
              </a:rPr>
              <a:t>public class </a:t>
            </a:r>
            <a:r>
              <a:rPr dirty="0" sz="1500">
                <a:latin typeface="微软雅黑"/>
                <a:cs typeface="微软雅黑"/>
              </a:rPr>
              <a:t>Ellipse </a:t>
            </a:r>
            <a:r>
              <a:rPr dirty="0" sz="1500" spc="-5" b="1">
                <a:latin typeface="微软雅黑"/>
                <a:cs typeface="微软雅黑"/>
              </a:rPr>
              <a:t>extends </a:t>
            </a:r>
            <a:r>
              <a:rPr dirty="0" sz="1500" spc="-5">
                <a:latin typeface="微软雅黑"/>
                <a:cs typeface="微软雅黑"/>
              </a:rPr>
              <a:t>Shape{  </a:t>
            </a:r>
            <a:r>
              <a:rPr dirty="0" sz="1500" spc="-10" b="1">
                <a:latin typeface="微软雅黑"/>
                <a:cs typeface="微软雅黑"/>
              </a:rPr>
              <a:t>private </a:t>
            </a:r>
            <a:r>
              <a:rPr dirty="0" sz="1500" spc="-5" b="1">
                <a:latin typeface="微软雅黑"/>
                <a:cs typeface="微软雅黑"/>
              </a:rPr>
              <a:t>double</a:t>
            </a:r>
            <a:r>
              <a:rPr dirty="0" sz="1500" spc="-10" b="1">
                <a:latin typeface="微软雅黑"/>
                <a:cs typeface="微软雅黑"/>
              </a:rPr>
              <a:t> </a:t>
            </a:r>
            <a:r>
              <a:rPr dirty="0" sz="1500">
                <a:latin typeface="微软雅黑"/>
                <a:cs typeface="微软雅黑"/>
              </a:rPr>
              <a:t>a;</a:t>
            </a:r>
            <a:r>
              <a:rPr dirty="0" sz="1500" spc="-10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//</a:t>
            </a:r>
            <a:r>
              <a:rPr dirty="0" sz="1500">
                <a:latin typeface="微软雅黑"/>
                <a:cs typeface="微软雅黑"/>
              </a:rPr>
              <a:t>短轴 </a:t>
            </a:r>
            <a:r>
              <a:rPr dirty="0" sz="1500" spc="-10" b="1">
                <a:latin typeface="微软雅黑"/>
                <a:cs typeface="微软雅黑"/>
              </a:rPr>
              <a:t>private </a:t>
            </a:r>
            <a:r>
              <a:rPr dirty="0" sz="1500" spc="-5" b="1">
                <a:latin typeface="微软雅黑"/>
                <a:cs typeface="微软雅黑"/>
              </a:rPr>
              <a:t>double</a:t>
            </a:r>
            <a:r>
              <a:rPr dirty="0" sz="1500" spc="-10" b="1">
                <a:latin typeface="微软雅黑"/>
                <a:cs typeface="微软雅黑"/>
              </a:rPr>
              <a:t> </a:t>
            </a:r>
            <a:r>
              <a:rPr dirty="0" sz="1500">
                <a:latin typeface="微软雅黑"/>
                <a:cs typeface="微软雅黑"/>
              </a:rPr>
              <a:t>b;</a:t>
            </a:r>
            <a:r>
              <a:rPr dirty="0" sz="1500" spc="420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//</a:t>
            </a:r>
            <a:r>
              <a:rPr dirty="0" sz="1500">
                <a:latin typeface="微软雅黑"/>
                <a:cs typeface="微软雅黑"/>
              </a:rPr>
              <a:t>长轴 </a:t>
            </a:r>
            <a:r>
              <a:rPr dirty="0" sz="1500" spc="-5" b="1">
                <a:latin typeface="微软雅黑"/>
                <a:cs typeface="微软雅黑"/>
              </a:rPr>
              <a:t>public </a:t>
            </a:r>
            <a:r>
              <a:rPr dirty="0" sz="1500" spc="-5">
                <a:latin typeface="微软雅黑"/>
                <a:cs typeface="微软雅黑"/>
              </a:rPr>
              <a:t>Ellipse() </a:t>
            </a:r>
            <a:r>
              <a:rPr dirty="0" sz="1500">
                <a:latin typeface="微软雅黑"/>
                <a:cs typeface="微软雅黑"/>
              </a:rPr>
              <a:t>{</a:t>
            </a:r>
            <a:endParaRPr sz="15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160"/>
              </a:spcBef>
            </a:pPr>
            <a:r>
              <a:rPr dirty="0" sz="1500" spc="-65">
                <a:latin typeface="微软雅黑"/>
                <a:cs typeface="微软雅黑"/>
              </a:rPr>
              <a:t>System.</a:t>
            </a:r>
            <a:r>
              <a:rPr dirty="0" sz="1550" spc="-65" i="1">
                <a:latin typeface="微软雅黑"/>
                <a:cs typeface="微软雅黑"/>
              </a:rPr>
              <a:t>out</a:t>
            </a:r>
            <a:r>
              <a:rPr dirty="0" sz="1500" spc="-65">
                <a:latin typeface="微软雅黑"/>
                <a:cs typeface="微软雅黑"/>
              </a:rPr>
              <a:t>.println("Ellipse()...");</a:t>
            </a:r>
            <a:endParaRPr sz="15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200"/>
              </a:spcBef>
            </a:pPr>
            <a:r>
              <a:rPr dirty="0" sz="150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209"/>
              </a:spcBef>
            </a:pPr>
            <a:r>
              <a:rPr dirty="0" sz="1500" spc="-5" b="1">
                <a:latin typeface="微软雅黑"/>
                <a:cs typeface="微软雅黑"/>
              </a:rPr>
              <a:t>public </a:t>
            </a:r>
            <a:r>
              <a:rPr dirty="0" sz="1500" spc="-5">
                <a:latin typeface="微软雅黑"/>
                <a:cs typeface="微软雅黑"/>
              </a:rPr>
              <a:t>Ellipse(String name)</a:t>
            </a:r>
            <a:r>
              <a:rPr dirty="0" sz="1500">
                <a:latin typeface="微软雅黑"/>
                <a:cs typeface="微软雅黑"/>
              </a:rPr>
              <a:t> {</a:t>
            </a:r>
            <a:endParaRPr sz="1500">
              <a:latin typeface="微软雅黑"/>
              <a:cs typeface="微软雅黑"/>
            </a:endParaRPr>
          </a:p>
          <a:p>
            <a:pPr marL="1731645" marR="5080">
              <a:lnSpc>
                <a:spcPct val="108900"/>
              </a:lnSpc>
              <a:spcBef>
                <a:spcPts val="50"/>
              </a:spcBef>
              <a:tabLst>
                <a:tab pos="3559810" algn="l"/>
              </a:tabLst>
            </a:pPr>
            <a:r>
              <a:rPr dirty="0" sz="1500" spc="-5" b="1">
                <a:latin typeface="微软雅黑"/>
                <a:cs typeface="微软雅黑"/>
              </a:rPr>
              <a:t>su</a:t>
            </a:r>
            <a:r>
              <a:rPr dirty="0" sz="1500" b="1">
                <a:latin typeface="微软雅黑"/>
                <a:cs typeface="微软雅黑"/>
              </a:rPr>
              <a:t>pe</a:t>
            </a:r>
            <a:r>
              <a:rPr dirty="0" sz="1500" spc="-5" b="1">
                <a:latin typeface="微软雅黑"/>
                <a:cs typeface="微软雅黑"/>
              </a:rPr>
              <a:t>r</a:t>
            </a:r>
            <a:r>
              <a:rPr dirty="0" sz="1500" spc="-5">
                <a:latin typeface="微软雅黑"/>
                <a:cs typeface="微软雅黑"/>
              </a:rPr>
              <a:t>(</a:t>
            </a:r>
            <a:r>
              <a:rPr dirty="0" sz="1500">
                <a:latin typeface="微软雅黑"/>
                <a:cs typeface="微软雅黑"/>
              </a:rPr>
              <a:t>na</a:t>
            </a:r>
            <a:r>
              <a:rPr dirty="0" sz="1500" spc="-5">
                <a:latin typeface="微软雅黑"/>
                <a:cs typeface="微软雅黑"/>
              </a:rPr>
              <a:t>me)</a:t>
            </a:r>
            <a:r>
              <a:rPr dirty="0" sz="1500">
                <a:latin typeface="微软雅黑"/>
                <a:cs typeface="微软雅黑"/>
              </a:rPr>
              <a:t>;	</a:t>
            </a:r>
            <a:r>
              <a:rPr dirty="0" sz="1500" spc="-5">
                <a:latin typeface="微软雅黑"/>
                <a:cs typeface="微软雅黑"/>
              </a:rPr>
              <a:t>//</a:t>
            </a:r>
            <a:r>
              <a:rPr dirty="0" sz="1500">
                <a:latin typeface="微软雅黑"/>
                <a:cs typeface="微软雅黑"/>
              </a:rPr>
              <a:t>调用</a:t>
            </a:r>
            <a:r>
              <a:rPr dirty="0" sz="1500" spc="-5">
                <a:latin typeface="微软雅黑"/>
                <a:cs typeface="微软雅黑"/>
              </a:rPr>
              <a:t>S</a:t>
            </a:r>
            <a:r>
              <a:rPr dirty="0" sz="1500">
                <a:latin typeface="微软雅黑"/>
                <a:cs typeface="微软雅黑"/>
              </a:rPr>
              <a:t>hap</a:t>
            </a:r>
            <a:r>
              <a:rPr dirty="0" sz="1500" spc="-5">
                <a:latin typeface="微软雅黑"/>
                <a:cs typeface="微软雅黑"/>
              </a:rPr>
              <a:t>e</a:t>
            </a:r>
            <a:r>
              <a:rPr dirty="0" sz="1500">
                <a:latin typeface="微软雅黑"/>
                <a:cs typeface="微软雅黑"/>
              </a:rPr>
              <a:t>的带参构造方法  </a:t>
            </a:r>
            <a:r>
              <a:rPr dirty="0" sz="1500" spc="-225">
                <a:latin typeface="微软雅黑"/>
                <a:cs typeface="微软雅黑"/>
              </a:rPr>
              <a:t>System.</a:t>
            </a:r>
            <a:r>
              <a:rPr dirty="0" sz="1550" spc="-225" i="1">
                <a:latin typeface="微软雅黑"/>
                <a:cs typeface="微软雅黑"/>
              </a:rPr>
              <a:t>out</a:t>
            </a:r>
            <a:r>
              <a:rPr dirty="0" sz="1500" spc="-225">
                <a:latin typeface="微软雅黑"/>
                <a:cs typeface="微软雅黑"/>
              </a:rPr>
              <a:t>p.</a:t>
            </a:r>
            <a:r>
              <a:rPr dirty="0" sz="1500" spc="-145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rintln("Ellipse(String)...");</a:t>
            </a:r>
            <a:endParaRPr sz="15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200"/>
              </a:spcBef>
            </a:pPr>
            <a:r>
              <a:rPr dirty="0" sz="150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209"/>
              </a:spcBef>
            </a:pPr>
            <a:r>
              <a:rPr dirty="0" sz="1500" spc="-5" b="1">
                <a:latin typeface="微软雅黑"/>
                <a:cs typeface="微软雅黑"/>
              </a:rPr>
              <a:t>public </a:t>
            </a:r>
            <a:r>
              <a:rPr dirty="0" sz="1500" spc="-5">
                <a:latin typeface="微软雅黑"/>
                <a:cs typeface="微软雅黑"/>
              </a:rPr>
              <a:t>Ellipse(String name, </a:t>
            </a:r>
            <a:r>
              <a:rPr dirty="0" sz="1500" spc="-5" b="1">
                <a:latin typeface="微软雅黑"/>
                <a:cs typeface="微软雅黑"/>
              </a:rPr>
              <a:t>double </a:t>
            </a:r>
            <a:r>
              <a:rPr dirty="0" sz="1500">
                <a:latin typeface="微软雅黑"/>
                <a:cs typeface="微软雅黑"/>
              </a:rPr>
              <a:t>a, </a:t>
            </a:r>
            <a:r>
              <a:rPr dirty="0" sz="1500" spc="-5" b="1">
                <a:latin typeface="微软雅黑"/>
                <a:cs typeface="微软雅黑"/>
              </a:rPr>
              <a:t>double </a:t>
            </a:r>
            <a:r>
              <a:rPr dirty="0" sz="1500">
                <a:latin typeface="微软雅黑"/>
                <a:cs typeface="微软雅黑"/>
              </a:rPr>
              <a:t>b)</a:t>
            </a:r>
            <a:r>
              <a:rPr dirty="0" sz="1500" spc="5">
                <a:latin typeface="微软雅黑"/>
                <a:cs typeface="微软雅黑"/>
              </a:rPr>
              <a:t> </a:t>
            </a:r>
            <a:r>
              <a:rPr dirty="0" sz="1500">
                <a:latin typeface="微软雅黑"/>
                <a:cs typeface="微软雅黑"/>
              </a:rPr>
              <a:t>{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111500" y="4260850"/>
            <a:ext cx="22834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微软雅黑"/>
                <a:cs typeface="微软雅黑"/>
              </a:rPr>
              <a:t>//</a:t>
            </a:r>
            <a:r>
              <a:rPr dirty="0" sz="1500">
                <a:latin typeface="微软雅黑"/>
                <a:cs typeface="微软雅黑"/>
              </a:rPr>
              <a:t>调用本类的重载构造方法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539" y="4234179"/>
            <a:ext cx="1060450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100"/>
              </a:spcBef>
            </a:pPr>
            <a:r>
              <a:rPr dirty="0" sz="1500" spc="-5" b="1">
                <a:latin typeface="微软雅黑"/>
                <a:cs typeface="微软雅黑"/>
              </a:rPr>
              <a:t>t</a:t>
            </a:r>
            <a:r>
              <a:rPr dirty="0" sz="1500" b="1">
                <a:latin typeface="微软雅黑"/>
                <a:cs typeface="微软雅黑"/>
              </a:rPr>
              <a:t>hi</a:t>
            </a:r>
            <a:r>
              <a:rPr dirty="0" sz="1500" spc="-5" b="1">
                <a:latin typeface="微软雅黑"/>
                <a:cs typeface="微软雅黑"/>
              </a:rPr>
              <a:t>s</a:t>
            </a:r>
            <a:r>
              <a:rPr dirty="0" sz="1500" spc="-5">
                <a:latin typeface="微软雅黑"/>
                <a:cs typeface="微软雅黑"/>
              </a:rPr>
              <a:t>(</a:t>
            </a:r>
            <a:r>
              <a:rPr dirty="0" sz="1500">
                <a:latin typeface="微软雅黑"/>
                <a:cs typeface="微软雅黑"/>
              </a:rPr>
              <a:t>na</a:t>
            </a:r>
            <a:r>
              <a:rPr dirty="0" sz="1500" spc="-5">
                <a:latin typeface="微软雅黑"/>
                <a:cs typeface="微软雅黑"/>
              </a:rPr>
              <a:t>me)</a:t>
            </a:r>
            <a:r>
              <a:rPr dirty="0" sz="1500">
                <a:latin typeface="微软雅黑"/>
                <a:cs typeface="微软雅黑"/>
              </a:rPr>
              <a:t>;  </a:t>
            </a:r>
            <a:r>
              <a:rPr dirty="0" sz="1500" spc="-5" b="1">
                <a:latin typeface="微软雅黑"/>
                <a:cs typeface="微软雅黑"/>
              </a:rPr>
              <a:t>this</a:t>
            </a:r>
            <a:r>
              <a:rPr dirty="0" sz="1500" spc="-5">
                <a:latin typeface="微软雅黑"/>
                <a:cs typeface="微软雅黑"/>
              </a:rPr>
              <a:t>.a </a:t>
            </a:r>
            <a:r>
              <a:rPr dirty="0" sz="1500">
                <a:latin typeface="微软雅黑"/>
                <a:cs typeface="微软雅黑"/>
              </a:rPr>
              <a:t>= a;  </a:t>
            </a:r>
            <a:r>
              <a:rPr dirty="0" sz="1500" spc="-5" b="1">
                <a:latin typeface="微软雅黑"/>
                <a:cs typeface="微软雅黑"/>
              </a:rPr>
              <a:t>this</a:t>
            </a:r>
            <a:r>
              <a:rPr dirty="0" sz="1500" spc="-5">
                <a:latin typeface="微软雅黑"/>
                <a:cs typeface="微软雅黑"/>
              </a:rPr>
              <a:t>.b </a:t>
            </a:r>
            <a:r>
              <a:rPr dirty="0" sz="1500">
                <a:latin typeface="微软雅黑"/>
                <a:cs typeface="微软雅黑"/>
              </a:rPr>
              <a:t>=</a:t>
            </a:r>
            <a:r>
              <a:rPr dirty="0" sz="1500" spc="-45">
                <a:latin typeface="微软雅黑"/>
                <a:cs typeface="微软雅黑"/>
              </a:rPr>
              <a:t> </a:t>
            </a:r>
            <a:r>
              <a:rPr dirty="0" sz="1500">
                <a:latin typeface="微软雅黑"/>
                <a:cs typeface="微软雅黑"/>
              </a:rPr>
              <a:t>b;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595" y="4991140"/>
            <a:ext cx="6488430" cy="80010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731645">
              <a:lnSpc>
                <a:spcPct val="100000"/>
              </a:lnSpc>
              <a:spcBef>
                <a:spcPts val="330"/>
              </a:spcBef>
            </a:pPr>
            <a:r>
              <a:rPr dirty="0" sz="1500" spc="-40">
                <a:latin typeface="微软雅黑"/>
                <a:cs typeface="微软雅黑"/>
              </a:rPr>
              <a:t>System.</a:t>
            </a:r>
            <a:r>
              <a:rPr dirty="0" sz="1550" spc="-40" i="1">
                <a:latin typeface="微软雅黑"/>
                <a:cs typeface="微软雅黑"/>
              </a:rPr>
              <a:t>out</a:t>
            </a:r>
            <a:r>
              <a:rPr dirty="0" sz="1500" spc="-40">
                <a:latin typeface="微软雅黑"/>
                <a:cs typeface="微软雅黑"/>
              </a:rPr>
              <a:t>.println("Ellipse(String,double,double)...");</a:t>
            </a:r>
            <a:endParaRPr sz="15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200"/>
              </a:spcBef>
            </a:pPr>
            <a:r>
              <a:rPr dirty="0" sz="150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500">
                <a:latin typeface="微软雅黑"/>
                <a:cs typeface="微软雅黑"/>
              </a:rPr>
              <a:t>}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93954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5.3.2	super</a:t>
            </a:r>
            <a:r>
              <a:rPr dirty="0" sz="2100"/>
              <a:t>与</a:t>
            </a:r>
            <a:r>
              <a:rPr dirty="0" sz="2100" spc="-5"/>
              <a:t>this</a:t>
            </a:r>
            <a:r>
              <a:rPr dirty="0" sz="2100"/>
              <a:t>调用构造方法</a:t>
            </a:r>
            <a:endParaRPr sz="2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18081"/>
            <a:ext cx="7051675" cy="3351529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000" spc="-5" b="1">
                <a:latin typeface="微软雅黑"/>
                <a:cs typeface="微软雅黑"/>
              </a:rPr>
              <a:t>public class </a:t>
            </a:r>
            <a:r>
              <a:rPr dirty="0" sz="2000" spc="-10">
                <a:latin typeface="微软雅黑"/>
                <a:cs typeface="微软雅黑"/>
              </a:rPr>
              <a:t>Circle </a:t>
            </a:r>
            <a:r>
              <a:rPr dirty="0" sz="2000" spc="-5" b="1">
                <a:latin typeface="微软雅黑"/>
                <a:cs typeface="微软雅黑"/>
              </a:rPr>
              <a:t>extends</a:t>
            </a:r>
            <a:r>
              <a:rPr dirty="0" sz="2000" spc="-25" b="1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Ellipse{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509"/>
              </a:spcBef>
            </a:pPr>
            <a:r>
              <a:rPr dirty="0" sz="2000" spc="-5" b="1">
                <a:latin typeface="微软雅黑"/>
                <a:cs typeface="微软雅黑"/>
              </a:rPr>
              <a:t>public </a:t>
            </a:r>
            <a:r>
              <a:rPr dirty="0" sz="2000" spc="-10">
                <a:latin typeface="微软雅黑"/>
                <a:cs typeface="微软雅黑"/>
              </a:rPr>
              <a:t>Circle()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{</a:t>
            </a:r>
            <a:endParaRPr sz="2000">
              <a:latin typeface="微软雅黑"/>
              <a:cs typeface="微软雅黑"/>
            </a:endParaRPr>
          </a:p>
          <a:p>
            <a:pPr marL="1731645">
              <a:lnSpc>
                <a:spcPct val="100000"/>
              </a:lnSpc>
              <a:spcBef>
                <a:spcPts val="409"/>
              </a:spcBef>
            </a:pPr>
            <a:r>
              <a:rPr dirty="0" sz="2000" spc="-90">
                <a:latin typeface="微软雅黑"/>
                <a:cs typeface="微软雅黑"/>
              </a:rPr>
              <a:t>System.</a:t>
            </a:r>
            <a:r>
              <a:rPr dirty="0" sz="2100" spc="-90" i="1">
                <a:latin typeface="微软雅黑"/>
                <a:cs typeface="微软雅黑"/>
              </a:rPr>
              <a:t>out</a:t>
            </a:r>
            <a:r>
              <a:rPr dirty="0" sz="2000" spc="-90">
                <a:latin typeface="微软雅黑"/>
                <a:cs typeface="微软雅黑"/>
              </a:rPr>
              <a:t>.println("Cicle()...");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484"/>
              </a:spcBef>
            </a:pPr>
            <a:r>
              <a:rPr dirty="0" sz="200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731645" marR="5080" indent="-914400">
              <a:lnSpc>
                <a:spcPct val="119200"/>
              </a:lnSpc>
              <a:spcBef>
                <a:spcPts val="50"/>
              </a:spcBef>
              <a:tabLst>
                <a:tab pos="3390900" algn="l"/>
                <a:tab pos="3874770" algn="l"/>
              </a:tabLst>
            </a:pPr>
            <a:r>
              <a:rPr dirty="0" sz="2000" spc="-5" b="1">
                <a:latin typeface="微软雅黑"/>
                <a:cs typeface="微软雅黑"/>
              </a:rPr>
              <a:t>public </a:t>
            </a:r>
            <a:r>
              <a:rPr dirty="0" sz="2000" spc="-15">
                <a:latin typeface="微软雅黑"/>
                <a:cs typeface="微软雅黑"/>
              </a:rPr>
              <a:t>Circle(String </a:t>
            </a:r>
            <a:r>
              <a:rPr dirty="0" sz="2000" spc="-5">
                <a:latin typeface="微软雅黑"/>
                <a:cs typeface="微软雅黑"/>
              </a:rPr>
              <a:t>name, </a:t>
            </a:r>
            <a:r>
              <a:rPr dirty="0" sz="2000" spc="-5" b="1">
                <a:latin typeface="微软雅黑"/>
                <a:cs typeface="微软雅黑"/>
              </a:rPr>
              <a:t>double </a:t>
            </a:r>
            <a:r>
              <a:rPr dirty="0" sz="2000" spc="-5">
                <a:latin typeface="微软雅黑"/>
                <a:cs typeface="微软雅黑"/>
              </a:rPr>
              <a:t>r) </a:t>
            </a:r>
            <a:r>
              <a:rPr dirty="0" sz="2000">
                <a:latin typeface="微软雅黑"/>
                <a:cs typeface="微软雅黑"/>
              </a:rPr>
              <a:t>{  </a:t>
            </a:r>
            <a:r>
              <a:rPr dirty="0" sz="2000" spc="-15" b="1">
                <a:latin typeface="微软雅黑"/>
                <a:cs typeface="微软雅黑"/>
              </a:rPr>
              <a:t>super</a:t>
            </a:r>
            <a:r>
              <a:rPr dirty="0" sz="2000" spc="-15">
                <a:latin typeface="微软雅黑"/>
                <a:cs typeface="微软雅黑"/>
              </a:rPr>
              <a:t>(name,r,r);	</a:t>
            </a:r>
            <a:r>
              <a:rPr dirty="0" sz="2000" spc="-5">
                <a:latin typeface="微软雅黑"/>
                <a:cs typeface="微软雅黑"/>
              </a:rPr>
              <a:t>//</a:t>
            </a:r>
            <a:r>
              <a:rPr dirty="0" sz="2000">
                <a:latin typeface="微软雅黑"/>
                <a:cs typeface="微软雅黑"/>
              </a:rPr>
              <a:t>调用</a:t>
            </a:r>
            <a:r>
              <a:rPr dirty="0" sz="2000" spc="-5">
                <a:latin typeface="微软雅黑"/>
                <a:cs typeface="微软雅黑"/>
              </a:rPr>
              <a:t>Ellipse</a:t>
            </a:r>
            <a:r>
              <a:rPr dirty="0" sz="2000">
                <a:latin typeface="微软雅黑"/>
                <a:cs typeface="微软雅黑"/>
              </a:rPr>
              <a:t>的构造方</a:t>
            </a:r>
            <a:r>
              <a:rPr dirty="0" sz="2000" spc="5">
                <a:latin typeface="微软雅黑"/>
                <a:cs typeface="微软雅黑"/>
              </a:rPr>
              <a:t>法 </a:t>
            </a:r>
            <a:r>
              <a:rPr dirty="0" sz="2000" spc="-240">
                <a:latin typeface="微软雅黑"/>
                <a:cs typeface="微软雅黑"/>
              </a:rPr>
              <a:t>System.</a:t>
            </a:r>
            <a:r>
              <a:rPr dirty="0" sz="2100" spc="-240" i="1">
                <a:latin typeface="微软雅黑"/>
                <a:cs typeface="微软雅黑"/>
              </a:rPr>
              <a:t>out</a:t>
            </a:r>
            <a:r>
              <a:rPr dirty="0" sz="2000" spc="-240">
                <a:latin typeface="微软雅黑"/>
                <a:cs typeface="微软雅黑"/>
              </a:rPr>
              <a:t>pr.	</a:t>
            </a:r>
            <a:r>
              <a:rPr dirty="0" sz="2000" spc="-10">
                <a:latin typeface="微软雅黑"/>
                <a:cs typeface="微软雅黑"/>
              </a:rPr>
              <a:t>intln("Circle(String,double)...");</a:t>
            </a:r>
            <a:endParaRPr sz="2000">
              <a:latin typeface="微软雅黑"/>
              <a:cs typeface="微软雅黑"/>
            </a:endParaRPr>
          </a:p>
          <a:p>
            <a:pPr marL="817244">
              <a:lnSpc>
                <a:spcPct val="100000"/>
              </a:lnSpc>
              <a:spcBef>
                <a:spcPts val="490"/>
              </a:spcBef>
            </a:pPr>
            <a:r>
              <a:rPr dirty="0" sz="200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00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93954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5.3.2	super</a:t>
            </a:r>
            <a:r>
              <a:rPr dirty="0" sz="2100"/>
              <a:t>与</a:t>
            </a:r>
            <a:r>
              <a:rPr dirty="0" sz="2100" spc="-5"/>
              <a:t>this</a:t>
            </a:r>
            <a:r>
              <a:rPr dirty="0" sz="2100"/>
              <a:t>调用构造方法</a:t>
            </a:r>
            <a:endParaRPr sz="2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81454"/>
            <a:ext cx="5735955" cy="147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  <a:tab pos="988060" algn="l"/>
              </a:tabLst>
            </a:pPr>
            <a:r>
              <a:rPr dirty="0" sz="2100" spc="-5" b="1">
                <a:latin typeface="微软雅黑"/>
                <a:cs typeface="微软雅黑"/>
              </a:rPr>
              <a:t>5.4.1	final</a:t>
            </a:r>
            <a:r>
              <a:rPr dirty="0" sz="2100" b="1">
                <a:latin typeface="微软雅黑"/>
                <a:cs typeface="微软雅黑"/>
              </a:rPr>
              <a:t>修饰符</a:t>
            </a:r>
            <a:endParaRPr sz="21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 spc="-5">
                <a:latin typeface="微软雅黑"/>
                <a:cs typeface="微软雅黑"/>
              </a:rPr>
              <a:t>final</a:t>
            </a:r>
            <a:r>
              <a:rPr dirty="0" sz="2400">
                <a:latin typeface="微软雅黑"/>
                <a:cs typeface="微软雅黑"/>
              </a:rPr>
              <a:t>修饰类时，类不能被继承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 spc="-5">
                <a:latin typeface="微软雅黑"/>
                <a:cs typeface="微软雅黑"/>
              </a:rPr>
              <a:t>final</a:t>
            </a:r>
            <a:r>
              <a:rPr dirty="0" sz="2400">
                <a:latin typeface="微软雅黑"/>
                <a:cs typeface="微软雅黑"/>
              </a:rPr>
              <a:t>修饰方法时，方法不能被重写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 spc="-5">
                <a:latin typeface="微软雅黑"/>
                <a:cs typeface="微软雅黑"/>
              </a:rPr>
              <a:t>f</a:t>
            </a:r>
            <a:r>
              <a:rPr dirty="0" sz="2400">
                <a:latin typeface="微软雅黑"/>
                <a:cs typeface="微软雅黑"/>
              </a:rPr>
              <a:t>in</a:t>
            </a:r>
            <a:r>
              <a:rPr dirty="0" sz="2400" spc="-5">
                <a:latin typeface="微软雅黑"/>
                <a:cs typeface="微软雅黑"/>
              </a:rPr>
              <a:t>a</a:t>
            </a:r>
            <a:r>
              <a:rPr dirty="0" sz="2400">
                <a:latin typeface="微软雅黑"/>
                <a:cs typeface="微软雅黑"/>
              </a:rPr>
              <a:t>l修饰变量时，变量只能被赋值一次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96913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/>
              <a:t>5</a:t>
            </a:r>
            <a:r>
              <a:rPr dirty="0" sz="2100"/>
              <a:t>.4	</a:t>
            </a:r>
            <a:r>
              <a:rPr dirty="0" sz="2100" spc="-30"/>
              <a:t>J</a:t>
            </a:r>
            <a:r>
              <a:rPr dirty="0" sz="2100"/>
              <a:t>a</a:t>
            </a:r>
            <a:r>
              <a:rPr dirty="0" sz="2100" spc="-40"/>
              <a:t>v</a:t>
            </a:r>
            <a:r>
              <a:rPr dirty="0" sz="2100"/>
              <a:t>a修饰符</a:t>
            </a:r>
            <a:endParaRPr sz="2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/>
              <a:t>1</a:t>
            </a:r>
            <a:r>
              <a:rPr dirty="0" sz="2100"/>
              <a:t>．</a:t>
            </a:r>
            <a:r>
              <a:rPr dirty="0"/>
              <a:t>f</a:t>
            </a:r>
            <a:r>
              <a:rPr dirty="0" spc="-5"/>
              <a:t>i</a:t>
            </a:r>
            <a:r>
              <a:rPr dirty="0"/>
              <a:t>na</a:t>
            </a:r>
            <a:r>
              <a:rPr dirty="0" spc="-5"/>
              <a:t>l</a:t>
            </a:r>
            <a:r>
              <a:rPr dirty="0"/>
              <a:t>类</a:t>
            </a:r>
            <a:endParaRPr sz="2100"/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184150" indent="-171450">
              <a:lnSpc>
                <a:spcPts val="3835"/>
              </a:lnSpc>
              <a:spcBef>
                <a:spcPts val="1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pc="-5"/>
              <a:t>final</a:t>
            </a:r>
            <a:r>
              <a:rPr dirty="0"/>
              <a:t>修饰的类不能有子类</a:t>
            </a:r>
            <a:r>
              <a:rPr dirty="0" spc="5"/>
              <a:t>。</a:t>
            </a:r>
          </a:p>
          <a:p>
            <a:pPr algn="just" marL="184150" marR="5080" indent="-171450">
              <a:lnSpc>
                <a:spcPts val="3460"/>
              </a:lnSpc>
              <a:spcBef>
                <a:spcPts val="42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pc="-5"/>
              <a:t>像ja</a:t>
            </a:r>
            <a:r>
              <a:rPr dirty="0" spc="-70"/>
              <a:t>v</a:t>
            </a:r>
            <a:r>
              <a:rPr dirty="0" spc="-5"/>
              <a:t>a.lan</a:t>
            </a:r>
            <a:r>
              <a:rPr dirty="0" spc="-10"/>
              <a:t>g</a:t>
            </a:r>
            <a:r>
              <a:rPr dirty="0" spc="-5"/>
              <a:t>.</a:t>
            </a:r>
            <a:r>
              <a:rPr dirty="0" spc="-120"/>
              <a:t>S</a:t>
            </a:r>
            <a:r>
              <a:rPr dirty="0" spc="-5"/>
              <a:t>trin</a:t>
            </a:r>
            <a:r>
              <a:rPr dirty="0" spc="-10"/>
              <a:t>g</a:t>
            </a:r>
            <a:r>
              <a:rPr dirty="0" spc="-5"/>
              <a:t>、ja</a:t>
            </a:r>
            <a:r>
              <a:rPr dirty="0" spc="-70"/>
              <a:t>v</a:t>
            </a:r>
            <a:r>
              <a:rPr dirty="0" spc="-5"/>
              <a:t>a.lan</a:t>
            </a:r>
            <a:r>
              <a:rPr dirty="0" spc="-10"/>
              <a:t>g</a:t>
            </a:r>
            <a:r>
              <a:rPr dirty="0" spc="-5"/>
              <a:t>.</a:t>
            </a:r>
            <a:r>
              <a:rPr dirty="0" spc="-10"/>
              <a:t>M</a:t>
            </a:r>
            <a:r>
              <a:rPr dirty="0" spc="-5"/>
              <a:t>ath等</a:t>
            </a:r>
            <a:r>
              <a:rPr dirty="0"/>
              <a:t>就 </a:t>
            </a:r>
            <a:r>
              <a:rPr dirty="0"/>
              <a:t>是</a:t>
            </a:r>
            <a:r>
              <a:rPr dirty="0" spc="-5"/>
              <a:t>final</a:t>
            </a:r>
            <a:r>
              <a:rPr dirty="0"/>
              <a:t>类，不能被继承，它们的方法禁</a:t>
            </a:r>
            <a:r>
              <a:rPr dirty="0" spc="5"/>
              <a:t>止 </a:t>
            </a:r>
            <a:r>
              <a:rPr dirty="0"/>
              <a:t>被重写</a:t>
            </a:r>
            <a:r>
              <a:rPr dirty="0" spc="5"/>
              <a:t>。</a:t>
            </a:r>
          </a:p>
          <a:p>
            <a:pPr algn="just" marL="184150" marR="85725" indent="-171450">
              <a:lnSpc>
                <a:spcPts val="3460"/>
              </a:lnSpc>
              <a:spcBef>
                <a:spcPts val="360"/>
              </a:spcBef>
              <a:buFont typeface="Arial"/>
              <a:buChar char="•"/>
              <a:tabLst>
                <a:tab pos="184150" algn="l"/>
              </a:tabLst>
            </a:pPr>
            <a:r>
              <a:rPr dirty="0"/>
              <a:t>如果试图对该类进行继承，则会出现编</a:t>
            </a:r>
            <a:r>
              <a:rPr dirty="0"/>
              <a:t>译 </a:t>
            </a:r>
            <a:r>
              <a:rPr dirty="0"/>
              <a:t>错误</a:t>
            </a:r>
            <a:r>
              <a:rPr dirty="0" spc="5"/>
              <a:t>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3652" y="370357"/>
            <a:ext cx="22225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4</a:t>
            </a:r>
            <a:r>
              <a:rPr dirty="0" sz="2100" b="1">
                <a:latin typeface="微软雅黑"/>
                <a:cs typeface="微软雅黑"/>
              </a:rPr>
              <a:t>.1	</a:t>
            </a:r>
            <a:r>
              <a:rPr dirty="0" sz="2100" spc="-5" b="1">
                <a:latin typeface="微软雅黑"/>
                <a:cs typeface="微软雅黑"/>
              </a:rPr>
              <a:t>fin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5" b="1">
                <a:latin typeface="微软雅黑"/>
                <a:cs typeface="微软雅黑"/>
              </a:rPr>
              <a:t>l</a:t>
            </a:r>
            <a:r>
              <a:rPr dirty="0" sz="2100" b="1">
                <a:latin typeface="微软雅黑"/>
                <a:cs typeface="微软雅黑"/>
              </a:rPr>
              <a:t>修饰符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159" y="1470660"/>
            <a:ext cx="7617459" cy="3231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6245" indent="-423545">
              <a:lnSpc>
                <a:spcPct val="100000"/>
              </a:lnSpc>
              <a:spcBef>
                <a:spcPts val="95"/>
              </a:spcBef>
              <a:buSzPct val="71428"/>
              <a:buAutoNum type="arabicPeriod" startAt="2"/>
              <a:tabLst>
                <a:tab pos="436245" algn="l"/>
              </a:tabLst>
            </a:pPr>
            <a:r>
              <a:rPr dirty="0" sz="2800" spc="-5">
                <a:latin typeface="微软雅黑"/>
                <a:cs typeface="微软雅黑"/>
              </a:rPr>
              <a:t>final</a:t>
            </a:r>
            <a:r>
              <a:rPr dirty="0" sz="2800">
                <a:latin typeface="微软雅黑"/>
                <a:cs typeface="微软雅黑"/>
              </a:rPr>
              <a:t>方</a:t>
            </a:r>
            <a:r>
              <a:rPr dirty="0" sz="2800" spc="-5">
                <a:latin typeface="微软雅黑"/>
                <a:cs typeface="微软雅黑"/>
              </a:rPr>
              <a:t>法</a:t>
            </a:r>
            <a:endParaRPr sz="2800">
              <a:latin typeface="微软雅黑"/>
              <a:cs typeface="微软雅黑"/>
            </a:endParaRPr>
          </a:p>
          <a:p>
            <a:pPr lvl="1" marL="417195" indent="-17208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800" spc="-5">
                <a:latin typeface="微软雅黑"/>
                <a:cs typeface="微软雅黑"/>
              </a:rPr>
              <a:t>final</a:t>
            </a:r>
            <a:r>
              <a:rPr dirty="0" sz="2800">
                <a:latin typeface="微软雅黑"/>
                <a:cs typeface="微软雅黑"/>
              </a:rPr>
              <a:t>修饰的方法不能被重写</a:t>
            </a:r>
            <a:r>
              <a:rPr dirty="0" sz="2800" spc="-5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  <a:p>
            <a:pPr lvl="1" marL="416559" marR="5080" indent="-171450">
              <a:lnSpc>
                <a:spcPts val="3020"/>
              </a:lnSpc>
              <a:spcBef>
                <a:spcPts val="41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800">
                <a:latin typeface="微软雅黑"/>
                <a:cs typeface="微软雅黑"/>
              </a:rPr>
              <a:t>如</a:t>
            </a:r>
            <a:r>
              <a:rPr dirty="0" sz="2800" spc="-5">
                <a:latin typeface="微软雅黑"/>
                <a:cs typeface="微软雅黑"/>
              </a:rPr>
              <a:t>java.lang.Object</a:t>
            </a:r>
            <a:r>
              <a:rPr dirty="0" sz="2800">
                <a:latin typeface="微软雅黑"/>
                <a:cs typeface="微软雅黑"/>
              </a:rPr>
              <a:t>类中的</a:t>
            </a:r>
            <a:r>
              <a:rPr dirty="0" sz="2800" spc="-5">
                <a:latin typeface="微软雅黑"/>
                <a:cs typeface="微软雅黑"/>
              </a:rPr>
              <a:t>getClass()</a:t>
            </a:r>
            <a:r>
              <a:rPr dirty="0" sz="2800">
                <a:latin typeface="微软雅黑"/>
                <a:cs typeface="微软雅黑"/>
              </a:rPr>
              <a:t>方法</a:t>
            </a:r>
            <a:r>
              <a:rPr dirty="0" sz="2800" spc="-5">
                <a:latin typeface="微软雅黑"/>
                <a:cs typeface="微软雅黑"/>
              </a:rPr>
              <a:t>。 Object</a:t>
            </a:r>
            <a:r>
              <a:rPr dirty="0" sz="2800">
                <a:latin typeface="微软雅黑"/>
                <a:cs typeface="微软雅黑"/>
              </a:rPr>
              <a:t>类是一定会被继承的（它是所有类直</a:t>
            </a:r>
            <a:r>
              <a:rPr dirty="0" sz="2800" spc="-5">
                <a:latin typeface="微软雅黑"/>
                <a:cs typeface="微软雅黑"/>
              </a:rPr>
              <a:t>接 </a:t>
            </a:r>
            <a:r>
              <a:rPr dirty="0" sz="2800">
                <a:latin typeface="微软雅黑"/>
                <a:cs typeface="微软雅黑"/>
              </a:rPr>
              <a:t>或间接的父类），但是</a:t>
            </a:r>
            <a:r>
              <a:rPr dirty="0" sz="2800" spc="-25">
                <a:latin typeface="微软雅黑"/>
                <a:cs typeface="微软雅黑"/>
              </a:rPr>
              <a:t>Java</a:t>
            </a:r>
            <a:r>
              <a:rPr dirty="0" sz="2800">
                <a:latin typeface="微软雅黑"/>
                <a:cs typeface="微软雅黑"/>
              </a:rPr>
              <a:t>不希望子类重写</a:t>
            </a:r>
            <a:r>
              <a:rPr dirty="0" sz="2800" spc="-5">
                <a:latin typeface="微软雅黑"/>
                <a:cs typeface="微软雅黑"/>
              </a:rPr>
              <a:t>这 </a:t>
            </a:r>
            <a:r>
              <a:rPr dirty="0" sz="2800">
                <a:latin typeface="微软雅黑"/>
                <a:cs typeface="微软雅黑"/>
              </a:rPr>
              <a:t>个方法，所以使用</a:t>
            </a:r>
            <a:r>
              <a:rPr dirty="0" sz="2800" spc="-5">
                <a:latin typeface="微软雅黑"/>
                <a:cs typeface="微软雅黑"/>
              </a:rPr>
              <a:t>fin</a:t>
            </a:r>
            <a:r>
              <a:rPr dirty="0" sz="2800">
                <a:latin typeface="微软雅黑"/>
                <a:cs typeface="微软雅黑"/>
              </a:rPr>
              <a:t>a</a:t>
            </a:r>
            <a:r>
              <a:rPr dirty="0" sz="2800" spc="-5">
                <a:latin typeface="微软雅黑"/>
                <a:cs typeface="微软雅黑"/>
              </a:rPr>
              <a:t>l</a:t>
            </a:r>
            <a:r>
              <a:rPr dirty="0" sz="2800">
                <a:latin typeface="微软雅黑"/>
                <a:cs typeface="微软雅黑"/>
              </a:rPr>
              <a:t>把它保护起来。</a:t>
            </a:r>
            <a:r>
              <a:rPr dirty="0" sz="2800" spc="-5">
                <a:latin typeface="微软雅黑"/>
                <a:cs typeface="微软雅黑"/>
              </a:rPr>
              <a:t>Object </a:t>
            </a:r>
            <a:r>
              <a:rPr dirty="0" sz="2800">
                <a:latin typeface="微软雅黑"/>
                <a:cs typeface="微软雅黑"/>
              </a:rPr>
              <a:t>中的</a:t>
            </a:r>
            <a:r>
              <a:rPr dirty="0" sz="2800" spc="-5">
                <a:latin typeface="微软雅黑"/>
                <a:cs typeface="微软雅黑"/>
              </a:rPr>
              <a:t>final</a:t>
            </a:r>
            <a:r>
              <a:rPr dirty="0" sz="2800">
                <a:latin typeface="微软雅黑"/>
                <a:cs typeface="微软雅黑"/>
              </a:rPr>
              <a:t>方法还有notify()、notifyAll()</a:t>
            </a:r>
            <a:r>
              <a:rPr dirty="0" sz="2800" spc="-5">
                <a:latin typeface="微软雅黑"/>
                <a:cs typeface="微软雅黑"/>
              </a:rPr>
              <a:t>和 wait()。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2225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4</a:t>
            </a:r>
            <a:r>
              <a:rPr dirty="0" sz="2100"/>
              <a:t>.1	</a:t>
            </a:r>
            <a:r>
              <a:rPr dirty="0" sz="2100" spc="-5"/>
              <a:t>fin</a:t>
            </a:r>
            <a:r>
              <a:rPr dirty="0" sz="2100"/>
              <a:t>a</a:t>
            </a:r>
            <a:r>
              <a:rPr dirty="0" sz="2100" spc="-5"/>
              <a:t>l</a:t>
            </a:r>
            <a:r>
              <a:rPr dirty="0" sz="2100"/>
              <a:t>修饰符</a:t>
            </a:r>
            <a:endParaRPr sz="2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569" y="1463039"/>
            <a:ext cx="23990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3．final变</a:t>
            </a:r>
            <a:r>
              <a:rPr dirty="0" sz="3200" spc="5"/>
              <a:t>量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40715" y="1997074"/>
            <a:ext cx="7520940" cy="365823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just" marL="184150" marR="400050" indent="-17145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200" spc="-5">
                <a:latin typeface="微软雅黑"/>
                <a:cs typeface="微软雅黑"/>
              </a:rPr>
              <a:t>无论final修饰哪种变量，无论这种变</a:t>
            </a:r>
            <a:r>
              <a:rPr dirty="0" sz="3200">
                <a:latin typeface="微软雅黑"/>
                <a:cs typeface="微软雅黑"/>
              </a:rPr>
              <a:t>量 </a:t>
            </a:r>
            <a:r>
              <a:rPr dirty="0" sz="3200" spc="-5">
                <a:latin typeface="微软雅黑"/>
                <a:cs typeface="微软雅黑"/>
              </a:rPr>
              <a:t>在何处被赋初值，final变量的赋值永</a:t>
            </a:r>
            <a:r>
              <a:rPr dirty="0" sz="3200">
                <a:latin typeface="微软雅黑"/>
                <a:cs typeface="微软雅黑"/>
              </a:rPr>
              <a:t>远 </a:t>
            </a:r>
            <a:r>
              <a:rPr dirty="0" sz="3200">
                <a:latin typeface="微软雅黑"/>
                <a:cs typeface="微软雅黑"/>
              </a:rPr>
              <a:t>只能有一次</a:t>
            </a:r>
            <a:r>
              <a:rPr dirty="0" sz="3200" spc="5">
                <a:latin typeface="微软雅黑"/>
                <a:cs typeface="微软雅黑"/>
              </a:rPr>
              <a:t>。</a:t>
            </a:r>
            <a:endParaRPr sz="3200">
              <a:latin typeface="微软雅黑"/>
              <a:cs typeface="微软雅黑"/>
            </a:endParaRPr>
          </a:p>
          <a:p>
            <a:pPr lvl="1" marL="527050" indent="-171450">
              <a:lnSpc>
                <a:spcPts val="334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2800" spc="-5">
                <a:latin typeface="微软雅黑"/>
                <a:cs typeface="微软雅黑"/>
              </a:rPr>
              <a:t>fin</a:t>
            </a:r>
            <a:r>
              <a:rPr dirty="0" sz="2800">
                <a:latin typeface="微软雅黑"/>
                <a:cs typeface="微软雅黑"/>
              </a:rPr>
              <a:t>a</a:t>
            </a:r>
            <a:r>
              <a:rPr dirty="0" sz="2800" spc="-5">
                <a:latin typeface="微软雅黑"/>
                <a:cs typeface="微软雅黑"/>
              </a:rPr>
              <a:t>l</a:t>
            </a:r>
            <a:r>
              <a:rPr dirty="0" sz="2800">
                <a:latin typeface="微软雅黑"/>
                <a:cs typeface="微软雅黑"/>
              </a:rPr>
              <a:t>成员变</a:t>
            </a:r>
            <a:r>
              <a:rPr dirty="0" sz="2800" spc="-5">
                <a:latin typeface="微软雅黑"/>
                <a:cs typeface="微软雅黑"/>
              </a:rPr>
              <a:t>量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 spc="-5">
                <a:latin typeface="微软雅黑"/>
                <a:cs typeface="微软雅黑"/>
              </a:rPr>
              <a:t>fin</a:t>
            </a:r>
            <a:r>
              <a:rPr dirty="0" sz="2800">
                <a:latin typeface="微软雅黑"/>
                <a:cs typeface="微软雅黑"/>
              </a:rPr>
              <a:t>a</a:t>
            </a:r>
            <a:r>
              <a:rPr dirty="0" sz="2800" spc="-5">
                <a:latin typeface="微软雅黑"/>
                <a:cs typeface="微软雅黑"/>
              </a:rPr>
              <a:t>l</a:t>
            </a:r>
            <a:r>
              <a:rPr dirty="0" sz="2800">
                <a:latin typeface="微软雅黑"/>
                <a:cs typeface="微软雅黑"/>
              </a:rPr>
              <a:t>局部变</a:t>
            </a:r>
            <a:r>
              <a:rPr dirty="0" sz="2800" spc="-5">
                <a:latin typeface="微软雅黑"/>
                <a:cs typeface="微软雅黑"/>
              </a:rPr>
              <a:t>量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ts val="335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 spc="-5">
                <a:latin typeface="微软雅黑"/>
                <a:cs typeface="微软雅黑"/>
              </a:rPr>
              <a:t>fin</a:t>
            </a:r>
            <a:r>
              <a:rPr dirty="0" sz="2800">
                <a:latin typeface="微软雅黑"/>
                <a:cs typeface="微软雅黑"/>
              </a:rPr>
              <a:t>a</a:t>
            </a:r>
            <a:r>
              <a:rPr dirty="0" sz="2800" spc="-5">
                <a:latin typeface="微软雅黑"/>
                <a:cs typeface="微软雅黑"/>
              </a:rPr>
              <a:t>l</a:t>
            </a:r>
            <a:r>
              <a:rPr dirty="0" sz="2800">
                <a:latin typeface="微软雅黑"/>
                <a:cs typeface="微软雅黑"/>
              </a:rPr>
              <a:t>方法参</a:t>
            </a:r>
            <a:r>
              <a:rPr dirty="0" sz="2800" spc="-5">
                <a:latin typeface="微软雅黑"/>
                <a:cs typeface="微软雅黑"/>
              </a:rPr>
              <a:t>数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ts val="3825"/>
              </a:lnSpc>
            </a:pPr>
            <a:r>
              <a:rPr dirty="0" sz="3200">
                <a:latin typeface="微软雅黑"/>
                <a:cs typeface="微软雅黑"/>
              </a:rPr>
              <a:t>【</a:t>
            </a:r>
            <a:r>
              <a:rPr dirty="0" sz="3200" spc="-5">
                <a:latin typeface="微软雅黑"/>
                <a:cs typeface="微软雅黑"/>
              </a:rPr>
              <a:t>finalDemo</a:t>
            </a:r>
            <a:r>
              <a:rPr dirty="0" sz="3200" spc="5">
                <a:latin typeface="微软雅黑"/>
                <a:cs typeface="微软雅黑"/>
              </a:rPr>
              <a:t>】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ts val="3835"/>
              </a:lnSpc>
            </a:pPr>
            <a:r>
              <a:rPr dirty="0" sz="3200" spc="-5">
                <a:latin typeface="微软雅黑"/>
                <a:cs typeface="微软雅黑"/>
              </a:rPr>
              <a:t>static</a:t>
            </a:r>
            <a:r>
              <a:rPr dirty="0" sz="3200" spc="-10">
                <a:latin typeface="微软雅黑"/>
                <a:cs typeface="微软雅黑"/>
              </a:rPr>
              <a:t> </a:t>
            </a:r>
            <a:r>
              <a:rPr dirty="0" sz="3200" spc="-5">
                <a:latin typeface="微软雅黑"/>
                <a:cs typeface="微软雅黑"/>
              </a:rPr>
              <a:t>final </a:t>
            </a:r>
            <a:r>
              <a:rPr dirty="0" sz="3200">
                <a:latin typeface="微软雅黑"/>
                <a:cs typeface="微软雅黑"/>
              </a:rPr>
              <a:t>变量</a:t>
            </a:r>
            <a:r>
              <a:rPr dirty="0" sz="3200" spc="-5">
                <a:solidFill>
                  <a:srgbClr val="006C39"/>
                </a:solidFill>
                <a:latin typeface="Times New Roman"/>
                <a:cs typeface="Times New Roman"/>
              </a:rPr>
              <a:t>Sample</a:t>
            </a:r>
            <a:r>
              <a:rPr dirty="0" sz="3200" spc="-1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3200" spc="-5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006C39"/>
                </a:solidFill>
                <a:latin typeface="宋体"/>
                <a:cs typeface="宋体"/>
              </a:rPr>
              <a:t>FinalData.java</a:t>
            </a:r>
            <a:r>
              <a:rPr dirty="0" sz="3200">
                <a:solidFill>
                  <a:srgbClr val="006C39"/>
                </a:solidFill>
                <a:latin typeface="宋体"/>
                <a:cs typeface="宋体"/>
              </a:rPr>
              <a:t> 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3652" y="370700"/>
            <a:ext cx="22225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4</a:t>
            </a:r>
            <a:r>
              <a:rPr dirty="0" sz="2100" b="1">
                <a:latin typeface="微软雅黑"/>
                <a:cs typeface="微软雅黑"/>
              </a:rPr>
              <a:t>.1	</a:t>
            </a:r>
            <a:r>
              <a:rPr dirty="0" sz="2100" spc="-5" b="1">
                <a:latin typeface="微软雅黑"/>
                <a:cs typeface="微软雅黑"/>
              </a:rPr>
              <a:t>fin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5" b="1">
                <a:latin typeface="微软雅黑"/>
                <a:cs typeface="微软雅黑"/>
              </a:rPr>
              <a:t>l</a:t>
            </a:r>
            <a:r>
              <a:rPr dirty="0" sz="2100" b="1">
                <a:latin typeface="微软雅黑"/>
                <a:cs typeface="微软雅黑"/>
              </a:rPr>
              <a:t>修饰符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0" y="1838325"/>
          <a:ext cx="7689850" cy="3397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7305"/>
                <a:gridCol w="998855"/>
                <a:gridCol w="1317625"/>
                <a:gridCol w="1022985"/>
                <a:gridCol w="989329"/>
                <a:gridCol w="1045845"/>
                <a:gridCol w="1002029"/>
              </a:tblGrid>
              <a:tr h="1057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public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protected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默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认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private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static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final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</a:tr>
              <a:tr h="567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类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76835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</a:tr>
              <a:tr h="5867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数据成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员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方法成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员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5885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</a:tr>
              <a:tr h="5867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局部变</a:t>
                      </a:r>
                      <a:r>
                        <a:rPr dirty="0" sz="20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量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2000">
                          <a:latin typeface="微软雅黑"/>
                          <a:cs typeface="微软雅黑"/>
                        </a:rPr>
                        <a:t>√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5433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100" spc="-5"/>
              <a:t>5</a:t>
            </a:r>
            <a:r>
              <a:rPr dirty="0" sz="2100"/>
              <a:t>.</a:t>
            </a:r>
            <a:r>
              <a:rPr dirty="0" sz="2100" spc="-5"/>
              <a:t>4</a:t>
            </a:r>
            <a:r>
              <a:rPr dirty="0" sz="2100"/>
              <a:t>.2	</a:t>
            </a:r>
            <a:r>
              <a:rPr dirty="0" sz="2100" spc="-30"/>
              <a:t>J</a:t>
            </a:r>
            <a:r>
              <a:rPr dirty="0" sz="2100"/>
              <a:t>a</a:t>
            </a:r>
            <a:r>
              <a:rPr dirty="0" sz="2100" spc="-40"/>
              <a:t>v</a:t>
            </a:r>
            <a:r>
              <a:rPr dirty="0" sz="2100"/>
              <a:t>a修饰符之间的关系</a:t>
            </a:r>
            <a:endParaRPr sz="2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3782060" cy="347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576580" indent="-563880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575945" algn="l"/>
                <a:tab pos="576580" algn="l"/>
              </a:tabLst>
            </a:pPr>
            <a:r>
              <a:rPr dirty="0" sz="2100" b="1">
                <a:latin typeface="微软雅黑"/>
                <a:cs typeface="微软雅黑"/>
              </a:rPr>
              <a:t>继承和组合</a:t>
            </a:r>
            <a:endParaRPr sz="21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΢"/>
              <a:buAutoNum type="arabicPeriod" startAt="5"/>
            </a:pPr>
            <a:endParaRPr sz="3300">
              <a:latin typeface="微软雅黑"/>
              <a:cs typeface="微软雅黑"/>
            </a:endParaRPr>
          </a:p>
          <a:p>
            <a:pPr lvl="2" marL="568960" indent="-172085">
              <a:lnSpc>
                <a:spcPct val="100000"/>
              </a:lnSpc>
              <a:buFont typeface="Arial"/>
              <a:buChar char="•"/>
              <a:tabLst>
                <a:tab pos="569595" algn="l"/>
              </a:tabLst>
            </a:pPr>
            <a:r>
              <a:rPr dirty="0" sz="2800">
                <a:latin typeface="微软雅黑"/>
                <a:cs typeface="微软雅黑"/>
              </a:rPr>
              <a:t>继承重用的是形式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lvl="2" marL="568960" indent="-17208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569595" algn="l"/>
              </a:tabLst>
            </a:pPr>
            <a:r>
              <a:rPr dirty="0" sz="2800">
                <a:latin typeface="微软雅黑"/>
                <a:cs typeface="微软雅黑"/>
              </a:rPr>
              <a:t>组合重用的是功</a:t>
            </a:r>
            <a:r>
              <a:rPr dirty="0" sz="2800" spc="-5">
                <a:latin typeface="微软雅黑"/>
                <a:cs typeface="微软雅黑"/>
              </a:rPr>
              <a:t>能</a:t>
            </a:r>
            <a:endParaRPr sz="2800">
              <a:latin typeface="微软雅黑"/>
              <a:cs typeface="微软雅黑"/>
            </a:endParaRPr>
          </a:p>
          <a:p>
            <a:pPr marL="426720">
              <a:lnSpc>
                <a:spcPct val="100000"/>
              </a:lnSpc>
              <a:spcBef>
                <a:spcPts val="2770"/>
              </a:spcBef>
              <a:tabLst>
                <a:tab pos="1572895" algn="l"/>
              </a:tabLst>
            </a:pPr>
            <a:r>
              <a:rPr dirty="0" sz="2400" i="1">
                <a:solidFill>
                  <a:srgbClr val="ED7A07"/>
                </a:solidFill>
                <a:latin typeface="Georgia"/>
                <a:cs typeface="Georgia"/>
              </a:rPr>
              <a:t>is-a</a:t>
            </a:r>
            <a:r>
              <a:rPr dirty="0" sz="2400" spc="20" i="1">
                <a:solidFill>
                  <a:srgbClr val="ED7A07"/>
                </a:solidFill>
                <a:latin typeface="Georgia"/>
                <a:cs typeface="Georgia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----	</a:t>
            </a:r>
            <a:r>
              <a:rPr dirty="0" sz="2400" spc="-5">
                <a:solidFill>
                  <a:srgbClr val="967A2C"/>
                </a:solidFill>
                <a:latin typeface="Times New Roman"/>
                <a:cs typeface="Times New Roman"/>
              </a:rPr>
              <a:t>inheritance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502920">
              <a:lnSpc>
                <a:spcPct val="100000"/>
              </a:lnSpc>
            </a:pPr>
            <a:r>
              <a:rPr dirty="0" sz="2400" i="1">
                <a:solidFill>
                  <a:srgbClr val="ED7A07"/>
                </a:solidFill>
                <a:latin typeface="Georgia"/>
                <a:cs typeface="Georgia"/>
              </a:rPr>
              <a:t>has-a </a:t>
            </a:r>
            <a:r>
              <a:rPr dirty="0" sz="2400">
                <a:latin typeface="Times New Roman"/>
                <a:cs typeface="Times New Roman"/>
              </a:rPr>
              <a:t>---- </a:t>
            </a:r>
            <a:r>
              <a:rPr dirty="0" sz="2400" spc="-5">
                <a:solidFill>
                  <a:srgbClr val="967A2C"/>
                </a:solidFill>
                <a:latin typeface="Times New Roman"/>
                <a:cs typeface="Times New Roman"/>
              </a:rPr>
              <a:t>composition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47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658620" y="128905"/>
            <a:ext cx="57257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006C39"/>
                </a:solidFill>
                <a:latin typeface="Times New Roman"/>
                <a:cs typeface="Times New Roman"/>
              </a:rPr>
              <a:t>5.6</a:t>
            </a:r>
            <a:r>
              <a:rPr dirty="0" sz="2800" b="0">
                <a:solidFill>
                  <a:srgbClr val="006C39"/>
                </a:solidFill>
                <a:latin typeface="宋体"/>
                <a:cs typeface="宋体"/>
              </a:rPr>
              <a:t>类的初始化</a:t>
            </a:r>
            <a:r>
              <a:rPr dirty="0" sz="2800" spc="-5" b="0">
                <a:solidFill>
                  <a:srgbClr val="006C39"/>
                </a:solidFill>
                <a:latin typeface="Times New Roman"/>
                <a:cs typeface="Times New Roman"/>
              </a:rPr>
              <a:t>Sample</a:t>
            </a:r>
            <a:r>
              <a:rPr dirty="0" sz="2800" spc="-10" b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2800" spc="-10" b="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0">
                <a:solidFill>
                  <a:srgbClr val="006C39"/>
                </a:solidFill>
                <a:latin typeface="宋体"/>
                <a:cs typeface="宋体"/>
              </a:rPr>
              <a:t>Beetle.java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1000" y="914400"/>
            <a:ext cx="2057400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6237" y="909637"/>
            <a:ext cx="2066925" cy="1228725"/>
          </a:xfrm>
          <a:custGeom>
            <a:avLst/>
            <a:gdLst/>
            <a:ahLst/>
            <a:cxnLst/>
            <a:rect l="l" t="t" r="r" b="b"/>
            <a:pathLst>
              <a:path w="2066925" h="1228725">
                <a:moveTo>
                  <a:pt x="20669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066925" y="1223962"/>
                </a:lnTo>
                <a:lnTo>
                  <a:pt x="2066925" y="1228725"/>
                </a:lnTo>
                <a:close/>
              </a:path>
              <a:path w="20669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1228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1219200"/>
                </a:lnTo>
                <a:lnTo>
                  <a:pt x="2062162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057400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1223962"/>
                </a:moveTo>
                <a:lnTo>
                  <a:pt x="2057400" y="1223962"/>
                </a:lnTo>
                <a:lnTo>
                  <a:pt x="2062162" y="1219200"/>
                </a:lnTo>
                <a:lnTo>
                  <a:pt x="2066925" y="1219200"/>
                </a:lnTo>
                <a:lnTo>
                  <a:pt x="20669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52755" y="944245"/>
            <a:ext cx="1836420" cy="760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Beetle.</a:t>
            </a: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main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38400" y="1409700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76200"/>
                </a:moveTo>
                <a:lnTo>
                  <a:pt x="609600" y="0"/>
                </a:lnTo>
                <a:lnTo>
                  <a:pt x="676275" y="33337"/>
                </a:lnTo>
                <a:lnTo>
                  <a:pt x="628650" y="33337"/>
                </a:lnTo>
                <a:lnTo>
                  <a:pt x="628650" y="42862"/>
                </a:lnTo>
                <a:lnTo>
                  <a:pt x="676275" y="42862"/>
                </a:lnTo>
                <a:lnTo>
                  <a:pt x="609600" y="76200"/>
                </a:lnTo>
                <a:close/>
              </a:path>
              <a:path w="685800" h="76200">
                <a:moveTo>
                  <a:pt x="609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  <a:path w="685800" h="76200">
                <a:moveTo>
                  <a:pt x="676275" y="42862"/>
                </a:moveTo>
                <a:lnTo>
                  <a:pt x="628650" y="42862"/>
                </a:lnTo>
                <a:lnTo>
                  <a:pt x="628650" y="33337"/>
                </a:lnTo>
                <a:lnTo>
                  <a:pt x="676275" y="33337"/>
                </a:lnTo>
                <a:lnTo>
                  <a:pt x="685800" y="38100"/>
                </a:lnTo>
                <a:lnTo>
                  <a:pt x="676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24200" y="914400"/>
            <a:ext cx="2057400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19437" y="909637"/>
            <a:ext cx="2066925" cy="1228725"/>
          </a:xfrm>
          <a:custGeom>
            <a:avLst/>
            <a:gdLst/>
            <a:ahLst/>
            <a:cxnLst/>
            <a:rect l="l" t="t" r="r" b="b"/>
            <a:pathLst>
              <a:path w="2066925" h="1228725">
                <a:moveTo>
                  <a:pt x="20669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066925" y="1223962"/>
                </a:lnTo>
                <a:lnTo>
                  <a:pt x="2066925" y="1228725"/>
                </a:lnTo>
                <a:close/>
              </a:path>
              <a:path w="20669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1228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1219200"/>
                </a:lnTo>
                <a:lnTo>
                  <a:pt x="2062162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057400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1223962"/>
                </a:moveTo>
                <a:lnTo>
                  <a:pt x="2057400" y="1223962"/>
                </a:lnTo>
                <a:lnTo>
                  <a:pt x="2062162" y="1219200"/>
                </a:lnTo>
                <a:lnTo>
                  <a:pt x="2066925" y="1219200"/>
                </a:lnTo>
                <a:lnTo>
                  <a:pt x="20669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124200" y="944245"/>
            <a:ext cx="20574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66700" marR="336550" indent="127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load  Beetle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ss 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(derived)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181600" y="1409700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76200"/>
                </a:moveTo>
                <a:lnTo>
                  <a:pt x="609600" y="0"/>
                </a:lnTo>
                <a:lnTo>
                  <a:pt x="676275" y="33337"/>
                </a:lnTo>
                <a:lnTo>
                  <a:pt x="628650" y="33337"/>
                </a:lnTo>
                <a:lnTo>
                  <a:pt x="628650" y="42862"/>
                </a:lnTo>
                <a:lnTo>
                  <a:pt x="676275" y="42862"/>
                </a:lnTo>
                <a:lnTo>
                  <a:pt x="609600" y="76200"/>
                </a:lnTo>
                <a:close/>
              </a:path>
              <a:path w="685800" h="76200">
                <a:moveTo>
                  <a:pt x="609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  <a:path w="685800" h="76200">
                <a:moveTo>
                  <a:pt x="676275" y="42862"/>
                </a:moveTo>
                <a:lnTo>
                  <a:pt x="628650" y="42862"/>
                </a:lnTo>
                <a:lnTo>
                  <a:pt x="628650" y="33337"/>
                </a:lnTo>
                <a:lnTo>
                  <a:pt x="676275" y="33337"/>
                </a:lnTo>
                <a:lnTo>
                  <a:pt x="685800" y="38100"/>
                </a:lnTo>
                <a:lnTo>
                  <a:pt x="676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67400" y="914400"/>
            <a:ext cx="2057400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62637" y="909637"/>
            <a:ext cx="2066925" cy="1228725"/>
          </a:xfrm>
          <a:custGeom>
            <a:avLst/>
            <a:gdLst/>
            <a:ahLst/>
            <a:cxnLst/>
            <a:rect l="l" t="t" r="r" b="b"/>
            <a:pathLst>
              <a:path w="2066925" h="1228725">
                <a:moveTo>
                  <a:pt x="20669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066925" y="1223962"/>
                </a:lnTo>
                <a:lnTo>
                  <a:pt x="2066925" y="1228725"/>
                </a:lnTo>
                <a:close/>
              </a:path>
              <a:path w="20669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1228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1219200"/>
                </a:lnTo>
                <a:lnTo>
                  <a:pt x="2062162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057400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1223962"/>
                </a:moveTo>
                <a:lnTo>
                  <a:pt x="2057400" y="1223962"/>
                </a:lnTo>
                <a:lnTo>
                  <a:pt x="2062162" y="1219200"/>
                </a:lnTo>
                <a:lnTo>
                  <a:pt x="2066925" y="1219200"/>
                </a:lnTo>
                <a:lnTo>
                  <a:pt x="20669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867400" y="944245"/>
            <a:ext cx="20574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0830" marR="361950" indent="190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load 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Ins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ect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ss 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(base)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19900" y="213360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19800" y="2667000"/>
            <a:ext cx="2514600" cy="990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15037" y="2662237"/>
            <a:ext cx="2524125" cy="1000125"/>
          </a:xfrm>
          <a:custGeom>
            <a:avLst/>
            <a:gdLst/>
            <a:ahLst/>
            <a:cxnLst/>
            <a:rect l="l" t="t" r="r" b="b"/>
            <a:pathLst>
              <a:path w="2524125" h="1000125">
                <a:moveTo>
                  <a:pt x="2524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2524125" y="995362"/>
                </a:lnTo>
                <a:lnTo>
                  <a:pt x="2524125" y="1000125"/>
                </a:lnTo>
                <a:close/>
              </a:path>
              <a:path w="2524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10001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90600"/>
                </a:lnTo>
                <a:lnTo>
                  <a:pt x="2519362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2514600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95362"/>
                </a:moveTo>
                <a:lnTo>
                  <a:pt x="2514600" y="995362"/>
                </a:lnTo>
                <a:lnTo>
                  <a:pt x="2519362" y="990600"/>
                </a:lnTo>
                <a:lnTo>
                  <a:pt x="2524125" y="990600"/>
                </a:lnTo>
                <a:lnTo>
                  <a:pt x="2524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019800" y="2765425"/>
            <a:ext cx="25146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458470" marR="133985" indent="-393700">
              <a:lnSpc>
                <a:spcPct val="101000"/>
              </a:lnSpc>
              <a:spcBef>
                <a:spcPts val="70"/>
              </a:spcBef>
            </a:pP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static</a:t>
            </a:r>
            <a:r>
              <a:rPr dirty="0" sz="2400" spc="-60" b="1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initialization  in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base</a:t>
            </a:r>
            <a:r>
              <a:rPr dirty="0" sz="2400" spc="-20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410200" y="316230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6096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609600" h="76200">
                <a:moveTo>
                  <a:pt x="6096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95600" y="2667000"/>
            <a:ext cx="2514600" cy="914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90837" y="2662237"/>
            <a:ext cx="2524125" cy="923925"/>
          </a:xfrm>
          <a:custGeom>
            <a:avLst/>
            <a:gdLst/>
            <a:ahLst/>
            <a:cxnLst/>
            <a:rect l="l" t="t" r="r" b="b"/>
            <a:pathLst>
              <a:path w="2524125" h="923925">
                <a:moveTo>
                  <a:pt x="25241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2524125" y="919162"/>
                </a:lnTo>
                <a:lnTo>
                  <a:pt x="2524125" y="923925"/>
                </a:lnTo>
                <a:close/>
              </a:path>
              <a:path w="25241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9239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923925">
                <a:moveTo>
                  <a:pt x="2514600" y="9191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14400"/>
                </a:lnTo>
                <a:lnTo>
                  <a:pt x="2519362" y="914400"/>
                </a:lnTo>
                <a:lnTo>
                  <a:pt x="2514600" y="919162"/>
                </a:lnTo>
                <a:close/>
              </a:path>
              <a:path w="2524125" h="9239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2524125" h="923925">
                <a:moveTo>
                  <a:pt x="25146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2514600" y="914400"/>
                </a:lnTo>
                <a:lnTo>
                  <a:pt x="2514600" y="919162"/>
                </a:lnTo>
                <a:close/>
              </a:path>
              <a:path w="2524125" h="923925">
                <a:moveTo>
                  <a:pt x="2524125" y="919162"/>
                </a:moveTo>
                <a:lnTo>
                  <a:pt x="2514600" y="919162"/>
                </a:lnTo>
                <a:lnTo>
                  <a:pt x="2519362" y="914400"/>
                </a:lnTo>
                <a:lnTo>
                  <a:pt x="2524125" y="914400"/>
                </a:lnTo>
                <a:lnTo>
                  <a:pt x="25241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895600" y="2727325"/>
            <a:ext cx="25146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71780" marR="133985" indent="-207645">
              <a:lnSpc>
                <a:spcPct val="101000"/>
              </a:lnSpc>
              <a:spcBef>
                <a:spcPts val="70"/>
              </a:spcBef>
            </a:pP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static</a:t>
            </a:r>
            <a:r>
              <a:rPr dirty="0" sz="2400" spc="-60" b="1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initialization  in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derived</a:t>
            </a:r>
            <a:r>
              <a:rPr dirty="0" sz="2400" spc="-25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38400" y="31623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4572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457200" h="76200">
                <a:moveTo>
                  <a:pt x="4572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457200" y="33337"/>
                </a:lnTo>
                <a:lnTo>
                  <a:pt x="4572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81000" y="2667000"/>
            <a:ext cx="2057400" cy="914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6237" y="2662237"/>
            <a:ext cx="2066925" cy="923925"/>
          </a:xfrm>
          <a:custGeom>
            <a:avLst/>
            <a:gdLst/>
            <a:ahLst/>
            <a:cxnLst/>
            <a:rect l="l" t="t" r="r" b="b"/>
            <a:pathLst>
              <a:path w="2066925" h="923925">
                <a:moveTo>
                  <a:pt x="20669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2066925" y="919162"/>
                </a:lnTo>
                <a:lnTo>
                  <a:pt x="2066925" y="923925"/>
                </a:lnTo>
                <a:close/>
              </a:path>
              <a:path w="20669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9239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923925">
                <a:moveTo>
                  <a:pt x="2057400" y="9191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914400"/>
                </a:lnTo>
                <a:lnTo>
                  <a:pt x="2062162" y="914400"/>
                </a:lnTo>
                <a:lnTo>
                  <a:pt x="2057400" y="919162"/>
                </a:lnTo>
                <a:close/>
              </a:path>
              <a:path w="2066925" h="9239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2066925" h="923925">
                <a:moveTo>
                  <a:pt x="20574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2057400" y="914400"/>
                </a:lnTo>
                <a:lnTo>
                  <a:pt x="2057400" y="919162"/>
                </a:lnTo>
                <a:close/>
              </a:path>
              <a:path w="2066925" h="923925">
                <a:moveTo>
                  <a:pt x="2066925" y="919162"/>
                </a:moveTo>
                <a:lnTo>
                  <a:pt x="2057400" y="919162"/>
                </a:lnTo>
                <a:lnTo>
                  <a:pt x="2062162" y="914400"/>
                </a:lnTo>
                <a:lnTo>
                  <a:pt x="2066925" y="914400"/>
                </a:lnTo>
                <a:lnTo>
                  <a:pt x="20669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81000" y="2727325"/>
            <a:ext cx="20574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617855" marR="471170" indent="-215265">
              <a:lnSpc>
                <a:spcPct val="101000"/>
              </a:lnSpc>
              <a:spcBef>
                <a:spcPts val="7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dirty="0" sz="24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the  object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57300" y="358140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28600" y="4114800"/>
            <a:ext cx="2590800" cy="10668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23837" y="4110037"/>
            <a:ext cx="2600325" cy="1076325"/>
          </a:xfrm>
          <a:custGeom>
            <a:avLst/>
            <a:gdLst/>
            <a:ahLst/>
            <a:cxnLst/>
            <a:rect l="l" t="t" r="r" b="b"/>
            <a:pathLst>
              <a:path w="2600325" h="1076325">
                <a:moveTo>
                  <a:pt x="26003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2600325" y="1071562"/>
                </a:lnTo>
                <a:lnTo>
                  <a:pt x="2600325" y="1076325"/>
                </a:lnTo>
                <a:close/>
              </a:path>
              <a:path w="26003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0763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076325">
                <a:moveTo>
                  <a:pt x="2590800" y="10715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1066800"/>
                </a:lnTo>
                <a:lnTo>
                  <a:pt x="2595562" y="1066800"/>
                </a:lnTo>
                <a:lnTo>
                  <a:pt x="2590800" y="1071562"/>
                </a:lnTo>
                <a:close/>
              </a:path>
              <a:path w="2600325" h="10763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2600325" h="1076325">
                <a:moveTo>
                  <a:pt x="25908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2590800" y="1066800"/>
                </a:lnTo>
                <a:lnTo>
                  <a:pt x="2590800" y="1071562"/>
                </a:lnTo>
                <a:close/>
              </a:path>
              <a:path w="2600325" h="1076325">
                <a:moveTo>
                  <a:pt x="2600325" y="1071562"/>
                </a:moveTo>
                <a:lnTo>
                  <a:pt x="2590800" y="1071562"/>
                </a:lnTo>
                <a:lnTo>
                  <a:pt x="2595562" y="1066800"/>
                </a:lnTo>
                <a:lnTo>
                  <a:pt x="2600325" y="1066800"/>
                </a:lnTo>
                <a:lnTo>
                  <a:pt x="26003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228600" y="4251325"/>
            <a:ext cx="25908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8100" marR="109220" indent="254635">
              <a:lnSpc>
                <a:spcPct val="101000"/>
              </a:lnSpc>
              <a:spcBef>
                <a:spcPts val="7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Set the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memory 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the object to</a:t>
            </a:r>
            <a:r>
              <a:rPr dirty="0" sz="2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zero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819400" y="46101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76200"/>
                </a:moveTo>
                <a:lnTo>
                  <a:pt x="381000" y="0"/>
                </a:lnTo>
                <a:lnTo>
                  <a:pt x="447675" y="33337"/>
                </a:lnTo>
                <a:lnTo>
                  <a:pt x="400050" y="33337"/>
                </a:lnTo>
                <a:lnTo>
                  <a:pt x="400050" y="42862"/>
                </a:lnTo>
                <a:lnTo>
                  <a:pt x="447675" y="42862"/>
                </a:lnTo>
                <a:lnTo>
                  <a:pt x="381000" y="76200"/>
                </a:lnTo>
                <a:close/>
              </a:path>
              <a:path w="457200" h="76200">
                <a:moveTo>
                  <a:pt x="381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381000" y="33337"/>
                </a:lnTo>
                <a:lnTo>
                  <a:pt x="381000" y="42862"/>
                </a:lnTo>
                <a:close/>
              </a:path>
              <a:path w="457200" h="76200">
                <a:moveTo>
                  <a:pt x="447675" y="42862"/>
                </a:moveTo>
                <a:lnTo>
                  <a:pt x="400050" y="42862"/>
                </a:lnTo>
                <a:lnTo>
                  <a:pt x="400050" y="33337"/>
                </a:lnTo>
                <a:lnTo>
                  <a:pt x="447675" y="33337"/>
                </a:lnTo>
                <a:lnTo>
                  <a:pt x="457200" y="38100"/>
                </a:lnTo>
                <a:lnTo>
                  <a:pt x="447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276600" y="4038600"/>
            <a:ext cx="2590800" cy="1219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71837" y="4033837"/>
            <a:ext cx="2600325" cy="1228725"/>
          </a:xfrm>
          <a:custGeom>
            <a:avLst/>
            <a:gdLst/>
            <a:ahLst/>
            <a:cxnLst/>
            <a:rect l="l" t="t" r="r" b="b"/>
            <a:pathLst>
              <a:path w="2600325" h="1228725">
                <a:moveTo>
                  <a:pt x="26003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600325" y="1223962"/>
                </a:lnTo>
                <a:lnTo>
                  <a:pt x="2600325" y="1228725"/>
                </a:lnTo>
                <a:close/>
              </a:path>
              <a:path w="26003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2287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1219200"/>
                </a:lnTo>
                <a:lnTo>
                  <a:pt x="2595562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590800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1223962"/>
                </a:moveTo>
                <a:lnTo>
                  <a:pt x="2590800" y="1223962"/>
                </a:lnTo>
                <a:lnTo>
                  <a:pt x="2595562" y="1219200"/>
                </a:lnTo>
                <a:lnTo>
                  <a:pt x="2600325" y="1219200"/>
                </a:lnTo>
                <a:lnTo>
                  <a:pt x="26003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276600" y="4072254"/>
            <a:ext cx="2590800" cy="111887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171450" marR="237490">
              <a:lnSpc>
                <a:spcPct val="99500"/>
              </a:lnSpc>
              <a:spcBef>
                <a:spcPts val="115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instance</a:t>
            </a:r>
            <a:r>
              <a:rPr dirty="0" sz="24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variables  Initialization 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(base)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67400" y="46101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76200"/>
                </a:moveTo>
                <a:lnTo>
                  <a:pt x="381000" y="0"/>
                </a:lnTo>
                <a:lnTo>
                  <a:pt x="447675" y="33337"/>
                </a:lnTo>
                <a:lnTo>
                  <a:pt x="400050" y="33337"/>
                </a:lnTo>
                <a:lnTo>
                  <a:pt x="400050" y="42862"/>
                </a:lnTo>
                <a:lnTo>
                  <a:pt x="447675" y="42862"/>
                </a:lnTo>
                <a:lnTo>
                  <a:pt x="381000" y="76200"/>
                </a:lnTo>
                <a:close/>
              </a:path>
              <a:path w="457200" h="76200">
                <a:moveTo>
                  <a:pt x="381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381000" y="33337"/>
                </a:lnTo>
                <a:lnTo>
                  <a:pt x="381000" y="42862"/>
                </a:lnTo>
                <a:close/>
              </a:path>
              <a:path w="457200" h="76200">
                <a:moveTo>
                  <a:pt x="447675" y="42862"/>
                </a:moveTo>
                <a:lnTo>
                  <a:pt x="400050" y="42862"/>
                </a:lnTo>
                <a:lnTo>
                  <a:pt x="400050" y="33337"/>
                </a:lnTo>
                <a:lnTo>
                  <a:pt x="447675" y="33337"/>
                </a:lnTo>
                <a:lnTo>
                  <a:pt x="457200" y="38100"/>
                </a:lnTo>
                <a:lnTo>
                  <a:pt x="447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324600" y="4114800"/>
            <a:ext cx="2514600" cy="990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19837" y="4110037"/>
            <a:ext cx="2524125" cy="1000125"/>
          </a:xfrm>
          <a:custGeom>
            <a:avLst/>
            <a:gdLst/>
            <a:ahLst/>
            <a:cxnLst/>
            <a:rect l="l" t="t" r="r" b="b"/>
            <a:pathLst>
              <a:path w="2524125" h="1000125">
                <a:moveTo>
                  <a:pt x="2524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2524125" y="995362"/>
                </a:lnTo>
                <a:lnTo>
                  <a:pt x="2524125" y="1000125"/>
                </a:lnTo>
                <a:close/>
              </a:path>
              <a:path w="2524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10001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90600"/>
                </a:lnTo>
                <a:lnTo>
                  <a:pt x="2519362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2514600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95362"/>
                </a:moveTo>
                <a:lnTo>
                  <a:pt x="2514600" y="995362"/>
                </a:lnTo>
                <a:lnTo>
                  <a:pt x="2519362" y="990600"/>
                </a:lnTo>
                <a:lnTo>
                  <a:pt x="2524125" y="990600"/>
                </a:lnTo>
                <a:lnTo>
                  <a:pt x="2524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324600" y="4213225"/>
            <a:ext cx="25146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466725" marR="532765" indent="121285">
              <a:lnSpc>
                <a:spcPct val="101000"/>
              </a:lnSpc>
              <a:spcBef>
                <a:spcPts val="70"/>
              </a:spcBef>
            </a:pPr>
            <a:r>
              <a:rPr dirty="0" sz="2400" b="1">
                <a:solidFill>
                  <a:srgbClr val="ED7A07"/>
                </a:solidFill>
                <a:latin typeface="Times New Roman"/>
                <a:cs typeface="Times New Roman"/>
              </a:rPr>
              <a:t>base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class  c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onst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781800" y="5102034"/>
            <a:ext cx="842010" cy="842010"/>
          </a:xfrm>
          <a:custGeom>
            <a:avLst/>
            <a:gdLst/>
            <a:ahLst/>
            <a:cxnLst/>
            <a:rect l="l" t="t" r="r" b="b"/>
            <a:pathLst>
              <a:path w="842009" h="842010">
                <a:moveTo>
                  <a:pt x="57245" y="791051"/>
                </a:moveTo>
                <a:lnTo>
                  <a:pt x="50514" y="784320"/>
                </a:lnTo>
                <a:lnTo>
                  <a:pt x="834834" y="0"/>
                </a:lnTo>
                <a:lnTo>
                  <a:pt x="841565" y="6730"/>
                </a:lnTo>
                <a:lnTo>
                  <a:pt x="57245" y="791051"/>
                </a:lnTo>
                <a:close/>
              </a:path>
              <a:path w="842009" h="842010">
                <a:moveTo>
                  <a:pt x="0" y="841565"/>
                </a:moveTo>
                <a:lnTo>
                  <a:pt x="26936" y="760742"/>
                </a:lnTo>
                <a:lnTo>
                  <a:pt x="50514" y="784320"/>
                </a:lnTo>
                <a:lnTo>
                  <a:pt x="37045" y="797788"/>
                </a:lnTo>
                <a:lnTo>
                  <a:pt x="43776" y="804519"/>
                </a:lnTo>
                <a:lnTo>
                  <a:pt x="70713" y="804519"/>
                </a:lnTo>
                <a:lnTo>
                  <a:pt x="80822" y="814628"/>
                </a:lnTo>
                <a:lnTo>
                  <a:pt x="0" y="841565"/>
                </a:lnTo>
                <a:close/>
              </a:path>
              <a:path w="842009" h="842010">
                <a:moveTo>
                  <a:pt x="43776" y="804519"/>
                </a:moveTo>
                <a:lnTo>
                  <a:pt x="37045" y="797788"/>
                </a:lnTo>
                <a:lnTo>
                  <a:pt x="50514" y="784320"/>
                </a:lnTo>
                <a:lnTo>
                  <a:pt x="57245" y="791051"/>
                </a:lnTo>
                <a:lnTo>
                  <a:pt x="43776" y="804519"/>
                </a:lnTo>
                <a:close/>
              </a:path>
              <a:path w="842009" h="842010">
                <a:moveTo>
                  <a:pt x="70713" y="804519"/>
                </a:moveTo>
                <a:lnTo>
                  <a:pt x="43776" y="804519"/>
                </a:lnTo>
                <a:lnTo>
                  <a:pt x="57245" y="791051"/>
                </a:lnTo>
                <a:lnTo>
                  <a:pt x="70713" y="804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91000" y="5562600"/>
            <a:ext cx="2590800" cy="1219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186237" y="5557837"/>
            <a:ext cx="2600325" cy="1228725"/>
          </a:xfrm>
          <a:custGeom>
            <a:avLst/>
            <a:gdLst/>
            <a:ahLst/>
            <a:cxnLst/>
            <a:rect l="l" t="t" r="r" b="b"/>
            <a:pathLst>
              <a:path w="2600325" h="1228725">
                <a:moveTo>
                  <a:pt x="26003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600325" y="1223962"/>
                </a:lnTo>
                <a:lnTo>
                  <a:pt x="2600325" y="1228725"/>
                </a:lnTo>
                <a:close/>
              </a:path>
              <a:path w="26003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2287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1219200"/>
                </a:lnTo>
                <a:lnTo>
                  <a:pt x="2595562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590800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1223962"/>
                </a:moveTo>
                <a:lnTo>
                  <a:pt x="2590800" y="1223962"/>
                </a:lnTo>
                <a:lnTo>
                  <a:pt x="2595562" y="1219200"/>
                </a:lnTo>
                <a:lnTo>
                  <a:pt x="2600325" y="1219200"/>
                </a:lnTo>
                <a:lnTo>
                  <a:pt x="26003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4349750" y="5596254"/>
            <a:ext cx="2199640" cy="75311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58775" marR="5080" indent="-346075">
              <a:lnSpc>
                <a:spcPts val="2850"/>
              </a:lnSpc>
              <a:spcBef>
                <a:spcPts val="22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instance</a:t>
            </a:r>
            <a:r>
              <a:rPr dirty="0" sz="2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variables  Initialization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914900" y="6323965"/>
            <a:ext cx="1142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(derived)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429000" y="62103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7620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762000" h="76200">
                <a:moveTo>
                  <a:pt x="7620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762000" y="33337"/>
                </a:lnTo>
                <a:lnTo>
                  <a:pt x="7620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14400" y="5638800"/>
            <a:ext cx="2514600" cy="9906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909637" y="5634037"/>
            <a:ext cx="2524125" cy="1000125"/>
          </a:xfrm>
          <a:custGeom>
            <a:avLst/>
            <a:gdLst/>
            <a:ahLst/>
            <a:cxnLst/>
            <a:rect l="l" t="t" r="r" b="b"/>
            <a:pathLst>
              <a:path w="2524125" h="1000125">
                <a:moveTo>
                  <a:pt x="2524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2524125" y="995362"/>
                </a:lnTo>
                <a:lnTo>
                  <a:pt x="2524125" y="1000125"/>
                </a:lnTo>
                <a:close/>
              </a:path>
              <a:path w="2524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10001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90600"/>
                </a:lnTo>
                <a:lnTo>
                  <a:pt x="2519362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2514600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95362"/>
                </a:moveTo>
                <a:lnTo>
                  <a:pt x="2514600" y="995362"/>
                </a:lnTo>
                <a:lnTo>
                  <a:pt x="2519362" y="990600"/>
                </a:lnTo>
                <a:lnTo>
                  <a:pt x="2524125" y="990600"/>
                </a:lnTo>
                <a:lnTo>
                  <a:pt x="2524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914400" y="5737225"/>
            <a:ext cx="251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481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derived</a:t>
            </a:r>
            <a:r>
              <a:rPr dirty="0" sz="2400" spc="-10" b="1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14400" y="6106795"/>
            <a:ext cx="251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constructor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72288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/>
              <a:t>5</a:t>
            </a:r>
            <a:r>
              <a:rPr dirty="0" sz="2100"/>
              <a:t>.7	存粹的继承与扩展</a:t>
            </a:r>
            <a:endParaRPr sz="2100"/>
          </a:p>
        </p:txBody>
      </p:sp>
      <p:sp>
        <p:nvSpPr>
          <p:cNvPr id="3" name="object 3"/>
          <p:cNvSpPr/>
          <p:nvPr/>
        </p:nvSpPr>
        <p:spPr>
          <a:xfrm>
            <a:off x="409452" y="1557527"/>
            <a:ext cx="3478460" cy="2344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82089" y="5164454"/>
            <a:ext cx="635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1">
                <a:latin typeface="Times New Roman"/>
                <a:cs typeface="Times New Roman"/>
              </a:rPr>
              <a:t>is-</a:t>
            </a:r>
            <a:r>
              <a:rPr dirty="0" sz="3200" i="1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09653" y="1557527"/>
            <a:ext cx="2978112" cy="31801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26684" y="5308600"/>
            <a:ext cx="13576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1">
                <a:latin typeface="Times New Roman"/>
                <a:cs typeface="Times New Roman"/>
              </a:rPr>
              <a:t>is-like-a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3285" y="863155"/>
            <a:ext cx="3038475" cy="0"/>
          </a:xfrm>
          <a:custGeom>
            <a:avLst/>
            <a:gdLst/>
            <a:ahLst/>
            <a:cxnLst/>
            <a:rect l="l" t="t" r="r" b="b"/>
            <a:pathLst>
              <a:path w="3038475" h="0">
                <a:moveTo>
                  <a:pt x="0" y="0"/>
                </a:moveTo>
                <a:lnTo>
                  <a:pt x="3038246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62570" y="863155"/>
            <a:ext cx="2412365" cy="0"/>
          </a:xfrm>
          <a:custGeom>
            <a:avLst/>
            <a:gdLst/>
            <a:ahLst/>
            <a:cxnLst/>
            <a:rect l="l" t="t" r="r" b="b"/>
            <a:pathLst>
              <a:path w="2412365" h="0">
                <a:moveTo>
                  <a:pt x="0" y="0"/>
                </a:moveTo>
                <a:lnTo>
                  <a:pt x="2411857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2573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实验题目2</a:t>
            </a:r>
            <a:endParaRPr sz="2100"/>
          </a:p>
        </p:txBody>
      </p:sp>
      <p:sp>
        <p:nvSpPr>
          <p:cNvPr id="23" name="object 23"/>
          <p:cNvSpPr/>
          <p:nvPr/>
        </p:nvSpPr>
        <p:spPr>
          <a:xfrm>
            <a:off x="3574427" y="702348"/>
            <a:ext cx="2289175" cy="1296035"/>
          </a:xfrm>
          <a:custGeom>
            <a:avLst/>
            <a:gdLst/>
            <a:ahLst/>
            <a:cxnLst/>
            <a:rect l="l" t="t" r="r" b="b"/>
            <a:pathLst>
              <a:path w="2289175" h="1296035">
                <a:moveTo>
                  <a:pt x="0" y="0"/>
                </a:moveTo>
                <a:lnTo>
                  <a:pt x="2288857" y="0"/>
                </a:lnTo>
                <a:lnTo>
                  <a:pt x="2288857" y="1295603"/>
                </a:lnTo>
                <a:lnTo>
                  <a:pt x="0" y="1295603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74427" y="702348"/>
            <a:ext cx="2289175" cy="1296035"/>
          </a:xfrm>
          <a:custGeom>
            <a:avLst/>
            <a:gdLst/>
            <a:ahLst/>
            <a:cxnLst/>
            <a:rect l="l" t="t" r="r" b="b"/>
            <a:pathLst>
              <a:path w="2289175" h="1296035">
                <a:moveTo>
                  <a:pt x="0" y="0"/>
                </a:moveTo>
                <a:lnTo>
                  <a:pt x="2288857" y="0"/>
                </a:lnTo>
                <a:lnTo>
                  <a:pt x="2288857" y="1295603"/>
                </a:lnTo>
                <a:lnTo>
                  <a:pt x="0" y="1295603"/>
                </a:lnTo>
                <a:lnTo>
                  <a:pt x="0" y="0"/>
                </a:lnTo>
                <a:close/>
              </a:path>
            </a:pathLst>
          </a:custGeom>
          <a:ln w="1089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74427" y="941870"/>
            <a:ext cx="2299970" cy="0"/>
          </a:xfrm>
          <a:custGeom>
            <a:avLst/>
            <a:gdLst/>
            <a:ahLst/>
            <a:cxnLst/>
            <a:rect l="l" t="t" r="r" b="b"/>
            <a:pathLst>
              <a:path w="2299970" h="0">
                <a:moveTo>
                  <a:pt x="0" y="0"/>
                </a:moveTo>
                <a:lnTo>
                  <a:pt x="2299754" y="0"/>
                </a:lnTo>
              </a:path>
            </a:pathLst>
          </a:custGeom>
          <a:ln w="1089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616223" y="744130"/>
            <a:ext cx="2196465" cy="1214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1115">
              <a:lnSpc>
                <a:spcPct val="100000"/>
              </a:lnSpc>
              <a:spcBef>
                <a:spcPts val="90"/>
              </a:spcBef>
            </a:pPr>
            <a:r>
              <a:rPr dirty="0" sz="950" b="1">
                <a:latin typeface="Tahoma"/>
                <a:cs typeface="Tahoma"/>
              </a:rPr>
              <a:t>Question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ts val="1125"/>
              </a:lnSpc>
              <a:spcBef>
                <a:spcPts val="745"/>
              </a:spcBef>
            </a:pPr>
            <a:r>
              <a:rPr dirty="0" sz="950" spc="15">
                <a:latin typeface="Tahoma"/>
                <a:cs typeface="Tahoma"/>
              </a:rPr>
              <a:t>-text:</a:t>
            </a:r>
            <a:r>
              <a:rPr dirty="0" sz="950" spc="-35">
                <a:latin typeface="Tahoma"/>
                <a:cs typeface="Tahoma"/>
              </a:rPr>
              <a:t> </a:t>
            </a:r>
            <a:r>
              <a:rPr dirty="0" sz="950" spc="-15">
                <a:latin typeface="Tahoma"/>
                <a:cs typeface="Tahoma"/>
              </a:rPr>
              <a:t>String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ts val="1125"/>
              </a:lnSpc>
            </a:pPr>
            <a:r>
              <a:rPr dirty="0" sz="950" spc="-10">
                <a:latin typeface="Tahoma"/>
                <a:cs typeface="Tahoma"/>
              </a:rPr>
              <a:t>-options:</a:t>
            </a:r>
            <a:r>
              <a:rPr dirty="0" sz="950" spc="-35">
                <a:latin typeface="Tahoma"/>
                <a:cs typeface="Tahoma"/>
              </a:rPr>
              <a:t> </a:t>
            </a:r>
            <a:r>
              <a:rPr dirty="0" sz="950" spc="-15">
                <a:latin typeface="Tahoma"/>
                <a:cs typeface="Tahoma"/>
              </a:rPr>
              <a:t>String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ts val="1125"/>
              </a:lnSpc>
              <a:spcBef>
                <a:spcPts val="750"/>
              </a:spcBef>
            </a:pPr>
            <a:r>
              <a:rPr dirty="0" sz="950" spc="-10">
                <a:latin typeface="Tahoma"/>
                <a:cs typeface="Tahoma"/>
              </a:rPr>
              <a:t>+Question()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ts val="1115"/>
              </a:lnSpc>
            </a:pPr>
            <a:r>
              <a:rPr dirty="0" sz="950">
                <a:latin typeface="Tahoma"/>
                <a:cs typeface="Tahoma"/>
              </a:rPr>
              <a:t>+Question(text: </a:t>
            </a:r>
            <a:r>
              <a:rPr dirty="0" sz="950" spc="-15">
                <a:latin typeface="Tahoma"/>
                <a:cs typeface="Tahoma"/>
              </a:rPr>
              <a:t>String, </a:t>
            </a:r>
            <a:r>
              <a:rPr dirty="0" sz="950" spc="-10">
                <a:latin typeface="Tahoma"/>
                <a:cs typeface="Tahoma"/>
              </a:rPr>
              <a:t>options:</a:t>
            </a:r>
            <a:r>
              <a:rPr dirty="0" sz="950" spc="-45">
                <a:latin typeface="Tahoma"/>
                <a:cs typeface="Tahoma"/>
              </a:rPr>
              <a:t> </a:t>
            </a:r>
            <a:r>
              <a:rPr dirty="0" sz="950" spc="-15">
                <a:latin typeface="Tahoma"/>
                <a:cs typeface="Tahoma"/>
              </a:rPr>
              <a:t>String[])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ts val="1115"/>
              </a:lnSpc>
            </a:pPr>
            <a:r>
              <a:rPr dirty="0" sz="950" spc="-10">
                <a:latin typeface="Tahoma"/>
                <a:cs typeface="Tahoma"/>
              </a:rPr>
              <a:t>+check(answers: </a:t>
            </a:r>
            <a:r>
              <a:rPr dirty="0" sz="950" spc="-15">
                <a:latin typeface="Tahoma"/>
                <a:cs typeface="Tahoma"/>
              </a:rPr>
              <a:t>char[]):</a:t>
            </a:r>
            <a:r>
              <a:rPr dirty="0" sz="950" spc="-55">
                <a:latin typeface="Tahoma"/>
                <a:cs typeface="Tahoma"/>
              </a:rPr>
              <a:t> </a:t>
            </a:r>
            <a:r>
              <a:rPr dirty="0" sz="950" spc="-10">
                <a:latin typeface="Tahoma"/>
                <a:cs typeface="Tahoma"/>
              </a:rPr>
              <a:t>boolean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ts val="1125"/>
              </a:lnSpc>
            </a:pPr>
            <a:r>
              <a:rPr dirty="0" sz="950" spc="-15">
                <a:latin typeface="Tahoma"/>
                <a:cs typeface="Tahoma"/>
              </a:rPr>
              <a:t>+print():</a:t>
            </a:r>
            <a:r>
              <a:rPr dirty="0" sz="950" spc="-35">
                <a:latin typeface="Tahoma"/>
                <a:cs typeface="Tahoma"/>
              </a:rPr>
              <a:t> </a:t>
            </a:r>
            <a:r>
              <a:rPr dirty="0" sz="950" spc="-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74427" y="1322933"/>
            <a:ext cx="2299970" cy="0"/>
          </a:xfrm>
          <a:custGeom>
            <a:avLst/>
            <a:gdLst/>
            <a:ahLst/>
            <a:cxnLst/>
            <a:rect l="l" t="t" r="r" b="b"/>
            <a:pathLst>
              <a:path w="2299970" h="0">
                <a:moveTo>
                  <a:pt x="0" y="0"/>
                </a:moveTo>
                <a:lnTo>
                  <a:pt x="2299754" y="0"/>
                </a:lnTo>
              </a:path>
            </a:pathLst>
          </a:custGeom>
          <a:ln w="1089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258316" y="2482443"/>
          <a:ext cx="3340735" cy="1219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4225"/>
              </a:tblGrid>
              <a:tr h="239522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5" b="1">
                          <a:latin typeface="Tahoma"/>
                          <a:cs typeface="Tahoma"/>
                        </a:rPr>
                        <a:t>SingleQuestion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39521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5">
                          <a:latin typeface="Tahoma"/>
                          <a:cs typeface="Tahoma"/>
                        </a:rPr>
                        <a:t>-answer:</a:t>
                      </a:r>
                      <a:r>
                        <a:rPr dirty="0" sz="95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>
                          <a:latin typeface="Tahoma"/>
                          <a:cs typeface="Tahoma"/>
                        </a:rPr>
                        <a:t>char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29462">
                <a:tc>
                  <a:txBody>
                    <a:bodyPr/>
                    <a:lstStyle/>
                    <a:p>
                      <a:pPr marL="53975">
                        <a:lnSpc>
                          <a:spcPts val="1125"/>
                        </a:lnSpc>
                        <a:spcBef>
                          <a:spcPts val="420"/>
                        </a:spcBef>
                      </a:pPr>
                      <a:r>
                        <a:rPr dirty="0" sz="950" spc="-15">
                          <a:latin typeface="Tahoma"/>
                          <a:cs typeface="Tahoma"/>
                        </a:rPr>
                        <a:t>+SingleQuestion()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3975">
                        <a:lnSpc>
                          <a:spcPts val="1115"/>
                        </a:lnSpc>
                      </a:pPr>
                      <a:r>
                        <a:rPr dirty="0" sz="950" spc="-5">
                          <a:latin typeface="Tahoma"/>
                          <a:cs typeface="Tahoma"/>
                        </a:rPr>
                        <a:t>+SingleQuestion(text: </a:t>
                      </a:r>
                      <a:r>
                        <a:rPr dirty="0" sz="950" spc="-15">
                          <a:latin typeface="Tahoma"/>
                          <a:cs typeface="Tahoma"/>
                        </a:rPr>
                        <a:t>String, </a:t>
                      </a:r>
                      <a:r>
                        <a:rPr dirty="0" sz="950" spc="-10">
                          <a:latin typeface="Tahoma"/>
                          <a:cs typeface="Tahoma"/>
                        </a:rPr>
                        <a:t>options: </a:t>
                      </a:r>
                      <a:r>
                        <a:rPr dirty="0" sz="950" spc="-15">
                          <a:latin typeface="Tahoma"/>
                          <a:cs typeface="Tahoma"/>
                        </a:rPr>
                        <a:t>String[], </a:t>
                      </a:r>
                      <a:r>
                        <a:rPr dirty="0" sz="950" spc="-5">
                          <a:latin typeface="Tahoma"/>
                          <a:cs typeface="Tahoma"/>
                        </a:rPr>
                        <a:t>answer:</a:t>
                      </a:r>
                      <a:r>
                        <a:rPr dirty="0" sz="95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5">
                          <a:latin typeface="Tahoma"/>
                          <a:cs typeface="Tahoma"/>
                        </a:rPr>
                        <a:t>char)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3975">
                        <a:lnSpc>
                          <a:spcPts val="1125"/>
                        </a:lnSpc>
                      </a:pPr>
                      <a:r>
                        <a:rPr dirty="0" sz="950" spc="-10">
                          <a:latin typeface="Tahoma"/>
                          <a:cs typeface="Tahoma"/>
                        </a:rPr>
                        <a:t>+check(answers: </a:t>
                      </a:r>
                      <a:r>
                        <a:rPr dirty="0" sz="950" spc="-15">
                          <a:latin typeface="Tahoma"/>
                          <a:cs typeface="Tahoma"/>
                        </a:rPr>
                        <a:t>char[]):</a:t>
                      </a:r>
                      <a:r>
                        <a:rPr dirty="0" sz="95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>
                          <a:latin typeface="Tahoma"/>
                          <a:cs typeface="Tahoma"/>
                        </a:rPr>
                        <a:t>boolean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094884" y="2438895"/>
          <a:ext cx="3362960" cy="1252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5815"/>
              </a:tblGrid>
              <a:tr h="239522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5" b="1">
                          <a:latin typeface="Tahoma"/>
                          <a:cs typeface="Tahoma"/>
                        </a:rPr>
                        <a:t>MultiQuestion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3952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50" spc="-5">
                          <a:latin typeface="Tahoma"/>
                          <a:cs typeface="Tahoma"/>
                        </a:rPr>
                        <a:t>-answer:</a:t>
                      </a:r>
                      <a:r>
                        <a:rPr dirty="0" sz="95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>
                          <a:latin typeface="Tahoma"/>
                          <a:cs typeface="Tahoma"/>
                        </a:rPr>
                        <a:t>char[]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762126">
                <a:tc>
                  <a:txBody>
                    <a:bodyPr/>
                    <a:lstStyle/>
                    <a:p>
                      <a:pPr marL="53975">
                        <a:lnSpc>
                          <a:spcPts val="1125"/>
                        </a:lnSpc>
                        <a:spcBef>
                          <a:spcPts val="420"/>
                        </a:spcBef>
                      </a:pPr>
                      <a:r>
                        <a:rPr dirty="0" sz="950" spc="-15">
                          <a:latin typeface="Tahoma"/>
                          <a:cs typeface="Tahoma"/>
                        </a:rPr>
                        <a:t>+MultiQuestion()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3975">
                        <a:lnSpc>
                          <a:spcPts val="1115"/>
                        </a:lnSpc>
                      </a:pPr>
                      <a:r>
                        <a:rPr dirty="0" sz="950" spc="-10">
                          <a:latin typeface="Tahoma"/>
                          <a:cs typeface="Tahoma"/>
                        </a:rPr>
                        <a:t>+MultiQuestion(text: </a:t>
                      </a:r>
                      <a:r>
                        <a:rPr dirty="0" sz="950" spc="-15">
                          <a:latin typeface="Tahoma"/>
                          <a:cs typeface="Tahoma"/>
                        </a:rPr>
                        <a:t>String, </a:t>
                      </a:r>
                      <a:r>
                        <a:rPr dirty="0" sz="950" spc="-10">
                          <a:latin typeface="Tahoma"/>
                          <a:cs typeface="Tahoma"/>
                        </a:rPr>
                        <a:t>options: </a:t>
                      </a:r>
                      <a:r>
                        <a:rPr dirty="0" sz="950" spc="-15">
                          <a:latin typeface="Tahoma"/>
                          <a:cs typeface="Tahoma"/>
                        </a:rPr>
                        <a:t>String[], </a:t>
                      </a:r>
                      <a:r>
                        <a:rPr dirty="0" sz="950" spc="-5">
                          <a:latin typeface="Tahoma"/>
                          <a:cs typeface="Tahoma"/>
                        </a:rPr>
                        <a:t>answer:</a:t>
                      </a:r>
                      <a:r>
                        <a:rPr dirty="0" sz="950" spc="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>
                          <a:latin typeface="Tahoma"/>
                          <a:cs typeface="Tahoma"/>
                        </a:rPr>
                        <a:t>char[])</a:t>
                      </a:r>
                      <a:endParaRPr sz="950">
                        <a:latin typeface="Tahoma"/>
                        <a:cs typeface="Tahoma"/>
                      </a:endParaRPr>
                    </a:p>
                    <a:p>
                      <a:pPr marL="53975">
                        <a:lnSpc>
                          <a:spcPts val="1125"/>
                        </a:lnSpc>
                      </a:pPr>
                      <a:r>
                        <a:rPr dirty="0" sz="950" spc="-10">
                          <a:latin typeface="Tahoma"/>
                          <a:cs typeface="Tahoma"/>
                        </a:rPr>
                        <a:t>+check(answers: </a:t>
                      </a:r>
                      <a:r>
                        <a:rPr dirty="0" sz="950" spc="-15">
                          <a:latin typeface="Tahoma"/>
                          <a:cs typeface="Tahoma"/>
                        </a:rPr>
                        <a:t>char[]):</a:t>
                      </a:r>
                      <a:r>
                        <a:rPr dirty="0" sz="95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50" spc="-10">
                          <a:latin typeface="Tahoma"/>
                          <a:cs typeface="Tahoma"/>
                        </a:rPr>
                        <a:t>boolean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800000"/>
                      </a:solidFill>
                      <a:prstDash val="solid"/>
                    </a:lnL>
                    <a:lnR w="12700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3552621" y="2008835"/>
            <a:ext cx="490855" cy="479425"/>
          </a:xfrm>
          <a:custGeom>
            <a:avLst/>
            <a:gdLst/>
            <a:ahLst/>
            <a:cxnLst/>
            <a:rect l="l" t="t" r="r" b="b"/>
            <a:pathLst>
              <a:path w="490854" h="479425">
                <a:moveTo>
                  <a:pt x="0" y="479056"/>
                </a:moveTo>
                <a:lnTo>
                  <a:pt x="490474" y="0"/>
                </a:lnTo>
              </a:path>
            </a:pathLst>
          </a:custGeom>
          <a:ln w="1089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25113" y="2008835"/>
            <a:ext cx="218440" cy="217804"/>
          </a:xfrm>
          <a:custGeom>
            <a:avLst/>
            <a:gdLst/>
            <a:ahLst/>
            <a:cxnLst/>
            <a:rect l="l" t="t" r="r" b="b"/>
            <a:pathLst>
              <a:path w="218439" h="217805">
                <a:moveTo>
                  <a:pt x="130784" y="217754"/>
                </a:moveTo>
                <a:lnTo>
                  <a:pt x="217982" y="0"/>
                </a:lnTo>
                <a:lnTo>
                  <a:pt x="0" y="87109"/>
                </a:lnTo>
                <a:lnTo>
                  <a:pt x="130784" y="217754"/>
                </a:lnTo>
              </a:path>
            </a:pathLst>
          </a:custGeom>
          <a:ln w="1089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03608" y="2008835"/>
            <a:ext cx="523240" cy="435609"/>
          </a:xfrm>
          <a:custGeom>
            <a:avLst/>
            <a:gdLst/>
            <a:ahLst/>
            <a:cxnLst/>
            <a:rect l="l" t="t" r="r" b="b"/>
            <a:pathLst>
              <a:path w="523239" h="435610">
                <a:moveTo>
                  <a:pt x="523163" y="435508"/>
                </a:moveTo>
                <a:lnTo>
                  <a:pt x="0" y="0"/>
                </a:lnTo>
              </a:path>
            </a:pathLst>
          </a:custGeom>
          <a:ln w="1089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03608" y="2008835"/>
            <a:ext cx="229235" cy="207010"/>
          </a:xfrm>
          <a:custGeom>
            <a:avLst/>
            <a:gdLst/>
            <a:ahLst/>
            <a:cxnLst/>
            <a:rect l="l" t="t" r="r" b="b"/>
            <a:pathLst>
              <a:path w="229235" h="207010">
                <a:moveTo>
                  <a:pt x="228879" y="65328"/>
                </a:moveTo>
                <a:lnTo>
                  <a:pt x="0" y="0"/>
                </a:lnTo>
                <a:lnTo>
                  <a:pt x="108991" y="206870"/>
                </a:lnTo>
                <a:lnTo>
                  <a:pt x="228879" y="65328"/>
                </a:lnTo>
              </a:path>
            </a:pathLst>
          </a:custGeom>
          <a:ln w="1089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394460" y="3955415"/>
            <a:ext cx="243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三国演义中的三绝是谁</a:t>
            </a:r>
            <a:r>
              <a:rPr dirty="0" sz="1800" b="1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48</a:t>
            </a:fld>
          </a:p>
        </p:txBody>
      </p:sp>
      <p:sp>
        <p:nvSpPr>
          <p:cNvPr id="35" name="object 35"/>
          <p:cNvSpPr txBox="1"/>
          <p:nvPr/>
        </p:nvSpPr>
        <p:spPr>
          <a:xfrm>
            <a:off x="2953385" y="4231004"/>
            <a:ext cx="693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B</a:t>
            </a:r>
            <a:r>
              <a:rPr dirty="0" sz="1800" b="1">
                <a:latin typeface="Times New Roman"/>
                <a:cs typeface="Times New Roman"/>
              </a:rPr>
              <a:t>.</a:t>
            </a:r>
            <a:r>
              <a:rPr dirty="0" sz="1800" b="1">
                <a:latin typeface="宋体"/>
                <a:cs typeface="宋体"/>
              </a:rPr>
              <a:t>刘</a:t>
            </a:r>
            <a:r>
              <a:rPr dirty="0" sz="1800" spc="-10" b="1">
                <a:latin typeface="宋体"/>
                <a:cs typeface="宋体"/>
              </a:rPr>
              <a:t>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67784" y="4231004"/>
            <a:ext cx="7061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C.</a:t>
            </a:r>
            <a:r>
              <a:rPr dirty="0" sz="1800" b="1">
                <a:latin typeface="宋体"/>
                <a:cs typeface="宋体"/>
              </a:rPr>
              <a:t>关</a:t>
            </a:r>
            <a:r>
              <a:rPr dirty="0" sz="1800" spc="-10" b="1">
                <a:latin typeface="宋体"/>
                <a:cs typeface="宋体"/>
              </a:rPr>
              <a:t>羽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82184" y="4231004"/>
            <a:ext cx="935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D.</a:t>
            </a:r>
            <a:r>
              <a:rPr dirty="0" sz="1800" b="1">
                <a:latin typeface="宋体"/>
                <a:cs typeface="宋体"/>
              </a:rPr>
              <a:t>诸葛</a:t>
            </a:r>
            <a:r>
              <a:rPr dirty="0" sz="1800" spc="-10" b="1">
                <a:latin typeface="宋体"/>
                <a:cs typeface="宋体"/>
              </a:rPr>
              <a:t>亮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94460" y="4231004"/>
            <a:ext cx="1365250" cy="847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A.</a:t>
            </a:r>
            <a:r>
              <a:rPr dirty="0" sz="1800" b="1">
                <a:latin typeface="宋体"/>
                <a:cs typeface="宋体"/>
              </a:rPr>
              <a:t>曹</a:t>
            </a:r>
            <a:r>
              <a:rPr dirty="0" sz="1800" spc="-10" b="1">
                <a:latin typeface="宋体"/>
                <a:cs typeface="宋体"/>
              </a:rPr>
              <a:t>操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ts val="2160"/>
              </a:lnSpc>
              <a:spcBef>
                <a:spcPts val="65"/>
              </a:spcBef>
            </a:pPr>
            <a:r>
              <a:rPr dirty="0" sz="1800" b="1">
                <a:latin typeface="宋体"/>
                <a:cs typeface="宋体"/>
              </a:rPr>
              <a:t>请选择</a:t>
            </a:r>
            <a:r>
              <a:rPr dirty="0" sz="1800" b="1">
                <a:latin typeface="Times New Roman"/>
                <a:cs typeface="Times New Roman"/>
              </a:rPr>
              <a:t>:cad  </a:t>
            </a:r>
            <a:r>
              <a:rPr dirty="0" sz="1800" b="1">
                <a:latin typeface="宋体"/>
                <a:cs typeface="宋体"/>
              </a:rPr>
              <a:t>恭喜</a:t>
            </a:r>
            <a:r>
              <a:rPr dirty="0" sz="1800" b="1">
                <a:latin typeface="Times New Roman"/>
                <a:cs typeface="Times New Roman"/>
              </a:rPr>
              <a:t>,</a:t>
            </a:r>
            <a:r>
              <a:rPr dirty="0" sz="1800" spc="-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宋体"/>
                <a:cs typeface="宋体"/>
              </a:rPr>
              <a:t>答对了</a:t>
            </a:r>
            <a:r>
              <a:rPr dirty="0" sz="1800" b="1">
                <a:latin typeface="Times New Roman"/>
                <a:cs typeface="Times New Roman"/>
              </a:rPr>
              <a:t>!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94460" y="5205729"/>
            <a:ext cx="3242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最早向刘备推荐诸葛亮的是谁</a:t>
            </a:r>
            <a:r>
              <a:rPr dirty="0" sz="1800" spc="-10" b="1">
                <a:latin typeface="宋体"/>
                <a:cs typeface="宋体"/>
              </a:rPr>
              <a:t>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53385" y="5480684"/>
            <a:ext cx="92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B</a:t>
            </a:r>
            <a:r>
              <a:rPr dirty="0" sz="1800" b="1">
                <a:latin typeface="Times New Roman"/>
                <a:cs typeface="Times New Roman"/>
              </a:rPr>
              <a:t>.</a:t>
            </a:r>
            <a:r>
              <a:rPr dirty="0" sz="1800" b="1">
                <a:latin typeface="宋体"/>
                <a:cs typeface="宋体"/>
              </a:rPr>
              <a:t>司马</a:t>
            </a:r>
            <a:r>
              <a:rPr dirty="0" sz="1800" spc="-10" b="1">
                <a:latin typeface="宋体"/>
                <a:cs typeface="宋体"/>
              </a:rPr>
              <a:t>徽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82184" y="5480684"/>
            <a:ext cx="7061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C.</a:t>
            </a:r>
            <a:r>
              <a:rPr dirty="0" sz="1800" b="1">
                <a:latin typeface="宋体"/>
                <a:cs typeface="宋体"/>
              </a:rPr>
              <a:t>鲁</a:t>
            </a:r>
            <a:r>
              <a:rPr dirty="0" sz="1800" spc="-10" b="1">
                <a:latin typeface="宋体"/>
                <a:cs typeface="宋体"/>
              </a:rPr>
              <a:t>肃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696584" y="5480684"/>
            <a:ext cx="7061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D.</a:t>
            </a:r>
            <a:r>
              <a:rPr dirty="0" sz="1800" b="1">
                <a:latin typeface="宋体"/>
                <a:cs typeface="宋体"/>
              </a:rPr>
              <a:t>关</a:t>
            </a:r>
            <a:r>
              <a:rPr dirty="0" sz="1800" spc="-10" b="1">
                <a:latin typeface="宋体"/>
                <a:cs typeface="宋体"/>
              </a:rPr>
              <a:t>羽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94460" y="5480684"/>
            <a:ext cx="1250950" cy="847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908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A.</a:t>
            </a:r>
            <a:r>
              <a:rPr dirty="0" sz="1800" b="1">
                <a:latin typeface="宋体"/>
                <a:cs typeface="宋体"/>
              </a:rPr>
              <a:t>徐</a:t>
            </a:r>
            <a:r>
              <a:rPr dirty="0" sz="1800" spc="-10" b="1">
                <a:latin typeface="宋体"/>
                <a:cs typeface="宋体"/>
              </a:rPr>
              <a:t>庶 </a:t>
            </a:r>
            <a:r>
              <a:rPr dirty="0" sz="1800" b="1">
                <a:latin typeface="宋体"/>
                <a:cs typeface="宋体"/>
              </a:rPr>
              <a:t>请选择</a:t>
            </a:r>
            <a:r>
              <a:rPr dirty="0" sz="1800" b="1">
                <a:latin typeface="Times New Roman"/>
                <a:cs typeface="Times New Roman"/>
              </a:rPr>
              <a:t>:A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50"/>
              </a:lnSpc>
            </a:pPr>
            <a:r>
              <a:rPr dirty="0" sz="1800" b="1">
                <a:latin typeface="宋体"/>
                <a:cs typeface="宋体"/>
              </a:rPr>
              <a:t>还得努力呀</a:t>
            </a:r>
            <a:r>
              <a:rPr dirty="0" sz="1800" b="1">
                <a:latin typeface="Times New Roman"/>
                <a:cs typeface="Times New Roman"/>
              </a:rPr>
              <a:t>!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2024-05-05T07:52:52Z</dcterms:created>
  <dcterms:modified xsi:type="dcterms:W3CDTF">2024-05-05T07:52:52Z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2024-05-05T00:00:00Z</vt:filetime>
  </property>
</Properties>
</file>
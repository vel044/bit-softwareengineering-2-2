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5" r:id="rId78"/>
    <p:sldId id="336" r:id="rId79"/>
    <p:sldId id="337" r:id="rId80"/>
    <p:sldId id="338" r:id="rId81"/>
    <p:sldId id="339" r:id="rId82"/>
    <p:sldId id="340" r:id="rId8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57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140207" y="1631314"/>
            <a:ext cx="195072" cy="1955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1365884"/>
            <a:ext cx="3145154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8595" y="1246505"/>
            <a:ext cx="8326120" cy="3874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52.png"/><Relationship Id="rId7" Type="http://schemas.openxmlformats.org/officeDocument/2006/relationships/image" Target="../media/image57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66.png"/><Relationship Id="rId5" Type="http://schemas.openxmlformats.org/officeDocument/2006/relationships/image" Target="../media/image4.png"/><Relationship Id="rId10" Type="http://schemas.openxmlformats.org/officeDocument/2006/relationships/image" Target="../media/image6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1.jpg"/><Relationship Id="rId4" Type="http://schemas.openxmlformats.org/officeDocument/2006/relationships/image" Target="../media/image8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540115" cy="433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标识符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dirty="0">
                <a:latin typeface="宋体"/>
                <a:cs typeface="宋体"/>
              </a:rPr>
              <a:t>程序员声明的单词，命名程序中的一些实</a:t>
            </a:r>
            <a:r>
              <a:rPr sz="2800" spc="-5" dirty="0">
                <a:latin typeface="宋体"/>
                <a:cs typeface="宋体"/>
              </a:rPr>
              <a:t>体</a:t>
            </a:r>
            <a:endParaRPr sz="2800" dirty="0">
              <a:latin typeface="宋体"/>
              <a:cs typeface="宋体"/>
            </a:endParaRPr>
          </a:p>
          <a:p>
            <a:pPr marL="184150">
              <a:lnSpc>
                <a:spcPts val="3190"/>
              </a:lnSpc>
            </a:pPr>
            <a:r>
              <a:rPr sz="2800" dirty="0">
                <a:latin typeface="宋体"/>
                <a:cs typeface="宋体"/>
              </a:rPr>
              <a:t>。如类名、对象名、方法名、变量名等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5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Java标识符命名规</a:t>
            </a:r>
            <a:r>
              <a:rPr sz="2800" b="1" spc="-20" dirty="0">
                <a:solidFill>
                  <a:srgbClr val="FF0000"/>
                </a:solidFill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以字母、下划线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(_)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或美元符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$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开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始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527050" marR="182245" lvl="1" indent="-171450">
              <a:lnSpc>
                <a:spcPts val="302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可以由大写字母、小写字母、下划线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(_)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、数字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0~9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组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成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527050" lvl="1" indent="-171450">
              <a:lnSpc>
                <a:spcPts val="3350"/>
              </a:lnSpc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不能是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Java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的关键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字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大写字母和小写字母代表不同的标识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符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不使用系统预定义的保留字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（null</a:t>
            </a:r>
            <a:r>
              <a:rPr sz="2800" spc="-35" dirty="0">
                <a:highlight>
                  <a:srgbClr val="FFFF00"/>
                </a:highlight>
                <a:latin typeface="宋体"/>
                <a:cs typeface="宋体"/>
              </a:rPr>
              <a:t> 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false</a:t>
            </a:r>
            <a:r>
              <a:rPr sz="2800" spc="-30" dirty="0">
                <a:highlight>
                  <a:srgbClr val="FFFF00"/>
                </a:highlight>
                <a:latin typeface="宋体"/>
                <a:cs typeface="宋体"/>
              </a:rPr>
              <a:t> 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true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等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）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7532" y="1772411"/>
            <a:ext cx="6125210" cy="1815464"/>
          </a:xfrm>
          <a:custGeom>
            <a:avLst/>
            <a:gdLst/>
            <a:ahLst/>
            <a:cxnLst/>
            <a:rect l="l" t="t" r="r" b="b"/>
            <a:pathLst>
              <a:path w="6125209" h="1815464">
                <a:moveTo>
                  <a:pt x="0" y="0"/>
                </a:moveTo>
                <a:lnTo>
                  <a:pt x="6124956" y="0"/>
                </a:lnTo>
                <a:lnTo>
                  <a:pt x="6124956" y="1815084"/>
                </a:lnTo>
                <a:lnTo>
                  <a:pt x="0" y="1815084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1232" y="1766468"/>
            <a:ext cx="6137275" cy="1827530"/>
          </a:xfrm>
          <a:custGeom>
            <a:avLst/>
            <a:gdLst/>
            <a:ahLst/>
            <a:cxnLst/>
            <a:rect l="l" t="t" r="r" b="b"/>
            <a:pathLst>
              <a:path w="6137275" h="1827529">
                <a:moveTo>
                  <a:pt x="6137275" y="1827530"/>
                </a:moveTo>
                <a:lnTo>
                  <a:pt x="0" y="1827530"/>
                </a:lnTo>
                <a:lnTo>
                  <a:pt x="0" y="0"/>
                </a:lnTo>
                <a:lnTo>
                  <a:pt x="6137275" y="0"/>
                </a:lnTo>
                <a:lnTo>
                  <a:pt x="613727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814830"/>
                </a:lnTo>
                <a:lnTo>
                  <a:pt x="6350" y="1814830"/>
                </a:lnTo>
                <a:lnTo>
                  <a:pt x="12700" y="1821180"/>
                </a:lnTo>
                <a:lnTo>
                  <a:pt x="6137275" y="1821180"/>
                </a:lnTo>
                <a:lnTo>
                  <a:pt x="6137275" y="1827530"/>
                </a:lnTo>
                <a:close/>
              </a:path>
              <a:path w="6137275" h="182752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137275" h="1827529">
                <a:moveTo>
                  <a:pt x="612457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124575" y="6350"/>
                </a:lnTo>
                <a:lnTo>
                  <a:pt x="6124575" y="12700"/>
                </a:lnTo>
                <a:close/>
              </a:path>
              <a:path w="6137275" h="1827529">
                <a:moveTo>
                  <a:pt x="6124575" y="1821180"/>
                </a:moveTo>
                <a:lnTo>
                  <a:pt x="6124575" y="6350"/>
                </a:lnTo>
                <a:lnTo>
                  <a:pt x="6130925" y="12700"/>
                </a:lnTo>
                <a:lnTo>
                  <a:pt x="6137275" y="12700"/>
                </a:lnTo>
                <a:lnTo>
                  <a:pt x="6137275" y="1814830"/>
                </a:lnTo>
                <a:lnTo>
                  <a:pt x="6130925" y="1814830"/>
                </a:lnTo>
                <a:lnTo>
                  <a:pt x="6124575" y="1821180"/>
                </a:lnTo>
                <a:close/>
              </a:path>
              <a:path w="6137275" h="1827529">
                <a:moveTo>
                  <a:pt x="6137275" y="12700"/>
                </a:moveTo>
                <a:lnTo>
                  <a:pt x="6130925" y="12700"/>
                </a:lnTo>
                <a:lnTo>
                  <a:pt x="6124575" y="6350"/>
                </a:lnTo>
                <a:lnTo>
                  <a:pt x="6137275" y="6350"/>
                </a:lnTo>
                <a:lnTo>
                  <a:pt x="6137275" y="12700"/>
                </a:lnTo>
                <a:close/>
              </a:path>
              <a:path w="6137275" h="1827529">
                <a:moveTo>
                  <a:pt x="12700" y="1821180"/>
                </a:moveTo>
                <a:lnTo>
                  <a:pt x="6350" y="1814830"/>
                </a:lnTo>
                <a:lnTo>
                  <a:pt x="12700" y="1814830"/>
                </a:lnTo>
                <a:lnTo>
                  <a:pt x="12700" y="1821180"/>
                </a:lnTo>
                <a:close/>
              </a:path>
              <a:path w="6137275" h="1827529">
                <a:moveTo>
                  <a:pt x="6124575" y="1821180"/>
                </a:moveTo>
                <a:lnTo>
                  <a:pt x="12700" y="1821180"/>
                </a:lnTo>
                <a:lnTo>
                  <a:pt x="12700" y="1814830"/>
                </a:lnTo>
                <a:lnTo>
                  <a:pt x="6124575" y="1814830"/>
                </a:lnTo>
                <a:lnTo>
                  <a:pt x="6124575" y="1821180"/>
                </a:lnTo>
                <a:close/>
              </a:path>
              <a:path w="6137275" h="1827529">
                <a:moveTo>
                  <a:pt x="6137275" y="1821180"/>
                </a:moveTo>
                <a:lnTo>
                  <a:pt x="6124575" y="1821180"/>
                </a:lnTo>
                <a:lnTo>
                  <a:pt x="6130925" y="1814830"/>
                </a:lnTo>
                <a:lnTo>
                  <a:pt x="6137275" y="1814830"/>
                </a:lnTo>
                <a:lnTo>
                  <a:pt x="6137275" y="1821180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6134" y="2630423"/>
            <a:ext cx="2743200" cy="1692910"/>
          </a:xfrm>
          <a:custGeom>
            <a:avLst/>
            <a:gdLst/>
            <a:ahLst/>
            <a:cxnLst/>
            <a:rect l="l" t="t" r="r" b="b"/>
            <a:pathLst>
              <a:path w="2743200" h="1692910">
                <a:moveTo>
                  <a:pt x="1371600" y="1692351"/>
                </a:moveTo>
                <a:lnTo>
                  <a:pt x="1296343" y="1691956"/>
                </a:lnTo>
                <a:lnTo>
                  <a:pt x="1222148" y="1690786"/>
                </a:lnTo>
                <a:lnTo>
                  <a:pt x="1149118" y="1688860"/>
                </a:lnTo>
                <a:lnTo>
                  <a:pt x="1077358" y="1686199"/>
                </a:lnTo>
                <a:lnTo>
                  <a:pt x="1006973" y="1682824"/>
                </a:lnTo>
                <a:lnTo>
                  <a:pt x="938067" y="1678754"/>
                </a:lnTo>
                <a:lnTo>
                  <a:pt x="870744" y="1674010"/>
                </a:lnTo>
                <a:lnTo>
                  <a:pt x="805110" y="1668613"/>
                </a:lnTo>
                <a:lnTo>
                  <a:pt x="741269" y="1662582"/>
                </a:lnTo>
                <a:lnTo>
                  <a:pt x="679325" y="1655938"/>
                </a:lnTo>
                <a:lnTo>
                  <a:pt x="619384" y="1648702"/>
                </a:lnTo>
                <a:lnTo>
                  <a:pt x="561549" y="1640893"/>
                </a:lnTo>
                <a:lnTo>
                  <a:pt x="505925" y="1632532"/>
                </a:lnTo>
                <a:lnTo>
                  <a:pt x="452618" y="1623640"/>
                </a:lnTo>
                <a:lnTo>
                  <a:pt x="401731" y="1614236"/>
                </a:lnTo>
                <a:lnTo>
                  <a:pt x="353369" y="1604341"/>
                </a:lnTo>
                <a:lnTo>
                  <a:pt x="307636" y="1593976"/>
                </a:lnTo>
                <a:lnTo>
                  <a:pt x="264638" y="1583160"/>
                </a:lnTo>
                <a:lnTo>
                  <a:pt x="224478" y="1571915"/>
                </a:lnTo>
                <a:lnTo>
                  <a:pt x="187262" y="1560259"/>
                </a:lnTo>
                <a:lnTo>
                  <a:pt x="122079" y="1535801"/>
                </a:lnTo>
                <a:lnTo>
                  <a:pt x="69924" y="1509949"/>
                </a:lnTo>
                <a:lnTo>
                  <a:pt x="31635" y="1482864"/>
                </a:lnTo>
                <a:lnTo>
                  <a:pt x="2029" y="1440284"/>
                </a:lnTo>
                <a:lnTo>
                  <a:pt x="0" y="1425651"/>
                </a:lnTo>
                <a:lnTo>
                  <a:pt x="2620" y="1409027"/>
                </a:lnTo>
                <a:lnTo>
                  <a:pt x="23124" y="1376620"/>
                </a:lnTo>
                <a:lnTo>
                  <a:pt x="62949" y="1345538"/>
                </a:lnTo>
                <a:lnTo>
                  <a:pt x="120861" y="1316021"/>
                </a:lnTo>
                <a:lnTo>
                  <a:pt x="195623" y="1288309"/>
                </a:lnTo>
                <a:lnTo>
                  <a:pt x="238938" y="1275207"/>
                </a:lnTo>
                <a:lnTo>
                  <a:pt x="286003" y="1262646"/>
                </a:lnTo>
                <a:lnTo>
                  <a:pt x="336663" y="1250657"/>
                </a:lnTo>
                <a:lnTo>
                  <a:pt x="390765" y="1239271"/>
                </a:lnTo>
                <a:lnTo>
                  <a:pt x="448153" y="1228517"/>
                </a:lnTo>
                <a:lnTo>
                  <a:pt x="508674" y="1218425"/>
                </a:lnTo>
                <a:lnTo>
                  <a:pt x="572173" y="1209027"/>
                </a:lnTo>
                <a:lnTo>
                  <a:pt x="638497" y="1200351"/>
                </a:lnTo>
                <a:lnTo>
                  <a:pt x="707489" y="1192428"/>
                </a:lnTo>
                <a:lnTo>
                  <a:pt x="778997" y="1185288"/>
                </a:lnTo>
                <a:lnTo>
                  <a:pt x="852866" y="1178962"/>
                </a:lnTo>
                <a:lnTo>
                  <a:pt x="928941" y="1173479"/>
                </a:lnTo>
                <a:lnTo>
                  <a:pt x="371157" y="0"/>
                </a:lnTo>
                <a:lnTo>
                  <a:pt x="1448625" y="1159764"/>
                </a:lnTo>
                <a:lnTo>
                  <a:pt x="1522758" y="1160916"/>
                </a:lnTo>
                <a:lnTo>
                  <a:pt x="1595721" y="1162823"/>
                </a:lnTo>
                <a:lnTo>
                  <a:pt x="1667411" y="1165467"/>
                </a:lnTo>
                <a:lnTo>
                  <a:pt x="1737724" y="1168826"/>
                </a:lnTo>
                <a:lnTo>
                  <a:pt x="1806555" y="1172879"/>
                </a:lnTo>
                <a:lnTo>
                  <a:pt x="1873800" y="1177607"/>
                </a:lnTo>
                <a:lnTo>
                  <a:pt x="1939355" y="1182989"/>
                </a:lnTo>
                <a:lnTo>
                  <a:pt x="2003116" y="1189005"/>
                </a:lnTo>
                <a:lnTo>
                  <a:pt x="2064978" y="1195635"/>
                </a:lnTo>
                <a:lnTo>
                  <a:pt x="2124838" y="1202857"/>
                </a:lnTo>
                <a:lnTo>
                  <a:pt x="2182592" y="1210651"/>
                </a:lnTo>
                <a:lnTo>
                  <a:pt x="2238135" y="1218999"/>
                </a:lnTo>
                <a:lnTo>
                  <a:pt x="2291363" y="1227877"/>
                </a:lnTo>
                <a:lnTo>
                  <a:pt x="2342172" y="1237268"/>
                </a:lnTo>
                <a:lnTo>
                  <a:pt x="2390458" y="1247149"/>
                </a:lnTo>
                <a:lnTo>
                  <a:pt x="2436116" y="1257502"/>
                </a:lnTo>
                <a:lnTo>
                  <a:pt x="2479043" y="1268304"/>
                </a:lnTo>
                <a:lnTo>
                  <a:pt x="2519134" y="1279537"/>
                </a:lnTo>
                <a:lnTo>
                  <a:pt x="2556286" y="1291179"/>
                </a:lnTo>
                <a:lnTo>
                  <a:pt x="2621353" y="1315611"/>
                </a:lnTo>
                <a:lnTo>
                  <a:pt x="2673411" y="1341437"/>
                </a:lnTo>
                <a:lnTo>
                  <a:pt x="2711627" y="1368495"/>
                </a:lnTo>
                <a:lnTo>
                  <a:pt x="2741174" y="1411032"/>
                </a:lnTo>
                <a:lnTo>
                  <a:pt x="2743200" y="1425651"/>
                </a:lnTo>
                <a:lnTo>
                  <a:pt x="2741170" y="1440284"/>
                </a:lnTo>
                <a:lnTo>
                  <a:pt x="2711563" y="1482864"/>
                </a:lnTo>
                <a:lnTo>
                  <a:pt x="2673274" y="1509949"/>
                </a:lnTo>
                <a:lnTo>
                  <a:pt x="2621118" y="1535801"/>
                </a:lnTo>
                <a:lnTo>
                  <a:pt x="2555934" y="1560259"/>
                </a:lnTo>
                <a:lnTo>
                  <a:pt x="2518717" y="1571915"/>
                </a:lnTo>
                <a:lnTo>
                  <a:pt x="2478558" y="1583160"/>
                </a:lnTo>
                <a:lnTo>
                  <a:pt x="2435559" y="1593976"/>
                </a:lnTo>
                <a:lnTo>
                  <a:pt x="2389826" y="1604341"/>
                </a:lnTo>
                <a:lnTo>
                  <a:pt x="2341464" y="1614236"/>
                </a:lnTo>
                <a:lnTo>
                  <a:pt x="2290576" y="1623640"/>
                </a:lnTo>
                <a:lnTo>
                  <a:pt x="2237268" y="1632532"/>
                </a:lnTo>
                <a:lnTo>
                  <a:pt x="2181645" y="1640893"/>
                </a:lnTo>
                <a:lnTo>
                  <a:pt x="2123810" y="1648702"/>
                </a:lnTo>
                <a:lnTo>
                  <a:pt x="2063868" y="1655938"/>
                </a:lnTo>
                <a:lnTo>
                  <a:pt x="2001924" y="1662582"/>
                </a:lnTo>
                <a:lnTo>
                  <a:pt x="1938083" y="1668613"/>
                </a:lnTo>
                <a:lnTo>
                  <a:pt x="1872450" y="1674010"/>
                </a:lnTo>
                <a:lnTo>
                  <a:pt x="1805128" y="1678754"/>
                </a:lnTo>
                <a:lnTo>
                  <a:pt x="1736222" y="1682824"/>
                </a:lnTo>
                <a:lnTo>
                  <a:pt x="1665837" y="1686199"/>
                </a:lnTo>
                <a:lnTo>
                  <a:pt x="1594078" y="1688860"/>
                </a:lnTo>
                <a:lnTo>
                  <a:pt x="1521049" y="1690786"/>
                </a:lnTo>
                <a:lnTo>
                  <a:pt x="1446854" y="1691956"/>
                </a:lnTo>
                <a:lnTo>
                  <a:pt x="1371600" y="1692351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51448" y="2604795"/>
            <a:ext cx="2752725" cy="1714500"/>
          </a:xfrm>
          <a:custGeom>
            <a:avLst/>
            <a:gdLst/>
            <a:ahLst/>
            <a:cxnLst/>
            <a:rect l="l" t="t" r="r" b="b"/>
            <a:pathLst>
              <a:path w="2752725" h="1714500">
                <a:moveTo>
                  <a:pt x="884351" y="1206500"/>
                </a:moveTo>
                <a:lnTo>
                  <a:pt x="738631" y="1206500"/>
                </a:lnTo>
                <a:lnTo>
                  <a:pt x="785977" y="1193800"/>
                </a:lnTo>
                <a:lnTo>
                  <a:pt x="929944" y="1193800"/>
                </a:lnTo>
                <a:lnTo>
                  <a:pt x="357847" y="0"/>
                </a:lnTo>
                <a:lnTo>
                  <a:pt x="375771" y="19260"/>
                </a:lnTo>
                <a:lnTo>
                  <a:pt x="372008" y="25400"/>
                </a:lnTo>
                <a:lnTo>
                  <a:pt x="400179" y="55563"/>
                </a:lnTo>
                <a:lnTo>
                  <a:pt x="941539" y="1193800"/>
                </a:lnTo>
                <a:lnTo>
                  <a:pt x="884351" y="1206500"/>
                </a:lnTo>
                <a:close/>
              </a:path>
              <a:path w="2752725" h="1714500">
                <a:moveTo>
                  <a:pt x="390379" y="34957"/>
                </a:moveTo>
                <a:lnTo>
                  <a:pt x="375771" y="19260"/>
                </a:lnTo>
                <a:lnTo>
                  <a:pt x="379793" y="12700"/>
                </a:lnTo>
                <a:lnTo>
                  <a:pt x="390379" y="34957"/>
                </a:lnTo>
                <a:close/>
              </a:path>
              <a:path w="2752725" h="1714500">
                <a:moveTo>
                  <a:pt x="400179" y="55563"/>
                </a:moveTo>
                <a:lnTo>
                  <a:pt x="372008" y="25400"/>
                </a:lnTo>
                <a:lnTo>
                  <a:pt x="375771" y="19260"/>
                </a:lnTo>
                <a:lnTo>
                  <a:pt x="390379" y="34957"/>
                </a:lnTo>
                <a:lnTo>
                  <a:pt x="400179" y="55563"/>
                </a:lnTo>
                <a:close/>
              </a:path>
              <a:path w="2752725" h="1714500">
                <a:moveTo>
                  <a:pt x="1456982" y="1181100"/>
                </a:moveTo>
                <a:lnTo>
                  <a:pt x="1451394" y="1181100"/>
                </a:lnTo>
                <a:lnTo>
                  <a:pt x="400179" y="55563"/>
                </a:lnTo>
                <a:lnTo>
                  <a:pt x="390379" y="34957"/>
                </a:lnTo>
                <a:lnTo>
                  <a:pt x="1456982" y="1181100"/>
                </a:lnTo>
                <a:close/>
              </a:path>
              <a:path w="2752725" h="1714500">
                <a:moveTo>
                  <a:pt x="1520799" y="1181100"/>
                </a:moveTo>
                <a:lnTo>
                  <a:pt x="1456982" y="1181100"/>
                </a:lnTo>
                <a:lnTo>
                  <a:pt x="1453553" y="1168400"/>
                </a:lnTo>
                <a:lnTo>
                  <a:pt x="1487284" y="1168400"/>
                </a:lnTo>
                <a:lnTo>
                  <a:pt x="1520799" y="1181100"/>
                </a:lnTo>
                <a:close/>
              </a:path>
              <a:path w="2752725" h="1714500">
                <a:moveTo>
                  <a:pt x="1841296" y="1193800"/>
                </a:moveTo>
                <a:lnTo>
                  <a:pt x="1652028" y="1193800"/>
                </a:lnTo>
                <a:lnTo>
                  <a:pt x="1619542" y="1181100"/>
                </a:lnTo>
                <a:lnTo>
                  <a:pt x="1810588" y="1181100"/>
                </a:lnTo>
                <a:lnTo>
                  <a:pt x="1841296" y="1193800"/>
                </a:lnTo>
                <a:close/>
              </a:path>
              <a:path w="2752725" h="1714500">
                <a:moveTo>
                  <a:pt x="1989594" y="1206500"/>
                </a:moveTo>
                <a:lnTo>
                  <a:pt x="1870951" y="1206500"/>
                </a:lnTo>
                <a:lnTo>
                  <a:pt x="1840611" y="1193800"/>
                </a:lnTo>
                <a:lnTo>
                  <a:pt x="1960664" y="1193800"/>
                </a:lnTo>
                <a:lnTo>
                  <a:pt x="1989594" y="1206500"/>
                </a:lnTo>
                <a:close/>
              </a:path>
              <a:path w="2752725" h="1714500">
                <a:moveTo>
                  <a:pt x="739571" y="1219200"/>
                </a:moveTo>
                <a:lnTo>
                  <a:pt x="647166" y="1219200"/>
                </a:lnTo>
                <a:lnTo>
                  <a:pt x="692353" y="1206500"/>
                </a:lnTo>
                <a:lnTo>
                  <a:pt x="786879" y="1206500"/>
                </a:lnTo>
                <a:lnTo>
                  <a:pt x="739571" y="1219200"/>
                </a:lnTo>
                <a:close/>
              </a:path>
              <a:path w="2752725" h="1714500">
                <a:moveTo>
                  <a:pt x="2101418" y="1219200"/>
                </a:moveTo>
                <a:lnTo>
                  <a:pt x="2017191" y="1219200"/>
                </a:lnTo>
                <a:lnTo>
                  <a:pt x="1988667" y="1206500"/>
                </a:lnTo>
                <a:lnTo>
                  <a:pt x="2074062" y="1206500"/>
                </a:lnTo>
                <a:lnTo>
                  <a:pt x="2101418" y="1219200"/>
                </a:lnTo>
                <a:close/>
              </a:path>
              <a:path w="2752725" h="1714500">
                <a:moveTo>
                  <a:pt x="604367" y="1231900"/>
                </a:moveTo>
                <a:lnTo>
                  <a:pt x="560298" y="1231900"/>
                </a:lnTo>
                <a:lnTo>
                  <a:pt x="603135" y="1219200"/>
                </a:lnTo>
                <a:lnTo>
                  <a:pt x="648347" y="1219200"/>
                </a:lnTo>
                <a:lnTo>
                  <a:pt x="604367" y="1231900"/>
                </a:lnTo>
                <a:close/>
              </a:path>
              <a:path w="2752725" h="1714500">
                <a:moveTo>
                  <a:pt x="2206485" y="1231900"/>
                </a:moveTo>
                <a:lnTo>
                  <a:pt x="2127148" y="1231900"/>
                </a:lnTo>
                <a:lnTo>
                  <a:pt x="2100249" y="1219200"/>
                </a:lnTo>
                <a:lnTo>
                  <a:pt x="2180882" y="1219200"/>
                </a:lnTo>
                <a:lnTo>
                  <a:pt x="2206485" y="1231900"/>
                </a:lnTo>
                <a:close/>
              </a:path>
              <a:path w="2752725" h="1714500">
                <a:moveTo>
                  <a:pt x="520115" y="1244600"/>
                </a:moveTo>
                <a:lnTo>
                  <a:pt x="478345" y="1244600"/>
                </a:lnTo>
                <a:lnTo>
                  <a:pt x="518680" y="1231900"/>
                </a:lnTo>
                <a:lnTo>
                  <a:pt x="561682" y="1231900"/>
                </a:lnTo>
                <a:lnTo>
                  <a:pt x="520115" y="1244600"/>
                </a:lnTo>
                <a:close/>
              </a:path>
              <a:path w="2752725" h="1714500">
                <a:moveTo>
                  <a:pt x="2280500" y="1244600"/>
                </a:moveTo>
                <a:lnTo>
                  <a:pt x="2230183" y="1244600"/>
                </a:lnTo>
                <a:lnTo>
                  <a:pt x="2205075" y="1231900"/>
                </a:lnTo>
                <a:lnTo>
                  <a:pt x="2256307" y="1231900"/>
                </a:lnTo>
                <a:lnTo>
                  <a:pt x="2280500" y="1244600"/>
                </a:lnTo>
                <a:close/>
              </a:path>
              <a:path w="2752725" h="1714500">
                <a:moveTo>
                  <a:pt x="441007" y="1257300"/>
                </a:moveTo>
                <a:lnTo>
                  <a:pt x="401675" y="1257300"/>
                </a:lnTo>
                <a:lnTo>
                  <a:pt x="439331" y="1244600"/>
                </a:lnTo>
                <a:lnTo>
                  <a:pt x="479958" y="1244600"/>
                </a:lnTo>
                <a:lnTo>
                  <a:pt x="441007" y="1257300"/>
                </a:lnTo>
                <a:close/>
              </a:path>
              <a:path w="2752725" h="1714500">
                <a:moveTo>
                  <a:pt x="2350122" y="1257300"/>
                </a:moveTo>
                <a:lnTo>
                  <a:pt x="2302548" y="1257300"/>
                </a:lnTo>
                <a:lnTo>
                  <a:pt x="2278888" y="1244600"/>
                </a:lnTo>
                <a:lnTo>
                  <a:pt x="2327414" y="1244600"/>
                </a:lnTo>
                <a:lnTo>
                  <a:pt x="2350122" y="1257300"/>
                </a:lnTo>
                <a:close/>
              </a:path>
              <a:path w="2752725" h="1714500">
                <a:moveTo>
                  <a:pt x="367372" y="1270000"/>
                </a:moveTo>
                <a:lnTo>
                  <a:pt x="330631" y="1270000"/>
                </a:lnTo>
                <a:lnTo>
                  <a:pt x="347852" y="1257300"/>
                </a:lnTo>
                <a:lnTo>
                  <a:pt x="403542" y="1257300"/>
                </a:lnTo>
                <a:lnTo>
                  <a:pt x="367372" y="1270000"/>
                </a:lnTo>
                <a:close/>
              </a:path>
              <a:path w="2752725" h="1714500">
                <a:moveTo>
                  <a:pt x="2415070" y="1270000"/>
                </a:moveTo>
                <a:lnTo>
                  <a:pt x="2370404" y="1270000"/>
                </a:lnTo>
                <a:lnTo>
                  <a:pt x="2348268" y="1257300"/>
                </a:lnTo>
                <a:lnTo>
                  <a:pt x="2393962" y="1257300"/>
                </a:lnTo>
                <a:lnTo>
                  <a:pt x="2415070" y="1270000"/>
                </a:lnTo>
                <a:close/>
              </a:path>
              <a:path w="2752725" h="1714500">
                <a:moveTo>
                  <a:pt x="332727" y="1282700"/>
                </a:moveTo>
                <a:lnTo>
                  <a:pt x="281241" y="1282700"/>
                </a:lnTo>
                <a:lnTo>
                  <a:pt x="297319" y="1270000"/>
                </a:lnTo>
                <a:lnTo>
                  <a:pt x="349910" y="1270000"/>
                </a:lnTo>
                <a:lnTo>
                  <a:pt x="332727" y="1282700"/>
                </a:lnTo>
                <a:close/>
              </a:path>
              <a:path w="2752725" h="1714500">
                <a:moveTo>
                  <a:pt x="2475128" y="1282700"/>
                </a:moveTo>
                <a:lnTo>
                  <a:pt x="2433485" y="1282700"/>
                </a:lnTo>
                <a:lnTo>
                  <a:pt x="2412961" y="1270000"/>
                </a:lnTo>
                <a:lnTo>
                  <a:pt x="2455672" y="1270000"/>
                </a:lnTo>
                <a:lnTo>
                  <a:pt x="2475128" y="1282700"/>
                </a:lnTo>
                <a:close/>
              </a:path>
              <a:path w="2752725" h="1714500">
                <a:moveTo>
                  <a:pt x="267982" y="1295400"/>
                </a:moveTo>
                <a:lnTo>
                  <a:pt x="235343" y="1295400"/>
                </a:lnTo>
                <a:lnTo>
                  <a:pt x="250240" y="1282700"/>
                </a:lnTo>
                <a:lnTo>
                  <a:pt x="283629" y="1282700"/>
                </a:lnTo>
                <a:lnTo>
                  <a:pt x="267982" y="1295400"/>
                </a:lnTo>
                <a:close/>
              </a:path>
              <a:path w="2752725" h="1714500">
                <a:moveTo>
                  <a:pt x="2512301" y="1295400"/>
                </a:moveTo>
                <a:lnTo>
                  <a:pt x="2472766" y="1295400"/>
                </a:lnTo>
                <a:lnTo>
                  <a:pt x="2453360" y="1282700"/>
                </a:lnTo>
                <a:lnTo>
                  <a:pt x="2494000" y="1282700"/>
                </a:lnTo>
                <a:lnTo>
                  <a:pt x="2512301" y="1295400"/>
                </a:lnTo>
                <a:close/>
              </a:path>
              <a:path w="2752725" h="1714500">
                <a:moveTo>
                  <a:pt x="223570" y="1308100"/>
                </a:moveTo>
                <a:lnTo>
                  <a:pt x="193078" y="1308100"/>
                </a:lnTo>
                <a:lnTo>
                  <a:pt x="206756" y="1295400"/>
                </a:lnTo>
                <a:lnTo>
                  <a:pt x="238010" y="1295400"/>
                </a:lnTo>
                <a:lnTo>
                  <a:pt x="223570" y="1308100"/>
                </a:lnTo>
                <a:close/>
              </a:path>
              <a:path w="2752725" h="1714500">
                <a:moveTo>
                  <a:pt x="2563596" y="1308100"/>
                </a:moveTo>
                <a:lnTo>
                  <a:pt x="2527300" y="1308100"/>
                </a:lnTo>
                <a:lnTo>
                  <a:pt x="2509659" y="1295400"/>
                </a:lnTo>
                <a:lnTo>
                  <a:pt x="2547112" y="1295400"/>
                </a:lnTo>
                <a:lnTo>
                  <a:pt x="2563596" y="1308100"/>
                </a:lnTo>
                <a:close/>
              </a:path>
              <a:path w="2752725" h="1714500">
                <a:moveTo>
                  <a:pt x="182892" y="1320800"/>
                </a:moveTo>
                <a:lnTo>
                  <a:pt x="154597" y="1320800"/>
                </a:lnTo>
                <a:lnTo>
                  <a:pt x="167005" y="1308100"/>
                </a:lnTo>
                <a:lnTo>
                  <a:pt x="196087" y="1308100"/>
                </a:lnTo>
                <a:lnTo>
                  <a:pt x="182892" y="1320800"/>
                </a:lnTo>
                <a:close/>
              </a:path>
              <a:path w="2752725" h="1714500">
                <a:moveTo>
                  <a:pt x="2594698" y="1320800"/>
                </a:moveTo>
                <a:lnTo>
                  <a:pt x="2560612" y="1320800"/>
                </a:lnTo>
                <a:lnTo>
                  <a:pt x="2544203" y="1308100"/>
                </a:lnTo>
                <a:lnTo>
                  <a:pt x="2579471" y="1308100"/>
                </a:lnTo>
                <a:lnTo>
                  <a:pt x="2594698" y="1320800"/>
                </a:lnTo>
                <a:close/>
              </a:path>
              <a:path w="2752725" h="1714500">
                <a:moveTo>
                  <a:pt x="157937" y="1333500"/>
                </a:moveTo>
                <a:lnTo>
                  <a:pt x="131114" y="1333500"/>
                </a:lnTo>
                <a:lnTo>
                  <a:pt x="142633" y="1320800"/>
                </a:lnTo>
                <a:lnTo>
                  <a:pt x="170256" y="1320800"/>
                </a:lnTo>
                <a:lnTo>
                  <a:pt x="157937" y="1333500"/>
                </a:lnTo>
                <a:close/>
              </a:path>
              <a:path w="2752725" h="1714500">
                <a:moveTo>
                  <a:pt x="2623261" y="1333500"/>
                </a:moveTo>
                <a:lnTo>
                  <a:pt x="2605849" y="1333500"/>
                </a:lnTo>
                <a:lnTo>
                  <a:pt x="2591333" y="1320800"/>
                </a:lnTo>
                <a:lnTo>
                  <a:pt x="2609303" y="1320800"/>
                </a:lnTo>
                <a:lnTo>
                  <a:pt x="2623261" y="1333500"/>
                </a:lnTo>
                <a:close/>
              </a:path>
              <a:path w="2752725" h="1714500">
                <a:moveTo>
                  <a:pt x="123825" y="1346200"/>
                </a:moveTo>
                <a:lnTo>
                  <a:pt x="99237" y="1346200"/>
                </a:lnTo>
                <a:lnTo>
                  <a:pt x="109410" y="1333500"/>
                </a:lnTo>
                <a:lnTo>
                  <a:pt x="134823" y="1333500"/>
                </a:lnTo>
                <a:lnTo>
                  <a:pt x="123825" y="1346200"/>
                </a:lnTo>
                <a:close/>
              </a:path>
              <a:path w="2752725" h="1714500">
                <a:moveTo>
                  <a:pt x="2649181" y="1346200"/>
                </a:moveTo>
                <a:lnTo>
                  <a:pt x="2632722" y="1346200"/>
                </a:lnTo>
                <a:lnTo>
                  <a:pt x="2619527" y="1333500"/>
                </a:lnTo>
                <a:lnTo>
                  <a:pt x="2636558" y="1333500"/>
                </a:lnTo>
                <a:lnTo>
                  <a:pt x="2649181" y="1346200"/>
                </a:lnTo>
                <a:close/>
              </a:path>
              <a:path w="2752725" h="1714500">
                <a:moveTo>
                  <a:pt x="93865" y="1358900"/>
                </a:moveTo>
                <a:lnTo>
                  <a:pt x="71500" y="1358900"/>
                </a:lnTo>
                <a:lnTo>
                  <a:pt x="80276" y="1346200"/>
                </a:lnTo>
                <a:lnTo>
                  <a:pt x="103466" y="1346200"/>
                </a:lnTo>
                <a:lnTo>
                  <a:pt x="93865" y="1358900"/>
                </a:lnTo>
                <a:close/>
              </a:path>
              <a:path w="2752725" h="1714500">
                <a:moveTo>
                  <a:pt x="2682989" y="1358900"/>
                </a:moveTo>
                <a:lnTo>
                  <a:pt x="2656852" y="1358900"/>
                </a:lnTo>
                <a:lnTo>
                  <a:pt x="2645016" y="1346200"/>
                </a:lnTo>
                <a:lnTo>
                  <a:pt x="2672410" y="1346200"/>
                </a:lnTo>
                <a:lnTo>
                  <a:pt x="2682989" y="1358900"/>
                </a:lnTo>
                <a:close/>
              </a:path>
              <a:path w="2752725" h="1714500">
                <a:moveTo>
                  <a:pt x="68211" y="1371600"/>
                </a:moveTo>
                <a:lnTo>
                  <a:pt x="55372" y="1371600"/>
                </a:lnTo>
                <a:lnTo>
                  <a:pt x="63195" y="1358900"/>
                </a:lnTo>
                <a:lnTo>
                  <a:pt x="76390" y="1358900"/>
                </a:lnTo>
                <a:lnTo>
                  <a:pt x="68211" y="1371600"/>
                </a:lnTo>
                <a:close/>
              </a:path>
              <a:path w="2752725" h="1714500">
                <a:moveTo>
                  <a:pt x="2702039" y="1371600"/>
                </a:moveTo>
                <a:lnTo>
                  <a:pt x="2678188" y="1371600"/>
                </a:lnTo>
                <a:lnTo>
                  <a:pt x="2667736" y="1358900"/>
                </a:lnTo>
                <a:lnTo>
                  <a:pt x="2692869" y="1358900"/>
                </a:lnTo>
                <a:lnTo>
                  <a:pt x="2702039" y="1371600"/>
                </a:lnTo>
                <a:close/>
              </a:path>
              <a:path w="2752725" h="1714500">
                <a:moveTo>
                  <a:pt x="53581" y="1384300"/>
                </a:moveTo>
                <a:lnTo>
                  <a:pt x="34836" y="1384300"/>
                </a:lnTo>
                <a:lnTo>
                  <a:pt x="41186" y="1371600"/>
                </a:lnTo>
                <a:lnTo>
                  <a:pt x="60782" y="1371600"/>
                </a:lnTo>
                <a:lnTo>
                  <a:pt x="53581" y="1384300"/>
                </a:lnTo>
                <a:close/>
              </a:path>
              <a:path w="2752725" h="1714500">
                <a:moveTo>
                  <a:pt x="2718219" y="1384300"/>
                </a:moveTo>
                <a:lnTo>
                  <a:pt x="2696616" y="1384300"/>
                </a:lnTo>
                <a:lnTo>
                  <a:pt x="2687599" y="1371600"/>
                </a:lnTo>
                <a:lnTo>
                  <a:pt x="2710497" y="1371600"/>
                </a:lnTo>
                <a:lnTo>
                  <a:pt x="2718219" y="1384300"/>
                </a:lnTo>
                <a:close/>
              </a:path>
              <a:path w="2752725" h="1714500">
                <a:moveTo>
                  <a:pt x="35471" y="1397000"/>
                </a:moveTo>
                <a:lnTo>
                  <a:pt x="23634" y="1397000"/>
                </a:lnTo>
                <a:lnTo>
                  <a:pt x="28981" y="1384300"/>
                </a:lnTo>
                <a:lnTo>
                  <a:pt x="41160" y="1384300"/>
                </a:lnTo>
                <a:lnTo>
                  <a:pt x="35471" y="1397000"/>
                </a:lnTo>
                <a:close/>
              </a:path>
              <a:path w="2752725" h="1714500">
                <a:moveTo>
                  <a:pt x="2731452" y="1397000"/>
                </a:moveTo>
                <a:lnTo>
                  <a:pt x="2718625" y="1397000"/>
                </a:lnTo>
                <a:lnTo>
                  <a:pt x="2711856" y="1384300"/>
                </a:lnTo>
                <a:lnTo>
                  <a:pt x="2725216" y="1384300"/>
                </a:lnTo>
                <a:lnTo>
                  <a:pt x="2731452" y="1397000"/>
                </a:lnTo>
                <a:close/>
              </a:path>
              <a:path w="2752725" h="1714500">
                <a:moveTo>
                  <a:pt x="26022" y="1409700"/>
                </a:moveTo>
                <a:lnTo>
                  <a:pt x="14477" y="1409700"/>
                </a:lnTo>
                <a:lnTo>
                  <a:pt x="18796" y="1397000"/>
                </a:lnTo>
                <a:lnTo>
                  <a:pt x="30657" y="1397000"/>
                </a:lnTo>
                <a:lnTo>
                  <a:pt x="26022" y="1409700"/>
                </a:lnTo>
                <a:close/>
              </a:path>
              <a:path w="2752725" h="1714500">
                <a:moveTo>
                  <a:pt x="2739377" y="1409700"/>
                </a:moveTo>
                <a:lnTo>
                  <a:pt x="2729458" y="1409700"/>
                </a:lnTo>
                <a:lnTo>
                  <a:pt x="2724200" y="1397000"/>
                </a:lnTo>
                <a:lnTo>
                  <a:pt x="2736900" y="1397000"/>
                </a:lnTo>
                <a:lnTo>
                  <a:pt x="2739377" y="1409700"/>
                </a:lnTo>
                <a:close/>
              </a:path>
              <a:path w="2752725" h="1714500">
                <a:moveTo>
                  <a:pt x="15824" y="1422400"/>
                </a:moveTo>
                <a:lnTo>
                  <a:pt x="4775" y="1422400"/>
                </a:lnTo>
                <a:lnTo>
                  <a:pt x="7454" y="1409700"/>
                </a:lnTo>
                <a:lnTo>
                  <a:pt x="18872" y="1409700"/>
                </a:lnTo>
                <a:lnTo>
                  <a:pt x="15824" y="1422400"/>
                </a:lnTo>
                <a:close/>
              </a:path>
              <a:path w="2752725" h="1714500">
                <a:moveTo>
                  <a:pt x="2745524" y="1422400"/>
                </a:moveTo>
                <a:lnTo>
                  <a:pt x="2735453" y="1422400"/>
                </a:lnTo>
                <a:lnTo>
                  <a:pt x="2733509" y="1409700"/>
                </a:lnTo>
                <a:lnTo>
                  <a:pt x="2743682" y="1409700"/>
                </a:lnTo>
                <a:lnTo>
                  <a:pt x="2745524" y="1422400"/>
                </a:lnTo>
                <a:close/>
              </a:path>
              <a:path w="2752725" h="1714500">
                <a:moveTo>
                  <a:pt x="11696" y="1435100"/>
                </a:moveTo>
                <a:lnTo>
                  <a:pt x="1155" y="1435100"/>
                </a:lnTo>
                <a:lnTo>
                  <a:pt x="2667" y="1422400"/>
                </a:lnTo>
                <a:lnTo>
                  <a:pt x="13652" y="1422400"/>
                </a:lnTo>
                <a:lnTo>
                  <a:pt x="11696" y="1435100"/>
                </a:lnTo>
                <a:close/>
              </a:path>
              <a:path w="2752725" h="1714500">
                <a:moveTo>
                  <a:pt x="2750832" y="1435100"/>
                </a:moveTo>
                <a:lnTo>
                  <a:pt x="2740787" y="1435100"/>
                </a:lnTo>
                <a:lnTo>
                  <a:pt x="2739644" y="1422400"/>
                </a:lnTo>
                <a:lnTo>
                  <a:pt x="2749829" y="1422400"/>
                </a:lnTo>
                <a:lnTo>
                  <a:pt x="2750832" y="1435100"/>
                </a:lnTo>
                <a:close/>
              </a:path>
              <a:path w="2752725" h="1714500">
                <a:moveTo>
                  <a:pt x="9499" y="1447800"/>
                </a:moveTo>
                <a:lnTo>
                  <a:pt x="0" y="1447800"/>
                </a:lnTo>
                <a:lnTo>
                  <a:pt x="228" y="1435100"/>
                </a:lnTo>
                <a:lnTo>
                  <a:pt x="9715" y="1435100"/>
                </a:lnTo>
                <a:lnTo>
                  <a:pt x="9499" y="1447800"/>
                </a:lnTo>
                <a:close/>
              </a:path>
              <a:path w="2752725" h="1714500">
                <a:moveTo>
                  <a:pt x="2752648" y="1447800"/>
                </a:moveTo>
                <a:lnTo>
                  <a:pt x="2743034" y="1447800"/>
                </a:lnTo>
                <a:lnTo>
                  <a:pt x="2742717" y="1435100"/>
                </a:lnTo>
                <a:lnTo>
                  <a:pt x="2752534" y="1435100"/>
                </a:lnTo>
                <a:lnTo>
                  <a:pt x="2752648" y="1447800"/>
                </a:lnTo>
                <a:close/>
              </a:path>
              <a:path w="2752725" h="1714500">
                <a:moveTo>
                  <a:pt x="10388" y="1460500"/>
                </a:moveTo>
                <a:lnTo>
                  <a:pt x="1016" y="1460500"/>
                </a:lnTo>
                <a:lnTo>
                  <a:pt x="406" y="1447800"/>
                </a:lnTo>
                <a:lnTo>
                  <a:pt x="9829" y="1447800"/>
                </a:lnTo>
                <a:lnTo>
                  <a:pt x="10388" y="1460500"/>
                </a:lnTo>
                <a:close/>
              </a:path>
              <a:path w="2752725" h="1714500">
                <a:moveTo>
                  <a:pt x="2751556" y="1460500"/>
                </a:moveTo>
                <a:lnTo>
                  <a:pt x="2742171" y="1460500"/>
                </a:lnTo>
                <a:lnTo>
                  <a:pt x="2742730" y="1447800"/>
                </a:lnTo>
                <a:lnTo>
                  <a:pt x="2752153" y="1447800"/>
                </a:lnTo>
                <a:lnTo>
                  <a:pt x="2751556" y="1460500"/>
                </a:lnTo>
                <a:close/>
              </a:path>
              <a:path w="2752725" h="1714500">
                <a:moveTo>
                  <a:pt x="14503" y="1473200"/>
                </a:moveTo>
                <a:lnTo>
                  <a:pt x="4241" y="1473200"/>
                </a:lnTo>
                <a:lnTo>
                  <a:pt x="2933" y="1460500"/>
                </a:lnTo>
                <a:lnTo>
                  <a:pt x="13068" y="1460500"/>
                </a:lnTo>
                <a:lnTo>
                  <a:pt x="14503" y="1473200"/>
                </a:lnTo>
                <a:close/>
              </a:path>
              <a:path w="2752725" h="1714500">
                <a:moveTo>
                  <a:pt x="16040" y="1473200"/>
                </a:moveTo>
                <a:lnTo>
                  <a:pt x="14503" y="1473200"/>
                </a:lnTo>
                <a:lnTo>
                  <a:pt x="14389" y="1460500"/>
                </a:lnTo>
                <a:lnTo>
                  <a:pt x="16040" y="1473200"/>
                </a:lnTo>
                <a:close/>
              </a:path>
              <a:path w="2752725" h="1714500">
                <a:moveTo>
                  <a:pt x="2738069" y="1473200"/>
                </a:moveTo>
                <a:lnTo>
                  <a:pt x="2736519" y="1473200"/>
                </a:lnTo>
                <a:lnTo>
                  <a:pt x="2738170" y="1460500"/>
                </a:lnTo>
                <a:lnTo>
                  <a:pt x="2738069" y="1473200"/>
                </a:lnTo>
                <a:close/>
              </a:path>
              <a:path w="2752725" h="1714500">
                <a:moveTo>
                  <a:pt x="2748318" y="1473200"/>
                </a:moveTo>
                <a:lnTo>
                  <a:pt x="2738069" y="1473200"/>
                </a:lnTo>
                <a:lnTo>
                  <a:pt x="2739491" y="1460500"/>
                </a:lnTo>
                <a:lnTo>
                  <a:pt x="2749626" y="1460500"/>
                </a:lnTo>
                <a:lnTo>
                  <a:pt x="2748318" y="1473200"/>
                </a:lnTo>
                <a:close/>
              </a:path>
              <a:path w="2752725" h="1714500">
                <a:moveTo>
                  <a:pt x="24295" y="1485900"/>
                </a:moveTo>
                <a:lnTo>
                  <a:pt x="11709" y="1485900"/>
                </a:lnTo>
                <a:lnTo>
                  <a:pt x="9512" y="1473200"/>
                </a:lnTo>
                <a:lnTo>
                  <a:pt x="21793" y="1473200"/>
                </a:lnTo>
                <a:lnTo>
                  <a:pt x="24295" y="1485900"/>
                </a:lnTo>
                <a:close/>
              </a:path>
              <a:path w="2752725" h="1714500">
                <a:moveTo>
                  <a:pt x="2740850" y="1485900"/>
                </a:moveTo>
                <a:lnTo>
                  <a:pt x="2728277" y="1485900"/>
                </a:lnTo>
                <a:lnTo>
                  <a:pt x="2730766" y="1473200"/>
                </a:lnTo>
                <a:lnTo>
                  <a:pt x="2743047" y="1473200"/>
                </a:lnTo>
                <a:lnTo>
                  <a:pt x="2740850" y="1485900"/>
                </a:lnTo>
                <a:close/>
              </a:path>
              <a:path w="2752725" h="1714500">
                <a:moveTo>
                  <a:pt x="35941" y="1498600"/>
                </a:moveTo>
                <a:lnTo>
                  <a:pt x="22593" y="1498600"/>
                </a:lnTo>
                <a:lnTo>
                  <a:pt x="16763" y="1485900"/>
                </a:lnTo>
                <a:lnTo>
                  <a:pt x="29502" y="1485900"/>
                </a:lnTo>
                <a:lnTo>
                  <a:pt x="35941" y="1498600"/>
                </a:lnTo>
                <a:close/>
              </a:path>
              <a:path w="2752725" h="1714500">
                <a:moveTo>
                  <a:pt x="2729966" y="1498600"/>
                </a:moveTo>
                <a:lnTo>
                  <a:pt x="2716618" y="1498600"/>
                </a:lnTo>
                <a:lnTo>
                  <a:pt x="2723070" y="1485900"/>
                </a:lnTo>
                <a:lnTo>
                  <a:pt x="2735795" y="1485900"/>
                </a:lnTo>
                <a:lnTo>
                  <a:pt x="2729966" y="1498600"/>
                </a:lnTo>
                <a:close/>
              </a:path>
              <a:path w="2752725" h="1714500">
                <a:moveTo>
                  <a:pt x="50825" y="1511300"/>
                </a:moveTo>
                <a:lnTo>
                  <a:pt x="36728" y="1511300"/>
                </a:lnTo>
                <a:lnTo>
                  <a:pt x="29260" y="1498600"/>
                </a:lnTo>
                <a:lnTo>
                  <a:pt x="42773" y="1498600"/>
                </a:lnTo>
                <a:lnTo>
                  <a:pt x="50825" y="1511300"/>
                </a:lnTo>
                <a:close/>
              </a:path>
              <a:path w="2752725" h="1714500">
                <a:moveTo>
                  <a:pt x="2715831" y="1511300"/>
                </a:moveTo>
                <a:lnTo>
                  <a:pt x="2701734" y="1511300"/>
                </a:lnTo>
                <a:lnTo>
                  <a:pt x="2709786" y="1498600"/>
                </a:lnTo>
                <a:lnTo>
                  <a:pt x="2723299" y="1498600"/>
                </a:lnTo>
                <a:lnTo>
                  <a:pt x="2715831" y="1511300"/>
                </a:lnTo>
                <a:close/>
              </a:path>
              <a:path w="2752725" h="1714500">
                <a:moveTo>
                  <a:pt x="68948" y="1524000"/>
                </a:moveTo>
                <a:lnTo>
                  <a:pt x="54025" y="1524000"/>
                </a:lnTo>
                <a:lnTo>
                  <a:pt x="44983" y="1511300"/>
                </a:lnTo>
                <a:lnTo>
                  <a:pt x="59321" y="1511300"/>
                </a:lnTo>
                <a:lnTo>
                  <a:pt x="68948" y="1524000"/>
                </a:lnTo>
                <a:close/>
              </a:path>
              <a:path w="2752725" h="1714500">
                <a:moveTo>
                  <a:pt x="2698546" y="1524000"/>
                </a:moveTo>
                <a:lnTo>
                  <a:pt x="2683611" y="1524000"/>
                </a:lnTo>
                <a:lnTo>
                  <a:pt x="2693238" y="1511300"/>
                </a:lnTo>
                <a:lnTo>
                  <a:pt x="2707576" y="1511300"/>
                </a:lnTo>
                <a:lnTo>
                  <a:pt x="2698546" y="1524000"/>
                </a:lnTo>
                <a:close/>
              </a:path>
              <a:path w="2752725" h="1714500">
                <a:moveTo>
                  <a:pt x="90208" y="1536700"/>
                </a:moveTo>
                <a:lnTo>
                  <a:pt x="74371" y="1536700"/>
                </a:lnTo>
                <a:lnTo>
                  <a:pt x="63817" y="1524000"/>
                </a:lnTo>
                <a:lnTo>
                  <a:pt x="79044" y="1524000"/>
                </a:lnTo>
                <a:lnTo>
                  <a:pt x="90208" y="1536700"/>
                </a:lnTo>
                <a:close/>
              </a:path>
              <a:path w="2752725" h="1714500">
                <a:moveTo>
                  <a:pt x="2678188" y="1536700"/>
                </a:moveTo>
                <a:lnTo>
                  <a:pt x="2662351" y="1536700"/>
                </a:lnTo>
                <a:lnTo>
                  <a:pt x="2673515" y="1524000"/>
                </a:lnTo>
                <a:lnTo>
                  <a:pt x="2688742" y="1524000"/>
                </a:lnTo>
                <a:lnTo>
                  <a:pt x="2678188" y="1536700"/>
                </a:lnTo>
                <a:close/>
              </a:path>
              <a:path w="2752725" h="1714500">
                <a:moveTo>
                  <a:pt x="114515" y="1549400"/>
                </a:moveTo>
                <a:lnTo>
                  <a:pt x="97713" y="1549400"/>
                </a:lnTo>
                <a:lnTo>
                  <a:pt x="85674" y="1536700"/>
                </a:lnTo>
                <a:lnTo>
                  <a:pt x="101866" y="1536700"/>
                </a:lnTo>
                <a:lnTo>
                  <a:pt x="114515" y="1549400"/>
                </a:lnTo>
                <a:close/>
              </a:path>
              <a:path w="2752725" h="1714500">
                <a:moveTo>
                  <a:pt x="2654846" y="1549400"/>
                </a:moveTo>
                <a:lnTo>
                  <a:pt x="2638044" y="1549400"/>
                </a:lnTo>
                <a:lnTo>
                  <a:pt x="2650693" y="1536700"/>
                </a:lnTo>
                <a:lnTo>
                  <a:pt x="2666885" y="1536700"/>
                </a:lnTo>
                <a:lnTo>
                  <a:pt x="2654846" y="1549400"/>
                </a:lnTo>
                <a:close/>
              </a:path>
              <a:path w="2752725" h="1714500">
                <a:moveTo>
                  <a:pt x="141770" y="1562100"/>
                </a:moveTo>
                <a:lnTo>
                  <a:pt x="123964" y="1562100"/>
                </a:lnTo>
                <a:lnTo>
                  <a:pt x="110477" y="1549400"/>
                </a:lnTo>
                <a:lnTo>
                  <a:pt x="127673" y="1549400"/>
                </a:lnTo>
                <a:lnTo>
                  <a:pt x="141770" y="1562100"/>
                </a:lnTo>
                <a:close/>
              </a:path>
              <a:path w="2752725" h="1714500">
                <a:moveTo>
                  <a:pt x="2628595" y="1562100"/>
                </a:moveTo>
                <a:lnTo>
                  <a:pt x="2610789" y="1562100"/>
                </a:lnTo>
                <a:lnTo>
                  <a:pt x="2624886" y="1549400"/>
                </a:lnTo>
                <a:lnTo>
                  <a:pt x="2642082" y="1549400"/>
                </a:lnTo>
                <a:lnTo>
                  <a:pt x="2628595" y="1562100"/>
                </a:lnTo>
                <a:close/>
              </a:path>
              <a:path w="2752725" h="1714500">
                <a:moveTo>
                  <a:pt x="187972" y="1574800"/>
                </a:moveTo>
                <a:lnTo>
                  <a:pt x="153047" y="1574800"/>
                </a:lnTo>
                <a:lnTo>
                  <a:pt x="138150" y="1562100"/>
                </a:lnTo>
                <a:lnTo>
                  <a:pt x="171792" y="1562100"/>
                </a:lnTo>
                <a:lnTo>
                  <a:pt x="187972" y="1574800"/>
                </a:lnTo>
                <a:close/>
              </a:path>
              <a:path w="2752725" h="1714500">
                <a:moveTo>
                  <a:pt x="2599524" y="1574800"/>
                </a:moveTo>
                <a:lnTo>
                  <a:pt x="2564599" y="1574800"/>
                </a:lnTo>
                <a:lnTo>
                  <a:pt x="2580767" y="1562100"/>
                </a:lnTo>
                <a:lnTo>
                  <a:pt x="2614409" y="1562100"/>
                </a:lnTo>
                <a:lnTo>
                  <a:pt x="2599524" y="1574800"/>
                </a:lnTo>
                <a:close/>
              </a:path>
              <a:path w="2752725" h="1714500">
                <a:moveTo>
                  <a:pt x="222186" y="1587500"/>
                </a:moveTo>
                <a:lnTo>
                  <a:pt x="184873" y="1587500"/>
                </a:lnTo>
                <a:lnTo>
                  <a:pt x="168617" y="1574800"/>
                </a:lnTo>
                <a:lnTo>
                  <a:pt x="204673" y="1574800"/>
                </a:lnTo>
                <a:lnTo>
                  <a:pt x="222186" y="1587500"/>
                </a:lnTo>
                <a:close/>
              </a:path>
              <a:path w="2752725" h="1714500">
                <a:moveTo>
                  <a:pt x="2567686" y="1587500"/>
                </a:moveTo>
                <a:lnTo>
                  <a:pt x="2530386" y="1587500"/>
                </a:lnTo>
                <a:lnTo>
                  <a:pt x="2547899" y="1574800"/>
                </a:lnTo>
                <a:lnTo>
                  <a:pt x="2583942" y="1574800"/>
                </a:lnTo>
                <a:lnTo>
                  <a:pt x="2567686" y="1587500"/>
                </a:lnTo>
                <a:close/>
              </a:path>
              <a:path w="2752725" h="1714500">
                <a:moveTo>
                  <a:pt x="259016" y="1600200"/>
                </a:moveTo>
                <a:lnTo>
                  <a:pt x="237617" y="1600200"/>
                </a:lnTo>
                <a:lnTo>
                  <a:pt x="219379" y="1587500"/>
                </a:lnTo>
                <a:lnTo>
                  <a:pt x="240220" y="1587500"/>
                </a:lnTo>
                <a:lnTo>
                  <a:pt x="259016" y="1600200"/>
                </a:lnTo>
                <a:close/>
              </a:path>
              <a:path w="2752725" h="1714500">
                <a:moveTo>
                  <a:pt x="2514955" y="1600200"/>
                </a:moveTo>
                <a:lnTo>
                  <a:pt x="2493543" y="1600200"/>
                </a:lnTo>
                <a:lnTo>
                  <a:pt x="2512352" y="1587500"/>
                </a:lnTo>
                <a:lnTo>
                  <a:pt x="2533180" y="1587500"/>
                </a:lnTo>
                <a:lnTo>
                  <a:pt x="2514955" y="1600200"/>
                </a:lnTo>
                <a:close/>
              </a:path>
              <a:path w="2752725" h="1714500">
                <a:moveTo>
                  <a:pt x="319011" y="1612900"/>
                </a:moveTo>
                <a:lnTo>
                  <a:pt x="275971" y="1612900"/>
                </a:lnTo>
                <a:lnTo>
                  <a:pt x="256476" y="1600200"/>
                </a:lnTo>
                <a:lnTo>
                  <a:pt x="298348" y="1600200"/>
                </a:lnTo>
                <a:lnTo>
                  <a:pt x="319011" y="1612900"/>
                </a:lnTo>
                <a:close/>
              </a:path>
              <a:path w="2752725" h="1714500">
                <a:moveTo>
                  <a:pt x="2476588" y="1612900"/>
                </a:moveTo>
                <a:lnTo>
                  <a:pt x="2433561" y="1612900"/>
                </a:lnTo>
                <a:lnTo>
                  <a:pt x="2454224" y="1600200"/>
                </a:lnTo>
                <a:lnTo>
                  <a:pt x="2496083" y="1600200"/>
                </a:lnTo>
                <a:lnTo>
                  <a:pt x="2476588" y="1612900"/>
                </a:lnTo>
                <a:close/>
              </a:path>
              <a:path w="2752725" h="1714500">
                <a:moveTo>
                  <a:pt x="362013" y="1625600"/>
                </a:moveTo>
                <a:lnTo>
                  <a:pt x="338112" y="1625600"/>
                </a:lnTo>
                <a:lnTo>
                  <a:pt x="316801" y="1612900"/>
                </a:lnTo>
                <a:lnTo>
                  <a:pt x="340169" y="1612900"/>
                </a:lnTo>
                <a:lnTo>
                  <a:pt x="362013" y="1625600"/>
                </a:lnTo>
                <a:close/>
              </a:path>
              <a:path w="2752725" h="1714500">
                <a:moveTo>
                  <a:pt x="2414460" y="1625600"/>
                </a:moveTo>
                <a:lnTo>
                  <a:pt x="2390546" y="1625600"/>
                </a:lnTo>
                <a:lnTo>
                  <a:pt x="2412390" y="1612900"/>
                </a:lnTo>
                <a:lnTo>
                  <a:pt x="2435771" y="1612900"/>
                </a:lnTo>
                <a:lnTo>
                  <a:pt x="2414460" y="1625600"/>
                </a:lnTo>
                <a:close/>
              </a:path>
              <a:path w="2752725" h="1714500">
                <a:moveTo>
                  <a:pt x="430847" y="1638300"/>
                </a:moveTo>
                <a:lnTo>
                  <a:pt x="382473" y="1638300"/>
                </a:lnTo>
                <a:lnTo>
                  <a:pt x="360006" y="1625600"/>
                </a:lnTo>
                <a:lnTo>
                  <a:pt x="407301" y="1625600"/>
                </a:lnTo>
                <a:lnTo>
                  <a:pt x="430847" y="1638300"/>
                </a:lnTo>
                <a:close/>
              </a:path>
              <a:path w="2752725" h="1714500">
                <a:moveTo>
                  <a:pt x="2370086" y="1638300"/>
                </a:moveTo>
                <a:lnTo>
                  <a:pt x="2321712" y="1638300"/>
                </a:lnTo>
                <a:lnTo>
                  <a:pt x="2345258" y="1625600"/>
                </a:lnTo>
                <a:lnTo>
                  <a:pt x="2392565" y="1625600"/>
                </a:lnTo>
                <a:lnTo>
                  <a:pt x="2370086" y="1638300"/>
                </a:lnTo>
                <a:close/>
              </a:path>
              <a:path w="2752725" h="1714500">
                <a:moveTo>
                  <a:pt x="504583" y="1651000"/>
                </a:moveTo>
                <a:lnTo>
                  <a:pt x="453224" y="1651000"/>
                </a:lnTo>
                <a:lnTo>
                  <a:pt x="429094" y="1638300"/>
                </a:lnTo>
                <a:lnTo>
                  <a:pt x="479437" y="1638300"/>
                </a:lnTo>
                <a:lnTo>
                  <a:pt x="504583" y="1651000"/>
                </a:lnTo>
                <a:close/>
              </a:path>
              <a:path w="2752725" h="1714500">
                <a:moveTo>
                  <a:pt x="2299347" y="1651000"/>
                </a:moveTo>
                <a:lnTo>
                  <a:pt x="2247976" y="1651000"/>
                </a:lnTo>
                <a:lnTo>
                  <a:pt x="2273122" y="1638300"/>
                </a:lnTo>
                <a:lnTo>
                  <a:pt x="2323477" y="1638300"/>
                </a:lnTo>
                <a:lnTo>
                  <a:pt x="2299347" y="1651000"/>
                </a:lnTo>
                <a:close/>
              </a:path>
              <a:path w="2752725" h="1714500">
                <a:moveTo>
                  <a:pt x="582942" y="1663700"/>
                </a:moveTo>
                <a:lnTo>
                  <a:pt x="528751" y="1663700"/>
                </a:lnTo>
                <a:lnTo>
                  <a:pt x="503059" y="1651000"/>
                </a:lnTo>
                <a:lnTo>
                  <a:pt x="556298" y="1651000"/>
                </a:lnTo>
                <a:lnTo>
                  <a:pt x="582942" y="1663700"/>
                </a:lnTo>
                <a:close/>
              </a:path>
              <a:path w="2752725" h="1714500">
                <a:moveTo>
                  <a:pt x="2223808" y="1663700"/>
                </a:moveTo>
                <a:lnTo>
                  <a:pt x="2169617" y="1663700"/>
                </a:lnTo>
                <a:lnTo>
                  <a:pt x="2196261" y="1651000"/>
                </a:lnTo>
                <a:lnTo>
                  <a:pt x="2249500" y="1651000"/>
                </a:lnTo>
                <a:lnTo>
                  <a:pt x="2223808" y="1663700"/>
                </a:lnTo>
                <a:close/>
              </a:path>
              <a:path w="2752725" h="1714500">
                <a:moveTo>
                  <a:pt x="694105" y="1676400"/>
                </a:moveTo>
                <a:lnTo>
                  <a:pt x="608787" y="1676400"/>
                </a:lnTo>
                <a:lnTo>
                  <a:pt x="581621" y="1663700"/>
                </a:lnTo>
                <a:lnTo>
                  <a:pt x="665606" y="1663700"/>
                </a:lnTo>
                <a:lnTo>
                  <a:pt x="694105" y="1676400"/>
                </a:lnTo>
                <a:close/>
              </a:path>
              <a:path w="2752725" h="1714500">
                <a:moveTo>
                  <a:pt x="2143772" y="1676400"/>
                </a:moveTo>
                <a:lnTo>
                  <a:pt x="2058466" y="1676400"/>
                </a:lnTo>
                <a:lnTo>
                  <a:pt x="2086965" y="1663700"/>
                </a:lnTo>
                <a:lnTo>
                  <a:pt x="2170938" y="1663700"/>
                </a:lnTo>
                <a:lnTo>
                  <a:pt x="2143772" y="1676400"/>
                </a:lnTo>
                <a:close/>
              </a:path>
              <a:path w="2752725" h="1714500">
                <a:moveTo>
                  <a:pt x="812253" y="1689100"/>
                </a:moveTo>
                <a:lnTo>
                  <a:pt x="721995" y="1689100"/>
                </a:lnTo>
                <a:lnTo>
                  <a:pt x="693026" y="1676400"/>
                </a:lnTo>
                <a:lnTo>
                  <a:pt x="782066" y="1676400"/>
                </a:lnTo>
                <a:lnTo>
                  <a:pt x="812253" y="1689100"/>
                </a:lnTo>
                <a:close/>
              </a:path>
              <a:path w="2752725" h="1714500">
                <a:moveTo>
                  <a:pt x="2030564" y="1689100"/>
                </a:moveTo>
                <a:lnTo>
                  <a:pt x="1940318" y="1689100"/>
                </a:lnTo>
                <a:lnTo>
                  <a:pt x="1970493" y="1676400"/>
                </a:lnTo>
                <a:lnTo>
                  <a:pt x="2059533" y="1676400"/>
                </a:lnTo>
                <a:lnTo>
                  <a:pt x="2030564" y="1689100"/>
                </a:lnTo>
                <a:close/>
              </a:path>
              <a:path w="2752725" h="1714500">
                <a:moveTo>
                  <a:pt x="1001064" y="1701800"/>
                </a:moveTo>
                <a:lnTo>
                  <a:pt x="872985" y="1701800"/>
                </a:lnTo>
                <a:lnTo>
                  <a:pt x="841997" y="1689100"/>
                </a:lnTo>
                <a:lnTo>
                  <a:pt x="968679" y="1689100"/>
                </a:lnTo>
                <a:lnTo>
                  <a:pt x="1001064" y="1701800"/>
                </a:lnTo>
                <a:close/>
              </a:path>
              <a:path w="2752725" h="1714500">
                <a:moveTo>
                  <a:pt x="1879574" y="1701800"/>
                </a:moveTo>
                <a:lnTo>
                  <a:pt x="1751495" y="1701800"/>
                </a:lnTo>
                <a:lnTo>
                  <a:pt x="1783880" y="1689100"/>
                </a:lnTo>
                <a:lnTo>
                  <a:pt x="1910562" y="1689100"/>
                </a:lnTo>
                <a:lnTo>
                  <a:pt x="1879574" y="1701800"/>
                </a:lnTo>
                <a:close/>
              </a:path>
              <a:path w="2752725" h="1714500">
                <a:moveTo>
                  <a:pt x="1686255" y="1714500"/>
                </a:moveTo>
                <a:lnTo>
                  <a:pt x="1066304" y="1714500"/>
                </a:lnTo>
                <a:lnTo>
                  <a:pt x="1033259" y="1701800"/>
                </a:lnTo>
                <a:lnTo>
                  <a:pt x="1719300" y="1701800"/>
                </a:lnTo>
                <a:lnTo>
                  <a:pt x="1686255" y="1714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8832" y="3515867"/>
            <a:ext cx="3563620" cy="1340485"/>
          </a:xfrm>
          <a:custGeom>
            <a:avLst/>
            <a:gdLst/>
            <a:ahLst/>
            <a:cxnLst/>
            <a:rect l="l" t="t" r="r" b="b"/>
            <a:pathLst>
              <a:path w="3563620" h="1340485">
                <a:moveTo>
                  <a:pt x="2191804" y="1340319"/>
                </a:moveTo>
                <a:lnTo>
                  <a:pt x="2116547" y="1339925"/>
                </a:lnTo>
                <a:lnTo>
                  <a:pt x="2042352" y="1338754"/>
                </a:lnTo>
                <a:lnTo>
                  <a:pt x="1969322" y="1336829"/>
                </a:lnTo>
                <a:lnTo>
                  <a:pt x="1897562" y="1334168"/>
                </a:lnTo>
                <a:lnTo>
                  <a:pt x="1827177" y="1330793"/>
                </a:lnTo>
                <a:lnTo>
                  <a:pt x="1758271" y="1326723"/>
                </a:lnTo>
                <a:lnTo>
                  <a:pt x="1690948" y="1321979"/>
                </a:lnTo>
                <a:lnTo>
                  <a:pt x="1625314" y="1316582"/>
                </a:lnTo>
                <a:lnTo>
                  <a:pt x="1561473" y="1310551"/>
                </a:lnTo>
                <a:lnTo>
                  <a:pt x="1499529" y="1303907"/>
                </a:lnTo>
                <a:lnTo>
                  <a:pt x="1439588" y="1296671"/>
                </a:lnTo>
                <a:lnTo>
                  <a:pt x="1381753" y="1288862"/>
                </a:lnTo>
                <a:lnTo>
                  <a:pt x="1326130" y="1280501"/>
                </a:lnTo>
                <a:lnTo>
                  <a:pt x="1272822" y="1271609"/>
                </a:lnTo>
                <a:lnTo>
                  <a:pt x="1221935" y="1262205"/>
                </a:lnTo>
                <a:lnTo>
                  <a:pt x="1173573" y="1252310"/>
                </a:lnTo>
                <a:lnTo>
                  <a:pt x="1127840" y="1241945"/>
                </a:lnTo>
                <a:lnTo>
                  <a:pt x="1084842" y="1231129"/>
                </a:lnTo>
                <a:lnTo>
                  <a:pt x="1044683" y="1219883"/>
                </a:lnTo>
                <a:lnTo>
                  <a:pt x="1007467" y="1208228"/>
                </a:lnTo>
                <a:lnTo>
                  <a:pt x="942283" y="1183770"/>
                </a:lnTo>
                <a:lnTo>
                  <a:pt x="890128" y="1157917"/>
                </a:lnTo>
                <a:lnTo>
                  <a:pt x="851839" y="1130833"/>
                </a:lnTo>
                <a:lnTo>
                  <a:pt x="822233" y="1088253"/>
                </a:lnTo>
                <a:lnTo>
                  <a:pt x="820204" y="1073619"/>
                </a:lnTo>
                <a:lnTo>
                  <a:pt x="823522" y="1054922"/>
                </a:lnTo>
                <a:lnTo>
                  <a:pt x="849405" y="1018609"/>
                </a:lnTo>
                <a:lnTo>
                  <a:pt x="899477" y="984024"/>
                </a:lnTo>
                <a:lnTo>
                  <a:pt x="971973" y="951504"/>
                </a:lnTo>
                <a:lnTo>
                  <a:pt x="1016077" y="936125"/>
                </a:lnTo>
                <a:lnTo>
                  <a:pt x="1065125" y="921389"/>
                </a:lnTo>
                <a:lnTo>
                  <a:pt x="1118894" y="907340"/>
                </a:lnTo>
                <a:lnTo>
                  <a:pt x="1177166" y="894019"/>
                </a:lnTo>
                <a:lnTo>
                  <a:pt x="1239717" y="881469"/>
                </a:lnTo>
                <a:lnTo>
                  <a:pt x="1306329" y="869732"/>
                </a:lnTo>
                <a:lnTo>
                  <a:pt x="1376779" y="858851"/>
                </a:lnTo>
                <a:lnTo>
                  <a:pt x="1450847" y="848868"/>
                </a:lnTo>
                <a:lnTo>
                  <a:pt x="0" y="0"/>
                </a:lnTo>
                <a:lnTo>
                  <a:pt x="1937003" y="810768"/>
                </a:lnTo>
                <a:lnTo>
                  <a:pt x="2423922" y="810768"/>
                </a:lnTo>
                <a:lnTo>
                  <a:pt x="2486041" y="813071"/>
                </a:lnTo>
                <a:lnTo>
                  <a:pt x="2556426" y="816446"/>
                </a:lnTo>
                <a:lnTo>
                  <a:pt x="2625332" y="820516"/>
                </a:lnTo>
                <a:lnTo>
                  <a:pt x="2692654" y="825260"/>
                </a:lnTo>
                <a:lnTo>
                  <a:pt x="2758288" y="830657"/>
                </a:lnTo>
                <a:lnTo>
                  <a:pt x="2822129" y="836688"/>
                </a:lnTo>
                <a:lnTo>
                  <a:pt x="2884072" y="843332"/>
                </a:lnTo>
                <a:lnTo>
                  <a:pt x="2944014" y="850568"/>
                </a:lnTo>
                <a:lnTo>
                  <a:pt x="3001849" y="858377"/>
                </a:lnTo>
                <a:lnTo>
                  <a:pt x="3057472" y="866738"/>
                </a:lnTo>
                <a:lnTo>
                  <a:pt x="3110780" y="875630"/>
                </a:lnTo>
                <a:lnTo>
                  <a:pt x="3161668" y="885034"/>
                </a:lnTo>
                <a:lnTo>
                  <a:pt x="3210030" y="894929"/>
                </a:lnTo>
                <a:lnTo>
                  <a:pt x="3255763" y="905294"/>
                </a:lnTo>
                <a:lnTo>
                  <a:pt x="3298762" y="916110"/>
                </a:lnTo>
                <a:lnTo>
                  <a:pt x="3338921" y="927355"/>
                </a:lnTo>
                <a:lnTo>
                  <a:pt x="3376138" y="939011"/>
                </a:lnTo>
                <a:lnTo>
                  <a:pt x="3441322" y="963469"/>
                </a:lnTo>
                <a:lnTo>
                  <a:pt x="3493478" y="989321"/>
                </a:lnTo>
                <a:lnTo>
                  <a:pt x="3531768" y="1016406"/>
                </a:lnTo>
                <a:lnTo>
                  <a:pt x="3561374" y="1058986"/>
                </a:lnTo>
                <a:lnTo>
                  <a:pt x="3563404" y="1073619"/>
                </a:lnTo>
                <a:lnTo>
                  <a:pt x="3561374" y="1088253"/>
                </a:lnTo>
                <a:lnTo>
                  <a:pt x="3531768" y="1130833"/>
                </a:lnTo>
                <a:lnTo>
                  <a:pt x="3493478" y="1157917"/>
                </a:lnTo>
                <a:lnTo>
                  <a:pt x="3441322" y="1183770"/>
                </a:lnTo>
                <a:lnTo>
                  <a:pt x="3376138" y="1208228"/>
                </a:lnTo>
                <a:lnTo>
                  <a:pt x="3338921" y="1219883"/>
                </a:lnTo>
                <a:lnTo>
                  <a:pt x="3298762" y="1231129"/>
                </a:lnTo>
                <a:lnTo>
                  <a:pt x="3255763" y="1241945"/>
                </a:lnTo>
                <a:lnTo>
                  <a:pt x="3210030" y="1252310"/>
                </a:lnTo>
                <a:lnTo>
                  <a:pt x="3161668" y="1262205"/>
                </a:lnTo>
                <a:lnTo>
                  <a:pt x="3110780" y="1271609"/>
                </a:lnTo>
                <a:lnTo>
                  <a:pt x="3057472" y="1280501"/>
                </a:lnTo>
                <a:lnTo>
                  <a:pt x="3001849" y="1288862"/>
                </a:lnTo>
                <a:lnTo>
                  <a:pt x="2944014" y="1296671"/>
                </a:lnTo>
                <a:lnTo>
                  <a:pt x="2884072" y="1303907"/>
                </a:lnTo>
                <a:lnTo>
                  <a:pt x="2822129" y="1310551"/>
                </a:lnTo>
                <a:lnTo>
                  <a:pt x="2758288" y="1316582"/>
                </a:lnTo>
                <a:lnTo>
                  <a:pt x="2692654" y="1321979"/>
                </a:lnTo>
                <a:lnTo>
                  <a:pt x="2625332" y="1326723"/>
                </a:lnTo>
                <a:lnTo>
                  <a:pt x="2556426" y="1330793"/>
                </a:lnTo>
                <a:lnTo>
                  <a:pt x="2486041" y="1334168"/>
                </a:lnTo>
                <a:lnTo>
                  <a:pt x="2414282" y="1336829"/>
                </a:lnTo>
                <a:lnTo>
                  <a:pt x="2341253" y="1338754"/>
                </a:lnTo>
                <a:lnTo>
                  <a:pt x="2267059" y="1339925"/>
                </a:lnTo>
                <a:lnTo>
                  <a:pt x="2191804" y="1340319"/>
                </a:lnTo>
                <a:close/>
              </a:path>
              <a:path w="3563620" h="1340485">
                <a:moveTo>
                  <a:pt x="2423922" y="810768"/>
                </a:moveTo>
                <a:lnTo>
                  <a:pt x="1937003" y="810768"/>
                </a:lnTo>
                <a:lnTo>
                  <a:pt x="2037673" y="808425"/>
                </a:lnTo>
                <a:lnTo>
                  <a:pt x="2191804" y="806919"/>
                </a:lnTo>
                <a:lnTo>
                  <a:pt x="2267059" y="807314"/>
                </a:lnTo>
                <a:lnTo>
                  <a:pt x="2341253" y="808484"/>
                </a:lnTo>
                <a:lnTo>
                  <a:pt x="2414282" y="810410"/>
                </a:lnTo>
                <a:lnTo>
                  <a:pt x="2423922" y="810768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3488" y="3497148"/>
            <a:ext cx="3603625" cy="1358900"/>
          </a:xfrm>
          <a:custGeom>
            <a:avLst/>
            <a:gdLst/>
            <a:ahLst/>
            <a:cxnLst/>
            <a:rect l="l" t="t" r="r" b="b"/>
            <a:pathLst>
              <a:path w="3603625" h="1358900">
                <a:moveTo>
                  <a:pt x="1471732" y="856156"/>
                </a:moveTo>
                <a:lnTo>
                  <a:pt x="0" y="0"/>
                </a:lnTo>
                <a:lnTo>
                  <a:pt x="1993" y="0"/>
                </a:lnTo>
                <a:lnTo>
                  <a:pt x="50717" y="20388"/>
                </a:lnTo>
                <a:lnTo>
                  <a:pt x="1482129" y="852409"/>
                </a:lnTo>
                <a:lnTo>
                  <a:pt x="1471732" y="856156"/>
                </a:lnTo>
                <a:close/>
              </a:path>
              <a:path w="3603625" h="1358900">
                <a:moveTo>
                  <a:pt x="48465" y="19079"/>
                </a:moveTo>
                <a:lnTo>
                  <a:pt x="33248" y="12700"/>
                </a:lnTo>
                <a:lnTo>
                  <a:pt x="37490" y="12700"/>
                </a:lnTo>
                <a:lnTo>
                  <a:pt x="48465" y="19079"/>
                </a:lnTo>
                <a:close/>
              </a:path>
              <a:path w="3603625" h="1358900">
                <a:moveTo>
                  <a:pt x="517421" y="215680"/>
                </a:moveTo>
                <a:lnTo>
                  <a:pt x="50717" y="20388"/>
                </a:lnTo>
                <a:lnTo>
                  <a:pt x="48465" y="19079"/>
                </a:lnTo>
                <a:lnTo>
                  <a:pt x="517421" y="215680"/>
                </a:lnTo>
                <a:close/>
              </a:path>
              <a:path w="3603625" h="1358900">
                <a:moveTo>
                  <a:pt x="1974748" y="825500"/>
                </a:moveTo>
                <a:lnTo>
                  <a:pt x="1972030" y="825500"/>
                </a:lnTo>
                <a:lnTo>
                  <a:pt x="517421" y="215680"/>
                </a:lnTo>
                <a:lnTo>
                  <a:pt x="1974748" y="825500"/>
                </a:lnTo>
                <a:close/>
              </a:path>
              <a:path w="3603625" h="1358900">
                <a:moveTo>
                  <a:pt x="2503754" y="825500"/>
                </a:moveTo>
                <a:lnTo>
                  <a:pt x="1974748" y="825500"/>
                </a:lnTo>
                <a:lnTo>
                  <a:pt x="1972741" y="812800"/>
                </a:lnTo>
                <a:lnTo>
                  <a:pt x="2470099" y="812800"/>
                </a:lnTo>
                <a:lnTo>
                  <a:pt x="2503754" y="825500"/>
                </a:lnTo>
                <a:close/>
              </a:path>
              <a:path w="3603625" h="1358900">
                <a:moveTo>
                  <a:pt x="2730436" y="838200"/>
                </a:moveTo>
                <a:lnTo>
                  <a:pt x="2569705" y="838200"/>
                </a:lnTo>
                <a:lnTo>
                  <a:pt x="2536672" y="825500"/>
                </a:lnTo>
                <a:lnTo>
                  <a:pt x="2699080" y="825500"/>
                </a:lnTo>
                <a:lnTo>
                  <a:pt x="2730436" y="838200"/>
                </a:lnTo>
                <a:close/>
              </a:path>
              <a:path w="3603625" h="1358900">
                <a:moveTo>
                  <a:pt x="2881426" y="850900"/>
                </a:moveTo>
                <a:lnTo>
                  <a:pt x="2760649" y="850900"/>
                </a:lnTo>
                <a:lnTo>
                  <a:pt x="2729699" y="838200"/>
                </a:lnTo>
                <a:lnTo>
                  <a:pt x="2852039" y="838200"/>
                </a:lnTo>
                <a:lnTo>
                  <a:pt x="2881426" y="850900"/>
                </a:lnTo>
                <a:close/>
              </a:path>
              <a:path w="3603625" h="1358900">
                <a:moveTo>
                  <a:pt x="1485804" y="854546"/>
                </a:moveTo>
                <a:lnTo>
                  <a:pt x="1482129" y="852409"/>
                </a:lnTo>
                <a:lnTo>
                  <a:pt x="1486319" y="850900"/>
                </a:lnTo>
                <a:lnTo>
                  <a:pt x="1485804" y="854546"/>
                </a:lnTo>
                <a:close/>
              </a:path>
              <a:path w="3603625" h="1358900">
                <a:moveTo>
                  <a:pt x="2994634" y="863600"/>
                </a:moveTo>
                <a:lnTo>
                  <a:pt x="2909354" y="863600"/>
                </a:lnTo>
                <a:lnTo>
                  <a:pt x="2880410" y="850900"/>
                </a:lnTo>
                <a:lnTo>
                  <a:pt x="2967012" y="850900"/>
                </a:lnTo>
                <a:lnTo>
                  <a:pt x="2994634" y="863600"/>
                </a:lnTo>
                <a:close/>
              </a:path>
              <a:path w="3603625" h="1358900">
                <a:moveTo>
                  <a:pt x="1484528" y="863600"/>
                </a:moveTo>
                <a:lnTo>
                  <a:pt x="1471732" y="856156"/>
                </a:lnTo>
                <a:lnTo>
                  <a:pt x="1482129" y="852409"/>
                </a:lnTo>
                <a:lnTo>
                  <a:pt x="1485804" y="854546"/>
                </a:lnTo>
                <a:lnTo>
                  <a:pt x="1484528" y="863600"/>
                </a:lnTo>
                <a:close/>
              </a:path>
              <a:path w="3603625" h="1358900">
                <a:moveTo>
                  <a:pt x="1452308" y="876300"/>
                </a:moveTo>
                <a:lnTo>
                  <a:pt x="1382890" y="876300"/>
                </a:lnTo>
                <a:lnTo>
                  <a:pt x="1416583" y="863600"/>
                </a:lnTo>
                <a:lnTo>
                  <a:pt x="1484528" y="863600"/>
                </a:lnTo>
                <a:lnTo>
                  <a:pt x="1485804" y="854546"/>
                </a:lnTo>
                <a:lnTo>
                  <a:pt x="1501381" y="863600"/>
                </a:lnTo>
                <a:lnTo>
                  <a:pt x="1452308" y="876300"/>
                </a:lnTo>
                <a:close/>
              </a:path>
              <a:path w="3603625" h="1358900">
                <a:moveTo>
                  <a:pt x="1484528" y="863600"/>
                </a:moveTo>
                <a:lnTo>
                  <a:pt x="1451076" y="863600"/>
                </a:lnTo>
                <a:lnTo>
                  <a:pt x="1471732" y="856156"/>
                </a:lnTo>
                <a:lnTo>
                  <a:pt x="1484528" y="863600"/>
                </a:lnTo>
                <a:close/>
              </a:path>
              <a:path w="3603625" h="1358900">
                <a:moveTo>
                  <a:pt x="3074669" y="876300"/>
                </a:moveTo>
                <a:lnTo>
                  <a:pt x="3020504" y="876300"/>
                </a:lnTo>
                <a:lnTo>
                  <a:pt x="2993377" y="863600"/>
                </a:lnTo>
                <a:lnTo>
                  <a:pt x="3048482" y="863600"/>
                </a:lnTo>
                <a:lnTo>
                  <a:pt x="3074669" y="876300"/>
                </a:lnTo>
                <a:close/>
              </a:path>
              <a:path w="3603625" h="1358900">
                <a:moveTo>
                  <a:pt x="1351495" y="889000"/>
                </a:moveTo>
                <a:lnTo>
                  <a:pt x="1286789" y="889000"/>
                </a:lnTo>
                <a:lnTo>
                  <a:pt x="1317967" y="876300"/>
                </a:lnTo>
                <a:lnTo>
                  <a:pt x="1384338" y="876300"/>
                </a:lnTo>
                <a:lnTo>
                  <a:pt x="1351495" y="889000"/>
                </a:lnTo>
                <a:close/>
              </a:path>
              <a:path w="3603625" h="1358900">
                <a:moveTo>
                  <a:pt x="3150209" y="889000"/>
                </a:moveTo>
                <a:lnTo>
                  <a:pt x="3098876" y="889000"/>
                </a:lnTo>
                <a:lnTo>
                  <a:pt x="3073209" y="876300"/>
                </a:lnTo>
                <a:lnTo>
                  <a:pt x="3125546" y="876300"/>
                </a:lnTo>
                <a:lnTo>
                  <a:pt x="3150209" y="889000"/>
                </a:lnTo>
                <a:close/>
              </a:path>
              <a:path w="3603625" h="1358900">
                <a:moveTo>
                  <a:pt x="1288478" y="901700"/>
                </a:moveTo>
                <a:lnTo>
                  <a:pt x="1227099" y="901700"/>
                </a:lnTo>
                <a:lnTo>
                  <a:pt x="1256487" y="889000"/>
                </a:lnTo>
                <a:lnTo>
                  <a:pt x="1319606" y="889000"/>
                </a:lnTo>
                <a:lnTo>
                  <a:pt x="1288478" y="901700"/>
                </a:lnTo>
                <a:close/>
              </a:path>
              <a:path w="3603625" h="1358900">
                <a:moveTo>
                  <a:pt x="3220948" y="901700"/>
                </a:moveTo>
                <a:lnTo>
                  <a:pt x="3172612" y="901700"/>
                </a:lnTo>
                <a:lnTo>
                  <a:pt x="3148520" y="889000"/>
                </a:lnTo>
                <a:lnTo>
                  <a:pt x="3197923" y="889000"/>
                </a:lnTo>
                <a:lnTo>
                  <a:pt x="3220948" y="901700"/>
                </a:lnTo>
                <a:close/>
              </a:path>
              <a:path w="3603625" h="1358900">
                <a:moveTo>
                  <a:pt x="1200657" y="914400"/>
                </a:moveTo>
                <a:lnTo>
                  <a:pt x="1171130" y="914400"/>
                </a:lnTo>
                <a:lnTo>
                  <a:pt x="1198638" y="901700"/>
                </a:lnTo>
                <a:lnTo>
                  <a:pt x="1229055" y="901700"/>
                </a:lnTo>
                <a:lnTo>
                  <a:pt x="1200657" y="914400"/>
                </a:lnTo>
                <a:close/>
              </a:path>
              <a:path w="3603625" h="1358900">
                <a:moveTo>
                  <a:pt x="3286633" y="914400"/>
                </a:moveTo>
                <a:lnTo>
                  <a:pt x="3241446" y="914400"/>
                </a:lnTo>
                <a:lnTo>
                  <a:pt x="3219030" y="901700"/>
                </a:lnTo>
                <a:lnTo>
                  <a:pt x="3265322" y="901700"/>
                </a:lnTo>
                <a:lnTo>
                  <a:pt x="3286633" y="914400"/>
                </a:lnTo>
                <a:close/>
              </a:path>
              <a:path w="3603625" h="1358900">
                <a:moveTo>
                  <a:pt x="1146860" y="927100"/>
                </a:moveTo>
                <a:lnTo>
                  <a:pt x="1119047" y="927100"/>
                </a:lnTo>
                <a:lnTo>
                  <a:pt x="1144587" y="914400"/>
                </a:lnTo>
                <a:lnTo>
                  <a:pt x="1173327" y="914400"/>
                </a:lnTo>
                <a:lnTo>
                  <a:pt x="1146860" y="927100"/>
                </a:lnTo>
                <a:close/>
              </a:path>
              <a:path w="3603625" h="1358900">
                <a:moveTo>
                  <a:pt x="3327450" y="927100"/>
                </a:moveTo>
                <a:lnTo>
                  <a:pt x="3284473" y="927100"/>
                </a:lnTo>
                <a:lnTo>
                  <a:pt x="3263201" y="914400"/>
                </a:lnTo>
                <a:lnTo>
                  <a:pt x="3307346" y="914400"/>
                </a:lnTo>
                <a:lnTo>
                  <a:pt x="3327450" y="927100"/>
                </a:lnTo>
                <a:close/>
              </a:path>
              <a:path w="3603625" h="1358900">
                <a:moveTo>
                  <a:pt x="1097076" y="939800"/>
                </a:moveTo>
                <a:lnTo>
                  <a:pt x="1071029" y="939800"/>
                </a:lnTo>
                <a:lnTo>
                  <a:pt x="1094524" y="927100"/>
                </a:lnTo>
                <a:lnTo>
                  <a:pt x="1121524" y="927100"/>
                </a:lnTo>
                <a:lnTo>
                  <a:pt x="1097076" y="939800"/>
                </a:lnTo>
                <a:close/>
              </a:path>
              <a:path w="3603625" h="1358900">
                <a:moveTo>
                  <a:pt x="3384041" y="939800"/>
                </a:moveTo>
                <a:lnTo>
                  <a:pt x="3344468" y="939800"/>
                </a:lnTo>
                <a:lnTo>
                  <a:pt x="3325025" y="927100"/>
                </a:lnTo>
                <a:lnTo>
                  <a:pt x="3365817" y="927100"/>
                </a:lnTo>
                <a:lnTo>
                  <a:pt x="3384041" y="939800"/>
                </a:lnTo>
                <a:close/>
              </a:path>
              <a:path w="3603625" h="1358900">
                <a:moveTo>
                  <a:pt x="1030338" y="965200"/>
                </a:moveTo>
                <a:lnTo>
                  <a:pt x="1007021" y="965200"/>
                </a:lnTo>
                <a:lnTo>
                  <a:pt x="1027264" y="952500"/>
                </a:lnTo>
                <a:lnTo>
                  <a:pt x="1048600" y="939800"/>
                </a:lnTo>
                <a:lnTo>
                  <a:pt x="1097152" y="939800"/>
                </a:lnTo>
                <a:lnTo>
                  <a:pt x="1073746" y="952500"/>
                </a:lnTo>
                <a:lnTo>
                  <a:pt x="1051585" y="952500"/>
                </a:lnTo>
                <a:lnTo>
                  <a:pt x="1030338" y="965200"/>
                </a:lnTo>
                <a:close/>
              </a:path>
              <a:path w="3603625" h="1358900">
                <a:moveTo>
                  <a:pt x="3418547" y="952500"/>
                </a:moveTo>
                <a:lnTo>
                  <a:pt x="3381311" y="952500"/>
                </a:lnTo>
                <a:lnTo>
                  <a:pt x="3363150" y="939800"/>
                </a:lnTo>
                <a:lnTo>
                  <a:pt x="3401618" y="939800"/>
                </a:lnTo>
                <a:lnTo>
                  <a:pt x="3418547" y="952500"/>
                </a:lnTo>
                <a:close/>
              </a:path>
              <a:path w="3603625" h="1358900">
                <a:moveTo>
                  <a:pt x="3450386" y="965200"/>
                </a:moveTo>
                <a:lnTo>
                  <a:pt x="3431628" y="965200"/>
                </a:lnTo>
                <a:lnTo>
                  <a:pt x="3415461" y="952500"/>
                </a:lnTo>
                <a:lnTo>
                  <a:pt x="3434803" y="952500"/>
                </a:lnTo>
                <a:lnTo>
                  <a:pt x="3450386" y="965200"/>
                </a:lnTo>
                <a:close/>
              </a:path>
              <a:path w="3603625" h="1358900">
                <a:moveTo>
                  <a:pt x="991425" y="977900"/>
                </a:moveTo>
                <a:lnTo>
                  <a:pt x="969924" y="977900"/>
                </a:lnTo>
                <a:lnTo>
                  <a:pt x="987894" y="965200"/>
                </a:lnTo>
                <a:lnTo>
                  <a:pt x="1010424" y="965200"/>
                </a:lnTo>
                <a:lnTo>
                  <a:pt x="991425" y="977900"/>
                </a:lnTo>
                <a:close/>
              </a:path>
              <a:path w="3603625" h="1358900">
                <a:moveTo>
                  <a:pt x="3479457" y="977900"/>
                </a:moveTo>
                <a:lnTo>
                  <a:pt x="3461753" y="977900"/>
                </a:lnTo>
                <a:lnTo>
                  <a:pt x="3446957" y="965200"/>
                </a:lnTo>
                <a:lnTo>
                  <a:pt x="3465271" y="965200"/>
                </a:lnTo>
                <a:lnTo>
                  <a:pt x="3479457" y="977900"/>
                </a:lnTo>
                <a:close/>
              </a:path>
              <a:path w="3603625" h="1358900">
                <a:moveTo>
                  <a:pt x="957173" y="990600"/>
                </a:moveTo>
                <a:lnTo>
                  <a:pt x="945159" y="990600"/>
                </a:lnTo>
                <a:lnTo>
                  <a:pt x="953135" y="977900"/>
                </a:lnTo>
                <a:lnTo>
                  <a:pt x="973836" y="977900"/>
                </a:lnTo>
                <a:lnTo>
                  <a:pt x="957173" y="990600"/>
                </a:lnTo>
                <a:close/>
              </a:path>
              <a:path w="3603625" h="1358900">
                <a:moveTo>
                  <a:pt x="3517747" y="990600"/>
                </a:moveTo>
                <a:lnTo>
                  <a:pt x="3489020" y="990600"/>
                </a:lnTo>
                <a:lnTo>
                  <a:pt x="3475647" y="977900"/>
                </a:lnTo>
                <a:lnTo>
                  <a:pt x="3505708" y="977900"/>
                </a:lnTo>
                <a:lnTo>
                  <a:pt x="3517747" y="990600"/>
                </a:lnTo>
                <a:close/>
              </a:path>
              <a:path w="3603625" h="1358900">
                <a:moveTo>
                  <a:pt x="941908" y="1003300"/>
                </a:moveTo>
                <a:lnTo>
                  <a:pt x="923086" y="1003300"/>
                </a:lnTo>
                <a:lnTo>
                  <a:pt x="930148" y="990600"/>
                </a:lnTo>
                <a:lnTo>
                  <a:pt x="949490" y="990600"/>
                </a:lnTo>
                <a:lnTo>
                  <a:pt x="941908" y="1003300"/>
                </a:lnTo>
                <a:close/>
              </a:path>
              <a:path w="3603625" h="1358900">
                <a:moveTo>
                  <a:pt x="3539604" y="1003300"/>
                </a:moveTo>
                <a:lnTo>
                  <a:pt x="3513340" y="1003300"/>
                </a:lnTo>
                <a:lnTo>
                  <a:pt x="3501440" y="990600"/>
                </a:lnTo>
                <a:lnTo>
                  <a:pt x="3529050" y="990600"/>
                </a:lnTo>
                <a:lnTo>
                  <a:pt x="3539604" y="1003300"/>
                </a:lnTo>
                <a:close/>
              </a:path>
              <a:path w="3603625" h="1358900">
                <a:moveTo>
                  <a:pt x="921296" y="1016000"/>
                </a:moveTo>
                <a:lnTo>
                  <a:pt x="903782" y="1016000"/>
                </a:lnTo>
                <a:lnTo>
                  <a:pt x="909904" y="1003300"/>
                </a:lnTo>
                <a:lnTo>
                  <a:pt x="927938" y="1003300"/>
                </a:lnTo>
                <a:lnTo>
                  <a:pt x="921296" y="1016000"/>
                </a:lnTo>
                <a:close/>
              </a:path>
              <a:path w="3603625" h="1358900">
                <a:moveTo>
                  <a:pt x="3558438" y="1016000"/>
                </a:moveTo>
                <a:lnTo>
                  <a:pt x="3534625" y="1016000"/>
                </a:lnTo>
                <a:lnTo>
                  <a:pt x="3524224" y="1003300"/>
                </a:lnTo>
                <a:lnTo>
                  <a:pt x="3549408" y="1003300"/>
                </a:lnTo>
                <a:lnTo>
                  <a:pt x="3558438" y="1016000"/>
                </a:lnTo>
                <a:close/>
              </a:path>
              <a:path w="3603625" h="1358900">
                <a:moveTo>
                  <a:pt x="898309" y="1028700"/>
                </a:moveTo>
                <a:lnTo>
                  <a:pt x="887298" y="1028700"/>
                </a:lnTo>
                <a:lnTo>
                  <a:pt x="892467" y="1016000"/>
                </a:lnTo>
                <a:lnTo>
                  <a:pt x="903681" y="1016000"/>
                </a:lnTo>
                <a:lnTo>
                  <a:pt x="898309" y="1028700"/>
                </a:lnTo>
                <a:close/>
              </a:path>
              <a:path w="3603625" h="1358900">
                <a:moveTo>
                  <a:pt x="3580828" y="1041400"/>
                </a:moveTo>
                <a:lnTo>
                  <a:pt x="3567709" y="1041400"/>
                </a:lnTo>
                <a:lnTo>
                  <a:pt x="3560444" y="1028700"/>
                </a:lnTo>
                <a:lnTo>
                  <a:pt x="3552786" y="1028700"/>
                </a:lnTo>
                <a:lnTo>
                  <a:pt x="3543935" y="1016000"/>
                </a:lnTo>
                <a:lnTo>
                  <a:pt x="3566693" y="1016000"/>
                </a:lnTo>
                <a:lnTo>
                  <a:pt x="3574161" y="1028700"/>
                </a:lnTo>
                <a:lnTo>
                  <a:pt x="3580828" y="1041400"/>
                </a:lnTo>
                <a:close/>
              </a:path>
              <a:path w="3603625" h="1358900">
                <a:moveTo>
                  <a:pt x="884542" y="1041400"/>
                </a:moveTo>
                <a:lnTo>
                  <a:pt x="873709" y="1041400"/>
                </a:lnTo>
                <a:lnTo>
                  <a:pt x="877912" y="1028700"/>
                </a:lnTo>
                <a:lnTo>
                  <a:pt x="888936" y="1028700"/>
                </a:lnTo>
                <a:lnTo>
                  <a:pt x="884542" y="1041400"/>
                </a:lnTo>
                <a:close/>
              </a:path>
              <a:path w="3603625" h="1358900">
                <a:moveTo>
                  <a:pt x="873848" y="1054100"/>
                </a:moveTo>
                <a:lnTo>
                  <a:pt x="863130" y="1054100"/>
                </a:lnTo>
                <a:lnTo>
                  <a:pt x="866317" y="1041400"/>
                </a:lnTo>
                <a:lnTo>
                  <a:pt x="877227" y="1041400"/>
                </a:lnTo>
                <a:lnTo>
                  <a:pt x="873848" y="1054100"/>
                </a:lnTo>
                <a:close/>
              </a:path>
              <a:path w="3603625" h="1358900">
                <a:moveTo>
                  <a:pt x="3591712" y="1054100"/>
                </a:moveTo>
                <a:lnTo>
                  <a:pt x="3579317" y="1054100"/>
                </a:lnTo>
                <a:lnTo>
                  <a:pt x="3573691" y="1041400"/>
                </a:lnTo>
                <a:lnTo>
                  <a:pt x="3589299" y="1041400"/>
                </a:lnTo>
                <a:lnTo>
                  <a:pt x="3591712" y="1054100"/>
                </a:lnTo>
                <a:close/>
              </a:path>
              <a:path w="3603625" h="1358900">
                <a:moveTo>
                  <a:pt x="866254" y="1066800"/>
                </a:moveTo>
                <a:lnTo>
                  <a:pt x="855687" y="1066800"/>
                </a:lnTo>
                <a:lnTo>
                  <a:pt x="857808" y="1054100"/>
                </a:lnTo>
                <a:lnTo>
                  <a:pt x="868591" y="1054100"/>
                </a:lnTo>
                <a:lnTo>
                  <a:pt x="866254" y="1066800"/>
                </a:lnTo>
                <a:close/>
              </a:path>
              <a:path w="3603625" h="1358900">
                <a:moveTo>
                  <a:pt x="3599180" y="1066800"/>
                </a:moveTo>
                <a:lnTo>
                  <a:pt x="3587495" y="1066800"/>
                </a:lnTo>
                <a:lnTo>
                  <a:pt x="3585629" y="1054100"/>
                </a:lnTo>
                <a:lnTo>
                  <a:pt x="3597643" y="1054100"/>
                </a:lnTo>
                <a:lnTo>
                  <a:pt x="3599180" y="1066800"/>
                </a:lnTo>
                <a:close/>
              </a:path>
              <a:path w="3603625" h="1358900">
                <a:moveTo>
                  <a:pt x="861758" y="1079500"/>
                </a:moveTo>
                <a:lnTo>
                  <a:pt x="851573" y="1079500"/>
                </a:lnTo>
                <a:lnTo>
                  <a:pt x="852563" y="1066800"/>
                </a:lnTo>
                <a:lnTo>
                  <a:pt x="863028" y="1066800"/>
                </a:lnTo>
                <a:lnTo>
                  <a:pt x="861758" y="1079500"/>
                </a:lnTo>
                <a:close/>
              </a:path>
              <a:path w="3603625" h="1358900">
                <a:moveTo>
                  <a:pt x="3602418" y="1079500"/>
                </a:moveTo>
                <a:lnTo>
                  <a:pt x="3592385" y="1079500"/>
                </a:lnTo>
                <a:lnTo>
                  <a:pt x="3591394" y="1066800"/>
                </a:lnTo>
                <a:lnTo>
                  <a:pt x="3601567" y="1066800"/>
                </a:lnTo>
                <a:lnTo>
                  <a:pt x="3602418" y="1079500"/>
                </a:lnTo>
                <a:close/>
              </a:path>
              <a:path w="3603625" h="1358900">
                <a:moveTo>
                  <a:pt x="860298" y="1092200"/>
                </a:moveTo>
                <a:lnTo>
                  <a:pt x="850773" y="1092200"/>
                </a:lnTo>
                <a:lnTo>
                  <a:pt x="850976" y="1079500"/>
                </a:lnTo>
                <a:lnTo>
                  <a:pt x="860298" y="1079500"/>
                </a:lnTo>
                <a:lnTo>
                  <a:pt x="860298" y="1092200"/>
                </a:lnTo>
                <a:close/>
              </a:path>
              <a:path w="3603625" h="1358900">
                <a:moveTo>
                  <a:pt x="860369" y="1087437"/>
                </a:moveTo>
                <a:lnTo>
                  <a:pt x="860298" y="1079500"/>
                </a:lnTo>
                <a:lnTo>
                  <a:pt x="860488" y="1079500"/>
                </a:lnTo>
                <a:lnTo>
                  <a:pt x="860369" y="1087437"/>
                </a:lnTo>
                <a:close/>
              </a:path>
              <a:path w="3603625" h="1358900">
                <a:moveTo>
                  <a:pt x="3593928" y="1085850"/>
                </a:moveTo>
                <a:lnTo>
                  <a:pt x="3593871" y="1079500"/>
                </a:lnTo>
                <a:lnTo>
                  <a:pt x="3593928" y="1085850"/>
                </a:lnTo>
                <a:close/>
              </a:path>
              <a:path w="3603625" h="1358900">
                <a:moveTo>
                  <a:pt x="3603510" y="1092200"/>
                </a:moveTo>
                <a:lnTo>
                  <a:pt x="3593985" y="1092200"/>
                </a:lnTo>
                <a:lnTo>
                  <a:pt x="3593985" y="1079500"/>
                </a:lnTo>
                <a:lnTo>
                  <a:pt x="3603383" y="1079500"/>
                </a:lnTo>
                <a:lnTo>
                  <a:pt x="3603510" y="1092200"/>
                </a:lnTo>
                <a:close/>
              </a:path>
              <a:path w="3603625" h="1358900">
                <a:moveTo>
                  <a:pt x="3593985" y="1092200"/>
                </a:moveTo>
                <a:lnTo>
                  <a:pt x="3593928" y="1085850"/>
                </a:lnTo>
                <a:lnTo>
                  <a:pt x="3593985" y="1092200"/>
                </a:lnTo>
                <a:close/>
              </a:path>
              <a:path w="3603625" h="1358900">
                <a:moveTo>
                  <a:pt x="860412" y="1092200"/>
                </a:moveTo>
                <a:lnTo>
                  <a:pt x="860369" y="1087437"/>
                </a:lnTo>
                <a:lnTo>
                  <a:pt x="860412" y="1092200"/>
                </a:lnTo>
                <a:close/>
              </a:path>
              <a:path w="3603625" h="1358900">
                <a:moveTo>
                  <a:pt x="861974" y="1104900"/>
                </a:moveTo>
                <a:lnTo>
                  <a:pt x="852716" y="1104900"/>
                </a:lnTo>
                <a:lnTo>
                  <a:pt x="851877" y="1092200"/>
                </a:lnTo>
                <a:lnTo>
                  <a:pt x="861187" y="1092200"/>
                </a:lnTo>
                <a:lnTo>
                  <a:pt x="861974" y="1104900"/>
                </a:lnTo>
                <a:close/>
              </a:path>
              <a:path w="3603625" h="1358900">
                <a:moveTo>
                  <a:pt x="862901" y="1104900"/>
                </a:moveTo>
                <a:lnTo>
                  <a:pt x="861974" y="1104900"/>
                </a:lnTo>
                <a:lnTo>
                  <a:pt x="861898" y="1092200"/>
                </a:lnTo>
                <a:lnTo>
                  <a:pt x="862901" y="1104900"/>
                </a:lnTo>
                <a:close/>
              </a:path>
              <a:path w="3603625" h="1358900">
                <a:moveTo>
                  <a:pt x="3592309" y="1104900"/>
                </a:moveTo>
                <a:lnTo>
                  <a:pt x="3591394" y="1104900"/>
                </a:lnTo>
                <a:lnTo>
                  <a:pt x="3592385" y="1092200"/>
                </a:lnTo>
                <a:lnTo>
                  <a:pt x="3592309" y="1104900"/>
                </a:lnTo>
                <a:close/>
              </a:path>
              <a:path w="3603625" h="1358900">
                <a:moveTo>
                  <a:pt x="3601567" y="1104900"/>
                </a:moveTo>
                <a:lnTo>
                  <a:pt x="3592309" y="1104900"/>
                </a:lnTo>
                <a:lnTo>
                  <a:pt x="3593096" y="1092200"/>
                </a:lnTo>
                <a:lnTo>
                  <a:pt x="3602418" y="1092200"/>
                </a:lnTo>
                <a:lnTo>
                  <a:pt x="3601567" y="1104900"/>
                </a:lnTo>
                <a:close/>
              </a:path>
              <a:path w="3603625" h="1358900">
                <a:moveTo>
                  <a:pt x="868654" y="1117600"/>
                </a:moveTo>
                <a:lnTo>
                  <a:pt x="856640" y="1117600"/>
                </a:lnTo>
                <a:lnTo>
                  <a:pt x="855103" y="1104900"/>
                </a:lnTo>
                <a:lnTo>
                  <a:pt x="866787" y="1104900"/>
                </a:lnTo>
                <a:lnTo>
                  <a:pt x="868654" y="1117600"/>
                </a:lnTo>
                <a:close/>
              </a:path>
              <a:path w="3603625" h="1358900">
                <a:moveTo>
                  <a:pt x="3597643" y="1117600"/>
                </a:moveTo>
                <a:lnTo>
                  <a:pt x="3585629" y="1117600"/>
                </a:lnTo>
                <a:lnTo>
                  <a:pt x="3587495" y="1104900"/>
                </a:lnTo>
                <a:lnTo>
                  <a:pt x="3599180" y="1104900"/>
                </a:lnTo>
                <a:lnTo>
                  <a:pt x="3597643" y="1117600"/>
                </a:lnTo>
                <a:close/>
              </a:path>
              <a:path w="3603625" h="1358900">
                <a:moveTo>
                  <a:pt x="880592" y="1130300"/>
                </a:moveTo>
                <a:lnTo>
                  <a:pt x="864984" y="1130300"/>
                </a:lnTo>
                <a:lnTo>
                  <a:pt x="862571" y="1117600"/>
                </a:lnTo>
                <a:lnTo>
                  <a:pt x="874966" y="1117600"/>
                </a:lnTo>
                <a:lnTo>
                  <a:pt x="880592" y="1130300"/>
                </a:lnTo>
                <a:close/>
              </a:path>
              <a:path w="3603625" h="1358900">
                <a:moveTo>
                  <a:pt x="3589299" y="1130300"/>
                </a:moveTo>
                <a:lnTo>
                  <a:pt x="3573691" y="1130300"/>
                </a:lnTo>
                <a:lnTo>
                  <a:pt x="3579317" y="1117600"/>
                </a:lnTo>
                <a:lnTo>
                  <a:pt x="3591712" y="1117600"/>
                </a:lnTo>
                <a:lnTo>
                  <a:pt x="3589299" y="1130300"/>
                </a:lnTo>
                <a:close/>
              </a:path>
              <a:path w="3603625" h="1358900">
                <a:moveTo>
                  <a:pt x="910348" y="1155700"/>
                </a:moveTo>
                <a:lnTo>
                  <a:pt x="887590" y="1155700"/>
                </a:lnTo>
                <a:lnTo>
                  <a:pt x="880122" y="1143000"/>
                </a:lnTo>
                <a:lnTo>
                  <a:pt x="873455" y="1130300"/>
                </a:lnTo>
                <a:lnTo>
                  <a:pt x="886587" y="1130300"/>
                </a:lnTo>
                <a:lnTo>
                  <a:pt x="893838" y="1143000"/>
                </a:lnTo>
                <a:lnTo>
                  <a:pt x="901509" y="1143000"/>
                </a:lnTo>
                <a:lnTo>
                  <a:pt x="910348" y="1155700"/>
                </a:lnTo>
                <a:close/>
              </a:path>
              <a:path w="3603625" h="1358900">
                <a:moveTo>
                  <a:pt x="3566693" y="1155700"/>
                </a:moveTo>
                <a:lnTo>
                  <a:pt x="3543935" y="1155700"/>
                </a:lnTo>
                <a:lnTo>
                  <a:pt x="3552786" y="1143000"/>
                </a:lnTo>
                <a:lnTo>
                  <a:pt x="3560444" y="1143000"/>
                </a:lnTo>
                <a:lnTo>
                  <a:pt x="3567709" y="1130300"/>
                </a:lnTo>
                <a:lnTo>
                  <a:pt x="3580828" y="1130300"/>
                </a:lnTo>
                <a:lnTo>
                  <a:pt x="3574161" y="1143000"/>
                </a:lnTo>
                <a:lnTo>
                  <a:pt x="3566693" y="1155700"/>
                </a:lnTo>
                <a:close/>
              </a:path>
              <a:path w="3603625" h="1358900">
                <a:moveTo>
                  <a:pt x="930059" y="1168400"/>
                </a:moveTo>
                <a:lnTo>
                  <a:pt x="904887" y="1168400"/>
                </a:lnTo>
                <a:lnTo>
                  <a:pt x="895845" y="1155700"/>
                </a:lnTo>
                <a:lnTo>
                  <a:pt x="919657" y="1155700"/>
                </a:lnTo>
                <a:lnTo>
                  <a:pt x="930059" y="1168400"/>
                </a:lnTo>
                <a:close/>
              </a:path>
              <a:path w="3603625" h="1358900">
                <a:moveTo>
                  <a:pt x="3549408" y="1168400"/>
                </a:moveTo>
                <a:lnTo>
                  <a:pt x="3524224" y="1168400"/>
                </a:lnTo>
                <a:lnTo>
                  <a:pt x="3534625" y="1155700"/>
                </a:lnTo>
                <a:lnTo>
                  <a:pt x="3558438" y="1155700"/>
                </a:lnTo>
                <a:lnTo>
                  <a:pt x="3549408" y="1168400"/>
                </a:lnTo>
                <a:close/>
              </a:path>
              <a:path w="3603625" h="1358900">
                <a:moveTo>
                  <a:pt x="952855" y="1181100"/>
                </a:moveTo>
                <a:lnTo>
                  <a:pt x="925233" y="1181100"/>
                </a:lnTo>
                <a:lnTo>
                  <a:pt x="914679" y="1168400"/>
                </a:lnTo>
                <a:lnTo>
                  <a:pt x="940942" y="1168400"/>
                </a:lnTo>
                <a:lnTo>
                  <a:pt x="952855" y="1181100"/>
                </a:lnTo>
                <a:close/>
              </a:path>
              <a:path w="3603625" h="1358900">
                <a:moveTo>
                  <a:pt x="3529050" y="1181100"/>
                </a:moveTo>
                <a:lnTo>
                  <a:pt x="3501440" y="1181100"/>
                </a:lnTo>
                <a:lnTo>
                  <a:pt x="3513340" y="1168400"/>
                </a:lnTo>
                <a:lnTo>
                  <a:pt x="3539604" y="1168400"/>
                </a:lnTo>
                <a:lnTo>
                  <a:pt x="3529050" y="1181100"/>
                </a:lnTo>
                <a:close/>
              </a:path>
              <a:path w="3603625" h="1358900">
                <a:moveTo>
                  <a:pt x="978636" y="1193800"/>
                </a:moveTo>
                <a:lnTo>
                  <a:pt x="948575" y="1193800"/>
                </a:lnTo>
                <a:lnTo>
                  <a:pt x="936536" y="1181100"/>
                </a:lnTo>
                <a:lnTo>
                  <a:pt x="965263" y="1181100"/>
                </a:lnTo>
                <a:lnTo>
                  <a:pt x="978636" y="1193800"/>
                </a:lnTo>
                <a:close/>
              </a:path>
              <a:path w="3603625" h="1358900">
                <a:moveTo>
                  <a:pt x="3505708" y="1193800"/>
                </a:moveTo>
                <a:lnTo>
                  <a:pt x="3475647" y="1193800"/>
                </a:lnTo>
                <a:lnTo>
                  <a:pt x="3489020" y="1181100"/>
                </a:lnTo>
                <a:lnTo>
                  <a:pt x="3517747" y="1181100"/>
                </a:lnTo>
                <a:lnTo>
                  <a:pt x="3505708" y="1193800"/>
                </a:lnTo>
                <a:close/>
              </a:path>
              <a:path w="3603625" h="1358900">
                <a:moveTo>
                  <a:pt x="1007325" y="1206500"/>
                </a:moveTo>
                <a:lnTo>
                  <a:pt x="989012" y="1206500"/>
                </a:lnTo>
                <a:lnTo>
                  <a:pt x="974826" y="1193800"/>
                </a:lnTo>
                <a:lnTo>
                  <a:pt x="992530" y="1193800"/>
                </a:lnTo>
                <a:lnTo>
                  <a:pt x="1007325" y="1206500"/>
                </a:lnTo>
                <a:close/>
              </a:path>
              <a:path w="3603625" h="1358900">
                <a:moveTo>
                  <a:pt x="3465271" y="1206500"/>
                </a:moveTo>
                <a:lnTo>
                  <a:pt x="3446957" y="1206500"/>
                </a:lnTo>
                <a:lnTo>
                  <a:pt x="3461753" y="1193800"/>
                </a:lnTo>
                <a:lnTo>
                  <a:pt x="3479457" y="1193800"/>
                </a:lnTo>
                <a:lnTo>
                  <a:pt x="3465271" y="1206500"/>
                </a:lnTo>
                <a:close/>
              </a:path>
              <a:path w="3603625" h="1358900">
                <a:moveTo>
                  <a:pt x="1038821" y="1219200"/>
                </a:moveTo>
                <a:lnTo>
                  <a:pt x="1019479" y="1219200"/>
                </a:lnTo>
                <a:lnTo>
                  <a:pt x="1003896" y="1206500"/>
                </a:lnTo>
                <a:lnTo>
                  <a:pt x="1022654" y="1206500"/>
                </a:lnTo>
                <a:lnTo>
                  <a:pt x="1038821" y="1219200"/>
                </a:lnTo>
                <a:close/>
              </a:path>
              <a:path w="3603625" h="1358900">
                <a:moveTo>
                  <a:pt x="3434803" y="1219200"/>
                </a:moveTo>
                <a:lnTo>
                  <a:pt x="3415461" y="1219200"/>
                </a:lnTo>
                <a:lnTo>
                  <a:pt x="3431628" y="1206500"/>
                </a:lnTo>
                <a:lnTo>
                  <a:pt x="3450386" y="1206500"/>
                </a:lnTo>
                <a:lnTo>
                  <a:pt x="3434803" y="1219200"/>
                </a:lnTo>
                <a:close/>
              </a:path>
              <a:path w="3603625" h="1358900">
                <a:moveTo>
                  <a:pt x="1091133" y="1231900"/>
                </a:moveTo>
                <a:lnTo>
                  <a:pt x="1052664" y="1231900"/>
                </a:lnTo>
                <a:lnTo>
                  <a:pt x="1035735" y="1219200"/>
                </a:lnTo>
                <a:lnTo>
                  <a:pt x="1072972" y="1219200"/>
                </a:lnTo>
                <a:lnTo>
                  <a:pt x="1091133" y="1231900"/>
                </a:lnTo>
                <a:close/>
              </a:path>
              <a:path w="3603625" h="1358900">
                <a:moveTo>
                  <a:pt x="3401618" y="1231900"/>
                </a:moveTo>
                <a:lnTo>
                  <a:pt x="3363150" y="1231900"/>
                </a:lnTo>
                <a:lnTo>
                  <a:pt x="3381311" y="1219200"/>
                </a:lnTo>
                <a:lnTo>
                  <a:pt x="3418547" y="1219200"/>
                </a:lnTo>
                <a:lnTo>
                  <a:pt x="3401618" y="1231900"/>
                </a:lnTo>
                <a:close/>
              </a:path>
              <a:path w="3603625" h="1358900">
                <a:moveTo>
                  <a:pt x="1129258" y="1244600"/>
                </a:moveTo>
                <a:lnTo>
                  <a:pt x="1088466" y="1244600"/>
                </a:lnTo>
                <a:lnTo>
                  <a:pt x="1070241" y="1231900"/>
                </a:lnTo>
                <a:lnTo>
                  <a:pt x="1109827" y="1231900"/>
                </a:lnTo>
                <a:lnTo>
                  <a:pt x="1129258" y="1244600"/>
                </a:lnTo>
                <a:close/>
              </a:path>
              <a:path w="3603625" h="1358900">
                <a:moveTo>
                  <a:pt x="3365817" y="1244600"/>
                </a:moveTo>
                <a:lnTo>
                  <a:pt x="3325025" y="1244600"/>
                </a:lnTo>
                <a:lnTo>
                  <a:pt x="3344468" y="1231900"/>
                </a:lnTo>
                <a:lnTo>
                  <a:pt x="3384041" y="1231900"/>
                </a:lnTo>
                <a:lnTo>
                  <a:pt x="3365817" y="1244600"/>
                </a:lnTo>
                <a:close/>
              </a:path>
              <a:path w="3603625" h="1358900">
                <a:moveTo>
                  <a:pt x="1169860" y="1257300"/>
                </a:moveTo>
                <a:lnTo>
                  <a:pt x="1146937" y="1257300"/>
                </a:lnTo>
                <a:lnTo>
                  <a:pt x="1126832" y="1244600"/>
                </a:lnTo>
                <a:lnTo>
                  <a:pt x="1149197" y="1244600"/>
                </a:lnTo>
                <a:lnTo>
                  <a:pt x="1169860" y="1257300"/>
                </a:lnTo>
                <a:close/>
              </a:path>
              <a:path w="3603625" h="1358900">
                <a:moveTo>
                  <a:pt x="3307346" y="1257300"/>
                </a:moveTo>
                <a:lnTo>
                  <a:pt x="3284423" y="1257300"/>
                </a:lnTo>
                <a:lnTo>
                  <a:pt x="3305086" y="1244600"/>
                </a:lnTo>
                <a:lnTo>
                  <a:pt x="3327450" y="1244600"/>
                </a:lnTo>
                <a:lnTo>
                  <a:pt x="3307346" y="1257300"/>
                </a:lnTo>
                <a:close/>
              </a:path>
              <a:path w="3603625" h="1358900">
                <a:moveTo>
                  <a:pt x="1235252" y="1270000"/>
                </a:moveTo>
                <a:lnTo>
                  <a:pt x="1188961" y="1270000"/>
                </a:lnTo>
                <a:lnTo>
                  <a:pt x="1167650" y="1257300"/>
                </a:lnTo>
                <a:lnTo>
                  <a:pt x="1212837" y="1257300"/>
                </a:lnTo>
                <a:lnTo>
                  <a:pt x="1235252" y="1270000"/>
                </a:lnTo>
                <a:close/>
              </a:path>
              <a:path w="3603625" h="1358900">
                <a:moveTo>
                  <a:pt x="3265322" y="1270000"/>
                </a:moveTo>
                <a:lnTo>
                  <a:pt x="3219030" y="1270000"/>
                </a:lnTo>
                <a:lnTo>
                  <a:pt x="3241446" y="1257300"/>
                </a:lnTo>
                <a:lnTo>
                  <a:pt x="3286633" y="1257300"/>
                </a:lnTo>
                <a:lnTo>
                  <a:pt x="3265322" y="1270000"/>
                </a:lnTo>
                <a:close/>
              </a:path>
              <a:path w="3603625" h="1358900">
                <a:moveTo>
                  <a:pt x="1305763" y="1282700"/>
                </a:moveTo>
                <a:lnTo>
                  <a:pt x="1256360" y="1282700"/>
                </a:lnTo>
                <a:lnTo>
                  <a:pt x="1233335" y="1270000"/>
                </a:lnTo>
                <a:lnTo>
                  <a:pt x="1281671" y="1270000"/>
                </a:lnTo>
                <a:lnTo>
                  <a:pt x="1305763" y="1282700"/>
                </a:lnTo>
                <a:close/>
              </a:path>
              <a:path w="3603625" h="1358900">
                <a:moveTo>
                  <a:pt x="3197923" y="1282700"/>
                </a:moveTo>
                <a:lnTo>
                  <a:pt x="3148520" y="1282700"/>
                </a:lnTo>
                <a:lnTo>
                  <a:pt x="3172612" y="1270000"/>
                </a:lnTo>
                <a:lnTo>
                  <a:pt x="3220948" y="1270000"/>
                </a:lnTo>
                <a:lnTo>
                  <a:pt x="3197923" y="1282700"/>
                </a:lnTo>
                <a:close/>
              </a:path>
              <a:path w="3603625" h="1358900">
                <a:moveTo>
                  <a:pt x="1381074" y="1295400"/>
                </a:moveTo>
                <a:lnTo>
                  <a:pt x="1328737" y="1295400"/>
                </a:lnTo>
                <a:lnTo>
                  <a:pt x="1304086" y="1282700"/>
                </a:lnTo>
                <a:lnTo>
                  <a:pt x="1355420" y="1282700"/>
                </a:lnTo>
                <a:lnTo>
                  <a:pt x="1381074" y="1295400"/>
                </a:lnTo>
                <a:close/>
              </a:path>
              <a:path w="3603625" h="1358900">
                <a:moveTo>
                  <a:pt x="3125546" y="1295400"/>
                </a:moveTo>
                <a:lnTo>
                  <a:pt x="3073209" y="1295400"/>
                </a:lnTo>
                <a:lnTo>
                  <a:pt x="3098876" y="1282700"/>
                </a:lnTo>
                <a:lnTo>
                  <a:pt x="3150209" y="1282700"/>
                </a:lnTo>
                <a:lnTo>
                  <a:pt x="3125546" y="1295400"/>
                </a:lnTo>
                <a:close/>
              </a:path>
              <a:path w="3603625" h="1358900">
                <a:moveTo>
                  <a:pt x="1460906" y="1308100"/>
                </a:moveTo>
                <a:lnTo>
                  <a:pt x="1405801" y="1308100"/>
                </a:lnTo>
                <a:lnTo>
                  <a:pt x="1379613" y="1295400"/>
                </a:lnTo>
                <a:lnTo>
                  <a:pt x="1433779" y="1295400"/>
                </a:lnTo>
                <a:lnTo>
                  <a:pt x="1460906" y="1308100"/>
                </a:lnTo>
                <a:close/>
              </a:path>
              <a:path w="3603625" h="1358900">
                <a:moveTo>
                  <a:pt x="3048482" y="1308100"/>
                </a:moveTo>
                <a:lnTo>
                  <a:pt x="2993377" y="1308100"/>
                </a:lnTo>
                <a:lnTo>
                  <a:pt x="3020504" y="1295400"/>
                </a:lnTo>
                <a:lnTo>
                  <a:pt x="3074669" y="1295400"/>
                </a:lnTo>
                <a:lnTo>
                  <a:pt x="3048482" y="1308100"/>
                </a:lnTo>
                <a:close/>
              </a:path>
              <a:path w="3603625" h="1358900">
                <a:moveTo>
                  <a:pt x="1573872" y="1320800"/>
                </a:moveTo>
                <a:lnTo>
                  <a:pt x="1487271" y="1320800"/>
                </a:lnTo>
                <a:lnTo>
                  <a:pt x="1459649" y="1308100"/>
                </a:lnTo>
                <a:lnTo>
                  <a:pt x="1544929" y="1308100"/>
                </a:lnTo>
                <a:lnTo>
                  <a:pt x="1573872" y="1320800"/>
                </a:lnTo>
                <a:close/>
              </a:path>
              <a:path w="3603625" h="1358900">
                <a:moveTo>
                  <a:pt x="2967012" y="1320800"/>
                </a:moveTo>
                <a:lnTo>
                  <a:pt x="2880410" y="1320800"/>
                </a:lnTo>
                <a:lnTo>
                  <a:pt x="2909354" y="1308100"/>
                </a:lnTo>
                <a:lnTo>
                  <a:pt x="2994634" y="1308100"/>
                </a:lnTo>
                <a:lnTo>
                  <a:pt x="2967012" y="1320800"/>
                </a:lnTo>
                <a:close/>
              </a:path>
              <a:path w="3603625" h="1358900">
                <a:moveTo>
                  <a:pt x="1724583" y="1333500"/>
                </a:moveTo>
                <a:lnTo>
                  <a:pt x="1602244" y="1333500"/>
                </a:lnTo>
                <a:lnTo>
                  <a:pt x="1572856" y="1320800"/>
                </a:lnTo>
                <a:lnTo>
                  <a:pt x="1693633" y="1320800"/>
                </a:lnTo>
                <a:lnTo>
                  <a:pt x="1724583" y="1333500"/>
                </a:lnTo>
                <a:close/>
              </a:path>
              <a:path w="3603625" h="1358900">
                <a:moveTo>
                  <a:pt x="2852039" y="1333500"/>
                </a:moveTo>
                <a:lnTo>
                  <a:pt x="2729699" y="1333500"/>
                </a:lnTo>
                <a:lnTo>
                  <a:pt x="2760649" y="1320800"/>
                </a:lnTo>
                <a:lnTo>
                  <a:pt x="2881426" y="1320800"/>
                </a:lnTo>
                <a:lnTo>
                  <a:pt x="2852039" y="1333500"/>
                </a:lnTo>
                <a:close/>
              </a:path>
              <a:path w="3603625" h="1358900">
                <a:moveTo>
                  <a:pt x="1917611" y="1346200"/>
                </a:moveTo>
                <a:lnTo>
                  <a:pt x="1755203" y="1346200"/>
                </a:lnTo>
                <a:lnTo>
                  <a:pt x="1723847" y="1333500"/>
                </a:lnTo>
                <a:lnTo>
                  <a:pt x="1884578" y="1333500"/>
                </a:lnTo>
                <a:lnTo>
                  <a:pt x="1917611" y="1346200"/>
                </a:lnTo>
                <a:close/>
              </a:path>
              <a:path w="3603625" h="1358900">
                <a:moveTo>
                  <a:pt x="2699080" y="1346200"/>
                </a:moveTo>
                <a:lnTo>
                  <a:pt x="2536672" y="1346200"/>
                </a:lnTo>
                <a:lnTo>
                  <a:pt x="2569705" y="1333500"/>
                </a:lnTo>
                <a:lnTo>
                  <a:pt x="2730436" y="1333500"/>
                </a:lnTo>
                <a:lnTo>
                  <a:pt x="2699080" y="1346200"/>
                </a:lnTo>
                <a:close/>
              </a:path>
              <a:path w="3603625" h="1358900">
                <a:moveTo>
                  <a:pt x="2470099" y="1358900"/>
                </a:moveTo>
                <a:lnTo>
                  <a:pt x="1984184" y="1358900"/>
                </a:lnTo>
                <a:lnTo>
                  <a:pt x="1950529" y="1346200"/>
                </a:lnTo>
                <a:lnTo>
                  <a:pt x="2503754" y="1346200"/>
                </a:lnTo>
                <a:lnTo>
                  <a:pt x="2470099" y="135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6322" y="1786153"/>
            <a:ext cx="7548880" cy="2925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myName，My_name，Points，$points，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_sys_ta，OK，_23b，_3_，$</a:t>
            </a: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我爱中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国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C00000"/>
                </a:solidFill>
                <a:latin typeface="宋体"/>
                <a:cs typeface="宋体"/>
              </a:rPr>
              <a:t>#name，25name，class，&amp;time，if</a:t>
            </a:r>
            <a:endParaRPr sz="2800" dirty="0">
              <a:latin typeface="宋体"/>
              <a:cs typeface="宋体"/>
            </a:endParaRPr>
          </a:p>
          <a:p>
            <a:pPr marL="3978910" marR="5080" indent="1727200">
              <a:lnSpc>
                <a:spcPct val="145800"/>
              </a:lnSpc>
              <a:spcBef>
                <a:spcPts val="1000"/>
              </a:spcBef>
            </a:pPr>
            <a:r>
              <a:rPr sz="2400" dirty="0">
                <a:latin typeface="微软雅黑"/>
                <a:cs typeface="微软雅黑"/>
              </a:rPr>
              <a:t>合法的标识符 非法的标识符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1030605"/>
            <a:ext cx="7988300" cy="4924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中的命名规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包名</a:t>
            </a:r>
            <a:r>
              <a:rPr sz="2400" dirty="0">
                <a:latin typeface="宋体"/>
                <a:cs typeface="宋体"/>
              </a:rPr>
              <a:t>：</a:t>
            </a:r>
          </a:p>
          <a:p>
            <a:pPr marL="8128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统一使用小写字母；</a:t>
            </a:r>
          </a:p>
          <a:p>
            <a:pPr marL="8128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多层包之间用点进行分隔</a:t>
            </a:r>
          </a:p>
          <a:p>
            <a:pPr marL="8128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一般采用域名倒写的方式进行命名</a:t>
            </a:r>
            <a:r>
              <a:rPr sz="2400" spc="-5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,如cn.edu.bit.*</a:t>
            </a: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类名</a:t>
            </a:r>
            <a:r>
              <a:rPr sz="2400" dirty="0">
                <a:latin typeface="宋体"/>
                <a:cs typeface="宋体"/>
              </a:rPr>
              <a:t>：</a:t>
            </a:r>
          </a:p>
          <a:p>
            <a:pPr marL="8128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使用名词，</a:t>
            </a:r>
          </a:p>
          <a:p>
            <a:pPr marL="8128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驼峰命名法</a:t>
            </a:r>
            <a:r>
              <a:rPr sz="2400" spc="-9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：每个词的首字母大写，如HelloWorld。</a:t>
            </a:r>
          </a:p>
          <a:p>
            <a:pPr marL="527050" marR="6231255" lvl="1" indent="-527050" algn="r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接口名</a:t>
            </a:r>
            <a:r>
              <a:rPr sz="2400" dirty="0">
                <a:latin typeface="宋体"/>
                <a:cs typeface="宋体"/>
              </a:rPr>
              <a:t>：</a:t>
            </a:r>
          </a:p>
          <a:p>
            <a:pPr marR="6253480" algn="r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同类名</a:t>
            </a:r>
          </a:p>
          <a:p>
            <a:pPr marL="527050" marR="6230620" lvl="1" indent="-527050" algn="r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抽象类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 dirty="0">
              <a:latin typeface="宋体"/>
              <a:cs typeface="宋体"/>
            </a:endParaRPr>
          </a:p>
          <a:p>
            <a:pPr marL="812800" marR="5080">
              <a:lnSpc>
                <a:spcPts val="2590"/>
              </a:lnSpc>
              <a:spcBef>
                <a:spcPts val="409"/>
              </a:spcBef>
            </a:pPr>
            <a:r>
              <a:rPr sz="2400" dirty="0">
                <a:latin typeface="宋体"/>
                <a:cs typeface="宋体"/>
              </a:rPr>
              <a:t>符合类名的命名规范即可，</a:t>
            </a:r>
            <a:r>
              <a:rPr sz="2400" spc="-1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为了和接口做出区别，一 般以“Abstract”作为前缀。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9575" y="1102360"/>
            <a:ext cx="8109584" cy="395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中的命名规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方法名</a:t>
            </a:r>
            <a:r>
              <a:rPr sz="2400" dirty="0">
                <a:latin typeface="宋体"/>
                <a:cs typeface="宋体"/>
              </a:rPr>
              <a:t>：</a:t>
            </a:r>
          </a:p>
          <a:p>
            <a:pPr marL="984250">
              <a:lnSpc>
                <a:spcPct val="100000"/>
              </a:lnSpc>
              <a:spcBef>
                <a:spcPts val="150"/>
              </a:spcBef>
            </a:pPr>
            <a:r>
              <a:rPr sz="2000" dirty="0">
                <a:latin typeface="宋体"/>
                <a:cs typeface="宋体"/>
              </a:rPr>
              <a:t>使用动词</a:t>
            </a:r>
            <a:r>
              <a:rPr sz="2000" spc="5" dirty="0"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  <a:p>
            <a:pPr marL="984250" marR="2799080">
              <a:lnSpc>
                <a:spcPct val="105600"/>
              </a:lnSpc>
            </a:pPr>
            <a:r>
              <a:rPr sz="2000" dirty="0">
                <a:latin typeface="宋体"/>
                <a:cs typeface="宋体"/>
              </a:rPr>
              <a:t>首字母小写，其余各词的首字母大写； 不建议使用下划线作为连接</a:t>
            </a:r>
            <a:r>
              <a:rPr sz="2000" spc="5" dirty="0"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  <a:p>
            <a:pPr marL="98425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宋体"/>
                <a:cs typeface="宋体"/>
              </a:rPr>
              <a:t>有返回值的方法一般加</a:t>
            </a:r>
            <a:r>
              <a:rPr sz="2000" spc="-5" dirty="0">
                <a:latin typeface="宋体"/>
                <a:cs typeface="宋体"/>
              </a:rPr>
              <a:t>“get”</a:t>
            </a:r>
            <a:r>
              <a:rPr sz="2000" dirty="0">
                <a:latin typeface="宋体"/>
                <a:cs typeface="宋体"/>
              </a:rPr>
              <a:t>前缀</a:t>
            </a:r>
            <a:r>
              <a:rPr sz="2000" spc="5" dirty="0">
                <a:latin typeface="宋体"/>
                <a:cs typeface="宋体"/>
              </a:rPr>
              <a:t>，</a:t>
            </a:r>
            <a:endParaRPr sz="2000" dirty="0">
              <a:latin typeface="宋体"/>
              <a:cs typeface="宋体"/>
            </a:endParaRPr>
          </a:p>
          <a:p>
            <a:pPr marL="984250" marR="386080">
              <a:lnSpc>
                <a:spcPts val="2160"/>
              </a:lnSpc>
              <a:spcBef>
                <a:spcPts val="405"/>
              </a:spcBef>
            </a:pPr>
            <a:r>
              <a:rPr sz="2000" spc="-5" dirty="0">
                <a:latin typeface="宋体"/>
                <a:cs typeface="宋体"/>
              </a:rPr>
              <a:t>设置的方法一般加对应的动词作为前缀（如：set、insert</a:t>
            </a:r>
            <a:r>
              <a:rPr sz="2000" dirty="0">
                <a:latin typeface="宋体"/>
                <a:cs typeface="宋体"/>
              </a:rPr>
              <a:t>、  </a:t>
            </a:r>
            <a:r>
              <a:rPr sz="2000" spc="-5" dirty="0">
                <a:latin typeface="宋体"/>
                <a:cs typeface="宋体"/>
              </a:rPr>
              <a:t>update</a:t>
            </a:r>
            <a:r>
              <a:rPr sz="2000" dirty="0">
                <a:latin typeface="宋体"/>
                <a:cs typeface="宋体"/>
              </a:rPr>
              <a:t>、</a:t>
            </a:r>
            <a:r>
              <a:rPr sz="2000" spc="-5" dirty="0">
                <a:latin typeface="宋体"/>
                <a:cs typeface="宋体"/>
              </a:rPr>
              <a:t>delete）；</a:t>
            </a:r>
            <a:endParaRPr sz="2000" dirty="0">
              <a:latin typeface="宋体"/>
              <a:cs typeface="宋体"/>
            </a:endParaRPr>
          </a:p>
          <a:p>
            <a:pPr marL="984250" marR="5080">
              <a:lnSpc>
                <a:spcPts val="2540"/>
              </a:lnSpc>
              <a:spcBef>
                <a:spcPts val="70"/>
              </a:spcBef>
            </a:pPr>
            <a:r>
              <a:rPr sz="2000" dirty="0">
                <a:latin typeface="宋体"/>
                <a:cs typeface="宋体"/>
              </a:rPr>
              <a:t>查询的方法一般以</a:t>
            </a:r>
            <a:r>
              <a:rPr sz="2000" spc="-5" dirty="0">
                <a:latin typeface="宋体"/>
                <a:cs typeface="宋体"/>
              </a:rPr>
              <a:t>select”</a:t>
            </a:r>
            <a:r>
              <a:rPr sz="2000" dirty="0">
                <a:latin typeface="宋体"/>
                <a:cs typeface="宋体"/>
              </a:rPr>
              <a:t>或</a:t>
            </a:r>
            <a:r>
              <a:rPr sz="2000" spc="-5" dirty="0">
                <a:latin typeface="宋体"/>
                <a:cs typeface="宋体"/>
              </a:rPr>
              <a:t>“find”</a:t>
            </a:r>
            <a:r>
              <a:rPr sz="2000" dirty="0">
                <a:latin typeface="宋体"/>
                <a:cs typeface="宋体"/>
              </a:rPr>
              <a:t>或</a:t>
            </a:r>
            <a:r>
              <a:rPr sz="2000" spc="-5" dirty="0">
                <a:latin typeface="宋体"/>
                <a:cs typeface="宋体"/>
              </a:rPr>
              <a:t>“query”</a:t>
            </a:r>
            <a:r>
              <a:rPr sz="2000" dirty="0">
                <a:latin typeface="宋体"/>
                <a:cs typeface="宋体"/>
              </a:rPr>
              <a:t>作为前缀</a:t>
            </a:r>
            <a:r>
              <a:rPr sz="2000" spc="5" dirty="0">
                <a:latin typeface="宋体"/>
                <a:cs typeface="宋体"/>
              </a:rPr>
              <a:t>；  </a:t>
            </a:r>
            <a:r>
              <a:rPr sz="2000" dirty="0">
                <a:latin typeface="宋体"/>
                <a:cs typeface="宋体"/>
              </a:rPr>
              <a:t>带有条件的方法一般在命名中使用</a:t>
            </a:r>
            <a:r>
              <a:rPr sz="2000" spc="-5" dirty="0">
                <a:latin typeface="宋体"/>
                <a:cs typeface="宋体"/>
              </a:rPr>
              <a:t>“by”</a:t>
            </a:r>
            <a:r>
              <a:rPr sz="2000" dirty="0">
                <a:latin typeface="宋体"/>
                <a:cs typeface="宋体"/>
              </a:rPr>
              <a:t>或</a:t>
            </a:r>
            <a:r>
              <a:rPr sz="2000" spc="-5" dirty="0">
                <a:latin typeface="宋体"/>
                <a:cs typeface="宋体"/>
              </a:rPr>
              <a:t>“with”</a:t>
            </a:r>
            <a:r>
              <a:rPr sz="2000" dirty="0">
                <a:latin typeface="宋体"/>
                <a:cs typeface="宋体"/>
              </a:rPr>
              <a:t>等字符</a:t>
            </a:r>
            <a:r>
              <a:rPr sz="2000" spc="5" dirty="0"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  <a:p>
            <a:pPr marL="984250" marR="5080">
              <a:lnSpc>
                <a:spcPts val="2160"/>
              </a:lnSpc>
              <a:spcBef>
                <a:spcPts val="295"/>
              </a:spcBef>
            </a:pPr>
            <a:r>
              <a:rPr sz="2000" spc="-5" dirty="0">
                <a:latin typeface="宋体"/>
                <a:cs typeface="宋体"/>
              </a:rPr>
              <a:t>判断的方法一般以“is”作为前缀；测试方法一般以“test”</a:t>
            </a:r>
            <a:r>
              <a:rPr sz="2000" dirty="0">
                <a:latin typeface="宋体"/>
                <a:cs typeface="宋体"/>
              </a:rPr>
              <a:t>作 为前缀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575" y="1102360"/>
            <a:ext cx="3041015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中的命名规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solidFill>
                  <a:srgbClr val="967A2C"/>
                </a:solidFill>
                <a:latin typeface="宋体"/>
                <a:cs typeface="宋体"/>
              </a:rPr>
              <a:t>方法名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2171700"/>
            <a:ext cx="5568696" cy="3325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9575" y="1102360"/>
            <a:ext cx="6178550" cy="4218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中的命名规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变量名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98425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使用名词；</a:t>
            </a:r>
            <a:endParaRPr sz="2400">
              <a:latin typeface="宋体"/>
              <a:cs typeface="宋体"/>
            </a:endParaRPr>
          </a:p>
          <a:p>
            <a:pPr marL="984250" marR="5080">
              <a:lnSpc>
                <a:spcPts val="2960"/>
              </a:lnSpc>
              <a:spcBef>
                <a:spcPts val="114"/>
              </a:spcBef>
            </a:pPr>
            <a:r>
              <a:rPr sz="2400" dirty="0">
                <a:latin typeface="宋体"/>
                <a:cs typeface="宋体"/>
              </a:rPr>
              <a:t>首字母小写，其余各词的首字母大写； 不建议使用下划线作为连接；</a:t>
            </a:r>
            <a:endParaRPr sz="2400">
              <a:latin typeface="宋体"/>
              <a:cs typeface="宋体"/>
            </a:endParaRPr>
          </a:p>
          <a:p>
            <a:pPr marL="984250">
              <a:lnSpc>
                <a:spcPts val="2860"/>
              </a:lnSpc>
            </a:pPr>
            <a:r>
              <a:rPr sz="2400" dirty="0">
                <a:latin typeface="宋体"/>
                <a:cs typeface="宋体"/>
              </a:rPr>
              <a:t>如userID,userName</a:t>
            </a:r>
            <a:endParaRPr sz="24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b="1" dirty="0">
                <a:latin typeface="宋体"/>
                <a:cs typeface="宋体"/>
              </a:rPr>
              <a:t>常量名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98425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使用名词；</a:t>
            </a:r>
            <a:endParaRPr sz="2400">
              <a:latin typeface="宋体"/>
              <a:cs typeface="宋体"/>
            </a:endParaRPr>
          </a:p>
          <a:p>
            <a:pPr marL="98425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宋体"/>
                <a:cs typeface="宋体"/>
              </a:rPr>
              <a:t>全部大写字母；</a:t>
            </a:r>
            <a:endParaRPr sz="2400">
              <a:latin typeface="宋体"/>
              <a:cs typeface="宋体"/>
            </a:endParaRPr>
          </a:p>
          <a:p>
            <a:pPr marL="984250" marR="462280">
              <a:lnSpc>
                <a:spcPts val="2960"/>
              </a:lnSpc>
              <a:spcBef>
                <a:spcPts val="114"/>
              </a:spcBef>
            </a:pPr>
            <a:r>
              <a:rPr sz="2400" dirty="0">
                <a:latin typeface="宋体"/>
                <a:cs typeface="宋体"/>
              </a:rPr>
              <a:t>多个单词之间使用“_”进行分隔。 如MAX_AGE；MIN_NUMBER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39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2.1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标识符和关键</a:t>
            </a:r>
            <a:r>
              <a:rPr sz="2800" b="1" spc="-20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8445" y="1030605"/>
            <a:ext cx="8159750" cy="4462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solidFill>
                  <a:srgbClr val="967A2C"/>
                </a:solidFill>
                <a:latin typeface="宋体"/>
                <a:cs typeface="宋体"/>
              </a:rPr>
              <a:t>关键字</a:t>
            </a:r>
            <a:r>
              <a:rPr sz="2800" b="1" dirty="0">
                <a:latin typeface="宋体"/>
                <a:cs typeface="宋体"/>
              </a:rPr>
              <a:t>:Java预定义的单词。</a:t>
            </a:r>
            <a:r>
              <a:rPr sz="2800" b="1" spc="-15" dirty="0">
                <a:latin typeface="宋体"/>
                <a:cs typeface="宋体"/>
              </a:rPr>
              <a:t> </a:t>
            </a:r>
            <a:endParaRPr sz="2800" dirty="0">
              <a:latin typeface="宋体"/>
              <a:cs typeface="宋体"/>
            </a:endParaRPr>
          </a:p>
          <a:p>
            <a:pPr marL="527050" marR="462280" lvl="1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数据类型：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byte、short、int、long、char、float、  double、boolean</a:t>
            </a:r>
          </a:p>
          <a:p>
            <a:pPr marL="527050" lvl="1" indent="-1714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包引入和包声明：import、package</a:t>
            </a:r>
          </a:p>
          <a:p>
            <a:pPr marL="527050" marR="10718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类和接口的声明：class、extends、implement、  interface</a:t>
            </a:r>
          </a:p>
          <a:p>
            <a:pPr marL="527050" marR="5080" lvl="1" indent="-171450">
              <a:lnSpc>
                <a:spcPts val="259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流程控制：if、else、switch、case、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break、</a:t>
            </a:r>
            <a:r>
              <a:rPr sz="2400" dirty="0">
                <a:latin typeface="宋体"/>
                <a:cs typeface="宋体"/>
              </a:rPr>
              <a:t>default、  while、for</a:t>
            </a:r>
            <a:r>
              <a:rPr sz="2400" spc="-1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、do、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continue、return</a:t>
            </a:r>
          </a:p>
          <a:p>
            <a:pPr marL="527050" lvl="1" indent="-1714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异常处理：try、catch、finally、throw、throws</a:t>
            </a:r>
          </a:p>
          <a:p>
            <a:pPr marL="527050" marR="7670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修饰符：abstract、final、private、protected、  public、static、synchronized</a:t>
            </a:r>
          </a:p>
          <a:p>
            <a:pPr marL="527050" lvl="1" indent="-1714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其他：new、instanceof、this、super、void、enum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21805"/>
            <a:ext cx="8368665" cy="564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729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</a:t>
            </a:r>
            <a:r>
              <a:rPr sz="2800" b="1" spc="140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基本数据类型与变量、常</a:t>
            </a:r>
            <a:r>
              <a:rPr sz="2800" b="1" spc="-20" dirty="0">
                <a:latin typeface="宋体"/>
                <a:cs typeface="宋体"/>
              </a:rPr>
              <a:t>量</a:t>
            </a:r>
            <a:endParaRPr sz="28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2090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是“强类型”的语言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-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所有的变量必须先声明类型、后使用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-</a:t>
            </a:r>
            <a:r>
              <a:rPr sz="2800" spc="-3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指定类型的变量，只能装对应类型的数</a:t>
            </a:r>
            <a:r>
              <a:rPr sz="2800" spc="-5" dirty="0">
                <a:latin typeface="宋体"/>
                <a:cs typeface="宋体"/>
              </a:rPr>
              <a:t>据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-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变量声明（定义</a:t>
            </a:r>
            <a:r>
              <a:rPr sz="2800" spc="-5" dirty="0">
                <a:latin typeface="宋体"/>
                <a:cs typeface="宋体"/>
              </a:rPr>
              <a:t>）：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 变量类型</a:t>
            </a:r>
            <a:r>
              <a:rPr sz="2800" spc="-1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变量名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[=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初始值</a:t>
            </a:r>
            <a:r>
              <a:rPr sz="2800" spc="-5" dirty="0">
                <a:latin typeface="宋体"/>
                <a:cs typeface="宋体"/>
              </a:rPr>
              <a:t>];int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a=4</a:t>
            </a:r>
            <a:endParaRPr sz="2800" dirty="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的数据类</a:t>
            </a:r>
            <a:r>
              <a:rPr sz="2800" spc="-5" dirty="0">
                <a:latin typeface="宋体"/>
                <a:cs typeface="宋体"/>
              </a:rPr>
              <a:t>型</a:t>
            </a:r>
            <a:endParaRPr sz="2800" dirty="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-</a:t>
            </a:r>
            <a:r>
              <a:rPr sz="2800" dirty="0">
                <a:latin typeface="宋体"/>
                <a:cs typeface="宋体"/>
              </a:rPr>
              <a:t>基本数据类型</a:t>
            </a:r>
            <a:r>
              <a:rPr sz="2800" spc="-5" dirty="0">
                <a:latin typeface="宋体"/>
                <a:cs typeface="宋体"/>
              </a:rPr>
              <a:t>:</a:t>
            </a:r>
            <a:endParaRPr sz="2800" dirty="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     Java</a:t>
            </a:r>
            <a:r>
              <a:rPr sz="2800" dirty="0">
                <a:latin typeface="宋体"/>
                <a:cs typeface="宋体"/>
              </a:rPr>
              <a:t>语言本身定义的</a:t>
            </a:r>
            <a:r>
              <a:rPr sz="2800" spc="-5" dirty="0">
                <a:latin typeface="宋体"/>
                <a:cs typeface="宋体"/>
              </a:rPr>
              <a:t>8</a:t>
            </a:r>
            <a:r>
              <a:rPr sz="2800" dirty="0">
                <a:latin typeface="宋体"/>
                <a:cs typeface="宋体"/>
              </a:rPr>
              <a:t>类数据类型。 </a:t>
            </a: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-</a:t>
            </a:r>
            <a:r>
              <a:rPr sz="2800" dirty="0">
                <a:latin typeface="宋体"/>
                <a:cs typeface="宋体"/>
              </a:rPr>
              <a:t>引用类型</a:t>
            </a:r>
            <a:r>
              <a:rPr sz="2800" spc="-5" dirty="0">
                <a:latin typeface="宋体"/>
                <a:cs typeface="宋体"/>
              </a:rPr>
              <a:t>:</a:t>
            </a:r>
            <a:endParaRPr sz="2800" dirty="0">
              <a:latin typeface="宋体"/>
              <a:cs typeface="宋体"/>
            </a:endParaRPr>
          </a:p>
          <a:p>
            <a:pPr marL="355600" marR="5080">
              <a:lnSpc>
                <a:spcPts val="3020"/>
              </a:lnSpc>
              <a:spcBef>
                <a:spcPts val="420"/>
              </a:spcBef>
            </a:pPr>
            <a:r>
              <a:rPr sz="2800" spc="-5" dirty="0">
                <a:latin typeface="宋体"/>
                <a:cs typeface="宋体"/>
              </a:rPr>
              <a:t>     </a:t>
            </a:r>
            <a:r>
              <a:rPr sz="2800" dirty="0">
                <a:latin typeface="宋体"/>
                <a:cs typeface="宋体"/>
              </a:rPr>
              <a:t>用户根据自己的需要定义的数据类型，主要</a:t>
            </a:r>
            <a:r>
              <a:rPr sz="2800" spc="-5" dirty="0">
                <a:latin typeface="宋体"/>
                <a:cs typeface="宋体"/>
              </a:rPr>
              <a:t>包 </a:t>
            </a:r>
            <a:r>
              <a:rPr sz="2800" dirty="0">
                <a:latin typeface="宋体"/>
                <a:cs typeface="宋体"/>
              </a:rPr>
              <a:t>括数组、类、接口。 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14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基本数据类型与变量、常</a:t>
            </a:r>
            <a:r>
              <a:rPr sz="2800" b="1" spc="-20" dirty="0"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940C0D8-03EF-BAF7-6533-A2937A80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71" y="968893"/>
            <a:ext cx="7956531" cy="49202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14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基本数据类型与变量、常</a:t>
            </a:r>
            <a:r>
              <a:rPr sz="2800" b="1" spc="-20" dirty="0"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1644" y="1307464"/>
          <a:ext cx="8420732" cy="4230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9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3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数据类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关键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字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5795" marR="335280" indent="-304800">
                        <a:lnSpc>
                          <a:spcPts val="1700"/>
                        </a:lnSpc>
                        <a:spcBef>
                          <a:spcPts val="1270"/>
                        </a:spcBef>
                      </a:pPr>
                      <a:r>
                        <a:rPr sz="1600" b="1" spc="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在内存中占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用 的位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取值范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围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成员默认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值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2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字节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byte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8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-128~127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(byte)0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短整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5" dirty="0">
                          <a:latin typeface="微软雅黑"/>
                          <a:cs typeface="微软雅黑"/>
                        </a:rPr>
                        <a:t>short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16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-32768~32767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(short)0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整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int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32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-2</a:t>
                      </a:r>
                      <a:r>
                        <a:rPr sz="1575" spc="-7" baseline="21164" dirty="0">
                          <a:latin typeface="微软雅黑"/>
                          <a:cs typeface="微软雅黑"/>
                        </a:rPr>
                        <a:t>31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~2</a:t>
                      </a:r>
                      <a:r>
                        <a:rPr sz="1575" spc="-7" baseline="21164" dirty="0">
                          <a:latin typeface="微软雅黑"/>
                          <a:cs typeface="微软雅黑"/>
                        </a:rPr>
                        <a:t>31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-1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0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长整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long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64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-2</a:t>
                      </a:r>
                      <a:r>
                        <a:rPr sz="1575" spc="-7" baseline="21164" dirty="0">
                          <a:latin typeface="微软雅黑"/>
                          <a:cs typeface="微软雅黑"/>
                        </a:rPr>
                        <a:t>63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~2</a:t>
                      </a:r>
                      <a:r>
                        <a:rPr sz="1575" spc="-7" baseline="21164" dirty="0">
                          <a:latin typeface="微软雅黑"/>
                          <a:cs typeface="微软雅黑"/>
                        </a:rPr>
                        <a:t>63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-1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0L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字符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char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16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0~65535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‘\u0000’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单精度浮点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10" dirty="0">
                          <a:latin typeface="微软雅黑"/>
                          <a:cs typeface="微软雅黑"/>
                        </a:rPr>
                        <a:t>float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32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位符号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,8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位指数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,23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位尾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0.0F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双精度浮点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double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64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位符号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,11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位指数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,52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位尾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0.0D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布尔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boolean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1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true，false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false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41446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2.2.1</a:t>
            </a:r>
            <a:r>
              <a:rPr sz="2800" b="1" spc="135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Java中的整数类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459230"/>
            <a:ext cx="8006715" cy="462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整型常量按照所占用的内存大小分</a:t>
            </a:r>
            <a:r>
              <a:rPr sz="2800" spc="-5" dirty="0">
                <a:latin typeface="宋体"/>
                <a:cs typeface="宋体"/>
              </a:rPr>
              <a:t>类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整型</a:t>
            </a:r>
            <a:r>
              <a:rPr sz="2800" spc="-5" dirty="0">
                <a:latin typeface="宋体"/>
                <a:cs typeface="宋体"/>
              </a:rPr>
              <a:t>(int)</a:t>
            </a:r>
            <a:r>
              <a:rPr sz="2800" dirty="0">
                <a:latin typeface="宋体"/>
                <a:cs typeface="宋体"/>
              </a:rPr>
              <a:t>常量：占用</a:t>
            </a:r>
            <a:r>
              <a:rPr sz="2800" spc="-5" dirty="0">
                <a:latin typeface="宋体"/>
                <a:cs typeface="宋体"/>
              </a:rPr>
              <a:t>32</a:t>
            </a:r>
            <a:r>
              <a:rPr sz="2800" dirty="0">
                <a:latin typeface="宋体"/>
                <a:cs typeface="宋体"/>
              </a:rPr>
              <a:t>位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如123，-34 </a:t>
            </a:r>
            <a:endParaRPr sz="2800" dirty="0">
              <a:latin typeface="宋体"/>
              <a:cs typeface="宋体"/>
            </a:endParaRPr>
          </a:p>
          <a:p>
            <a:pPr marL="527050" marR="5080" lvl="1" indent="-171450">
              <a:lnSpc>
                <a:spcPts val="302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长整型</a:t>
            </a:r>
            <a:r>
              <a:rPr sz="2800" spc="-5" dirty="0">
                <a:latin typeface="宋体"/>
                <a:cs typeface="宋体"/>
              </a:rPr>
              <a:t>(long)</a:t>
            </a:r>
            <a:r>
              <a:rPr sz="2800" dirty="0">
                <a:latin typeface="宋体"/>
                <a:cs typeface="宋体"/>
              </a:rPr>
              <a:t>常量：占用</a:t>
            </a:r>
            <a:r>
              <a:rPr sz="2800" spc="-5" dirty="0">
                <a:latin typeface="宋体"/>
                <a:cs typeface="宋体"/>
              </a:rPr>
              <a:t>64</a:t>
            </a:r>
            <a:r>
              <a:rPr sz="2800" dirty="0">
                <a:latin typeface="宋体"/>
                <a:cs typeface="宋体"/>
              </a:rPr>
              <a:t>位，长整型常量的</a:t>
            </a:r>
            <a:r>
              <a:rPr sz="2800" spc="-5" dirty="0">
                <a:latin typeface="宋体"/>
                <a:cs typeface="宋体"/>
              </a:rPr>
              <a:t>尾 </a:t>
            </a:r>
            <a:r>
              <a:rPr sz="2800" dirty="0">
                <a:latin typeface="宋体"/>
                <a:cs typeface="宋体"/>
              </a:rPr>
              <a:t>部有一个大写的</a:t>
            </a:r>
            <a:r>
              <a:rPr sz="2800" spc="-5" dirty="0">
                <a:latin typeface="宋体"/>
                <a:cs typeface="宋体"/>
              </a:rPr>
              <a:t>L</a:t>
            </a:r>
            <a:r>
              <a:rPr sz="2800" dirty="0">
                <a:latin typeface="宋体"/>
                <a:cs typeface="宋体"/>
              </a:rPr>
              <a:t>或小写的</a:t>
            </a:r>
            <a:r>
              <a:rPr sz="2800" spc="-5" dirty="0">
                <a:latin typeface="宋体"/>
                <a:cs typeface="宋体"/>
              </a:rPr>
              <a:t>l。</a:t>
            </a:r>
            <a:endParaRPr sz="2800" dirty="0">
              <a:latin typeface="宋体"/>
              <a:cs typeface="宋体"/>
            </a:endParaRPr>
          </a:p>
          <a:p>
            <a:pPr marL="355600">
              <a:lnSpc>
                <a:spcPts val="3350"/>
              </a:lnSpc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如-386L，017777l</a:t>
            </a:r>
            <a:endParaRPr sz="2800" dirty="0">
              <a:latin typeface="宋体"/>
              <a:cs typeface="宋体"/>
            </a:endParaRPr>
          </a:p>
          <a:p>
            <a:pPr marL="527050" marR="151765" lvl="1" indent="-171450">
              <a:lnSpc>
                <a:spcPts val="3020"/>
              </a:lnSpc>
              <a:spcBef>
                <a:spcPts val="41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说明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java中的整型常量默认为int</a:t>
            </a:r>
            <a:r>
              <a:rPr sz="2800" dirty="0">
                <a:latin typeface="宋体"/>
                <a:cs typeface="宋体"/>
              </a:rPr>
              <a:t>，表示</a:t>
            </a:r>
            <a:r>
              <a:rPr sz="2800" spc="-5" dirty="0">
                <a:latin typeface="宋体"/>
                <a:cs typeface="宋体"/>
              </a:rPr>
              <a:t>long </a:t>
            </a:r>
            <a:r>
              <a:rPr sz="2800" dirty="0">
                <a:latin typeface="宋体"/>
                <a:cs typeface="宋体"/>
              </a:rPr>
              <a:t>型整数后面加后缀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355600">
              <a:lnSpc>
                <a:spcPts val="3350"/>
              </a:lnSpc>
            </a:pPr>
            <a:r>
              <a:rPr sz="2800" spc="-5" dirty="0">
                <a:latin typeface="宋体"/>
                <a:cs typeface="宋体"/>
              </a:rPr>
              <a:t>   byte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a=200;(</a:t>
            </a:r>
            <a:r>
              <a:rPr sz="2800" dirty="0">
                <a:latin typeface="宋体"/>
                <a:cs typeface="宋体"/>
              </a:rPr>
              <a:t>报错</a:t>
            </a:r>
            <a:r>
              <a:rPr sz="2800" spc="-5" dirty="0">
                <a:latin typeface="宋体"/>
                <a:cs typeface="宋体"/>
              </a:rPr>
              <a:t>)</a:t>
            </a:r>
            <a:endParaRPr sz="2800" dirty="0">
              <a:latin typeface="宋体"/>
              <a:cs typeface="宋体"/>
            </a:endParaRPr>
          </a:p>
          <a:p>
            <a:pPr marL="355600" marR="1598930">
              <a:lnSpc>
                <a:spcPts val="3020"/>
              </a:lnSpc>
              <a:spcBef>
                <a:spcPts val="420"/>
              </a:spcBef>
            </a:pPr>
            <a:r>
              <a:rPr sz="2800" spc="-5" dirty="0">
                <a:latin typeface="宋体"/>
                <a:cs typeface="宋体"/>
              </a:rPr>
              <a:t>   Long</a:t>
            </a:r>
            <a:r>
              <a:rPr sz="2800" spc="-2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b=2500000000(</a:t>
            </a:r>
            <a:r>
              <a:rPr sz="2800" dirty="0">
                <a:latin typeface="宋体"/>
                <a:cs typeface="宋体"/>
              </a:rPr>
              <a:t>报错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136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修改</a:t>
            </a:r>
            <a:r>
              <a:rPr sz="2800" spc="-5" dirty="0">
                <a:latin typeface="宋体"/>
                <a:cs typeface="宋体"/>
              </a:rPr>
              <a:t>为 2500000000L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1954530" cy="286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19411" y="393852"/>
            <a:ext cx="2074303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59230"/>
            <a:ext cx="8019415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中的字符采用</a:t>
            </a:r>
            <a:r>
              <a:rPr sz="2800" spc="-5" dirty="0">
                <a:latin typeface="宋体"/>
                <a:cs typeface="宋体"/>
              </a:rPr>
              <a:t>Unicode</a:t>
            </a:r>
            <a:r>
              <a:rPr sz="2800" dirty="0">
                <a:latin typeface="宋体"/>
                <a:cs typeface="宋体"/>
              </a:rPr>
              <a:t>字符集的编码方案，</a:t>
            </a:r>
            <a:r>
              <a:rPr sz="2800" spc="-5" dirty="0">
                <a:latin typeface="宋体"/>
                <a:cs typeface="宋体"/>
              </a:rPr>
              <a:t>是 16</a:t>
            </a:r>
            <a:r>
              <a:rPr sz="2800" dirty="0">
                <a:latin typeface="宋体"/>
                <a:cs typeface="宋体"/>
              </a:rPr>
              <a:t>位的无符号整数，其前</a:t>
            </a:r>
            <a:r>
              <a:rPr sz="2800" spc="-5" dirty="0">
                <a:latin typeface="宋体"/>
                <a:cs typeface="宋体"/>
              </a:rPr>
              <a:t>128</a:t>
            </a:r>
            <a:r>
              <a:rPr sz="2800" dirty="0">
                <a:latin typeface="宋体"/>
                <a:cs typeface="宋体"/>
              </a:rPr>
              <a:t>个字符编码与</a:t>
            </a:r>
            <a:r>
              <a:rPr sz="2800" spc="-5" dirty="0">
                <a:latin typeface="宋体"/>
                <a:cs typeface="宋体"/>
              </a:rPr>
              <a:t>ASCII码 </a:t>
            </a:r>
            <a:r>
              <a:rPr sz="2800" dirty="0">
                <a:latin typeface="宋体"/>
                <a:cs typeface="宋体"/>
              </a:rPr>
              <a:t>兼容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41446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2.2.2</a:t>
            </a:r>
            <a:r>
              <a:rPr sz="2800" b="1" spc="135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Java中的字符类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7970" y="1419225"/>
            <a:ext cx="8171815" cy="447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字符常量</a:t>
            </a:r>
            <a:r>
              <a:rPr sz="2800" dirty="0">
                <a:latin typeface="宋体"/>
                <a:cs typeface="宋体"/>
              </a:rPr>
              <a:t>：用一对单引号括起的单个字符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可见字符：</a:t>
            </a:r>
            <a:r>
              <a:rPr sz="2800" spc="-5" dirty="0">
                <a:latin typeface="宋体"/>
                <a:cs typeface="宋体"/>
              </a:rPr>
              <a:t>'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a'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'Z'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'8'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'#' 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转义字符：不能直接书写的字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 dirty="0">
              <a:latin typeface="宋体"/>
              <a:cs typeface="宋体"/>
            </a:endParaRPr>
          </a:p>
          <a:p>
            <a:pPr marL="869950" lvl="2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'\n'</a:t>
            </a:r>
            <a:r>
              <a:rPr sz="2800" spc="130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换行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 dirty="0">
              <a:latin typeface="宋体"/>
              <a:cs typeface="宋体"/>
            </a:endParaRPr>
          </a:p>
          <a:p>
            <a:pPr marL="869950" lvl="2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'\t'</a:t>
            </a:r>
            <a:r>
              <a:rPr sz="2800" spc="130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制表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 dirty="0">
              <a:latin typeface="宋体"/>
              <a:cs typeface="宋体"/>
            </a:endParaRPr>
          </a:p>
          <a:p>
            <a:pPr marL="869950" lvl="2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'\ddd'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8</a:t>
            </a:r>
            <a:r>
              <a:rPr sz="2800" dirty="0">
                <a:latin typeface="宋体"/>
                <a:cs typeface="宋体"/>
              </a:rPr>
              <a:t>八进制表示一个字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 dirty="0">
              <a:latin typeface="宋体"/>
              <a:cs typeface="宋体"/>
            </a:endParaRPr>
          </a:p>
          <a:p>
            <a:pPr marL="869950" lvl="2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'\uxxxx'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spc="-5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16</a:t>
            </a:r>
            <a:r>
              <a:rPr sz="2800" dirty="0">
                <a:latin typeface="宋体"/>
                <a:cs typeface="宋体"/>
              </a:rPr>
              <a:t>进制无符号整数，表示</a:t>
            </a:r>
            <a:r>
              <a:rPr sz="2800" spc="-5" dirty="0">
                <a:latin typeface="宋体"/>
                <a:cs typeface="宋体"/>
              </a:rPr>
              <a:t>Unicode码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FF0066"/>
                </a:solidFill>
                <a:latin typeface="宋体"/>
                <a:cs typeface="宋体"/>
              </a:rPr>
              <a:t>       </a:t>
            </a:r>
            <a:r>
              <a:rPr sz="2800" b="1" spc="-15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solidFill>
                  <a:srgbClr val="FF0066"/>
                </a:solidFill>
                <a:latin typeface="宋体"/>
                <a:cs typeface="宋体"/>
              </a:rPr>
              <a:t>   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如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:</a:t>
            </a:r>
            <a:r>
              <a:rPr sz="2800" spc="-25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'\101' </a:t>
            </a:r>
            <a:r>
              <a:rPr sz="2800" spc="1345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用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8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进制表示一个字符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'A'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    '\u0041'</a:t>
            </a:r>
            <a:r>
              <a:rPr sz="2800" spc="-6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用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Unicode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码表示一个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'A'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12508" y="-1523"/>
          <a:ext cx="8273412" cy="5818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4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467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A03E0A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2.2.2</a:t>
                      </a:r>
                      <a:r>
                        <a:rPr sz="2800" b="1" spc="140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800" b="1" dirty="0">
                          <a:latin typeface="宋体"/>
                          <a:cs typeface="宋体"/>
                        </a:rPr>
                        <a:t>Java中的字符类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型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6350" marB="0">
                    <a:lnB w="28575">
                      <a:solidFill>
                        <a:srgbClr val="A1A1A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093">
                <a:tc gridSpan="3"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950" b="1" dirty="0">
                          <a:latin typeface="宋体"/>
                          <a:cs typeface="宋体"/>
                        </a:rPr>
                        <a:t>转</a:t>
                      </a:r>
                      <a:r>
                        <a:rPr sz="1950" b="1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dirty="0">
                          <a:latin typeface="宋体"/>
                          <a:cs typeface="宋体"/>
                        </a:rPr>
                        <a:t>义</a:t>
                      </a:r>
                      <a:r>
                        <a:rPr sz="1950" b="1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dirty="0">
                          <a:latin typeface="宋体"/>
                          <a:cs typeface="宋体"/>
                        </a:rPr>
                        <a:t>字</a:t>
                      </a:r>
                      <a:r>
                        <a:rPr sz="1950" b="1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dirty="0">
                          <a:latin typeface="宋体"/>
                          <a:cs typeface="宋体"/>
                        </a:rPr>
                        <a:t>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1962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950" b="1" dirty="0">
                          <a:latin typeface="宋体"/>
                          <a:cs typeface="宋体"/>
                        </a:rPr>
                        <a:t>含</a:t>
                      </a:r>
                      <a:r>
                        <a:rPr sz="1950" b="1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dirty="0">
                          <a:latin typeface="宋体"/>
                          <a:cs typeface="宋体"/>
                        </a:rPr>
                        <a:t>义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50" b="1" dirty="0">
                          <a:latin typeface="宋体"/>
                          <a:cs typeface="宋体"/>
                        </a:rPr>
                        <a:t>对</a:t>
                      </a:r>
                      <a:r>
                        <a:rPr sz="1950" b="1" spc="-484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dirty="0">
                          <a:latin typeface="宋体"/>
                          <a:cs typeface="宋体"/>
                        </a:rPr>
                        <a:t>应</a:t>
                      </a:r>
                      <a:r>
                        <a:rPr sz="1950" b="1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95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20" dirty="0">
                          <a:latin typeface="Times New Roman"/>
                          <a:cs typeface="Times New Roman"/>
                        </a:rPr>
                        <a:t>ico</a:t>
                      </a:r>
                      <a:r>
                        <a:rPr sz="1950" b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R="6032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950" b="1" dirty="0">
                          <a:latin typeface="宋体"/>
                          <a:cs typeface="宋体"/>
                        </a:rPr>
                        <a:t>码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92">
                <a:tc gridSpan="3"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\b</a:t>
                      </a:r>
                      <a:r>
                        <a:rPr sz="1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退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格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95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75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95" dirty="0">
                          <a:latin typeface="Times New Roman"/>
                          <a:cs typeface="Times New Roman"/>
                        </a:rPr>
                        <a:t>\t'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67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水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平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制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表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符</a:t>
                      </a:r>
                      <a:r>
                        <a:rPr sz="1950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120" dirty="0">
                          <a:latin typeface="Times New Roman"/>
                          <a:cs typeface="Times New Roman"/>
                        </a:rPr>
                        <a:t>tab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95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92">
                <a:tc gridSpan="3"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\n</a:t>
                      </a:r>
                      <a:r>
                        <a:rPr sz="195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换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行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00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‘</a:t>
                      </a:r>
                      <a:r>
                        <a:rPr sz="1950" spc="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spc="-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75">
                <a:tc gridSpan="3"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\f</a:t>
                      </a:r>
                      <a:r>
                        <a:rPr sz="19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表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格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spc="-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\r</a:t>
                      </a:r>
                      <a:r>
                        <a:rPr sz="195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回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541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\”</a:t>
                      </a:r>
                      <a:r>
                        <a:rPr sz="195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双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引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号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95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92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\’</a:t>
                      </a:r>
                      <a:r>
                        <a:rPr sz="19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单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引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号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 0 2 7 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0184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 </a:t>
                      </a:r>
                      <a:r>
                        <a:rPr sz="1950" spc="65" dirty="0">
                          <a:latin typeface="Times New Roman"/>
                          <a:cs typeface="Times New Roman"/>
                        </a:rPr>
                        <a:t>\\</a:t>
                      </a:r>
                      <a:r>
                        <a:rPr sz="1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反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斜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线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9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spc="-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775">
                <a:tc gridSpan="3">
                  <a:txBody>
                    <a:bodyPr/>
                    <a:lstStyle/>
                    <a:p>
                      <a:pPr marL="6451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\d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d d</a:t>
                      </a:r>
                      <a:r>
                        <a:rPr sz="19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三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位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进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制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数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表</a:t>
                      </a:r>
                      <a:r>
                        <a:rPr sz="1950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示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字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788">
                <a:tc gridSpan="3">
                  <a:txBody>
                    <a:bodyPr/>
                    <a:lstStyle/>
                    <a:p>
                      <a:pPr marL="4883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' </a:t>
                      </a:r>
                      <a:r>
                        <a:rPr sz="1950" spc="70" dirty="0">
                          <a:latin typeface="Times New Roman"/>
                          <a:cs typeface="Times New Roman"/>
                        </a:rPr>
                        <a:t>\u</a:t>
                      </a:r>
                      <a:r>
                        <a:rPr sz="1950" spc="-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x x x x '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950" spc="5" dirty="0">
                          <a:latin typeface="宋体"/>
                          <a:cs typeface="宋体"/>
                        </a:rPr>
                        <a:t>四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位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9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950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进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制</a:t>
                      </a:r>
                      <a:r>
                        <a:rPr sz="1950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数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表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示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950" spc="-4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字</a:t>
                      </a:r>
                      <a:r>
                        <a:rPr sz="1950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950" spc="5" dirty="0">
                          <a:latin typeface="宋体"/>
                          <a:cs typeface="宋体"/>
                        </a:rPr>
                        <a:t>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67227" y="5085588"/>
            <a:ext cx="4668012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63976" y="5081638"/>
            <a:ext cx="4674870" cy="529590"/>
          </a:xfrm>
          <a:custGeom>
            <a:avLst/>
            <a:gdLst/>
            <a:ahLst/>
            <a:cxnLst/>
            <a:rect l="l" t="t" r="r" b="b"/>
            <a:pathLst>
              <a:path w="4674870" h="529589">
                <a:moveTo>
                  <a:pt x="4674870" y="529577"/>
                </a:moveTo>
                <a:lnTo>
                  <a:pt x="0" y="529577"/>
                </a:lnTo>
                <a:lnTo>
                  <a:pt x="0" y="0"/>
                </a:lnTo>
                <a:lnTo>
                  <a:pt x="4674870" y="0"/>
                </a:lnTo>
                <a:lnTo>
                  <a:pt x="4674870" y="3797"/>
                </a:lnTo>
                <a:lnTo>
                  <a:pt x="7620" y="3797"/>
                </a:lnTo>
                <a:lnTo>
                  <a:pt x="3810" y="7607"/>
                </a:lnTo>
                <a:lnTo>
                  <a:pt x="7620" y="7607"/>
                </a:lnTo>
                <a:lnTo>
                  <a:pt x="7620" y="521957"/>
                </a:lnTo>
                <a:lnTo>
                  <a:pt x="3810" y="521957"/>
                </a:lnTo>
                <a:lnTo>
                  <a:pt x="7620" y="525779"/>
                </a:lnTo>
                <a:lnTo>
                  <a:pt x="4674870" y="525779"/>
                </a:lnTo>
                <a:lnTo>
                  <a:pt x="4674870" y="529577"/>
                </a:lnTo>
                <a:close/>
              </a:path>
              <a:path w="4674870" h="529589">
                <a:moveTo>
                  <a:pt x="7620" y="7607"/>
                </a:moveTo>
                <a:lnTo>
                  <a:pt x="3810" y="7607"/>
                </a:lnTo>
                <a:lnTo>
                  <a:pt x="7620" y="3797"/>
                </a:lnTo>
                <a:lnTo>
                  <a:pt x="7620" y="7607"/>
                </a:lnTo>
                <a:close/>
              </a:path>
              <a:path w="4674870" h="529589">
                <a:moveTo>
                  <a:pt x="4667250" y="7607"/>
                </a:moveTo>
                <a:lnTo>
                  <a:pt x="7620" y="7607"/>
                </a:lnTo>
                <a:lnTo>
                  <a:pt x="7620" y="3797"/>
                </a:lnTo>
                <a:lnTo>
                  <a:pt x="4667250" y="3797"/>
                </a:lnTo>
                <a:lnTo>
                  <a:pt x="4667250" y="7607"/>
                </a:lnTo>
                <a:close/>
              </a:path>
              <a:path w="4674870" h="529589">
                <a:moveTo>
                  <a:pt x="4667250" y="525779"/>
                </a:moveTo>
                <a:lnTo>
                  <a:pt x="4667250" y="3797"/>
                </a:lnTo>
                <a:lnTo>
                  <a:pt x="4671059" y="7607"/>
                </a:lnTo>
                <a:lnTo>
                  <a:pt x="4674870" y="7607"/>
                </a:lnTo>
                <a:lnTo>
                  <a:pt x="4674870" y="521957"/>
                </a:lnTo>
                <a:lnTo>
                  <a:pt x="4671059" y="521957"/>
                </a:lnTo>
                <a:lnTo>
                  <a:pt x="4667250" y="525779"/>
                </a:lnTo>
                <a:close/>
              </a:path>
              <a:path w="4674870" h="529589">
                <a:moveTo>
                  <a:pt x="4674870" y="7607"/>
                </a:moveTo>
                <a:lnTo>
                  <a:pt x="4671059" y="7607"/>
                </a:lnTo>
                <a:lnTo>
                  <a:pt x="4667250" y="3797"/>
                </a:lnTo>
                <a:lnTo>
                  <a:pt x="4674870" y="3797"/>
                </a:lnTo>
                <a:lnTo>
                  <a:pt x="4674870" y="7607"/>
                </a:lnTo>
                <a:close/>
              </a:path>
              <a:path w="4674870" h="529589">
                <a:moveTo>
                  <a:pt x="7620" y="525779"/>
                </a:moveTo>
                <a:lnTo>
                  <a:pt x="3810" y="521957"/>
                </a:lnTo>
                <a:lnTo>
                  <a:pt x="7620" y="521957"/>
                </a:lnTo>
                <a:lnTo>
                  <a:pt x="7620" y="525779"/>
                </a:lnTo>
                <a:close/>
              </a:path>
              <a:path w="4674870" h="529589">
                <a:moveTo>
                  <a:pt x="4667250" y="525779"/>
                </a:moveTo>
                <a:lnTo>
                  <a:pt x="7620" y="525779"/>
                </a:lnTo>
                <a:lnTo>
                  <a:pt x="7620" y="521957"/>
                </a:lnTo>
                <a:lnTo>
                  <a:pt x="4667250" y="521957"/>
                </a:lnTo>
                <a:lnTo>
                  <a:pt x="4667250" y="525779"/>
                </a:lnTo>
                <a:close/>
              </a:path>
              <a:path w="4674870" h="529589">
                <a:moveTo>
                  <a:pt x="4674870" y="525779"/>
                </a:moveTo>
                <a:lnTo>
                  <a:pt x="4667250" y="525779"/>
                </a:lnTo>
                <a:lnTo>
                  <a:pt x="4671059" y="521957"/>
                </a:lnTo>
                <a:lnTo>
                  <a:pt x="4674870" y="521957"/>
                </a:lnTo>
                <a:lnTo>
                  <a:pt x="4674870" y="52577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3755" y="321805"/>
            <a:ext cx="7841615" cy="5228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2.2.2</a:t>
            </a:r>
            <a:r>
              <a:rPr sz="2800" b="1" spc="140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Java中的字符类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ts val="3190"/>
              </a:lnSpc>
              <a:spcBef>
                <a:spcPts val="222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字符串常量是用双引号括起的一串字符（可以</a:t>
            </a:r>
            <a:r>
              <a:rPr sz="2800" spc="-5" dirty="0">
                <a:latin typeface="宋体"/>
                <a:cs typeface="宋体"/>
              </a:rPr>
              <a:t>0个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ts val="3190"/>
              </a:lnSpc>
            </a:pPr>
            <a:r>
              <a:rPr sz="2800" dirty="0">
                <a:latin typeface="宋体"/>
                <a:cs typeface="宋体"/>
              </a:rPr>
              <a:t>）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例子：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″Hello″，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″My</a:t>
            </a:r>
            <a:r>
              <a:rPr sz="2800" spc="-1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\nJava″，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    ″How old are you?</a:t>
            </a:r>
            <a:r>
              <a:rPr sz="2800" spc="-1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1234″，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     ″</a:t>
            </a:r>
            <a:r>
              <a:rPr sz="2800" spc="-1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″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     ″″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     ″My″ +</a:t>
            </a:r>
            <a:r>
              <a:rPr sz="2800" spc="-1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″name″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宋体"/>
              <a:cs typeface="宋体"/>
            </a:endParaRPr>
          </a:p>
          <a:p>
            <a:pPr marL="222504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字符串常量是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String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类的对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2263" y="4727447"/>
            <a:ext cx="1617256" cy="1313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019415" cy="30435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浮点型常量：表示可以含有小数部分的数值常量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根据占用内存长度的不同分</a:t>
            </a:r>
            <a:r>
              <a:rPr sz="2800" spc="-5" dirty="0"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  <a:p>
            <a:pPr marL="527050" marR="172085" lvl="1" indent="-171450">
              <a:lnSpc>
                <a:spcPts val="302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sz="2800" b="1" dirty="0">
                <a:solidFill>
                  <a:srgbClr val="967A2C"/>
                </a:solidFill>
                <a:latin typeface="宋体"/>
                <a:cs typeface="宋体"/>
              </a:rPr>
              <a:t>单精度浮点常量float</a:t>
            </a:r>
            <a:r>
              <a:rPr sz="2800" dirty="0">
                <a:latin typeface="宋体"/>
                <a:cs typeface="宋体"/>
              </a:rPr>
              <a:t>：占用</a:t>
            </a:r>
            <a:r>
              <a:rPr sz="2800" spc="-5" dirty="0">
                <a:latin typeface="宋体"/>
                <a:cs typeface="宋体"/>
              </a:rPr>
              <a:t>32</a:t>
            </a:r>
            <a:r>
              <a:rPr sz="2800" dirty="0">
                <a:latin typeface="宋体"/>
                <a:cs typeface="宋体"/>
              </a:rPr>
              <a:t>位内存，用</a:t>
            </a:r>
            <a:r>
              <a:rPr sz="2800" spc="-5" dirty="0">
                <a:latin typeface="宋体"/>
                <a:cs typeface="宋体"/>
              </a:rPr>
              <a:t>F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5" dirty="0">
                <a:latin typeface="宋体"/>
                <a:cs typeface="宋体"/>
              </a:rPr>
              <a:t>f </a:t>
            </a:r>
            <a:r>
              <a:rPr sz="2800" dirty="0">
                <a:latin typeface="宋体"/>
                <a:cs typeface="宋体"/>
              </a:rPr>
              <a:t>表示。</a:t>
            </a:r>
            <a:r>
              <a:rPr sz="2800" b="1" dirty="0">
                <a:solidFill>
                  <a:srgbClr val="FF0066"/>
                </a:solidFill>
                <a:latin typeface="宋体"/>
                <a:cs typeface="宋体"/>
              </a:rPr>
              <a:t>如：19.4F，3.0513E3，8701.52f</a:t>
            </a:r>
            <a:endParaRPr sz="2800">
              <a:latin typeface="宋体"/>
              <a:cs typeface="宋体"/>
            </a:endParaRPr>
          </a:p>
          <a:p>
            <a:pPr marL="527050" marR="170180" lvl="1" indent="-171450">
              <a:lnSpc>
                <a:spcPts val="302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800" b="1" dirty="0">
                <a:solidFill>
                  <a:srgbClr val="967A2C"/>
                </a:solidFill>
                <a:latin typeface="宋体"/>
                <a:cs typeface="宋体"/>
              </a:rPr>
              <a:t>双精度浮点常量double</a:t>
            </a:r>
            <a:r>
              <a:rPr sz="2800" dirty="0">
                <a:latin typeface="宋体"/>
                <a:cs typeface="宋体"/>
              </a:rPr>
              <a:t>：占用</a:t>
            </a:r>
            <a:r>
              <a:rPr sz="2800" spc="-5" dirty="0">
                <a:latin typeface="宋体"/>
                <a:cs typeface="宋体"/>
              </a:rPr>
              <a:t>64</a:t>
            </a:r>
            <a:r>
              <a:rPr sz="2800" dirty="0">
                <a:latin typeface="宋体"/>
                <a:cs typeface="宋体"/>
              </a:rPr>
              <a:t>位内存，用带</a:t>
            </a:r>
            <a:r>
              <a:rPr sz="2800" spc="-5" dirty="0">
                <a:latin typeface="宋体"/>
                <a:cs typeface="宋体"/>
              </a:rPr>
              <a:t>D </a:t>
            </a:r>
            <a:r>
              <a:rPr sz="2800" dirty="0">
                <a:latin typeface="宋体"/>
                <a:cs typeface="宋体"/>
              </a:rPr>
              <a:t>或</a:t>
            </a:r>
            <a:r>
              <a:rPr sz="2800" spc="-5" dirty="0">
                <a:latin typeface="宋体"/>
                <a:cs typeface="宋体"/>
              </a:rPr>
              <a:t>d</a:t>
            </a:r>
            <a:r>
              <a:rPr sz="2800" dirty="0">
                <a:latin typeface="宋体"/>
                <a:cs typeface="宋体"/>
              </a:rPr>
              <a:t>或不加后缀的数值表示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ts val="3350"/>
              </a:lnSpc>
            </a:pPr>
            <a:r>
              <a:rPr sz="2800" spc="-5" dirty="0">
                <a:latin typeface="宋体"/>
                <a:cs typeface="宋体"/>
              </a:rPr>
              <a:t>  </a:t>
            </a:r>
            <a:r>
              <a:rPr sz="2800" b="1" spc="-5" dirty="0">
                <a:solidFill>
                  <a:srgbClr val="FF0066"/>
                </a:solidFill>
                <a:latin typeface="宋体"/>
                <a:cs typeface="宋体"/>
              </a:rPr>
              <a:t>如：2.433E-5D，700041.273d，3.1415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710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2.2.3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浮点类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890394"/>
            <a:ext cx="7130415" cy="3757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说明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在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java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中的实数型常量默认为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double</a:t>
            </a:r>
            <a:endParaRPr sz="2800">
              <a:latin typeface="宋体"/>
              <a:cs typeface="宋体"/>
            </a:endParaRPr>
          </a:p>
          <a:p>
            <a:pPr marL="184150" marR="5080">
              <a:lnSpc>
                <a:spcPts val="3020"/>
              </a:lnSpc>
              <a:spcBef>
                <a:spcPts val="215"/>
              </a:spcBef>
            </a:pPr>
            <a:r>
              <a:rPr sz="2800" dirty="0">
                <a:latin typeface="宋体"/>
                <a:cs typeface="宋体"/>
              </a:rPr>
              <a:t>，所以写单精度的实数时要在数字后面写</a:t>
            </a:r>
            <a:r>
              <a:rPr sz="2800" spc="-5" dirty="0">
                <a:latin typeface="宋体"/>
                <a:cs typeface="宋体"/>
              </a:rPr>
              <a:t>f， </a:t>
            </a:r>
            <a:r>
              <a:rPr sz="2800" dirty="0">
                <a:latin typeface="宋体"/>
                <a:cs typeface="宋体"/>
              </a:rPr>
              <a:t>如</a:t>
            </a:r>
            <a:r>
              <a:rPr sz="2800" spc="-5" dirty="0">
                <a:latin typeface="宋体"/>
                <a:cs typeface="宋体"/>
              </a:rPr>
              <a:t>3.14f。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350"/>
              </a:lnSpc>
            </a:pPr>
            <a:r>
              <a:rPr sz="2800" spc="-5" dirty="0">
                <a:latin typeface="宋体"/>
                <a:cs typeface="宋体"/>
              </a:rPr>
              <a:t>   float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a=3.4;(</a:t>
            </a:r>
            <a:r>
              <a:rPr sz="2800" dirty="0">
                <a:latin typeface="宋体"/>
                <a:cs typeface="宋体"/>
              </a:rPr>
              <a:t>报错</a:t>
            </a:r>
            <a:r>
              <a:rPr sz="2800" spc="-5" dirty="0">
                <a:latin typeface="宋体"/>
                <a:cs typeface="宋体"/>
              </a:rPr>
              <a:t>)float a=3.4f;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宋体"/>
              <a:cs typeface="宋体"/>
            </a:endParaRPr>
          </a:p>
          <a:p>
            <a:pPr marL="184150" marR="182880" indent="-171450">
              <a:lnSpc>
                <a:spcPts val="302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浮点型可能会有精度丢失，运算不够精确</a:t>
            </a:r>
            <a:r>
              <a:rPr sz="2800" spc="-5" dirty="0">
                <a:latin typeface="宋体"/>
                <a:cs typeface="宋体"/>
              </a:rPr>
              <a:t>， 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不能对其进行精确的运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•"/>
            </a:pPr>
            <a:endParaRPr sz="26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采用</a:t>
            </a:r>
            <a:r>
              <a:rPr sz="2800" spc="-5" dirty="0">
                <a:latin typeface="宋体"/>
                <a:cs typeface="宋体"/>
              </a:rPr>
              <a:t>BigDecimal</a:t>
            </a:r>
            <a:r>
              <a:rPr sz="2800" dirty="0">
                <a:latin typeface="宋体"/>
                <a:cs typeface="宋体"/>
              </a:rPr>
              <a:t>类进行精确运</a:t>
            </a:r>
            <a:r>
              <a:rPr sz="2800" spc="-5" dirty="0"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710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2.2.3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浮点类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731250" cy="328167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布尔常量</a:t>
            </a:r>
            <a:r>
              <a:rPr sz="2800" spc="-5" dirty="0">
                <a:latin typeface="宋体"/>
                <a:cs typeface="宋体"/>
              </a:rPr>
              <a:t>:true(</a:t>
            </a:r>
            <a:r>
              <a:rPr sz="2800" dirty="0">
                <a:latin typeface="宋体"/>
                <a:cs typeface="宋体"/>
              </a:rPr>
              <a:t>真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5" dirty="0">
                <a:latin typeface="宋体"/>
                <a:cs typeface="宋体"/>
              </a:rPr>
              <a:t>false(</a:t>
            </a:r>
            <a:r>
              <a:rPr sz="2800" dirty="0">
                <a:latin typeface="宋体"/>
                <a:cs typeface="宋体"/>
              </a:rPr>
              <a:t>假</a:t>
            </a:r>
            <a:r>
              <a:rPr sz="2800" spc="-5" dirty="0">
                <a:latin typeface="宋体"/>
                <a:cs typeface="宋体"/>
              </a:rPr>
              <a:t>)。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在流控制中经常用到布尔常量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   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if</a:t>
            </a:r>
            <a:r>
              <a:rPr sz="2800" spc="-5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(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条件）</a:t>
            </a:r>
            <a:r>
              <a:rPr sz="2800" spc="-5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动作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1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    else   </a:t>
            </a:r>
            <a:r>
              <a:rPr sz="2800" spc="1305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动 作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2</a:t>
            </a:r>
            <a:endParaRPr sz="2800">
              <a:latin typeface="宋体"/>
              <a:cs typeface="宋体"/>
            </a:endParaRPr>
          </a:p>
          <a:p>
            <a:pPr marL="184150" marR="5080" indent="-184150">
              <a:lnSpc>
                <a:spcPct val="101000"/>
              </a:lnSpc>
              <a:spcBef>
                <a:spcPts val="3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注意</a:t>
            </a:r>
            <a:r>
              <a:rPr sz="2800" spc="-5" dirty="0">
                <a:latin typeface="宋体"/>
                <a:cs typeface="宋体"/>
              </a:rPr>
              <a:t>：Java</a:t>
            </a:r>
            <a:r>
              <a:rPr sz="2800" dirty="0">
                <a:latin typeface="宋体"/>
                <a:cs typeface="宋体"/>
              </a:rPr>
              <a:t>不允许数值类型和布尔类型之间进行转换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int a=3;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if</a:t>
            </a:r>
            <a:r>
              <a:rPr sz="2800" spc="-10" dirty="0">
                <a:solidFill>
                  <a:srgbClr val="FF0066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( 0&lt;a&lt;1 ) </a:t>
            </a:r>
            <a:r>
              <a:rPr sz="2800" dirty="0">
                <a:solidFill>
                  <a:srgbClr val="FF0066"/>
                </a:solidFill>
                <a:latin typeface="宋体"/>
                <a:cs typeface="宋体"/>
              </a:rPr>
              <a:t>……错</a:t>
            </a:r>
            <a:r>
              <a:rPr sz="2800" spc="-5" dirty="0">
                <a:solidFill>
                  <a:srgbClr val="FF0066"/>
                </a:solidFill>
                <a:latin typeface="宋体"/>
                <a:cs typeface="宋体"/>
              </a:rPr>
              <a:t>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710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2.2.4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布尔类</a:t>
            </a:r>
            <a:r>
              <a:rPr sz="2800" b="1" spc="-20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019415" cy="40487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在</a:t>
            </a: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中必须用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final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关键字声明符号常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  <a:p>
            <a:pPr marL="184150" marR="182880" indent="-171450">
              <a:lnSpc>
                <a:spcPts val="302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final</a:t>
            </a:r>
            <a:r>
              <a:rPr sz="2800" dirty="0">
                <a:latin typeface="宋体"/>
                <a:cs typeface="宋体"/>
              </a:rPr>
              <a:t>关键字表示这个变量只能被赋值一次，一</a:t>
            </a:r>
            <a:r>
              <a:rPr sz="2800" spc="-5" dirty="0">
                <a:latin typeface="宋体"/>
                <a:cs typeface="宋体"/>
              </a:rPr>
              <a:t>旦 </a:t>
            </a:r>
            <a:r>
              <a:rPr sz="2800" dirty="0">
                <a:latin typeface="宋体"/>
                <a:cs typeface="宋体"/>
              </a:rPr>
              <a:t>赋值后就不能够再更改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声明格</a:t>
            </a:r>
            <a:r>
              <a:rPr sz="2800" spc="-5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527050" marR="1972945" lvl="1" indent="-527050">
              <a:lnSpc>
                <a:spcPct val="101000"/>
              </a:lnSpc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final</a:t>
            </a:r>
            <a:r>
              <a:rPr sz="2800" spc="-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数据类型</a:t>
            </a:r>
            <a:r>
              <a:rPr sz="2800" spc="-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常量名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=</a:t>
            </a:r>
            <a:r>
              <a:rPr sz="2800" spc="-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缺省值</a:t>
            </a:r>
            <a:r>
              <a:rPr sz="2800" spc="-5" dirty="0">
                <a:latin typeface="宋体"/>
                <a:cs typeface="宋体"/>
              </a:rPr>
              <a:t>; 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 final int STUDENT_NUM =</a:t>
            </a:r>
            <a:r>
              <a:rPr sz="2800" spc="-2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10;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55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习惯上，符号常量名采用全部大写，词与词之间</a:t>
            </a:r>
            <a:r>
              <a:rPr sz="2800" spc="-5" dirty="0">
                <a:latin typeface="宋体"/>
                <a:cs typeface="宋体"/>
              </a:rPr>
              <a:t>用 </a:t>
            </a:r>
            <a:r>
              <a:rPr sz="2800" dirty="0">
                <a:latin typeface="宋体"/>
                <a:cs typeface="宋体"/>
              </a:rPr>
              <a:t>下划线分隔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710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2.2.5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符号常</a:t>
            </a:r>
            <a:r>
              <a:rPr sz="2800" b="1" spc="-20" dirty="0"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5505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8504" y="393852"/>
            <a:ext cx="686498" cy="32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9495" y="2709672"/>
            <a:ext cx="7623175" cy="521334"/>
          </a:xfrm>
          <a:custGeom>
            <a:avLst/>
            <a:gdLst/>
            <a:ahLst/>
            <a:cxnLst/>
            <a:rect l="l" t="t" r="r" b="b"/>
            <a:pathLst>
              <a:path w="7623175" h="521335">
                <a:moveTo>
                  <a:pt x="0" y="0"/>
                </a:moveTo>
                <a:lnTo>
                  <a:pt x="7623048" y="0"/>
                </a:lnTo>
                <a:lnTo>
                  <a:pt x="7623048" y="521207"/>
                </a:lnTo>
                <a:lnTo>
                  <a:pt x="0" y="521207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2702560"/>
            <a:ext cx="7635240" cy="534670"/>
          </a:xfrm>
          <a:custGeom>
            <a:avLst/>
            <a:gdLst/>
            <a:ahLst/>
            <a:cxnLst/>
            <a:rect l="l" t="t" r="r" b="b"/>
            <a:pathLst>
              <a:path w="7635240" h="534669">
                <a:moveTo>
                  <a:pt x="7634935" y="534669"/>
                </a:moveTo>
                <a:lnTo>
                  <a:pt x="0" y="534669"/>
                </a:lnTo>
                <a:lnTo>
                  <a:pt x="0" y="0"/>
                </a:lnTo>
                <a:lnTo>
                  <a:pt x="7634935" y="0"/>
                </a:lnTo>
                <a:lnTo>
                  <a:pt x="763493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21969"/>
                </a:lnTo>
                <a:lnTo>
                  <a:pt x="6350" y="521969"/>
                </a:lnTo>
                <a:lnTo>
                  <a:pt x="12700" y="528319"/>
                </a:lnTo>
                <a:lnTo>
                  <a:pt x="7634935" y="528319"/>
                </a:lnTo>
                <a:lnTo>
                  <a:pt x="7634935" y="534669"/>
                </a:lnTo>
                <a:close/>
              </a:path>
              <a:path w="7635240" h="53466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635240" h="534669">
                <a:moveTo>
                  <a:pt x="762223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622235" y="6350"/>
                </a:lnTo>
                <a:lnTo>
                  <a:pt x="7622235" y="12700"/>
                </a:lnTo>
                <a:close/>
              </a:path>
              <a:path w="7635240" h="534669">
                <a:moveTo>
                  <a:pt x="7622235" y="528319"/>
                </a:moveTo>
                <a:lnTo>
                  <a:pt x="7622235" y="6350"/>
                </a:lnTo>
                <a:lnTo>
                  <a:pt x="7628585" y="12700"/>
                </a:lnTo>
                <a:lnTo>
                  <a:pt x="7634935" y="12700"/>
                </a:lnTo>
                <a:lnTo>
                  <a:pt x="7634935" y="521969"/>
                </a:lnTo>
                <a:lnTo>
                  <a:pt x="7628585" y="521969"/>
                </a:lnTo>
                <a:lnTo>
                  <a:pt x="7622235" y="528319"/>
                </a:lnTo>
                <a:close/>
              </a:path>
              <a:path w="7635240" h="534669">
                <a:moveTo>
                  <a:pt x="7634935" y="12700"/>
                </a:moveTo>
                <a:lnTo>
                  <a:pt x="7628585" y="12700"/>
                </a:lnTo>
                <a:lnTo>
                  <a:pt x="7622235" y="6350"/>
                </a:lnTo>
                <a:lnTo>
                  <a:pt x="7634935" y="6350"/>
                </a:lnTo>
                <a:lnTo>
                  <a:pt x="7634935" y="12700"/>
                </a:lnTo>
                <a:close/>
              </a:path>
              <a:path w="7635240" h="534669">
                <a:moveTo>
                  <a:pt x="12700" y="528319"/>
                </a:moveTo>
                <a:lnTo>
                  <a:pt x="6350" y="521969"/>
                </a:lnTo>
                <a:lnTo>
                  <a:pt x="12700" y="521969"/>
                </a:lnTo>
                <a:lnTo>
                  <a:pt x="12700" y="528319"/>
                </a:lnTo>
                <a:close/>
              </a:path>
              <a:path w="7635240" h="534669">
                <a:moveTo>
                  <a:pt x="7622235" y="528319"/>
                </a:moveTo>
                <a:lnTo>
                  <a:pt x="12700" y="528319"/>
                </a:lnTo>
                <a:lnTo>
                  <a:pt x="12700" y="521969"/>
                </a:lnTo>
                <a:lnTo>
                  <a:pt x="7622235" y="521969"/>
                </a:lnTo>
                <a:lnTo>
                  <a:pt x="7622235" y="528319"/>
                </a:lnTo>
                <a:close/>
              </a:path>
              <a:path w="7635240" h="534669">
                <a:moveTo>
                  <a:pt x="7634935" y="528319"/>
                </a:moveTo>
                <a:lnTo>
                  <a:pt x="7622235" y="528319"/>
                </a:lnTo>
                <a:lnTo>
                  <a:pt x="7628585" y="521969"/>
                </a:lnTo>
                <a:lnTo>
                  <a:pt x="7634935" y="521969"/>
                </a:lnTo>
                <a:lnTo>
                  <a:pt x="7634935" y="528319"/>
                </a:lnTo>
                <a:close/>
              </a:path>
            </a:pathLst>
          </a:custGeom>
          <a:solidFill>
            <a:srgbClr val="752C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75" y="906018"/>
            <a:ext cx="7028180" cy="22790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变量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dirty="0">
                <a:latin typeface="宋体"/>
                <a:cs typeface="宋体"/>
              </a:rPr>
              <a:t>在程序的运行过程中数值可变的数据</a:t>
            </a:r>
            <a:r>
              <a:rPr sz="2800" spc="-5" dirty="0">
                <a:latin typeface="宋体"/>
                <a:cs typeface="宋体"/>
              </a:rPr>
              <a:t>,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用来记录运算中间结果或保存数据。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变量的声</a:t>
            </a:r>
            <a:r>
              <a:rPr sz="2800" spc="-5" dirty="0">
                <a:latin typeface="宋体"/>
                <a:cs typeface="宋体"/>
              </a:rPr>
              <a:t>明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 marL="437515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数据类型</a:t>
            </a:r>
            <a:r>
              <a:rPr sz="2800" spc="229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变量名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变量名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变量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n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9495" y="3933444"/>
            <a:ext cx="2514600" cy="1815464"/>
          </a:xfrm>
          <a:custGeom>
            <a:avLst/>
            <a:gdLst/>
            <a:ahLst/>
            <a:cxnLst/>
            <a:rect l="l" t="t" r="r" b="b"/>
            <a:pathLst>
              <a:path w="2514600" h="1815464">
                <a:moveTo>
                  <a:pt x="0" y="0"/>
                </a:moveTo>
                <a:lnTo>
                  <a:pt x="2514600" y="0"/>
                </a:lnTo>
                <a:lnTo>
                  <a:pt x="2514600" y="1815083"/>
                </a:lnTo>
                <a:lnTo>
                  <a:pt x="0" y="1815083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8490" y="3756532"/>
            <a:ext cx="2162175" cy="192151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dirty="0">
                <a:latin typeface="微软雅黑"/>
                <a:cs typeface="微软雅黑"/>
              </a:rPr>
              <a:t>例如</a:t>
            </a:r>
            <a:r>
              <a:rPr sz="2800" spc="-5" dirty="0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ts val="5040"/>
              </a:lnSpc>
              <a:spcBef>
                <a:spcPts val="355"/>
              </a:spcBef>
            </a:pPr>
            <a:r>
              <a:rPr sz="2800" spc="-5" dirty="0">
                <a:latin typeface="Book Antiqua"/>
                <a:cs typeface="Book Antiqua"/>
              </a:rPr>
              <a:t>int</a:t>
            </a:r>
            <a:r>
              <a:rPr sz="2800" spc="-60" dirty="0">
                <a:latin typeface="Book Antiqua"/>
                <a:cs typeface="Book Antiqua"/>
              </a:rPr>
              <a:t> </a:t>
            </a:r>
            <a:r>
              <a:rPr sz="2800" spc="-5" dirty="0">
                <a:latin typeface="Book Antiqua"/>
                <a:cs typeface="Book Antiqua"/>
              </a:rPr>
              <a:t>num,total;  double</a:t>
            </a:r>
            <a:r>
              <a:rPr sz="2800" spc="-10" dirty="0">
                <a:latin typeface="Book Antiqua"/>
                <a:cs typeface="Book Antiqua"/>
              </a:rPr>
              <a:t> </a:t>
            </a:r>
            <a:r>
              <a:rPr sz="2800" spc="-5" dirty="0">
                <a:latin typeface="Book Antiqua"/>
                <a:cs typeface="Book Antiqua"/>
              </a:rPr>
              <a:t>d;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7860" y="2926079"/>
            <a:ext cx="6719570" cy="2352040"/>
          </a:xfrm>
          <a:custGeom>
            <a:avLst/>
            <a:gdLst/>
            <a:ahLst/>
            <a:cxnLst/>
            <a:rect l="l" t="t" r="r" b="b"/>
            <a:pathLst>
              <a:path w="6719570" h="2352040">
                <a:moveTo>
                  <a:pt x="4394200" y="2351481"/>
                </a:moveTo>
                <a:lnTo>
                  <a:pt x="4320393" y="2351202"/>
                </a:lnTo>
                <a:lnTo>
                  <a:pt x="4174535" y="2348996"/>
                </a:lnTo>
                <a:lnTo>
                  <a:pt x="4031243" y="2344647"/>
                </a:lnTo>
                <a:lnTo>
                  <a:pt x="3890790" y="2338221"/>
                </a:lnTo>
                <a:lnTo>
                  <a:pt x="3753448" y="2329785"/>
                </a:lnTo>
                <a:lnTo>
                  <a:pt x="3619490" y="2319404"/>
                </a:lnTo>
                <a:lnTo>
                  <a:pt x="3489187" y="2307145"/>
                </a:lnTo>
                <a:lnTo>
                  <a:pt x="3362813" y="2293073"/>
                </a:lnTo>
                <a:lnTo>
                  <a:pt x="3240639" y="2277255"/>
                </a:lnTo>
                <a:lnTo>
                  <a:pt x="3122938" y="2259757"/>
                </a:lnTo>
                <a:lnTo>
                  <a:pt x="3065850" y="2250398"/>
                </a:lnTo>
                <a:lnTo>
                  <a:pt x="3009982" y="2240644"/>
                </a:lnTo>
                <a:lnTo>
                  <a:pt x="2955369" y="2230503"/>
                </a:lnTo>
                <a:lnTo>
                  <a:pt x="2902044" y="2219984"/>
                </a:lnTo>
                <a:lnTo>
                  <a:pt x="2850042" y="2209093"/>
                </a:lnTo>
                <a:lnTo>
                  <a:pt x="2799397" y="2197841"/>
                </a:lnTo>
                <a:lnTo>
                  <a:pt x="2750142" y="2186235"/>
                </a:lnTo>
                <a:lnTo>
                  <a:pt x="2702311" y="2174283"/>
                </a:lnTo>
                <a:lnTo>
                  <a:pt x="2655940" y="2161993"/>
                </a:lnTo>
                <a:lnTo>
                  <a:pt x="2611061" y="2149374"/>
                </a:lnTo>
                <a:lnTo>
                  <a:pt x="2567708" y="2136435"/>
                </a:lnTo>
                <a:lnTo>
                  <a:pt x="2525917" y="2123182"/>
                </a:lnTo>
                <a:lnTo>
                  <a:pt x="2485721" y="2109626"/>
                </a:lnTo>
                <a:lnTo>
                  <a:pt x="2447153" y="2095773"/>
                </a:lnTo>
                <a:lnTo>
                  <a:pt x="2410249" y="2081632"/>
                </a:lnTo>
                <a:lnTo>
                  <a:pt x="2341565" y="2052520"/>
                </a:lnTo>
                <a:lnTo>
                  <a:pt x="2279941" y="2022355"/>
                </a:lnTo>
                <a:lnTo>
                  <a:pt x="2225650" y="1991204"/>
                </a:lnTo>
                <a:lnTo>
                  <a:pt x="2178965" y="1959132"/>
                </a:lnTo>
                <a:lnTo>
                  <a:pt x="2140157" y="1926206"/>
                </a:lnTo>
                <a:lnTo>
                  <a:pt x="2109498" y="1892493"/>
                </a:lnTo>
                <a:lnTo>
                  <a:pt x="2087263" y="1858057"/>
                </a:lnTo>
                <a:lnTo>
                  <a:pt x="2070296" y="1805194"/>
                </a:lnTo>
                <a:lnTo>
                  <a:pt x="2069147" y="1787283"/>
                </a:lnTo>
                <a:lnTo>
                  <a:pt x="2071615" y="1761051"/>
                </a:lnTo>
                <a:lnTo>
                  <a:pt x="2091041" y="1709539"/>
                </a:lnTo>
                <a:lnTo>
                  <a:pt x="2129067" y="1659469"/>
                </a:lnTo>
                <a:lnTo>
                  <a:pt x="2184833" y="1611052"/>
                </a:lnTo>
                <a:lnTo>
                  <a:pt x="2219099" y="1587530"/>
                </a:lnTo>
                <a:lnTo>
                  <a:pt x="2257478" y="1564499"/>
                </a:lnTo>
                <a:lnTo>
                  <a:pt x="2299862" y="1541986"/>
                </a:lnTo>
                <a:lnTo>
                  <a:pt x="2346143" y="1520018"/>
                </a:lnTo>
                <a:lnTo>
                  <a:pt x="2396214" y="1498621"/>
                </a:lnTo>
                <a:lnTo>
                  <a:pt x="2449966" y="1477821"/>
                </a:lnTo>
                <a:lnTo>
                  <a:pt x="2507294" y="1457644"/>
                </a:lnTo>
                <a:lnTo>
                  <a:pt x="2568088" y="1438117"/>
                </a:lnTo>
                <a:lnTo>
                  <a:pt x="2632242" y="1419265"/>
                </a:lnTo>
                <a:lnTo>
                  <a:pt x="2699647" y="1401116"/>
                </a:lnTo>
                <a:lnTo>
                  <a:pt x="2770197" y="1383694"/>
                </a:lnTo>
                <a:lnTo>
                  <a:pt x="2843784" y="1367028"/>
                </a:lnTo>
                <a:lnTo>
                  <a:pt x="0" y="0"/>
                </a:lnTo>
                <a:lnTo>
                  <a:pt x="3604260" y="1255776"/>
                </a:lnTo>
                <a:lnTo>
                  <a:pt x="5175719" y="1255776"/>
                </a:lnTo>
                <a:lnTo>
                  <a:pt x="5299217" y="1267424"/>
                </a:lnTo>
                <a:lnTo>
                  <a:pt x="5425592" y="1281496"/>
                </a:lnTo>
                <a:lnTo>
                  <a:pt x="5547766" y="1297314"/>
                </a:lnTo>
                <a:lnTo>
                  <a:pt x="5665467" y="1314813"/>
                </a:lnTo>
                <a:lnTo>
                  <a:pt x="5722555" y="1324172"/>
                </a:lnTo>
                <a:lnTo>
                  <a:pt x="5778422" y="1333926"/>
                </a:lnTo>
                <a:lnTo>
                  <a:pt x="5833035" y="1344067"/>
                </a:lnTo>
                <a:lnTo>
                  <a:pt x="5886360" y="1354587"/>
                </a:lnTo>
                <a:lnTo>
                  <a:pt x="5938362" y="1365477"/>
                </a:lnTo>
                <a:lnTo>
                  <a:pt x="5989007" y="1376730"/>
                </a:lnTo>
                <a:lnTo>
                  <a:pt x="6038262" y="1388337"/>
                </a:lnTo>
                <a:lnTo>
                  <a:pt x="6086092" y="1400289"/>
                </a:lnTo>
                <a:lnTo>
                  <a:pt x="6132464" y="1412578"/>
                </a:lnTo>
                <a:lnTo>
                  <a:pt x="6177343" y="1425197"/>
                </a:lnTo>
                <a:lnTo>
                  <a:pt x="6220694" y="1438137"/>
                </a:lnTo>
                <a:lnTo>
                  <a:pt x="6262486" y="1451390"/>
                </a:lnTo>
                <a:lnTo>
                  <a:pt x="6302682" y="1464946"/>
                </a:lnTo>
                <a:lnTo>
                  <a:pt x="6341249" y="1478799"/>
                </a:lnTo>
                <a:lnTo>
                  <a:pt x="6378153" y="1492940"/>
                </a:lnTo>
                <a:lnTo>
                  <a:pt x="6446837" y="1522053"/>
                </a:lnTo>
                <a:lnTo>
                  <a:pt x="6508460" y="1552217"/>
                </a:lnTo>
                <a:lnTo>
                  <a:pt x="6562750" y="1583368"/>
                </a:lnTo>
                <a:lnTo>
                  <a:pt x="6609435" y="1615439"/>
                </a:lnTo>
                <a:lnTo>
                  <a:pt x="6648243" y="1648364"/>
                </a:lnTo>
                <a:lnTo>
                  <a:pt x="6678901" y="1682077"/>
                </a:lnTo>
                <a:lnTo>
                  <a:pt x="6701137" y="1716512"/>
                </a:lnTo>
                <a:lnTo>
                  <a:pt x="6718103" y="1769373"/>
                </a:lnTo>
                <a:lnTo>
                  <a:pt x="6719252" y="1787283"/>
                </a:lnTo>
                <a:lnTo>
                  <a:pt x="6718103" y="1805194"/>
                </a:lnTo>
                <a:lnTo>
                  <a:pt x="6701137" y="1858057"/>
                </a:lnTo>
                <a:lnTo>
                  <a:pt x="6678901" y="1892493"/>
                </a:lnTo>
                <a:lnTo>
                  <a:pt x="6648243" y="1926206"/>
                </a:lnTo>
                <a:lnTo>
                  <a:pt x="6609435" y="1959132"/>
                </a:lnTo>
                <a:lnTo>
                  <a:pt x="6562750" y="1991204"/>
                </a:lnTo>
                <a:lnTo>
                  <a:pt x="6508460" y="2022355"/>
                </a:lnTo>
                <a:lnTo>
                  <a:pt x="6446837" y="2052520"/>
                </a:lnTo>
                <a:lnTo>
                  <a:pt x="6378153" y="2081632"/>
                </a:lnTo>
                <a:lnTo>
                  <a:pt x="6341249" y="2095773"/>
                </a:lnTo>
                <a:lnTo>
                  <a:pt x="6302682" y="2109626"/>
                </a:lnTo>
                <a:lnTo>
                  <a:pt x="6262486" y="2123182"/>
                </a:lnTo>
                <a:lnTo>
                  <a:pt x="6220694" y="2136435"/>
                </a:lnTo>
                <a:lnTo>
                  <a:pt x="6177343" y="2149374"/>
                </a:lnTo>
                <a:lnTo>
                  <a:pt x="6132464" y="2161993"/>
                </a:lnTo>
                <a:lnTo>
                  <a:pt x="6086092" y="2174283"/>
                </a:lnTo>
                <a:lnTo>
                  <a:pt x="6038262" y="2186235"/>
                </a:lnTo>
                <a:lnTo>
                  <a:pt x="5989007" y="2197841"/>
                </a:lnTo>
                <a:lnTo>
                  <a:pt x="5938362" y="2209093"/>
                </a:lnTo>
                <a:lnTo>
                  <a:pt x="5886360" y="2219984"/>
                </a:lnTo>
                <a:lnTo>
                  <a:pt x="5833035" y="2230503"/>
                </a:lnTo>
                <a:lnTo>
                  <a:pt x="5778422" y="2240644"/>
                </a:lnTo>
                <a:lnTo>
                  <a:pt x="5722555" y="2250398"/>
                </a:lnTo>
                <a:lnTo>
                  <a:pt x="5665467" y="2259757"/>
                </a:lnTo>
                <a:lnTo>
                  <a:pt x="5547766" y="2277255"/>
                </a:lnTo>
                <a:lnTo>
                  <a:pt x="5425592" y="2293073"/>
                </a:lnTo>
                <a:lnTo>
                  <a:pt x="5299217" y="2307145"/>
                </a:lnTo>
                <a:lnTo>
                  <a:pt x="5168914" y="2319404"/>
                </a:lnTo>
                <a:lnTo>
                  <a:pt x="5034955" y="2329785"/>
                </a:lnTo>
                <a:lnTo>
                  <a:pt x="4897613" y="2338221"/>
                </a:lnTo>
                <a:lnTo>
                  <a:pt x="4757159" y="2344647"/>
                </a:lnTo>
                <a:lnTo>
                  <a:pt x="4613866" y="2348996"/>
                </a:lnTo>
                <a:lnTo>
                  <a:pt x="4541240" y="2350371"/>
                </a:lnTo>
                <a:lnTo>
                  <a:pt x="4468007" y="2351202"/>
                </a:lnTo>
                <a:lnTo>
                  <a:pt x="4394200" y="2351481"/>
                </a:lnTo>
                <a:close/>
              </a:path>
              <a:path w="6719570" h="2352040">
                <a:moveTo>
                  <a:pt x="5175719" y="1255776"/>
                </a:moveTo>
                <a:lnTo>
                  <a:pt x="3604260" y="1255776"/>
                </a:lnTo>
                <a:lnTo>
                  <a:pt x="3650847" y="1251959"/>
                </a:lnTo>
                <a:lnTo>
                  <a:pt x="3793083" y="1241838"/>
                </a:lnTo>
                <a:lnTo>
                  <a:pt x="3938813" y="1233788"/>
                </a:lnTo>
                <a:lnTo>
                  <a:pt x="4087761" y="1227910"/>
                </a:lnTo>
                <a:lnTo>
                  <a:pt x="4239648" y="1224309"/>
                </a:lnTo>
                <a:lnTo>
                  <a:pt x="4394200" y="1223086"/>
                </a:lnTo>
                <a:lnTo>
                  <a:pt x="4541240" y="1224196"/>
                </a:lnTo>
                <a:lnTo>
                  <a:pt x="4685850" y="1227482"/>
                </a:lnTo>
                <a:lnTo>
                  <a:pt x="4827758" y="1232877"/>
                </a:lnTo>
                <a:lnTo>
                  <a:pt x="4966690" y="1240317"/>
                </a:lnTo>
                <a:lnTo>
                  <a:pt x="5102375" y="1249734"/>
                </a:lnTo>
                <a:lnTo>
                  <a:pt x="5175719" y="1255776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2312" y="2909785"/>
            <a:ext cx="6759575" cy="2362200"/>
          </a:xfrm>
          <a:custGeom>
            <a:avLst/>
            <a:gdLst/>
            <a:ahLst/>
            <a:cxnLst/>
            <a:rect l="l" t="t" r="r" b="b"/>
            <a:pathLst>
              <a:path w="6759575" h="2362200">
                <a:moveTo>
                  <a:pt x="2861171" y="1376540"/>
                </a:moveTo>
                <a:lnTo>
                  <a:pt x="0" y="0"/>
                </a:lnTo>
                <a:lnTo>
                  <a:pt x="1993" y="0"/>
                </a:lnTo>
                <a:lnTo>
                  <a:pt x="35015" y="11406"/>
                </a:lnTo>
                <a:lnTo>
                  <a:pt x="34645" y="12700"/>
                </a:lnTo>
                <a:lnTo>
                  <a:pt x="140954" y="49775"/>
                </a:lnTo>
                <a:lnTo>
                  <a:pt x="2871602" y="1373534"/>
                </a:lnTo>
                <a:lnTo>
                  <a:pt x="2861171" y="1376540"/>
                </a:lnTo>
                <a:close/>
              </a:path>
              <a:path w="6759575" h="2362200">
                <a:moveTo>
                  <a:pt x="128209" y="43596"/>
                </a:moveTo>
                <a:lnTo>
                  <a:pt x="35015" y="11406"/>
                </a:lnTo>
                <a:lnTo>
                  <a:pt x="38277" y="0"/>
                </a:lnTo>
                <a:lnTo>
                  <a:pt x="128209" y="43596"/>
                </a:lnTo>
                <a:close/>
              </a:path>
              <a:path w="6759575" h="2362200">
                <a:moveTo>
                  <a:pt x="140954" y="49775"/>
                </a:moveTo>
                <a:lnTo>
                  <a:pt x="34645" y="12700"/>
                </a:lnTo>
                <a:lnTo>
                  <a:pt x="35015" y="11406"/>
                </a:lnTo>
                <a:lnTo>
                  <a:pt x="128209" y="43596"/>
                </a:lnTo>
                <a:lnTo>
                  <a:pt x="140954" y="49775"/>
                </a:lnTo>
                <a:close/>
              </a:path>
              <a:path w="6759575" h="2362200">
                <a:moveTo>
                  <a:pt x="3687241" y="1270000"/>
                </a:moveTo>
                <a:lnTo>
                  <a:pt x="3639781" y="1270000"/>
                </a:lnTo>
                <a:lnTo>
                  <a:pt x="140954" y="49775"/>
                </a:lnTo>
                <a:lnTo>
                  <a:pt x="128209" y="43596"/>
                </a:lnTo>
                <a:lnTo>
                  <a:pt x="3641953" y="1257300"/>
                </a:lnTo>
                <a:lnTo>
                  <a:pt x="3734168" y="1257300"/>
                </a:lnTo>
                <a:lnTo>
                  <a:pt x="3687241" y="1270000"/>
                </a:lnTo>
                <a:close/>
              </a:path>
              <a:path w="6759575" h="2362200">
                <a:moveTo>
                  <a:pt x="4326470" y="1244600"/>
                </a:moveTo>
                <a:lnTo>
                  <a:pt x="3974236" y="1244600"/>
                </a:lnTo>
                <a:lnTo>
                  <a:pt x="4023537" y="1231900"/>
                </a:lnTo>
                <a:lnTo>
                  <a:pt x="4377994" y="1231900"/>
                </a:lnTo>
                <a:lnTo>
                  <a:pt x="4326470" y="1244600"/>
                </a:lnTo>
                <a:close/>
              </a:path>
              <a:path w="6759575" h="2362200">
                <a:moveTo>
                  <a:pt x="4898567" y="1244600"/>
                </a:moveTo>
                <a:lnTo>
                  <a:pt x="4549355" y="1244600"/>
                </a:lnTo>
                <a:lnTo>
                  <a:pt x="4489716" y="1231900"/>
                </a:lnTo>
                <a:lnTo>
                  <a:pt x="4841532" y="1231900"/>
                </a:lnTo>
                <a:lnTo>
                  <a:pt x="4898567" y="1244600"/>
                </a:lnTo>
                <a:close/>
              </a:path>
              <a:path w="6759575" h="2362200">
                <a:moveTo>
                  <a:pt x="3925798" y="1257300"/>
                </a:moveTo>
                <a:lnTo>
                  <a:pt x="3733431" y="1257300"/>
                </a:lnTo>
                <a:lnTo>
                  <a:pt x="3780790" y="1244600"/>
                </a:lnTo>
                <a:lnTo>
                  <a:pt x="3974706" y="1244600"/>
                </a:lnTo>
                <a:lnTo>
                  <a:pt x="3925798" y="1257300"/>
                </a:lnTo>
                <a:close/>
              </a:path>
              <a:path w="6759575" h="2362200">
                <a:moveTo>
                  <a:pt x="5121503" y="1257300"/>
                </a:moveTo>
                <a:lnTo>
                  <a:pt x="4954587" y="1257300"/>
                </a:lnTo>
                <a:lnTo>
                  <a:pt x="4898072" y="1244600"/>
                </a:lnTo>
                <a:lnTo>
                  <a:pt x="5066588" y="1244600"/>
                </a:lnTo>
                <a:lnTo>
                  <a:pt x="5121503" y="1257300"/>
                </a:lnTo>
                <a:close/>
              </a:path>
              <a:path w="6759575" h="2362200">
                <a:moveTo>
                  <a:pt x="5282742" y="1270000"/>
                </a:moveTo>
                <a:lnTo>
                  <a:pt x="5175084" y="1270000"/>
                </a:lnTo>
                <a:lnTo>
                  <a:pt x="5120779" y="1257300"/>
                </a:lnTo>
                <a:lnTo>
                  <a:pt x="5229606" y="1257300"/>
                </a:lnTo>
                <a:lnTo>
                  <a:pt x="5282742" y="1270000"/>
                </a:lnTo>
                <a:close/>
              </a:path>
              <a:path w="6759575" h="2362200">
                <a:moveTo>
                  <a:pt x="5387111" y="1282700"/>
                </a:moveTo>
                <a:lnTo>
                  <a:pt x="5281853" y="1282700"/>
                </a:lnTo>
                <a:lnTo>
                  <a:pt x="5228742" y="1270000"/>
                </a:lnTo>
                <a:lnTo>
                  <a:pt x="5335257" y="1270000"/>
                </a:lnTo>
                <a:lnTo>
                  <a:pt x="5387111" y="1282700"/>
                </a:lnTo>
                <a:close/>
              </a:path>
              <a:path w="6759575" h="2362200">
                <a:moveTo>
                  <a:pt x="5488825" y="1295400"/>
                </a:moveTo>
                <a:lnTo>
                  <a:pt x="5437225" y="1295400"/>
                </a:lnTo>
                <a:lnTo>
                  <a:pt x="5386057" y="1282700"/>
                </a:lnTo>
                <a:lnTo>
                  <a:pt x="5438305" y="1282700"/>
                </a:lnTo>
                <a:lnTo>
                  <a:pt x="5488825" y="1295400"/>
                </a:lnTo>
                <a:close/>
              </a:path>
              <a:path w="6759575" h="2362200">
                <a:moveTo>
                  <a:pt x="5587720" y="1308100"/>
                </a:moveTo>
                <a:lnTo>
                  <a:pt x="5537403" y="1308100"/>
                </a:lnTo>
                <a:lnTo>
                  <a:pt x="5487631" y="1295400"/>
                </a:lnTo>
                <a:lnTo>
                  <a:pt x="5538635" y="1295400"/>
                </a:lnTo>
                <a:lnTo>
                  <a:pt x="5587720" y="1308100"/>
                </a:lnTo>
                <a:close/>
              </a:path>
              <a:path w="6759575" h="2362200">
                <a:moveTo>
                  <a:pt x="5683656" y="1320800"/>
                </a:moveTo>
                <a:lnTo>
                  <a:pt x="5634697" y="1320800"/>
                </a:lnTo>
                <a:lnTo>
                  <a:pt x="5586387" y="1308100"/>
                </a:lnTo>
                <a:lnTo>
                  <a:pt x="5636069" y="1308100"/>
                </a:lnTo>
                <a:lnTo>
                  <a:pt x="5683656" y="1320800"/>
                </a:lnTo>
                <a:close/>
              </a:path>
              <a:path w="6759575" h="2362200">
                <a:moveTo>
                  <a:pt x="5821718" y="1346200"/>
                </a:moveTo>
                <a:lnTo>
                  <a:pt x="5774905" y="1346200"/>
                </a:lnTo>
                <a:lnTo>
                  <a:pt x="5728919" y="1333500"/>
                </a:lnTo>
                <a:lnTo>
                  <a:pt x="5682183" y="1320800"/>
                </a:lnTo>
                <a:lnTo>
                  <a:pt x="5730481" y="1320800"/>
                </a:lnTo>
                <a:lnTo>
                  <a:pt x="5821718" y="1346200"/>
                </a:lnTo>
                <a:close/>
              </a:path>
              <a:path w="6759575" h="2362200">
                <a:moveTo>
                  <a:pt x="5952299" y="1371600"/>
                </a:moveTo>
                <a:lnTo>
                  <a:pt x="5907786" y="1371600"/>
                </a:lnTo>
                <a:lnTo>
                  <a:pt x="5864288" y="1358900"/>
                </a:lnTo>
                <a:lnTo>
                  <a:pt x="5819990" y="1346200"/>
                </a:lnTo>
                <a:lnTo>
                  <a:pt x="5866104" y="1346200"/>
                </a:lnTo>
                <a:lnTo>
                  <a:pt x="5952299" y="1371600"/>
                </a:lnTo>
                <a:close/>
              </a:path>
              <a:path w="6759575" h="2362200">
                <a:moveTo>
                  <a:pt x="2877915" y="1376595"/>
                </a:moveTo>
                <a:lnTo>
                  <a:pt x="2871602" y="1373534"/>
                </a:lnTo>
                <a:lnTo>
                  <a:pt x="2878315" y="1371600"/>
                </a:lnTo>
                <a:lnTo>
                  <a:pt x="2877915" y="1376595"/>
                </a:lnTo>
                <a:close/>
              </a:path>
              <a:path w="6759575" h="2362200">
                <a:moveTo>
                  <a:pt x="6113957" y="1409700"/>
                </a:moveTo>
                <a:lnTo>
                  <a:pt x="6111633" y="1409700"/>
                </a:lnTo>
                <a:lnTo>
                  <a:pt x="6072657" y="1397000"/>
                </a:lnTo>
                <a:lnTo>
                  <a:pt x="6032842" y="1397000"/>
                </a:lnTo>
                <a:lnTo>
                  <a:pt x="5992012" y="1384300"/>
                </a:lnTo>
                <a:lnTo>
                  <a:pt x="5950318" y="1371600"/>
                </a:lnTo>
                <a:lnTo>
                  <a:pt x="5994082" y="1371600"/>
                </a:lnTo>
                <a:lnTo>
                  <a:pt x="6074930" y="1397000"/>
                </a:lnTo>
                <a:lnTo>
                  <a:pt x="6113957" y="1409700"/>
                </a:lnTo>
                <a:close/>
              </a:path>
              <a:path w="6759575" h="2362200">
                <a:moveTo>
                  <a:pt x="2877299" y="1384300"/>
                </a:moveTo>
                <a:lnTo>
                  <a:pt x="2861171" y="1376540"/>
                </a:lnTo>
                <a:lnTo>
                  <a:pt x="2871602" y="1373534"/>
                </a:lnTo>
                <a:lnTo>
                  <a:pt x="2877915" y="1376595"/>
                </a:lnTo>
                <a:lnTo>
                  <a:pt x="2877299" y="1384300"/>
                </a:lnTo>
                <a:close/>
              </a:path>
              <a:path w="6759575" h="2362200">
                <a:moveTo>
                  <a:pt x="2836341" y="1397000"/>
                </a:moveTo>
                <a:lnTo>
                  <a:pt x="2791193" y="1397000"/>
                </a:lnTo>
                <a:lnTo>
                  <a:pt x="2861171" y="1376540"/>
                </a:lnTo>
                <a:lnTo>
                  <a:pt x="2877299" y="1384300"/>
                </a:lnTo>
                <a:lnTo>
                  <a:pt x="2893809" y="1384300"/>
                </a:lnTo>
                <a:lnTo>
                  <a:pt x="2836341" y="1397000"/>
                </a:lnTo>
                <a:close/>
              </a:path>
              <a:path w="6759575" h="2362200">
                <a:moveTo>
                  <a:pt x="2893809" y="1384300"/>
                </a:moveTo>
                <a:lnTo>
                  <a:pt x="2877299" y="1384300"/>
                </a:lnTo>
                <a:lnTo>
                  <a:pt x="2877915" y="1376595"/>
                </a:lnTo>
                <a:lnTo>
                  <a:pt x="2893809" y="1384300"/>
                </a:lnTo>
                <a:close/>
              </a:path>
              <a:path w="6759575" h="2362200">
                <a:moveTo>
                  <a:pt x="2595308" y="1460500"/>
                </a:moveTo>
                <a:lnTo>
                  <a:pt x="2556256" y="1460500"/>
                </a:lnTo>
                <a:lnTo>
                  <a:pt x="2592514" y="1447800"/>
                </a:lnTo>
                <a:lnTo>
                  <a:pt x="2629966" y="1435100"/>
                </a:lnTo>
                <a:lnTo>
                  <a:pt x="2668574" y="1422400"/>
                </a:lnTo>
                <a:lnTo>
                  <a:pt x="2749207" y="1397000"/>
                </a:lnTo>
                <a:lnTo>
                  <a:pt x="2793441" y="1397000"/>
                </a:lnTo>
                <a:lnTo>
                  <a:pt x="2751518" y="1409700"/>
                </a:lnTo>
                <a:lnTo>
                  <a:pt x="2710764" y="1422400"/>
                </a:lnTo>
                <a:lnTo>
                  <a:pt x="2671127" y="1435100"/>
                </a:lnTo>
                <a:lnTo>
                  <a:pt x="2632633" y="1447800"/>
                </a:lnTo>
                <a:lnTo>
                  <a:pt x="2595308" y="1460500"/>
                </a:lnTo>
                <a:close/>
              </a:path>
              <a:path w="6759575" h="2362200">
                <a:moveTo>
                  <a:pt x="6294361" y="1460500"/>
                </a:moveTo>
                <a:lnTo>
                  <a:pt x="6291453" y="1460500"/>
                </a:lnTo>
                <a:lnTo>
                  <a:pt x="6257467" y="1447800"/>
                </a:lnTo>
                <a:lnTo>
                  <a:pt x="6222555" y="1447800"/>
                </a:lnTo>
                <a:lnTo>
                  <a:pt x="6186512" y="1435100"/>
                </a:lnTo>
                <a:lnTo>
                  <a:pt x="6149543" y="1422400"/>
                </a:lnTo>
                <a:lnTo>
                  <a:pt x="6111582" y="1409700"/>
                </a:lnTo>
                <a:lnTo>
                  <a:pt x="6152019" y="1409700"/>
                </a:lnTo>
                <a:lnTo>
                  <a:pt x="6225222" y="1435100"/>
                </a:lnTo>
                <a:lnTo>
                  <a:pt x="6260299" y="1447800"/>
                </a:lnTo>
                <a:lnTo>
                  <a:pt x="6294361" y="1460500"/>
                </a:lnTo>
                <a:close/>
              </a:path>
              <a:path w="6759575" h="2362200">
                <a:moveTo>
                  <a:pt x="2559189" y="1473200"/>
                </a:moveTo>
                <a:lnTo>
                  <a:pt x="2521191" y="1473200"/>
                </a:lnTo>
                <a:lnTo>
                  <a:pt x="2538564" y="1460500"/>
                </a:lnTo>
                <a:lnTo>
                  <a:pt x="2595384" y="1460500"/>
                </a:lnTo>
                <a:lnTo>
                  <a:pt x="2559189" y="1473200"/>
                </a:lnTo>
                <a:close/>
              </a:path>
              <a:path w="6759575" h="2362200">
                <a:moveTo>
                  <a:pt x="6476111" y="1524000"/>
                </a:moveTo>
                <a:lnTo>
                  <a:pt x="6444945" y="1524000"/>
                </a:lnTo>
                <a:lnTo>
                  <a:pt x="6416382" y="1511300"/>
                </a:lnTo>
                <a:lnTo>
                  <a:pt x="6386779" y="1498600"/>
                </a:lnTo>
                <a:lnTo>
                  <a:pt x="6356070" y="1485900"/>
                </a:lnTo>
                <a:lnTo>
                  <a:pt x="6324269" y="1473200"/>
                </a:lnTo>
                <a:lnTo>
                  <a:pt x="6291389" y="1460500"/>
                </a:lnTo>
                <a:lnTo>
                  <a:pt x="6327381" y="1460500"/>
                </a:lnTo>
                <a:lnTo>
                  <a:pt x="6359334" y="1473200"/>
                </a:lnTo>
                <a:lnTo>
                  <a:pt x="6390195" y="1485900"/>
                </a:lnTo>
                <a:lnTo>
                  <a:pt x="6419964" y="1498600"/>
                </a:lnTo>
                <a:lnTo>
                  <a:pt x="6448615" y="1511300"/>
                </a:lnTo>
                <a:lnTo>
                  <a:pt x="6476111" y="1524000"/>
                </a:lnTo>
                <a:close/>
              </a:path>
              <a:path w="6759575" h="2362200">
                <a:moveTo>
                  <a:pt x="2507297" y="1485900"/>
                </a:moveTo>
                <a:lnTo>
                  <a:pt x="2487358" y="1485900"/>
                </a:lnTo>
                <a:lnTo>
                  <a:pt x="2504122" y="1473200"/>
                </a:lnTo>
                <a:lnTo>
                  <a:pt x="2524328" y="1473200"/>
                </a:lnTo>
                <a:lnTo>
                  <a:pt x="2507297" y="1485900"/>
                </a:lnTo>
                <a:close/>
              </a:path>
              <a:path w="6759575" h="2362200">
                <a:moveTo>
                  <a:pt x="2474264" y="1498600"/>
                </a:moveTo>
                <a:lnTo>
                  <a:pt x="2454795" y="1498600"/>
                </a:lnTo>
                <a:lnTo>
                  <a:pt x="2470924" y="1485900"/>
                </a:lnTo>
                <a:lnTo>
                  <a:pt x="2490660" y="1485900"/>
                </a:lnTo>
                <a:lnTo>
                  <a:pt x="2474264" y="1498600"/>
                </a:lnTo>
                <a:close/>
              </a:path>
              <a:path w="6759575" h="2362200">
                <a:moveTo>
                  <a:pt x="2442502" y="1511300"/>
                </a:moveTo>
                <a:lnTo>
                  <a:pt x="2423490" y="1511300"/>
                </a:lnTo>
                <a:lnTo>
                  <a:pt x="2438984" y="1498600"/>
                </a:lnTo>
                <a:lnTo>
                  <a:pt x="2458262" y="1498600"/>
                </a:lnTo>
                <a:lnTo>
                  <a:pt x="2442502" y="1511300"/>
                </a:lnTo>
                <a:close/>
              </a:path>
              <a:path w="6759575" h="2362200">
                <a:moveTo>
                  <a:pt x="2412022" y="1524000"/>
                </a:moveTo>
                <a:lnTo>
                  <a:pt x="2393492" y="1524000"/>
                </a:lnTo>
                <a:lnTo>
                  <a:pt x="2408326" y="1511300"/>
                </a:lnTo>
                <a:lnTo>
                  <a:pt x="2427147" y="1511300"/>
                </a:lnTo>
                <a:lnTo>
                  <a:pt x="2412022" y="1524000"/>
                </a:lnTo>
                <a:close/>
              </a:path>
              <a:path w="6759575" h="2362200">
                <a:moveTo>
                  <a:pt x="2382875" y="1536700"/>
                </a:moveTo>
                <a:lnTo>
                  <a:pt x="2364816" y="1536700"/>
                </a:lnTo>
                <a:lnTo>
                  <a:pt x="2378989" y="1524000"/>
                </a:lnTo>
                <a:lnTo>
                  <a:pt x="2397340" y="1524000"/>
                </a:lnTo>
                <a:lnTo>
                  <a:pt x="2382875" y="1536700"/>
                </a:lnTo>
                <a:close/>
              </a:path>
              <a:path w="6759575" h="2362200">
                <a:moveTo>
                  <a:pt x="6502476" y="1536700"/>
                </a:moveTo>
                <a:lnTo>
                  <a:pt x="6472288" y="1536700"/>
                </a:lnTo>
                <a:lnTo>
                  <a:pt x="6444869" y="1524000"/>
                </a:lnTo>
                <a:lnTo>
                  <a:pt x="6489446" y="1524000"/>
                </a:lnTo>
                <a:lnTo>
                  <a:pt x="6502476" y="1536700"/>
                </a:lnTo>
                <a:close/>
              </a:path>
              <a:path w="6759575" h="2362200">
                <a:moveTo>
                  <a:pt x="2355075" y="1549400"/>
                </a:moveTo>
                <a:lnTo>
                  <a:pt x="2337473" y="1549400"/>
                </a:lnTo>
                <a:lnTo>
                  <a:pt x="2350973" y="1536700"/>
                </a:lnTo>
                <a:lnTo>
                  <a:pt x="2368854" y="1536700"/>
                </a:lnTo>
                <a:lnTo>
                  <a:pt x="2355075" y="1549400"/>
                </a:lnTo>
                <a:close/>
              </a:path>
              <a:path w="6759575" h="2362200">
                <a:moveTo>
                  <a:pt x="6527673" y="1549400"/>
                </a:moveTo>
                <a:lnTo>
                  <a:pt x="6498424" y="1549400"/>
                </a:lnTo>
                <a:lnTo>
                  <a:pt x="6485445" y="1536700"/>
                </a:lnTo>
                <a:lnTo>
                  <a:pt x="6515227" y="1536700"/>
                </a:lnTo>
                <a:lnTo>
                  <a:pt x="6527673" y="1549400"/>
                </a:lnTo>
                <a:close/>
              </a:path>
              <a:path w="6759575" h="2362200">
                <a:moveTo>
                  <a:pt x="2328633" y="1562100"/>
                </a:moveTo>
                <a:lnTo>
                  <a:pt x="2311501" y="1562100"/>
                </a:lnTo>
                <a:lnTo>
                  <a:pt x="2324315" y="1549400"/>
                </a:lnTo>
                <a:lnTo>
                  <a:pt x="2341740" y="1549400"/>
                </a:lnTo>
                <a:lnTo>
                  <a:pt x="2328633" y="1562100"/>
                </a:lnTo>
                <a:close/>
              </a:path>
              <a:path w="6759575" h="2362200">
                <a:moveTo>
                  <a:pt x="6551663" y="1562100"/>
                </a:moveTo>
                <a:lnTo>
                  <a:pt x="6523405" y="1562100"/>
                </a:lnTo>
                <a:lnTo>
                  <a:pt x="6511023" y="1549400"/>
                </a:lnTo>
                <a:lnTo>
                  <a:pt x="6539814" y="1549400"/>
                </a:lnTo>
                <a:lnTo>
                  <a:pt x="6551663" y="1562100"/>
                </a:lnTo>
                <a:close/>
              </a:path>
              <a:path w="6759575" h="2362200">
                <a:moveTo>
                  <a:pt x="2303589" y="1574800"/>
                </a:moveTo>
                <a:lnTo>
                  <a:pt x="2286901" y="1574800"/>
                </a:lnTo>
                <a:lnTo>
                  <a:pt x="2299030" y="1562100"/>
                </a:lnTo>
                <a:lnTo>
                  <a:pt x="2315997" y="1562100"/>
                </a:lnTo>
                <a:lnTo>
                  <a:pt x="2303589" y="1574800"/>
                </a:lnTo>
                <a:close/>
              </a:path>
              <a:path w="6759575" h="2362200">
                <a:moveTo>
                  <a:pt x="6574459" y="1574800"/>
                </a:moveTo>
                <a:lnTo>
                  <a:pt x="6547192" y="1574800"/>
                </a:lnTo>
                <a:lnTo>
                  <a:pt x="6535394" y="1562100"/>
                </a:lnTo>
                <a:lnTo>
                  <a:pt x="6563220" y="1562100"/>
                </a:lnTo>
                <a:lnTo>
                  <a:pt x="6574459" y="1574800"/>
                </a:lnTo>
                <a:close/>
              </a:path>
              <a:path w="6759575" h="2362200">
                <a:moveTo>
                  <a:pt x="2279954" y="1587500"/>
                </a:moveTo>
                <a:lnTo>
                  <a:pt x="2263711" y="1587500"/>
                </a:lnTo>
                <a:lnTo>
                  <a:pt x="2275128" y="1574800"/>
                </a:lnTo>
                <a:lnTo>
                  <a:pt x="2291651" y="1574800"/>
                </a:lnTo>
                <a:lnTo>
                  <a:pt x="2279954" y="1587500"/>
                </a:lnTo>
                <a:close/>
              </a:path>
              <a:path w="6759575" h="2362200">
                <a:moveTo>
                  <a:pt x="6596024" y="1587500"/>
                </a:moveTo>
                <a:lnTo>
                  <a:pt x="6569748" y="1587500"/>
                </a:lnTo>
                <a:lnTo>
                  <a:pt x="6558559" y="1574800"/>
                </a:lnTo>
                <a:lnTo>
                  <a:pt x="6585394" y="1574800"/>
                </a:lnTo>
                <a:lnTo>
                  <a:pt x="6596024" y="1587500"/>
                </a:lnTo>
                <a:close/>
              </a:path>
              <a:path w="6759575" h="2362200">
                <a:moveTo>
                  <a:pt x="2247201" y="1612900"/>
                </a:moveTo>
                <a:lnTo>
                  <a:pt x="2231618" y="1612900"/>
                </a:lnTo>
                <a:lnTo>
                  <a:pt x="2241956" y="1600200"/>
                </a:lnTo>
                <a:lnTo>
                  <a:pt x="2252649" y="1587500"/>
                </a:lnTo>
                <a:lnTo>
                  <a:pt x="2280018" y="1587500"/>
                </a:lnTo>
                <a:lnTo>
                  <a:pt x="2268664" y="1600200"/>
                </a:lnTo>
                <a:lnTo>
                  <a:pt x="2257818" y="1600200"/>
                </a:lnTo>
                <a:lnTo>
                  <a:pt x="2247201" y="1612900"/>
                </a:lnTo>
                <a:close/>
              </a:path>
              <a:path w="6759575" h="2362200">
                <a:moveTo>
                  <a:pt x="6616344" y="1600200"/>
                </a:moveTo>
                <a:lnTo>
                  <a:pt x="6591058" y="1600200"/>
                </a:lnTo>
                <a:lnTo>
                  <a:pt x="6580505" y="1587500"/>
                </a:lnTo>
                <a:lnTo>
                  <a:pt x="6606349" y="1587500"/>
                </a:lnTo>
                <a:lnTo>
                  <a:pt x="6616344" y="1600200"/>
                </a:lnTo>
                <a:close/>
              </a:path>
              <a:path w="6759575" h="2362200">
                <a:moveTo>
                  <a:pt x="6635419" y="1612900"/>
                </a:moveTo>
                <a:lnTo>
                  <a:pt x="6611124" y="1612900"/>
                </a:lnTo>
                <a:lnTo>
                  <a:pt x="6601180" y="1600200"/>
                </a:lnTo>
                <a:lnTo>
                  <a:pt x="6626047" y="1600200"/>
                </a:lnTo>
                <a:lnTo>
                  <a:pt x="6635419" y="1612900"/>
                </a:lnTo>
                <a:close/>
              </a:path>
              <a:path w="6759575" h="2362200">
                <a:moveTo>
                  <a:pt x="2227198" y="1625600"/>
                </a:moveTo>
                <a:lnTo>
                  <a:pt x="2212035" y="1625600"/>
                </a:lnTo>
                <a:lnTo>
                  <a:pt x="2221649" y="1612900"/>
                </a:lnTo>
                <a:lnTo>
                  <a:pt x="2237092" y="1612900"/>
                </a:lnTo>
                <a:lnTo>
                  <a:pt x="2227198" y="1625600"/>
                </a:lnTo>
                <a:close/>
              </a:path>
              <a:path w="6759575" h="2362200">
                <a:moveTo>
                  <a:pt x="6661607" y="1638300"/>
                </a:moveTo>
                <a:lnTo>
                  <a:pt x="6647383" y="1638300"/>
                </a:lnTo>
                <a:lnTo>
                  <a:pt x="6638721" y="1625600"/>
                </a:lnTo>
                <a:lnTo>
                  <a:pt x="6629895" y="1625600"/>
                </a:lnTo>
                <a:lnTo>
                  <a:pt x="6620598" y="1612900"/>
                </a:lnTo>
                <a:lnTo>
                  <a:pt x="6644474" y="1612900"/>
                </a:lnTo>
                <a:lnTo>
                  <a:pt x="6653199" y="1625600"/>
                </a:lnTo>
                <a:lnTo>
                  <a:pt x="6661607" y="1638300"/>
                </a:lnTo>
                <a:close/>
              </a:path>
              <a:path w="6759575" h="2362200">
                <a:moveTo>
                  <a:pt x="2208682" y="1638300"/>
                </a:moveTo>
                <a:lnTo>
                  <a:pt x="2193950" y="1638300"/>
                </a:lnTo>
                <a:lnTo>
                  <a:pt x="2202802" y="1625600"/>
                </a:lnTo>
                <a:lnTo>
                  <a:pt x="2217839" y="1625600"/>
                </a:lnTo>
                <a:lnTo>
                  <a:pt x="2208682" y="1638300"/>
                </a:lnTo>
                <a:close/>
              </a:path>
              <a:path w="6759575" h="2362200">
                <a:moveTo>
                  <a:pt x="2176246" y="1663700"/>
                </a:moveTo>
                <a:lnTo>
                  <a:pt x="2169629" y="1663700"/>
                </a:lnTo>
                <a:lnTo>
                  <a:pt x="2177351" y="1651000"/>
                </a:lnTo>
                <a:lnTo>
                  <a:pt x="2185466" y="1638300"/>
                </a:lnTo>
                <a:lnTo>
                  <a:pt x="2200097" y="1638300"/>
                </a:lnTo>
                <a:lnTo>
                  <a:pt x="2191702" y="1651000"/>
                </a:lnTo>
                <a:lnTo>
                  <a:pt x="2183879" y="1651000"/>
                </a:lnTo>
                <a:lnTo>
                  <a:pt x="2176246" y="1663700"/>
                </a:lnTo>
                <a:close/>
              </a:path>
              <a:path w="6759575" h="2362200">
                <a:moveTo>
                  <a:pt x="6677444" y="1651000"/>
                </a:moveTo>
                <a:lnTo>
                  <a:pt x="6663550" y="1651000"/>
                </a:lnTo>
                <a:lnTo>
                  <a:pt x="6655549" y="1638300"/>
                </a:lnTo>
                <a:lnTo>
                  <a:pt x="6669697" y="1638300"/>
                </a:lnTo>
                <a:lnTo>
                  <a:pt x="6677444" y="1651000"/>
                </a:lnTo>
                <a:close/>
              </a:path>
              <a:path w="6759575" h="2362200">
                <a:moveTo>
                  <a:pt x="6691960" y="1663700"/>
                </a:moveTo>
                <a:lnTo>
                  <a:pt x="6678383" y="1663700"/>
                </a:lnTo>
                <a:lnTo>
                  <a:pt x="6671043" y="1651000"/>
                </a:lnTo>
                <a:lnTo>
                  <a:pt x="6684873" y="1651000"/>
                </a:lnTo>
                <a:lnTo>
                  <a:pt x="6691960" y="1663700"/>
                </a:lnTo>
                <a:close/>
              </a:path>
              <a:path w="6759575" h="2362200">
                <a:moveTo>
                  <a:pt x="2169109" y="1676400"/>
                </a:moveTo>
                <a:lnTo>
                  <a:pt x="2155342" y="1676400"/>
                </a:lnTo>
                <a:lnTo>
                  <a:pt x="2162289" y="1663700"/>
                </a:lnTo>
                <a:lnTo>
                  <a:pt x="2176348" y="1663700"/>
                </a:lnTo>
                <a:lnTo>
                  <a:pt x="2169109" y="1676400"/>
                </a:lnTo>
                <a:close/>
              </a:path>
              <a:path w="6759575" h="2362200">
                <a:moveTo>
                  <a:pt x="6705130" y="1676400"/>
                </a:moveTo>
                <a:lnTo>
                  <a:pt x="6691858" y="1676400"/>
                </a:lnTo>
                <a:lnTo>
                  <a:pt x="6685203" y="1663700"/>
                </a:lnTo>
                <a:lnTo>
                  <a:pt x="6698716" y="1663700"/>
                </a:lnTo>
                <a:lnTo>
                  <a:pt x="6705130" y="1676400"/>
                </a:lnTo>
                <a:close/>
              </a:path>
              <a:path w="6759575" h="2362200">
                <a:moveTo>
                  <a:pt x="2156002" y="1689100"/>
                </a:moveTo>
                <a:lnTo>
                  <a:pt x="2142629" y="1689100"/>
                </a:lnTo>
                <a:lnTo>
                  <a:pt x="2148789" y="1676400"/>
                </a:lnTo>
                <a:lnTo>
                  <a:pt x="2162454" y="1676400"/>
                </a:lnTo>
                <a:lnTo>
                  <a:pt x="2156002" y="1689100"/>
                </a:lnTo>
                <a:close/>
              </a:path>
              <a:path w="6759575" h="2362200">
                <a:moveTo>
                  <a:pt x="6716941" y="1689100"/>
                </a:moveTo>
                <a:lnTo>
                  <a:pt x="6703974" y="1689100"/>
                </a:lnTo>
                <a:lnTo>
                  <a:pt x="6697992" y="1676400"/>
                </a:lnTo>
                <a:lnTo>
                  <a:pt x="6711213" y="1676400"/>
                </a:lnTo>
                <a:lnTo>
                  <a:pt x="6716941" y="1689100"/>
                </a:lnTo>
                <a:close/>
              </a:path>
              <a:path w="6759575" h="2362200">
                <a:moveTo>
                  <a:pt x="2134590" y="1714500"/>
                </a:moveTo>
                <a:lnTo>
                  <a:pt x="2126538" y="1714500"/>
                </a:lnTo>
                <a:lnTo>
                  <a:pt x="2131491" y="1701800"/>
                </a:lnTo>
                <a:lnTo>
                  <a:pt x="2136863" y="1689100"/>
                </a:lnTo>
                <a:lnTo>
                  <a:pt x="2150148" y="1689100"/>
                </a:lnTo>
                <a:lnTo>
                  <a:pt x="2144496" y="1701800"/>
                </a:lnTo>
                <a:lnTo>
                  <a:pt x="2139442" y="1701800"/>
                </a:lnTo>
                <a:lnTo>
                  <a:pt x="2134590" y="1714500"/>
                </a:lnTo>
                <a:close/>
              </a:path>
              <a:path w="6759575" h="2362200">
                <a:moveTo>
                  <a:pt x="6732041" y="1714500"/>
                </a:moveTo>
                <a:lnTo>
                  <a:pt x="6724027" y="1714500"/>
                </a:lnTo>
                <a:lnTo>
                  <a:pt x="6719443" y="1701800"/>
                </a:lnTo>
                <a:lnTo>
                  <a:pt x="6714705" y="1701800"/>
                </a:lnTo>
                <a:lnTo>
                  <a:pt x="6709410" y="1689100"/>
                </a:lnTo>
                <a:lnTo>
                  <a:pt x="6722325" y="1689100"/>
                </a:lnTo>
                <a:lnTo>
                  <a:pt x="6727355" y="1701800"/>
                </a:lnTo>
                <a:lnTo>
                  <a:pt x="6732041" y="1714500"/>
                </a:lnTo>
                <a:close/>
              </a:path>
              <a:path w="6759575" h="2362200">
                <a:moveTo>
                  <a:pt x="2130247" y="1727200"/>
                </a:moveTo>
                <a:lnTo>
                  <a:pt x="2117852" y="1727200"/>
                </a:lnTo>
                <a:lnTo>
                  <a:pt x="2121992" y="1714500"/>
                </a:lnTo>
                <a:lnTo>
                  <a:pt x="2134692" y="1714500"/>
                </a:lnTo>
                <a:lnTo>
                  <a:pt x="2130247" y="1727200"/>
                </a:lnTo>
                <a:close/>
              </a:path>
              <a:path w="6759575" h="2362200">
                <a:moveTo>
                  <a:pt x="6740347" y="1727200"/>
                </a:moveTo>
                <a:lnTo>
                  <a:pt x="6731952" y="1727200"/>
                </a:lnTo>
                <a:lnTo>
                  <a:pt x="6728079" y="1714500"/>
                </a:lnTo>
                <a:lnTo>
                  <a:pt x="6736372" y="1714500"/>
                </a:lnTo>
                <a:lnTo>
                  <a:pt x="6740347" y="1727200"/>
                </a:lnTo>
                <a:close/>
              </a:path>
              <a:path w="6759575" h="2362200">
                <a:moveTo>
                  <a:pt x="2116962" y="1752600"/>
                </a:moveTo>
                <a:lnTo>
                  <a:pt x="2107971" y="1752600"/>
                </a:lnTo>
                <a:lnTo>
                  <a:pt x="2110841" y="1739900"/>
                </a:lnTo>
                <a:lnTo>
                  <a:pt x="2114130" y="1727200"/>
                </a:lnTo>
                <a:lnTo>
                  <a:pt x="2126399" y="1727200"/>
                </a:lnTo>
                <a:lnTo>
                  <a:pt x="2122779" y="1739900"/>
                </a:lnTo>
                <a:lnTo>
                  <a:pt x="2119744" y="1739900"/>
                </a:lnTo>
                <a:lnTo>
                  <a:pt x="2116962" y="1752600"/>
                </a:lnTo>
                <a:close/>
              </a:path>
              <a:path w="6759575" h="2362200">
                <a:moveTo>
                  <a:pt x="6747192" y="1739900"/>
                </a:moveTo>
                <a:lnTo>
                  <a:pt x="6735381" y="1739900"/>
                </a:lnTo>
                <a:lnTo>
                  <a:pt x="6731863" y="1727200"/>
                </a:lnTo>
                <a:lnTo>
                  <a:pt x="6743954" y="1727200"/>
                </a:lnTo>
                <a:lnTo>
                  <a:pt x="6747192" y="1739900"/>
                </a:lnTo>
                <a:close/>
              </a:path>
              <a:path w="6759575" h="2362200">
                <a:moveTo>
                  <a:pt x="6754698" y="1765300"/>
                </a:moveTo>
                <a:lnTo>
                  <a:pt x="6745503" y="1765300"/>
                </a:lnTo>
                <a:lnTo>
                  <a:pt x="6743446" y="1752600"/>
                </a:lnTo>
                <a:lnTo>
                  <a:pt x="6741160" y="1752600"/>
                </a:lnTo>
                <a:lnTo>
                  <a:pt x="6738366" y="1739900"/>
                </a:lnTo>
                <a:lnTo>
                  <a:pt x="6750062" y="1739900"/>
                </a:lnTo>
                <a:lnTo>
                  <a:pt x="6752564" y="1752600"/>
                </a:lnTo>
                <a:lnTo>
                  <a:pt x="6754698" y="1765300"/>
                </a:lnTo>
                <a:close/>
              </a:path>
              <a:path w="6759575" h="2362200">
                <a:moveTo>
                  <a:pt x="2111324" y="1778000"/>
                </a:moveTo>
                <a:lnTo>
                  <a:pt x="2101964" y="1778000"/>
                </a:lnTo>
                <a:lnTo>
                  <a:pt x="2103526" y="1765300"/>
                </a:lnTo>
                <a:lnTo>
                  <a:pt x="2105533" y="1752600"/>
                </a:lnTo>
                <a:lnTo>
                  <a:pt x="2117039" y="1752600"/>
                </a:lnTo>
                <a:lnTo>
                  <a:pt x="2114664" y="1765300"/>
                </a:lnTo>
                <a:lnTo>
                  <a:pt x="2112848" y="1765300"/>
                </a:lnTo>
                <a:lnTo>
                  <a:pt x="2111324" y="1778000"/>
                </a:lnTo>
                <a:close/>
              </a:path>
              <a:path w="6759575" h="2362200">
                <a:moveTo>
                  <a:pt x="6757809" y="1778000"/>
                </a:moveTo>
                <a:lnTo>
                  <a:pt x="6748411" y="1778000"/>
                </a:lnTo>
                <a:lnTo>
                  <a:pt x="6747090" y="1765300"/>
                </a:lnTo>
                <a:lnTo>
                  <a:pt x="6756438" y="1765300"/>
                </a:lnTo>
                <a:lnTo>
                  <a:pt x="6757809" y="1778000"/>
                </a:lnTo>
                <a:close/>
              </a:path>
              <a:path w="6759575" h="2362200">
                <a:moveTo>
                  <a:pt x="2109457" y="1803400"/>
                </a:moveTo>
                <a:lnTo>
                  <a:pt x="2099932" y="1803400"/>
                </a:lnTo>
                <a:lnTo>
                  <a:pt x="2100160" y="1790700"/>
                </a:lnTo>
                <a:lnTo>
                  <a:pt x="2100834" y="1778000"/>
                </a:lnTo>
                <a:lnTo>
                  <a:pt x="2110320" y="1778000"/>
                </a:lnTo>
                <a:lnTo>
                  <a:pt x="2109660" y="1790700"/>
                </a:lnTo>
                <a:lnTo>
                  <a:pt x="2109457" y="1803400"/>
                </a:lnTo>
                <a:close/>
              </a:path>
              <a:path w="6759575" h="2362200">
                <a:moveTo>
                  <a:pt x="6759562" y="1803400"/>
                </a:moveTo>
                <a:lnTo>
                  <a:pt x="6750037" y="1803400"/>
                </a:lnTo>
                <a:lnTo>
                  <a:pt x="6749846" y="1790700"/>
                </a:lnTo>
                <a:lnTo>
                  <a:pt x="6749300" y="1778000"/>
                </a:lnTo>
                <a:lnTo>
                  <a:pt x="6758774" y="1778000"/>
                </a:lnTo>
                <a:lnTo>
                  <a:pt x="6759371" y="1790700"/>
                </a:lnTo>
                <a:lnTo>
                  <a:pt x="6759562" y="1803400"/>
                </a:lnTo>
                <a:close/>
              </a:path>
              <a:path w="6759575" h="2362200">
                <a:moveTo>
                  <a:pt x="2110206" y="1816100"/>
                </a:moveTo>
                <a:lnTo>
                  <a:pt x="2100719" y="1816100"/>
                </a:lnTo>
                <a:lnTo>
                  <a:pt x="2100135" y="1803400"/>
                </a:lnTo>
                <a:lnTo>
                  <a:pt x="2109635" y="1803400"/>
                </a:lnTo>
                <a:lnTo>
                  <a:pt x="2110206" y="1816100"/>
                </a:lnTo>
                <a:close/>
              </a:path>
              <a:path w="6759575" h="2362200">
                <a:moveTo>
                  <a:pt x="6758774" y="1816100"/>
                </a:moveTo>
                <a:lnTo>
                  <a:pt x="6749300" y="1816100"/>
                </a:lnTo>
                <a:lnTo>
                  <a:pt x="6749859" y="1803400"/>
                </a:lnTo>
                <a:lnTo>
                  <a:pt x="6759371" y="1803400"/>
                </a:lnTo>
                <a:lnTo>
                  <a:pt x="6758774" y="1816100"/>
                </a:lnTo>
                <a:close/>
              </a:path>
              <a:path w="6759575" h="2362200">
                <a:moveTo>
                  <a:pt x="2112403" y="1828800"/>
                </a:moveTo>
                <a:lnTo>
                  <a:pt x="2103056" y="1828800"/>
                </a:lnTo>
                <a:lnTo>
                  <a:pt x="2101697" y="1816100"/>
                </a:lnTo>
                <a:lnTo>
                  <a:pt x="2111082" y="1816100"/>
                </a:lnTo>
                <a:lnTo>
                  <a:pt x="2112403" y="1828800"/>
                </a:lnTo>
                <a:close/>
              </a:path>
              <a:path w="6759575" h="2362200">
                <a:moveTo>
                  <a:pt x="6756438" y="1828800"/>
                </a:moveTo>
                <a:lnTo>
                  <a:pt x="6747090" y="1828800"/>
                </a:lnTo>
                <a:lnTo>
                  <a:pt x="6748411" y="1816100"/>
                </a:lnTo>
                <a:lnTo>
                  <a:pt x="6757809" y="1816100"/>
                </a:lnTo>
                <a:lnTo>
                  <a:pt x="6756438" y="1828800"/>
                </a:lnTo>
                <a:close/>
              </a:path>
              <a:path w="6759575" h="2362200">
                <a:moveTo>
                  <a:pt x="2121141" y="1854200"/>
                </a:moveTo>
                <a:lnTo>
                  <a:pt x="2109431" y="1854200"/>
                </a:lnTo>
                <a:lnTo>
                  <a:pt x="2106930" y="1841500"/>
                </a:lnTo>
                <a:lnTo>
                  <a:pt x="2104809" y="1828800"/>
                </a:lnTo>
                <a:lnTo>
                  <a:pt x="2113991" y="1828800"/>
                </a:lnTo>
                <a:lnTo>
                  <a:pt x="2116048" y="1841500"/>
                </a:lnTo>
                <a:lnTo>
                  <a:pt x="2118334" y="1841500"/>
                </a:lnTo>
                <a:lnTo>
                  <a:pt x="2121141" y="1854200"/>
                </a:lnTo>
                <a:close/>
              </a:path>
              <a:path w="6759575" h="2362200">
                <a:moveTo>
                  <a:pt x="6750062" y="1854200"/>
                </a:moveTo>
                <a:lnTo>
                  <a:pt x="6738366" y="1854200"/>
                </a:lnTo>
                <a:lnTo>
                  <a:pt x="6741160" y="1841500"/>
                </a:lnTo>
                <a:lnTo>
                  <a:pt x="6743446" y="1841500"/>
                </a:lnTo>
                <a:lnTo>
                  <a:pt x="6745503" y="1828800"/>
                </a:lnTo>
                <a:lnTo>
                  <a:pt x="6754698" y="1828800"/>
                </a:lnTo>
                <a:lnTo>
                  <a:pt x="6752564" y="1841500"/>
                </a:lnTo>
                <a:lnTo>
                  <a:pt x="6750062" y="1854200"/>
                </a:lnTo>
                <a:close/>
              </a:path>
              <a:path w="6759575" h="2362200">
                <a:moveTo>
                  <a:pt x="2127643" y="1866900"/>
                </a:moveTo>
                <a:lnTo>
                  <a:pt x="2115553" y="1866900"/>
                </a:lnTo>
                <a:lnTo>
                  <a:pt x="2112302" y="1854200"/>
                </a:lnTo>
                <a:lnTo>
                  <a:pt x="2124125" y="1854200"/>
                </a:lnTo>
                <a:lnTo>
                  <a:pt x="2127643" y="1866900"/>
                </a:lnTo>
                <a:close/>
              </a:path>
              <a:path w="6759575" h="2362200">
                <a:moveTo>
                  <a:pt x="6743954" y="1866900"/>
                </a:moveTo>
                <a:lnTo>
                  <a:pt x="6731863" y="1866900"/>
                </a:lnTo>
                <a:lnTo>
                  <a:pt x="6735381" y="1854200"/>
                </a:lnTo>
                <a:lnTo>
                  <a:pt x="6747192" y="1854200"/>
                </a:lnTo>
                <a:lnTo>
                  <a:pt x="6743954" y="1866900"/>
                </a:lnTo>
                <a:close/>
              </a:path>
              <a:path w="6759575" h="2362200">
                <a:moveTo>
                  <a:pt x="2131428" y="1879600"/>
                </a:moveTo>
                <a:lnTo>
                  <a:pt x="2123122" y="1879600"/>
                </a:lnTo>
                <a:lnTo>
                  <a:pt x="2119160" y="1866900"/>
                </a:lnTo>
                <a:lnTo>
                  <a:pt x="2127554" y="1866900"/>
                </a:lnTo>
                <a:lnTo>
                  <a:pt x="2131428" y="1879600"/>
                </a:lnTo>
                <a:close/>
              </a:path>
              <a:path w="6759575" h="2362200">
                <a:moveTo>
                  <a:pt x="6736372" y="1879600"/>
                </a:moveTo>
                <a:lnTo>
                  <a:pt x="6728079" y="1879600"/>
                </a:lnTo>
                <a:lnTo>
                  <a:pt x="6731952" y="1866900"/>
                </a:lnTo>
                <a:lnTo>
                  <a:pt x="6740347" y="1866900"/>
                </a:lnTo>
                <a:lnTo>
                  <a:pt x="6736372" y="1879600"/>
                </a:lnTo>
                <a:close/>
              </a:path>
              <a:path w="6759575" h="2362200">
                <a:moveTo>
                  <a:pt x="2150084" y="1905000"/>
                </a:moveTo>
                <a:lnTo>
                  <a:pt x="2137181" y="1905000"/>
                </a:lnTo>
                <a:lnTo>
                  <a:pt x="2132139" y="1892300"/>
                </a:lnTo>
                <a:lnTo>
                  <a:pt x="2127453" y="1879600"/>
                </a:lnTo>
                <a:lnTo>
                  <a:pt x="2135466" y="1879600"/>
                </a:lnTo>
                <a:lnTo>
                  <a:pt x="2140051" y="1892300"/>
                </a:lnTo>
                <a:lnTo>
                  <a:pt x="2144801" y="1892300"/>
                </a:lnTo>
                <a:lnTo>
                  <a:pt x="2150084" y="1905000"/>
                </a:lnTo>
                <a:close/>
              </a:path>
              <a:path w="6759575" h="2362200">
                <a:moveTo>
                  <a:pt x="6722325" y="1905000"/>
                </a:moveTo>
                <a:lnTo>
                  <a:pt x="6709410" y="1905000"/>
                </a:lnTo>
                <a:lnTo>
                  <a:pt x="6714705" y="1892300"/>
                </a:lnTo>
                <a:lnTo>
                  <a:pt x="6719443" y="1892300"/>
                </a:lnTo>
                <a:lnTo>
                  <a:pt x="6724027" y="1879600"/>
                </a:lnTo>
                <a:lnTo>
                  <a:pt x="6732041" y="1879600"/>
                </a:lnTo>
                <a:lnTo>
                  <a:pt x="6727355" y="1892300"/>
                </a:lnTo>
                <a:lnTo>
                  <a:pt x="6722325" y="1905000"/>
                </a:lnTo>
                <a:close/>
              </a:path>
              <a:path w="6759575" h="2362200">
                <a:moveTo>
                  <a:pt x="2161501" y="1917700"/>
                </a:moveTo>
                <a:lnTo>
                  <a:pt x="2148293" y="1917700"/>
                </a:lnTo>
                <a:lnTo>
                  <a:pt x="2142566" y="1905000"/>
                </a:lnTo>
                <a:lnTo>
                  <a:pt x="2155532" y="1905000"/>
                </a:lnTo>
                <a:lnTo>
                  <a:pt x="2161501" y="1917700"/>
                </a:lnTo>
                <a:close/>
              </a:path>
              <a:path w="6759575" h="2362200">
                <a:moveTo>
                  <a:pt x="6711213" y="1917700"/>
                </a:moveTo>
                <a:lnTo>
                  <a:pt x="6697992" y="1917700"/>
                </a:lnTo>
                <a:lnTo>
                  <a:pt x="6703974" y="1905000"/>
                </a:lnTo>
                <a:lnTo>
                  <a:pt x="6716941" y="1905000"/>
                </a:lnTo>
                <a:lnTo>
                  <a:pt x="6711213" y="1917700"/>
                </a:lnTo>
                <a:close/>
              </a:path>
              <a:path w="6759575" h="2362200">
                <a:moveTo>
                  <a:pt x="2174303" y="1930400"/>
                </a:moveTo>
                <a:lnTo>
                  <a:pt x="2160778" y="1930400"/>
                </a:lnTo>
                <a:lnTo>
                  <a:pt x="2154364" y="1917700"/>
                </a:lnTo>
                <a:lnTo>
                  <a:pt x="2167635" y="1917700"/>
                </a:lnTo>
                <a:lnTo>
                  <a:pt x="2174303" y="1930400"/>
                </a:lnTo>
                <a:close/>
              </a:path>
              <a:path w="6759575" h="2362200">
                <a:moveTo>
                  <a:pt x="6698716" y="1930400"/>
                </a:moveTo>
                <a:lnTo>
                  <a:pt x="6685203" y="1930400"/>
                </a:lnTo>
                <a:lnTo>
                  <a:pt x="6691858" y="1917700"/>
                </a:lnTo>
                <a:lnTo>
                  <a:pt x="6705130" y="1917700"/>
                </a:lnTo>
                <a:lnTo>
                  <a:pt x="6698716" y="1930400"/>
                </a:lnTo>
                <a:close/>
              </a:path>
              <a:path w="6759575" h="2362200">
                <a:moveTo>
                  <a:pt x="2188451" y="1943100"/>
                </a:moveTo>
                <a:lnTo>
                  <a:pt x="2174633" y="1943100"/>
                </a:lnTo>
                <a:lnTo>
                  <a:pt x="2167534" y="1930400"/>
                </a:lnTo>
                <a:lnTo>
                  <a:pt x="2181123" y="1930400"/>
                </a:lnTo>
                <a:lnTo>
                  <a:pt x="2188451" y="1943100"/>
                </a:lnTo>
                <a:close/>
              </a:path>
              <a:path w="6759575" h="2362200">
                <a:moveTo>
                  <a:pt x="6684873" y="1943100"/>
                </a:moveTo>
                <a:lnTo>
                  <a:pt x="6671043" y="1943100"/>
                </a:lnTo>
                <a:lnTo>
                  <a:pt x="6678383" y="1930400"/>
                </a:lnTo>
                <a:lnTo>
                  <a:pt x="6691960" y="1930400"/>
                </a:lnTo>
                <a:lnTo>
                  <a:pt x="6684873" y="1943100"/>
                </a:lnTo>
                <a:close/>
              </a:path>
              <a:path w="6759575" h="2362200">
                <a:moveTo>
                  <a:pt x="2203945" y="1955800"/>
                </a:moveTo>
                <a:lnTo>
                  <a:pt x="2189810" y="1955800"/>
                </a:lnTo>
                <a:lnTo>
                  <a:pt x="2182050" y="1943100"/>
                </a:lnTo>
                <a:lnTo>
                  <a:pt x="2195957" y="1943100"/>
                </a:lnTo>
                <a:lnTo>
                  <a:pt x="2203945" y="1955800"/>
                </a:lnTo>
                <a:close/>
              </a:path>
              <a:path w="6759575" h="2362200">
                <a:moveTo>
                  <a:pt x="6669697" y="1955800"/>
                </a:moveTo>
                <a:lnTo>
                  <a:pt x="6655549" y="1955800"/>
                </a:lnTo>
                <a:lnTo>
                  <a:pt x="6663550" y="1943100"/>
                </a:lnTo>
                <a:lnTo>
                  <a:pt x="6677444" y="1943100"/>
                </a:lnTo>
                <a:lnTo>
                  <a:pt x="6669697" y="1955800"/>
                </a:lnTo>
                <a:close/>
              </a:path>
              <a:path w="6759575" h="2362200">
                <a:moveTo>
                  <a:pt x="2238895" y="1981200"/>
                </a:moveTo>
                <a:lnTo>
                  <a:pt x="2215032" y="1981200"/>
                </a:lnTo>
                <a:lnTo>
                  <a:pt x="2206294" y="1968500"/>
                </a:lnTo>
                <a:lnTo>
                  <a:pt x="2197887" y="1955800"/>
                </a:lnTo>
                <a:lnTo>
                  <a:pt x="2212111" y="1955800"/>
                </a:lnTo>
                <a:lnTo>
                  <a:pt x="2220772" y="1968500"/>
                </a:lnTo>
                <a:lnTo>
                  <a:pt x="2229599" y="1968500"/>
                </a:lnTo>
                <a:lnTo>
                  <a:pt x="2238895" y="1981200"/>
                </a:lnTo>
                <a:close/>
              </a:path>
              <a:path w="6759575" h="2362200">
                <a:moveTo>
                  <a:pt x="6644474" y="1981200"/>
                </a:moveTo>
                <a:lnTo>
                  <a:pt x="6620598" y="1981200"/>
                </a:lnTo>
                <a:lnTo>
                  <a:pt x="6629895" y="1968500"/>
                </a:lnTo>
                <a:lnTo>
                  <a:pt x="6638721" y="1968500"/>
                </a:lnTo>
                <a:lnTo>
                  <a:pt x="6647383" y="1955800"/>
                </a:lnTo>
                <a:lnTo>
                  <a:pt x="6661607" y="1955800"/>
                </a:lnTo>
                <a:lnTo>
                  <a:pt x="6653199" y="1968500"/>
                </a:lnTo>
                <a:lnTo>
                  <a:pt x="6644474" y="1981200"/>
                </a:lnTo>
                <a:close/>
              </a:path>
              <a:path w="6759575" h="2362200">
                <a:moveTo>
                  <a:pt x="2258314" y="1993900"/>
                </a:moveTo>
                <a:lnTo>
                  <a:pt x="2233460" y="1993900"/>
                </a:lnTo>
                <a:lnTo>
                  <a:pt x="2224087" y="1981200"/>
                </a:lnTo>
                <a:lnTo>
                  <a:pt x="2248382" y="1981200"/>
                </a:lnTo>
                <a:lnTo>
                  <a:pt x="2258314" y="1993900"/>
                </a:lnTo>
                <a:close/>
              </a:path>
              <a:path w="6759575" h="2362200">
                <a:moveTo>
                  <a:pt x="6626047" y="1993900"/>
                </a:moveTo>
                <a:lnTo>
                  <a:pt x="6601180" y="1993900"/>
                </a:lnTo>
                <a:lnTo>
                  <a:pt x="6611124" y="1981200"/>
                </a:lnTo>
                <a:lnTo>
                  <a:pt x="6635419" y="1981200"/>
                </a:lnTo>
                <a:lnTo>
                  <a:pt x="6626047" y="1993900"/>
                </a:lnTo>
                <a:close/>
              </a:path>
              <a:path w="6759575" h="2362200">
                <a:moveTo>
                  <a:pt x="2279002" y="2006600"/>
                </a:moveTo>
                <a:lnTo>
                  <a:pt x="2253157" y="2006600"/>
                </a:lnTo>
                <a:lnTo>
                  <a:pt x="2243150" y="1993900"/>
                </a:lnTo>
                <a:lnTo>
                  <a:pt x="2268435" y="1993900"/>
                </a:lnTo>
                <a:lnTo>
                  <a:pt x="2279002" y="2006600"/>
                </a:lnTo>
                <a:close/>
              </a:path>
              <a:path w="6759575" h="2362200">
                <a:moveTo>
                  <a:pt x="6606349" y="2006600"/>
                </a:moveTo>
                <a:lnTo>
                  <a:pt x="6580505" y="2006600"/>
                </a:lnTo>
                <a:lnTo>
                  <a:pt x="6591058" y="1993900"/>
                </a:lnTo>
                <a:lnTo>
                  <a:pt x="6616344" y="1993900"/>
                </a:lnTo>
                <a:lnTo>
                  <a:pt x="6606349" y="2006600"/>
                </a:lnTo>
                <a:close/>
              </a:path>
              <a:path w="6759575" h="2362200">
                <a:moveTo>
                  <a:pt x="2300935" y="2019300"/>
                </a:moveTo>
                <a:lnTo>
                  <a:pt x="2274100" y="2019300"/>
                </a:lnTo>
                <a:lnTo>
                  <a:pt x="2263470" y="2006600"/>
                </a:lnTo>
                <a:lnTo>
                  <a:pt x="2289746" y="2006600"/>
                </a:lnTo>
                <a:lnTo>
                  <a:pt x="2300935" y="2019300"/>
                </a:lnTo>
                <a:close/>
              </a:path>
              <a:path w="6759575" h="2362200">
                <a:moveTo>
                  <a:pt x="6585394" y="2019300"/>
                </a:moveTo>
                <a:lnTo>
                  <a:pt x="6558559" y="2019300"/>
                </a:lnTo>
                <a:lnTo>
                  <a:pt x="6569748" y="2006600"/>
                </a:lnTo>
                <a:lnTo>
                  <a:pt x="6596024" y="2006600"/>
                </a:lnTo>
                <a:lnTo>
                  <a:pt x="6585394" y="2019300"/>
                </a:lnTo>
                <a:close/>
              </a:path>
              <a:path w="6759575" h="2362200">
                <a:moveTo>
                  <a:pt x="2324099" y="2032000"/>
                </a:moveTo>
                <a:lnTo>
                  <a:pt x="2296286" y="2032000"/>
                </a:lnTo>
                <a:lnTo>
                  <a:pt x="2285047" y="2019300"/>
                </a:lnTo>
                <a:lnTo>
                  <a:pt x="2312314" y="2019300"/>
                </a:lnTo>
                <a:lnTo>
                  <a:pt x="2324099" y="2032000"/>
                </a:lnTo>
                <a:close/>
              </a:path>
              <a:path w="6759575" h="2362200">
                <a:moveTo>
                  <a:pt x="6563220" y="2032000"/>
                </a:moveTo>
                <a:lnTo>
                  <a:pt x="6535394" y="2032000"/>
                </a:lnTo>
                <a:lnTo>
                  <a:pt x="6547192" y="2019300"/>
                </a:lnTo>
                <a:lnTo>
                  <a:pt x="6574459" y="2019300"/>
                </a:lnTo>
                <a:lnTo>
                  <a:pt x="6563220" y="2032000"/>
                </a:lnTo>
                <a:close/>
              </a:path>
              <a:path w="6759575" h="2362200">
                <a:moveTo>
                  <a:pt x="2348484" y="2044700"/>
                </a:moveTo>
                <a:lnTo>
                  <a:pt x="2319680" y="2044700"/>
                </a:lnTo>
                <a:lnTo>
                  <a:pt x="2307831" y="2032000"/>
                </a:lnTo>
                <a:lnTo>
                  <a:pt x="2336088" y="2032000"/>
                </a:lnTo>
                <a:lnTo>
                  <a:pt x="2348484" y="2044700"/>
                </a:lnTo>
                <a:close/>
              </a:path>
              <a:path w="6759575" h="2362200">
                <a:moveTo>
                  <a:pt x="6539814" y="2044700"/>
                </a:moveTo>
                <a:lnTo>
                  <a:pt x="6511023" y="2044700"/>
                </a:lnTo>
                <a:lnTo>
                  <a:pt x="6523405" y="2032000"/>
                </a:lnTo>
                <a:lnTo>
                  <a:pt x="6551663" y="2032000"/>
                </a:lnTo>
                <a:lnTo>
                  <a:pt x="6539814" y="2044700"/>
                </a:lnTo>
                <a:close/>
              </a:path>
              <a:path w="6759575" h="2362200">
                <a:moveTo>
                  <a:pt x="2374061" y="2057400"/>
                </a:moveTo>
                <a:lnTo>
                  <a:pt x="2344280" y="2057400"/>
                </a:lnTo>
                <a:lnTo>
                  <a:pt x="2331834" y="2044700"/>
                </a:lnTo>
                <a:lnTo>
                  <a:pt x="2361069" y="2044700"/>
                </a:lnTo>
                <a:lnTo>
                  <a:pt x="2374061" y="2057400"/>
                </a:lnTo>
                <a:close/>
              </a:path>
              <a:path w="6759575" h="2362200">
                <a:moveTo>
                  <a:pt x="6515227" y="2057400"/>
                </a:moveTo>
                <a:lnTo>
                  <a:pt x="6485445" y="2057400"/>
                </a:lnTo>
                <a:lnTo>
                  <a:pt x="6498424" y="2044700"/>
                </a:lnTo>
                <a:lnTo>
                  <a:pt x="6527673" y="2044700"/>
                </a:lnTo>
                <a:lnTo>
                  <a:pt x="6515227" y="2057400"/>
                </a:lnTo>
                <a:close/>
              </a:path>
              <a:path w="6759575" h="2362200">
                <a:moveTo>
                  <a:pt x="2414638" y="2070100"/>
                </a:moveTo>
                <a:lnTo>
                  <a:pt x="2370048" y="2070100"/>
                </a:lnTo>
                <a:lnTo>
                  <a:pt x="2357018" y="2057400"/>
                </a:lnTo>
                <a:lnTo>
                  <a:pt x="2387219" y="2057400"/>
                </a:lnTo>
                <a:lnTo>
                  <a:pt x="2414638" y="2070100"/>
                </a:lnTo>
                <a:close/>
              </a:path>
              <a:path w="6759575" h="2362200">
                <a:moveTo>
                  <a:pt x="6489446" y="2070100"/>
                </a:moveTo>
                <a:lnTo>
                  <a:pt x="6444869" y="2070100"/>
                </a:lnTo>
                <a:lnTo>
                  <a:pt x="6472288" y="2057400"/>
                </a:lnTo>
                <a:lnTo>
                  <a:pt x="6502476" y="2057400"/>
                </a:lnTo>
                <a:lnTo>
                  <a:pt x="6489446" y="2070100"/>
                </a:lnTo>
                <a:close/>
              </a:path>
              <a:path w="6759575" h="2362200">
                <a:moveTo>
                  <a:pt x="2568105" y="2133600"/>
                </a:moveTo>
                <a:lnTo>
                  <a:pt x="2532113" y="2133600"/>
                </a:lnTo>
                <a:lnTo>
                  <a:pt x="2500172" y="2120900"/>
                </a:lnTo>
                <a:lnTo>
                  <a:pt x="2469299" y="2108200"/>
                </a:lnTo>
                <a:lnTo>
                  <a:pt x="2439530" y="2095500"/>
                </a:lnTo>
                <a:lnTo>
                  <a:pt x="2410891" y="2082800"/>
                </a:lnTo>
                <a:lnTo>
                  <a:pt x="2383383" y="2070100"/>
                </a:lnTo>
                <a:lnTo>
                  <a:pt x="2414549" y="2070100"/>
                </a:lnTo>
                <a:lnTo>
                  <a:pt x="2443111" y="2082800"/>
                </a:lnTo>
                <a:lnTo>
                  <a:pt x="2472715" y="2095500"/>
                </a:lnTo>
                <a:lnTo>
                  <a:pt x="2503423" y="2108200"/>
                </a:lnTo>
                <a:lnTo>
                  <a:pt x="2535224" y="2120900"/>
                </a:lnTo>
                <a:lnTo>
                  <a:pt x="2568105" y="2133600"/>
                </a:lnTo>
                <a:close/>
              </a:path>
              <a:path w="6759575" h="2362200">
                <a:moveTo>
                  <a:pt x="6327381" y="2133600"/>
                </a:moveTo>
                <a:lnTo>
                  <a:pt x="6291389" y="2133600"/>
                </a:lnTo>
                <a:lnTo>
                  <a:pt x="6324333" y="2120900"/>
                </a:lnTo>
                <a:lnTo>
                  <a:pt x="6356146" y="2108200"/>
                </a:lnTo>
                <a:lnTo>
                  <a:pt x="6386868" y="2095500"/>
                </a:lnTo>
                <a:lnTo>
                  <a:pt x="6416471" y="2082800"/>
                </a:lnTo>
                <a:lnTo>
                  <a:pt x="6444945" y="2070100"/>
                </a:lnTo>
                <a:lnTo>
                  <a:pt x="6476111" y="2070100"/>
                </a:lnTo>
                <a:lnTo>
                  <a:pt x="6448615" y="2082800"/>
                </a:lnTo>
                <a:lnTo>
                  <a:pt x="6419964" y="2095500"/>
                </a:lnTo>
                <a:lnTo>
                  <a:pt x="6390195" y="2108200"/>
                </a:lnTo>
                <a:lnTo>
                  <a:pt x="6359334" y="2120900"/>
                </a:lnTo>
                <a:lnTo>
                  <a:pt x="6327381" y="2133600"/>
                </a:lnTo>
                <a:close/>
              </a:path>
              <a:path w="6759575" h="2362200">
                <a:moveTo>
                  <a:pt x="2786837" y="2197100"/>
                </a:moveTo>
                <a:lnTo>
                  <a:pt x="2745536" y="2197100"/>
                </a:lnTo>
                <a:lnTo>
                  <a:pt x="2707474" y="2184400"/>
                </a:lnTo>
                <a:lnTo>
                  <a:pt x="2634284" y="2159000"/>
                </a:lnTo>
                <a:lnTo>
                  <a:pt x="2599194" y="2146300"/>
                </a:lnTo>
                <a:lnTo>
                  <a:pt x="2565133" y="2133600"/>
                </a:lnTo>
                <a:lnTo>
                  <a:pt x="2568041" y="2133600"/>
                </a:lnTo>
                <a:lnTo>
                  <a:pt x="2602039" y="2146300"/>
                </a:lnTo>
                <a:lnTo>
                  <a:pt x="2636939" y="2146300"/>
                </a:lnTo>
                <a:lnTo>
                  <a:pt x="2672981" y="2159000"/>
                </a:lnTo>
                <a:lnTo>
                  <a:pt x="2709964" y="2171700"/>
                </a:lnTo>
                <a:lnTo>
                  <a:pt x="2747924" y="2184400"/>
                </a:lnTo>
                <a:lnTo>
                  <a:pt x="2786837" y="2197100"/>
                </a:lnTo>
                <a:close/>
              </a:path>
              <a:path w="6759575" h="2362200">
                <a:moveTo>
                  <a:pt x="6113957" y="2197100"/>
                </a:moveTo>
                <a:lnTo>
                  <a:pt x="6072657" y="2197100"/>
                </a:lnTo>
                <a:lnTo>
                  <a:pt x="6111633" y="2184400"/>
                </a:lnTo>
                <a:lnTo>
                  <a:pt x="6149594" y="2171700"/>
                </a:lnTo>
                <a:lnTo>
                  <a:pt x="6186576" y="2159000"/>
                </a:lnTo>
                <a:lnTo>
                  <a:pt x="6222555" y="2146300"/>
                </a:lnTo>
                <a:lnTo>
                  <a:pt x="6257467" y="2146300"/>
                </a:lnTo>
                <a:lnTo>
                  <a:pt x="6291453" y="2133600"/>
                </a:lnTo>
                <a:lnTo>
                  <a:pt x="6294361" y="2133600"/>
                </a:lnTo>
                <a:lnTo>
                  <a:pt x="6260299" y="2146300"/>
                </a:lnTo>
                <a:lnTo>
                  <a:pt x="6225222" y="2159000"/>
                </a:lnTo>
                <a:lnTo>
                  <a:pt x="6152019" y="2184400"/>
                </a:lnTo>
                <a:lnTo>
                  <a:pt x="6113957" y="2197100"/>
                </a:lnTo>
                <a:close/>
              </a:path>
              <a:path w="6759575" h="2362200">
                <a:moveTo>
                  <a:pt x="2909176" y="2222500"/>
                </a:moveTo>
                <a:lnTo>
                  <a:pt x="2865412" y="2222500"/>
                </a:lnTo>
                <a:lnTo>
                  <a:pt x="2784563" y="2197100"/>
                </a:lnTo>
                <a:lnTo>
                  <a:pt x="2826651" y="2197100"/>
                </a:lnTo>
                <a:lnTo>
                  <a:pt x="2867482" y="2209800"/>
                </a:lnTo>
                <a:lnTo>
                  <a:pt x="2909176" y="2222500"/>
                </a:lnTo>
                <a:close/>
              </a:path>
              <a:path w="6759575" h="2362200">
                <a:moveTo>
                  <a:pt x="5994082" y="2222500"/>
                </a:moveTo>
                <a:lnTo>
                  <a:pt x="5950318" y="2222500"/>
                </a:lnTo>
                <a:lnTo>
                  <a:pt x="5992063" y="2209800"/>
                </a:lnTo>
                <a:lnTo>
                  <a:pt x="6032842" y="2197100"/>
                </a:lnTo>
                <a:lnTo>
                  <a:pt x="6074930" y="2197100"/>
                </a:lnTo>
                <a:lnTo>
                  <a:pt x="5994082" y="2222500"/>
                </a:lnTo>
                <a:close/>
              </a:path>
              <a:path w="6759575" h="2362200">
                <a:moveTo>
                  <a:pt x="3039503" y="2247900"/>
                </a:moveTo>
                <a:lnTo>
                  <a:pt x="2993402" y="2247900"/>
                </a:lnTo>
                <a:lnTo>
                  <a:pt x="2907195" y="2222500"/>
                </a:lnTo>
                <a:lnTo>
                  <a:pt x="2951708" y="2222500"/>
                </a:lnTo>
                <a:lnTo>
                  <a:pt x="2995206" y="2235200"/>
                </a:lnTo>
                <a:lnTo>
                  <a:pt x="3039503" y="2247900"/>
                </a:lnTo>
                <a:close/>
              </a:path>
              <a:path w="6759575" h="2362200">
                <a:moveTo>
                  <a:pt x="5866104" y="2247900"/>
                </a:moveTo>
                <a:lnTo>
                  <a:pt x="5819990" y="2247900"/>
                </a:lnTo>
                <a:lnTo>
                  <a:pt x="5864339" y="2235200"/>
                </a:lnTo>
                <a:lnTo>
                  <a:pt x="5907786" y="2222500"/>
                </a:lnTo>
                <a:lnTo>
                  <a:pt x="5952299" y="2222500"/>
                </a:lnTo>
                <a:lnTo>
                  <a:pt x="5866104" y="2247900"/>
                </a:lnTo>
                <a:close/>
              </a:path>
              <a:path w="6759575" h="2362200">
                <a:moveTo>
                  <a:pt x="3177324" y="2273300"/>
                </a:moveTo>
                <a:lnTo>
                  <a:pt x="3129025" y="2273300"/>
                </a:lnTo>
                <a:lnTo>
                  <a:pt x="3037789" y="2247900"/>
                </a:lnTo>
                <a:lnTo>
                  <a:pt x="3084601" y="2247900"/>
                </a:lnTo>
                <a:lnTo>
                  <a:pt x="3130575" y="2260600"/>
                </a:lnTo>
                <a:lnTo>
                  <a:pt x="3177324" y="2273300"/>
                </a:lnTo>
                <a:close/>
              </a:path>
              <a:path w="6759575" h="2362200">
                <a:moveTo>
                  <a:pt x="5730481" y="2273300"/>
                </a:moveTo>
                <a:lnTo>
                  <a:pt x="5682183" y="2273300"/>
                </a:lnTo>
                <a:lnTo>
                  <a:pt x="5728957" y="2260600"/>
                </a:lnTo>
                <a:lnTo>
                  <a:pt x="5774905" y="2247900"/>
                </a:lnTo>
                <a:lnTo>
                  <a:pt x="5821718" y="2247900"/>
                </a:lnTo>
                <a:lnTo>
                  <a:pt x="5730481" y="2273300"/>
                </a:lnTo>
                <a:close/>
              </a:path>
              <a:path w="6759575" h="2362200">
                <a:moveTo>
                  <a:pt x="3273120" y="2286000"/>
                </a:moveTo>
                <a:lnTo>
                  <a:pt x="3223425" y="2286000"/>
                </a:lnTo>
                <a:lnTo>
                  <a:pt x="3175838" y="2273300"/>
                </a:lnTo>
                <a:lnTo>
                  <a:pt x="3224796" y="2273300"/>
                </a:lnTo>
                <a:lnTo>
                  <a:pt x="3273120" y="2286000"/>
                </a:lnTo>
                <a:close/>
              </a:path>
              <a:path w="6759575" h="2362200">
                <a:moveTo>
                  <a:pt x="5636069" y="2286000"/>
                </a:moveTo>
                <a:lnTo>
                  <a:pt x="5586387" y="2286000"/>
                </a:lnTo>
                <a:lnTo>
                  <a:pt x="5634697" y="2273300"/>
                </a:lnTo>
                <a:lnTo>
                  <a:pt x="5683656" y="2273300"/>
                </a:lnTo>
                <a:lnTo>
                  <a:pt x="5636069" y="2286000"/>
                </a:lnTo>
                <a:close/>
              </a:path>
              <a:path w="6759575" h="2362200">
                <a:moveTo>
                  <a:pt x="3371875" y="2298700"/>
                </a:moveTo>
                <a:lnTo>
                  <a:pt x="3320872" y="2298700"/>
                </a:lnTo>
                <a:lnTo>
                  <a:pt x="3271786" y="2286000"/>
                </a:lnTo>
                <a:lnTo>
                  <a:pt x="3322091" y="2286000"/>
                </a:lnTo>
                <a:lnTo>
                  <a:pt x="3371875" y="2298700"/>
                </a:lnTo>
                <a:close/>
              </a:path>
              <a:path w="6759575" h="2362200">
                <a:moveTo>
                  <a:pt x="5538635" y="2298700"/>
                </a:moveTo>
                <a:lnTo>
                  <a:pt x="5487631" y="2298700"/>
                </a:lnTo>
                <a:lnTo>
                  <a:pt x="5537403" y="2286000"/>
                </a:lnTo>
                <a:lnTo>
                  <a:pt x="5587720" y="2286000"/>
                </a:lnTo>
                <a:lnTo>
                  <a:pt x="5538635" y="2298700"/>
                </a:lnTo>
                <a:close/>
              </a:path>
              <a:path w="6759575" h="2362200">
                <a:moveTo>
                  <a:pt x="3473437" y="2311400"/>
                </a:moveTo>
                <a:lnTo>
                  <a:pt x="3421189" y="2311400"/>
                </a:lnTo>
                <a:lnTo>
                  <a:pt x="3370681" y="2298700"/>
                </a:lnTo>
                <a:lnTo>
                  <a:pt x="3422281" y="2298700"/>
                </a:lnTo>
                <a:lnTo>
                  <a:pt x="3473437" y="2311400"/>
                </a:lnTo>
                <a:close/>
              </a:path>
              <a:path w="6759575" h="2362200">
                <a:moveTo>
                  <a:pt x="5438305" y="2311400"/>
                </a:moveTo>
                <a:lnTo>
                  <a:pt x="5386057" y="2311400"/>
                </a:lnTo>
                <a:lnTo>
                  <a:pt x="5437225" y="2298700"/>
                </a:lnTo>
                <a:lnTo>
                  <a:pt x="5488825" y="2298700"/>
                </a:lnTo>
                <a:lnTo>
                  <a:pt x="5438305" y="2311400"/>
                </a:lnTo>
                <a:close/>
              </a:path>
              <a:path w="6759575" h="2362200">
                <a:moveTo>
                  <a:pt x="3630752" y="2324100"/>
                </a:moveTo>
                <a:lnTo>
                  <a:pt x="3524250" y="2324100"/>
                </a:lnTo>
                <a:lnTo>
                  <a:pt x="3472383" y="2311400"/>
                </a:lnTo>
                <a:lnTo>
                  <a:pt x="3577653" y="2311400"/>
                </a:lnTo>
                <a:lnTo>
                  <a:pt x="3630752" y="2324100"/>
                </a:lnTo>
                <a:close/>
              </a:path>
              <a:path w="6759575" h="2362200">
                <a:moveTo>
                  <a:pt x="5335257" y="2324100"/>
                </a:moveTo>
                <a:lnTo>
                  <a:pt x="5228742" y="2324100"/>
                </a:lnTo>
                <a:lnTo>
                  <a:pt x="5281853" y="2311400"/>
                </a:lnTo>
                <a:lnTo>
                  <a:pt x="5387111" y="2311400"/>
                </a:lnTo>
                <a:lnTo>
                  <a:pt x="5335257" y="2324100"/>
                </a:lnTo>
                <a:close/>
              </a:path>
              <a:path w="6759575" h="2362200">
                <a:moveTo>
                  <a:pt x="3738727" y="2336800"/>
                </a:moveTo>
                <a:lnTo>
                  <a:pt x="3629901" y="2336800"/>
                </a:lnTo>
                <a:lnTo>
                  <a:pt x="3576751" y="2324100"/>
                </a:lnTo>
                <a:lnTo>
                  <a:pt x="3684409" y="2324100"/>
                </a:lnTo>
                <a:lnTo>
                  <a:pt x="3738727" y="2336800"/>
                </a:lnTo>
                <a:close/>
              </a:path>
              <a:path w="6759575" h="2362200">
                <a:moveTo>
                  <a:pt x="5229606" y="2336800"/>
                </a:moveTo>
                <a:lnTo>
                  <a:pt x="5120779" y="2336800"/>
                </a:lnTo>
                <a:lnTo>
                  <a:pt x="5175084" y="2324100"/>
                </a:lnTo>
                <a:lnTo>
                  <a:pt x="5282742" y="2324100"/>
                </a:lnTo>
                <a:lnTo>
                  <a:pt x="5229606" y="2336800"/>
                </a:lnTo>
                <a:close/>
              </a:path>
              <a:path w="6759575" h="2362200">
                <a:moveTo>
                  <a:pt x="3961422" y="2349500"/>
                </a:moveTo>
                <a:lnTo>
                  <a:pt x="3792905" y="2349500"/>
                </a:lnTo>
                <a:lnTo>
                  <a:pt x="3737991" y="2336800"/>
                </a:lnTo>
                <a:lnTo>
                  <a:pt x="3904919" y="2336800"/>
                </a:lnTo>
                <a:lnTo>
                  <a:pt x="3961422" y="2349500"/>
                </a:lnTo>
                <a:close/>
              </a:path>
              <a:path w="6759575" h="2362200">
                <a:moveTo>
                  <a:pt x="5066588" y="2349500"/>
                </a:moveTo>
                <a:lnTo>
                  <a:pt x="4898072" y="2349500"/>
                </a:lnTo>
                <a:lnTo>
                  <a:pt x="4954587" y="2336800"/>
                </a:lnTo>
                <a:lnTo>
                  <a:pt x="5121503" y="2336800"/>
                </a:lnTo>
                <a:lnTo>
                  <a:pt x="5066588" y="2349500"/>
                </a:lnTo>
                <a:close/>
              </a:path>
              <a:path w="6759575" h="2362200">
                <a:moveTo>
                  <a:pt x="4310176" y="2362200"/>
                </a:moveTo>
                <a:lnTo>
                  <a:pt x="4017975" y="2362200"/>
                </a:lnTo>
                <a:lnTo>
                  <a:pt x="3960939" y="2349500"/>
                </a:lnTo>
                <a:lnTo>
                  <a:pt x="4250931" y="2349500"/>
                </a:lnTo>
                <a:lnTo>
                  <a:pt x="4310176" y="2362200"/>
                </a:lnTo>
                <a:close/>
              </a:path>
              <a:path w="6759575" h="2362200">
                <a:moveTo>
                  <a:pt x="4841532" y="2362200"/>
                </a:moveTo>
                <a:lnTo>
                  <a:pt x="4549317" y="2362200"/>
                </a:lnTo>
                <a:lnTo>
                  <a:pt x="4608563" y="2349500"/>
                </a:lnTo>
                <a:lnTo>
                  <a:pt x="4898567" y="2349500"/>
                </a:lnTo>
                <a:lnTo>
                  <a:pt x="4841532" y="2362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9606" y="4288942"/>
            <a:ext cx="2882900" cy="8559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14300" algn="ctr">
              <a:lnSpc>
                <a:spcPct val="101400"/>
              </a:lnSpc>
              <a:spcBef>
                <a:spcPts val="70"/>
              </a:spcBef>
            </a:pPr>
            <a:r>
              <a:rPr sz="1800" dirty="0">
                <a:latin typeface="宋体"/>
                <a:cs typeface="宋体"/>
              </a:rPr>
              <a:t>byte,short,int,long,  float,double,char,boolean </a:t>
            </a:r>
            <a:r>
              <a:rPr sz="1800" dirty="0">
                <a:latin typeface="微软雅黑"/>
                <a:cs typeface="微软雅黑"/>
              </a:rPr>
              <a:t>引用类型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5505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8504" y="393852"/>
            <a:ext cx="686498" cy="32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349375"/>
            <a:ext cx="766381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变量初始化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spc="-10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在变量声明时使用表达式初始化</a:t>
            </a:r>
            <a:r>
              <a:rPr sz="2800" spc="-5" dirty="0">
                <a:latin typeface="宋体"/>
                <a:cs typeface="宋体"/>
              </a:rPr>
              <a:t>变 </a:t>
            </a:r>
            <a:r>
              <a:rPr sz="2800" dirty="0">
                <a:latin typeface="宋体"/>
                <a:cs typeface="宋体"/>
              </a:rPr>
              <a:t>量，也可以直接赋值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2211705"/>
            <a:ext cx="2032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2427732"/>
            <a:ext cx="8229600" cy="2872740"/>
          </a:xfrm>
          <a:custGeom>
            <a:avLst/>
            <a:gdLst/>
            <a:ahLst/>
            <a:cxnLst/>
            <a:rect l="l" t="t" r="r" b="b"/>
            <a:pathLst>
              <a:path w="8229600" h="2872740">
                <a:moveTo>
                  <a:pt x="0" y="0"/>
                </a:moveTo>
                <a:lnTo>
                  <a:pt x="8229600" y="0"/>
                </a:lnTo>
                <a:lnTo>
                  <a:pt x="8229600" y="2872740"/>
                </a:lnTo>
                <a:lnTo>
                  <a:pt x="0" y="287274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2315" y="2375852"/>
            <a:ext cx="6377305" cy="24371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spc="-5" dirty="0">
                <a:latin typeface="Book Antiqua"/>
                <a:cs typeface="Book Antiqua"/>
              </a:rPr>
              <a:t>class DynInit </a:t>
            </a:r>
            <a:r>
              <a:rPr sz="2400" dirty="0">
                <a:latin typeface="Book Antiqua"/>
                <a:cs typeface="Book Antiqua"/>
              </a:rPr>
              <a:t>{</a:t>
            </a:r>
            <a:endParaRPr sz="2400">
              <a:latin typeface="Book Antiqua"/>
              <a:cs typeface="Book Antiqua"/>
            </a:endParaRPr>
          </a:p>
          <a:p>
            <a:pPr marL="622300" marR="920750" indent="-304800">
              <a:lnSpc>
                <a:spcPct val="109900"/>
              </a:lnSpc>
              <a:tabLst>
                <a:tab pos="1713864" algn="l"/>
                <a:tab pos="4673600" algn="l"/>
              </a:tabLst>
            </a:pPr>
            <a:r>
              <a:rPr sz="2400" dirty="0">
                <a:latin typeface="Book Antiqua"/>
                <a:cs typeface="Book Antiqua"/>
              </a:rPr>
              <a:t>p</a:t>
            </a:r>
            <a:r>
              <a:rPr sz="2400" spc="-5" dirty="0">
                <a:latin typeface="Book Antiqua"/>
                <a:cs typeface="Book Antiqua"/>
              </a:rPr>
              <a:t>u</a:t>
            </a:r>
            <a:r>
              <a:rPr sz="2400" dirty="0">
                <a:latin typeface="Book Antiqua"/>
                <a:cs typeface="Book Antiqua"/>
              </a:rPr>
              <a:t>blic</a:t>
            </a:r>
            <a:r>
              <a:rPr sz="2400" spc="-5" dirty="0">
                <a:latin typeface="Book Antiqua"/>
                <a:cs typeface="Book Antiqua"/>
              </a:rPr>
              <a:t> s</a:t>
            </a:r>
            <a:r>
              <a:rPr sz="2400" dirty="0">
                <a:latin typeface="Book Antiqua"/>
                <a:cs typeface="Book Antiqua"/>
              </a:rPr>
              <a:t>tatic</a:t>
            </a:r>
            <a:r>
              <a:rPr sz="2400" spc="-5" dirty="0">
                <a:latin typeface="Book Antiqua"/>
                <a:cs typeface="Book Antiqua"/>
              </a:rPr>
              <a:t> vo</a:t>
            </a:r>
            <a:r>
              <a:rPr sz="2400" dirty="0">
                <a:latin typeface="Book Antiqua"/>
                <a:cs typeface="Book Antiqua"/>
              </a:rPr>
              <a:t>id</a:t>
            </a:r>
            <a:r>
              <a:rPr sz="2400" spc="-5" dirty="0">
                <a:latin typeface="Book Antiqua"/>
                <a:cs typeface="Book Antiqua"/>
              </a:rPr>
              <a:t> </a:t>
            </a:r>
            <a:r>
              <a:rPr sz="2400" dirty="0">
                <a:latin typeface="Book Antiqua"/>
                <a:cs typeface="Book Antiqua"/>
              </a:rPr>
              <a:t>mai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(Stri</a:t>
            </a:r>
            <a:r>
              <a:rPr sz="2400" spc="-5" dirty="0">
                <a:latin typeface="Book Antiqua"/>
                <a:cs typeface="Book Antiqua"/>
              </a:rPr>
              <a:t>n</a:t>
            </a:r>
            <a:r>
              <a:rPr sz="2400" dirty="0">
                <a:latin typeface="Book Antiqua"/>
                <a:cs typeface="Book Antiqua"/>
              </a:rPr>
              <a:t>g[]	arg</a:t>
            </a:r>
            <a:r>
              <a:rPr sz="2400" spc="-5" dirty="0">
                <a:latin typeface="Book Antiqua"/>
                <a:cs typeface="Book Antiqua"/>
              </a:rPr>
              <a:t>s</a:t>
            </a:r>
            <a:r>
              <a:rPr sz="2400" dirty="0">
                <a:latin typeface="Book Antiqua"/>
                <a:cs typeface="Book Antiqua"/>
              </a:rPr>
              <a:t>){  </a:t>
            </a:r>
            <a:r>
              <a:rPr sz="2400" spc="-5" dirty="0">
                <a:latin typeface="Book Antiqua"/>
                <a:cs typeface="Book Antiqua"/>
              </a:rPr>
              <a:t>double	</a:t>
            </a:r>
            <a:r>
              <a:rPr sz="2400" dirty="0">
                <a:latin typeface="Book Antiqua"/>
                <a:cs typeface="Book Antiqua"/>
              </a:rPr>
              <a:t>a = 3.0, b =</a:t>
            </a:r>
            <a:r>
              <a:rPr sz="2400" spc="-20" dirty="0">
                <a:latin typeface="Book Antiqua"/>
                <a:cs typeface="Book Antiqua"/>
              </a:rPr>
              <a:t> </a:t>
            </a:r>
            <a:r>
              <a:rPr sz="2400" dirty="0">
                <a:latin typeface="Book Antiqua"/>
                <a:cs typeface="Book Antiqua"/>
              </a:rPr>
              <a:t>4.0;</a:t>
            </a:r>
            <a:endParaRPr sz="2400">
              <a:latin typeface="Book Antiqua"/>
              <a:cs typeface="Book Antiqua"/>
            </a:endParaRPr>
          </a:p>
          <a:p>
            <a:pPr marL="622300" marR="5080">
              <a:lnSpc>
                <a:spcPct val="109900"/>
              </a:lnSpc>
              <a:tabLst>
                <a:tab pos="1713864" algn="l"/>
              </a:tabLst>
            </a:pPr>
            <a:r>
              <a:rPr sz="2400" spc="-5" dirty="0">
                <a:latin typeface="Book Antiqua"/>
                <a:cs typeface="Book Antiqua"/>
              </a:rPr>
              <a:t>double	</a:t>
            </a:r>
            <a:r>
              <a:rPr sz="2400" dirty="0">
                <a:latin typeface="Book Antiqua"/>
                <a:cs typeface="Book Antiqua"/>
              </a:rPr>
              <a:t>c = </a:t>
            </a:r>
            <a:r>
              <a:rPr sz="2400" spc="-5" dirty="0">
                <a:latin typeface="Book Antiqua"/>
                <a:cs typeface="Book Antiqua"/>
              </a:rPr>
              <a:t>Math.sqrt(a </a:t>
            </a:r>
            <a:r>
              <a:rPr sz="2400" dirty="0">
                <a:latin typeface="Book Antiqua"/>
                <a:cs typeface="Book Antiqua"/>
              </a:rPr>
              <a:t>* a + b * b);  </a:t>
            </a:r>
            <a:r>
              <a:rPr sz="2400" spc="-5" dirty="0">
                <a:latin typeface="Book Antiqua"/>
                <a:cs typeface="Book Antiqua"/>
              </a:rPr>
              <a:t>System.out.println("Hypotenuse is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5" dirty="0">
                <a:latin typeface="Book Antiqua"/>
                <a:cs typeface="Book Antiqua"/>
              </a:rPr>
              <a:t>" </a:t>
            </a:r>
            <a:r>
              <a:rPr sz="2400" dirty="0">
                <a:latin typeface="Book Antiqua"/>
                <a:cs typeface="Book Antiqua"/>
              </a:rPr>
              <a:t>+</a:t>
            </a:r>
            <a:r>
              <a:rPr sz="2400" spc="20" dirty="0">
                <a:latin typeface="Book Antiqua"/>
                <a:cs typeface="Book Antiqua"/>
              </a:rPr>
              <a:t> </a:t>
            </a:r>
            <a:r>
              <a:rPr sz="2400" spc="-5" dirty="0">
                <a:latin typeface="Book Antiqua"/>
                <a:cs typeface="Book Antiqua"/>
              </a:rPr>
              <a:t>c);</a:t>
            </a:r>
            <a:endParaRPr sz="2400">
              <a:latin typeface="Book Antiqua"/>
              <a:cs typeface="Book Antiqua"/>
            </a:endParaRPr>
          </a:p>
          <a:p>
            <a:pPr marL="317500">
              <a:lnSpc>
                <a:spcPct val="100000"/>
              </a:lnSpc>
              <a:spcBef>
                <a:spcPts val="284"/>
              </a:spcBef>
            </a:pPr>
            <a:r>
              <a:rPr sz="2400" dirty="0">
                <a:latin typeface="Book Antiqua"/>
                <a:cs typeface="Book Antiqua"/>
              </a:rPr>
              <a:t>}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315" y="4823777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Book Antiqua"/>
                <a:cs typeface="Book Antiqua"/>
              </a:rPr>
              <a:t>}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9259" y="4942332"/>
            <a:ext cx="2374900" cy="467995"/>
          </a:xfrm>
          <a:custGeom>
            <a:avLst/>
            <a:gdLst/>
            <a:ahLst/>
            <a:cxnLst/>
            <a:rect l="l" t="t" r="r" b="b"/>
            <a:pathLst>
              <a:path w="2374900" h="467995">
                <a:moveTo>
                  <a:pt x="0" y="0"/>
                </a:moveTo>
                <a:lnTo>
                  <a:pt x="2374391" y="0"/>
                </a:lnTo>
                <a:lnTo>
                  <a:pt x="2374391" y="467867"/>
                </a:lnTo>
                <a:lnTo>
                  <a:pt x="0" y="467867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03862" y="4937125"/>
            <a:ext cx="2385695" cy="477520"/>
          </a:xfrm>
          <a:custGeom>
            <a:avLst/>
            <a:gdLst/>
            <a:ahLst/>
            <a:cxnLst/>
            <a:rect l="l" t="t" r="r" b="b"/>
            <a:pathLst>
              <a:path w="2385695" h="477520">
                <a:moveTo>
                  <a:pt x="2385263" y="477215"/>
                </a:moveTo>
                <a:lnTo>
                  <a:pt x="0" y="477215"/>
                </a:lnTo>
                <a:lnTo>
                  <a:pt x="0" y="0"/>
                </a:lnTo>
                <a:lnTo>
                  <a:pt x="2385263" y="0"/>
                </a:lnTo>
                <a:lnTo>
                  <a:pt x="238526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7690"/>
                </a:lnTo>
                <a:lnTo>
                  <a:pt x="4762" y="467690"/>
                </a:lnTo>
                <a:lnTo>
                  <a:pt x="9525" y="472452"/>
                </a:lnTo>
                <a:lnTo>
                  <a:pt x="2385263" y="472452"/>
                </a:lnTo>
                <a:lnTo>
                  <a:pt x="2385263" y="477215"/>
                </a:lnTo>
                <a:close/>
              </a:path>
              <a:path w="2385695" h="47752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85695" h="477520">
                <a:moveTo>
                  <a:pt x="237573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75738" y="4762"/>
                </a:lnTo>
                <a:lnTo>
                  <a:pt x="2375738" y="9525"/>
                </a:lnTo>
                <a:close/>
              </a:path>
              <a:path w="2385695" h="477520">
                <a:moveTo>
                  <a:pt x="2375738" y="472452"/>
                </a:moveTo>
                <a:lnTo>
                  <a:pt x="2375738" y="4762"/>
                </a:lnTo>
                <a:lnTo>
                  <a:pt x="2380500" y="9525"/>
                </a:lnTo>
                <a:lnTo>
                  <a:pt x="2385263" y="9525"/>
                </a:lnTo>
                <a:lnTo>
                  <a:pt x="2385263" y="467690"/>
                </a:lnTo>
                <a:lnTo>
                  <a:pt x="2380500" y="467690"/>
                </a:lnTo>
                <a:lnTo>
                  <a:pt x="2375738" y="472452"/>
                </a:lnTo>
                <a:close/>
              </a:path>
              <a:path w="2385695" h="477520">
                <a:moveTo>
                  <a:pt x="2385263" y="9525"/>
                </a:moveTo>
                <a:lnTo>
                  <a:pt x="2380500" y="9525"/>
                </a:lnTo>
                <a:lnTo>
                  <a:pt x="2375738" y="4762"/>
                </a:lnTo>
                <a:lnTo>
                  <a:pt x="2385263" y="4762"/>
                </a:lnTo>
                <a:lnTo>
                  <a:pt x="2385263" y="9525"/>
                </a:lnTo>
                <a:close/>
              </a:path>
              <a:path w="2385695" h="477520">
                <a:moveTo>
                  <a:pt x="9525" y="472452"/>
                </a:moveTo>
                <a:lnTo>
                  <a:pt x="4762" y="467690"/>
                </a:lnTo>
                <a:lnTo>
                  <a:pt x="9525" y="467690"/>
                </a:lnTo>
                <a:lnTo>
                  <a:pt x="9525" y="472452"/>
                </a:lnTo>
                <a:close/>
              </a:path>
              <a:path w="2385695" h="477520">
                <a:moveTo>
                  <a:pt x="2375738" y="472452"/>
                </a:moveTo>
                <a:lnTo>
                  <a:pt x="9525" y="472452"/>
                </a:lnTo>
                <a:lnTo>
                  <a:pt x="9525" y="467690"/>
                </a:lnTo>
                <a:lnTo>
                  <a:pt x="2375738" y="467690"/>
                </a:lnTo>
                <a:lnTo>
                  <a:pt x="2375738" y="472452"/>
                </a:lnTo>
                <a:close/>
              </a:path>
              <a:path w="2385695" h="477520">
                <a:moveTo>
                  <a:pt x="2385263" y="472452"/>
                </a:moveTo>
                <a:lnTo>
                  <a:pt x="2375738" y="472452"/>
                </a:lnTo>
                <a:lnTo>
                  <a:pt x="2380500" y="467690"/>
                </a:lnTo>
                <a:lnTo>
                  <a:pt x="2385263" y="467690"/>
                </a:lnTo>
                <a:lnTo>
                  <a:pt x="2385263" y="472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37599" y="3927131"/>
            <a:ext cx="2776220" cy="1154430"/>
          </a:xfrm>
          <a:custGeom>
            <a:avLst/>
            <a:gdLst/>
            <a:ahLst/>
            <a:cxnLst/>
            <a:rect l="l" t="t" r="r" b="b"/>
            <a:pathLst>
              <a:path w="2776220" h="1154429">
                <a:moveTo>
                  <a:pt x="2772537" y="1154404"/>
                </a:moveTo>
                <a:lnTo>
                  <a:pt x="0" y="8801"/>
                </a:lnTo>
                <a:lnTo>
                  <a:pt x="3632" y="0"/>
                </a:lnTo>
                <a:lnTo>
                  <a:pt x="2776169" y="1145590"/>
                </a:lnTo>
                <a:lnTo>
                  <a:pt x="2772537" y="11544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87365" y="493680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表达式初始化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5505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8504" y="393852"/>
            <a:ext cx="686498" cy="32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7868" y="2061972"/>
            <a:ext cx="7621905" cy="521334"/>
          </a:xfrm>
          <a:custGeom>
            <a:avLst/>
            <a:gdLst/>
            <a:ahLst/>
            <a:cxnLst/>
            <a:rect l="l" t="t" r="r" b="b"/>
            <a:pathLst>
              <a:path w="7621905" h="521335">
                <a:moveTo>
                  <a:pt x="0" y="0"/>
                </a:moveTo>
                <a:lnTo>
                  <a:pt x="7621524" y="0"/>
                </a:lnTo>
                <a:lnTo>
                  <a:pt x="7621524" y="521207"/>
                </a:lnTo>
                <a:lnTo>
                  <a:pt x="0" y="521207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1009" y="2054860"/>
            <a:ext cx="7635240" cy="534670"/>
          </a:xfrm>
          <a:custGeom>
            <a:avLst/>
            <a:gdLst/>
            <a:ahLst/>
            <a:cxnLst/>
            <a:rect l="l" t="t" r="r" b="b"/>
            <a:pathLst>
              <a:path w="7635240" h="534669">
                <a:moveTo>
                  <a:pt x="7634935" y="534669"/>
                </a:moveTo>
                <a:lnTo>
                  <a:pt x="0" y="534669"/>
                </a:lnTo>
                <a:lnTo>
                  <a:pt x="0" y="0"/>
                </a:lnTo>
                <a:lnTo>
                  <a:pt x="7634935" y="0"/>
                </a:lnTo>
                <a:lnTo>
                  <a:pt x="763493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21969"/>
                </a:lnTo>
                <a:lnTo>
                  <a:pt x="6350" y="521969"/>
                </a:lnTo>
                <a:lnTo>
                  <a:pt x="12700" y="528319"/>
                </a:lnTo>
                <a:lnTo>
                  <a:pt x="7634935" y="528319"/>
                </a:lnTo>
                <a:lnTo>
                  <a:pt x="7634935" y="534669"/>
                </a:lnTo>
                <a:close/>
              </a:path>
              <a:path w="7635240" h="53466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635240" h="534669">
                <a:moveTo>
                  <a:pt x="762223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622235" y="6350"/>
                </a:lnTo>
                <a:lnTo>
                  <a:pt x="7622235" y="12700"/>
                </a:lnTo>
                <a:close/>
              </a:path>
              <a:path w="7635240" h="534669">
                <a:moveTo>
                  <a:pt x="7622235" y="528319"/>
                </a:moveTo>
                <a:lnTo>
                  <a:pt x="7622235" y="6350"/>
                </a:lnTo>
                <a:lnTo>
                  <a:pt x="7628585" y="12700"/>
                </a:lnTo>
                <a:lnTo>
                  <a:pt x="7634935" y="12700"/>
                </a:lnTo>
                <a:lnTo>
                  <a:pt x="7634935" y="521969"/>
                </a:lnTo>
                <a:lnTo>
                  <a:pt x="7628585" y="521969"/>
                </a:lnTo>
                <a:lnTo>
                  <a:pt x="7622235" y="528319"/>
                </a:lnTo>
                <a:close/>
              </a:path>
              <a:path w="7635240" h="534669">
                <a:moveTo>
                  <a:pt x="7634935" y="12700"/>
                </a:moveTo>
                <a:lnTo>
                  <a:pt x="7628585" y="12700"/>
                </a:lnTo>
                <a:lnTo>
                  <a:pt x="7622235" y="6350"/>
                </a:lnTo>
                <a:lnTo>
                  <a:pt x="7634935" y="6350"/>
                </a:lnTo>
                <a:lnTo>
                  <a:pt x="7634935" y="12700"/>
                </a:lnTo>
                <a:close/>
              </a:path>
              <a:path w="7635240" h="534669">
                <a:moveTo>
                  <a:pt x="12700" y="528319"/>
                </a:moveTo>
                <a:lnTo>
                  <a:pt x="6350" y="521969"/>
                </a:lnTo>
                <a:lnTo>
                  <a:pt x="12700" y="521969"/>
                </a:lnTo>
                <a:lnTo>
                  <a:pt x="12700" y="528319"/>
                </a:lnTo>
                <a:close/>
              </a:path>
              <a:path w="7635240" h="534669">
                <a:moveTo>
                  <a:pt x="7622235" y="528319"/>
                </a:moveTo>
                <a:lnTo>
                  <a:pt x="12700" y="528319"/>
                </a:lnTo>
                <a:lnTo>
                  <a:pt x="12700" y="521969"/>
                </a:lnTo>
                <a:lnTo>
                  <a:pt x="7622235" y="521969"/>
                </a:lnTo>
                <a:lnTo>
                  <a:pt x="7622235" y="528319"/>
                </a:lnTo>
                <a:close/>
              </a:path>
              <a:path w="7635240" h="534669">
                <a:moveTo>
                  <a:pt x="7634935" y="528319"/>
                </a:moveTo>
                <a:lnTo>
                  <a:pt x="7622235" y="528319"/>
                </a:lnTo>
                <a:lnTo>
                  <a:pt x="7628585" y="521969"/>
                </a:lnTo>
                <a:lnTo>
                  <a:pt x="7634935" y="521969"/>
                </a:lnTo>
                <a:lnTo>
                  <a:pt x="7634935" y="528319"/>
                </a:lnTo>
                <a:close/>
              </a:path>
            </a:pathLst>
          </a:custGeom>
          <a:solidFill>
            <a:srgbClr val="752C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75" y="906018"/>
            <a:ext cx="7896225" cy="163131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使用</a:t>
            </a:r>
            <a:r>
              <a:rPr sz="2800" spc="-5" dirty="0">
                <a:latin typeface="宋体"/>
                <a:cs typeface="宋体"/>
              </a:rPr>
              <a:t>Var</a:t>
            </a:r>
            <a:r>
              <a:rPr sz="2800" dirty="0">
                <a:latin typeface="宋体"/>
                <a:cs typeface="宋体"/>
              </a:rPr>
              <a:t>定义变量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方式声明</a:t>
            </a:r>
            <a:r>
              <a:rPr sz="2800" spc="-5" dirty="0">
                <a:latin typeface="宋体"/>
                <a:cs typeface="宋体"/>
              </a:rPr>
              <a:t>var</a:t>
            </a:r>
            <a:r>
              <a:rPr sz="2800" dirty="0">
                <a:latin typeface="宋体"/>
                <a:cs typeface="宋体"/>
              </a:rPr>
              <a:t>会根据后面的值来推断变量的类</a:t>
            </a:r>
            <a:r>
              <a:rPr sz="2800" spc="-5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365125">
              <a:lnSpc>
                <a:spcPct val="100000"/>
              </a:lnSpc>
              <a:spcBef>
                <a:spcPts val="1745"/>
              </a:spcBef>
            </a:pPr>
            <a:r>
              <a:rPr sz="2800" spc="-20" dirty="0">
                <a:solidFill>
                  <a:srgbClr val="FFFFFF"/>
                </a:solidFill>
                <a:latin typeface="微软雅黑"/>
                <a:cs typeface="微软雅黑"/>
              </a:rPr>
              <a:t>var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变量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名</a:t>
            </a:r>
            <a:r>
              <a:rPr sz="2800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初始值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34923" y="2781300"/>
            <a:ext cx="7581900" cy="472440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Book Antiqua"/>
                <a:cs typeface="Book Antiqua"/>
              </a:rPr>
              <a:t>var</a:t>
            </a:r>
            <a:r>
              <a:rPr sz="2400" dirty="0">
                <a:latin typeface="微软雅黑"/>
                <a:cs typeface="微软雅黑"/>
              </a:rPr>
              <a:t>是</a:t>
            </a:r>
            <a:r>
              <a:rPr sz="2400" spc="-5" dirty="0">
                <a:latin typeface="Book Antiqua"/>
                <a:cs typeface="Book Antiqua"/>
              </a:rPr>
              <a:t>Java10</a:t>
            </a:r>
            <a:r>
              <a:rPr sz="2400" dirty="0">
                <a:latin typeface="微软雅黑"/>
                <a:cs typeface="微软雅黑"/>
              </a:rPr>
              <a:t>中新增的局部类型变量推断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683" y="3502152"/>
            <a:ext cx="7581900" cy="814069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1440" marR="2667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Book Antiqua"/>
                <a:cs typeface="Book Antiqua"/>
              </a:rPr>
              <a:t>v</a:t>
            </a:r>
            <a:r>
              <a:rPr sz="2400" dirty="0">
                <a:latin typeface="Book Antiqua"/>
                <a:cs typeface="Book Antiqua"/>
              </a:rPr>
              <a:t>ar</a:t>
            </a:r>
            <a:r>
              <a:rPr sz="2400" dirty="0">
                <a:latin typeface="微软雅黑"/>
                <a:cs typeface="微软雅黑"/>
              </a:rPr>
              <a:t>根据初始化的值来推断变量的类型，必须要初始化， 一但初始化，变量类型不可改变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4437888"/>
            <a:ext cx="7477125" cy="597535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</a:pPr>
            <a:r>
              <a:rPr sz="2400" spc="-5" dirty="0">
                <a:latin typeface="Book Antiqua"/>
                <a:cs typeface="Book Antiqua"/>
              </a:rPr>
              <a:t>var</a:t>
            </a:r>
            <a:r>
              <a:rPr sz="2400" dirty="0">
                <a:latin typeface="微软雅黑"/>
                <a:cs typeface="微软雅黑"/>
              </a:rPr>
              <a:t>只能在方法内定义变量，不能用作方法参数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016" y="5157215"/>
            <a:ext cx="7580630" cy="597535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Book Antiqua"/>
                <a:cs typeface="Book Antiqua"/>
              </a:rPr>
              <a:t>var</a:t>
            </a:r>
            <a:r>
              <a:rPr sz="2400" dirty="0">
                <a:latin typeface="微软雅黑"/>
                <a:cs typeface="微软雅黑"/>
              </a:rPr>
              <a:t>每次只能定义一个变量，不能复合声明变量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75" y="958850"/>
            <a:ext cx="3218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使用</a:t>
            </a:r>
            <a:r>
              <a:rPr sz="2800" spc="-5" dirty="0">
                <a:latin typeface="宋体"/>
                <a:cs typeface="宋体"/>
              </a:rPr>
              <a:t>Var</a:t>
            </a:r>
            <a:r>
              <a:rPr sz="2800" dirty="0">
                <a:latin typeface="宋体"/>
                <a:cs typeface="宋体"/>
              </a:rPr>
              <a:t>定义变量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40842"/>
            <a:ext cx="865505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8504" y="393852"/>
            <a:ext cx="686498" cy="32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868" y="2420111"/>
            <a:ext cx="7719059" cy="19518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4273550" cy="0"/>
          </a:xfrm>
          <a:custGeom>
            <a:avLst/>
            <a:gdLst/>
            <a:ahLst/>
            <a:cxnLst/>
            <a:rect l="l" t="t" r="r" b="b"/>
            <a:pathLst>
              <a:path w="4273550">
                <a:moveTo>
                  <a:pt x="0" y="0"/>
                </a:moveTo>
                <a:lnTo>
                  <a:pt x="4273537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14132" y="440842"/>
            <a:ext cx="502284" cy="2470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8504" y="393852"/>
            <a:ext cx="1044003" cy="3308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36108" y="260604"/>
            <a:ext cx="3581400" cy="1015365"/>
          </a:xfrm>
          <a:custGeom>
            <a:avLst/>
            <a:gdLst/>
            <a:ahLst/>
            <a:cxnLst/>
            <a:rect l="l" t="t" r="r" b="b"/>
            <a:pathLst>
              <a:path w="3581400" h="1015365">
                <a:moveTo>
                  <a:pt x="0" y="0"/>
                </a:moveTo>
                <a:lnTo>
                  <a:pt x="3581399" y="0"/>
                </a:lnTo>
                <a:lnTo>
                  <a:pt x="358139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5515089" y="286384"/>
            <a:ext cx="295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软雅黑"/>
                <a:cs typeface="微软雅黑"/>
              </a:rPr>
              <a:t>int</a:t>
            </a:r>
            <a:r>
              <a:rPr spc="-70" dirty="0">
                <a:latin typeface="微软雅黑"/>
                <a:cs typeface="微软雅黑"/>
              </a:rPr>
              <a:t> </a:t>
            </a:r>
            <a:r>
              <a:rPr spc="-5" dirty="0">
                <a:latin typeface="微软雅黑"/>
                <a:cs typeface="微软雅黑"/>
              </a:rPr>
              <a:t>S=</a:t>
            </a:r>
            <a:r>
              <a:rPr spc="-5" dirty="0">
                <a:solidFill>
                  <a:srgbClr val="CC3300"/>
                </a:solidFill>
                <a:latin typeface="微软雅黑"/>
                <a:cs typeface="微软雅黑"/>
              </a:rPr>
              <a:t>-a*x*x+b*x+c</a:t>
            </a:r>
            <a:r>
              <a:rPr spc="-5" dirty="0">
                <a:latin typeface="微软雅黑"/>
                <a:cs typeface="微软雅黑"/>
              </a:rPr>
              <a:t>;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546734" y="835025"/>
            <a:ext cx="7690484" cy="507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80940">
              <a:lnSpc>
                <a:spcPts val="249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boolean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l=</a:t>
            </a:r>
            <a:r>
              <a:rPr sz="2400" spc="-5" dirty="0">
                <a:solidFill>
                  <a:srgbClr val="CC3300"/>
                </a:solidFill>
                <a:latin typeface="微软雅黑"/>
                <a:cs typeface="微软雅黑"/>
              </a:rPr>
              <a:t>a&gt;b</a:t>
            </a:r>
            <a:r>
              <a:rPr sz="2400" spc="-5" dirty="0">
                <a:latin typeface="微软雅黑"/>
                <a:cs typeface="微软雅黑"/>
              </a:rPr>
              <a:t>;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ts val="2970"/>
              </a:lnSpc>
              <a:buClr>
                <a:srgbClr val="000000"/>
              </a:buClr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运算符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:</a:t>
            </a:r>
            <a:r>
              <a:rPr sz="2800" spc="-15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指明对操作数的运算方式。</a:t>
            </a: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endParaRPr sz="28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795"/>
              </a:spcBef>
              <a:buClr>
                <a:srgbClr val="000000"/>
              </a:buClr>
              <a:buFont typeface="Arial"/>
              <a:buChar char="•"/>
              <a:tabLst>
                <a:tab pos="184150" algn="l"/>
              </a:tabLst>
            </a:pPr>
            <a:r>
              <a:rPr sz="2800" spc="70" dirty="0">
                <a:solidFill>
                  <a:srgbClr val="967A2C"/>
                </a:solidFill>
                <a:latin typeface="宋体"/>
                <a:cs typeface="宋体"/>
              </a:rPr>
              <a:t>按操作数的个数分:</a:t>
            </a:r>
            <a:r>
              <a:rPr sz="2800" spc="75" dirty="0">
                <a:latin typeface="宋体"/>
                <a:cs typeface="宋体"/>
              </a:rPr>
              <a:t>单目运算符</a:t>
            </a:r>
            <a:r>
              <a:rPr sz="2800" spc="70" dirty="0">
                <a:latin typeface="宋体"/>
                <a:cs typeface="宋体"/>
              </a:rPr>
              <a:t>(</a:t>
            </a:r>
            <a:r>
              <a:rPr sz="2800" spc="75" dirty="0">
                <a:latin typeface="宋体"/>
                <a:cs typeface="宋体"/>
              </a:rPr>
              <a:t>如</a:t>
            </a:r>
            <a:r>
              <a:rPr sz="2800" spc="70" dirty="0">
                <a:latin typeface="宋体"/>
                <a:cs typeface="宋体"/>
              </a:rPr>
              <a:t>-a)</a:t>
            </a:r>
            <a:r>
              <a:rPr sz="2800" spc="75" dirty="0">
                <a:latin typeface="宋体"/>
                <a:cs typeface="宋体"/>
              </a:rPr>
              <a:t>，双目</a:t>
            </a:r>
            <a:r>
              <a:rPr sz="2800" spc="-5" dirty="0">
                <a:latin typeface="宋体"/>
                <a:cs typeface="宋体"/>
              </a:rPr>
              <a:t>运 </a:t>
            </a:r>
            <a:r>
              <a:rPr sz="2800" dirty="0">
                <a:latin typeface="宋体"/>
                <a:cs typeface="宋体"/>
              </a:rPr>
              <a:t>算符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如</a:t>
            </a:r>
            <a:r>
              <a:rPr sz="2800" spc="-5" dirty="0">
                <a:latin typeface="宋体"/>
                <a:cs typeface="宋体"/>
              </a:rPr>
              <a:t>a+b),</a:t>
            </a:r>
            <a:r>
              <a:rPr sz="2800" dirty="0">
                <a:latin typeface="宋体"/>
                <a:cs typeface="宋体"/>
              </a:rPr>
              <a:t>三目运算符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如</a:t>
            </a:r>
            <a:r>
              <a:rPr sz="2800" spc="-5" dirty="0">
                <a:latin typeface="宋体"/>
                <a:cs typeface="宋体"/>
              </a:rPr>
              <a:t>e1?e2:e3)。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按功能分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算术运算符：</a:t>
            </a:r>
            <a:r>
              <a:rPr sz="2800" spc="-1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+，―，*，/，%，++，――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关系运算符：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&gt;，&lt;，&gt;=，&lt;=，==，!=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逻辑运算符：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!，&amp;&amp;，||，&amp;，|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赋值运算符：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=，+=，―=，*=，/=等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位运算符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条件运算符：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?：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Clr>
                <a:srgbClr val="967A2C"/>
              </a:buClr>
              <a:buSzPct val="58928"/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其它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instanceof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() </a:t>
            </a:r>
            <a:r>
              <a:rPr sz="2800" spc="-5" dirty="0">
                <a:latin typeface="宋体"/>
                <a:cs typeface="宋体"/>
              </a:rPr>
              <a:t>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19939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</a:t>
            </a:r>
            <a:r>
              <a:rPr sz="2800" b="1" spc="133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运算</a:t>
            </a:r>
            <a:r>
              <a:rPr sz="2800" b="1" spc="-20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69339" y="1425575"/>
            <a:ext cx="7669530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dirty="0">
                <a:latin typeface="宋体"/>
                <a:cs typeface="宋体"/>
              </a:rPr>
              <a:t>由运算符、操作数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常量、变量、方法</a:t>
            </a:r>
            <a:r>
              <a:rPr sz="2800" spc="-5" dirty="0">
                <a:latin typeface="宋体"/>
                <a:cs typeface="宋体"/>
              </a:rPr>
              <a:t>调 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dirty="0">
                <a:latin typeface="宋体"/>
                <a:cs typeface="宋体"/>
              </a:rPr>
              <a:t>和圆括号组成的式子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0927" y="393852"/>
            <a:ext cx="1756295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539" y="1577975"/>
            <a:ext cx="6597650" cy="2271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算术运算符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dirty="0">
                <a:latin typeface="宋体"/>
                <a:cs typeface="宋体"/>
              </a:rPr>
              <a:t>对整型或实型数据的运算。 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算术运算符分</a:t>
            </a:r>
            <a:r>
              <a:rPr sz="2800" spc="-5" dirty="0"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双目运算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单目运算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6900" y="2046287"/>
          <a:ext cx="7848599" cy="3602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运算符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功能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+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加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+</a:t>
                      </a:r>
                      <a:r>
                        <a:rPr sz="24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与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相加的和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-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19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减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25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-</a:t>
                      </a:r>
                      <a:r>
                        <a:rPr sz="2400" spc="-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19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与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相减的差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19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*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乘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*</a:t>
                      </a:r>
                      <a:r>
                        <a:rPr sz="2400" spc="-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与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相乘的积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/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31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除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38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/</a:t>
                      </a:r>
                      <a:r>
                        <a:rPr sz="24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831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除以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的商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31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%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取余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%</a:t>
                      </a:r>
                      <a:r>
                        <a:rPr sz="24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除以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所得的余数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069339" y="1390650"/>
            <a:ext cx="26968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双目算术运算</a:t>
            </a:r>
            <a:r>
              <a:rPr sz="2800" b="1" spc="-20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071484" cy="41440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注意</a:t>
            </a:r>
            <a:r>
              <a:rPr sz="2800" b="1" spc="-20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84150" marR="228600" indent="-171450">
              <a:lnSpc>
                <a:spcPts val="3020"/>
              </a:lnSpc>
              <a:spcBef>
                <a:spcPts val="795"/>
              </a:spcBef>
            </a:pPr>
            <a:r>
              <a:rPr sz="2800" spc="-5" dirty="0">
                <a:latin typeface="宋体"/>
                <a:cs typeface="宋体"/>
              </a:rPr>
              <a:t> (1)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spc="-5" dirty="0">
                <a:latin typeface="宋体"/>
                <a:cs typeface="宋体"/>
              </a:rPr>
              <a:t>C</a:t>
            </a:r>
            <a:r>
              <a:rPr sz="2800" dirty="0">
                <a:latin typeface="宋体"/>
                <a:cs typeface="宋体"/>
              </a:rPr>
              <a:t>不同的是，</a:t>
            </a: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中的“</a:t>
            </a:r>
            <a:r>
              <a:rPr sz="2800" spc="-5" dirty="0">
                <a:latin typeface="宋体"/>
                <a:cs typeface="宋体"/>
              </a:rPr>
              <a:t>%</a:t>
            </a:r>
            <a:r>
              <a:rPr sz="2800" dirty="0">
                <a:latin typeface="宋体"/>
                <a:cs typeface="宋体"/>
              </a:rPr>
              <a:t>”两个运算对象</a:t>
            </a:r>
            <a:r>
              <a:rPr sz="2800" spc="-5" dirty="0">
                <a:latin typeface="宋体"/>
                <a:cs typeface="宋体"/>
              </a:rPr>
              <a:t>可 </a:t>
            </a:r>
            <a:r>
              <a:rPr sz="2800" dirty="0">
                <a:latin typeface="宋体"/>
                <a:cs typeface="宋体"/>
              </a:rPr>
              <a:t>以是实数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800" spc="-5" dirty="0">
                <a:latin typeface="宋体"/>
                <a:cs typeface="宋体"/>
              </a:rPr>
              <a:t>       13%5=3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</a:t>
            </a:r>
            <a:r>
              <a:rPr sz="2800" spc="-5" dirty="0">
                <a:solidFill>
                  <a:srgbClr val="ED7A07"/>
                </a:solidFill>
                <a:latin typeface="宋体"/>
                <a:cs typeface="宋体"/>
              </a:rPr>
              <a:t>23.6%12=11.6</a:t>
            </a:r>
            <a:endParaRPr sz="28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795"/>
              </a:spcBef>
            </a:pPr>
            <a:r>
              <a:rPr sz="2800" spc="-5" dirty="0">
                <a:latin typeface="宋体"/>
                <a:cs typeface="宋体"/>
              </a:rPr>
              <a:t> </a:t>
            </a:r>
            <a:r>
              <a:rPr sz="2800" spc="10" dirty="0">
                <a:latin typeface="宋体"/>
                <a:cs typeface="宋体"/>
              </a:rPr>
              <a:t>(2)</a:t>
            </a:r>
            <a:r>
              <a:rPr sz="2800" spc="15" dirty="0">
                <a:latin typeface="宋体"/>
                <a:cs typeface="宋体"/>
              </a:rPr>
              <a:t>两个整型的数据做“</a:t>
            </a:r>
            <a:r>
              <a:rPr sz="2800" spc="10" dirty="0">
                <a:latin typeface="宋体"/>
                <a:cs typeface="宋体"/>
              </a:rPr>
              <a:t>/</a:t>
            </a:r>
            <a:r>
              <a:rPr sz="2800" spc="15" dirty="0">
                <a:latin typeface="宋体"/>
                <a:cs typeface="宋体"/>
              </a:rPr>
              <a:t>”运算时，结果</a:t>
            </a:r>
            <a:r>
              <a:rPr sz="2800" spc="20" dirty="0">
                <a:latin typeface="宋体"/>
                <a:cs typeface="宋体"/>
              </a:rPr>
              <a:t>是截取</a:t>
            </a:r>
            <a:r>
              <a:rPr sz="2800" spc="-5" dirty="0">
                <a:latin typeface="宋体"/>
                <a:cs typeface="宋体"/>
              </a:rPr>
              <a:t>商 </a:t>
            </a:r>
            <a:r>
              <a:rPr sz="2800" dirty="0">
                <a:latin typeface="宋体"/>
                <a:cs typeface="宋体"/>
              </a:rPr>
              <a:t>的整数部分，而小数部分被截断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800" spc="-5" dirty="0">
                <a:latin typeface="宋体"/>
                <a:cs typeface="宋体"/>
              </a:rPr>
              <a:t>       2/4=0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  2.0/4=0.5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9339" y="1425575"/>
            <a:ext cx="51746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单目运算符：操作数只有一个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55675" y="2190750"/>
          <a:ext cx="6842124" cy="2808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运算符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8760" algn="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功能等价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++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自增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a++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或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++a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2575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= a +</a:t>
                      </a:r>
                      <a:r>
                        <a:rPr sz="2400" spc="-10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1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--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1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自减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2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a--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或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--a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1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= a -</a:t>
                      </a:r>
                      <a:r>
                        <a:rPr sz="2400" spc="-5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1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51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-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40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求负数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-a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a =</a:t>
                      </a:r>
                      <a:r>
                        <a:rPr sz="2400" spc="-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-a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9339" y="1425575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例如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9339" y="1904364"/>
            <a:ext cx="2514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  int</a:t>
            </a:r>
            <a:r>
              <a:rPr sz="2800" spc="133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x=-1;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039" y="2445772"/>
            <a:ext cx="177800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800" spc="-5" dirty="0">
                <a:latin typeface="宋体"/>
                <a:cs typeface="宋体"/>
              </a:rPr>
              <a:t>  x = -x</a:t>
            </a:r>
            <a:r>
              <a:rPr sz="2800" spc="-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;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4112" y="3309302"/>
            <a:ext cx="7153275" cy="2387600"/>
          </a:xfrm>
          <a:custGeom>
            <a:avLst/>
            <a:gdLst/>
            <a:ahLst/>
            <a:cxnLst/>
            <a:rect l="l" t="t" r="r" b="b"/>
            <a:pathLst>
              <a:path w="7153275" h="2387600">
                <a:moveTo>
                  <a:pt x="7153275" y="2387600"/>
                </a:moveTo>
                <a:lnTo>
                  <a:pt x="0" y="2387600"/>
                </a:lnTo>
                <a:lnTo>
                  <a:pt x="0" y="0"/>
                </a:lnTo>
                <a:lnTo>
                  <a:pt x="7153275" y="0"/>
                </a:lnTo>
                <a:lnTo>
                  <a:pt x="71532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378075"/>
                </a:lnTo>
                <a:lnTo>
                  <a:pt x="4762" y="2378075"/>
                </a:lnTo>
                <a:lnTo>
                  <a:pt x="9525" y="2382837"/>
                </a:lnTo>
                <a:lnTo>
                  <a:pt x="7153275" y="2382837"/>
                </a:lnTo>
                <a:lnTo>
                  <a:pt x="7153275" y="2387600"/>
                </a:lnTo>
                <a:close/>
              </a:path>
              <a:path w="7153275" h="23876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53275" h="2387600">
                <a:moveTo>
                  <a:pt x="71437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43750" y="4762"/>
                </a:lnTo>
                <a:lnTo>
                  <a:pt x="7143750" y="9525"/>
                </a:lnTo>
                <a:close/>
              </a:path>
              <a:path w="7153275" h="2387600">
                <a:moveTo>
                  <a:pt x="7143750" y="2382837"/>
                </a:moveTo>
                <a:lnTo>
                  <a:pt x="7143750" y="4762"/>
                </a:lnTo>
                <a:lnTo>
                  <a:pt x="7148512" y="9525"/>
                </a:lnTo>
                <a:lnTo>
                  <a:pt x="7153275" y="9525"/>
                </a:lnTo>
                <a:lnTo>
                  <a:pt x="7153275" y="2378075"/>
                </a:lnTo>
                <a:lnTo>
                  <a:pt x="7148512" y="2378075"/>
                </a:lnTo>
                <a:lnTo>
                  <a:pt x="7143750" y="2382837"/>
                </a:lnTo>
                <a:close/>
              </a:path>
              <a:path w="7153275" h="2387600">
                <a:moveTo>
                  <a:pt x="7153275" y="9525"/>
                </a:moveTo>
                <a:lnTo>
                  <a:pt x="7148512" y="9525"/>
                </a:lnTo>
                <a:lnTo>
                  <a:pt x="7143750" y="4762"/>
                </a:lnTo>
                <a:lnTo>
                  <a:pt x="7153275" y="4762"/>
                </a:lnTo>
                <a:lnTo>
                  <a:pt x="7153275" y="9525"/>
                </a:lnTo>
                <a:close/>
              </a:path>
              <a:path w="7153275" h="2387600">
                <a:moveTo>
                  <a:pt x="9525" y="2382837"/>
                </a:moveTo>
                <a:lnTo>
                  <a:pt x="4762" y="2378075"/>
                </a:lnTo>
                <a:lnTo>
                  <a:pt x="9525" y="2378075"/>
                </a:lnTo>
                <a:lnTo>
                  <a:pt x="9525" y="2382837"/>
                </a:lnTo>
                <a:close/>
              </a:path>
              <a:path w="7153275" h="2387600">
                <a:moveTo>
                  <a:pt x="7143750" y="2382837"/>
                </a:moveTo>
                <a:lnTo>
                  <a:pt x="9525" y="2382837"/>
                </a:lnTo>
                <a:lnTo>
                  <a:pt x="9525" y="2378075"/>
                </a:lnTo>
                <a:lnTo>
                  <a:pt x="7143750" y="2378075"/>
                </a:lnTo>
                <a:lnTo>
                  <a:pt x="7143750" y="2382837"/>
                </a:lnTo>
                <a:close/>
              </a:path>
              <a:path w="7153275" h="2387600">
                <a:moveTo>
                  <a:pt x="7153275" y="2382837"/>
                </a:moveTo>
                <a:lnTo>
                  <a:pt x="7143750" y="2382837"/>
                </a:lnTo>
                <a:lnTo>
                  <a:pt x="7148512" y="2378075"/>
                </a:lnTo>
                <a:lnTo>
                  <a:pt x="7153275" y="2378075"/>
                </a:lnTo>
                <a:lnTo>
                  <a:pt x="7153275" y="2382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37614" y="3339465"/>
            <a:ext cx="688340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5833"/>
              <a:buFont typeface=""/>
              <a:buChar char="•"/>
              <a:tabLst>
                <a:tab pos="165735" algn="l"/>
              </a:tabLst>
            </a:pP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前缀</a:t>
            </a:r>
            <a:r>
              <a:rPr sz="2400" dirty="0">
                <a:solidFill>
                  <a:srgbClr val="967A2C"/>
                </a:solidFill>
                <a:latin typeface="宋体"/>
                <a:cs typeface="宋体"/>
              </a:rPr>
              <a:t>(++,--):</a:t>
            </a:r>
            <a:r>
              <a:rPr sz="2400" spc="-5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400" dirty="0">
                <a:latin typeface="微软雅黑"/>
                <a:cs typeface="微软雅黑"/>
              </a:rPr>
              <a:t>先执行单目运算，修改变量的值后 用这个新值参与表达式的运算。</a:t>
            </a:r>
            <a:endParaRPr sz="2400">
              <a:latin typeface="微软雅黑"/>
              <a:cs typeface="微软雅黑"/>
            </a:endParaRPr>
          </a:p>
          <a:p>
            <a:pPr marL="12700" marR="34290">
              <a:lnSpc>
                <a:spcPct val="100000"/>
              </a:lnSpc>
              <a:spcBef>
                <a:spcPts val="1440"/>
              </a:spcBef>
              <a:buClr>
                <a:srgbClr val="000000"/>
              </a:buClr>
              <a:buSzPct val="95833"/>
              <a:buFont typeface=""/>
              <a:buChar char="•"/>
              <a:tabLst>
                <a:tab pos="165735" algn="l"/>
              </a:tabLst>
            </a:pP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后缀</a:t>
            </a:r>
            <a:r>
              <a:rPr sz="2400" dirty="0">
                <a:solidFill>
                  <a:srgbClr val="967A2C"/>
                </a:solidFill>
                <a:latin typeface="宋体"/>
                <a:cs typeface="宋体"/>
              </a:rPr>
              <a:t>(++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,</a:t>
            </a:r>
            <a:r>
              <a:rPr sz="2400" spc="-25" dirty="0">
                <a:solidFill>
                  <a:srgbClr val="967A2C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--</a:t>
            </a:r>
            <a:r>
              <a:rPr sz="2400" dirty="0">
                <a:solidFill>
                  <a:srgbClr val="967A2C"/>
                </a:solidFill>
                <a:latin typeface="宋体"/>
                <a:cs typeface="宋体"/>
              </a:rPr>
              <a:t>):</a:t>
            </a:r>
            <a:r>
              <a:rPr sz="2400" spc="-4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400" dirty="0">
                <a:latin typeface="微软雅黑"/>
                <a:cs typeface="微软雅黑"/>
              </a:rPr>
              <a:t>先计算表达式的值，最后再修改变 量的取值。</a:t>
            </a:r>
            <a:endParaRPr sz="2400">
              <a:latin typeface="微软雅黑"/>
              <a:cs typeface="微软雅黑"/>
            </a:endParaRPr>
          </a:p>
          <a:p>
            <a:pPr marL="165735" indent="-153035">
              <a:lnSpc>
                <a:spcPct val="100000"/>
              </a:lnSpc>
              <a:spcBef>
                <a:spcPts val="1440"/>
              </a:spcBef>
              <a:buSzPct val="95833"/>
              <a:buFont typeface=""/>
              <a:buChar char="•"/>
              <a:tabLst>
                <a:tab pos="165735" algn="l"/>
              </a:tabLst>
            </a:pPr>
            <a:r>
              <a:rPr sz="2400" dirty="0">
                <a:latin typeface="微软雅黑"/>
                <a:cs typeface="微软雅黑"/>
              </a:rPr>
              <a:t>自增和自减的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操作对象</a:t>
            </a:r>
            <a:r>
              <a:rPr sz="2400" dirty="0">
                <a:latin typeface="微软雅黑"/>
                <a:cs typeface="微软雅黑"/>
              </a:rPr>
              <a:t>只能是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变量</a:t>
            </a:r>
            <a:r>
              <a:rPr sz="2400" dirty="0">
                <a:latin typeface="微软雅黑"/>
                <a:cs typeface="微软雅黑"/>
              </a:rPr>
              <a:t>。</a:t>
            </a:r>
            <a:r>
              <a:rPr sz="2400" dirty="0">
                <a:latin typeface="宋体"/>
                <a:cs typeface="宋体"/>
              </a:rPr>
              <a:t>  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952" y="2640856"/>
            <a:ext cx="302260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800" spc="-5" dirty="0">
                <a:latin typeface="宋体"/>
                <a:cs typeface="宋体"/>
              </a:rPr>
              <a:t>int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y=(++x)*3; 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2311" y="2578607"/>
            <a:ext cx="7543800" cy="523240"/>
          </a:xfrm>
          <a:custGeom>
            <a:avLst/>
            <a:gdLst/>
            <a:ahLst/>
            <a:cxnLst/>
            <a:rect l="l" t="t" r="r" b="b"/>
            <a:pathLst>
              <a:path w="7543800" h="523239">
                <a:moveTo>
                  <a:pt x="0" y="0"/>
                </a:moveTo>
                <a:lnTo>
                  <a:pt x="7543800" y="0"/>
                </a:lnTo>
                <a:lnTo>
                  <a:pt x="7543800" y="522732"/>
                </a:lnTo>
                <a:lnTo>
                  <a:pt x="0" y="522732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8689" y="2578607"/>
            <a:ext cx="7367905" cy="52324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54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200"/>
              </a:spcBef>
              <a:tabLst>
                <a:tab pos="718185" algn="l"/>
              </a:tabLst>
            </a:pPr>
            <a:r>
              <a:rPr sz="2800" spc="-5" dirty="0">
                <a:latin typeface="Book Antiqua"/>
                <a:cs typeface="Book Antiqua"/>
              </a:rPr>
              <a:t>int	y =</a:t>
            </a:r>
            <a:r>
              <a:rPr sz="2800" dirty="0">
                <a:latin typeface="Book Antiqua"/>
                <a:cs typeface="Book Antiqua"/>
              </a:rPr>
              <a:t> </a:t>
            </a:r>
            <a:r>
              <a:rPr sz="2800" spc="-5" dirty="0">
                <a:latin typeface="Book Antiqua"/>
                <a:cs typeface="Book Antiqua"/>
              </a:rPr>
              <a:t>(x++)*3;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129662"/>
            <a:ext cx="3048000" cy="9829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800" dirty="0">
                <a:latin typeface="宋体"/>
                <a:cs typeface="宋体"/>
              </a:rPr>
              <a:t>例如： 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int x = 5</a:t>
            </a:r>
            <a:r>
              <a:rPr sz="2800" spc="-7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;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8059" y="2284476"/>
            <a:ext cx="2933700" cy="957580"/>
          </a:xfrm>
          <a:custGeom>
            <a:avLst/>
            <a:gdLst/>
            <a:ahLst/>
            <a:cxnLst/>
            <a:rect l="l" t="t" r="r" b="b"/>
            <a:pathLst>
              <a:path w="2933700" h="957580">
                <a:moveTo>
                  <a:pt x="2933700" y="457200"/>
                </a:moveTo>
                <a:lnTo>
                  <a:pt x="419100" y="457200"/>
                </a:lnTo>
                <a:lnTo>
                  <a:pt x="419100" y="91440"/>
                </a:lnTo>
                <a:lnTo>
                  <a:pt x="426256" y="55465"/>
                </a:lnTo>
                <a:lnTo>
                  <a:pt x="445850" y="26265"/>
                </a:lnTo>
                <a:lnTo>
                  <a:pt x="474930" y="6791"/>
                </a:lnTo>
                <a:lnTo>
                  <a:pt x="510539" y="0"/>
                </a:lnTo>
                <a:lnTo>
                  <a:pt x="2842260" y="0"/>
                </a:lnTo>
                <a:lnTo>
                  <a:pt x="2877798" y="6791"/>
                </a:lnTo>
                <a:lnTo>
                  <a:pt x="2906853" y="26265"/>
                </a:lnTo>
                <a:lnTo>
                  <a:pt x="2926472" y="55465"/>
                </a:lnTo>
                <a:lnTo>
                  <a:pt x="2933700" y="91440"/>
                </a:lnTo>
                <a:lnTo>
                  <a:pt x="2933700" y="457200"/>
                </a:lnTo>
                <a:close/>
              </a:path>
              <a:path w="2933700" h="957580">
                <a:moveTo>
                  <a:pt x="2842260" y="548640"/>
                </a:moveTo>
                <a:lnTo>
                  <a:pt x="510539" y="548640"/>
                </a:lnTo>
                <a:lnTo>
                  <a:pt x="474929" y="541402"/>
                </a:lnTo>
                <a:lnTo>
                  <a:pt x="445843" y="521762"/>
                </a:lnTo>
                <a:lnTo>
                  <a:pt x="426229" y="492656"/>
                </a:lnTo>
                <a:lnTo>
                  <a:pt x="419036" y="457022"/>
                </a:lnTo>
                <a:lnTo>
                  <a:pt x="419100" y="457200"/>
                </a:lnTo>
                <a:lnTo>
                  <a:pt x="2933700" y="457200"/>
                </a:lnTo>
                <a:lnTo>
                  <a:pt x="2926472" y="492731"/>
                </a:lnTo>
                <a:lnTo>
                  <a:pt x="2906853" y="521784"/>
                </a:lnTo>
                <a:lnTo>
                  <a:pt x="2877798" y="541405"/>
                </a:lnTo>
                <a:lnTo>
                  <a:pt x="2842260" y="548640"/>
                </a:lnTo>
                <a:close/>
              </a:path>
              <a:path w="2933700" h="957580">
                <a:moveTo>
                  <a:pt x="0" y="957072"/>
                </a:moveTo>
                <a:lnTo>
                  <a:pt x="838200" y="548640"/>
                </a:lnTo>
                <a:lnTo>
                  <a:pt x="1466088" y="548640"/>
                </a:lnTo>
                <a:lnTo>
                  <a:pt x="0" y="957072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1890" y="2279002"/>
            <a:ext cx="2974975" cy="976630"/>
          </a:xfrm>
          <a:custGeom>
            <a:avLst/>
            <a:gdLst/>
            <a:ahLst/>
            <a:cxnLst/>
            <a:rect l="l" t="t" r="r" b="b"/>
            <a:pathLst>
              <a:path w="2974975" h="976629">
                <a:moveTo>
                  <a:pt x="851394" y="558800"/>
                </a:moveTo>
                <a:lnTo>
                  <a:pt x="546684" y="558800"/>
                </a:lnTo>
                <a:lnTo>
                  <a:pt x="541794" y="557530"/>
                </a:lnTo>
                <a:lnTo>
                  <a:pt x="532091" y="557530"/>
                </a:lnTo>
                <a:lnTo>
                  <a:pt x="522681" y="554989"/>
                </a:lnTo>
                <a:lnTo>
                  <a:pt x="509257" y="551180"/>
                </a:lnTo>
                <a:lnTo>
                  <a:pt x="504990" y="548639"/>
                </a:lnTo>
                <a:lnTo>
                  <a:pt x="500837" y="546100"/>
                </a:lnTo>
                <a:lnTo>
                  <a:pt x="496811" y="544830"/>
                </a:lnTo>
                <a:lnTo>
                  <a:pt x="492899" y="542289"/>
                </a:lnTo>
                <a:lnTo>
                  <a:pt x="489127" y="538480"/>
                </a:lnTo>
                <a:lnTo>
                  <a:pt x="485482" y="535939"/>
                </a:lnTo>
                <a:lnTo>
                  <a:pt x="481990" y="533400"/>
                </a:lnTo>
                <a:lnTo>
                  <a:pt x="478650" y="529589"/>
                </a:lnTo>
                <a:lnTo>
                  <a:pt x="475462" y="527050"/>
                </a:lnTo>
                <a:lnTo>
                  <a:pt x="458012" y="499110"/>
                </a:lnTo>
                <a:lnTo>
                  <a:pt x="456285" y="495300"/>
                </a:lnTo>
                <a:lnTo>
                  <a:pt x="454774" y="490219"/>
                </a:lnTo>
                <a:lnTo>
                  <a:pt x="453478" y="486410"/>
                </a:lnTo>
                <a:lnTo>
                  <a:pt x="452399" y="481330"/>
                </a:lnTo>
                <a:lnTo>
                  <a:pt x="451548" y="476250"/>
                </a:lnTo>
                <a:lnTo>
                  <a:pt x="450938" y="471169"/>
                </a:lnTo>
                <a:lnTo>
                  <a:pt x="450570" y="467360"/>
                </a:lnTo>
                <a:lnTo>
                  <a:pt x="450570" y="90169"/>
                </a:lnTo>
                <a:lnTo>
                  <a:pt x="454774" y="67310"/>
                </a:lnTo>
                <a:lnTo>
                  <a:pt x="456285" y="62230"/>
                </a:lnTo>
                <a:lnTo>
                  <a:pt x="458012" y="58419"/>
                </a:lnTo>
                <a:lnTo>
                  <a:pt x="459943" y="53339"/>
                </a:lnTo>
                <a:lnTo>
                  <a:pt x="462064" y="49530"/>
                </a:lnTo>
                <a:lnTo>
                  <a:pt x="478650" y="27939"/>
                </a:lnTo>
                <a:lnTo>
                  <a:pt x="481990" y="24130"/>
                </a:lnTo>
                <a:lnTo>
                  <a:pt x="485482" y="21589"/>
                </a:lnTo>
                <a:lnTo>
                  <a:pt x="489127" y="19050"/>
                </a:lnTo>
                <a:lnTo>
                  <a:pt x="492899" y="15239"/>
                </a:lnTo>
                <a:lnTo>
                  <a:pt x="496811" y="12700"/>
                </a:lnTo>
                <a:lnTo>
                  <a:pt x="500837" y="11430"/>
                </a:lnTo>
                <a:lnTo>
                  <a:pt x="504990" y="8889"/>
                </a:lnTo>
                <a:lnTo>
                  <a:pt x="509257" y="6350"/>
                </a:lnTo>
                <a:lnTo>
                  <a:pt x="518109" y="3810"/>
                </a:lnTo>
                <a:lnTo>
                  <a:pt x="532091" y="0"/>
                </a:lnTo>
                <a:lnTo>
                  <a:pt x="2892920" y="0"/>
                </a:lnTo>
                <a:lnTo>
                  <a:pt x="2906903" y="3810"/>
                </a:lnTo>
                <a:lnTo>
                  <a:pt x="2915754" y="6350"/>
                </a:lnTo>
                <a:lnTo>
                  <a:pt x="2920022" y="8889"/>
                </a:lnTo>
                <a:lnTo>
                  <a:pt x="537984" y="8889"/>
                </a:lnTo>
                <a:lnTo>
                  <a:pt x="533412" y="10160"/>
                </a:lnTo>
                <a:lnTo>
                  <a:pt x="529374" y="10160"/>
                </a:lnTo>
                <a:lnTo>
                  <a:pt x="524941" y="11430"/>
                </a:lnTo>
                <a:lnTo>
                  <a:pt x="525170" y="11430"/>
                </a:lnTo>
                <a:lnTo>
                  <a:pt x="520826" y="12700"/>
                </a:lnTo>
                <a:lnTo>
                  <a:pt x="521055" y="12700"/>
                </a:lnTo>
                <a:lnTo>
                  <a:pt x="516801" y="13969"/>
                </a:lnTo>
                <a:lnTo>
                  <a:pt x="517016" y="13969"/>
                </a:lnTo>
                <a:lnTo>
                  <a:pt x="512864" y="15239"/>
                </a:lnTo>
                <a:lnTo>
                  <a:pt x="513079" y="15239"/>
                </a:lnTo>
                <a:lnTo>
                  <a:pt x="509028" y="17780"/>
                </a:lnTo>
                <a:lnTo>
                  <a:pt x="509231" y="17780"/>
                </a:lnTo>
                <a:lnTo>
                  <a:pt x="505282" y="19050"/>
                </a:lnTo>
                <a:lnTo>
                  <a:pt x="505485" y="19050"/>
                </a:lnTo>
                <a:lnTo>
                  <a:pt x="501650" y="21589"/>
                </a:lnTo>
                <a:lnTo>
                  <a:pt x="501853" y="21589"/>
                </a:lnTo>
                <a:lnTo>
                  <a:pt x="498132" y="24130"/>
                </a:lnTo>
                <a:lnTo>
                  <a:pt x="498322" y="24130"/>
                </a:lnTo>
                <a:lnTo>
                  <a:pt x="494741" y="26669"/>
                </a:lnTo>
                <a:lnTo>
                  <a:pt x="494919" y="26669"/>
                </a:lnTo>
                <a:lnTo>
                  <a:pt x="491464" y="29210"/>
                </a:lnTo>
                <a:lnTo>
                  <a:pt x="491642" y="29210"/>
                </a:lnTo>
                <a:lnTo>
                  <a:pt x="488314" y="31750"/>
                </a:lnTo>
                <a:lnTo>
                  <a:pt x="488480" y="31750"/>
                </a:lnTo>
                <a:lnTo>
                  <a:pt x="485305" y="34289"/>
                </a:lnTo>
                <a:lnTo>
                  <a:pt x="485470" y="34289"/>
                </a:lnTo>
                <a:lnTo>
                  <a:pt x="482434" y="36830"/>
                </a:lnTo>
                <a:lnTo>
                  <a:pt x="482587" y="36830"/>
                </a:lnTo>
                <a:lnTo>
                  <a:pt x="479704" y="40639"/>
                </a:lnTo>
                <a:lnTo>
                  <a:pt x="479856" y="40639"/>
                </a:lnTo>
                <a:lnTo>
                  <a:pt x="478044" y="43180"/>
                </a:lnTo>
                <a:lnTo>
                  <a:pt x="477278" y="43180"/>
                </a:lnTo>
                <a:lnTo>
                  <a:pt x="474725" y="46989"/>
                </a:lnTo>
                <a:lnTo>
                  <a:pt x="472465" y="50800"/>
                </a:lnTo>
                <a:lnTo>
                  <a:pt x="470382" y="54610"/>
                </a:lnTo>
                <a:lnTo>
                  <a:pt x="468477" y="58419"/>
                </a:lnTo>
                <a:lnTo>
                  <a:pt x="466737" y="62230"/>
                </a:lnTo>
                <a:lnTo>
                  <a:pt x="465188" y="66039"/>
                </a:lnTo>
                <a:lnTo>
                  <a:pt x="463829" y="69850"/>
                </a:lnTo>
                <a:lnTo>
                  <a:pt x="462673" y="73660"/>
                </a:lnTo>
                <a:lnTo>
                  <a:pt x="461962" y="77469"/>
                </a:lnTo>
                <a:lnTo>
                  <a:pt x="461759" y="77469"/>
                </a:lnTo>
                <a:lnTo>
                  <a:pt x="460946" y="82550"/>
                </a:lnTo>
                <a:lnTo>
                  <a:pt x="460400" y="86360"/>
                </a:lnTo>
                <a:lnTo>
                  <a:pt x="460082" y="91439"/>
                </a:lnTo>
                <a:lnTo>
                  <a:pt x="460070" y="466089"/>
                </a:lnTo>
                <a:lnTo>
                  <a:pt x="460425" y="471169"/>
                </a:lnTo>
                <a:lnTo>
                  <a:pt x="460984" y="474980"/>
                </a:lnTo>
                <a:lnTo>
                  <a:pt x="461759" y="480060"/>
                </a:lnTo>
                <a:lnTo>
                  <a:pt x="461962" y="480060"/>
                </a:lnTo>
                <a:lnTo>
                  <a:pt x="462724" y="483869"/>
                </a:lnTo>
                <a:lnTo>
                  <a:pt x="463905" y="487680"/>
                </a:lnTo>
                <a:lnTo>
                  <a:pt x="465277" y="491489"/>
                </a:lnTo>
                <a:lnTo>
                  <a:pt x="466826" y="495300"/>
                </a:lnTo>
                <a:lnTo>
                  <a:pt x="468566" y="499110"/>
                </a:lnTo>
                <a:lnTo>
                  <a:pt x="470496" y="502919"/>
                </a:lnTo>
                <a:lnTo>
                  <a:pt x="472592" y="506730"/>
                </a:lnTo>
                <a:lnTo>
                  <a:pt x="474852" y="510539"/>
                </a:lnTo>
                <a:lnTo>
                  <a:pt x="477278" y="514350"/>
                </a:lnTo>
                <a:lnTo>
                  <a:pt x="478044" y="514350"/>
                </a:lnTo>
                <a:lnTo>
                  <a:pt x="479856" y="516889"/>
                </a:lnTo>
                <a:lnTo>
                  <a:pt x="479704" y="516889"/>
                </a:lnTo>
                <a:lnTo>
                  <a:pt x="482587" y="520700"/>
                </a:lnTo>
                <a:lnTo>
                  <a:pt x="482434" y="520700"/>
                </a:lnTo>
                <a:lnTo>
                  <a:pt x="485470" y="523239"/>
                </a:lnTo>
                <a:lnTo>
                  <a:pt x="485305" y="523239"/>
                </a:lnTo>
                <a:lnTo>
                  <a:pt x="488480" y="525780"/>
                </a:lnTo>
                <a:lnTo>
                  <a:pt x="488314" y="525780"/>
                </a:lnTo>
                <a:lnTo>
                  <a:pt x="491642" y="528319"/>
                </a:lnTo>
                <a:lnTo>
                  <a:pt x="491464" y="528319"/>
                </a:lnTo>
                <a:lnTo>
                  <a:pt x="494919" y="530860"/>
                </a:lnTo>
                <a:lnTo>
                  <a:pt x="494741" y="530860"/>
                </a:lnTo>
                <a:lnTo>
                  <a:pt x="498322" y="533400"/>
                </a:lnTo>
                <a:lnTo>
                  <a:pt x="498132" y="533400"/>
                </a:lnTo>
                <a:lnTo>
                  <a:pt x="501853" y="535939"/>
                </a:lnTo>
                <a:lnTo>
                  <a:pt x="501650" y="535939"/>
                </a:lnTo>
                <a:lnTo>
                  <a:pt x="505485" y="538480"/>
                </a:lnTo>
                <a:lnTo>
                  <a:pt x="505282" y="538480"/>
                </a:lnTo>
                <a:lnTo>
                  <a:pt x="509231" y="539750"/>
                </a:lnTo>
                <a:lnTo>
                  <a:pt x="509028" y="539750"/>
                </a:lnTo>
                <a:lnTo>
                  <a:pt x="513079" y="542289"/>
                </a:lnTo>
                <a:lnTo>
                  <a:pt x="512864" y="542289"/>
                </a:lnTo>
                <a:lnTo>
                  <a:pt x="517016" y="543560"/>
                </a:lnTo>
                <a:lnTo>
                  <a:pt x="516801" y="543560"/>
                </a:lnTo>
                <a:lnTo>
                  <a:pt x="521055" y="544830"/>
                </a:lnTo>
                <a:lnTo>
                  <a:pt x="520826" y="544830"/>
                </a:lnTo>
                <a:lnTo>
                  <a:pt x="525170" y="546100"/>
                </a:lnTo>
                <a:lnTo>
                  <a:pt x="524941" y="546100"/>
                </a:lnTo>
                <a:lnTo>
                  <a:pt x="529374" y="547369"/>
                </a:lnTo>
                <a:lnTo>
                  <a:pt x="533412" y="547369"/>
                </a:lnTo>
                <a:lnTo>
                  <a:pt x="537984" y="548639"/>
                </a:lnTo>
                <a:lnTo>
                  <a:pt x="872223" y="548639"/>
                </a:lnTo>
                <a:lnTo>
                  <a:pt x="851394" y="558800"/>
                </a:lnTo>
                <a:close/>
              </a:path>
              <a:path w="2974975" h="976629">
                <a:moveTo>
                  <a:pt x="2947873" y="44450"/>
                </a:moveTo>
                <a:lnTo>
                  <a:pt x="2945155" y="40639"/>
                </a:lnTo>
                <a:lnTo>
                  <a:pt x="2945307" y="40639"/>
                </a:lnTo>
                <a:lnTo>
                  <a:pt x="2942424" y="36830"/>
                </a:lnTo>
                <a:lnTo>
                  <a:pt x="2942577" y="36830"/>
                </a:lnTo>
                <a:lnTo>
                  <a:pt x="2939541" y="34289"/>
                </a:lnTo>
                <a:lnTo>
                  <a:pt x="2939707" y="34289"/>
                </a:lnTo>
                <a:lnTo>
                  <a:pt x="2936532" y="31750"/>
                </a:lnTo>
                <a:lnTo>
                  <a:pt x="2936697" y="31750"/>
                </a:lnTo>
                <a:lnTo>
                  <a:pt x="2933369" y="29210"/>
                </a:lnTo>
                <a:lnTo>
                  <a:pt x="2933547" y="29210"/>
                </a:lnTo>
                <a:lnTo>
                  <a:pt x="2930093" y="26669"/>
                </a:lnTo>
                <a:lnTo>
                  <a:pt x="2930271" y="26669"/>
                </a:lnTo>
                <a:lnTo>
                  <a:pt x="2926689" y="24130"/>
                </a:lnTo>
                <a:lnTo>
                  <a:pt x="2926880" y="24130"/>
                </a:lnTo>
                <a:lnTo>
                  <a:pt x="2923159" y="21589"/>
                </a:lnTo>
                <a:lnTo>
                  <a:pt x="2923362" y="21589"/>
                </a:lnTo>
                <a:lnTo>
                  <a:pt x="2919526" y="19050"/>
                </a:lnTo>
                <a:lnTo>
                  <a:pt x="2919729" y="19050"/>
                </a:lnTo>
                <a:lnTo>
                  <a:pt x="2915780" y="17780"/>
                </a:lnTo>
                <a:lnTo>
                  <a:pt x="2915983" y="17780"/>
                </a:lnTo>
                <a:lnTo>
                  <a:pt x="2911932" y="15239"/>
                </a:lnTo>
                <a:lnTo>
                  <a:pt x="2912148" y="15239"/>
                </a:lnTo>
                <a:lnTo>
                  <a:pt x="2907995" y="13969"/>
                </a:lnTo>
                <a:lnTo>
                  <a:pt x="2908211" y="13969"/>
                </a:lnTo>
                <a:lnTo>
                  <a:pt x="2903956" y="12700"/>
                </a:lnTo>
                <a:lnTo>
                  <a:pt x="2904185" y="12700"/>
                </a:lnTo>
                <a:lnTo>
                  <a:pt x="2899841" y="11430"/>
                </a:lnTo>
                <a:lnTo>
                  <a:pt x="2900070" y="11430"/>
                </a:lnTo>
                <a:lnTo>
                  <a:pt x="2895638" y="10160"/>
                </a:lnTo>
                <a:lnTo>
                  <a:pt x="2891599" y="10160"/>
                </a:lnTo>
                <a:lnTo>
                  <a:pt x="2887027" y="8889"/>
                </a:lnTo>
                <a:lnTo>
                  <a:pt x="2920022" y="8889"/>
                </a:lnTo>
                <a:lnTo>
                  <a:pt x="2924175" y="11430"/>
                </a:lnTo>
                <a:lnTo>
                  <a:pt x="2928200" y="12700"/>
                </a:lnTo>
                <a:lnTo>
                  <a:pt x="2932112" y="15239"/>
                </a:lnTo>
                <a:lnTo>
                  <a:pt x="2935884" y="19050"/>
                </a:lnTo>
                <a:lnTo>
                  <a:pt x="2939529" y="21589"/>
                </a:lnTo>
                <a:lnTo>
                  <a:pt x="2943021" y="24130"/>
                </a:lnTo>
                <a:lnTo>
                  <a:pt x="2946361" y="27939"/>
                </a:lnTo>
                <a:lnTo>
                  <a:pt x="2949549" y="30480"/>
                </a:lnTo>
                <a:lnTo>
                  <a:pt x="2952572" y="34289"/>
                </a:lnTo>
                <a:lnTo>
                  <a:pt x="2955429" y="38100"/>
                </a:lnTo>
                <a:lnTo>
                  <a:pt x="2958122" y="41910"/>
                </a:lnTo>
                <a:lnTo>
                  <a:pt x="2958956" y="43180"/>
                </a:lnTo>
                <a:lnTo>
                  <a:pt x="2947733" y="43180"/>
                </a:lnTo>
                <a:lnTo>
                  <a:pt x="2947873" y="44450"/>
                </a:lnTo>
                <a:close/>
              </a:path>
              <a:path w="2974975" h="976629">
                <a:moveTo>
                  <a:pt x="477138" y="44450"/>
                </a:moveTo>
                <a:lnTo>
                  <a:pt x="477278" y="43180"/>
                </a:lnTo>
                <a:lnTo>
                  <a:pt x="478044" y="43180"/>
                </a:lnTo>
                <a:lnTo>
                  <a:pt x="477138" y="44450"/>
                </a:lnTo>
                <a:close/>
              </a:path>
              <a:path w="2974975" h="976629">
                <a:moveTo>
                  <a:pt x="2963303" y="78739"/>
                </a:moveTo>
                <a:lnTo>
                  <a:pt x="2962287" y="73660"/>
                </a:lnTo>
                <a:lnTo>
                  <a:pt x="2961106" y="69850"/>
                </a:lnTo>
                <a:lnTo>
                  <a:pt x="2959735" y="66039"/>
                </a:lnTo>
                <a:lnTo>
                  <a:pt x="2958185" y="62230"/>
                </a:lnTo>
                <a:lnTo>
                  <a:pt x="2956433" y="58419"/>
                </a:lnTo>
                <a:lnTo>
                  <a:pt x="2954515" y="54610"/>
                </a:lnTo>
                <a:lnTo>
                  <a:pt x="2952419" y="50800"/>
                </a:lnTo>
                <a:lnTo>
                  <a:pt x="2950159" y="46989"/>
                </a:lnTo>
                <a:lnTo>
                  <a:pt x="2947733" y="43180"/>
                </a:lnTo>
                <a:lnTo>
                  <a:pt x="2958956" y="43180"/>
                </a:lnTo>
                <a:lnTo>
                  <a:pt x="2960624" y="45719"/>
                </a:lnTo>
                <a:lnTo>
                  <a:pt x="2962948" y="49530"/>
                </a:lnTo>
                <a:lnTo>
                  <a:pt x="2965069" y="53339"/>
                </a:lnTo>
                <a:lnTo>
                  <a:pt x="2966999" y="58419"/>
                </a:lnTo>
                <a:lnTo>
                  <a:pt x="2968726" y="62230"/>
                </a:lnTo>
                <a:lnTo>
                  <a:pt x="2970237" y="67310"/>
                </a:lnTo>
                <a:lnTo>
                  <a:pt x="2971533" y="71119"/>
                </a:lnTo>
                <a:lnTo>
                  <a:pt x="2972612" y="76200"/>
                </a:lnTo>
                <a:lnTo>
                  <a:pt x="2972825" y="77469"/>
                </a:lnTo>
                <a:lnTo>
                  <a:pt x="2963252" y="77469"/>
                </a:lnTo>
                <a:lnTo>
                  <a:pt x="2963303" y="78739"/>
                </a:lnTo>
                <a:close/>
              </a:path>
              <a:path w="2974975" h="976629">
                <a:moveTo>
                  <a:pt x="461708" y="78739"/>
                </a:moveTo>
                <a:lnTo>
                  <a:pt x="461759" y="77469"/>
                </a:lnTo>
                <a:lnTo>
                  <a:pt x="461962" y="77469"/>
                </a:lnTo>
                <a:lnTo>
                  <a:pt x="461708" y="78739"/>
                </a:lnTo>
                <a:close/>
              </a:path>
              <a:path w="2974975" h="976629">
                <a:moveTo>
                  <a:pt x="2972825" y="480060"/>
                </a:moveTo>
                <a:lnTo>
                  <a:pt x="2963252" y="480060"/>
                </a:lnTo>
                <a:lnTo>
                  <a:pt x="2964065" y="474980"/>
                </a:lnTo>
                <a:lnTo>
                  <a:pt x="2964611" y="471169"/>
                </a:lnTo>
                <a:lnTo>
                  <a:pt x="2964941" y="466089"/>
                </a:lnTo>
                <a:lnTo>
                  <a:pt x="2964929" y="91439"/>
                </a:lnTo>
                <a:lnTo>
                  <a:pt x="2964586" y="86360"/>
                </a:lnTo>
                <a:lnTo>
                  <a:pt x="2964027" y="82550"/>
                </a:lnTo>
                <a:lnTo>
                  <a:pt x="2963252" y="77469"/>
                </a:lnTo>
                <a:lnTo>
                  <a:pt x="2972825" y="77469"/>
                </a:lnTo>
                <a:lnTo>
                  <a:pt x="2973463" y="81280"/>
                </a:lnTo>
                <a:lnTo>
                  <a:pt x="2974073" y="86360"/>
                </a:lnTo>
                <a:lnTo>
                  <a:pt x="2974441" y="90169"/>
                </a:lnTo>
                <a:lnTo>
                  <a:pt x="2974441" y="467360"/>
                </a:lnTo>
                <a:lnTo>
                  <a:pt x="2974073" y="471169"/>
                </a:lnTo>
                <a:lnTo>
                  <a:pt x="2973463" y="476250"/>
                </a:lnTo>
                <a:lnTo>
                  <a:pt x="2972825" y="480060"/>
                </a:lnTo>
                <a:close/>
              </a:path>
              <a:path w="2974975" h="976629">
                <a:moveTo>
                  <a:pt x="461962" y="480060"/>
                </a:moveTo>
                <a:lnTo>
                  <a:pt x="461759" y="480060"/>
                </a:lnTo>
                <a:lnTo>
                  <a:pt x="461708" y="478789"/>
                </a:lnTo>
                <a:lnTo>
                  <a:pt x="461962" y="480060"/>
                </a:lnTo>
                <a:close/>
              </a:path>
              <a:path w="2974975" h="976629">
                <a:moveTo>
                  <a:pt x="2958956" y="514350"/>
                </a:moveTo>
                <a:lnTo>
                  <a:pt x="2947733" y="514350"/>
                </a:lnTo>
                <a:lnTo>
                  <a:pt x="2950286" y="510539"/>
                </a:lnTo>
                <a:lnTo>
                  <a:pt x="2952546" y="506730"/>
                </a:lnTo>
                <a:lnTo>
                  <a:pt x="2954629" y="502919"/>
                </a:lnTo>
                <a:lnTo>
                  <a:pt x="2956534" y="499110"/>
                </a:lnTo>
                <a:lnTo>
                  <a:pt x="2958274" y="495300"/>
                </a:lnTo>
                <a:lnTo>
                  <a:pt x="2959823" y="491489"/>
                </a:lnTo>
                <a:lnTo>
                  <a:pt x="2961182" y="487680"/>
                </a:lnTo>
                <a:lnTo>
                  <a:pt x="2962338" y="483869"/>
                </a:lnTo>
                <a:lnTo>
                  <a:pt x="2963303" y="478789"/>
                </a:lnTo>
                <a:lnTo>
                  <a:pt x="2963252" y="480060"/>
                </a:lnTo>
                <a:lnTo>
                  <a:pt x="2972825" y="480060"/>
                </a:lnTo>
                <a:lnTo>
                  <a:pt x="2972612" y="481330"/>
                </a:lnTo>
                <a:lnTo>
                  <a:pt x="2971533" y="486410"/>
                </a:lnTo>
                <a:lnTo>
                  <a:pt x="2970237" y="490219"/>
                </a:lnTo>
                <a:lnTo>
                  <a:pt x="2968726" y="495300"/>
                </a:lnTo>
                <a:lnTo>
                  <a:pt x="2966999" y="499110"/>
                </a:lnTo>
                <a:lnTo>
                  <a:pt x="2965069" y="504189"/>
                </a:lnTo>
                <a:lnTo>
                  <a:pt x="2962948" y="508000"/>
                </a:lnTo>
                <a:lnTo>
                  <a:pt x="2960624" y="511810"/>
                </a:lnTo>
                <a:lnTo>
                  <a:pt x="2958956" y="514350"/>
                </a:lnTo>
                <a:close/>
              </a:path>
              <a:path w="2974975" h="976629">
                <a:moveTo>
                  <a:pt x="478044" y="514350"/>
                </a:moveTo>
                <a:lnTo>
                  <a:pt x="477278" y="514350"/>
                </a:lnTo>
                <a:lnTo>
                  <a:pt x="477138" y="513080"/>
                </a:lnTo>
                <a:lnTo>
                  <a:pt x="478044" y="514350"/>
                </a:lnTo>
                <a:close/>
              </a:path>
              <a:path w="2974975" h="976629">
                <a:moveTo>
                  <a:pt x="41926" y="965200"/>
                </a:moveTo>
                <a:lnTo>
                  <a:pt x="38176" y="965200"/>
                </a:lnTo>
                <a:lnTo>
                  <a:pt x="85307" y="942285"/>
                </a:lnTo>
                <a:lnTo>
                  <a:pt x="1502308" y="548639"/>
                </a:lnTo>
                <a:lnTo>
                  <a:pt x="2887027" y="548639"/>
                </a:lnTo>
                <a:lnTo>
                  <a:pt x="2891599" y="547369"/>
                </a:lnTo>
                <a:lnTo>
                  <a:pt x="2895638" y="547369"/>
                </a:lnTo>
                <a:lnTo>
                  <a:pt x="2900070" y="546100"/>
                </a:lnTo>
                <a:lnTo>
                  <a:pt x="2899841" y="546100"/>
                </a:lnTo>
                <a:lnTo>
                  <a:pt x="2904185" y="544830"/>
                </a:lnTo>
                <a:lnTo>
                  <a:pt x="2903956" y="544830"/>
                </a:lnTo>
                <a:lnTo>
                  <a:pt x="2908211" y="543560"/>
                </a:lnTo>
                <a:lnTo>
                  <a:pt x="2907995" y="543560"/>
                </a:lnTo>
                <a:lnTo>
                  <a:pt x="2912148" y="542289"/>
                </a:lnTo>
                <a:lnTo>
                  <a:pt x="2911932" y="542289"/>
                </a:lnTo>
                <a:lnTo>
                  <a:pt x="2915983" y="539750"/>
                </a:lnTo>
                <a:lnTo>
                  <a:pt x="2915780" y="539750"/>
                </a:lnTo>
                <a:lnTo>
                  <a:pt x="2919729" y="538480"/>
                </a:lnTo>
                <a:lnTo>
                  <a:pt x="2919526" y="538480"/>
                </a:lnTo>
                <a:lnTo>
                  <a:pt x="2923362" y="535939"/>
                </a:lnTo>
                <a:lnTo>
                  <a:pt x="2923159" y="535939"/>
                </a:lnTo>
                <a:lnTo>
                  <a:pt x="2926880" y="533400"/>
                </a:lnTo>
                <a:lnTo>
                  <a:pt x="2926689" y="533400"/>
                </a:lnTo>
                <a:lnTo>
                  <a:pt x="2930271" y="530860"/>
                </a:lnTo>
                <a:lnTo>
                  <a:pt x="2930093" y="530860"/>
                </a:lnTo>
                <a:lnTo>
                  <a:pt x="2933547" y="528319"/>
                </a:lnTo>
                <a:lnTo>
                  <a:pt x="2933369" y="528319"/>
                </a:lnTo>
                <a:lnTo>
                  <a:pt x="2936697" y="525780"/>
                </a:lnTo>
                <a:lnTo>
                  <a:pt x="2936532" y="525780"/>
                </a:lnTo>
                <a:lnTo>
                  <a:pt x="2939707" y="523239"/>
                </a:lnTo>
                <a:lnTo>
                  <a:pt x="2939541" y="523239"/>
                </a:lnTo>
                <a:lnTo>
                  <a:pt x="2942577" y="520700"/>
                </a:lnTo>
                <a:lnTo>
                  <a:pt x="2942424" y="520700"/>
                </a:lnTo>
                <a:lnTo>
                  <a:pt x="2945307" y="516889"/>
                </a:lnTo>
                <a:lnTo>
                  <a:pt x="2945155" y="516889"/>
                </a:lnTo>
                <a:lnTo>
                  <a:pt x="2947873" y="513080"/>
                </a:lnTo>
                <a:lnTo>
                  <a:pt x="2947733" y="514350"/>
                </a:lnTo>
                <a:lnTo>
                  <a:pt x="2958956" y="514350"/>
                </a:lnTo>
                <a:lnTo>
                  <a:pt x="2946361" y="529589"/>
                </a:lnTo>
                <a:lnTo>
                  <a:pt x="2943021" y="533400"/>
                </a:lnTo>
                <a:lnTo>
                  <a:pt x="2939529" y="535939"/>
                </a:lnTo>
                <a:lnTo>
                  <a:pt x="2935884" y="538480"/>
                </a:lnTo>
                <a:lnTo>
                  <a:pt x="2932112" y="542289"/>
                </a:lnTo>
                <a:lnTo>
                  <a:pt x="2928200" y="544830"/>
                </a:lnTo>
                <a:lnTo>
                  <a:pt x="2924175" y="546100"/>
                </a:lnTo>
                <a:lnTo>
                  <a:pt x="2920022" y="548639"/>
                </a:lnTo>
                <a:lnTo>
                  <a:pt x="2915754" y="551180"/>
                </a:lnTo>
                <a:lnTo>
                  <a:pt x="2906903" y="553719"/>
                </a:lnTo>
                <a:lnTo>
                  <a:pt x="2892920" y="557530"/>
                </a:lnTo>
                <a:lnTo>
                  <a:pt x="1504226" y="557530"/>
                </a:lnTo>
                <a:lnTo>
                  <a:pt x="41926" y="965200"/>
                </a:lnTo>
                <a:close/>
              </a:path>
              <a:path w="2974975" h="976629">
                <a:moveTo>
                  <a:pt x="38604" y="955259"/>
                </a:moveTo>
                <a:lnTo>
                  <a:pt x="872223" y="548639"/>
                </a:lnTo>
                <a:lnTo>
                  <a:pt x="874284" y="558696"/>
                </a:lnTo>
                <a:lnTo>
                  <a:pt x="85307" y="942285"/>
                </a:lnTo>
                <a:lnTo>
                  <a:pt x="38604" y="955259"/>
                </a:lnTo>
                <a:close/>
              </a:path>
              <a:path w="2974975" h="976629">
                <a:moveTo>
                  <a:pt x="874284" y="558696"/>
                </a:moveTo>
                <a:lnTo>
                  <a:pt x="872223" y="548639"/>
                </a:lnTo>
                <a:lnTo>
                  <a:pt x="894969" y="548639"/>
                </a:lnTo>
                <a:lnTo>
                  <a:pt x="874284" y="558696"/>
                </a:lnTo>
                <a:close/>
              </a:path>
              <a:path w="2974975" h="976629">
                <a:moveTo>
                  <a:pt x="2878328" y="558800"/>
                </a:moveTo>
                <a:lnTo>
                  <a:pt x="1502956" y="558800"/>
                </a:lnTo>
                <a:lnTo>
                  <a:pt x="1504226" y="557530"/>
                </a:lnTo>
                <a:lnTo>
                  <a:pt x="2883217" y="557530"/>
                </a:lnTo>
                <a:lnTo>
                  <a:pt x="2878328" y="558800"/>
                </a:lnTo>
                <a:close/>
              </a:path>
              <a:path w="2974975" h="976629">
                <a:moveTo>
                  <a:pt x="874306" y="558800"/>
                </a:moveTo>
                <a:lnTo>
                  <a:pt x="874071" y="558800"/>
                </a:lnTo>
                <a:lnTo>
                  <a:pt x="874284" y="558696"/>
                </a:lnTo>
                <a:close/>
              </a:path>
              <a:path w="2974975" h="976629">
                <a:moveTo>
                  <a:pt x="38176" y="965200"/>
                </a:moveTo>
                <a:lnTo>
                  <a:pt x="35076" y="956980"/>
                </a:lnTo>
                <a:lnTo>
                  <a:pt x="38604" y="955259"/>
                </a:lnTo>
                <a:lnTo>
                  <a:pt x="85307" y="942285"/>
                </a:lnTo>
                <a:lnTo>
                  <a:pt x="38176" y="965200"/>
                </a:lnTo>
                <a:close/>
              </a:path>
              <a:path w="2974975" h="976629">
                <a:moveTo>
                  <a:pt x="35076" y="956980"/>
                </a:moveTo>
                <a:lnTo>
                  <a:pt x="34823" y="956310"/>
                </a:lnTo>
                <a:lnTo>
                  <a:pt x="38604" y="955259"/>
                </a:lnTo>
                <a:lnTo>
                  <a:pt x="35076" y="956980"/>
                </a:lnTo>
                <a:close/>
              </a:path>
              <a:path w="2974975" h="976629">
                <a:moveTo>
                  <a:pt x="927" y="976630"/>
                </a:moveTo>
                <a:lnTo>
                  <a:pt x="0" y="974089"/>
                </a:lnTo>
                <a:lnTo>
                  <a:pt x="35076" y="956980"/>
                </a:lnTo>
                <a:lnTo>
                  <a:pt x="38176" y="965200"/>
                </a:lnTo>
                <a:lnTo>
                  <a:pt x="41926" y="965200"/>
                </a:lnTo>
                <a:lnTo>
                  <a:pt x="927" y="976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18406" y="2335974"/>
            <a:ext cx="1571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9145" algn="l"/>
              </a:tabLst>
            </a:pP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4	y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12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77284" y="3508247"/>
            <a:ext cx="3072765" cy="802005"/>
          </a:xfrm>
          <a:custGeom>
            <a:avLst/>
            <a:gdLst/>
            <a:ahLst/>
            <a:cxnLst/>
            <a:rect l="l" t="t" r="r" b="b"/>
            <a:pathLst>
              <a:path w="3072765" h="802004">
                <a:moveTo>
                  <a:pt x="3072384" y="419100"/>
                </a:moveTo>
                <a:lnTo>
                  <a:pt x="633983" y="419100"/>
                </a:lnTo>
                <a:lnTo>
                  <a:pt x="633983" y="83819"/>
                </a:lnTo>
                <a:lnTo>
                  <a:pt x="640388" y="51011"/>
                </a:lnTo>
                <a:lnTo>
                  <a:pt x="658296" y="24303"/>
                </a:lnTo>
                <a:lnTo>
                  <a:pt x="685002" y="6397"/>
                </a:lnTo>
                <a:lnTo>
                  <a:pt x="717803" y="0"/>
                </a:lnTo>
                <a:lnTo>
                  <a:pt x="2988564" y="0"/>
                </a:lnTo>
                <a:lnTo>
                  <a:pt x="3020999" y="6397"/>
                </a:lnTo>
                <a:lnTo>
                  <a:pt x="3047580" y="24303"/>
                </a:lnTo>
                <a:lnTo>
                  <a:pt x="3065609" y="51011"/>
                </a:lnTo>
                <a:lnTo>
                  <a:pt x="3072384" y="83819"/>
                </a:lnTo>
                <a:lnTo>
                  <a:pt x="3072384" y="292607"/>
                </a:lnTo>
                <a:lnTo>
                  <a:pt x="3072053" y="419023"/>
                </a:lnTo>
                <a:lnTo>
                  <a:pt x="3072384" y="419100"/>
                </a:lnTo>
                <a:close/>
              </a:path>
              <a:path w="3072765" h="802004">
                <a:moveTo>
                  <a:pt x="2988564" y="502919"/>
                </a:moveTo>
                <a:lnTo>
                  <a:pt x="717803" y="502919"/>
                </a:lnTo>
                <a:lnTo>
                  <a:pt x="684997" y="496313"/>
                </a:lnTo>
                <a:lnTo>
                  <a:pt x="658255" y="478331"/>
                </a:lnTo>
                <a:lnTo>
                  <a:pt x="640249" y="451668"/>
                </a:lnTo>
                <a:lnTo>
                  <a:pt x="633653" y="419023"/>
                </a:lnTo>
                <a:lnTo>
                  <a:pt x="633983" y="419100"/>
                </a:lnTo>
                <a:lnTo>
                  <a:pt x="3072384" y="419100"/>
                </a:lnTo>
                <a:lnTo>
                  <a:pt x="3065609" y="451701"/>
                </a:lnTo>
                <a:lnTo>
                  <a:pt x="3047580" y="478340"/>
                </a:lnTo>
                <a:lnTo>
                  <a:pt x="3020999" y="496315"/>
                </a:lnTo>
                <a:lnTo>
                  <a:pt x="2988564" y="502919"/>
                </a:lnTo>
                <a:close/>
              </a:path>
              <a:path w="3072765" h="802004">
                <a:moveTo>
                  <a:pt x="0" y="801624"/>
                </a:moveTo>
                <a:lnTo>
                  <a:pt x="1039367" y="502919"/>
                </a:lnTo>
                <a:lnTo>
                  <a:pt x="1648967" y="502919"/>
                </a:lnTo>
                <a:lnTo>
                  <a:pt x="0" y="80162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39768" y="3503142"/>
            <a:ext cx="3114675" cy="816610"/>
          </a:xfrm>
          <a:custGeom>
            <a:avLst/>
            <a:gdLst/>
            <a:ahLst/>
            <a:cxnLst/>
            <a:rect l="l" t="t" r="r" b="b"/>
            <a:pathLst>
              <a:path w="3114675" h="816610">
                <a:moveTo>
                  <a:pt x="1045258" y="511810"/>
                </a:moveTo>
                <a:lnTo>
                  <a:pt x="745985" y="511810"/>
                </a:lnTo>
                <a:lnTo>
                  <a:pt x="741552" y="510539"/>
                </a:lnTo>
                <a:lnTo>
                  <a:pt x="737184" y="510539"/>
                </a:lnTo>
                <a:lnTo>
                  <a:pt x="728687" y="508000"/>
                </a:lnTo>
                <a:lnTo>
                  <a:pt x="720547" y="505460"/>
                </a:lnTo>
                <a:lnTo>
                  <a:pt x="716622" y="502920"/>
                </a:lnTo>
                <a:lnTo>
                  <a:pt x="712800" y="501650"/>
                </a:lnTo>
                <a:lnTo>
                  <a:pt x="689432" y="482600"/>
                </a:lnTo>
                <a:lnTo>
                  <a:pt x="686650" y="480060"/>
                </a:lnTo>
                <a:lnTo>
                  <a:pt x="684022" y="476250"/>
                </a:lnTo>
                <a:lnTo>
                  <a:pt x="681558" y="472439"/>
                </a:lnTo>
                <a:lnTo>
                  <a:pt x="679246" y="469900"/>
                </a:lnTo>
                <a:lnTo>
                  <a:pt x="677113" y="466089"/>
                </a:lnTo>
                <a:lnTo>
                  <a:pt x="675157" y="462279"/>
                </a:lnTo>
                <a:lnTo>
                  <a:pt x="673379" y="458470"/>
                </a:lnTo>
                <a:lnTo>
                  <a:pt x="671791" y="453389"/>
                </a:lnTo>
                <a:lnTo>
                  <a:pt x="670394" y="449579"/>
                </a:lnTo>
                <a:lnTo>
                  <a:pt x="669201" y="445770"/>
                </a:lnTo>
                <a:lnTo>
                  <a:pt x="668210" y="441960"/>
                </a:lnTo>
                <a:lnTo>
                  <a:pt x="666864" y="433070"/>
                </a:lnTo>
                <a:lnTo>
                  <a:pt x="666521" y="427989"/>
                </a:lnTo>
                <a:lnTo>
                  <a:pt x="666521" y="83820"/>
                </a:lnTo>
                <a:lnTo>
                  <a:pt x="666864" y="78739"/>
                </a:lnTo>
                <a:lnTo>
                  <a:pt x="668210" y="69850"/>
                </a:lnTo>
                <a:lnTo>
                  <a:pt x="669201" y="66039"/>
                </a:lnTo>
                <a:lnTo>
                  <a:pt x="670394" y="62229"/>
                </a:lnTo>
                <a:lnTo>
                  <a:pt x="671791" y="57150"/>
                </a:lnTo>
                <a:lnTo>
                  <a:pt x="684022" y="35560"/>
                </a:lnTo>
                <a:lnTo>
                  <a:pt x="686650" y="31750"/>
                </a:lnTo>
                <a:lnTo>
                  <a:pt x="689432" y="27939"/>
                </a:lnTo>
                <a:lnTo>
                  <a:pt x="692365" y="25400"/>
                </a:lnTo>
                <a:lnTo>
                  <a:pt x="695451" y="22860"/>
                </a:lnTo>
                <a:lnTo>
                  <a:pt x="698665" y="19050"/>
                </a:lnTo>
                <a:lnTo>
                  <a:pt x="702017" y="16510"/>
                </a:lnTo>
                <a:lnTo>
                  <a:pt x="705485" y="13970"/>
                </a:lnTo>
                <a:lnTo>
                  <a:pt x="709079" y="12700"/>
                </a:lnTo>
                <a:lnTo>
                  <a:pt x="712800" y="10160"/>
                </a:lnTo>
                <a:lnTo>
                  <a:pt x="716622" y="7620"/>
                </a:lnTo>
                <a:lnTo>
                  <a:pt x="720547" y="6350"/>
                </a:lnTo>
                <a:lnTo>
                  <a:pt x="728687" y="3810"/>
                </a:lnTo>
                <a:lnTo>
                  <a:pt x="741552" y="0"/>
                </a:lnTo>
                <a:lnTo>
                  <a:pt x="3039198" y="0"/>
                </a:lnTo>
                <a:lnTo>
                  <a:pt x="3052063" y="3810"/>
                </a:lnTo>
                <a:lnTo>
                  <a:pt x="3060204" y="6350"/>
                </a:lnTo>
                <a:lnTo>
                  <a:pt x="3064129" y="7620"/>
                </a:lnTo>
                <a:lnTo>
                  <a:pt x="3066040" y="8889"/>
                </a:lnTo>
                <a:lnTo>
                  <a:pt x="747064" y="8889"/>
                </a:lnTo>
                <a:lnTo>
                  <a:pt x="742873" y="10160"/>
                </a:lnTo>
                <a:lnTo>
                  <a:pt x="739216" y="10160"/>
                </a:lnTo>
                <a:lnTo>
                  <a:pt x="735152" y="11429"/>
                </a:lnTo>
                <a:lnTo>
                  <a:pt x="735380" y="11429"/>
                </a:lnTo>
                <a:lnTo>
                  <a:pt x="731405" y="12700"/>
                </a:lnTo>
                <a:lnTo>
                  <a:pt x="731634" y="12700"/>
                </a:lnTo>
                <a:lnTo>
                  <a:pt x="727735" y="13970"/>
                </a:lnTo>
                <a:lnTo>
                  <a:pt x="727951" y="13970"/>
                </a:lnTo>
                <a:lnTo>
                  <a:pt x="724141" y="15239"/>
                </a:lnTo>
                <a:lnTo>
                  <a:pt x="724357" y="15239"/>
                </a:lnTo>
                <a:lnTo>
                  <a:pt x="720648" y="16510"/>
                </a:lnTo>
                <a:lnTo>
                  <a:pt x="720851" y="16510"/>
                </a:lnTo>
                <a:lnTo>
                  <a:pt x="719048" y="17779"/>
                </a:lnTo>
                <a:lnTo>
                  <a:pt x="717435" y="17779"/>
                </a:lnTo>
                <a:lnTo>
                  <a:pt x="713930" y="20320"/>
                </a:lnTo>
                <a:lnTo>
                  <a:pt x="714121" y="20320"/>
                </a:lnTo>
                <a:lnTo>
                  <a:pt x="710717" y="22860"/>
                </a:lnTo>
                <a:lnTo>
                  <a:pt x="710907" y="22860"/>
                </a:lnTo>
                <a:lnTo>
                  <a:pt x="707618" y="24129"/>
                </a:lnTo>
                <a:lnTo>
                  <a:pt x="707809" y="24129"/>
                </a:lnTo>
                <a:lnTo>
                  <a:pt x="704634" y="26670"/>
                </a:lnTo>
                <a:lnTo>
                  <a:pt x="704811" y="26670"/>
                </a:lnTo>
                <a:lnTo>
                  <a:pt x="701776" y="29210"/>
                </a:lnTo>
                <a:lnTo>
                  <a:pt x="701941" y="29210"/>
                </a:lnTo>
                <a:lnTo>
                  <a:pt x="699020" y="31750"/>
                </a:lnTo>
                <a:lnTo>
                  <a:pt x="699185" y="31750"/>
                </a:lnTo>
                <a:lnTo>
                  <a:pt x="696404" y="34289"/>
                </a:lnTo>
                <a:lnTo>
                  <a:pt x="696569" y="34289"/>
                </a:lnTo>
                <a:lnTo>
                  <a:pt x="693927" y="38100"/>
                </a:lnTo>
                <a:lnTo>
                  <a:pt x="694067" y="38100"/>
                </a:lnTo>
                <a:lnTo>
                  <a:pt x="691578" y="40639"/>
                </a:lnTo>
                <a:lnTo>
                  <a:pt x="691718" y="40639"/>
                </a:lnTo>
                <a:lnTo>
                  <a:pt x="690160" y="43179"/>
                </a:lnTo>
                <a:lnTo>
                  <a:pt x="689508" y="43179"/>
                </a:lnTo>
                <a:lnTo>
                  <a:pt x="687324" y="46989"/>
                </a:lnTo>
                <a:lnTo>
                  <a:pt x="685431" y="50800"/>
                </a:lnTo>
                <a:lnTo>
                  <a:pt x="683679" y="53339"/>
                </a:lnTo>
                <a:lnTo>
                  <a:pt x="682104" y="57150"/>
                </a:lnTo>
                <a:lnTo>
                  <a:pt x="680694" y="60960"/>
                </a:lnTo>
                <a:lnTo>
                  <a:pt x="679462" y="64770"/>
                </a:lnTo>
                <a:lnTo>
                  <a:pt x="678395" y="68579"/>
                </a:lnTo>
                <a:lnTo>
                  <a:pt x="677519" y="72389"/>
                </a:lnTo>
                <a:lnTo>
                  <a:pt x="676833" y="76200"/>
                </a:lnTo>
                <a:lnTo>
                  <a:pt x="676338" y="80010"/>
                </a:lnTo>
                <a:lnTo>
                  <a:pt x="676033" y="83820"/>
                </a:lnTo>
                <a:lnTo>
                  <a:pt x="676033" y="427989"/>
                </a:lnTo>
                <a:lnTo>
                  <a:pt x="676363" y="431800"/>
                </a:lnTo>
                <a:lnTo>
                  <a:pt x="676871" y="435610"/>
                </a:lnTo>
                <a:lnTo>
                  <a:pt x="677570" y="439420"/>
                </a:lnTo>
                <a:lnTo>
                  <a:pt x="678459" y="443229"/>
                </a:lnTo>
                <a:lnTo>
                  <a:pt x="679526" y="447039"/>
                </a:lnTo>
                <a:lnTo>
                  <a:pt x="680770" y="450850"/>
                </a:lnTo>
                <a:lnTo>
                  <a:pt x="682193" y="454660"/>
                </a:lnTo>
                <a:lnTo>
                  <a:pt x="683780" y="458470"/>
                </a:lnTo>
                <a:lnTo>
                  <a:pt x="684297" y="458470"/>
                </a:lnTo>
                <a:lnTo>
                  <a:pt x="685533" y="461010"/>
                </a:lnTo>
                <a:lnTo>
                  <a:pt x="687451" y="464820"/>
                </a:lnTo>
                <a:lnTo>
                  <a:pt x="689508" y="467360"/>
                </a:lnTo>
                <a:lnTo>
                  <a:pt x="691718" y="471170"/>
                </a:lnTo>
                <a:lnTo>
                  <a:pt x="691578" y="471170"/>
                </a:lnTo>
                <a:lnTo>
                  <a:pt x="694067" y="473710"/>
                </a:lnTo>
                <a:lnTo>
                  <a:pt x="693927" y="473710"/>
                </a:lnTo>
                <a:lnTo>
                  <a:pt x="696569" y="476250"/>
                </a:lnTo>
                <a:lnTo>
                  <a:pt x="696404" y="476250"/>
                </a:lnTo>
                <a:lnTo>
                  <a:pt x="699185" y="480060"/>
                </a:lnTo>
                <a:lnTo>
                  <a:pt x="699994" y="480060"/>
                </a:lnTo>
                <a:lnTo>
                  <a:pt x="701941" y="482600"/>
                </a:lnTo>
                <a:lnTo>
                  <a:pt x="701776" y="482600"/>
                </a:lnTo>
                <a:lnTo>
                  <a:pt x="704811" y="485139"/>
                </a:lnTo>
                <a:lnTo>
                  <a:pt x="706221" y="485139"/>
                </a:lnTo>
                <a:lnTo>
                  <a:pt x="707809" y="486410"/>
                </a:lnTo>
                <a:lnTo>
                  <a:pt x="707618" y="486410"/>
                </a:lnTo>
                <a:lnTo>
                  <a:pt x="710907" y="488950"/>
                </a:lnTo>
                <a:lnTo>
                  <a:pt x="710717" y="488950"/>
                </a:lnTo>
                <a:lnTo>
                  <a:pt x="714121" y="491489"/>
                </a:lnTo>
                <a:lnTo>
                  <a:pt x="713930" y="491489"/>
                </a:lnTo>
                <a:lnTo>
                  <a:pt x="717435" y="492760"/>
                </a:lnTo>
                <a:lnTo>
                  <a:pt x="717245" y="492760"/>
                </a:lnTo>
                <a:lnTo>
                  <a:pt x="720851" y="495300"/>
                </a:lnTo>
                <a:lnTo>
                  <a:pt x="720648" y="495300"/>
                </a:lnTo>
                <a:lnTo>
                  <a:pt x="724357" y="496570"/>
                </a:lnTo>
                <a:lnTo>
                  <a:pt x="724141" y="496570"/>
                </a:lnTo>
                <a:lnTo>
                  <a:pt x="727951" y="497839"/>
                </a:lnTo>
                <a:lnTo>
                  <a:pt x="727735" y="497839"/>
                </a:lnTo>
                <a:lnTo>
                  <a:pt x="731634" y="499110"/>
                </a:lnTo>
                <a:lnTo>
                  <a:pt x="731405" y="499110"/>
                </a:lnTo>
                <a:lnTo>
                  <a:pt x="735380" y="500379"/>
                </a:lnTo>
                <a:lnTo>
                  <a:pt x="735152" y="500379"/>
                </a:lnTo>
                <a:lnTo>
                  <a:pt x="739216" y="501650"/>
                </a:lnTo>
                <a:lnTo>
                  <a:pt x="746836" y="501650"/>
                </a:lnTo>
                <a:lnTo>
                  <a:pt x="751090" y="502920"/>
                </a:lnTo>
                <a:lnTo>
                  <a:pt x="1076261" y="502920"/>
                </a:lnTo>
                <a:lnTo>
                  <a:pt x="1045258" y="511810"/>
                </a:lnTo>
                <a:close/>
              </a:path>
              <a:path w="3114675" h="816610">
                <a:moveTo>
                  <a:pt x="3063506" y="19050"/>
                </a:moveTo>
                <a:lnTo>
                  <a:pt x="3059899" y="16510"/>
                </a:lnTo>
                <a:lnTo>
                  <a:pt x="3060103" y="16510"/>
                </a:lnTo>
                <a:lnTo>
                  <a:pt x="3056394" y="15239"/>
                </a:lnTo>
                <a:lnTo>
                  <a:pt x="3056610" y="15239"/>
                </a:lnTo>
                <a:lnTo>
                  <a:pt x="3052800" y="13970"/>
                </a:lnTo>
                <a:lnTo>
                  <a:pt x="3053016" y="13970"/>
                </a:lnTo>
                <a:lnTo>
                  <a:pt x="3049117" y="12700"/>
                </a:lnTo>
                <a:lnTo>
                  <a:pt x="3049346" y="12700"/>
                </a:lnTo>
                <a:lnTo>
                  <a:pt x="3045371" y="11429"/>
                </a:lnTo>
                <a:lnTo>
                  <a:pt x="3045599" y="11429"/>
                </a:lnTo>
                <a:lnTo>
                  <a:pt x="3041535" y="10160"/>
                </a:lnTo>
                <a:lnTo>
                  <a:pt x="3037878" y="10160"/>
                </a:lnTo>
                <a:lnTo>
                  <a:pt x="3033687" y="8889"/>
                </a:lnTo>
                <a:lnTo>
                  <a:pt x="3066040" y="8889"/>
                </a:lnTo>
                <a:lnTo>
                  <a:pt x="3067951" y="10160"/>
                </a:lnTo>
                <a:lnTo>
                  <a:pt x="3071672" y="12700"/>
                </a:lnTo>
                <a:lnTo>
                  <a:pt x="3075266" y="13970"/>
                </a:lnTo>
                <a:lnTo>
                  <a:pt x="3078733" y="16510"/>
                </a:lnTo>
                <a:lnTo>
                  <a:pt x="3080410" y="17779"/>
                </a:lnTo>
                <a:lnTo>
                  <a:pt x="3063303" y="17779"/>
                </a:lnTo>
                <a:lnTo>
                  <a:pt x="3063506" y="19050"/>
                </a:lnTo>
                <a:close/>
              </a:path>
              <a:path w="3114675" h="816610">
                <a:moveTo>
                  <a:pt x="717245" y="19050"/>
                </a:moveTo>
                <a:lnTo>
                  <a:pt x="717435" y="17779"/>
                </a:lnTo>
                <a:lnTo>
                  <a:pt x="719048" y="17779"/>
                </a:lnTo>
                <a:lnTo>
                  <a:pt x="717245" y="19050"/>
                </a:lnTo>
                <a:close/>
              </a:path>
              <a:path w="3114675" h="816610">
                <a:moveTo>
                  <a:pt x="3091370" y="44450"/>
                </a:moveTo>
                <a:lnTo>
                  <a:pt x="3089033" y="40639"/>
                </a:lnTo>
                <a:lnTo>
                  <a:pt x="3089173" y="40639"/>
                </a:lnTo>
                <a:lnTo>
                  <a:pt x="3086684" y="38100"/>
                </a:lnTo>
                <a:lnTo>
                  <a:pt x="3086823" y="38100"/>
                </a:lnTo>
                <a:lnTo>
                  <a:pt x="3084182" y="34289"/>
                </a:lnTo>
                <a:lnTo>
                  <a:pt x="3084347" y="34289"/>
                </a:lnTo>
                <a:lnTo>
                  <a:pt x="3081566" y="31750"/>
                </a:lnTo>
                <a:lnTo>
                  <a:pt x="3081718" y="31750"/>
                </a:lnTo>
                <a:lnTo>
                  <a:pt x="3078810" y="29210"/>
                </a:lnTo>
                <a:lnTo>
                  <a:pt x="3078975" y="29210"/>
                </a:lnTo>
                <a:lnTo>
                  <a:pt x="3075940" y="26670"/>
                </a:lnTo>
                <a:lnTo>
                  <a:pt x="3076117" y="26670"/>
                </a:lnTo>
                <a:lnTo>
                  <a:pt x="3072942" y="24129"/>
                </a:lnTo>
                <a:lnTo>
                  <a:pt x="3073120" y="24129"/>
                </a:lnTo>
                <a:lnTo>
                  <a:pt x="3069844" y="22860"/>
                </a:lnTo>
                <a:lnTo>
                  <a:pt x="3070034" y="22860"/>
                </a:lnTo>
                <a:lnTo>
                  <a:pt x="3066630" y="20320"/>
                </a:lnTo>
                <a:lnTo>
                  <a:pt x="3066821" y="20320"/>
                </a:lnTo>
                <a:lnTo>
                  <a:pt x="3063303" y="17779"/>
                </a:lnTo>
                <a:lnTo>
                  <a:pt x="3080410" y="17779"/>
                </a:lnTo>
                <a:lnTo>
                  <a:pt x="3082086" y="19050"/>
                </a:lnTo>
                <a:lnTo>
                  <a:pt x="3085299" y="22860"/>
                </a:lnTo>
                <a:lnTo>
                  <a:pt x="3088385" y="25400"/>
                </a:lnTo>
                <a:lnTo>
                  <a:pt x="3091306" y="27939"/>
                </a:lnTo>
                <a:lnTo>
                  <a:pt x="3094101" y="31750"/>
                </a:lnTo>
                <a:lnTo>
                  <a:pt x="3096729" y="35560"/>
                </a:lnTo>
                <a:lnTo>
                  <a:pt x="3099193" y="38100"/>
                </a:lnTo>
                <a:lnTo>
                  <a:pt x="3101505" y="41910"/>
                </a:lnTo>
                <a:lnTo>
                  <a:pt x="3102216" y="43179"/>
                </a:lnTo>
                <a:lnTo>
                  <a:pt x="3091243" y="43179"/>
                </a:lnTo>
                <a:lnTo>
                  <a:pt x="3091370" y="44450"/>
                </a:lnTo>
                <a:close/>
              </a:path>
              <a:path w="3114675" h="816610">
                <a:moveTo>
                  <a:pt x="689381" y="44450"/>
                </a:moveTo>
                <a:lnTo>
                  <a:pt x="689508" y="43179"/>
                </a:lnTo>
                <a:lnTo>
                  <a:pt x="690160" y="43179"/>
                </a:lnTo>
                <a:lnTo>
                  <a:pt x="689381" y="44450"/>
                </a:lnTo>
                <a:close/>
              </a:path>
              <a:path w="3114675" h="816610">
                <a:moveTo>
                  <a:pt x="3107372" y="458470"/>
                </a:moveTo>
                <a:lnTo>
                  <a:pt x="3096971" y="458470"/>
                </a:lnTo>
                <a:lnTo>
                  <a:pt x="3098647" y="454660"/>
                </a:lnTo>
                <a:lnTo>
                  <a:pt x="3100057" y="450850"/>
                </a:lnTo>
                <a:lnTo>
                  <a:pt x="3101289" y="447039"/>
                </a:lnTo>
                <a:lnTo>
                  <a:pt x="3102355" y="443229"/>
                </a:lnTo>
                <a:lnTo>
                  <a:pt x="3103232" y="439420"/>
                </a:lnTo>
                <a:lnTo>
                  <a:pt x="3103918" y="435610"/>
                </a:lnTo>
                <a:lnTo>
                  <a:pt x="3104413" y="431800"/>
                </a:lnTo>
                <a:lnTo>
                  <a:pt x="3104718" y="427989"/>
                </a:lnTo>
                <a:lnTo>
                  <a:pt x="3104819" y="422910"/>
                </a:lnTo>
                <a:lnTo>
                  <a:pt x="3104807" y="87629"/>
                </a:lnTo>
                <a:lnTo>
                  <a:pt x="3104705" y="83820"/>
                </a:lnTo>
                <a:lnTo>
                  <a:pt x="3104387" y="80010"/>
                </a:lnTo>
                <a:lnTo>
                  <a:pt x="3103879" y="76200"/>
                </a:lnTo>
                <a:lnTo>
                  <a:pt x="3103181" y="72389"/>
                </a:lnTo>
                <a:lnTo>
                  <a:pt x="3102292" y="68579"/>
                </a:lnTo>
                <a:lnTo>
                  <a:pt x="3101225" y="64770"/>
                </a:lnTo>
                <a:lnTo>
                  <a:pt x="3099981" y="60960"/>
                </a:lnTo>
                <a:lnTo>
                  <a:pt x="3098558" y="57150"/>
                </a:lnTo>
                <a:lnTo>
                  <a:pt x="3096971" y="53339"/>
                </a:lnTo>
                <a:lnTo>
                  <a:pt x="3095218" y="50800"/>
                </a:lnTo>
                <a:lnTo>
                  <a:pt x="3093300" y="46989"/>
                </a:lnTo>
                <a:lnTo>
                  <a:pt x="3091243" y="43179"/>
                </a:lnTo>
                <a:lnTo>
                  <a:pt x="3102216" y="43179"/>
                </a:lnTo>
                <a:lnTo>
                  <a:pt x="3103638" y="45720"/>
                </a:lnTo>
                <a:lnTo>
                  <a:pt x="3105594" y="49529"/>
                </a:lnTo>
                <a:lnTo>
                  <a:pt x="3107372" y="53339"/>
                </a:lnTo>
                <a:lnTo>
                  <a:pt x="3108959" y="57150"/>
                </a:lnTo>
                <a:lnTo>
                  <a:pt x="3110356" y="62229"/>
                </a:lnTo>
                <a:lnTo>
                  <a:pt x="3111550" y="66039"/>
                </a:lnTo>
                <a:lnTo>
                  <a:pt x="3112541" y="69850"/>
                </a:lnTo>
                <a:lnTo>
                  <a:pt x="3113887" y="78739"/>
                </a:lnTo>
                <a:lnTo>
                  <a:pt x="3114230" y="83820"/>
                </a:lnTo>
                <a:lnTo>
                  <a:pt x="3114230" y="427989"/>
                </a:lnTo>
                <a:lnTo>
                  <a:pt x="3108959" y="453389"/>
                </a:lnTo>
                <a:lnTo>
                  <a:pt x="3107372" y="458470"/>
                </a:lnTo>
                <a:close/>
              </a:path>
              <a:path w="3114675" h="816610">
                <a:moveTo>
                  <a:pt x="684297" y="458470"/>
                </a:moveTo>
                <a:lnTo>
                  <a:pt x="683780" y="458470"/>
                </a:lnTo>
                <a:lnTo>
                  <a:pt x="683679" y="457200"/>
                </a:lnTo>
                <a:lnTo>
                  <a:pt x="684297" y="458470"/>
                </a:lnTo>
                <a:close/>
              </a:path>
              <a:path w="3114675" h="816610">
                <a:moveTo>
                  <a:pt x="3094101" y="480060"/>
                </a:moveTo>
                <a:lnTo>
                  <a:pt x="3081566" y="480060"/>
                </a:lnTo>
                <a:lnTo>
                  <a:pt x="3084347" y="476250"/>
                </a:lnTo>
                <a:lnTo>
                  <a:pt x="3084182" y="476250"/>
                </a:lnTo>
                <a:lnTo>
                  <a:pt x="3086823" y="473710"/>
                </a:lnTo>
                <a:lnTo>
                  <a:pt x="3086684" y="473710"/>
                </a:lnTo>
                <a:lnTo>
                  <a:pt x="3089173" y="471170"/>
                </a:lnTo>
                <a:lnTo>
                  <a:pt x="3089033" y="471170"/>
                </a:lnTo>
                <a:lnTo>
                  <a:pt x="3091370" y="467360"/>
                </a:lnTo>
                <a:lnTo>
                  <a:pt x="3093427" y="464820"/>
                </a:lnTo>
                <a:lnTo>
                  <a:pt x="3095320" y="461010"/>
                </a:lnTo>
                <a:lnTo>
                  <a:pt x="3097060" y="457200"/>
                </a:lnTo>
                <a:lnTo>
                  <a:pt x="3096971" y="458470"/>
                </a:lnTo>
                <a:lnTo>
                  <a:pt x="3107372" y="458470"/>
                </a:lnTo>
                <a:lnTo>
                  <a:pt x="3105594" y="462279"/>
                </a:lnTo>
                <a:lnTo>
                  <a:pt x="3103638" y="466089"/>
                </a:lnTo>
                <a:lnTo>
                  <a:pt x="3101505" y="469900"/>
                </a:lnTo>
                <a:lnTo>
                  <a:pt x="3099193" y="472439"/>
                </a:lnTo>
                <a:lnTo>
                  <a:pt x="3096729" y="476250"/>
                </a:lnTo>
                <a:lnTo>
                  <a:pt x="3094101" y="480060"/>
                </a:lnTo>
                <a:close/>
              </a:path>
              <a:path w="3114675" h="816610">
                <a:moveTo>
                  <a:pt x="699994" y="480060"/>
                </a:moveTo>
                <a:lnTo>
                  <a:pt x="699185" y="480060"/>
                </a:lnTo>
                <a:lnTo>
                  <a:pt x="699020" y="478789"/>
                </a:lnTo>
                <a:lnTo>
                  <a:pt x="699994" y="480060"/>
                </a:lnTo>
                <a:close/>
              </a:path>
              <a:path w="3114675" h="816610">
                <a:moveTo>
                  <a:pt x="3089359" y="485139"/>
                </a:moveTo>
                <a:lnTo>
                  <a:pt x="3075940" y="485139"/>
                </a:lnTo>
                <a:lnTo>
                  <a:pt x="3078975" y="482600"/>
                </a:lnTo>
                <a:lnTo>
                  <a:pt x="3078810" y="482600"/>
                </a:lnTo>
                <a:lnTo>
                  <a:pt x="3081718" y="478789"/>
                </a:lnTo>
                <a:lnTo>
                  <a:pt x="3081566" y="480060"/>
                </a:lnTo>
                <a:lnTo>
                  <a:pt x="3094101" y="480060"/>
                </a:lnTo>
                <a:lnTo>
                  <a:pt x="3091306" y="482600"/>
                </a:lnTo>
                <a:lnTo>
                  <a:pt x="3089359" y="485139"/>
                </a:lnTo>
                <a:close/>
              </a:path>
              <a:path w="3114675" h="816610">
                <a:moveTo>
                  <a:pt x="706221" y="485139"/>
                </a:moveTo>
                <a:lnTo>
                  <a:pt x="704811" y="485139"/>
                </a:lnTo>
                <a:lnTo>
                  <a:pt x="704634" y="483870"/>
                </a:lnTo>
                <a:lnTo>
                  <a:pt x="706221" y="485139"/>
                </a:lnTo>
                <a:close/>
              </a:path>
              <a:path w="3114675" h="816610">
                <a:moveTo>
                  <a:pt x="43552" y="808973"/>
                </a:moveTo>
                <a:lnTo>
                  <a:pt x="126861" y="785097"/>
                </a:lnTo>
                <a:lnTo>
                  <a:pt x="1686750" y="502920"/>
                </a:lnTo>
                <a:lnTo>
                  <a:pt x="3029661" y="502920"/>
                </a:lnTo>
                <a:lnTo>
                  <a:pt x="3033915" y="501650"/>
                </a:lnTo>
                <a:lnTo>
                  <a:pt x="3041535" y="501650"/>
                </a:lnTo>
                <a:lnTo>
                  <a:pt x="3045599" y="500379"/>
                </a:lnTo>
                <a:lnTo>
                  <a:pt x="3045371" y="500379"/>
                </a:lnTo>
                <a:lnTo>
                  <a:pt x="3049346" y="499110"/>
                </a:lnTo>
                <a:lnTo>
                  <a:pt x="3049117" y="499110"/>
                </a:lnTo>
                <a:lnTo>
                  <a:pt x="3053016" y="497839"/>
                </a:lnTo>
                <a:lnTo>
                  <a:pt x="3052800" y="497839"/>
                </a:lnTo>
                <a:lnTo>
                  <a:pt x="3056610" y="496570"/>
                </a:lnTo>
                <a:lnTo>
                  <a:pt x="3056394" y="496570"/>
                </a:lnTo>
                <a:lnTo>
                  <a:pt x="3060103" y="495300"/>
                </a:lnTo>
                <a:lnTo>
                  <a:pt x="3059899" y="495300"/>
                </a:lnTo>
                <a:lnTo>
                  <a:pt x="3063506" y="492760"/>
                </a:lnTo>
                <a:lnTo>
                  <a:pt x="3063303" y="492760"/>
                </a:lnTo>
                <a:lnTo>
                  <a:pt x="3066821" y="491489"/>
                </a:lnTo>
                <a:lnTo>
                  <a:pt x="3066630" y="491489"/>
                </a:lnTo>
                <a:lnTo>
                  <a:pt x="3070034" y="488950"/>
                </a:lnTo>
                <a:lnTo>
                  <a:pt x="3069844" y="488950"/>
                </a:lnTo>
                <a:lnTo>
                  <a:pt x="3073120" y="486410"/>
                </a:lnTo>
                <a:lnTo>
                  <a:pt x="3072942" y="486410"/>
                </a:lnTo>
                <a:lnTo>
                  <a:pt x="3076117" y="483870"/>
                </a:lnTo>
                <a:lnTo>
                  <a:pt x="3075940" y="485139"/>
                </a:lnTo>
                <a:lnTo>
                  <a:pt x="3089359" y="485139"/>
                </a:lnTo>
                <a:lnTo>
                  <a:pt x="3064129" y="502920"/>
                </a:lnTo>
                <a:lnTo>
                  <a:pt x="3060204" y="505460"/>
                </a:lnTo>
                <a:lnTo>
                  <a:pt x="3052063" y="508000"/>
                </a:lnTo>
                <a:lnTo>
                  <a:pt x="3043567" y="510539"/>
                </a:lnTo>
                <a:lnTo>
                  <a:pt x="3039198" y="510539"/>
                </a:lnTo>
                <a:lnTo>
                  <a:pt x="3034766" y="511810"/>
                </a:lnTo>
                <a:lnTo>
                  <a:pt x="1688020" y="511810"/>
                </a:lnTo>
                <a:lnTo>
                  <a:pt x="43552" y="808973"/>
                </a:lnTo>
                <a:close/>
              </a:path>
              <a:path w="3114675" h="816610">
                <a:moveTo>
                  <a:pt x="743115" y="501650"/>
                </a:moveTo>
                <a:lnTo>
                  <a:pt x="739216" y="501650"/>
                </a:lnTo>
                <a:lnTo>
                  <a:pt x="738974" y="500379"/>
                </a:lnTo>
                <a:lnTo>
                  <a:pt x="743115" y="501650"/>
                </a:lnTo>
                <a:close/>
              </a:path>
              <a:path w="3114675" h="816610">
                <a:moveTo>
                  <a:pt x="3041535" y="501650"/>
                </a:moveTo>
                <a:lnTo>
                  <a:pt x="3037636" y="501650"/>
                </a:lnTo>
                <a:lnTo>
                  <a:pt x="3041777" y="500379"/>
                </a:lnTo>
                <a:lnTo>
                  <a:pt x="3041535" y="501650"/>
                </a:lnTo>
                <a:close/>
              </a:path>
              <a:path w="3114675" h="816610">
                <a:moveTo>
                  <a:pt x="1295" y="816610"/>
                </a:moveTo>
                <a:lnTo>
                  <a:pt x="0" y="811529"/>
                </a:lnTo>
                <a:lnTo>
                  <a:pt x="1076261" y="502920"/>
                </a:lnTo>
                <a:lnTo>
                  <a:pt x="1077569" y="511810"/>
                </a:lnTo>
                <a:lnTo>
                  <a:pt x="1080409" y="511810"/>
                </a:lnTo>
                <a:lnTo>
                  <a:pt x="126861" y="785097"/>
                </a:lnTo>
                <a:lnTo>
                  <a:pt x="36906" y="801370"/>
                </a:lnTo>
                <a:lnTo>
                  <a:pt x="38954" y="809804"/>
                </a:lnTo>
                <a:lnTo>
                  <a:pt x="1295" y="816610"/>
                </a:lnTo>
                <a:close/>
              </a:path>
              <a:path w="3114675" h="816610">
                <a:moveTo>
                  <a:pt x="1080409" y="511810"/>
                </a:moveTo>
                <a:lnTo>
                  <a:pt x="1077569" y="511810"/>
                </a:lnTo>
                <a:lnTo>
                  <a:pt x="1076261" y="502920"/>
                </a:lnTo>
                <a:lnTo>
                  <a:pt x="1111427" y="502920"/>
                </a:lnTo>
                <a:lnTo>
                  <a:pt x="1080409" y="511810"/>
                </a:lnTo>
                <a:close/>
              </a:path>
              <a:path w="3114675" h="816610">
                <a:moveTo>
                  <a:pt x="38954" y="809804"/>
                </a:moveTo>
                <a:lnTo>
                  <a:pt x="36906" y="801370"/>
                </a:lnTo>
                <a:lnTo>
                  <a:pt x="126861" y="785097"/>
                </a:lnTo>
                <a:lnTo>
                  <a:pt x="43552" y="808973"/>
                </a:lnTo>
                <a:lnTo>
                  <a:pt x="38954" y="809804"/>
                </a:lnTo>
                <a:close/>
              </a:path>
              <a:path w="3114675" h="816610">
                <a:moveTo>
                  <a:pt x="39065" y="810260"/>
                </a:moveTo>
                <a:lnTo>
                  <a:pt x="38954" y="809804"/>
                </a:lnTo>
                <a:lnTo>
                  <a:pt x="43552" y="808973"/>
                </a:lnTo>
                <a:lnTo>
                  <a:pt x="39065" y="810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1449" y="3936491"/>
            <a:ext cx="4733290" cy="1254760"/>
          </a:xfrm>
          <a:custGeom>
            <a:avLst/>
            <a:gdLst/>
            <a:ahLst/>
            <a:cxnLst/>
            <a:rect l="l" t="t" r="r" b="b"/>
            <a:pathLst>
              <a:path w="4733290" h="1254760">
                <a:moveTo>
                  <a:pt x="2366454" y="1254467"/>
                </a:moveTo>
                <a:lnTo>
                  <a:pt x="2288340" y="1254316"/>
                </a:lnTo>
                <a:lnTo>
                  <a:pt x="2210859" y="1253863"/>
                </a:lnTo>
                <a:lnTo>
                  <a:pt x="2134050" y="1253114"/>
                </a:lnTo>
                <a:lnTo>
                  <a:pt x="1908043" y="1249140"/>
                </a:lnTo>
                <a:lnTo>
                  <a:pt x="1618471" y="1239980"/>
                </a:lnTo>
                <a:lnTo>
                  <a:pt x="1344638" y="1226684"/>
                </a:lnTo>
                <a:lnTo>
                  <a:pt x="1089039" y="1209551"/>
                </a:lnTo>
                <a:lnTo>
                  <a:pt x="910806" y="1194363"/>
                </a:lnTo>
                <a:lnTo>
                  <a:pt x="745285" y="1177312"/>
                </a:lnTo>
                <a:lnTo>
                  <a:pt x="642519" y="1164972"/>
                </a:lnTo>
                <a:lnTo>
                  <a:pt x="546183" y="1151897"/>
                </a:lnTo>
                <a:lnTo>
                  <a:pt x="456588" y="1138126"/>
                </a:lnTo>
                <a:lnTo>
                  <a:pt x="414416" y="1130990"/>
                </a:lnTo>
                <a:lnTo>
                  <a:pt x="374046" y="1123694"/>
                </a:lnTo>
                <a:lnTo>
                  <a:pt x="335517" y="1116243"/>
                </a:lnTo>
                <a:lnTo>
                  <a:pt x="264139" y="1100892"/>
                </a:lnTo>
                <a:lnTo>
                  <a:pt x="200593" y="1084975"/>
                </a:lnTo>
                <a:lnTo>
                  <a:pt x="145192" y="1068530"/>
                </a:lnTo>
                <a:lnTo>
                  <a:pt x="98247" y="1051593"/>
                </a:lnTo>
                <a:lnTo>
                  <a:pt x="60070" y="1034203"/>
                </a:lnTo>
                <a:lnTo>
                  <a:pt x="19926" y="1007349"/>
                </a:lnTo>
                <a:lnTo>
                  <a:pt x="0" y="970305"/>
                </a:lnTo>
                <a:lnTo>
                  <a:pt x="1786" y="959162"/>
                </a:lnTo>
                <a:lnTo>
                  <a:pt x="28052" y="926416"/>
                </a:lnTo>
                <a:lnTo>
                  <a:pt x="62331" y="905233"/>
                </a:lnTo>
                <a:lnTo>
                  <a:pt x="109415" y="884640"/>
                </a:lnTo>
                <a:lnTo>
                  <a:pt x="168778" y="864701"/>
                </a:lnTo>
                <a:lnTo>
                  <a:pt x="239897" y="845477"/>
                </a:lnTo>
                <a:lnTo>
                  <a:pt x="279701" y="836153"/>
                </a:lnTo>
                <a:lnTo>
                  <a:pt x="322248" y="827031"/>
                </a:lnTo>
                <a:lnTo>
                  <a:pt x="367471" y="818120"/>
                </a:lnTo>
                <a:lnTo>
                  <a:pt x="415307" y="809426"/>
                </a:lnTo>
                <a:lnTo>
                  <a:pt x="465688" y="800958"/>
                </a:lnTo>
                <a:lnTo>
                  <a:pt x="518550" y="792724"/>
                </a:lnTo>
                <a:lnTo>
                  <a:pt x="573827" y="784732"/>
                </a:lnTo>
                <a:lnTo>
                  <a:pt x="691364" y="769502"/>
                </a:lnTo>
                <a:lnTo>
                  <a:pt x="817776" y="755332"/>
                </a:lnTo>
                <a:lnTo>
                  <a:pt x="952538" y="742284"/>
                </a:lnTo>
                <a:lnTo>
                  <a:pt x="1095127" y="730421"/>
                </a:lnTo>
                <a:lnTo>
                  <a:pt x="1322539" y="714984"/>
                </a:lnTo>
                <a:lnTo>
                  <a:pt x="1564614" y="702563"/>
                </a:lnTo>
                <a:lnTo>
                  <a:pt x="1116558" y="0"/>
                </a:lnTo>
                <a:lnTo>
                  <a:pt x="2457678" y="685800"/>
                </a:lnTo>
                <a:lnTo>
                  <a:pt x="2768156" y="689799"/>
                </a:lnTo>
                <a:lnTo>
                  <a:pt x="3065404" y="698427"/>
                </a:lnTo>
                <a:lnTo>
                  <a:pt x="3346800" y="711369"/>
                </a:lnTo>
                <a:lnTo>
                  <a:pt x="3609717" y="728313"/>
                </a:lnTo>
                <a:lnTo>
                  <a:pt x="3793200" y="743458"/>
                </a:lnTo>
                <a:lnTo>
                  <a:pt x="3963705" y="760545"/>
                </a:lnTo>
                <a:lnTo>
                  <a:pt x="4069619" y="772950"/>
                </a:lnTo>
                <a:lnTo>
                  <a:pt x="4168945" y="786121"/>
                </a:lnTo>
                <a:lnTo>
                  <a:pt x="4261356" y="800017"/>
                </a:lnTo>
                <a:lnTo>
                  <a:pt x="4304865" y="807226"/>
                </a:lnTo>
                <a:lnTo>
                  <a:pt x="4346522" y="814601"/>
                </a:lnTo>
                <a:lnTo>
                  <a:pt x="4386286" y="822138"/>
                </a:lnTo>
                <a:lnTo>
                  <a:pt x="4424116" y="829833"/>
                </a:lnTo>
                <a:lnTo>
                  <a:pt x="4493810" y="845673"/>
                </a:lnTo>
                <a:lnTo>
                  <a:pt x="4555276" y="862082"/>
                </a:lnTo>
                <a:lnTo>
                  <a:pt x="4608186" y="879022"/>
                </a:lnTo>
                <a:lnTo>
                  <a:pt x="4652211" y="896453"/>
                </a:lnTo>
                <a:lnTo>
                  <a:pt x="4687024" y="914336"/>
                </a:lnTo>
                <a:lnTo>
                  <a:pt x="4721253" y="941922"/>
                </a:lnTo>
                <a:lnTo>
                  <a:pt x="4732908" y="970305"/>
                </a:lnTo>
                <a:lnTo>
                  <a:pt x="4731644" y="979685"/>
                </a:lnTo>
                <a:lnTo>
                  <a:pt x="4701936" y="1016396"/>
                </a:lnTo>
                <a:lnTo>
                  <a:pt x="4654865" y="1042952"/>
                </a:lnTo>
                <a:lnTo>
                  <a:pt x="4612265" y="1060120"/>
                </a:lnTo>
                <a:lnTo>
                  <a:pt x="4561053" y="1076816"/>
                </a:lnTo>
                <a:lnTo>
                  <a:pt x="4501541" y="1093002"/>
                </a:lnTo>
                <a:lnTo>
                  <a:pt x="4434040" y="1108640"/>
                </a:lnTo>
                <a:lnTo>
                  <a:pt x="4358862" y="1123694"/>
                </a:lnTo>
                <a:lnTo>
                  <a:pt x="4318492" y="1130990"/>
                </a:lnTo>
                <a:lnTo>
                  <a:pt x="4276320" y="1138126"/>
                </a:lnTo>
                <a:lnTo>
                  <a:pt x="4186725" y="1151897"/>
                </a:lnTo>
                <a:lnTo>
                  <a:pt x="4090389" y="1164972"/>
                </a:lnTo>
                <a:lnTo>
                  <a:pt x="3987623" y="1177312"/>
                </a:lnTo>
                <a:lnTo>
                  <a:pt x="3822102" y="1194363"/>
                </a:lnTo>
                <a:lnTo>
                  <a:pt x="3643869" y="1209551"/>
                </a:lnTo>
                <a:lnTo>
                  <a:pt x="3388270" y="1226684"/>
                </a:lnTo>
                <a:lnTo>
                  <a:pt x="3114437" y="1239980"/>
                </a:lnTo>
                <a:lnTo>
                  <a:pt x="2824865" y="1249140"/>
                </a:lnTo>
                <a:lnTo>
                  <a:pt x="2444568" y="1254316"/>
                </a:lnTo>
                <a:lnTo>
                  <a:pt x="2366454" y="1254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5086" y="3920528"/>
            <a:ext cx="4745990" cy="1270000"/>
          </a:xfrm>
          <a:custGeom>
            <a:avLst/>
            <a:gdLst/>
            <a:ahLst/>
            <a:cxnLst/>
            <a:rect l="l" t="t" r="r" b="b"/>
            <a:pathLst>
              <a:path w="4745990" h="1270000">
                <a:moveTo>
                  <a:pt x="1581772" y="723900"/>
                </a:moveTo>
                <a:lnTo>
                  <a:pt x="1320850" y="723900"/>
                </a:lnTo>
                <a:lnTo>
                  <a:pt x="1402346" y="711200"/>
                </a:lnTo>
                <a:lnTo>
                  <a:pt x="1565173" y="711200"/>
                </a:lnTo>
                <a:lnTo>
                  <a:pt x="1105573" y="0"/>
                </a:lnTo>
                <a:lnTo>
                  <a:pt x="1130783" y="12700"/>
                </a:lnTo>
                <a:lnTo>
                  <a:pt x="1120571" y="12700"/>
                </a:lnTo>
                <a:lnTo>
                  <a:pt x="1132791" y="18945"/>
                </a:lnTo>
                <a:lnTo>
                  <a:pt x="1581772" y="723900"/>
                </a:lnTo>
                <a:close/>
              </a:path>
              <a:path w="4745990" h="1270000">
                <a:moveTo>
                  <a:pt x="1132791" y="18945"/>
                </a:moveTo>
                <a:lnTo>
                  <a:pt x="1120571" y="12700"/>
                </a:lnTo>
                <a:lnTo>
                  <a:pt x="1128814" y="12700"/>
                </a:lnTo>
                <a:lnTo>
                  <a:pt x="1132791" y="18945"/>
                </a:lnTo>
                <a:close/>
              </a:path>
              <a:path w="4745990" h="1270000">
                <a:moveTo>
                  <a:pt x="2755582" y="698500"/>
                </a:moveTo>
                <a:lnTo>
                  <a:pt x="2462466" y="698500"/>
                </a:lnTo>
                <a:lnTo>
                  <a:pt x="1132791" y="18945"/>
                </a:lnTo>
                <a:lnTo>
                  <a:pt x="1128814" y="12700"/>
                </a:lnTo>
                <a:lnTo>
                  <a:pt x="1130783" y="12700"/>
                </a:lnTo>
                <a:lnTo>
                  <a:pt x="2466911" y="685800"/>
                </a:lnTo>
                <a:lnTo>
                  <a:pt x="2698115" y="685800"/>
                </a:lnTo>
                <a:lnTo>
                  <a:pt x="2755582" y="698500"/>
                </a:lnTo>
                <a:close/>
              </a:path>
              <a:path w="4745990" h="1270000">
                <a:moveTo>
                  <a:pt x="3197250" y="711200"/>
                </a:moveTo>
                <a:lnTo>
                  <a:pt x="2755341" y="711200"/>
                </a:lnTo>
                <a:lnTo>
                  <a:pt x="2697899" y="698500"/>
                </a:lnTo>
                <a:lnTo>
                  <a:pt x="3143948" y="698500"/>
                </a:lnTo>
                <a:lnTo>
                  <a:pt x="3197250" y="711200"/>
                </a:lnTo>
                <a:close/>
              </a:path>
              <a:path w="4745990" h="1270000">
                <a:moveTo>
                  <a:pt x="3404298" y="723900"/>
                </a:moveTo>
                <a:lnTo>
                  <a:pt x="3196691" y="723900"/>
                </a:lnTo>
                <a:lnTo>
                  <a:pt x="3143415" y="711200"/>
                </a:lnTo>
                <a:lnTo>
                  <a:pt x="3353498" y="711200"/>
                </a:lnTo>
                <a:lnTo>
                  <a:pt x="3404298" y="723900"/>
                </a:lnTo>
                <a:close/>
              </a:path>
              <a:path w="4745990" h="1270000">
                <a:moveTo>
                  <a:pt x="1321587" y="736600"/>
                </a:moveTo>
                <a:lnTo>
                  <a:pt x="1087069" y="736600"/>
                </a:lnTo>
                <a:lnTo>
                  <a:pt x="1163142" y="723900"/>
                </a:lnTo>
                <a:lnTo>
                  <a:pt x="1403045" y="723900"/>
                </a:lnTo>
                <a:lnTo>
                  <a:pt x="1321587" y="736600"/>
                </a:lnTo>
                <a:close/>
              </a:path>
              <a:path w="4745990" h="1270000">
                <a:moveTo>
                  <a:pt x="3600691" y="736600"/>
                </a:moveTo>
                <a:lnTo>
                  <a:pt x="3403574" y="736600"/>
                </a:lnTo>
                <a:lnTo>
                  <a:pt x="3352787" y="723900"/>
                </a:lnTo>
                <a:lnTo>
                  <a:pt x="3552659" y="723900"/>
                </a:lnTo>
                <a:lnTo>
                  <a:pt x="3600691" y="736600"/>
                </a:lnTo>
                <a:close/>
              </a:path>
              <a:path w="4745990" h="1270000">
                <a:moveTo>
                  <a:pt x="1088034" y="749300"/>
                </a:moveTo>
                <a:lnTo>
                  <a:pt x="940854" y="749300"/>
                </a:lnTo>
                <a:lnTo>
                  <a:pt x="1012951" y="736600"/>
                </a:lnTo>
                <a:lnTo>
                  <a:pt x="1164069" y="736600"/>
                </a:lnTo>
                <a:lnTo>
                  <a:pt x="1088034" y="749300"/>
                </a:lnTo>
                <a:close/>
              </a:path>
              <a:path w="4745990" h="1270000">
                <a:moveTo>
                  <a:pt x="3785311" y="749300"/>
                </a:moveTo>
                <a:lnTo>
                  <a:pt x="3599776" y="749300"/>
                </a:lnTo>
                <a:lnTo>
                  <a:pt x="3551770" y="736600"/>
                </a:lnTo>
                <a:lnTo>
                  <a:pt x="3740315" y="736600"/>
                </a:lnTo>
                <a:lnTo>
                  <a:pt x="3785311" y="749300"/>
                </a:lnTo>
                <a:close/>
              </a:path>
              <a:path w="4745990" h="1270000">
                <a:moveTo>
                  <a:pt x="941984" y="762000"/>
                </a:moveTo>
                <a:lnTo>
                  <a:pt x="836650" y="762000"/>
                </a:lnTo>
                <a:lnTo>
                  <a:pt x="870851" y="749300"/>
                </a:lnTo>
                <a:lnTo>
                  <a:pt x="1014044" y="749300"/>
                </a:lnTo>
                <a:lnTo>
                  <a:pt x="941984" y="762000"/>
                </a:lnTo>
                <a:close/>
              </a:path>
              <a:path w="4745990" h="1270000">
                <a:moveTo>
                  <a:pt x="3915384" y="762000"/>
                </a:moveTo>
                <a:lnTo>
                  <a:pt x="3784193" y="762000"/>
                </a:lnTo>
                <a:lnTo>
                  <a:pt x="3739235" y="749300"/>
                </a:lnTo>
                <a:lnTo>
                  <a:pt x="3872865" y="749300"/>
                </a:lnTo>
                <a:lnTo>
                  <a:pt x="3915384" y="762000"/>
                </a:lnTo>
                <a:close/>
              </a:path>
              <a:path w="4745990" h="1270000">
                <a:moveTo>
                  <a:pt x="837933" y="774700"/>
                </a:moveTo>
                <a:lnTo>
                  <a:pt x="705459" y="774700"/>
                </a:lnTo>
                <a:lnTo>
                  <a:pt x="737400" y="762000"/>
                </a:lnTo>
                <a:lnTo>
                  <a:pt x="872108" y="762000"/>
                </a:lnTo>
                <a:lnTo>
                  <a:pt x="837933" y="774700"/>
                </a:lnTo>
                <a:close/>
              </a:path>
              <a:path w="4745990" h="1270000">
                <a:moveTo>
                  <a:pt x="4037761" y="774700"/>
                </a:moveTo>
                <a:lnTo>
                  <a:pt x="3914101" y="774700"/>
                </a:lnTo>
                <a:lnTo>
                  <a:pt x="3871607" y="762000"/>
                </a:lnTo>
                <a:lnTo>
                  <a:pt x="3997858" y="762000"/>
                </a:lnTo>
                <a:lnTo>
                  <a:pt x="4037761" y="774700"/>
                </a:lnTo>
                <a:close/>
              </a:path>
              <a:path w="4745990" h="1270000">
                <a:moveTo>
                  <a:pt x="706945" y="787400"/>
                </a:moveTo>
                <a:lnTo>
                  <a:pt x="613194" y="787400"/>
                </a:lnTo>
                <a:lnTo>
                  <a:pt x="643343" y="774700"/>
                </a:lnTo>
                <a:lnTo>
                  <a:pt x="738860" y="774700"/>
                </a:lnTo>
                <a:lnTo>
                  <a:pt x="706945" y="787400"/>
                </a:lnTo>
                <a:close/>
              </a:path>
              <a:path w="4745990" h="1270000">
                <a:moveTo>
                  <a:pt x="4114838" y="787400"/>
                </a:moveTo>
                <a:lnTo>
                  <a:pt x="4036288" y="787400"/>
                </a:lnTo>
                <a:lnTo>
                  <a:pt x="3996410" y="774700"/>
                </a:lnTo>
                <a:lnTo>
                  <a:pt x="4076763" y="774700"/>
                </a:lnTo>
                <a:lnTo>
                  <a:pt x="4114838" y="787400"/>
                </a:lnTo>
                <a:close/>
              </a:path>
              <a:path w="4745990" h="1270000">
                <a:moveTo>
                  <a:pt x="614857" y="800100"/>
                </a:moveTo>
                <a:lnTo>
                  <a:pt x="526440" y="800100"/>
                </a:lnTo>
                <a:lnTo>
                  <a:pt x="554723" y="787400"/>
                </a:lnTo>
                <a:lnTo>
                  <a:pt x="644982" y="787400"/>
                </a:lnTo>
                <a:lnTo>
                  <a:pt x="614857" y="800100"/>
                </a:lnTo>
                <a:close/>
              </a:path>
              <a:path w="4745990" h="1270000">
                <a:moveTo>
                  <a:pt x="4223334" y="800100"/>
                </a:moveTo>
                <a:lnTo>
                  <a:pt x="4113212" y="800100"/>
                </a:lnTo>
                <a:lnTo>
                  <a:pt x="4075176" y="787400"/>
                </a:lnTo>
                <a:lnTo>
                  <a:pt x="4188142" y="787400"/>
                </a:lnTo>
                <a:lnTo>
                  <a:pt x="4223334" y="800100"/>
                </a:lnTo>
                <a:close/>
              </a:path>
              <a:path w="4745990" h="1270000">
                <a:moveTo>
                  <a:pt x="528294" y="812800"/>
                </a:moveTo>
                <a:lnTo>
                  <a:pt x="445439" y="812800"/>
                </a:lnTo>
                <a:lnTo>
                  <a:pt x="471779" y="800100"/>
                </a:lnTo>
                <a:lnTo>
                  <a:pt x="556552" y="800100"/>
                </a:lnTo>
                <a:lnTo>
                  <a:pt x="528294" y="812800"/>
                </a:lnTo>
                <a:close/>
              </a:path>
              <a:path w="4745990" h="1270000">
                <a:moveTo>
                  <a:pt x="4290733" y="812800"/>
                </a:moveTo>
                <a:lnTo>
                  <a:pt x="4221467" y="812800"/>
                </a:lnTo>
                <a:lnTo>
                  <a:pt x="4186313" y="800100"/>
                </a:lnTo>
                <a:lnTo>
                  <a:pt x="4257548" y="800100"/>
                </a:lnTo>
                <a:lnTo>
                  <a:pt x="4290733" y="812800"/>
                </a:lnTo>
                <a:close/>
              </a:path>
              <a:path w="4745990" h="1270000">
                <a:moveTo>
                  <a:pt x="447522" y="825500"/>
                </a:moveTo>
                <a:lnTo>
                  <a:pt x="370433" y="825500"/>
                </a:lnTo>
                <a:lnTo>
                  <a:pt x="394754" y="812800"/>
                </a:lnTo>
                <a:lnTo>
                  <a:pt x="473824" y="812800"/>
                </a:lnTo>
                <a:lnTo>
                  <a:pt x="447522" y="825500"/>
                </a:lnTo>
                <a:close/>
              </a:path>
              <a:path w="4745990" h="1270000">
                <a:moveTo>
                  <a:pt x="4384090" y="825500"/>
                </a:moveTo>
                <a:lnTo>
                  <a:pt x="4288688" y="825500"/>
                </a:lnTo>
                <a:lnTo>
                  <a:pt x="4255541" y="812800"/>
                </a:lnTo>
                <a:lnTo>
                  <a:pt x="4354029" y="812800"/>
                </a:lnTo>
                <a:lnTo>
                  <a:pt x="4384090" y="825500"/>
                </a:lnTo>
                <a:close/>
              </a:path>
              <a:path w="4745990" h="1270000">
                <a:moveTo>
                  <a:pt x="372770" y="838200"/>
                </a:moveTo>
                <a:lnTo>
                  <a:pt x="301650" y="838200"/>
                </a:lnTo>
                <a:lnTo>
                  <a:pt x="323862" y="825500"/>
                </a:lnTo>
                <a:lnTo>
                  <a:pt x="397052" y="825500"/>
                </a:lnTo>
                <a:lnTo>
                  <a:pt x="372770" y="838200"/>
                </a:lnTo>
                <a:close/>
              </a:path>
              <a:path w="4745990" h="1270000">
                <a:moveTo>
                  <a:pt x="4440961" y="838200"/>
                </a:moveTo>
                <a:lnTo>
                  <a:pt x="4381715" y="838200"/>
                </a:lnTo>
                <a:lnTo>
                  <a:pt x="4351705" y="825500"/>
                </a:lnTo>
                <a:lnTo>
                  <a:pt x="4413072" y="825500"/>
                </a:lnTo>
                <a:lnTo>
                  <a:pt x="4440961" y="838200"/>
                </a:lnTo>
                <a:close/>
              </a:path>
              <a:path w="4745990" h="1270000">
                <a:moveTo>
                  <a:pt x="304304" y="850900"/>
                </a:moveTo>
                <a:lnTo>
                  <a:pt x="259372" y="850900"/>
                </a:lnTo>
                <a:lnTo>
                  <a:pt x="280149" y="838200"/>
                </a:lnTo>
                <a:lnTo>
                  <a:pt x="326466" y="838200"/>
                </a:lnTo>
                <a:lnTo>
                  <a:pt x="304304" y="850900"/>
                </a:lnTo>
                <a:close/>
              </a:path>
              <a:path w="4745990" h="1270000">
                <a:moveTo>
                  <a:pt x="4493387" y="850900"/>
                </a:moveTo>
                <a:lnTo>
                  <a:pt x="4438332" y="850900"/>
                </a:lnTo>
                <a:lnTo>
                  <a:pt x="4410506" y="838200"/>
                </a:lnTo>
                <a:lnTo>
                  <a:pt x="4467733" y="838200"/>
                </a:lnTo>
                <a:lnTo>
                  <a:pt x="4493387" y="850900"/>
                </a:lnTo>
                <a:close/>
              </a:path>
              <a:path w="4745990" h="1270000">
                <a:moveTo>
                  <a:pt x="262267" y="863600"/>
                </a:moveTo>
                <a:lnTo>
                  <a:pt x="201485" y="863600"/>
                </a:lnTo>
                <a:lnTo>
                  <a:pt x="220040" y="850900"/>
                </a:lnTo>
                <a:lnTo>
                  <a:pt x="282981" y="850900"/>
                </a:lnTo>
                <a:lnTo>
                  <a:pt x="262267" y="863600"/>
                </a:lnTo>
                <a:close/>
              </a:path>
              <a:path w="4745990" h="1270000">
                <a:moveTo>
                  <a:pt x="4541240" y="863600"/>
                </a:moveTo>
                <a:lnTo>
                  <a:pt x="4490453" y="863600"/>
                </a:lnTo>
                <a:lnTo>
                  <a:pt x="4464888" y="850900"/>
                </a:lnTo>
                <a:lnTo>
                  <a:pt x="4517898" y="850900"/>
                </a:lnTo>
                <a:lnTo>
                  <a:pt x="4541240" y="863600"/>
                </a:lnTo>
                <a:close/>
              </a:path>
              <a:path w="4745990" h="1270000">
                <a:moveTo>
                  <a:pt x="204812" y="876300"/>
                </a:moveTo>
                <a:lnTo>
                  <a:pt x="166687" y="876300"/>
                </a:lnTo>
                <a:lnTo>
                  <a:pt x="183705" y="863600"/>
                </a:lnTo>
                <a:lnTo>
                  <a:pt x="223278" y="863600"/>
                </a:lnTo>
                <a:lnTo>
                  <a:pt x="204812" y="876300"/>
                </a:lnTo>
                <a:close/>
              </a:path>
              <a:path w="4745990" h="1270000">
                <a:moveTo>
                  <a:pt x="4584395" y="876300"/>
                </a:moveTo>
                <a:lnTo>
                  <a:pt x="4537951" y="876300"/>
                </a:lnTo>
                <a:lnTo>
                  <a:pt x="4514697" y="863600"/>
                </a:lnTo>
                <a:lnTo>
                  <a:pt x="4563414" y="863600"/>
                </a:lnTo>
                <a:lnTo>
                  <a:pt x="4584395" y="876300"/>
                </a:lnTo>
                <a:close/>
              </a:path>
              <a:path w="4745990" h="1270000">
                <a:moveTo>
                  <a:pt x="154330" y="889000"/>
                </a:moveTo>
                <a:lnTo>
                  <a:pt x="120332" y="889000"/>
                </a:lnTo>
                <a:lnTo>
                  <a:pt x="135000" y="876300"/>
                </a:lnTo>
                <a:lnTo>
                  <a:pt x="170459" y="876300"/>
                </a:lnTo>
                <a:lnTo>
                  <a:pt x="154330" y="889000"/>
                </a:lnTo>
                <a:close/>
              </a:path>
              <a:path w="4745990" h="1270000">
                <a:moveTo>
                  <a:pt x="4622711" y="889000"/>
                </a:moveTo>
                <a:lnTo>
                  <a:pt x="4580661" y="889000"/>
                </a:lnTo>
                <a:lnTo>
                  <a:pt x="4559808" y="876300"/>
                </a:lnTo>
                <a:lnTo>
                  <a:pt x="4604169" y="876300"/>
                </a:lnTo>
                <a:lnTo>
                  <a:pt x="4622711" y="889000"/>
                </a:lnTo>
                <a:close/>
              </a:path>
              <a:path w="4745990" h="1270000">
                <a:moveTo>
                  <a:pt x="124663" y="901700"/>
                </a:moveTo>
                <a:lnTo>
                  <a:pt x="93408" y="901700"/>
                </a:lnTo>
                <a:lnTo>
                  <a:pt x="106464" y="889000"/>
                </a:lnTo>
                <a:lnTo>
                  <a:pt x="139204" y="889000"/>
                </a:lnTo>
                <a:lnTo>
                  <a:pt x="124663" y="901700"/>
                </a:lnTo>
                <a:close/>
              </a:path>
              <a:path w="4745990" h="1270000">
                <a:moveTo>
                  <a:pt x="4656099" y="901700"/>
                </a:moveTo>
                <a:lnTo>
                  <a:pt x="4618443" y="901700"/>
                </a:lnTo>
                <a:lnTo>
                  <a:pt x="4600041" y="889000"/>
                </a:lnTo>
                <a:lnTo>
                  <a:pt x="4640033" y="889000"/>
                </a:lnTo>
                <a:lnTo>
                  <a:pt x="4656099" y="901700"/>
                </a:lnTo>
                <a:close/>
              </a:path>
              <a:path w="4745990" h="1270000">
                <a:moveTo>
                  <a:pt x="86359" y="914400"/>
                </a:moveTo>
                <a:lnTo>
                  <a:pt x="59143" y="914400"/>
                </a:lnTo>
                <a:lnTo>
                  <a:pt x="69735" y="901700"/>
                </a:lnTo>
                <a:lnTo>
                  <a:pt x="98437" y="901700"/>
                </a:lnTo>
                <a:lnTo>
                  <a:pt x="86359" y="914400"/>
                </a:lnTo>
                <a:close/>
              </a:path>
              <a:path w="4745990" h="1270000">
                <a:moveTo>
                  <a:pt x="98285" y="914400"/>
                </a:moveTo>
                <a:lnTo>
                  <a:pt x="98437" y="901700"/>
                </a:lnTo>
                <a:lnTo>
                  <a:pt x="111201" y="901700"/>
                </a:lnTo>
                <a:lnTo>
                  <a:pt x="98285" y="914400"/>
                </a:lnTo>
                <a:close/>
              </a:path>
              <a:path w="4745990" h="1270000">
                <a:moveTo>
                  <a:pt x="4677816" y="914400"/>
                </a:moveTo>
                <a:lnTo>
                  <a:pt x="4651133" y="914400"/>
                </a:lnTo>
                <a:lnTo>
                  <a:pt x="4635258" y="901700"/>
                </a:lnTo>
                <a:lnTo>
                  <a:pt x="4670869" y="901700"/>
                </a:lnTo>
                <a:lnTo>
                  <a:pt x="4677816" y="914400"/>
                </a:lnTo>
                <a:close/>
              </a:path>
              <a:path w="4745990" h="1270000">
                <a:moveTo>
                  <a:pt x="65100" y="927100"/>
                </a:moveTo>
                <a:lnTo>
                  <a:pt x="40436" y="927100"/>
                </a:lnTo>
                <a:lnTo>
                  <a:pt x="49364" y="914400"/>
                </a:lnTo>
                <a:lnTo>
                  <a:pt x="75488" y="914400"/>
                </a:lnTo>
                <a:lnTo>
                  <a:pt x="65100" y="927100"/>
                </a:lnTo>
                <a:close/>
              </a:path>
              <a:path w="4745990" h="1270000">
                <a:moveTo>
                  <a:pt x="4702289" y="927100"/>
                </a:moveTo>
                <a:lnTo>
                  <a:pt x="4678502" y="927100"/>
                </a:lnTo>
                <a:lnTo>
                  <a:pt x="4672037" y="914400"/>
                </a:lnTo>
                <a:lnTo>
                  <a:pt x="4696663" y="914400"/>
                </a:lnTo>
                <a:lnTo>
                  <a:pt x="4702289" y="927100"/>
                </a:lnTo>
                <a:close/>
              </a:path>
              <a:path w="4745990" h="1270000">
                <a:moveTo>
                  <a:pt x="47358" y="939800"/>
                </a:moveTo>
                <a:lnTo>
                  <a:pt x="25107" y="939800"/>
                </a:lnTo>
                <a:lnTo>
                  <a:pt x="32346" y="927100"/>
                </a:lnTo>
                <a:lnTo>
                  <a:pt x="56019" y="927100"/>
                </a:lnTo>
                <a:lnTo>
                  <a:pt x="47358" y="939800"/>
                </a:lnTo>
                <a:close/>
              </a:path>
              <a:path w="4745990" h="1270000">
                <a:moveTo>
                  <a:pt x="4721555" y="939800"/>
                </a:moveTo>
                <a:lnTo>
                  <a:pt x="4700485" y="939800"/>
                </a:lnTo>
                <a:lnTo>
                  <a:pt x="4695342" y="927100"/>
                </a:lnTo>
                <a:lnTo>
                  <a:pt x="4717237" y="927100"/>
                </a:lnTo>
                <a:lnTo>
                  <a:pt x="4721555" y="939800"/>
                </a:lnTo>
                <a:close/>
              </a:path>
              <a:path w="4745990" h="1270000">
                <a:moveTo>
                  <a:pt x="27546" y="952500"/>
                </a:moveTo>
                <a:lnTo>
                  <a:pt x="13220" y="952500"/>
                </a:lnTo>
                <a:lnTo>
                  <a:pt x="15875" y="939800"/>
                </a:lnTo>
                <a:lnTo>
                  <a:pt x="33566" y="939800"/>
                </a:lnTo>
                <a:lnTo>
                  <a:pt x="27546" y="952500"/>
                </a:lnTo>
                <a:close/>
              </a:path>
              <a:path w="4745990" h="1270000">
                <a:moveTo>
                  <a:pt x="4732515" y="952500"/>
                </a:moveTo>
                <a:lnTo>
                  <a:pt x="4716830" y="952500"/>
                </a:lnTo>
                <a:lnTo>
                  <a:pt x="4713058" y="939800"/>
                </a:lnTo>
                <a:lnTo>
                  <a:pt x="4729200" y="939800"/>
                </a:lnTo>
                <a:lnTo>
                  <a:pt x="4732515" y="952500"/>
                </a:lnTo>
                <a:close/>
              </a:path>
              <a:path w="4745990" h="1270000">
                <a:moveTo>
                  <a:pt x="19100" y="965200"/>
                </a:moveTo>
                <a:lnTo>
                  <a:pt x="4927" y="965200"/>
                </a:lnTo>
                <a:lnTo>
                  <a:pt x="6654" y="952500"/>
                </a:lnTo>
                <a:lnTo>
                  <a:pt x="21081" y="952500"/>
                </a:lnTo>
                <a:lnTo>
                  <a:pt x="19100" y="965200"/>
                </a:lnTo>
                <a:close/>
              </a:path>
              <a:path w="4745990" h="1270000">
                <a:moveTo>
                  <a:pt x="4725301" y="965200"/>
                </a:moveTo>
                <a:lnTo>
                  <a:pt x="4722596" y="952500"/>
                </a:lnTo>
                <a:lnTo>
                  <a:pt x="4725047" y="952500"/>
                </a:lnTo>
                <a:lnTo>
                  <a:pt x="4725301" y="965200"/>
                </a:lnTo>
                <a:close/>
              </a:path>
              <a:path w="4745990" h="1270000">
                <a:moveTo>
                  <a:pt x="4740338" y="965200"/>
                </a:moveTo>
                <a:lnTo>
                  <a:pt x="4727409" y="965200"/>
                </a:lnTo>
                <a:lnTo>
                  <a:pt x="4725047" y="952500"/>
                </a:lnTo>
                <a:lnTo>
                  <a:pt x="4738090" y="952500"/>
                </a:lnTo>
                <a:lnTo>
                  <a:pt x="4740338" y="965200"/>
                </a:lnTo>
                <a:close/>
              </a:path>
              <a:path w="4745990" h="1270000">
                <a:moveTo>
                  <a:pt x="13525" y="977900"/>
                </a:moveTo>
                <a:lnTo>
                  <a:pt x="571" y="977900"/>
                </a:lnTo>
                <a:lnTo>
                  <a:pt x="1257" y="965200"/>
                </a:lnTo>
                <a:lnTo>
                  <a:pt x="14363" y="965200"/>
                </a:lnTo>
                <a:lnTo>
                  <a:pt x="13525" y="977900"/>
                </a:lnTo>
                <a:close/>
              </a:path>
              <a:path w="4745990" h="1270000">
                <a:moveTo>
                  <a:pt x="4745405" y="977900"/>
                </a:moveTo>
                <a:lnTo>
                  <a:pt x="4732375" y="977900"/>
                </a:lnTo>
                <a:lnTo>
                  <a:pt x="4731461" y="965200"/>
                </a:lnTo>
                <a:lnTo>
                  <a:pt x="4744758" y="965200"/>
                </a:lnTo>
                <a:lnTo>
                  <a:pt x="4745405" y="977900"/>
                </a:lnTo>
                <a:close/>
              </a:path>
              <a:path w="4745990" h="1270000">
                <a:moveTo>
                  <a:pt x="13398" y="990600"/>
                </a:moveTo>
                <a:lnTo>
                  <a:pt x="228" y="990600"/>
                </a:lnTo>
                <a:lnTo>
                  <a:pt x="0" y="977900"/>
                </a:lnTo>
                <a:lnTo>
                  <a:pt x="12826" y="977900"/>
                </a:lnTo>
                <a:lnTo>
                  <a:pt x="13398" y="990600"/>
                </a:lnTo>
                <a:close/>
              </a:path>
              <a:path w="4745990" h="1270000">
                <a:moveTo>
                  <a:pt x="4745393" y="990600"/>
                </a:moveTo>
                <a:lnTo>
                  <a:pt x="4732223" y="990600"/>
                </a:lnTo>
                <a:lnTo>
                  <a:pt x="4732807" y="977900"/>
                </a:lnTo>
                <a:lnTo>
                  <a:pt x="4745621" y="977900"/>
                </a:lnTo>
                <a:lnTo>
                  <a:pt x="4745393" y="990600"/>
                </a:lnTo>
                <a:close/>
              </a:path>
              <a:path w="4745990" h="1270000">
                <a:moveTo>
                  <a:pt x="18745" y="1003300"/>
                </a:moveTo>
                <a:lnTo>
                  <a:pt x="3581" y="1003300"/>
                </a:lnTo>
                <a:lnTo>
                  <a:pt x="2031" y="990600"/>
                </a:lnTo>
                <a:lnTo>
                  <a:pt x="16649" y="990600"/>
                </a:lnTo>
                <a:lnTo>
                  <a:pt x="18745" y="1003300"/>
                </a:lnTo>
                <a:close/>
              </a:path>
              <a:path w="4745990" h="1270000">
                <a:moveTo>
                  <a:pt x="4742040" y="1003300"/>
                </a:moveTo>
                <a:lnTo>
                  <a:pt x="4726876" y="1003300"/>
                </a:lnTo>
                <a:lnTo>
                  <a:pt x="4728972" y="990600"/>
                </a:lnTo>
                <a:lnTo>
                  <a:pt x="4743589" y="990600"/>
                </a:lnTo>
                <a:lnTo>
                  <a:pt x="4742040" y="1003300"/>
                </a:lnTo>
                <a:close/>
              </a:path>
              <a:path w="4745990" h="1270000">
                <a:moveTo>
                  <a:pt x="29844" y="1016000"/>
                </a:moveTo>
                <a:lnTo>
                  <a:pt x="13728" y="1016000"/>
                </a:lnTo>
                <a:lnTo>
                  <a:pt x="10617" y="1003300"/>
                </a:lnTo>
                <a:lnTo>
                  <a:pt x="26263" y="1003300"/>
                </a:lnTo>
                <a:lnTo>
                  <a:pt x="29844" y="1016000"/>
                </a:lnTo>
                <a:close/>
              </a:path>
              <a:path w="4745990" h="1270000">
                <a:moveTo>
                  <a:pt x="4731905" y="1016000"/>
                </a:moveTo>
                <a:lnTo>
                  <a:pt x="4715776" y="1016000"/>
                </a:lnTo>
                <a:lnTo>
                  <a:pt x="4719358" y="1003300"/>
                </a:lnTo>
                <a:lnTo>
                  <a:pt x="4735004" y="1003300"/>
                </a:lnTo>
                <a:lnTo>
                  <a:pt x="4731905" y="1016000"/>
                </a:lnTo>
                <a:close/>
              </a:path>
              <a:path w="4745990" h="1270000">
                <a:moveTo>
                  <a:pt x="46951" y="1028700"/>
                </a:moveTo>
                <a:lnTo>
                  <a:pt x="25184" y="1028700"/>
                </a:lnTo>
                <a:lnTo>
                  <a:pt x="21005" y="1016000"/>
                </a:lnTo>
                <a:lnTo>
                  <a:pt x="41922" y="1016000"/>
                </a:lnTo>
                <a:lnTo>
                  <a:pt x="46951" y="1028700"/>
                </a:lnTo>
                <a:close/>
              </a:path>
              <a:path w="4745990" h="1270000">
                <a:moveTo>
                  <a:pt x="4720450" y="1028700"/>
                </a:moveTo>
                <a:lnTo>
                  <a:pt x="4698669" y="1028700"/>
                </a:lnTo>
                <a:lnTo>
                  <a:pt x="4703699" y="1016000"/>
                </a:lnTo>
                <a:lnTo>
                  <a:pt x="4724615" y="1016000"/>
                </a:lnTo>
                <a:lnTo>
                  <a:pt x="4720450" y="1028700"/>
                </a:lnTo>
                <a:close/>
              </a:path>
              <a:path w="4745990" h="1270000">
                <a:moveTo>
                  <a:pt x="63665" y="1041400"/>
                </a:moveTo>
                <a:lnTo>
                  <a:pt x="39776" y="1041400"/>
                </a:lnTo>
                <a:lnTo>
                  <a:pt x="34569" y="1028700"/>
                </a:lnTo>
                <a:lnTo>
                  <a:pt x="57581" y="1028700"/>
                </a:lnTo>
                <a:lnTo>
                  <a:pt x="63665" y="1041400"/>
                </a:lnTo>
                <a:close/>
              </a:path>
              <a:path w="4745990" h="1270000">
                <a:moveTo>
                  <a:pt x="4705858" y="1041400"/>
                </a:moveTo>
                <a:lnTo>
                  <a:pt x="4681969" y="1041400"/>
                </a:lnTo>
                <a:lnTo>
                  <a:pt x="4688052" y="1028700"/>
                </a:lnTo>
                <a:lnTo>
                  <a:pt x="4711065" y="1028700"/>
                </a:lnTo>
                <a:lnTo>
                  <a:pt x="4705858" y="1041400"/>
                </a:lnTo>
                <a:close/>
              </a:path>
              <a:path w="4745990" h="1270000">
                <a:moveTo>
                  <a:pt x="98704" y="1054100"/>
                </a:moveTo>
                <a:lnTo>
                  <a:pt x="64020" y="1054100"/>
                </a:lnTo>
                <a:lnTo>
                  <a:pt x="57454" y="1041400"/>
                </a:lnTo>
                <a:lnTo>
                  <a:pt x="83439" y="1041400"/>
                </a:lnTo>
                <a:lnTo>
                  <a:pt x="98704" y="1054100"/>
                </a:lnTo>
                <a:close/>
              </a:path>
              <a:path w="4745990" h="1270000">
                <a:moveTo>
                  <a:pt x="4681601" y="1054100"/>
                </a:moveTo>
                <a:lnTo>
                  <a:pt x="4646917" y="1054100"/>
                </a:lnTo>
                <a:lnTo>
                  <a:pt x="4662195" y="1041400"/>
                </a:lnTo>
                <a:lnTo>
                  <a:pt x="4688166" y="1041400"/>
                </a:lnTo>
                <a:lnTo>
                  <a:pt x="4681601" y="1054100"/>
                </a:lnTo>
                <a:close/>
              </a:path>
              <a:path w="4745990" h="1270000">
                <a:moveTo>
                  <a:pt x="132905" y="1066800"/>
                </a:moveTo>
                <a:lnTo>
                  <a:pt x="93649" y="1066800"/>
                </a:lnTo>
                <a:lnTo>
                  <a:pt x="78206" y="1054100"/>
                </a:lnTo>
                <a:lnTo>
                  <a:pt x="114947" y="1054100"/>
                </a:lnTo>
                <a:lnTo>
                  <a:pt x="132905" y="1066800"/>
                </a:lnTo>
                <a:close/>
              </a:path>
              <a:path w="4745990" h="1270000">
                <a:moveTo>
                  <a:pt x="4651971" y="1066800"/>
                </a:moveTo>
                <a:lnTo>
                  <a:pt x="4612728" y="1066800"/>
                </a:lnTo>
                <a:lnTo>
                  <a:pt x="4630674" y="1054100"/>
                </a:lnTo>
                <a:lnTo>
                  <a:pt x="4667427" y="1054100"/>
                </a:lnTo>
                <a:lnTo>
                  <a:pt x="4651971" y="1066800"/>
                </a:lnTo>
                <a:close/>
              </a:path>
              <a:path w="4745990" h="1270000">
                <a:moveTo>
                  <a:pt x="172415" y="1079500"/>
                </a:moveTo>
                <a:lnTo>
                  <a:pt x="128574" y="1079500"/>
                </a:lnTo>
                <a:lnTo>
                  <a:pt x="110464" y="1066800"/>
                </a:lnTo>
                <a:lnTo>
                  <a:pt x="151866" y="1066800"/>
                </a:lnTo>
                <a:lnTo>
                  <a:pt x="172415" y="1079500"/>
                </a:lnTo>
                <a:close/>
              </a:path>
              <a:path w="4745990" h="1270000">
                <a:moveTo>
                  <a:pt x="4617059" y="1079500"/>
                </a:moveTo>
                <a:lnTo>
                  <a:pt x="4573206" y="1079500"/>
                </a:lnTo>
                <a:lnTo>
                  <a:pt x="4593755" y="1066800"/>
                </a:lnTo>
                <a:lnTo>
                  <a:pt x="4635169" y="1066800"/>
                </a:lnTo>
                <a:lnTo>
                  <a:pt x="4617059" y="1079500"/>
                </a:lnTo>
                <a:close/>
              </a:path>
              <a:path w="4745990" h="1270000">
                <a:moveTo>
                  <a:pt x="217081" y="1092200"/>
                </a:moveTo>
                <a:lnTo>
                  <a:pt x="168656" y="1092200"/>
                </a:lnTo>
                <a:lnTo>
                  <a:pt x="147967" y="1079500"/>
                </a:lnTo>
                <a:lnTo>
                  <a:pt x="194005" y="1079500"/>
                </a:lnTo>
                <a:lnTo>
                  <a:pt x="217081" y="1092200"/>
                </a:lnTo>
                <a:close/>
              </a:path>
              <a:path w="4745990" h="1270000">
                <a:moveTo>
                  <a:pt x="4576978" y="1092200"/>
                </a:moveTo>
                <a:lnTo>
                  <a:pt x="4528540" y="1092200"/>
                </a:lnTo>
                <a:lnTo>
                  <a:pt x="4551616" y="1079500"/>
                </a:lnTo>
                <a:lnTo>
                  <a:pt x="4597654" y="1079500"/>
                </a:lnTo>
                <a:lnTo>
                  <a:pt x="4576978" y="1092200"/>
                </a:lnTo>
                <a:close/>
              </a:path>
              <a:path w="4745990" h="1270000">
                <a:moveTo>
                  <a:pt x="266738" y="1104900"/>
                </a:moveTo>
                <a:lnTo>
                  <a:pt x="213779" y="1104900"/>
                </a:lnTo>
                <a:lnTo>
                  <a:pt x="190588" y="1092200"/>
                </a:lnTo>
                <a:lnTo>
                  <a:pt x="241211" y="1092200"/>
                </a:lnTo>
                <a:lnTo>
                  <a:pt x="266738" y="1104900"/>
                </a:lnTo>
                <a:close/>
              </a:path>
              <a:path w="4745990" h="1270000">
                <a:moveTo>
                  <a:pt x="4531855" y="1104900"/>
                </a:moveTo>
                <a:lnTo>
                  <a:pt x="4478883" y="1104900"/>
                </a:lnTo>
                <a:lnTo>
                  <a:pt x="4504423" y="1092200"/>
                </a:lnTo>
                <a:lnTo>
                  <a:pt x="4555032" y="1092200"/>
                </a:lnTo>
                <a:lnTo>
                  <a:pt x="4531855" y="1104900"/>
                </a:lnTo>
                <a:close/>
              </a:path>
              <a:path w="4745990" h="1270000">
                <a:moveTo>
                  <a:pt x="321221" y="1117600"/>
                </a:moveTo>
                <a:lnTo>
                  <a:pt x="263791" y="1117600"/>
                </a:lnTo>
                <a:lnTo>
                  <a:pt x="238175" y="1104900"/>
                </a:lnTo>
                <a:lnTo>
                  <a:pt x="293306" y="1104900"/>
                </a:lnTo>
                <a:lnTo>
                  <a:pt x="321221" y="1117600"/>
                </a:lnTo>
                <a:close/>
              </a:path>
              <a:path w="4745990" h="1270000">
                <a:moveTo>
                  <a:pt x="4481830" y="1117600"/>
                </a:moveTo>
                <a:lnTo>
                  <a:pt x="4424400" y="1117600"/>
                </a:lnTo>
                <a:lnTo>
                  <a:pt x="4452315" y="1104900"/>
                </a:lnTo>
                <a:lnTo>
                  <a:pt x="4507445" y="1104900"/>
                </a:lnTo>
                <a:lnTo>
                  <a:pt x="4481830" y="1117600"/>
                </a:lnTo>
                <a:close/>
              </a:path>
              <a:path w="4745990" h="1270000">
                <a:moveTo>
                  <a:pt x="380377" y="1130300"/>
                </a:moveTo>
                <a:lnTo>
                  <a:pt x="318592" y="1130300"/>
                </a:lnTo>
                <a:lnTo>
                  <a:pt x="290601" y="1117600"/>
                </a:lnTo>
                <a:lnTo>
                  <a:pt x="350164" y="1117600"/>
                </a:lnTo>
                <a:lnTo>
                  <a:pt x="380377" y="1130300"/>
                </a:lnTo>
                <a:close/>
              </a:path>
              <a:path w="4745990" h="1270000">
                <a:moveTo>
                  <a:pt x="4427042" y="1130300"/>
                </a:moveTo>
                <a:lnTo>
                  <a:pt x="4365256" y="1130300"/>
                </a:lnTo>
                <a:lnTo>
                  <a:pt x="4395470" y="1117600"/>
                </a:lnTo>
                <a:lnTo>
                  <a:pt x="4455020" y="1117600"/>
                </a:lnTo>
                <a:lnTo>
                  <a:pt x="4427042" y="1130300"/>
                </a:lnTo>
                <a:close/>
              </a:path>
              <a:path w="4745990" h="1270000">
                <a:moveTo>
                  <a:pt x="444042" y="1143000"/>
                </a:moveTo>
                <a:lnTo>
                  <a:pt x="378002" y="1143000"/>
                </a:lnTo>
                <a:lnTo>
                  <a:pt x="347726" y="1130300"/>
                </a:lnTo>
                <a:lnTo>
                  <a:pt x="411594" y="1130300"/>
                </a:lnTo>
                <a:lnTo>
                  <a:pt x="444042" y="1143000"/>
                </a:lnTo>
                <a:close/>
              </a:path>
              <a:path w="4745990" h="1270000">
                <a:moveTo>
                  <a:pt x="4367618" y="1143000"/>
                </a:moveTo>
                <a:lnTo>
                  <a:pt x="4301591" y="1143000"/>
                </a:lnTo>
                <a:lnTo>
                  <a:pt x="4334027" y="1130300"/>
                </a:lnTo>
                <a:lnTo>
                  <a:pt x="4397895" y="1130300"/>
                </a:lnTo>
                <a:lnTo>
                  <a:pt x="4367618" y="1143000"/>
                </a:lnTo>
                <a:close/>
              </a:path>
              <a:path w="4745990" h="1270000">
                <a:moveTo>
                  <a:pt x="547674" y="1155700"/>
                </a:moveTo>
                <a:lnTo>
                  <a:pt x="441896" y="1155700"/>
                </a:lnTo>
                <a:lnTo>
                  <a:pt x="409397" y="1143000"/>
                </a:lnTo>
                <a:lnTo>
                  <a:pt x="512025" y="1143000"/>
                </a:lnTo>
                <a:lnTo>
                  <a:pt x="547674" y="1155700"/>
                </a:lnTo>
                <a:close/>
              </a:path>
              <a:path w="4745990" h="1270000">
                <a:moveTo>
                  <a:pt x="4303725" y="1155700"/>
                </a:moveTo>
                <a:lnTo>
                  <a:pt x="4197946" y="1155700"/>
                </a:lnTo>
                <a:lnTo>
                  <a:pt x="4233595" y="1143000"/>
                </a:lnTo>
                <a:lnTo>
                  <a:pt x="4336224" y="1143000"/>
                </a:lnTo>
                <a:lnTo>
                  <a:pt x="4303725" y="1155700"/>
                </a:lnTo>
                <a:close/>
              </a:path>
              <a:path w="4745990" h="1270000">
                <a:moveTo>
                  <a:pt x="621969" y="1168400"/>
                </a:moveTo>
                <a:lnTo>
                  <a:pt x="545833" y="1168400"/>
                </a:lnTo>
                <a:lnTo>
                  <a:pt x="510133" y="1155700"/>
                </a:lnTo>
                <a:lnTo>
                  <a:pt x="584276" y="1155700"/>
                </a:lnTo>
                <a:lnTo>
                  <a:pt x="621969" y="1168400"/>
                </a:lnTo>
                <a:close/>
              </a:path>
              <a:path w="4745990" h="1270000">
                <a:moveTo>
                  <a:pt x="4199801" y="1168400"/>
                </a:moveTo>
                <a:lnTo>
                  <a:pt x="4123651" y="1168400"/>
                </a:lnTo>
                <a:lnTo>
                  <a:pt x="4161345" y="1155700"/>
                </a:lnTo>
                <a:lnTo>
                  <a:pt x="4235500" y="1155700"/>
                </a:lnTo>
                <a:lnTo>
                  <a:pt x="4199801" y="1168400"/>
                </a:lnTo>
                <a:close/>
              </a:path>
              <a:path w="4745990" h="1270000">
                <a:moveTo>
                  <a:pt x="740841" y="1181100"/>
                </a:moveTo>
                <a:lnTo>
                  <a:pt x="620293" y="1181100"/>
                </a:lnTo>
                <a:lnTo>
                  <a:pt x="582549" y="1168400"/>
                </a:lnTo>
                <a:lnTo>
                  <a:pt x="700214" y="1168400"/>
                </a:lnTo>
                <a:lnTo>
                  <a:pt x="740841" y="1181100"/>
                </a:lnTo>
                <a:close/>
              </a:path>
              <a:path w="4745990" h="1270000">
                <a:moveTo>
                  <a:pt x="4125341" y="1181100"/>
                </a:moveTo>
                <a:lnTo>
                  <a:pt x="4004792" y="1181100"/>
                </a:lnTo>
                <a:lnTo>
                  <a:pt x="4045407" y="1168400"/>
                </a:lnTo>
                <a:lnTo>
                  <a:pt x="4163072" y="1168400"/>
                </a:lnTo>
                <a:lnTo>
                  <a:pt x="4125341" y="1181100"/>
                </a:lnTo>
                <a:close/>
              </a:path>
              <a:path w="4745990" h="1270000">
                <a:moveTo>
                  <a:pt x="824814" y="1193800"/>
                </a:moveTo>
                <a:lnTo>
                  <a:pt x="739381" y="1193800"/>
                </a:lnTo>
                <a:lnTo>
                  <a:pt x="698715" y="1181100"/>
                </a:lnTo>
                <a:lnTo>
                  <a:pt x="782332" y="1181100"/>
                </a:lnTo>
                <a:lnTo>
                  <a:pt x="824814" y="1193800"/>
                </a:lnTo>
                <a:close/>
              </a:path>
              <a:path w="4745990" h="1270000">
                <a:moveTo>
                  <a:pt x="4006253" y="1193800"/>
                </a:moveTo>
                <a:lnTo>
                  <a:pt x="3920807" y="1193800"/>
                </a:lnTo>
                <a:lnTo>
                  <a:pt x="3963289" y="1181100"/>
                </a:lnTo>
                <a:lnTo>
                  <a:pt x="4046905" y="1181100"/>
                </a:lnTo>
                <a:lnTo>
                  <a:pt x="4006253" y="1193800"/>
                </a:lnTo>
                <a:close/>
              </a:path>
              <a:path w="4745990" h="1270000">
                <a:moveTo>
                  <a:pt x="957503" y="1206500"/>
                </a:moveTo>
                <a:lnTo>
                  <a:pt x="823493" y="1206500"/>
                </a:lnTo>
                <a:lnTo>
                  <a:pt x="780973" y="1193800"/>
                </a:lnTo>
                <a:lnTo>
                  <a:pt x="912380" y="1193800"/>
                </a:lnTo>
                <a:lnTo>
                  <a:pt x="957503" y="1206500"/>
                </a:lnTo>
                <a:close/>
              </a:path>
              <a:path w="4745990" h="1270000">
                <a:moveTo>
                  <a:pt x="3922141" y="1206500"/>
                </a:moveTo>
                <a:lnTo>
                  <a:pt x="3788117" y="1206500"/>
                </a:lnTo>
                <a:lnTo>
                  <a:pt x="3833253" y="1193800"/>
                </a:lnTo>
                <a:lnTo>
                  <a:pt x="3964647" y="1193800"/>
                </a:lnTo>
                <a:lnTo>
                  <a:pt x="3922141" y="1206500"/>
                </a:lnTo>
                <a:close/>
              </a:path>
              <a:path w="4745990" h="1270000">
                <a:moveTo>
                  <a:pt x="1097813" y="1219200"/>
                </a:moveTo>
                <a:lnTo>
                  <a:pt x="956360" y="1219200"/>
                </a:lnTo>
                <a:lnTo>
                  <a:pt x="911199" y="1206500"/>
                </a:lnTo>
                <a:lnTo>
                  <a:pt x="1050201" y="1206500"/>
                </a:lnTo>
                <a:lnTo>
                  <a:pt x="1097813" y="1219200"/>
                </a:lnTo>
                <a:close/>
              </a:path>
              <a:path w="4745990" h="1270000">
                <a:moveTo>
                  <a:pt x="3789273" y="1219200"/>
                </a:moveTo>
                <a:lnTo>
                  <a:pt x="3647808" y="1219200"/>
                </a:lnTo>
                <a:lnTo>
                  <a:pt x="3695420" y="1206500"/>
                </a:lnTo>
                <a:lnTo>
                  <a:pt x="3834422" y="1206500"/>
                </a:lnTo>
                <a:lnTo>
                  <a:pt x="3789273" y="1219200"/>
                </a:lnTo>
                <a:close/>
              </a:path>
              <a:path w="4745990" h="1270000">
                <a:moveTo>
                  <a:pt x="1295882" y="1231900"/>
                </a:moveTo>
                <a:lnTo>
                  <a:pt x="1096835" y="1231900"/>
                </a:lnTo>
                <a:lnTo>
                  <a:pt x="1049197" y="1219200"/>
                </a:lnTo>
                <a:lnTo>
                  <a:pt x="1245222" y="1219200"/>
                </a:lnTo>
                <a:lnTo>
                  <a:pt x="1295882" y="1231900"/>
                </a:lnTo>
                <a:close/>
              </a:path>
              <a:path w="4745990" h="1270000">
                <a:moveTo>
                  <a:pt x="3648798" y="1231900"/>
                </a:moveTo>
                <a:lnTo>
                  <a:pt x="3449739" y="1231900"/>
                </a:lnTo>
                <a:lnTo>
                  <a:pt x="3500399" y="1219200"/>
                </a:lnTo>
                <a:lnTo>
                  <a:pt x="3696436" y="1219200"/>
                </a:lnTo>
                <a:lnTo>
                  <a:pt x="3648798" y="1231900"/>
                </a:lnTo>
                <a:close/>
              </a:path>
              <a:path w="4745990" h="1270000">
                <a:moveTo>
                  <a:pt x="1559433" y="1244600"/>
                </a:moveTo>
                <a:lnTo>
                  <a:pt x="1295095" y="1244600"/>
                </a:lnTo>
                <a:lnTo>
                  <a:pt x="1244409" y="1231900"/>
                </a:lnTo>
                <a:lnTo>
                  <a:pt x="1505381" y="1231900"/>
                </a:lnTo>
                <a:lnTo>
                  <a:pt x="1559433" y="1244600"/>
                </a:lnTo>
                <a:close/>
              </a:path>
              <a:path w="4745990" h="1270000">
                <a:moveTo>
                  <a:pt x="3450539" y="1244600"/>
                </a:moveTo>
                <a:lnTo>
                  <a:pt x="3186188" y="1244600"/>
                </a:lnTo>
                <a:lnTo>
                  <a:pt x="3240239" y="1231900"/>
                </a:lnTo>
                <a:lnTo>
                  <a:pt x="3501224" y="1231900"/>
                </a:lnTo>
                <a:lnTo>
                  <a:pt x="3450539" y="1244600"/>
                </a:lnTo>
                <a:close/>
              </a:path>
              <a:path w="4745990" h="1270000">
                <a:moveTo>
                  <a:pt x="1896059" y="1257300"/>
                </a:moveTo>
                <a:lnTo>
                  <a:pt x="1558874" y="1257300"/>
                </a:lnTo>
                <a:lnTo>
                  <a:pt x="1504797" y="1244600"/>
                </a:lnTo>
                <a:lnTo>
                  <a:pt x="1838540" y="1244600"/>
                </a:lnTo>
                <a:lnTo>
                  <a:pt x="1896059" y="1257300"/>
                </a:lnTo>
                <a:close/>
              </a:path>
              <a:path w="4745990" h="1270000">
                <a:moveTo>
                  <a:pt x="3186760" y="1257300"/>
                </a:moveTo>
                <a:lnTo>
                  <a:pt x="2849575" y="1257300"/>
                </a:lnTo>
                <a:lnTo>
                  <a:pt x="2907080" y="1244600"/>
                </a:lnTo>
                <a:lnTo>
                  <a:pt x="3240836" y="1244600"/>
                </a:lnTo>
                <a:lnTo>
                  <a:pt x="3186760" y="1257300"/>
                </a:lnTo>
                <a:close/>
              </a:path>
              <a:path w="4745990" h="1270000">
                <a:moveTo>
                  <a:pt x="2849892" y="1270000"/>
                </a:moveTo>
                <a:lnTo>
                  <a:pt x="1895728" y="1270000"/>
                </a:lnTo>
                <a:lnTo>
                  <a:pt x="1838197" y="1257300"/>
                </a:lnTo>
                <a:lnTo>
                  <a:pt x="2907423" y="1257300"/>
                </a:lnTo>
                <a:lnTo>
                  <a:pt x="2849892" y="1270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739" y="3140075"/>
            <a:ext cx="6736715" cy="198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5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  int y = (--x) *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3; </a:t>
            </a:r>
            <a:endParaRPr sz="2800">
              <a:latin typeface="宋体"/>
              <a:cs typeface="宋体"/>
            </a:endParaRPr>
          </a:p>
          <a:p>
            <a:pPr marR="5080" algn="r">
              <a:lnSpc>
                <a:spcPts val="2845"/>
              </a:lnSpc>
              <a:tabLst>
                <a:tab pos="766445" algn="l"/>
              </a:tabLst>
            </a:pP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4	y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15</a:t>
            </a:r>
            <a:endParaRPr sz="2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3200">
              <a:latin typeface="Book Antiqua"/>
              <a:cs typeface="Book Antiqua"/>
            </a:endParaRPr>
          </a:p>
          <a:p>
            <a:pPr marL="1219200">
              <a:lnSpc>
                <a:spcPct val="100000"/>
              </a:lnSpc>
              <a:spcBef>
                <a:spcPts val="2380"/>
              </a:spcBef>
              <a:tabLst>
                <a:tab pos="1889125" algn="l"/>
                <a:tab pos="3688079" algn="l"/>
              </a:tabLst>
            </a:pPr>
            <a:r>
              <a:rPr sz="2400" spc="-5" dirty="0">
                <a:latin typeface="Book Antiqua"/>
                <a:cs typeface="Book Antiqua"/>
              </a:rPr>
              <a:t>int	</a:t>
            </a:r>
            <a:r>
              <a:rPr sz="2400" dirty="0">
                <a:latin typeface="Book Antiqua"/>
                <a:cs typeface="Book Antiqua"/>
              </a:rPr>
              <a:t>y = (x--) * 3;	</a:t>
            </a:r>
            <a:r>
              <a:rPr sz="2400" dirty="0">
                <a:latin typeface="微软雅黑"/>
                <a:cs typeface="微软雅黑"/>
              </a:rPr>
              <a:t>？？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61352" y="1535201"/>
            <a:ext cx="35807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微软雅黑"/>
                <a:cs typeface="微软雅黑"/>
              </a:rPr>
              <a:t>前缀和后缀运算符举</a:t>
            </a:r>
            <a:r>
              <a:rPr sz="2800" spc="-5" dirty="0">
                <a:latin typeface="微软雅黑"/>
                <a:cs typeface="微软雅黑"/>
              </a:rPr>
              <a:t>例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809" y="973455"/>
            <a:ext cx="664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7E0054"/>
                </a:solidFill>
                <a:latin typeface="宋体"/>
                <a:cs typeface="宋体"/>
              </a:rPr>
              <a:t>例</a:t>
            </a:r>
            <a:r>
              <a:rPr sz="2000" b="1" spc="-5" dirty="0">
                <a:solidFill>
                  <a:srgbClr val="7E0054"/>
                </a:solidFill>
                <a:latin typeface="宋体"/>
                <a:cs typeface="宋体"/>
              </a:rPr>
              <a:t>2-</a:t>
            </a:r>
            <a:r>
              <a:rPr sz="2000" b="1" spc="-10" dirty="0">
                <a:solidFill>
                  <a:srgbClr val="7E0054"/>
                </a:solidFill>
                <a:latin typeface="宋体"/>
                <a:cs typeface="宋体"/>
              </a:rPr>
              <a:t>2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11809" y="1328292"/>
            <a:ext cx="4936490" cy="46069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00" b="1" dirty="0">
                <a:solidFill>
                  <a:srgbClr val="7E0054"/>
                </a:solidFill>
                <a:latin typeface="宋体"/>
                <a:cs typeface="宋体"/>
              </a:rPr>
              <a:t>public</a:t>
            </a:r>
            <a:r>
              <a:rPr sz="1600" b="1" dirty="0">
                <a:latin typeface="宋体"/>
                <a:cs typeface="宋体"/>
              </a:rPr>
              <a:t> </a:t>
            </a:r>
            <a:r>
              <a:rPr sz="1600" b="1" dirty="0">
                <a:solidFill>
                  <a:srgbClr val="7E0054"/>
                </a:solidFill>
                <a:latin typeface="宋体"/>
                <a:cs typeface="宋体"/>
              </a:rPr>
              <a:t>static</a:t>
            </a:r>
            <a:r>
              <a:rPr sz="1600" b="1" dirty="0">
                <a:latin typeface="宋体"/>
                <a:cs typeface="宋体"/>
              </a:rPr>
              <a:t> </a:t>
            </a:r>
            <a:r>
              <a:rPr sz="1600" b="1" dirty="0">
                <a:solidFill>
                  <a:srgbClr val="7E0054"/>
                </a:solidFill>
                <a:latin typeface="宋体"/>
                <a:cs typeface="宋体"/>
              </a:rPr>
              <a:t>void</a:t>
            </a:r>
            <a:r>
              <a:rPr sz="1600" b="1" dirty="0">
                <a:latin typeface="宋体"/>
                <a:cs typeface="宋体"/>
              </a:rPr>
              <a:t> main(String[]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args</a:t>
            </a:r>
            <a:r>
              <a:rPr sz="1600" b="1" dirty="0">
                <a:latin typeface="宋体"/>
                <a:cs typeface="宋体"/>
              </a:rPr>
              <a:t>)</a:t>
            </a:r>
            <a:r>
              <a:rPr sz="1600" b="1" spc="-20" dirty="0">
                <a:latin typeface="宋体"/>
                <a:cs typeface="宋体"/>
              </a:rPr>
              <a:t> </a:t>
            </a:r>
            <a:r>
              <a:rPr sz="1600" b="1" spc="-10" dirty="0">
                <a:latin typeface="宋体"/>
                <a:cs typeface="宋体"/>
              </a:rPr>
              <a:t>{</a:t>
            </a:r>
            <a:endParaRPr sz="1600">
              <a:latin typeface="宋体"/>
              <a:cs typeface="宋体"/>
            </a:endParaRPr>
          </a:p>
          <a:p>
            <a:pPr marL="295910">
              <a:lnSpc>
                <a:spcPct val="100000"/>
              </a:lnSpc>
              <a:spcBef>
                <a:spcPts val="180"/>
              </a:spcBef>
            </a:pPr>
            <a:r>
              <a:rPr sz="1600" b="1" dirty="0">
                <a:solidFill>
                  <a:srgbClr val="7E0054"/>
                </a:solidFill>
                <a:latin typeface="宋体"/>
                <a:cs typeface="宋体"/>
              </a:rPr>
              <a:t>int</a:t>
            </a:r>
            <a:r>
              <a:rPr sz="1600" b="1" dirty="0">
                <a:latin typeface="宋体"/>
                <a:cs typeface="宋体"/>
              </a:rPr>
              <a:t>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i</a:t>
            </a:r>
            <a:r>
              <a:rPr sz="1600" b="1" dirty="0">
                <a:latin typeface="宋体"/>
                <a:cs typeface="宋体"/>
              </a:rPr>
              <a:t> = 10,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j</a:t>
            </a:r>
            <a:r>
              <a:rPr sz="1600" b="1" dirty="0">
                <a:latin typeface="宋体"/>
                <a:cs typeface="宋体"/>
              </a:rPr>
              <a:t> = 8,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m</a:t>
            </a:r>
            <a:r>
              <a:rPr sz="1600" b="1" dirty="0">
                <a:latin typeface="宋体"/>
                <a:cs typeface="宋体"/>
              </a:rPr>
              <a:t> = 11,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n</a:t>
            </a:r>
            <a:r>
              <a:rPr sz="1600" b="1" dirty="0">
                <a:latin typeface="宋体"/>
                <a:cs typeface="宋体"/>
              </a:rPr>
              <a:t> = 20,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k</a:t>
            </a:r>
            <a:r>
              <a:rPr sz="1600" b="1" dirty="0">
                <a:latin typeface="宋体"/>
                <a:cs typeface="宋体"/>
              </a:rPr>
              <a:t>,</a:t>
            </a:r>
            <a:r>
              <a:rPr sz="1600" b="1" spc="-35" dirty="0">
                <a:latin typeface="宋体"/>
                <a:cs typeface="宋体"/>
              </a:rPr>
              <a:t> 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g</a:t>
            </a:r>
            <a:r>
              <a:rPr sz="1600" b="1" dirty="0">
                <a:latin typeface="宋体"/>
                <a:cs typeface="宋体"/>
              </a:rPr>
              <a:t>;    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宋体"/>
              <a:cs typeface="宋体"/>
            </a:endParaRPr>
          </a:p>
          <a:p>
            <a:pPr marL="295910" marR="1865630">
              <a:lnSpc>
                <a:spcPct val="109400"/>
              </a:lnSpc>
            </a:pPr>
            <a:r>
              <a:rPr sz="1600" dirty="0">
                <a:latin typeface="宋体"/>
                <a:cs typeface="宋体"/>
              </a:rPr>
              <a:t>System.</a:t>
            </a:r>
            <a:r>
              <a:rPr sz="1600" b="1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dirty="0">
                <a:latin typeface="宋体"/>
                <a:cs typeface="宋体"/>
              </a:rPr>
              <a:t>.println(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i</a:t>
            </a:r>
            <a:r>
              <a:rPr sz="1600" b="1" dirty="0">
                <a:latin typeface="宋体"/>
                <a:cs typeface="宋体"/>
              </a:rPr>
              <a:t>++);  </a:t>
            </a:r>
            <a:r>
              <a:rPr sz="1600" dirty="0">
                <a:latin typeface="宋体"/>
                <a:cs typeface="宋体"/>
              </a:rPr>
              <a:t>System.</a:t>
            </a:r>
            <a:r>
              <a:rPr sz="1600" b="1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dirty="0">
                <a:latin typeface="宋体"/>
                <a:cs typeface="宋体"/>
              </a:rPr>
              <a:t>.println(++</a:t>
            </a:r>
            <a:r>
              <a:rPr sz="1600" b="1" dirty="0">
                <a:solidFill>
                  <a:srgbClr val="6A3D3D"/>
                </a:solidFill>
                <a:latin typeface="宋体"/>
                <a:cs typeface="宋体"/>
              </a:rPr>
              <a:t>j</a:t>
            </a:r>
            <a:r>
              <a:rPr sz="1600" b="1" dirty="0">
                <a:latin typeface="宋体"/>
                <a:cs typeface="宋体"/>
              </a:rPr>
              <a:t>);   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宋体"/>
              <a:cs typeface="宋体"/>
            </a:endParaRPr>
          </a:p>
          <a:p>
            <a:pPr marL="295910" marR="1865630">
              <a:lnSpc>
                <a:spcPct val="109400"/>
              </a:lnSpc>
            </a:pPr>
            <a:r>
              <a:rPr sz="1600" spc="-5" dirty="0">
                <a:latin typeface="宋体"/>
                <a:cs typeface="宋体"/>
              </a:rPr>
              <a:t>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"i="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i</a:t>
            </a:r>
            <a:r>
              <a:rPr sz="1600" b="1" spc="-5" dirty="0">
                <a:latin typeface="宋体"/>
                <a:cs typeface="宋体"/>
              </a:rPr>
              <a:t>);  </a:t>
            </a:r>
            <a:r>
              <a:rPr sz="1600" spc="-5" dirty="0">
                <a:latin typeface="宋体"/>
                <a:cs typeface="宋体"/>
              </a:rPr>
              <a:t>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"j="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j</a:t>
            </a:r>
            <a:r>
              <a:rPr sz="1600" b="1" spc="-5" dirty="0">
                <a:latin typeface="宋体"/>
                <a:cs typeface="宋体"/>
              </a:rPr>
              <a:t>);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宋体"/>
              <a:cs typeface="宋体"/>
            </a:endParaRPr>
          </a:p>
          <a:p>
            <a:pPr marL="295910" marR="1865630">
              <a:lnSpc>
                <a:spcPct val="109400"/>
              </a:lnSpc>
              <a:spcBef>
                <a:spcPts val="5"/>
              </a:spcBef>
            </a:pPr>
            <a:r>
              <a:rPr sz="1600" spc="-5" dirty="0">
                <a:solidFill>
                  <a:srgbClr val="6A3D3D"/>
                </a:solidFill>
                <a:latin typeface="宋体"/>
                <a:cs typeface="宋体"/>
              </a:rPr>
              <a:t>k</a:t>
            </a:r>
            <a:r>
              <a:rPr sz="1600" spc="-5" dirty="0">
                <a:latin typeface="宋体"/>
                <a:cs typeface="宋体"/>
              </a:rPr>
              <a:t> = </a:t>
            </a:r>
            <a:r>
              <a:rPr sz="1600" spc="-5" dirty="0">
                <a:solidFill>
                  <a:srgbClr val="6A3D3D"/>
                </a:solidFill>
                <a:latin typeface="宋体"/>
                <a:cs typeface="宋体"/>
              </a:rPr>
              <a:t>m</a:t>
            </a:r>
            <a:r>
              <a:rPr sz="1600" spc="-5" dirty="0">
                <a:latin typeface="宋体"/>
                <a:cs typeface="宋体"/>
              </a:rPr>
              <a:t>++;  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"k="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k</a:t>
            </a:r>
            <a:r>
              <a:rPr sz="1600" b="1" spc="-5" dirty="0">
                <a:latin typeface="宋体"/>
                <a:cs typeface="宋体"/>
              </a:rPr>
              <a:t>);  </a:t>
            </a:r>
            <a:r>
              <a:rPr sz="1600" spc="-5" dirty="0">
                <a:latin typeface="宋体"/>
                <a:cs typeface="宋体"/>
              </a:rPr>
              <a:t>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"m="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m</a:t>
            </a:r>
            <a:r>
              <a:rPr sz="1600" b="1" spc="-5" dirty="0">
                <a:latin typeface="宋体"/>
                <a:cs typeface="宋体"/>
              </a:rPr>
              <a:t>);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宋体"/>
              <a:cs typeface="宋体"/>
            </a:endParaRPr>
          </a:p>
          <a:p>
            <a:pPr marL="295910" marR="1865630">
              <a:lnSpc>
                <a:spcPct val="109400"/>
              </a:lnSpc>
              <a:spcBef>
                <a:spcPts val="5"/>
              </a:spcBef>
            </a:pPr>
            <a:r>
              <a:rPr sz="1600" spc="-5" dirty="0">
                <a:solidFill>
                  <a:srgbClr val="6A3D3D"/>
                </a:solidFill>
                <a:latin typeface="宋体"/>
                <a:cs typeface="宋体"/>
              </a:rPr>
              <a:t>g</a:t>
            </a:r>
            <a:r>
              <a:rPr sz="1600" spc="-5" dirty="0">
                <a:latin typeface="宋体"/>
                <a:cs typeface="宋体"/>
              </a:rPr>
              <a:t> = 3*(++</a:t>
            </a:r>
            <a:r>
              <a:rPr sz="1600" spc="-5" dirty="0">
                <a:solidFill>
                  <a:srgbClr val="6A3D3D"/>
                </a:solidFill>
                <a:latin typeface="宋体"/>
                <a:cs typeface="宋体"/>
              </a:rPr>
              <a:t>n</a:t>
            </a:r>
            <a:r>
              <a:rPr sz="1600" spc="-5" dirty="0">
                <a:latin typeface="宋体"/>
                <a:cs typeface="宋体"/>
              </a:rPr>
              <a:t>);  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"g="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g</a:t>
            </a:r>
            <a:r>
              <a:rPr sz="1600" b="1" spc="-5" dirty="0">
                <a:latin typeface="宋体"/>
                <a:cs typeface="宋体"/>
              </a:rPr>
              <a:t>);  </a:t>
            </a:r>
            <a:r>
              <a:rPr sz="1600" spc="-5" dirty="0">
                <a:latin typeface="宋体"/>
                <a:cs typeface="宋体"/>
              </a:rPr>
              <a:t>System.</a:t>
            </a:r>
            <a:r>
              <a:rPr sz="1600" b="1" spc="-5" dirty="0">
                <a:solidFill>
                  <a:srgbClr val="0000C0"/>
                </a:solidFill>
                <a:latin typeface="宋体"/>
                <a:cs typeface="宋体"/>
              </a:rPr>
              <a:t>out</a:t>
            </a:r>
            <a:r>
              <a:rPr sz="1600" b="1" spc="-5" dirty="0">
                <a:latin typeface="宋体"/>
                <a:cs typeface="宋体"/>
              </a:rPr>
              <a:t>.println(</a:t>
            </a:r>
            <a:r>
              <a:rPr sz="1600" b="1" spc="-5" dirty="0">
                <a:solidFill>
                  <a:srgbClr val="2A00FF"/>
                </a:solidFill>
                <a:latin typeface="宋体"/>
                <a:cs typeface="宋体"/>
              </a:rPr>
              <a:t>"n="</a:t>
            </a:r>
            <a:r>
              <a:rPr sz="1600" b="1" spc="-5" dirty="0">
                <a:latin typeface="宋体"/>
                <a:cs typeface="宋体"/>
              </a:rPr>
              <a:t>+</a:t>
            </a:r>
            <a:r>
              <a:rPr sz="1600" b="1" spc="-5" dirty="0">
                <a:solidFill>
                  <a:srgbClr val="6A3D3D"/>
                </a:solidFill>
                <a:latin typeface="宋体"/>
                <a:cs typeface="宋体"/>
              </a:rPr>
              <a:t>n</a:t>
            </a:r>
            <a:r>
              <a:rPr sz="1600" b="1" spc="-5" dirty="0">
                <a:latin typeface="宋体"/>
                <a:cs typeface="宋体"/>
              </a:rPr>
              <a:t>);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600" spc="-5" dirty="0">
                <a:latin typeface="宋体"/>
                <a:cs typeface="宋体"/>
              </a:rPr>
              <a:t>}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0927" y="393852"/>
            <a:ext cx="3898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4568" y="3500628"/>
            <a:ext cx="7423404" cy="2554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0872" y="3497491"/>
            <a:ext cx="7431405" cy="2560955"/>
          </a:xfrm>
          <a:custGeom>
            <a:avLst/>
            <a:gdLst/>
            <a:ahLst/>
            <a:cxnLst/>
            <a:rect l="l" t="t" r="r" b="b"/>
            <a:pathLst>
              <a:path w="7431405" h="2560954">
                <a:moveTo>
                  <a:pt x="7430858" y="2560955"/>
                </a:moveTo>
                <a:lnTo>
                  <a:pt x="0" y="2560955"/>
                </a:lnTo>
                <a:lnTo>
                  <a:pt x="0" y="0"/>
                </a:lnTo>
                <a:lnTo>
                  <a:pt x="7430858" y="0"/>
                </a:lnTo>
                <a:lnTo>
                  <a:pt x="7430858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553335"/>
                </a:lnTo>
                <a:lnTo>
                  <a:pt x="3809" y="2553335"/>
                </a:lnTo>
                <a:lnTo>
                  <a:pt x="7620" y="2557145"/>
                </a:lnTo>
                <a:lnTo>
                  <a:pt x="7430858" y="2557145"/>
                </a:lnTo>
                <a:lnTo>
                  <a:pt x="7430858" y="2560955"/>
                </a:lnTo>
                <a:close/>
              </a:path>
              <a:path w="7431405" h="2560954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7431405" h="2560954">
                <a:moveTo>
                  <a:pt x="7423238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7423238" y="3810"/>
                </a:lnTo>
                <a:lnTo>
                  <a:pt x="7423238" y="7619"/>
                </a:lnTo>
                <a:close/>
              </a:path>
              <a:path w="7431405" h="2560954">
                <a:moveTo>
                  <a:pt x="7423238" y="2557145"/>
                </a:moveTo>
                <a:lnTo>
                  <a:pt x="7423238" y="3810"/>
                </a:lnTo>
                <a:lnTo>
                  <a:pt x="7427048" y="7619"/>
                </a:lnTo>
                <a:lnTo>
                  <a:pt x="7430858" y="7619"/>
                </a:lnTo>
                <a:lnTo>
                  <a:pt x="7430858" y="2553335"/>
                </a:lnTo>
                <a:lnTo>
                  <a:pt x="7427048" y="2553335"/>
                </a:lnTo>
                <a:lnTo>
                  <a:pt x="7423238" y="2557145"/>
                </a:lnTo>
                <a:close/>
              </a:path>
              <a:path w="7431405" h="2560954">
                <a:moveTo>
                  <a:pt x="7430858" y="7619"/>
                </a:moveTo>
                <a:lnTo>
                  <a:pt x="7427048" y="7619"/>
                </a:lnTo>
                <a:lnTo>
                  <a:pt x="7423238" y="3810"/>
                </a:lnTo>
                <a:lnTo>
                  <a:pt x="7430858" y="3810"/>
                </a:lnTo>
                <a:lnTo>
                  <a:pt x="7430858" y="7619"/>
                </a:lnTo>
                <a:close/>
              </a:path>
              <a:path w="7431405" h="2560954">
                <a:moveTo>
                  <a:pt x="7620" y="2557145"/>
                </a:moveTo>
                <a:lnTo>
                  <a:pt x="3809" y="2553335"/>
                </a:lnTo>
                <a:lnTo>
                  <a:pt x="7620" y="2553335"/>
                </a:lnTo>
                <a:lnTo>
                  <a:pt x="7620" y="2557145"/>
                </a:lnTo>
                <a:close/>
              </a:path>
              <a:path w="7431405" h="2560954">
                <a:moveTo>
                  <a:pt x="7423238" y="2557145"/>
                </a:moveTo>
                <a:lnTo>
                  <a:pt x="7620" y="2557145"/>
                </a:lnTo>
                <a:lnTo>
                  <a:pt x="7620" y="2553335"/>
                </a:lnTo>
                <a:lnTo>
                  <a:pt x="7423238" y="2553335"/>
                </a:lnTo>
                <a:lnTo>
                  <a:pt x="7423238" y="2557145"/>
                </a:lnTo>
                <a:close/>
              </a:path>
              <a:path w="7431405" h="2560954">
                <a:moveTo>
                  <a:pt x="7430858" y="2557145"/>
                </a:moveTo>
                <a:lnTo>
                  <a:pt x="7423238" y="2557145"/>
                </a:lnTo>
                <a:lnTo>
                  <a:pt x="7427048" y="2553335"/>
                </a:lnTo>
                <a:lnTo>
                  <a:pt x="7430858" y="2553335"/>
                </a:lnTo>
                <a:lnTo>
                  <a:pt x="7430858" y="255714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884" y="1704975"/>
            <a:ext cx="7665084" cy="427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如果其操作数中有一个是字符串类型，则“+”功能为</a:t>
            </a:r>
            <a:r>
              <a:rPr sz="2400" b="1" spc="-10" dirty="0">
                <a:latin typeface="宋体"/>
                <a:cs typeface="宋体"/>
              </a:rPr>
              <a:t>字 </a:t>
            </a:r>
            <a:r>
              <a:rPr sz="2400" b="1" dirty="0">
                <a:latin typeface="宋体"/>
                <a:cs typeface="宋体"/>
              </a:rPr>
              <a:t>符串的连接运</a:t>
            </a:r>
            <a:r>
              <a:rPr sz="2400" b="1" spc="-10" dirty="0">
                <a:latin typeface="宋体"/>
                <a:cs typeface="宋体"/>
              </a:rPr>
              <a:t>算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</a:t>
            </a:r>
            <a:r>
              <a:rPr sz="2800" dirty="0">
                <a:latin typeface="宋体"/>
                <a:cs typeface="宋体"/>
              </a:rPr>
              <a:t>】写出下面程序运行的结果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263015" marR="2572385" indent="-914400">
              <a:lnSpc>
                <a:spcPct val="100699"/>
              </a:lnSpc>
              <a:spcBef>
                <a:spcPts val="910"/>
              </a:spcBef>
            </a:pPr>
            <a:r>
              <a:rPr sz="2400" spc="-5" dirty="0">
                <a:latin typeface="Times New Roman"/>
                <a:cs typeface="Times New Roman"/>
              </a:rPr>
              <a:t>public static void main(String[] </a:t>
            </a:r>
            <a:r>
              <a:rPr sz="2400" spc="-10" dirty="0">
                <a:latin typeface="Times New Roman"/>
                <a:cs typeface="Times New Roman"/>
              </a:rPr>
              <a:t>args) </a:t>
            </a:r>
            <a:r>
              <a:rPr sz="2400" dirty="0">
                <a:latin typeface="Times New Roman"/>
                <a:cs typeface="Times New Roman"/>
              </a:rPr>
              <a:t>{  </a:t>
            </a:r>
            <a:r>
              <a:rPr sz="2400" spc="-5" dirty="0">
                <a:latin typeface="Times New Roman"/>
                <a:cs typeface="Times New Roman"/>
              </a:rPr>
              <a:t>int a=10,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b=20;</a:t>
            </a:r>
          </a:p>
          <a:p>
            <a:pPr marL="348615">
              <a:lnSpc>
                <a:spcPts val="2365"/>
              </a:lnSpc>
              <a:spcBef>
                <a:spcPts val="75"/>
              </a:spcBef>
            </a:pPr>
            <a:r>
              <a:rPr sz="2000" spc="-5" dirty="0">
                <a:latin typeface="Times New Roman"/>
                <a:cs typeface="Times New Roman"/>
              </a:rPr>
              <a:t>//</a:t>
            </a:r>
            <a:r>
              <a:rPr sz="2000" dirty="0">
                <a:latin typeface="微软雅黑"/>
                <a:cs typeface="微软雅黑"/>
              </a:rPr>
              <a:t>同优先级的运算符按照从左到右的次序计</a:t>
            </a:r>
            <a:r>
              <a:rPr sz="2000" spc="5" dirty="0">
                <a:latin typeface="微软雅黑"/>
                <a:cs typeface="微软雅黑"/>
              </a:rPr>
              <a:t>算</a:t>
            </a:r>
            <a:endParaRPr sz="2000" dirty="0">
              <a:latin typeface="微软雅黑"/>
              <a:cs typeface="微软雅黑"/>
            </a:endParaRPr>
          </a:p>
          <a:p>
            <a:pPr marL="1263015">
              <a:lnSpc>
                <a:spcPts val="2845"/>
              </a:lnSpc>
            </a:pPr>
            <a:r>
              <a:rPr sz="2400" spc="-5" dirty="0">
                <a:latin typeface="Times New Roman"/>
                <a:cs typeface="Times New Roman"/>
              </a:rPr>
              <a:t>System.</a:t>
            </a:r>
            <a:r>
              <a:rPr sz="2400" i="1" spc="-5" dirty="0">
                <a:latin typeface="Times New Roman"/>
                <a:cs typeface="Times New Roman"/>
              </a:rPr>
              <a:t>out</a:t>
            </a:r>
            <a:r>
              <a:rPr sz="2400" spc="-5" dirty="0">
                <a:latin typeface="Times New Roman"/>
                <a:cs typeface="Times New Roman"/>
              </a:rPr>
              <a:t>.println("a+b="+a+b);</a:t>
            </a:r>
            <a:endParaRPr sz="2400" dirty="0">
              <a:latin typeface="Times New Roman"/>
              <a:cs typeface="Times New Roman"/>
            </a:endParaRPr>
          </a:p>
          <a:p>
            <a:pPr marL="348615">
              <a:lnSpc>
                <a:spcPts val="2365"/>
              </a:lnSpc>
              <a:spcBef>
                <a:spcPts val="75"/>
              </a:spcBef>
            </a:pPr>
            <a:r>
              <a:rPr sz="2000" spc="-5" dirty="0">
                <a:latin typeface="Times New Roman"/>
                <a:cs typeface="Times New Roman"/>
              </a:rPr>
              <a:t>//</a:t>
            </a:r>
            <a:r>
              <a:rPr sz="2000" dirty="0">
                <a:latin typeface="微软雅黑"/>
                <a:cs typeface="微软雅黑"/>
              </a:rPr>
              <a:t>括号改变了计算的优先</a:t>
            </a:r>
            <a:r>
              <a:rPr sz="2000" spc="5" dirty="0">
                <a:latin typeface="微软雅黑"/>
                <a:cs typeface="微软雅黑"/>
              </a:rPr>
              <a:t>级</a:t>
            </a:r>
            <a:endParaRPr sz="2000" dirty="0">
              <a:latin typeface="微软雅黑"/>
              <a:cs typeface="微软雅黑"/>
            </a:endParaRPr>
          </a:p>
          <a:p>
            <a:pPr marL="1263015">
              <a:lnSpc>
                <a:spcPts val="2835"/>
              </a:lnSpc>
            </a:pPr>
            <a:r>
              <a:rPr sz="2400" spc="-5" dirty="0">
                <a:latin typeface="Times New Roman"/>
                <a:cs typeface="Times New Roman"/>
              </a:rPr>
              <a:t>System.</a:t>
            </a:r>
            <a:r>
              <a:rPr sz="2400" i="1" spc="-5" dirty="0">
                <a:latin typeface="Times New Roman"/>
                <a:cs typeface="Times New Roman"/>
              </a:rPr>
              <a:t>out</a:t>
            </a:r>
            <a:r>
              <a:rPr sz="2400" spc="-5" dirty="0">
                <a:latin typeface="Times New Roman"/>
                <a:cs typeface="Times New Roman"/>
              </a:rPr>
              <a:t>.println("a+b="+(a+b));</a:t>
            </a:r>
            <a:endParaRPr sz="2400" dirty="0">
              <a:latin typeface="Times New Roman"/>
              <a:cs typeface="Times New Roman"/>
            </a:endParaRPr>
          </a:p>
          <a:p>
            <a:pPr marL="348615">
              <a:lnSpc>
                <a:spcPts val="287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4834" y="1042035"/>
            <a:ext cx="15468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微软雅黑"/>
                <a:cs typeface="微软雅黑"/>
              </a:rPr>
              <a:t>运算符+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3657" y="393852"/>
            <a:ext cx="3898607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8712" y="1585912"/>
          <a:ext cx="6518275" cy="38023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运算符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=</a:t>
                      </a:r>
                      <a:r>
                        <a:rPr sz="2400" spc="-2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等于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a==b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!</a:t>
                      </a:r>
                      <a:r>
                        <a:rPr sz="2400" spc="-2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不等于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a!=b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&gt;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大于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a&gt;b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&lt;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小于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a&lt;b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&gt;=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大于等于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a&gt;=b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&lt;=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小于等于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a&lt;=b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1317" y="3126422"/>
          <a:ext cx="7665083" cy="286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9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运算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运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算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例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运算规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则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!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逻辑取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!</a:t>
                      </a:r>
                      <a:r>
                        <a:rPr sz="2000" spc="-2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x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真时为假</a:t>
                      </a:r>
                      <a:r>
                        <a:rPr sz="2000" spc="-5" dirty="0">
                          <a:latin typeface="Book Antiqua"/>
                          <a:cs typeface="Book Antiqua"/>
                        </a:rPr>
                        <a:t>,x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假时为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真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||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逻辑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或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x ||</a:t>
                      </a:r>
                      <a:r>
                        <a:rPr sz="2000" spc="-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y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x,y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都假时结果才为假</a:t>
                      </a:r>
                      <a:r>
                        <a:rPr sz="2000" spc="-5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短路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)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&amp;&amp;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逻辑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与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x &amp;&amp;</a:t>
                      </a:r>
                      <a:r>
                        <a:rPr sz="2000" spc="-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y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x,y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都真时结果才为真</a:t>
                      </a:r>
                      <a:r>
                        <a:rPr sz="2000" spc="-5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短路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)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^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000" dirty="0">
                          <a:solidFill>
                            <a:srgbClr val="ED7A07"/>
                          </a:solidFill>
                          <a:latin typeface="宋体"/>
                          <a:cs typeface="宋体"/>
                        </a:rPr>
                        <a:t>布尔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逻辑异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或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x ^</a:t>
                      </a:r>
                      <a:r>
                        <a:rPr sz="20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y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x,y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同真同假时结果为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假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&amp;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rgbClr val="ED7A07"/>
                          </a:solidFill>
                          <a:latin typeface="宋体"/>
                          <a:cs typeface="宋体"/>
                        </a:rPr>
                        <a:t>布尔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逻辑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与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x &amp;</a:t>
                      </a:r>
                      <a:r>
                        <a:rPr sz="20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y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x,y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都真时结果才为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真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|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rgbClr val="ED7A07"/>
                          </a:solidFill>
                          <a:latin typeface="宋体"/>
                          <a:cs typeface="宋体"/>
                        </a:rPr>
                        <a:t>布尔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逻辑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或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Book Antiqua"/>
                          <a:cs typeface="Book Antiqua"/>
                        </a:rPr>
                        <a:t>x |</a:t>
                      </a:r>
                      <a:r>
                        <a:rPr sz="20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000" dirty="0">
                          <a:latin typeface="Book Antiqua"/>
                          <a:cs typeface="Book Antiqua"/>
                        </a:rPr>
                        <a:t>y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x,y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都假时结果才为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假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3657" y="393852"/>
            <a:ext cx="3898607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1425575"/>
            <a:ext cx="80194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逻辑运算是对布尔型数据进行的运算，运算的结</a:t>
            </a:r>
            <a:r>
              <a:rPr sz="2800" spc="-5" dirty="0">
                <a:latin typeface="宋体"/>
                <a:cs typeface="宋体"/>
              </a:rPr>
              <a:t>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1756282"/>
            <a:ext cx="3041015" cy="9829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509"/>
              </a:spcBef>
            </a:pPr>
            <a:r>
              <a:rPr sz="2800" dirty="0">
                <a:latin typeface="宋体"/>
                <a:cs typeface="宋体"/>
              </a:rPr>
              <a:t>仍然是布尔型。 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常用的逻辑运算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52159" y="1844039"/>
            <a:ext cx="2362199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48984" y="1840864"/>
            <a:ext cx="2369820" cy="1232535"/>
          </a:xfrm>
          <a:custGeom>
            <a:avLst/>
            <a:gdLst/>
            <a:ahLst/>
            <a:cxnLst/>
            <a:rect l="l" t="t" r="r" b="b"/>
            <a:pathLst>
              <a:path w="2369820" h="1232535">
                <a:moveTo>
                  <a:pt x="2369819" y="1232535"/>
                </a:moveTo>
                <a:lnTo>
                  <a:pt x="0" y="1232535"/>
                </a:lnTo>
                <a:lnTo>
                  <a:pt x="0" y="0"/>
                </a:lnTo>
                <a:lnTo>
                  <a:pt x="2369819" y="0"/>
                </a:lnTo>
                <a:lnTo>
                  <a:pt x="2369819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1224915"/>
                </a:lnTo>
                <a:lnTo>
                  <a:pt x="3810" y="1224915"/>
                </a:lnTo>
                <a:lnTo>
                  <a:pt x="7619" y="1228725"/>
                </a:lnTo>
                <a:lnTo>
                  <a:pt x="2369819" y="1228725"/>
                </a:lnTo>
                <a:lnTo>
                  <a:pt x="2369819" y="1232535"/>
                </a:lnTo>
                <a:close/>
              </a:path>
              <a:path w="2369820" h="123253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369820" h="1232535">
                <a:moveTo>
                  <a:pt x="2362199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362199" y="3810"/>
                </a:lnTo>
                <a:lnTo>
                  <a:pt x="2362199" y="7620"/>
                </a:lnTo>
                <a:close/>
              </a:path>
              <a:path w="2369820" h="1232535">
                <a:moveTo>
                  <a:pt x="2362199" y="1228725"/>
                </a:moveTo>
                <a:lnTo>
                  <a:pt x="2362199" y="3810"/>
                </a:lnTo>
                <a:lnTo>
                  <a:pt x="2366010" y="7620"/>
                </a:lnTo>
                <a:lnTo>
                  <a:pt x="2369819" y="7620"/>
                </a:lnTo>
                <a:lnTo>
                  <a:pt x="2369819" y="1224915"/>
                </a:lnTo>
                <a:lnTo>
                  <a:pt x="2366010" y="1224915"/>
                </a:lnTo>
                <a:lnTo>
                  <a:pt x="2362199" y="1228725"/>
                </a:lnTo>
                <a:close/>
              </a:path>
              <a:path w="2369820" h="1232535">
                <a:moveTo>
                  <a:pt x="2369819" y="7620"/>
                </a:moveTo>
                <a:lnTo>
                  <a:pt x="2366010" y="7620"/>
                </a:lnTo>
                <a:lnTo>
                  <a:pt x="2362199" y="3810"/>
                </a:lnTo>
                <a:lnTo>
                  <a:pt x="2369819" y="3810"/>
                </a:lnTo>
                <a:lnTo>
                  <a:pt x="2369819" y="7620"/>
                </a:lnTo>
                <a:close/>
              </a:path>
              <a:path w="2369820" h="1232535">
                <a:moveTo>
                  <a:pt x="7619" y="1228725"/>
                </a:moveTo>
                <a:lnTo>
                  <a:pt x="3810" y="1224915"/>
                </a:lnTo>
                <a:lnTo>
                  <a:pt x="7619" y="1224915"/>
                </a:lnTo>
                <a:lnTo>
                  <a:pt x="7619" y="1228725"/>
                </a:lnTo>
                <a:close/>
              </a:path>
              <a:path w="2369820" h="1232535">
                <a:moveTo>
                  <a:pt x="2362199" y="1228725"/>
                </a:moveTo>
                <a:lnTo>
                  <a:pt x="7619" y="1228725"/>
                </a:lnTo>
                <a:lnTo>
                  <a:pt x="7619" y="1224915"/>
                </a:lnTo>
                <a:lnTo>
                  <a:pt x="2362199" y="1224915"/>
                </a:lnTo>
                <a:lnTo>
                  <a:pt x="2362199" y="1228725"/>
                </a:lnTo>
                <a:close/>
              </a:path>
              <a:path w="2369820" h="1232535">
                <a:moveTo>
                  <a:pt x="2369819" y="1228725"/>
                </a:moveTo>
                <a:lnTo>
                  <a:pt x="2362199" y="1228725"/>
                </a:lnTo>
                <a:lnTo>
                  <a:pt x="2366010" y="1224915"/>
                </a:lnTo>
                <a:lnTo>
                  <a:pt x="2369819" y="1224915"/>
                </a:lnTo>
                <a:lnTo>
                  <a:pt x="2369819" y="12287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31534" y="1710181"/>
            <a:ext cx="17856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spc="-5" dirty="0">
                <a:latin typeface="Book Antiqua"/>
                <a:cs typeface="Book Antiqua"/>
              </a:rPr>
              <a:t>true </a:t>
            </a:r>
            <a:r>
              <a:rPr sz="2000" spc="-5" dirty="0">
                <a:solidFill>
                  <a:srgbClr val="ED7A07"/>
                </a:solidFill>
                <a:latin typeface="Book Antiqua"/>
                <a:cs typeface="Book Antiqua"/>
              </a:rPr>
              <a:t>||</a:t>
            </a:r>
            <a:r>
              <a:rPr sz="2000" spc="-5" dirty="0">
                <a:latin typeface="Book Antiqua"/>
                <a:cs typeface="Book Antiqua"/>
              </a:rPr>
              <a:t>false  (3&gt;1) </a:t>
            </a:r>
            <a:r>
              <a:rPr sz="2000" dirty="0">
                <a:solidFill>
                  <a:srgbClr val="ED7A07"/>
                </a:solidFill>
                <a:latin typeface="Book Antiqua"/>
                <a:cs typeface="Book Antiqua"/>
              </a:rPr>
              <a:t>&amp;&amp;</a:t>
            </a:r>
            <a:r>
              <a:rPr sz="2000" spc="-70" dirty="0">
                <a:solidFill>
                  <a:srgbClr val="ED7A07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(5&gt;-4)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ED7A07"/>
                </a:solidFill>
                <a:latin typeface="Book Antiqua"/>
                <a:cs typeface="Book Antiqua"/>
              </a:rPr>
              <a:t>!</a:t>
            </a:r>
            <a:r>
              <a:rPr sz="2000" spc="-10" dirty="0">
                <a:solidFill>
                  <a:srgbClr val="ED7A07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false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29844" y="1998980"/>
            <a:ext cx="58858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逻辑运算符与布尔逻辑运算符的区</a:t>
            </a:r>
            <a:r>
              <a:rPr sz="2800" spc="-5" dirty="0">
                <a:latin typeface="宋体"/>
                <a:cs typeface="宋体"/>
              </a:rPr>
              <a:t>别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3657" y="393852"/>
            <a:ext cx="3898607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34861" y="1869465"/>
            <a:ext cx="178053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5699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e1</a:t>
            </a:r>
            <a:r>
              <a:rPr sz="2800" spc="-5" dirty="0"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CC3300"/>
                </a:solidFill>
                <a:latin typeface="微软雅黑"/>
                <a:cs typeface="微软雅黑"/>
              </a:rPr>
              <a:t>&amp;&amp;	</a:t>
            </a:r>
            <a:r>
              <a:rPr sz="2800" spc="-5" dirty="0">
                <a:latin typeface="微软雅黑"/>
                <a:cs typeface="微软雅黑"/>
              </a:rPr>
              <a:t>e2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-55244" y="2375407"/>
            <a:ext cx="7740015" cy="3524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52450" indent="-17145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552450" algn="l"/>
              </a:tabLst>
            </a:pPr>
            <a:r>
              <a:rPr sz="2800" dirty="0">
                <a:latin typeface="宋体"/>
                <a:cs typeface="宋体"/>
              </a:rPr>
              <a:t>逻辑运算符：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6FF"/>
                </a:solidFill>
                <a:latin typeface="宋体"/>
                <a:cs typeface="宋体"/>
              </a:rPr>
              <a:t>&amp;&amp;  ||</a:t>
            </a:r>
            <a:endParaRPr sz="2800">
              <a:latin typeface="宋体"/>
              <a:cs typeface="宋体"/>
            </a:endParaRPr>
          </a:p>
          <a:p>
            <a:pPr marL="209550" marR="55880">
              <a:lnSpc>
                <a:spcPts val="3010"/>
              </a:lnSpc>
              <a:spcBef>
                <a:spcPts val="815"/>
              </a:spcBef>
              <a:tabLst>
                <a:tab pos="6660515" algn="l"/>
              </a:tabLst>
            </a:pPr>
            <a:r>
              <a:rPr sz="2800" spc="-5" dirty="0">
                <a:latin typeface="宋体"/>
                <a:cs typeface="宋体"/>
              </a:rPr>
              <a:t>  </a:t>
            </a:r>
            <a:r>
              <a:rPr sz="2800" dirty="0">
                <a:latin typeface="宋体"/>
                <a:cs typeface="宋体"/>
              </a:rPr>
              <a:t>利用它们做逻辑运算时，运算时右边的表达</a:t>
            </a:r>
            <a:r>
              <a:rPr sz="2800" spc="-5" dirty="0">
                <a:latin typeface="宋体"/>
                <a:cs typeface="宋体"/>
              </a:rPr>
              <a:t>式 </a:t>
            </a:r>
            <a:r>
              <a:rPr sz="2800" dirty="0">
                <a:latin typeface="宋体"/>
                <a:cs typeface="宋体"/>
              </a:rPr>
              <a:t>有可能被忽略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solidFill>
                  <a:srgbClr val="CC3300"/>
                </a:solidFill>
                <a:latin typeface="宋体"/>
                <a:cs typeface="宋体"/>
              </a:rPr>
              <a:t>短路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dirty="0">
                <a:latin typeface="宋体"/>
                <a:cs typeface="宋体"/>
              </a:rPr>
              <a:t>而不加执行</a:t>
            </a:r>
            <a:r>
              <a:rPr sz="2800" spc="-5" dirty="0">
                <a:latin typeface="宋体"/>
                <a:cs typeface="宋体"/>
              </a:rPr>
              <a:t>。</a:t>
            </a:r>
            <a:r>
              <a:rPr sz="2800" spc="-755" dirty="0">
                <a:latin typeface="宋体"/>
                <a:cs typeface="宋体"/>
              </a:rPr>
              <a:t> </a:t>
            </a:r>
            <a:r>
              <a:rPr sz="4200" u="heavy" spc="-7" baseline="-2182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e1</a:t>
            </a:r>
            <a:r>
              <a:rPr sz="4200" baseline="-21825" dirty="0">
                <a:latin typeface="微软雅黑"/>
                <a:cs typeface="微软雅黑"/>
              </a:rPr>
              <a:t> </a:t>
            </a:r>
            <a:r>
              <a:rPr sz="4200" spc="-7" baseline="-21825" dirty="0">
                <a:solidFill>
                  <a:srgbClr val="CC3300"/>
                </a:solidFill>
                <a:latin typeface="微软雅黑"/>
                <a:cs typeface="微软雅黑"/>
              </a:rPr>
              <a:t>&amp;	</a:t>
            </a:r>
            <a:r>
              <a:rPr sz="4200" u="heavy" spc="-7" baseline="-2182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e2</a:t>
            </a:r>
            <a:endParaRPr sz="4200" baseline="-21825">
              <a:latin typeface="微软雅黑"/>
              <a:cs typeface="微软雅黑"/>
            </a:endParaRPr>
          </a:p>
          <a:p>
            <a:pPr marL="552450" indent="-171450">
              <a:lnSpc>
                <a:spcPct val="100000"/>
              </a:lnSpc>
              <a:spcBef>
                <a:spcPts val="3760"/>
              </a:spcBef>
              <a:buFont typeface="Arial"/>
              <a:buChar char="•"/>
              <a:tabLst>
                <a:tab pos="552450" algn="l"/>
              </a:tabLst>
            </a:pPr>
            <a:r>
              <a:rPr sz="2800" dirty="0">
                <a:latin typeface="宋体"/>
                <a:cs typeface="宋体"/>
              </a:rPr>
              <a:t>布尔逻辑运算符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5" dirty="0">
                <a:solidFill>
                  <a:srgbClr val="0066FF"/>
                </a:solidFill>
                <a:latin typeface="宋体"/>
                <a:cs typeface="宋体"/>
              </a:rPr>
              <a:t>&amp;</a:t>
            </a:r>
            <a:r>
              <a:rPr sz="2800" dirty="0">
                <a:solidFill>
                  <a:srgbClr val="0066FF"/>
                </a:solidFill>
                <a:latin typeface="宋体"/>
                <a:cs typeface="宋体"/>
              </a:rPr>
              <a:t>、</a:t>
            </a:r>
            <a:r>
              <a:rPr sz="2800" spc="-5" dirty="0">
                <a:solidFill>
                  <a:srgbClr val="0066FF"/>
                </a:solidFill>
                <a:latin typeface="宋体"/>
                <a:cs typeface="宋体"/>
              </a:rPr>
              <a:t>|</a:t>
            </a:r>
            <a:r>
              <a:rPr sz="2800" spc="-10" dirty="0">
                <a:solidFill>
                  <a:srgbClr val="0066FF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0066FF"/>
                </a:solidFill>
                <a:latin typeface="宋体"/>
                <a:cs typeface="宋体"/>
              </a:rPr>
              <a:t>、</a:t>
            </a:r>
            <a:r>
              <a:rPr sz="2800" spc="-5" dirty="0">
                <a:solidFill>
                  <a:srgbClr val="0066FF"/>
                </a:solidFill>
                <a:latin typeface="宋体"/>
                <a:cs typeface="宋体"/>
              </a:rPr>
              <a:t> ^</a:t>
            </a:r>
            <a:endParaRPr sz="2800">
              <a:latin typeface="宋体"/>
              <a:cs typeface="宋体"/>
            </a:endParaRPr>
          </a:p>
          <a:p>
            <a:pPr marL="209550" marR="55880" indent="-171450">
              <a:lnSpc>
                <a:spcPts val="3020"/>
              </a:lnSpc>
              <a:spcBef>
                <a:spcPts val="795"/>
              </a:spcBef>
            </a:pPr>
            <a:r>
              <a:rPr sz="2800" spc="-5" dirty="0">
                <a:latin typeface="宋体"/>
                <a:cs typeface="宋体"/>
              </a:rPr>
              <a:t>    利用它们做与、或、异或运算时，运算符左 </a:t>
            </a:r>
            <a:r>
              <a:rPr sz="2800" dirty="0">
                <a:latin typeface="宋体"/>
                <a:cs typeface="宋体"/>
              </a:rPr>
              <a:t>右两边的表达式总会被运算执行，然后再对两</a:t>
            </a:r>
            <a:r>
              <a:rPr sz="2800" spc="-5" dirty="0">
                <a:latin typeface="宋体"/>
                <a:cs typeface="宋体"/>
              </a:rPr>
              <a:t>表 </a:t>
            </a:r>
            <a:r>
              <a:rPr sz="2800" dirty="0">
                <a:latin typeface="宋体"/>
                <a:cs typeface="宋体"/>
              </a:rPr>
              <a:t>达式的结果进行与、或运算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8445" y="889000"/>
            <a:ext cx="764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软雅黑"/>
                <a:cs typeface="微软雅黑"/>
              </a:rPr>
              <a:t>短路：一旦可以明确确定逻辑表达式的值，余下的部分可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8445" y="1254759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以不用计算。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3657" y="393852"/>
            <a:ext cx="3898607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2187" y="3284220"/>
            <a:ext cx="7696200" cy="10149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822" y="3280727"/>
            <a:ext cx="7703820" cy="1022350"/>
          </a:xfrm>
          <a:custGeom>
            <a:avLst/>
            <a:gdLst/>
            <a:ahLst/>
            <a:cxnLst/>
            <a:rect l="l" t="t" r="r" b="b"/>
            <a:pathLst>
              <a:path w="7703820" h="1022350">
                <a:moveTo>
                  <a:pt x="7703820" y="1022350"/>
                </a:moveTo>
                <a:lnTo>
                  <a:pt x="0" y="1022350"/>
                </a:lnTo>
                <a:lnTo>
                  <a:pt x="0" y="0"/>
                </a:lnTo>
                <a:lnTo>
                  <a:pt x="7703820" y="0"/>
                </a:lnTo>
                <a:lnTo>
                  <a:pt x="7703820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1014730"/>
                </a:lnTo>
                <a:lnTo>
                  <a:pt x="3810" y="1014730"/>
                </a:lnTo>
                <a:lnTo>
                  <a:pt x="7620" y="1018539"/>
                </a:lnTo>
                <a:lnTo>
                  <a:pt x="7703820" y="1018539"/>
                </a:lnTo>
                <a:lnTo>
                  <a:pt x="7703820" y="1022350"/>
                </a:lnTo>
                <a:close/>
              </a:path>
              <a:path w="7703820" h="102235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703820" h="1022350">
                <a:moveTo>
                  <a:pt x="76962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696200" y="3810"/>
                </a:lnTo>
                <a:lnTo>
                  <a:pt x="7696200" y="7620"/>
                </a:lnTo>
                <a:close/>
              </a:path>
              <a:path w="7703820" h="1022350">
                <a:moveTo>
                  <a:pt x="7696200" y="1018539"/>
                </a:moveTo>
                <a:lnTo>
                  <a:pt x="7696200" y="3810"/>
                </a:lnTo>
                <a:lnTo>
                  <a:pt x="7700010" y="7620"/>
                </a:lnTo>
                <a:lnTo>
                  <a:pt x="7703820" y="7620"/>
                </a:lnTo>
                <a:lnTo>
                  <a:pt x="7703820" y="1014730"/>
                </a:lnTo>
                <a:lnTo>
                  <a:pt x="7700010" y="1014730"/>
                </a:lnTo>
                <a:lnTo>
                  <a:pt x="7696200" y="1018539"/>
                </a:lnTo>
                <a:close/>
              </a:path>
              <a:path w="7703820" h="1022350">
                <a:moveTo>
                  <a:pt x="7703820" y="7620"/>
                </a:moveTo>
                <a:lnTo>
                  <a:pt x="7700010" y="7620"/>
                </a:lnTo>
                <a:lnTo>
                  <a:pt x="7696200" y="3810"/>
                </a:lnTo>
                <a:lnTo>
                  <a:pt x="7703820" y="3810"/>
                </a:lnTo>
                <a:lnTo>
                  <a:pt x="7703820" y="7620"/>
                </a:lnTo>
                <a:close/>
              </a:path>
              <a:path w="7703820" h="1022350">
                <a:moveTo>
                  <a:pt x="7620" y="1018539"/>
                </a:moveTo>
                <a:lnTo>
                  <a:pt x="3810" y="1014730"/>
                </a:lnTo>
                <a:lnTo>
                  <a:pt x="7620" y="1014730"/>
                </a:lnTo>
                <a:lnTo>
                  <a:pt x="7620" y="1018539"/>
                </a:lnTo>
                <a:close/>
              </a:path>
              <a:path w="7703820" h="1022350">
                <a:moveTo>
                  <a:pt x="7696200" y="1018539"/>
                </a:moveTo>
                <a:lnTo>
                  <a:pt x="7620" y="1018539"/>
                </a:lnTo>
                <a:lnTo>
                  <a:pt x="7620" y="1014730"/>
                </a:lnTo>
                <a:lnTo>
                  <a:pt x="7696200" y="1014730"/>
                </a:lnTo>
                <a:lnTo>
                  <a:pt x="7696200" y="1018539"/>
                </a:lnTo>
                <a:close/>
              </a:path>
              <a:path w="7703820" h="1022350">
                <a:moveTo>
                  <a:pt x="7703820" y="1018539"/>
                </a:moveTo>
                <a:lnTo>
                  <a:pt x="7696200" y="1018539"/>
                </a:lnTo>
                <a:lnTo>
                  <a:pt x="7700010" y="1014730"/>
                </a:lnTo>
                <a:lnTo>
                  <a:pt x="7703820" y="1014730"/>
                </a:lnTo>
                <a:lnTo>
                  <a:pt x="7703820" y="101853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2751" y="1341119"/>
            <a:ext cx="7696200" cy="1568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9450" y="1336675"/>
            <a:ext cx="7703820" cy="1576070"/>
          </a:xfrm>
          <a:custGeom>
            <a:avLst/>
            <a:gdLst/>
            <a:ahLst/>
            <a:cxnLst/>
            <a:rect l="l" t="t" r="r" b="b"/>
            <a:pathLst>
              <a:path w="7703820" h="1576070">
                <a:moveTo>
                  <a:pt x="7703820" y="1576070"/>
                </a:moveTo>
                <a:lnTo>
                  <a:pt x="0" y="1576070"/>
                </a:lnTo>
                <a:lnTo>
                  <a:pt x="0" y="0"/>
                </a:lnTo>
                <a:lnTo>
                  <a:pt x="7703820" y="0"/>
                </a:lnTo>
                <a:lnTo>
                  <a:pt x="7703820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1568450"/>
                </a:lnTo>
                <a:lnTo>
                  <a:pt x="3809" y="1568450"/>
                </a:lnTo>
                <a:lnTo>
                  <a:pt x="7620" y="1572260"/>
                </a:lnTo>
                <a:lnTo>
                  <a:pt x="7703820" y="1572260"/>
                </a:lnTo>
                <a:lnTo>
                  <a:pt x="7703820" y="1576070"/>
                </a:lnTo>
                <a:close/>
              </a:path>
              <a:path w="7703820" h="1576070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703820" h="1576070">
                <a:moveTo>
                  <a:pt x="76962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696200" y="3809"/>
                </a:lnTo>
                <a:lnTo>
                  <a:pt x="7696200" y="7619"/>
                </a:lnTo>
                <a:close/>
              </a:path>
              <a:path w="7703820" h="1576070">
                <a:moveTo>
                  <a:pt x="7696200" y="1572260"/>
                </a:moveTo>
                <a:lnTo>
                  <a:pt x="7696200" y="3809"/>
                </a:lnTo>
                <a:lnTo>
                  <a:pt x="7700009" y="7619"/>
                </a:lnTo>
                <a:lnTo>
                  <a:pt x="7703820" y="7619"/>
                </a:lnTo>
                <a:lnTo>
                  <a:pt x="7703820" y="1568450"/>
                </a:lnTo>
                <a:lnTo>
                  <a:pt x="7700009" y="1568450"/>
                </a:lnTo>
                <a:lnTo>
                  <a:pt x="7696200" y="1572260"/>
                </a:lnTo>
                <a:close/>
              </a:path>
              <a:path w="7703820" h="1576070">
                <a:moveTo>
                  <a:pt x="7703820" y="7619"/>
                </a:moveTo>
                <a:lnTo>
                  <a:pt x="7700009" y="7619"/>
                </a:lnTo>
                <a:lnTo>
                  <a:pt x="7696200" y="3809"/>
                </a:lnTo>
                <a:lnTo>
                  <a:pt x="7703820" y="3809"/>
                </a:lnTo>
                <a:lnTo>
                  <a:pt x="7703820" y="7619"/>
                </a:lnTo>
                <a:close/>
              </a:path>
              <a:path w="7703820" h="1576070">
                <a:moveTo>
                  <a:pt x="7620" y="1572260"/>
                </a:moveTo>
                <a:lnTo>
                  <a:pt x="3809" y="1568450"/>
                </a:lnTo>
                <a:lnTo>
                  <a:pt x="7620" y="1568450"/>
                </a:lnTo>
                <a:lnTo>
                  <a:pt x="7620" y="1572260"/>
                </a:lnTo>
                <a:close/>
              </a:path>
              <a:path w="7703820" h="1576070">
                <a:moveTo>
                  <a:pt x="7696200" y="1572260"/>
                </a:moveTo>
                <a:lnTo>
                  <a:pt x="7620" y="1572260"/>
                </a:lnTo>
                <a:lnTo>
                  <a:pt x="7620" y="1568450"/>
                </a:lnTo>
                <a:lnTo>
                  <a:pt x="7696200" y="1568450"/>
                </a:lnTo>
                <a:lnTo>
                  <a:pt x="7696200" y="1572260"/>
                </a:lnTo>
                <a:close/>
              </a:path>
              <a:path w="7703820" h="1576070">
                <a:moveTo>
                  <a:pt x="7703820" y="1572260"/>
                </a:moveTo>
                <a:lnTo>
                  <a:pt x="7696200" y="1572260"/>
                </a:lnTo>
                <a:lnTo>
                  <a:pt x="7700009" y="1568450"/>
                </a:lnTo>
                <a:lnTo>
                  <a:pt x="7703820" y="1568450"/>
                </a:lnTo>
                <a:lnTo>
                  <a:pt x="7703820" y="157226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4625" algn="l"/>
                <a:tab pos="2320290" algn="l"/>
              </a:tabLst>
            </a:pPr>
            <a:r>
              <a:rPr dirty="0">
                <a:latin typeface="微软雅黑"/>
                <a:cs typeface="微软雅黑"/>
              </a:rPr>
              <a:t>例如</a:t>
            </a:r>
            <a:r>
              <a:rPr spc="-5" dirty="0">
                <a:latin typeface="微软雅黑"/>
                <a:cs typeface="微软雅黑"/>
              </a:rPr>
              <a:t>：</a:t>
            </a:r>
            <a:r>
              <a:rPr spc="-5" dirty="0"/>
              <a:t>int	</a:t>
            </a:r>
            <a:r>
              <a:rPr dirty="0"/>
              <a:t>x = 3,	y = 5</a:t>
            </a:r>
            <a:r>
              <a:rPr spc="-95" dirty="0"/>
              <a:t> </a:t>
            </a:r>
            <a:r>
              <a:rPr dirty="0"/>
              <a:t>;</a:t>
            </a:r>
          </a:p>
        </p:txBody>
      </p:sp>
      <p:sp>
        <p:nvSpPr>
          <p:cNvPr id="9" name="object 9"/>
          <p:cNvSpPr/>
          <p:nvPr/>
        </p:nvSpPr>
        <p:spPr>
          <a:xfrm>
            <a:off x="7525511" y="1053083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0" y="0"/>
                </a:moveTo>
                <a:lnTo>
                  <a:pt x="914400" y="0"/>
                </a:lnTo>
                <a:lnTo>
                  <a:pt x="914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19987" y="1047750"/>
            <a:ext cx="923925" cy="619125"/>
          </a:xfrm>
          <a:custGeom>
            <a:avLst/>
            <a:gdLst/>
            <a:ahLst/>
            <a:cxnLst/>
            <a:rect l="l" t="t" r="r" b="b"/>
            <a:pathLst>
              <a:path w="923925" h="619125">
                <a:moveTo>
                  <a:pt x="9239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923925" y="614362"/>
                </a:lnTo>
                <a:lnTo>
                  <a:pt x="923925" y="619125"/>
                </a:lnTo>
                <a:close/>
              </a:path>
              <a:path w="9239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619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619125">
                <a:moveTo>
                  <a:pt x="914400" y="614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609600"/>
                </a:lnTo>
                <a:lnTo>
                  <a:pt x="919162" y="609600"/>
                </a:lnTo>
                <a:lnTo>
                  <a:pt x="914400" y="614362"/>
                </a:lnTo>
                <a:close/>
              </a:path>
              <a:path w="923925" h="619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923925" h="619125">
                <a:moveTo>
                  <a:pt x="9144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914400" y="609600"/>
                </a:lnTo>
                <a:lnTo>
                  <a:pt x="914400" y="614362"/>
                </a:lnTo>
                <a:close/>
              </a:path>
              <a:path w="923925" h="619125">
                <a:moveTo>
                  <a:pt x="923925" y="614362"/>
                </a:moveTo>
                <a:lnTo>
                  <a:pt x="914400" y="614362"/>
                </a:lnTo>
                <a:lnTo>
                  <a:pt x="919162" y="609600"/>
                </a:lnTo>
                <a:lnTo>
                  <a:pt x="923925" y="609600"/>
                </a:lnTo>
                <a:lnTo>
                  <a:pt x="923925" y="614362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22122" y="1162050"/>
            <a:ext cx="926465" cy="1193165"/>
          </a:xfrm>
          <a:custGeom>
            <a:avLst/>
            <a:gdLst/>
            <a:ahLst/>
            <a:cxnLst/>
            <a:rect l="l" t="t" r="r" b="b"/>
            <a:pathLst>
              <a:path w="926465" h="1193164">
                <a:moveTo>
                  <a:pt x="8127" y="1193101"/>
                </a:moveTo>
                <a:lnTo>
                  <a:pt x="0" y="1188148"/>
                </a:lnTo>
                <a:lnTo>
                  <a:pt x="723734" y="0"/>
                </a:lnTo>
                <a:lnTo>
                  <a:pt x="926426" y="0"/>
                </a:lnTo>
                <a:lnTo>
                  <a:pt x="926426" y="7238"/>
                </a:lnTo>
                <a:lnTo>
                  <a:pt x="730465" y="7238"/>
                </a:lnTo>
                <a:lnTo>
                  <a:pt x="726401" y="9525"/>
                </a:lnTo>
                <a:lnTo>
                  <a:pt x="729073" y="9525"/>
                </a:lnTo>
                <a:lnTo>
                  <a:pt x="8127" y="1193101"/>
                </a:lnTo>
                <a:close/>
              </a:path>
              <a:path w="926465" h="1193164">
                <a:moveTo>
                  <a:pt x="729073" y="9525"/>
                </a:moveTo>
                <a:lnTo>
                  <a:pt x="726401" y="9525"/>
                </a:lnTo>
                <a:lnTo>
                  <a:pt x="730465" y="7238"/>
                </a:lnTo>
                <a:lnTo>
                  <a:pt x="729073" y="9525"/>
                </a:lnTo>
                <a:close/>
              </a:path>
              <a:path w="926465" h="1193164">
                <a:moveTo>
                  <a:pt x="926426" y="9525"/>
                </a:moveTo>
                <a:lnTo>
                  <a:pt x="729073" y="9525"/>
                </a:lnTo>
                <a:lnTo>
                  <a:pt x="730465" y="7238"/>
                </a:lnTo>
                <a:lnTo>
                  <a:pt x="926426" y="7238"/>
                </a:lnTo>
                <a:lnTo>
                  <a:pt x="926426" y="9525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5511" y="1053083"/>
            <a:ext cx="914400" cy="28829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36195" rIns="0" bIns="0" rtlCol="0">
            <a:spAutoFit/>
          </a:bodyPr>
          <a:lstStyle/>
          <a:p>
            <a:pPr marL="100330">
              <a:lnSpc>
                <a:spcPts val="1985"/>
              </a:lnSpc>
              <a:spcBef>
                <a:spcPts val="285"/>
              </a:spcBef>
            </a:pPr>
            <a:r>
              <a:rPr sz="2800" dirty="0">
                <a:latin typeface="微软雅黑"/>
                <a:cs typeface="微软雅黑"/>
              </a:rPr>
              <a:t>短</a:t>
            </a:r>
            <a:r>
              <a:rPr sz="2800" spc="-5" dirty="0">
                <a:latin typeface="微软雅黑"/>
                <a:cs typeface="微软雅黑"/>
              </a:rPr>
              <a:t>路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82751" y="1711325"/>
            <a:ext cx="7755890" cy="338582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158240">
              <a:lnSpc>
                <a:spcPct val="100000"/>
              </a:lnSpc>
              <a:spcBef>
                <a:spcPts val="1620"/>
              </a:spcBef>
              <a:tabLst>
                <a:tab pos="2376805" algn="l"/>
              </a:tabLst>
            </a:pPr>
            <a:r>
              <a:rPr sz="2400" spc="-5" dirty="0">
                <a:latin typeface="Book Antiqua"/>
                <a:cs typeface="Book Antiqua"/>
              </a:rPr>
              <a:t>boolean	</a:t>
            </a:r>
            <a:r>
              <a:rPr sz="2400" dirty="0">
                <a:latin typeface="Book Antiqua"/>
                <a:cs typeface="Book Antiqua"/>
              </a:rPr>
              <a:t>b= x &gt; y </a:t>
            </a:r>
            <a:r>
              <a:rPr sz="2400" spc="-5" dirty="0">
                <a:latin typeface="Book Antiqua"/>
                <a:cs typeface="Book Antiqua"/>
              </a:rPr>
              <a:t>&amp;&amp; </a:t>
            </a:r>
            <a:r>
              <a:rPr sz="2400" dirty="0">
                <a:solidFill>
                  <a:srgbClr val="0066FF"/>
                </a:solidFill>
                <a:latin typeface="Book Antiqua"/>
                <a:cs typeface="Book Antiqua"/>
              </a:rPr>
              <a:t>x++ == y--</a:t>
            </a:r>
            <a:r>
              <a:rPr sz="2400" spc="-25" dirty="0">
                <a:solidFill>
                  <a:srgbClr val="0066FF"/>
                </a:solidFill>
                <a:latin typeface="Book Antiqua"/>
                <a:cs typeface="Book Antiqua"/>
              </a:rPr>
              <a:t> </a:t>
            </a:r>
            <a:r>
              <a:rPr sz="2400" dirty="0">
                <a:latin typeface="Book Antiqua"/>
                <a:cs typeface="Book Antiqua"/>
              </a:rPr>
              <a:t>;</a:t>
            </a:r>
            <a:endParaRPr sz="2400">
              <a:latin typeface="Book Antiqua"/>
              <a:cs typeface="Book Antiqua"/>
            </a:endParaRPr>
          </a:p>
          <a:p>
            <a:pPr marL="100584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Book Antiqua"/>
                <a:cs typeface="Book Antiqua"/>
              </a:rPr>
              <a:t>//</a:t>
            </a:r>
            <a:r>
              <a:rPr sz="2400" dirty="0">
                <a:latin typeface="微软雅黑"/>
                <a:cs typeface="微软雅黑"/>
              </a:rPr>
              <a:t>运行后</a:t>
            </a: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3</a:t>
            </a:r>
            <a:r>
              <a:rPr sz="2400" dirty="0">
                <a:latin typeface="微软雅黑"/>
                <a:cs typeface="微软雅黑"/>
              </a:rPr>
              <a:t>，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5</a:t>
            </a:r>
            <a:r>
              <a:rPr sz="2400" dirty="0">
                <a:latin typeface="微软雅黑"/>
                <a:cs typeface="微软雅黑"/>
              </a:rPr>
              <a:t>，</a:t>
            </a:r>
            <a:r>
              <a:rPr sz="2400" dirty="0">
                <a:latin typeface="Book Antiqua"/>
                <a:cs typeface="Book Antiqua"/>
              </a:rPr>
              <a:t>b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spc="-5" dirty="0">
                <a:latin typeface="Book Antiqua"/>
                <a:cs typeface="Book Antiqua"/>
              </a:rPr>
              <a:t>false</a:t>
            </a:r>
            <a:endParaRPr sz="2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Book Antiqua"/>
              <a:cs typeface="Book Antiqua"/>
            </a:endParaRPr>
          </a:p>
          <a:p>
            <a:pPr marL="1065530">
              <a:lnSpc>
                <a:spcPct val="100000"/>
              </a:lnSpc>
              <a:tabLst>
                <a:tab pos="2284095" algn="l"/>
              </a:tabLst>
            </a:pPr>
            <a:r>
              <a:rPr sz="2400" spc="-5" dirty="0">
                <a:latin typeface="Book Antiqua"/>
                <a:cs typeface="Book Antiqua"/>
              </a:rPr>
              <a:t>boolean	</a:t>
            </a:r>
            <a:r>
              <a:rPr sz="2400" dirty="0">
                <a:latin typeface="Book Antiqua"/>
                <a:cs typeface="Book Antiqua"/>
              </a:rPr>
              <a:t>b= x &gt; y &amp; x++ == y--</a:t>
            </a:r>
            <a:r>
              <a:rPr sz="2400" spc="-30" dirty="0">
                <a:latin typeface="Book Antiqua"/>
                <a:cs typeface="Book Antiqua"/>
              </a:rPr>
              <a:t> </a:t>
            </a:r>
            <a:r>
              <a:rPr sz="2400" dirty="0">
                <a:latin typeface="Book Antiqua"/>
                <a:cs typeface="Book Antiqua"/>
              </a:rPr>
              <a:t>;</a:t>
            </a:r>
            <a:endParaRPr sz="2400">
              <a:latin typeface="Book Antiqua"/>
              <a:cs typeface="Book Antiqua"/>
            </a:endParaRPr>
          </a:p>
          <a:p>
            <a:pPr marL="98933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Book Antiqua"/>
                <a:cs typeface="Book Antiqua"/>
              </a:rPr>
              <a:t>//</a:t>
            </a:r>
            <a:r>
              <a:rPr sz="2400" dirty="0">
                <a:latin typeface="微软雅黑"/>
                <a:cs typeface="微软雅黑"/>
              </a:rPr>
              <a:t>运行后</a:t>
            </a:r>
            <a:r>
              <a:rPr sz="2400" dirty="0">
                <a:latin typeface="Book Antiqua"/>
                <a:cs typeface="Book Antiqua"/>
              </a:rPr>
              <a:t>x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4</a:t>
            </a:r>
            <a:r>
              <a:rPr sz="2400" dirty="0">
                <a:latin typeface="微软雅黑"/>
                <a:cs typeface="微软雅黑"/>
              </a:rPr>
              <a:t>，</a:t>
            </a:r>
            <a:r>
              <a:rPr sz="2400" dirty="0">
                <a:latin typeface="Book Antiqua"/>
                <a:cs typeface="Book Antiqua"/>
              </a:rPr>
              <a:t>y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dirty="0">
                <a:latin typeface="Book Antiqua"/>
                <a:cs typeface="Book Antiqua"/>
              </a:rPr>
              <a:t>4</a:t>
            </a:r>
            <a:r>
              <a:rPr sz="2400" dirty="0">
                <a:latin typeface="微软雅黑"/>
                <a:cs typeface="微软雅黑"/>
              </a:rPr>
              <a:t>，</a:t>
            </a:r>
            <a:r>
              <a:rPr sz="2400" dirty="0">
                <a:latin typeface="Book Antiqua"/>
                <a:cs typeface="Book Antiqua"/>
              </a:rPr>
              <a:t>b</a:t>
            </a:r>
            <a:r>
              <a:rPr sz="2400" dirty="0">
                <a:latin typeface="微软雅黑"/>
                <a:cs typeface="微软雅黑"/>
              </a:rPr>
              <a:t>为</a:t>
            </a:r>
            <a:r>
              <a:rPr sz="2400" spc="-5" dirty="0">
                <a:latin typeface="Book Antiqua"/>
                <a:cs typeface="Book Antiqua"/>
              </a:rPr>
              <a:t>false</a:t>
            </a:r>
            <a:endParaRPr sz="24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3050">
              <a:latin typeface="Book Antiqua"/>
              <a:cs typeface="Book Antiqua"/>
            </a:endParaRPr>
          </a:p>
          <a:p>
            <a:pPr marL="454659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例</a:t>
            </a:r>
            <a:r>
              <a:rPr sz="2400" b="1" spc="-5" dirty="0">
                <a:latin typeface="微软雅黑"/>
                <a:cs typeface="微软雅黑"/>
              </a:rPr>
              <a:t>2-3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025130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位运算</a:t>
            </a:r>
            <a:r>
              <a:rPr sz="2800" dirty="0">
                <a:latin typeface="宋体"/>
                <a:cs typeface="宋体"/>
              </a:rPr>
              <a:t>是对操作数以二进制比特位为单位进行的</a:t>
            </a:r>
            <a:r>
              <a:rPr sz="2800" spc="-5" dirty="0">
                <a:latin typeface="宋体"/>
                <a:cs typeface="宋体"/>
              </a:rPr>
              <a:t>操 </a:t>
            </a:r>
            <a:r>
              <a:rPr sz="2800" dirty="0">
                <a:latin typeface="宋体"/>
                <a:cs typeface="宋体"/>
              </a:rPr>
              <a:t>作和运算，位运算的运算对象只能是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整型和字符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ts val="2975"/>
              </a:lnSpc>
            </a:pPr>
            <a:r>
              <a:rPr sz="2800" dirty="0">
                <a:latin typeface="宋体"/>
                <a:cs typeface="宋体"/>
              </a:rPr>
              <a:t>，结果为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整型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88209" y="393852"/>
            <a:ext cx="1401508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8048" y="2781300"/>
            <a:ext cx="4806696" cy="23820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82089" y="5539016"/>
            <a:ext cx="1511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example:EX24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795" y="1079500"/>
            <a:ext cx="8059420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设某航班周一、三、四、六飞行，当客户订票时</a:t>
            </a:r>
            <a:r>
              <a:rPr sz="2800" b="1" spc="-15" dirty="0">
                <a:latin typeface="宋体"/>
                <a:cs typeface="宋体"/>
              </a:rPr>
              <a:t>如 </a:t>
            </a:r>
            <a:r>
              <a:rPr sz="2800" b="1" dirty="0">
                <a:latin typeface="宋体"/>
                <a:cs typeface="宋体"/>
              </a:rPr>
              <a:t>何根据客户的需求“星期几”获知该日是否有航</a:t>
            </a:r>
            <a:r>
              <a:rPr sz="2800" b="1" spc="-20" dirty="0">
                <a:latin typeface="宋体"/>
                <a:cs typeface="宋体"/>
              </a:rPr>
              <a:t>班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ts val="2975"/>
              </a:lnSpc>
            </a:pPr>
            <a:r>
              <a:rPr sz="2800" b="1" spc="-20" dirty="0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7802" y="398297"/>
            <a:ext cx="513689" cy="3232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29142" y="440842"/>
            <a:ext cx="502284" cy="245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98102" y="393852"/>
            <a:ext cx="2586355" cy="3308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9223" y="2414536"/>
          <a:ext cx="7345037" cy="3302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6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7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7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6410">
                <a:tc>
                  <a:txBody>
                    <a:bodyPr/>
                    <a:lstStyle/>
                    <a:p>
                      <a:pPr marL="26924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对应的星期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六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五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四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三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二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一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日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marL="882650" marR="102870" indent="-501650">
                        <a:lnSpc>
                          <a:spcPct val="100000"/>
                        </a:lnSpc>
                        <a:spcBef>
                          <a:spcPts val="1760"/>
                        </a:spcBef>
                        <a:tabLst>
                          <a:tab pos="1498600" algn="l"/>
                        </a:tabLst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航班信息的二进制位fla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gF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ht  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byte	flagFight=90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R="160655" algn="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R="16446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 marL="97853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想获取哪位信息时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  <a:p>
                      <a:pPr marL="359410" marR="63500" indent="-196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通过左移运算将“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”移至该位 并与</a:t>
                      </a:r>
                      <a:r>
                        <a:rPr sz="1800" spc="-5" dirty="0">
                          <a:latin typeface="微软雅黑"/>
                          <a:cs typeface="微软雅黑"/>
                        </a:rPr>
                        <a:t>flagFight</a:t>
                      </a:r>
                      <a:r>
                        <a:rPr sz="1800" dirty="0">
                          <a:latin typeface="微软雅黑"/>
                          <a:cs typeface="微软雅黑"/>
                        </a:rPr>
                        <a:t>进行位与运算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1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R="16446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0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……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24760" y="5932309"/>
            <a:ext cx="2320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600" b="1" baseline="30092" dirty="0">
                <a:latin typeface="Consolas"/>
                <a:cs typeface="Consolas"/>
              </a:rPr>
              <a:t>( </a:t>
            </a:r>
            <a:r>
              <a:rPr sz="2400" b="1" dirty="0">
                <a:solidFill>
                  <a:srgbClr val="2E2E2E"/>
                </a:solidFill>
                <a:latin typeface="Consolas"/>
                <a:cs typeface="Consolas"/>
              </a:rPr>
              <a:t>flagFight</a:t>
            </a:r>
            <a:r>
              <a:rPr sz="2400" b="1" spc="320" dirty="0">
                <a:solidFill>
                  <a:srgbClr val="2E2E2E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latin typeface="Consolas"/>
                <a:cs typeface="Consolas"/>
              </a:rPr>
              <a:t>&amp;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9382" y="5916472"/>
            <a:ext cx="1282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35" dirty="0">
                <a:solidFill>
                  <a:srgbClr val="2E2E2E"/>
                </a:solidFill>
                <a:latin typeface="Consolas"/>
                <a:cs typeface="Consolas"/>
              </a:rPr>
              <a:t>(1&lt;&lt;n)</a:t>
            </a:r>
            <a:r>
              <a:rPr sz="3600" b="1" spc="52" baseline="27777" dirty="0">
                <a:latin typeface="Consolas"/>
                <a:cs typeface="Consolas"/>
              </a:rPr>
              <a:t>)</a:t>
            </a:r>
            <a:endParaRPr sz="3600" baseline="27777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8579" y="5765800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nsolas"/>
                <a:cs typeface="Consolas"/>
              </a:rPr>
              <a:t>&gt;</a:t>
            </a:r>
            <a:r>
              <a:rPr sz="2400" b="1" spc="-95" dirty="0">
                <a:latin typeface="Consolas"/>
                <a:cs typeface="Consolas"/>
              </a:rPr>
              <a:t> </a:t>
            </a:r>
            <a:r>
              <a:rPr sz="2400" b="1" dirty="0">
                <a:latin typeface="Consolas"/>
                <a:cs typeface="Consolas"/>
              </a:rPr>
              <a:t>0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" y="1102360"/>
            <a:ext cx="9201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例2-</a:t>
            </a:r>
            <a:r>
              <a:rPr sz="2800" b="1" spc="-15" dirty="0">
                <a:latin typeface="宋体"/>
                <a:cs typeface="宋体"/>
              </a:rPr>
              <a:t>5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" y="1581150"/>
            <a:ext cx="8059420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设某航班周一、三、四、六飞行，当客户订票时</a:t>
            </a:r>
            <a:r>
              <a:rPr sz="2800" b="1" spc="-15" dirty="0">
                <a:latin typeface="宋体"/>
                <a:cs typeface="宋体"/>
              </a:rPr>
              <a:t>如 </a:t>
            </a:r>
            <a:r>
              <a:rPr sz="2800" b="1" dirty="0">
                <a:latin typeface="宋体"/>
                <a:cs typeface="宋体"/>
              </a:rPr>
              <a:t>何根据客户的需求“星期几”获知该日是否有航</a:t>
            </a:r>
            <a:r>
              <a:rPr sz="2800" b="1" spc="-20" dirty="0">
                <a:latin typeface="宋体"/>
                <a:cs typeface="宋体"/>
              </a:rPr>
              <a:t>班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7802" y="398297"/>
            <a:ext cx="513689" cy="3232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29142" y="440842"/>
            <a:ext cx="502284" cy="245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98102" y="393852"/>
            <a:ext cx="2586355" cy="3308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0350" y="2242083"/>
            <a:ext cx="53676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="1" spc="-165" baseline="-16865" dirty="0">
                <a:latin typeface="宋体"/>
                <a:cs typeface="宋体"/>
              </a:rPr>
              <a:t>？</a:t>
            </a:r>
            <a:r>
              <a:rPr sz="1800" b="1" spc="-110" dirty="0">
                <a:solidFill>
                  <a:srgbClr val="7E0054"/>
                </a:solidFill>
                <a:latin typeface="Consolas"/>
                <a:cs typeface="Consolas"/>
              </a:rPr>
              <a:t>public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static void </a:t>
            </a:r>
            <a:r>
              <a:rPr sz="1800" b="1" dirty="0">
                <a:latin typeface="Consolas"/>
                <a:cs typeface="Consolas"/>
              </a:rPr>
              <a:t>main(String[]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sz="1800" b="1" dirty="0">
                <a:latin typeface="Consolas"/>
                <a:cs typeface="Consolas"/>
              </a:rPr>
              <a:t>)</a:t>
            </a:r>
            <a:r>
              <a:rPr sz="1800" b="1" spc="3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47738" y="2651658"/>
            <a:ext cx="7992109" cy="358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  <a:tabLst>
                <a:tab pos="1223645" algn="l"/>
                <a:tab pos="3109595" algn="l"/>
              </a:tabLst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byte	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flagFight</a:t>
            </a:r>
            <a:r>
              <a:rPr sz="1800" b="1" dirty="0">
                <a:latin typeface="Consolas"/>
                <a:cs typeface="Consolas"/>
              </a:rPr>
              <a:t>=90;	</a:t>
            </a:r>
            <a:r>
              <a:rPr sz="1800" b="1" dirty="0">
                <a:solidFill>
                  <a:srgbClr val="3E7E5F"/>
                </a:solidFill>
                <a:latin typeface="Consolas"/>
                <a:cs typeface="Consolas"/>
              </a:rPr>
              <a:t>//1,3,4,6</a:t>
            </a:r>
            <a:r>
              <a:rPr sz="1800" b="1" dirty="0">
                <a:solidFill>
                  <a:srgbClr val="3E7E5F"/>
                </a:solidFill>
                <a:latin typeface="微软雅黑"/>
                <a:cs typeface="微软雅黑"/>
              </a:rPr>
              <a:t>有航班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800" dirty="0">
                <a:solidFill>
                  <a:srgbClr val="3E7E5F"/>
                </a:solidFill>
                <a:latin typeface="微软雅黑"/>
                <a:cs typeface="微软雅黑"/>
              </a:rPr>
              <a:t>输入要查询的日期</a:t>
            </a:r>
            <a:endParaRPr sz="1800">
              <a:latin typeface="微软雅黑"/>
              <a:cs typeface="微软雅黑"/>
            </a:endParaRPr>
          </a:p>
          <a:p>
            <a:pPr marL="469900" marR="5080">
              <a:lnSpc>
                <a:spcPts val="2090"/>
              </a:lnSpc>
              <a:spcBef>
                <a:spcPts val="125"/>
              </a:spcBef>
            </a:pPr>
            <a:r>
              <a:rPr sz="1800" dirty="0">
                <a:latin typeface="Consolas"/>
                <a:cs typeface="Consolas"/>
              </a:rPr>
              <a:t>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800" b="1" dirty="0">
                <a:latin typeface="Consolas"/>
                <a:cs typeface="Consolas"/>
              </a:rPr>
              <a:t>.println(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输入要查询的日期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(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星期几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),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星期日用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0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表示：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latin typeface="Consolas"/>
                <a:cs typeface="Consolas"/>
              </a:rPr>
              <a:t>);  </a:t>
            </a:r>
            <a:r>
              <a:rPr sz="1800" dirty="0">
                <a:latin typeface="Consolas"/>
                <a:cs typeface="Consolas"/>
              </a:rPr>
              <a:t>Scanner </a:t>
            </a:r>
            <a:r>
              <a:rPr sz="1800" dirty="0">
                <a:solidFill>
                  <a:srgbClr val="6A3D3D"/>
                </a:solidFill>
                <a:latin typeface="Consolas"/>
                <a:cs typeface="Consolas"/>
              </a:rPr>
              <a:t>scn </a:t>
            </a:r>
            <a:r>
              <a:rPr sz="1800" dirty="0">
                <a:latin typeface="Consolas"/>
                <a:cs typeface="Consolas"/>
              </a:rPr>
              <a:t>= 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sz="1800" b="1" spc="-1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Scanner(System.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in</a:t>
            </a:r>
            <a:r>
              <a:rPr sz="1800" b="1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00"/>
              </a:lnSpc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n </a:t>
            </a:r>
            <a:r>
              <a:rPr sz="1800" b="1" dirty="0">
                <a:latin typeface="Consolas"/>
                <a:cs typeface="Consolas"/>
              </a:rPr>
              <a:t>=</a:t>
            </a:r>
            <a:r>
              <a:rPr sz="1800" b="1" spc="-10" dirty="0"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6A3D3D"/>
                </a:solidFill>
                <a:latin typeface="Consolas"/>
                <a:cs typeface="Consolas"/>
              </a:rPr>
              <a:t>scn</a:t>
            </a:r>
            <a:r>
              <a:rPr sz="1800" b="1" dirty="0">
                <a:latin typeface="Consolas"/>
                <a:cs typeface="Consolas"/>
              </a:rPr>
              <a:t>.nextInt();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if</a:t>
            </a:r>
            <a:r>
              <a:rPr sz="1800" b="1" dirty="0">
                <a:latin typeface="Consolas"/>
                <a:cs typeface="Consolas"/>
              </a:rPr>
              <a:t>( 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(flagFight&amp;(1&lt;&lt;n))&gt;0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ts val="2125"/>
              </a:lnSpc>
              <a:spcBef>
                <a:spcPts val="70"/>
              </a:spcBef>
            </a:pPr>
            <a:r>
              <a:rPr sz="1800" dirty="0">
                <a:latin typeface="Consolas"/>
                <a:cs typeface="Consolas"/>
              </a:rPr>
              <a:t>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800" b="1" dirty="0">
                <a:latin typeface="Consolas"/>
                <a:cs typeface="Consolas"/>
              </a:rPr>
              <a:t>.println(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该日有航班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25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r>
              <a:rPr sz="1800" b="1" dirty="0">
                <a:solidFill>
                  <a:srgbClr val="7E0054"/>
                </a:solidFill>
                <a:latin typeface="Consolas"/>
                <a:cs typeface="Consolas"/>
              </a:rPr>
              <a:t>else</a:t>
            </a:r>
            <a:r>
              <a:rPr sz="1800" b="1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ts val="2125"/>
              </a:lnSpc>
              <a:spcBef>
                <a:spcPts val="70"/>
              </a:spcBef>
            </a:pPr>
            <a:r>
              <a:rPr sz="1800" dirty="0">
                <a:latin typeface="Consolas"/>
                <a:cs typeface="Consolas"/>
              </a:rPr>
              <a:t>System.</a:t>
            </a:r>
            <a:r>
              <a:rPr sz="1800" b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800" b="1" dirty="0">
                <a:latin typeface="Consolas"/>
                <a:cs typeface="Consolas"/>
              </a:rPr>
              <a:t>.println(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solidFill>
                  <a:srgbClr val="2A00FF"/>
                </a:solidFill>
                <a:latin typeface="微软雅黑"/>
                <a:cs typeface="微软雅黑"/>
              </a:rPr>
              <a:t>该日没有航班</a:t>
            </a:r>
            <a:r>
              <a:rPr sz="1800" b="1" dirty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sz="1800" b="1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25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71156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0632" y="393852"/>
            <a:ext cx="1756295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5904" y="3573779"/>
            <a:ext cx="7240905" cy="521334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  <a:tabLst>
                <a:tab pos="2543175" algn="l"/>
              </a:tabLst>
            </a:pPr>
            <a:r>
              <a:rPr sz="2800" dirty="0">
                <a:latin typeface="微软雅黑"/>
                <a:cs typeface="微软雅黑"/>
              </a:rPr>
              <a:t>例如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Book Antiqua"/>
                <a:cs typeface="Book Antiqua"/>
              </a:rPr>
              <a:t>i=5	//</a:t>
            </a:r>
            <a:r>
              <a:rPr sz="2800" dirty="0">
                <a:latin typeface="微软雅黑"/>
                <a:cs typeface="微软雅黑"/>
              </a:rPr>
              <a:t>赋值表达式的值是</a:t>
            </a:r>
            <a:r>
              <a:rPr sz="2800" spc="-5" dirty="0">
                <a:latin typeface="Book Antiqua"/>
                <a:cs typeface="Book Antiqua"/>
              </a:rPr>
              <a:t>5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12140" y="1466850"/>
            <a:ext cx="7480300" cy="170751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675"/>
              </a:spcBef>
              <a:buClr>
                <a:srgbClr val="967A2C"/>
              </a:buClr>
              <a:buSzPct val="95833"/>
              <a:buFont typeface="Wingdings"/>
              <a:buChar char=""/>
              <a:tabLst>
                <a:tab pos="153035" algn="l"/>
              </a:tabLst>
            </a:pPr>
            <a:r>
              <a:rPr sz="2400" dirty="0">
                <a:latin typeface="宋体"/>
                <a:cs typeface="宋体"/>
              </a:rPr>
              <a:t>Java中赋值运算符：=、+=、-=、*=等。 </a:t>
            </a:r>
            <a:endParaRPr sz="2400">
              <a:latin typeface="宋体"/>
              <a:cs typeface="宋体"/>
            </a:endParaRPr>
          </a:p>
          <a:p>
            <a:pPr marL="152400" indent="-140335">
              <a:lnSpc>
                <a:spcPct val="100000"/>
              </a:lnSpc>
              <a:spcBef>
                <a:spcPts val="575"/>
              </a:spcBef>
              <a:buClr>
                <a:srgbClr val="967A2C"/>
              </a:buClr>
              <a:buSzPct val="95833"/>
              <a:buFont typeface="Wingdings"/>
              <a:buChar char=""/>
              <a:tabLst>
                <a:tab pos="153035" algn="l"/>
              </a:tabLst>
            </a:pPr>
            <a:r>
              <a:rPr sz="2400" dirty="0">
                <a:latin typeface="宋体"/>
                <a:cs typeface="宋体"/>
              </a:rPr>
              <a:t>赋值表达式:带有赋值运算符的表达式。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  <a:buClr>
                <a:srgbClr val="967A2C"/>
              </a:buClr>
              <a:buSzPct val="95833"/>
              <a:buFont typeface="Wingdings"/>
              <a:buChar char=""/>
              <a:tabLst>
                <a:tab pos="153035" algn="l"/>
              </a:tabLst>
            </a:pPr>
            <a:r>
              <a:rPr sz="2400" dirty="0">
                <a:latin typeface="宋体"/>
                <a:cs typeface="宋体"/>
              </a:rPr>
              <a:t>赋值表达式的含义:等号右边表达式的值赋给等号左边 的变量。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005" y="4712970"/>
            <a:ext cx="5839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操作运算符中的+</a:t>
            </a:r>
            <a:r>
              <a:rPr sz="2400" spc="-5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和=</a:t>
            </a:r>
            <a:r>
              <a:rPr sz="2400" spc="-5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可以对引用类型操作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1455"/>
            <a:ext cx="2890520" cy="1875789"/>
          </a:xfrm>
          <a:custGeom>
            <a:avLst/>
            <a:gdLst/>
            <a:ahLst/>
            <a:cxnLst/>
            <a:rect l="l" t="t" r="r" b="b"/>
            <a:pathLst>
              <a:path w="2890520" h="1875789">
                <a:moveTo>
                  <a:pt x="0" y="0"/>
                </a:moveTo>
                <a:lnTo>
                  <a:pt x="2890520" y="0"/>
                </a:lnTo>
                <a:lnTo>
                  <a:pt x="2890520" y="1875790"/>
                </a:lnTo>
                <a:lnTo>
                  <a:pt x="0" y="1875790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1295908"/>
            <a:ext cx="2159000" cy="113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2800" spc="-5" dirty="0">
                <a:latin typeface="宋体"/>
                <a:cs typeface="宋体"/>
              </a:rPr>
              <a:t>i= 1;  i=2+(j=4);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0683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赋值运算</a:t>
            </a:r>
            <a:r>
              <a:rPr sz="2800" b="1" spc="-20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4253" y="1400212"/>
            <a:ext cx="5036820" cy="9772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65"/>
              </a:spcBef>
            </a:pPr>
            <a:r>
              <a:rPr sz="2400" spc="-5" dirty="0">
                <a:latin typeface="微软雅黑"/>
                <a:cs typeface="微软雅黑"/>
              </a:rPr>
              <a:t>//</a:t>
            </a:r>
            <a:r>
              <a:rPr sz="2400" dirty="0">
                <a:latin typeface="微软雅黑"/>
                <a:cs typeface="微软雅黑"/>
              </a:rPr>
              <a:t>表达式值为1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spc="-5" dirty="0">
                <a:latin typeface="微软雅黑"/>
                <a:cs typeface="微软雅黑"/>
              </a:rPr>
              <a:t>//</a:t>
            </a:r>
            <a:r>
              <a:rPr sz="2400" dirty="0">
                <a:latin typeface="微软雅黑"/>
                <a:cs typeface="微软雅黑"/>
              </a:rPr>
              <a:t>表达式值为</a:t>
            </a:r>
            <a:r>
              <a:rPr sz="2400" spc="-5" dirty="0">
                <a:latin typeface="微软雅黑"/>
                <a:cs typeface="微软雅黑"/>
              </a:rPr>
              <a:t>6，</a:t>
            </a:r>
            <a:r>
              <a:rPr sz="2400" spc="-8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j</a:t>
            </a:r>
            <a:r>
              <a:rPr sz="2400" dirty="0">
                <a:latin typeface="微软雅黑"/>
                <a:cs typeface="微软雅黑"/>
              </a:rPr>
              <a:t>的值为</a:t>
            </a:r>
            <a:r>
              <a:rPr sz="2400" spc="-5" dirty="0">
                <a:latin typeface="微软雅黑"/>
                <a:cs typeface="微软雅黑"/>
              </a:rPr>
              <a:t>4，i</a:t>
            </a:r>
            <a:r>
              <a:rPr sz="2400" dirty="0">
                <a:latin typeface="微软雅黑"/>
                <a:cs typeface="微软雅黑"/>
              </a:rPr>
              <a:t>的值为6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0" y="2581275"/>
            <a:ext cx="8874125" cy="80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320"/>
              </a:lnSpc>
              <a:spcBef>
                <a:spcPts val="95"/>
              </a:spcBef>
            </a:pPr>
            <a:r>
              <a:rPr sz="4200" spc="-7" baseline="7936" dirty="0">
                <a:latin typeface="宋体"/>
                <a:cs typeface="宋体"/>
              </a:rPr>
              <a:t>i=(j=10)*(k=2);</a:t>
            </a:r>
            <a:r>
              <a:rPr sz="4200" spc="1979" baseline="7936" dirty="0">
                <a:latin typeface="宋体"/>
                <a:cs typeface="宋体"/>
              </a:rPr>
              <a:t> </a:t>
            </a:r>
            <a:r>
              <a:rPr sz="2400" spc="-975" dirty="0">
                <a:latin typeface="微软雅黑"/>
                <a:cs typeface="微软雅黑"/>
              </a:rPr>
              <a:t>/</a:t>
            </a:r>
            <a:r>
              <a:rPr sz="3600" spc="375" baseline="9259" dirty="0">
                <a:latin typeface="微软雅黑"/>
                <a:cs typeface="微软雅黑"/>
              </a:rPr>
              <a:t> </a:t>
            </a:r>
            <a:r>
              <a:rPr sz="2400" spc="-600" dirty="0">
                <a:latin typeface="微软雅黑"/>
                <a:cs typeface="微软雅黑"/>
              </a:rPr>
              <a:t>/</a:t>
            </a:r>
            <a:r>
              <a:rPr sz="3600" spc="-839" baseline="9259" dirty="0">
                <a:latin typeface="微软雅黑"/>
                <a:cs typeface="微软雅黑"/>
              </a:rPr>
              <a:t> </a:t>
            </a:r>
            <a:r>
              <a:rPr sz="2400" spc="-1595" dirty="0">
                <a:latin typeface="微软雅黑"/>
                <a:cs typeface="微软雅黑"/>
              </a:rPr>
              <a:t>表</a:t>
            </a:r>
            <a:r>
              <a:rPr sz="3600" spc="1305" baseline="9259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达式值为</a:t>
            </a:r>
            <a:r>
              <a:rPr sz="2400" spc="-5" dirty="0">
                <a:latin typeface="微软雅黑"/>
                <a:cs typeface="微软雅黑"/>
              </a:rPr>
              <a:t>20，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j</a:t>
            </a:r>
            <a:r>
              <a:rPr sz="2400" dirty="0">
                <a:latin typeface="微软雅黑"/>
                <a:cs typeface="微软雅黑"/>
              </a:rPr>
              <a:t>的值为</a:t>
            </a:r>
            <a:r>
              <a:rPr sz="2400" spc="-5" dirty="0">
                <a:latin typeface="微软雅黑"/>
                <a:cs typeface="微软雅黑"/>
              </a:rPr>
              <a:t>10，k</a:t>
            </a:r>
            <a:r>
              <a:rPr sz="2400" dirty="0">
                <a:latin typeface="微软雅黑"/>
                <a:cs typeface="微软雅黑"/>
              </a:rPr>
              <a:t>的值为</a:t>
            </a:r>
            <a:r>
              <a:rPr sz="2400" spc="-5" dirty="0">
                <a:latin typeface="微软雅黑"/>
                <a:cs typeface="微软雅黑"/>
              </a:rPr>
              <a:t>2，</a:t>
            </a:r>
            <a:endParaRPr sz="2400">
              <a:latin typeface="微软雅黑"/>
              <a:cs typeface="微软雅黑"/>
            </a:endParaRPr>
          </a:p>
          <a:p>
            <a:pPr marR="1380490" algn="ctr">
              <a:lnSpc>
                <a:spcPts val="2840"/>
              </a:lnSpc>
            </a:pPr>
            <a:r>
              <a:rPr sz="2400" dirty="0">
                <a:latin typeface="微软雅黑"/>
                <a:cs typeface="微软雅黑"/>
              </a:rPr>
              <a:t>i的值为</a:t>
            </a:r>
            <a:r>
              <a:rPr sz="2400" spc="-5" dirty="0">
                <a:latin typeface="微软雅黑"/>
                <a:cs typeface="微软雅黑"/>
              </a:rPr>
              <a:t>20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0683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赋值运算</a:t>
            </a:r>
            <a:r>
              <a:rPr sz="2800" b="1" spc="-20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5462" y="2046287"/>
          <a:ext cx="8229599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运算符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例子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等价于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2400" spc="-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=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25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+=</a:t>
                      </a:r>
                      <a:r>
                        <a:rPr sz="2400" spc="-1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56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= x +</a:t>
                      </a:r>
                      <a:r>
                        <a:rPr sz="24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-</a:t>
                      </a:r>
                      <a:r>
                        <a:rPr sz="2400" spc="-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=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-=</a:t>
                      </a:r>
                      <a:r>
                        <a:rPr sz="2400" spc="-1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= x -</a:t>
                      </a:r>
                      <a:r>
                        <a:rPr sz="2400" spc="-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*=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*=</a:t>
                      </a:r>
                      <a:r>
                        <a:rPr sz="2400" spc="-1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6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= x *</a:t>
                      </a:r>
                      <a:r>
                        <a:rPr sz="24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/=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25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/=</a:t>
                      </a:r>
                      <a:r>
                        <a:rPr sz="2400" spc="-1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56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= x /</a:t>
                      </a:r>
                      <a:r>
                        <a:rPr sz="24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spc="-5" dirty="0">
                          <a:latin typeface="Book Antiqua"/>
                          <a:cs typeface="Book Antiqua"/>
                        </a:rPr>
                        <a:t>%=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</a:t>
                      </a:r>
                      <a:r>
                        <a:rPr sz="2400" spc="-5" dirty="0">
                          <a:latin typeface="Book Antiqua"/>
                          <a:cs typeface="Book Antiqua"/>
                        </a:rPr>
                        <a:t>%=</a:t>
                      </a:r>
                      <a:r>
                        <a:rPr sz="2400" spc="-1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9469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400" dirty="0">
                          <a:latin typeface="Book Antiqua"/>
                          <a:cs typeface="Book Antiqua"/>
                        </a:rPr>
                        <a:t>x = x %</a:t>
                      </a:r>
                      <a:r>
                        <a:rPr sz="24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2400" dirty="0">
                          <a:latin typeface="Book Antiqua"/>
                          <a:cs typeface="Book Antiqua"/>
                        </a:rPr>
                        <a:t>a</a:t>
                      </a:r>
                      <a:endParaRPr sz="2400">
                        <a:latin typeface="Book Antiqua"/>
                        <a:cs typeface="Book Antiqua"/>
                      </a:endParaRPr>
                    </a:p>
                  </a:txBody>
                  <a:tcPr marL="0" marR="0" marT="2793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9339" y="1425575"/>
            <a:ext cx="39211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260" indent="-16319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"/>
              <a:tabLst>
                <a:tab pos="175895" algn="l"/>
              </a:tabLst>
            </a:pPr>
            <a:r>
              <a:rPr sz="2800" dirty="0">
                <a:latin typeface="宋体"/>
                <a:cs typeface="宋体"/>
              </a:rPr>
              <a:t>常用的复合赋值运算</a:t>
            </a:r>
            <a:r>
              <a:rPr sz="2800" spc="-5" dirty="0"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0" y="5010340"/>
            <a:ext cx="6769100" cy="10490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967A2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例 </a:t>
            </a:r>
            <a:r>
              <a:rPr sz="2800" spc="-5" dirty="0">
                <a:latin typeface="宋体"/>
                <a:cs typeface="宋体"/>
              </a:rPr>
              <a:t>：a+=3</a:t>
            </a:r>
            <a:r>
              <a:rPr sz="2800" spc="134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等 价 于 </a:t>
            </a:r>
            <a:r>
              <a:rPr sz="2800" spc="-5" dirty="0">
                <a:latin typeface="宋体"/>
                <a:cs typeface="宋体"/>
              </a:rPr>
              <a:t>a=a+3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宋体"/>
                <a:cs typeface="宋体"/>
              </a:rPr>
              <a:t>       x*=y+8 </a:t>
            </a:r>
            <a:r>
              <a:rPr sz="2800" dirty="0">
                <a:latin typeface="宋体"/>
                <a:cs typeface="宋体"/>
              </a:rPr>
              <a:t>等 价 于</a:t>
            </a:r>
            <a:r>
              <a:rPr sz="2800" spc="-6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x=x*</a:t>
            </a:r>
            <a:r>
              <a:rPr sz="2800" spc="-5" dirty="0">
                <a:solidFill>
                  <a:srgbClr val="ED7A07"/>
                </a:solidFill>
                <a:latin typeface="宋体"/>
                <a:cs typeface="宋体"/>
              </a:rPr>
              <a:t>(</a:t>
            </a:r>
            <a:r>
              <a:rPr sz="2800" spc="-5" dirty="0">
                <a:latin typeface="宋体"/>
                <a:cs typeface="宋体"/>
              </a:rPr>
              <a:t>y+8</a:t>
            </a:r>
            <a:r>
              <a:rPr sz="2800" spc="-5" dirty="0">
                <a:solidFill>
                  <a:srgbClr val="ED7A07"/>
                </a:solidFill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6749415" cy="31388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条件运算符与条件表达</a:t>
            </a:r>
            <a:r>
              <a:rPr sz="2800" b="1" spc="-20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dirty="0">
                <a:latin typeface="宋体"/>
                <a:cs typeface="宋体"/>
              </a:rPr>
              <a:t>      </a:t>
            </a:r>
            <a:r>
              <a:rPr sz="2800" b="1" dirty="0">
                <a:solidFill>
                  <a:srgbClr val="CC3300"/>
                </a:solidFill>
                <a:latin typeface="宋体"/>
                <a:cs typeface="宋体"/>
              </a:rPr>
              <a:t>e1? e2:</a:t>
            </a:r>
            <a:r>
              <a:rPr sz="2800" b="1" spc="-5" dirty="0">
                <a:solidFill>
                  <a:srgbClr val="CC3300"/>
                </a:solidFill>
                <a:latin typeface="宋体"/>
                <a:cs typeface="宋体"/>
              </a:rPr>
              <a:t> </a:t>
            </a:r>
            <a:r>
              <a:rPr sz="2800" b="1" spc="-10" dirty="0">
                <a:solidFill>
                  <a:srgbClr val="CC3300"/>
                </a:solidFill>
                <a:latin typeface="宋体"/>
                <a:cs typeface="宋体"/>
              </a:rPr>
              <a:t>e3</a:t>
            </a:r>
            <a:endParaRPr sz="2800">
              <a:latin typeface="宋体"/>
              <a:cs typeface="宋体"/>
            </a:endParaRPr>
          </a:p>
          <a:p>
            <a:pPr marL="8699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latin typeface="宋体"/>
                <a:cs typeface="宋体"/>
              </a:rPr>
              <a:t>e1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 boolean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8699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spc="-5" dirty="0">
                <a:latin typeface="宋体"/>
                <a:cs typeface="宋体"/>
              </a:rPr>
              <a:t>e2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spc="-5" dirty="0">
                <a:latin typeface="宋体"/>
                <a:cs typeface="宋体"/>
              </a:rPr>
              <a:t>e3</a:t>
            </a:r>
            <a:r>
              <a:rPr sz="2800" dirty="0">
                <a:latin typeface="宋体"/>
                <a:cs typeface="宋体"/>
              </a:rPr>
              <a:t>的类型相</a:t>
            </a:r>
            <a:r>
              <a:rPr sz="2800" spc="-5" dirty="0"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  <a:p>
            <a:pPr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执行顺</a:t>
            </a:r>
            <a:r>
              <a:rPr sz="2800" spc="-5" dirty="0"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  <a:p>
            <a:pPr marL="8699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dirty="0">
                <a:latin typeface="宋体"/>
                <a:cs typeface="宋体"/>
              </a:rPr>
              <a:t>若</a:t>
            </a:r>
            <a:r>
              <a:rPr sz="2800" spc="-5" dirty="0">
                <a:latin typeface="宋体"/>
                <a:cs typeface="宋体"/>
              </a:rPr>
              <a:t>e1</a:t>
            </a:r>
            <a:r>
              <a:rPr sz="2800" dirty="0">
                <a:latin typeface="宋体"/>
                <a:cs typeface="宋体"/>
              </a:rPr>
              <a:t>的值为</a:t>
            </a:r>
            <a:r>
              <a:rPr sz="2800" spc="-5" dirty="0">
                <a:latin typeface="宋体"/>
                <a:cs typeface="宋体"/>
              </a:rPr>
              <a:t>true，e2</a:t>
            </a:r>
            <a:r>
              <a:rPr sz="2800" dirty="0">
                <a:latin typeface="宋体"/>
                <a:cs typeface="宋体"/>
              </a:rPr>
              <a:t>的值为最终结</a:t>
            </a:r>
            <a:r>
              <a:rPr sz="2800" spc="-5" dirty="0">
                <a:latin typeface="宋体"/>
                <a:cs typeface="宋体"/>
              </a:rPr>
              <a:t>果</a:t>
            </a:r>
            <a:endParaRPr sz="2800">
              <a:latin typeface="宋体"/>
              <a:cs typeface="宋体"/>
            </a:endParaRPr>
          </a:p>
          <a:p>
            <a:pPr marL="8699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69950" algn="l"/>
              </a:tabLst>
            </a:pPr>
            <a:r>
              <a:rPr sz="2800" dirty="0">
                <a:latin typeface="宋体"/>
                <a:cs typeface="宋体"/>
              </a:rPr>
              <a:t>若</a:t>
            </a:r>
            <a:r>
              <a:rPr sz="2800" spc="-5" dirty="0">
                <a:latin typeface="宋体"/>
                <a:cs typeface="宋体"/>
              </a:rPr>
              <a:t>e1</a:t>
            </a:r>
            <a:r>
              <a:rPr sz="2800" dirty="0">
                <a:latin typeface="宋体"/>
                <a:cs typeface="宋体"/>
              </a:rPr>
              <a:t>的值为</a:t>
            </a:r>
            <a:r>
              <a:rPr sz="2800" spc="-5" dirty="0">
                <a:latin typeface="宋体"/>
                <a:cs typeface="宋体"/>
              </a:rPr>
              <a:t>false，e3</a:t>
            </a:r>
            <a:r>
              <a:rPr sz="2800" dirty="0">
                <a:latin typeface="宋体"/>
                <a:cs typeface="宋体"/>
              </a:rPr>
              <a:t>的值为最终结</a:t>
            </a:r>
            <a:r>
              <a:rPr sz="2800" spc="-5" dirty="0">
                <a:latin typeface="宋体"/>
                <a:cs typeface="宋体"/>
              </a:rPr>
              <a:t>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1222" y="392582"/>
            <a:ext cx="3898176" cy="332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7856855" cy="25596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 algn="just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表达式的运算次序</a:t>
            </a:r>
            <a:r>
              <a:rPr sz="2800" spc="-5" dirty="0">
                <a:latin typeface="宋体"/>
                <a:cs typeface="宋体"/>
              </a:rPr>
              <a:t>:</a:t>
            </a:r>
            <a:r>
              <a:rPr sz="2800" dirty="0">
                <a:latin typeface="宋体"/>
                <a:cs typeface="宋体"/>
              </a:rPr>
              <a:t>取决于表达式中各种运算符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优先级。优先级高的运算符先运算</a:t>
            </a:r>
            <a:r>
              <a:rPr sz="2800" spc="-5" dirty="0">
                <a:latin typeface="宋体"/>
                <a:cs typeface="宋体"/>
              </a:rPr>
              <a:t>,</a:t>
            </a:r>
            <a:r>
              <a:rPr sz="2800" dirty="0">
                <a:latin typeface="宋体"/>
                <a:cs typeface="宋体"/>
              </a:rPr>
              <a:t>优先级低的</a:t>
            </a:r>
            <a:r>
              <a:rPr sz="2800" spc="-5" dirty="0">
                <a:latin typeface="宋体"/>
                <a:cs typeface="宋体"/>
              </a:rPr>
              <a:t>运 </a:t>
            </a:r>
            <a:r>
              <a:rPr sz="2800" dirty="0">
                <a:latin typeface="宋体"/>
                <a:cs typeface="宋体"/>
              </a:rPr>
              <a:t>算符后运算，同一行中的运算符的优先级相同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500">
              <a:latin typeface="宋体"/>
              <a:cs typeface="宋体"/>
            </a:endParaRPr>
          </a:p>
          <a:p>
            <a:pPr marL="184150" marR="5080" indent="-171450" algn="just">
              <a:lnSpc>
                <a:spcPts val="302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运算符的结合性:</a:t>
            </a:r>
            <a:r>
              <a:rPr sz="2800" dirty="0">
                <a:latin typeface="宋体"/>
                <a:cs typeface="宋体"/>
              </a:rPr>
              <a:t>决定了并列的相同运算符的先</a:t>
            </a:r>
            <a:r>
              <a:rPr sz="2800" spc="-5" dirty="0">
                <a:latin typeface="宋体"/>
                <a:cs typeface="宋体"/>
              </a:rPr>
              <a:t>后 </a:t>
            </a:r>
            <a:r>
              <a:rPr sz="2800" dirty="0">
                <a:latin typeface="宋体"/>
                <a:cs typeface="宋体"/>
              </a:rPr>
              <a:t>执行顺序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33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2.3.6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运算符的优先级与结合</a:t>
            </a:r>
            <a:r>
              <a:rPr sz="2800" b="1" spc="-20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33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2.3.6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运算符的优先级与结合</a:t>
            </a:r>
            <a:r>
              <a:rPr sz="2800" b="1" spc="-20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674" y="1059484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1674" y="598854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674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73643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1674" y="1365389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1674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85048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1577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75880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73643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1674" y="1671294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85048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31577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75880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1674" y="220728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1674" y="259166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01674" y="2897568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01674" y="320347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01674" y="3509378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01674" y="381528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01674" y="415311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01674" y="445902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1674" y="476492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1674" y="507083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1674" y="537673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1674" y="568264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62265" y="5706668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右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左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39005" y="5702680"/>
            <a:ext cx="25253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35" dirty="0">
                <a:latin typeface="宋体"/>
                <a:cs typeface="宋体"/>
              </a:rPr>
              <a:t>= += -= *= /= %= &lt;&lt;=</a:t>
            </a:r>
            <a:r>
              <a:rPr sz="1500" spc="-40" dirty="0">
                <a:latin typeface="宋体"/>
                <a:cs typeface="宋体"/>
              </a:rPr>
              <a:t> </a:t>
            </a:r>
            <a:r>
              <a:rPr sz="1500" spc="25" dirty="0">
                <a:latin typeface="宋体"/>
                <a:cs typeface="宋体"/>
              </a:rPr>
              <a:t>&gt;&gt;=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62265" y="5400763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右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左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67210" y="5396776"/>
            <a:ext cx="2698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5" dirty="0">
                <a:latin typeface="Times New Roman"/>
                <a:cs typeface="Times New Roman"/>
              </a:rPr>
              <a:t>?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62265" y="5094859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50687" y="5090871"/>
            <a:ext cx="1047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10" dirty="0">
                <a:latin typeface="Times New Roman"/>
                <a:cs typeface="Times New Roman"/>
              </a:rPr>
              <a:t>|</a:t>
            </a:r>
            <a:r>
              <a:rPr sz="1500" dirty="0">
                <a:latin typeface="Times New Roman"/>
                <a:cs typeface="Times New Roman"/>
              </a:rPr>
              <a:t>|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62265" y="4788954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35219" y="4784966"/>
            <a:ext cx="33083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55" dirty="0">
                <a:latin typeface="Times New Roman"/>
                <a:cs typeface="Times New Roman"/>
              </a:rPr>
              <a:t>&amp;</a:t>
            </a:r>
            <a:r>
              <a:rPr sz="1500" spc="5" dirty="0">
                <a:latin typeface="Times New Roman"/>
                <a:cs typeface="Times New Roman"/>
              </a:rPr>
              <a:t>&amp;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62265" y="4483049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71553" y="4479061"/>
            <a:ext cx="6413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Times New Roman"/>
                <a:cs typeface="Times New Roman"/>
              </a:rPr>
              <a:t>|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62265" y="4177144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43727" y="4173156"/>
            <a:ext cx="1155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5" dirty="0">
                <a:latin typeface="Times New Roman"/>
                <a:cs typeface="Times New Roman"/>
              </a:rPr>
              <a:t>^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2265" y="3853954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13120" y="3849966"/>
            <a:ext cx="1752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5" dirty="0">
                <a:latin typeface="Times New Roman"/>
                <a:cs typeface="Times New Roman"/>
              </a:rPr>
              <a:t>&amp;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62265" y="3533419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62265" y="3227514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562265" y="2921609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62265" y="2615704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62265" y="2269896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62265" y="1809712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右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左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8953" y="1692668"/>
            <a:ext cx="2642235" cy="2092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80870" algn="l"/>
                <a:tab pos="2214245" algn="l"/>
                <a:tab pos="2564765" algn="l"/>
              </a:tabLst>
            </a:pPr>
            <a:r>
              <a:rPr sz="1500" spc="35" dirty="0">
                <a:latin typeface="Times New Roman"/>
                <a:cs typeface="Times New Roman"/>
              </a:rPr>
              <a:t>+</a:t>
            </a:r>
            <a:r>
              <a:rPr sz="1500" spc="20" dirty="0">
                <a:latin typeface="Times New Roman"/>
                <a:cs typeface="Times New Roman"/>
              </a:rPr>
              <a:t>(</a:t>
            </a:r>
            <a:r>
              <a:rPr sz="1500" spc="75" dirty="0">
                <a:latin typeface="宋体"/>
                <a:cs typeface="宋体"/>
              </a:rPr>
              <a:t>正号</a:t>
            </a:r>
            <a:r>
              <a:rPr sz="1500" dirty="0">
                <a:latin typeface="Times New Roman"/>
                <a:cs typeface="Times New Roman"/>
              </a:rPr>
              <a:t>) 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40" dirty="0">
                <a:latin typeface="Arial"/>
                <a:cs typeface="Arial"/>
              </a:rPr>
              <a:t>–</a:t>
            </a:r>
            <a:r>
              <a:rPr sz="1500" spc="20" dirty="0">
                <a:latin typeface="Times New Roman"/>
                <a:cs typeface="Times New Roman"/>
              </a:rPr>
              <a:t>(</a:t>
            </a:r>
            <a:r>
              <a:rPr sz="1500" spc="75" dirty="0">
                <a:latin typeface="宋体"/>
                <a:cs typeface="宋体"/>
              </a:rPr>
              <a:t>负号</a:t>
            </a:r>
            <a:r>
              <a:rPr sz="1500" dirty="0">
                <a:latin typeface="Times New Roman"/>
                <a:cs typeface="Times New Roman"/>
              </a:rPr>
              <a:t>) 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35" dirty="0">
                <a:latin typeface="Times New Roman"/>
                <a:cs typeface="Times New Roman"/>
              </a:rPr>
              <a:t>+</a:t>
            </a:r>
            <a:r>
              <a:rPr sz="1500" spc="5" dirty="0">
                <a:latin typeface="Times New Roman"/>
                <a:cs typeface="Times New Roman"/>
              </a:rPr>
              <a:t>+</a:t>
            </a:r>
            <a:r>
              <a:rPr sz="1500" dirty="0">
                <a:latin typeface="Times New Roman"/>
                <a:cs typeface="Times New Roman"/>
              </a:rPr>
              <a:t>	-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-	</a:t>
            </a:r>
            <a:r>
              <a:rPr sz="1500" spc="10" dirty="0">
                <a:latin typeface="宋体"/>
                <a:cs typeface="宋体"/>
              </a:rPr>
              <a:t>～</a:t>
            </a:r>
            <a:r>
              <a:rPr sz="1500" dirty="0">
                <a:latin typeface="宋体"/>
                <a:cs typeface="宋体"/>
              </a:rPr>
              <a:t>	</a:t>
            </a:r>
            <a:r>
              <a:rPr sz="1500" dirty="0">
                <a:latin typeface="Times New Roman"/>
                <a:cs typeface="Times New Roman"/>
              </a:rPr>
              <a:t>!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75" dirty="0">
                <a:latin typeface="宋体"/>
                <a:cs typeface="宋体"/>
              </a:rPr>
              <a:t>强制类型转换</a:t>
            </a:r>
            <a:r>
              <a:rPr sz="1500" spc="10" dirty="0">
                <a:latin typeface="宋体"/>
                <a:cs typeface="宋体"/>
              </a:rPr>
              <a:t>符</a:t>
            </a:r>
            <a:endParaRPr sz="1500">
              <a:latin typeface="宋体"/>
              <a:cs typeface="宋体"/>
            </a:endParaRPr>
          </a:p>
          <a:p>
            <a:pPr marL="620395" algn="ctr">
              <a:lnSpc>
                <a:spcPct val="100000"/>
              </a:lnSpc>
              <a:spcBef>
                <a:spcPts val="915"/>
              </a:spcBef>
              <a:tabLst>
                <a:tab pos="870585" algn="l"/>
                <a:tab pos="1076325" algn="l"/>
              </a:tabLst>
            </a:pPr>
            <a:r>
              <a:rPr sz="1500" spc="5" dirty="0">
                <a:latin typeface="Times New Roman"/>
                <a:cs typeface="Times New Roman"/>
              </a:rPr>
              <a:t>*	</a:t>
            </a:r>
            <a:r>
              <a:rPr sz="1500" dirty="0">
                <a:latin typeface="Times New Roman"/>
                <a:cs typeface="Times New Roman"/>
              </a:rPr>
              <a:t>/	</a:t>
            </a:r>
            <a:r>
              <a:rPr sz="1500" spc="10" dirty="0">
                <a:latin typeface="Times New Roman"/>
                <a:cs typeface="Times New Roman"/>
              </a:rPr>
              <a:t>%</a:t>
            </a:r>
            <a:endParaRPr sz="1500">
              <a:latin typeface="Times New Roman"/>
              <a:cs typeface="Times New Roman"/>
            </a:endParaRPr>
          </a:p>
          <a:p>
            <a:pPr marL="622935" algn="ctr">
              <a:lnSpc>
                <a:spcPct val="100000"/>
              </a:lnSpc>
              <a:spcBef>
                <a:spcPts val="919"/>
              </a:spcBef>
              <a:tabLst>
                <a:tab pos="885825" algn="l"/>
              </a:tabLst>
            </a:pPr>
            <a:r>
              <a:rPr sz="1500" spc="5" dirty="0">
                <a:latin typeface="Times New Roman"/>
                <a:cs typeface="Times New Roman"/>
              </a:rPr>
              <a:t>+	</a:t>
            </a:r>
            <a:r>
              <a:rPr sz="1500" dirty="0">
                <a:latin typeface="Times New Roman"/>
                <a:cs typeface="Times New Roman"/>
              </a:rPr>
              <a:t>-</a:t>
            </a:r>
            <a:endParaRPr sz="1500">
              <a:latin typeface="Times New Roman"/>
              <a:cs typeface="Times New Roman"/>
            </a:endParaRPr>
          </a:p>
          <a:p>
            <a:pPr marL="621665" algn="ctr">
              <a:lnSpc>
                <a:spcPct val="100000"/>
              </a:lnSpc>
              <a:spcBef>
                <a:spcPts val="610"/>
              </a:spcBef>
              <a:tabLst>
                <a:tab pos="996950" algn="l"/>
                <a:tab pos="1372235" algn="l"/>
              </a:tabLst>
            </a:pPr>
            <a:r>
              <a:rPr sz="1500" spc="20" dirty="0">
                <a:latin typeface="Times New Roman"/>
                <a:cs typeface="Times New Roman"/>
              </a:rPr>
              <a:t>&gt;&gt;	&lt;&lt;	</a:t>
            </a:r>
            <a:r>
              <a:rPr sz="1500" spc="25" dirty="0">
                <a:latin typeface="Times New Roman"/>
                <a:cs typeface="Times New Roman"/>
              </a:rPr>
              <a:t>&gt;&gt;&gt;</a:t>
            </a:r>
            <a:endParaRPr sz="1500">
              <a:latin typeface="Times New Roman"/>
              <a:cs typeface="Times New Roman"/>
            </a:endParaRPr>
          </a:p>
          <a:p>
            <a:pPr marL="622935" algn="ctr">
              <a:lnSpc>
                <a:spcPct val="100000"/>
              </a:lnSpc>
              <a:spcBef>
                <a:spcPts val="610"/>
              </a:spcBef>
              <a:tabLst>
                <a:tab pos="885825" algn="l"/>
                <a:tab pos="1261110" algn="l"/>
                <a:tab pos="1524000" algn="l"/>
              </a:tabLst>
            </a:pPr>
            <a:r>
              <a:rPr sz="1500" spc="5" dirty="0">
                <a:latin typeface="Times New Roman"/>
                <a:cs typeface="Times New Roman"/>
              </a:rPr>
              <a:t>&lt;	</a:t>
            </a:r>
            <a:r>
              <a:rPr sz="1500" spc="20" dirty="0">
                <a:latin typeface="Times New Roman"/>
                <a:cs typeface="Times New Roman"/>
              </a:rPr>
              <a:t>&lt;=	</a:t>
            </a:r>
            <a:r>
              <a:rPr sz="1500" spc="5" dirty="0">
                <a:latin typeface="Times New Roman"/>
                <a:cs typeface="Times New Roman"/>
              </a:rPr>
              <a:t>&gt;	</a:t>
            </a:r>
            <a:r>
              <a:rPr sz="1500" spc="20" dirty="0">
                <a:latin typeface="Times New Roman"/>
                <a:cs typeface="Times New Roman"/>
              </a:rPr>
              <a:t>&gt;=</a:t>
            </a:r>
            <a:endParaRPr sz="1500">
              <a:latin typeface="Times New Roman"/>
              <a:cs typeface="Times New Roman"/>
            </a:endParaRPr>
          </a:p>
          <a:p>
            <a:pPr marL="621665" algn="ctr">
              <a:lnSpc>
                <a:spcPct val="100000"/>
              </a:lnSpc>
              <a:spcBef>
                <a:spcPts val="610"/>
              </a:spcBef>
              <a:tabLst>
                <a:tab pos="1147445" algn="l"/>
              </a:tabLst>
            </a:pPr>
            <a:r>
              <a:rPr sz="1500" spc="5" dirty="0">
                <a:latin typeface="Times New Roman"/>
                <a:cs typeface="Times New Roman"/>
              </a:rPr>
              <a:t>=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=	</a:t>
            </a:r>
            <a:r>
              <a:rPr sz="1500" spc="15" dirty="0">
                <a:latin typeface="Times New Roman"/>
                <a:cs typeface="Times New Roman"/>
              </a:rPr>
              <a:t>!=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29804" y="1805724"/>
            <a:ext cx="2458720" cy="4152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26820" indent="-1165225">
              <a:lnSpc>
                <a:spcPct val="100000"/>
              </a:lnSpc>
              <a:spcBef>
                <a:spcPts val="110"/>
              </a:spcBef>
              <a:buFont typeface="Times New Roman"/>
              <a:buAutoNum type="arabicPlain" startAt="2"/>
              <a:tabLst>
                <a:tab pos="1226820" algn="l"/>
                <a:tab pos="1227455" algn="l"/>
              </a:tabLst>
            </a:pPr>
            <a:r>
              <a:rPr sz="1500" spc="75" dirty="0">
                <a:latin typeface="宋体"/>
                <a:cs typeface="宋体"/>
              </a:rPr>
              <a:t>单目运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lain" startAt="2"/>
            </a:pPr>
            <a:endParaRPr sz="1400">
              <a:latin typeface="宋体"/>
              <a:cs typeface="宋体"/>
            </a:endParaRPr>
          </a:p>
          <a:p>
            <a:pPr marL="1026794" indent="-965200">
              <a:lnSpc>
                <a:spcPct val="100000"/>
              </a:lnSpc>
              <a:buFont typeface="Times New Roman"/>
              <a:buAutoNum type="arabicPlain" startAt="2"/>
              <a:tabLst>
                <a:tab pos="1026160" algn="l"/>
                <a:tab pos="1027430" algn="l"/>
              </a:tabLst>
            </a:pPr>
            <a:r>
              <a:rPr sz="1500" spc="75" dirty="0">
                <a:latin typeface="宋体"/>
                <a:cs typeface="宋体"/>
              </a:rPr>
              <a:t>算术乘除运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1026794" indent="-965200">
              <a:lnSpc>
                <a:spcPct val="100000"/>
              </a:lnSpc>
              <a:spcBef>
                <a:spcPts val="925"/>
              </a:spcBef>
              <a:buFont typeface="Times New Roman"/>
              <a:buAutoNum type="arabicPlain" startAt="2"/>
              <a:tabLst>
                <a:tab pos="1026160" algn="l"/>
                <a:tab pos="1027430" algn="l"/>
              </a:tabLst>
            </a:pPr>
            <a:r>
              <a:rPr sz="1500" spc="75" dirty="0">
                <a:latin typeface="宋体"/>
                <a:cs typeface="宋体"/>
              </a:rPr>
              <a:t>算术加减运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1226820" indent="-1165225">
              <a:lnSpc>
                <a:spcPct val="100000"/>
              </a:lnSpc>
              <a:spcBef>
                <a:spcPts val="605"/>
              </a:spcBef>
              <a:buFont typeface="Times New Roman"/>
              <a:buAutoNum type="arabicPlain" startAt="2"/>
              <a:tabLst>
                <a:tab pos="1226820" algn="l"/>
                <a:tab pos="1227455" algn="l"/>
              </a:tabLst>
            </a:pPr>
            <a:r>
              <a:rPr sz="1500" spc="75" dirty="0">
                <a:latin typeface="宋体"/>
                <a:cs typeface="宋体"/>
              </a:rPr>
              <a:t>移位运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1226820" indent="-1165225">
              <a:lnSpc>
                <a:spcPct val="100000"/>
              </a:lnSpc>
              <a:spcBef>
                <a:spcPts val="610"/>
              </a:spcBef>
              <a:buFont typeface="Times New Roman"/>
              <a:buAutoNum type="arabicPlain" startAt="2"/>
              <a:tabLst>
                <a:tab pos="1226820" algn="l"/>
                <a:tab pos="1227455" algn="l"/>
              </a:tabLst>
            </a:pPr>
            <a:r>
              <a:rPr sz="1500" spc="75" dirty="0">
                <a:latin typeface="宋体"/>
                <a:cs typeface="宋体"/>
              </a:rPr>
              <a:t>关系运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1026794" indent="-965200">
              <a:lnSpc>
                <a:spcPct val="100000"/>
              </a:lnSpc>
              <a:spcBef>
                <a:spcPts val="610"/>
              </a:spcBef>
              <a:buFont typeface="Times New Roman"/>
              <a:buAutoNum type="arabicPlain" startAt="2"/>
              <a:tabLst>
                <a:tab pos="1026160" algn="l"/>
                <a:tab pos="1027430" algn="l"/>
              </a:tabLst>
            </a:pPr>
            <a:r>
              <a:rPr sz="1500" spc="75" dirty="0">
                <a:latin typeface="宋体"/>
                <a:cs typeface="宋体"/>
              </a:rPr>
              <a:t>相等关系运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801370" indent="-739775">
              <a:lnSpc>
                <a:spcPct val="100000"/>
              </a:lnSpc>
              <a:spcBef>
                <a:spcPts val="725"/>
              </a:spcBef>
              <a:buFont typeface="Times New Roman"/>
              <a:buAutoNum type="arabicPlain" startAt="2"/>
              <a:tabLst>
                <a:tab pos="801370" algn="l"/>
                <a:tab pos="802005" algn="l"/>
              </a:tabLst>
            </a:pPr>
            <a:r>
              <a:rPr sz="1500" spc="75" dirty="0">
                <a:latin typeface="宋体"/>
                <a:cs typeface="宋体"/>
              </a:rPr>
              <a:t>按位与</a:t>
            </a:r>
            <a:r>
              <a:rPr sz="1500" spc="15" dirty="0">
                <a:latin typeface="Times New Roman"/>
                <a:cs typeface="Times New Roman"/>
              </a:rPr>
              <a:t>,</a:t>
            </a:r>
            <a:r>
              <a:rPr sz="1500" spc="75" dirty="0">
                <a:latin typeface="宋体"/>
                <a:cs typeface="宋体"/>
              </a:rPr>
              <a:t>布尔逻辑</a:t>
            </a:r>
            <a:r>
              <a:rPr sz="1500" spc="10" dirty="0">
                <a:latin typeface="宋体"/>
                <a:cs typeface="宋体"/>
              </a:rPr>
              <a:t>与</a:t>
            </a:r>
            <a:endParaRPr sz="1500">
              <a:latin typeface="宋体"/>
              <a:cs typeface="宋体"/>
            </a:endParaRPr>
          </a:p>
          <a:p>
            <a:pPr marL="1226820" indent="-1165225"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2"/>
              <a:tabLst>
                <a:tab pos="1226820" algn="l"/>
                <a:tab pos="1227455" algn="l"/>
              </a:tabLst>
            </a:pPr>
            <a:r>
              <a:rPr sz="1500" spc="75" dirty="0">
                <a:latin typeface="宋体"/>
                <a:cs typeface="宋体"/>
              </a:rPr>
              <a:t>按位异</a:t>
            </a:r>
            <a:r>
              <a:rPr sz="1500" spc="10" dirty="0">
                <a:latin typeface="宋体"/>
                <a:cs typeface="宋体"/>
              </a:rPr>
              <a:t>或</a:t>
            </a:r>
            <a:endParaRPr sz="1500">
              <a:latin typeface="宋体"/>
              <a:cs typeface="宋体"/>
            </a:endParaRPr>
          </a:p>
          <a:p>
            <a:pPr marL="801370" indent="-789305">
              <a:lnSpc>
                <a:spcPct val="100000"/>
              </a:lnSpc>
              <a:spcBef>
                <a:spcPts val="605"/>
              </a:spcBef>
              <a:buFont typeface="Times New Roman"/>
              <a:buAutoNum type="arabicPlain" startAt="2"/>
              <a:tabLst>
                <a:tab pos="801370" algn="l"/>
                <a:tab pos="802005" algn="l"/>
              </a:tabLst>
            </a:pPr>
            <a:r>
              <a:rPr sz="1500" spc="75" dirty="0">
                <a:latin typeface="宋体"/>
                <a:cs typeface="宋体"/>
              </a:rPr>
              <a:t>按位或</a:t>
            </a:r>
            <a:r>
              <a:rPr sz="1500" spc="15" dirty="0">
                <a:latin typeface="Times New Roman"/>
                <a:cs typeface="Times New Roman"/>
              </a:rPr>
              <a:t>,</a:t>
            </a:r>
            <a:r>
              <a:rPr sz="1500" spc="75" dirty="0">
                <a:latin typeface="宋体"/>
                <a:cs typeface="宋体"/>
              </a:rPr>
              <a:t>布尔逻辑</a:t>
            </a:r>
            <a:r>
              <a:rPr sz="1500" spc="10" dirty="0">
                <a:latin typeface="宋体"/>
                <a:cs typeface="宋体"/>
              </a:rPr>
              <a:t>或</a:t>
            </a:r>
            <a:endParaRPr sz="1500">
              <a:latin typeface="宋体"/>
              <a:cs typeface="宋体"/>
            </a:endParaRPr>
          </a:p>
          <a:p>
            <a:pPr marL="1327150" indent="-1315085">
              <a:lnSpc>
                <a:spcPct val="100000"/>
              </a:lnSpc>
              <a:spcBef>
                <a:spcPts val="610"/>
              </a:spcBef>
              <a:buFont typeface="Times New Roman"/>
              <a:buAutoNum type="arabicPlain" startAt="2"/>
              <a:tabLst>
                <a:tab pos="1327150" algn="l"/>
                <a:tab pos="1327785" algn="l"/>
              </a:tabLst>
            </a:pPr>
            <a:r>
              <a:rPr sz="1500" spc="75" dirty="0">
                <a:latin typeface="宋体"/>
                <a:cs typeface="宋体"/>
              </a:rPr>
              <a:t>逻辑</a:t>
            </a:r>
            <a:r>
              <a:rPr sz="1500" spc="10" dirty="0">
                <a:latin typeface="宋体"/>
                <a:cs typeface="宋体"/>
              </a:rPr>
              <a:t>与</a:t>
            </a:r>
            <a:endParaRPr sz="1500">
              <a:latin typeface="宋体"/>
              <a:cs typeface="宋体"/>
            </a:endParaRPr>
          </a:p>
          <a:p>
            <a:pPr marL="1327150" indent="-1315085">
              <a:lnSpc>
                <a:spcPct val="100000"/>
              </a:lnSpc>
              <a:spcBef>
                <a:spcPts val="610"/>
              </a:spcBef>
              <a:buFont typeface="Times New Roman"/>
              <a:buAutoNum type="arabicPlain" startAt="2"/>
              <a:tabLst>
                <a:tab pos="1327150" algn="l"/>
                <a:tab pos="1327785" algn="l"/>
              </a:tabLst>
            </a:pPr>
            <a:r>
              <a:rPr sz="1500" spc="75" dirty="0">
                <a:latin typeface="宋体"/>
                <a:cs typeface="宋体"/>
              </a:rPr>
              <a:t>逻辑</a:t>
            </a:r>
            <a:r>
              <a:rPr sz="1500" spc="10" dirty="0">
                <a:latin typeface="宋体"/>
                <a:cs typeface="宋体"/>
              </a:rPr>
              <a:t>或</a:t>
            </a:r>
            <a:endParaRPr sz="1500">
              <a:latin typeface="宋体"/>
              <a:cs typeface="宋体"/>
            </a:endParaRPr>
          </a:p>
          <a:p>
            <a:pPr marL="1026794" indent="-1014730">
              <a:lnSpc>
                <a:spcPct val="100000"/>
              </a:lnSpc>
              <a:spcBef>
                <a:spcPts val="610"/>
              </a:spcBef>
              <a:buFont typeface="Times New Roman"/>
              <a:buAutoNum type="arabicPlain" startAt="2"/>
              <a:tabLst>
                <a:tab pos="1026160" algn="l"/>
                <a:tab pos="1027430" algn="l"/>
              </a:tabLst>
            </a:pPr>
            <a:r>
              <a:rPr sz="1500" spc="75" dirty="0">
                <a:latin typeface="宋体"/>
                <a:cs typeface="宋体"/>
              </a:rPr>
              <a:t>三目条件运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  <a:p>
            <a:pPr marL="1226820" indent="-1214755">
              <a:lnSpc>
                <a:spcPct val="100000"/>
              </a:lnSpc>
              <a:spcBef>
                <a:spcPts val="605"/>
              </a:spcBef>
              <a:buFont typeface="Times New Roman"/>
              <a:buAutoNum type="arabicPlain" startAt="2"/>
              <a:tabLst>
                <a:tab pos="1226820" algn="l"/>
                <a:tab pos="1227455" algn="l"/>
              </a:tabLst>
            </a:pPr>
            <a:r>
              <a:rPr sz="1500" spc="75" dirty="0">
                <a:latin typeface="宋体"/>
                <a:cs typeface="宋体"/>
              </a:rPr>
              <a:t>赋值运</a:t>
            </a:r>
            <a:r>
              <a:rPr sz="1500" spc="10" dirty="0">
                <a:latin typeface="宋体"/>
                <a:cs typeface="宋体"/>
              </a:rPr>
              <a:t>算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62265" y="1389430"/>
            <a:ext cx="61531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左</a:t>
            </a:r>
            <a:r>
              <a:rPr sz="1500" spc="70" dirty="0">
                <a:latin typeface="Symbol"/>
                <a:cs typeface="Symbol"/>
              </a:rPr>
              <a:t></a:t>
            </a:r>
            <a:r>
              <a:rPr sz="1500" spc="10" dirty="0">
                <a:latin typeface="宋体"/>
                <a:cs typeface="宋体"/>
              </a:rPr>
              <a:t>右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60881" y="1079525"/>
            <a:ext cx="61849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75" dirty="0">
                <a:latin typeface="宋体"/>
                <a:cs typeface="宋体"/>
              </a:rPr>
              <a:t>结合</a:t>
            </a:r>
            <a:r>
              <a:rPr sz="1500" spc="10" dirty="0">
                <a:latin typeface="宋体"/>
                <a:cs typeface="宋体"/>
              </a:rPr>
              <a:t>性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29474" y="1004049"/>
            <a:ext cx="4976495" cy="6375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1627505" algn="l"/>
                <a:tab pos="4273550" algn="l"/>
              </a:tabLst>
            </a:pPr>
            <a:r>
              <a:rPr sz="1500" spc="75" dirty="0">
                <a:latin typeface="宋体"/>
                <a:cs typeface="宋体"/>
              </a:rPr>
              <a:t>优先</a:t>
            </a:r>
            <a:r>
              <a:rPr sz="1500" spc="10" dirty="0">
                <a:latin typeface="宋体"/>
                <a:cs typeface="宋体"/>
              </a:rPr>
              <a:t>级	</a:t>
            </a:r>
            <a:r>
              <a:rPr sz="1500" spc="75" dirty="0">
                <a:latin typeface="宋体"/>
                <a:cs typeface="宋体"/>
              </a:rPr>
              <a:t>描</a:t>
            </a:r>
            <a:r>
              <a:rPr sz="1500" spc="10" dirty="0">
                <a:latin typeface="宋体"/>
                <a:cs typeface="宋体"/>
              </a:rPr>
              <a:t>述	</a:t>
            </a:r>
            <a:r>
              <a:rPr sz="1500" spc="75" dirty="0">
                <a:latin typeface="宋体"/>
                <a:cs typeface="宋体"/>
              </a:rPr>
              <a:t>运算</a:t>
            </a:r>
            <a:r>
              <a:rPr sz="1500" spc="10" dirty="0">
                <a:latin typeface="宋体"/>
                <a:cs typeface="宋体"/>
              </a:rPr>
              <a:t>符</a:t>
            </a:r>
            <a:endParaRPr sz="1500">
              <a:latin typeface="宋体"/>
              <a:cs typeface="宋体"/>
            </a:endParaRPr>
          </a:p>
          <a:p>
            <a:pPr marL="262890">
              <a:lnSpc>
                <a:spcPct val="100000"/>
              </a:lnSpc>
              <a:spcBef>
                <a:spcPts val="610"/>
              </a:spcBef>
              <a:tabLst>
                <a:tab pos="1327150" algn="l"/>
                <a:tab pos="4181475" algn="l"/>
              </a:tabLst>
            </a:pPr>
            <a:r>
              <a:rPr sz="1500" spc="5" dirty="0">
                <a:latin typeface="Times New Roman"/>
                <a:cs typeface="Times New Roman"/>
              </a:rPr>
              <a:t>1	</a:t>
            </a:r>
            <a:r>
              <a:rPr sz="1500" spc="75" dirty="0">
                <a:latin typeface="宋体"/>
                <a:cs typeface="宋体"/>
              </a:rPr>
              <a:t>最高优先</a:t>
            </a:r>
            <a:r>
              <a:rPr sz="1500" spc="10" dirty="0">
                <a:latin typeface="宋体"/>
                <a:cs typeface="宋体"/>
              </a:rPr>
              <a:t>级	</a:t>
            </a:r>
            <a:r>
              <a:rPr sz="1500" dirty="0">
                <a:latin typeface="Times New Roman"/>
                <a:cs typeface="Times New Roman"/>
              </a:rPr>
              <a:t>. </a:t>
            </a:r>
            <a:r>
              <a:rPr sz="1500" spc="10" dirty="0">
                <a:latin typeface="宋体"/>
                <a:cs typeface="宋体"/>
              </a:rPr>
              <a:t>［</a:t>
            </a:r>
            <a:r>
              <a:rPr sz="1500" spc="-325" dirty="0">
                <a:latin typeface="宋体"/>
                <a:cs typeface="宋体"/>
              </a:rPr>
              <a:t> </a:t>
            </a:r>
            <a:r>
              <a:rPr sz="1500" spc="40" dirty="0">
                <a:latin typeface="宋体"/>
                <a:cs typeface="宋体"/>
              </a:rPr>
              <a:t>］</a:t>
            </a:r>
            <a:r>
              <a:rPr sz="1500" spc="40" dirty="0">
                <a:latin typeface="Times New Roman"/>
                <a:cs typeface="Times New Roman"/>
              </a:rPr>
              <a:t>( </a:t>
            </a:r>
            <a:r>
              <a:rPr sz="150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01674" y="1059484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01674" y="598854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01674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473643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1674" y="1365389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01674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85048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31577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75880" y="105948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904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473643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01674" y="1671294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85048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931577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75880" y="1365389"/>
            <a:ext cx="0" cy="4623435"/>
          </a:xfrm>
          <a:custGeom>
            <a:avLst/>
            <a:gdLst/>
            <a:ahLst/>
            <a:cxnLst/>
            <a:rect l="l" t="t" r="r" b="b"/>
            <a:pathLst>
              <a:path h="4623435">
                <a:moveTo>
                  <a:pt x="0" y="0"/>
                </a:moveTo>
                <a:lnTo>
                  <a:pt x="0" y="4623155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01674" y="220728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1674" y="259166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01674" y="2897568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01674" y="320347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01674" y="3509378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01674" y="3815283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01674" y="415311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01674" y="445902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01674" y="476492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01674" y="507083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01674" y="5376735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01674" y="5682640"/>
            <a:ext cx="7572375" cy="0"/>
          </a:xfrm>
          <a:custGeom>
            <a:avLst/>
            <a:gdLst/>
            <a:ahLst/>
            <a:cxnLst/>
            <a:rect l="l" t="t" r="r" b="b"/>
            <a:pathLst>
              <a:path w="7572375">
                <a:moveTo>
                  <a:pt x="0" y="0"/>
                </a:moveTo>
                <a:lnTo>
                  <a:pt x="7571968" y="0"/>
                </a:lnTo>
              </a:path>
            </a:pathLst>
          </a:custGeom>
          <a:ln w="8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62050" y="1676400"/>
            <a:ext cx="114300" cy="4876800"/>
          </a:xfrm>
          <a:custGeom>
            <a:avLst/>
            <a:gdLst/>
            <a:ahLst/>
            <a:cxnLst/>
            <a:rect l="l" t="t" r="r" b="b"/>
            <a:pathLst>
              <a:path w="114300" h="4876800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4876800">
                <a:moveTo>
                  <a:pt x="76200" y="4876800"/>
                </a:moveTo>
                <a:lnTo>
                  <a:pt x="38100" y="4876800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4876800"/>
                </a:lnTo>
                <a:close/>
              </a:path>
              <a:path w="114300" h="4876800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342072" y="1786254"/>
            <a:ext cx="254000" cy="2540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1800" dirty="0">
                <a:solidFill>
                  <a:srgbClr val="ED7A07"/>
                </a:solidFill>
                <a:latin typeface="微软雅黑"/>
                <a:cs typeface="微软雅黑"/>
              </a:rPr>
              <a:t>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82" name="object 82"/>
          <p:cNvSpPr txBox="1"/>
          <p:nvPr/>
        </p:nvSpPr>
        <p:spPr>
          <a:xfrm>
            <a:off x="1432560" y="5977254"/>
            <a:ext cx="254000" cy="2540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1800" dirty="0">
                <a:solidFill>
                  <a:srgbClr val="ED7A07"/>
                </a:solidFill>
                <a:latin typeface="微软雅黑"/>
                <a:cs typeface="微软雅黑"/>
              </a:rPr>
              <a:t>低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33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2.3.6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运算符的优先级与结合</a:t>
            </a:r>
            <a:r>
              <a:rPr sz="2800" b="1" spc="-20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6890" y="1645285"/>
            <a:ext cx="8002905" cy="2612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3080" y="1641475"/>
            <a:ext cx="8010525" cy="2620010"/>
          </a:xfrm>
          <a:custGeom>
            <a:avLst/>
            <a:gdLst/>
            <a:ahLst/>
            <a:cxnLst/>
            <a:rect l="l" t="t" r="r" b="b"/>
            <a:pathLst>
              <a:path w="8010525" h="2620010">
                <a:moveTo>
                  <a:pt x="8010525" y="2620010"/>
                </a:moveTo>
                <a:lnTo>
                  <a:pt x="0" y="2620010"/>
                </a:lnTo>
                <a:lnTo>
                  <a:pt x="0" y="0"/>
                </a:lnTo>
                <a:lnTo>
                  <a:pt x="8010525" y="0"/>
                </a:lnTo>
                <a:lnTo>
                  <a:pt x="8010525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612389"/>
                </a:lnTo>
                <a:lnTo>
                  <a:pt x="3810" y="2612390"/>
                </a:lnTo>
                <a:lnTo>
                  <a:pt x="7620" y="2616200"/>
                </a:lnTo>
                <a:lnTo>
                  <a:pt x="8010525" y="2616200"/>
                </a:lnTo>
                <a:lnTo>
                  <a:pt x="8010525" y="2620010"/>
                </a:lnTo>
                <a:close/>
              </a:path>
              <a:path w="8010525" h="262001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8010525" h="2620010">
                <a:moveTo>
                  <a:pt x="8002905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8002905" y="3810"/>
                </a:lnTo>
                <a:lnTo>
                  <a:pt x="8002905" y="7619"/>
                </a:lnTo>
                <a:close/>
              </a:path>
              <a:path w="8010525" h="2620010">
                <a:moveTo>
                  <a:pt x="8002905" y="2616200"/>
                </a:moveTo>
                <a:lnTo>
                  <a:pt x="8002905" y="3810"/>
                </a:lnTo>
                <a:lnTo>
                  <a:pt x="8006715" y="7619"/>
                </a:lnTo>
                <a:lnTo>
                  <a:pt x="8010525" y="7619"/>
                </a:lnTo>
                <a:lnTo>
                  <a:pt x="8010525" y="2612390"/>
                </a:lnTo>
                <a:lnTo>
                  <a:pt x="8006715" y="2612390"/>
                </a:lnTo>
                <a:lnTo>
                  <a:pt x="8002905" y="2616200"/>
                </a:lnTo>
                <a:close/>
              </a:path>
              <a:path w="8010525" h="2620010">
                <a:moveTo>
                  <a:pt x="8010525" y="7619"/>
                </a:moveTo>
                <a:lnTo>
                  <a:pt x="8006715" y="7619"/>
                </a:lnTo>
                <a:lnTo>
                  <a:pt x="8002905" y="3810"/>
                </a:lnTo>
                <a:lnTo>
                  <a:pt x="8010525" y="3810"/>
                </a:lnTo>
                <a:lnTo>
                  <a:pt x="8010525" y="7619"/>
                </a:lnTo>
                <a:close/>
              </a:path>
              <a:path w="8010525" h="2620010">
                <a:moveTo>
                  <a:pt x="7620" y="2616200"/>
                </a:moveTo>
                <a:lnTo>
                  <a:pt x="3810" y="2612390"/>
                </a:lnTo>
                <a:lnTo>
                  <a:pt x="7620" y="2612390"/>
                </a:lnTo>
                <a:lnTo>
                  <a:pt x="7620" y="2616200"/>
                </a:lnTo>
                <a:close/>
              </a:path>
              <a:path w="8010525" h="2620010">
                <a:moveTo>
                  <a:pt x="8002905" y="2616200"/>
                </a:moveTo>
                <a:lnTo>
                  <a:pt x="7620" y="2616200"/>
                </a:lnTo>
                <a:lnTo>
                  <a:pt x="7620" y="2612390"/>
                </a:lnTo>
                <a:lnTo>
                  <a:pt x="8002905" y="2612390"/>
                </a:lnTo>
                <a:lnTo>
                  <a:pt x="8002905" y="2616200"/>
                </a:lnTo>
                <a:close/>
              </a:path>
              <a:path w="8010525" h="2620010">
                <a:moveTo>
                  <a:pt x="8010525" y="2616200"/>
                </a:moveTo>
                <a:lnTo>
                  <a:pt x="8002905" y="2616200"/>
                </a:lnTo>
                <a:lnTo>
                  <a:pt x="8006715" y="2612390"/>
                </a:lnTo>
                <a:lnTo>
                  <a:pt x="8010525" y="2612390"/>
                </a:lnTo>
                <a:lnTo>
                  <a:pt x="8010525" y="26162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5630" y="1570227"/>
            <a:ext cx="7848600" cy="17976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例</a:t>
            </a:r>
            <a:r>
              <a:rPr sz="2800" spc="-5" dirty="0">
                <a:latin typeface="宋体"/>
                <a:cs typeface="宋体"/>
              </a:rPr>
              <a:t>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020"/>
              </a:lnSpc>
              <a:spcBef>
                <a:spcPts val="795"/>
              </a:spcBef>
            </a:pPr>
            <a:r>
              <a:rPr sz="2800" spc="-5" dirty="0">
                <a:latin typeface="宋体"/>
                <a:cs typeface="宋体"/>
              </a:rPr>
              <a:t>x &gt; y &amp;&amp; ! z</a:t>
            </a:r>
            <a:r>
              <a:rPr sz="2800" spc="-3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相 当 于 </a:t>
            </a:r>
            <a:r>
              <a:rPr sz="2800" spc="-5" dirty="0">
                <a:latin typeface="宋体"/>
                <a:cs typeface="宋体"/>
              </a:rPr>
              <a:t>( x &gt; y ) &amp;&amp; ( ! z )  x + y + z</a:t>
            </a:r>
            <a:r>
              <a:rPr sz="2800" spc="136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等 价 于 </a:t>
            </a:r>
            <a:r>
              <a:rPr sz="2800" spc="-5" dirty="0">
                <a:latin typeface="宋体"/>
                <a:cs typeface="宋体"/>
              </a:rPr>
              <a:t>( x + y ) + z 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ts val="3350"/>
              </a:lnSpc>
            </a:pPr>
            <a:r>
              <a:rPr sz="2800" spc="-5" dirty="0">
                <a:latin typeface="宋体"/>
                <a:cs typeface="宋体"/>
              </a:rPr>
              <a:t>  ! !x</a:t>
            </a:r>
            <a:r>
              <a:rPr sz="2800" spc="135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等 价 于 </a:t>
            </a:r>
            <a:r>
              <a:rPr sz="2800" spc="-5" dirty="0">
                <a:latin typeface="宋体"/>
                <a:cs typeface="宋体"/>
              </a:rPr>
              <a:t>!( ! x )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323975" y="4587240"/>
            <a:ext cx="368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微软雅黑"/>
                <a:cs typeface="微软雅黑"/>
              </a:rPr>
              <a:t>不用死记，用好小括号即可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784161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当表达式中出现了多种类型数据的混合运算时</a:t>
            </a:r>
            <a:r>
              <a:rPr sz="2800" spc="-5" dirty="0">
                <a:latin typeface="宋体"/>
                <a:cs typeface="宋体"/>
              </a:rPr>
              <a:t>,需 </a:t>
            </a:r>
            <a:r>
              <a:rPr sz="2800" dirty="0">
                <a:latin typeface="宋体"/>
                <a:cs typeface="宋体"/>
              </a:rPr>
              <a:t>要进行类型转换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7814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2.4</a:t>
            </a:r>
            <a:r>
              <a:rPr sz="2800" b="1" spc="135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表达式的类型转</a:t>
            </a:r>
            <a:r>
              <a:rPr sz="2800" b="1" spc="-20" dirty="0">
                <a:latin typeface="宋体"/>
                <a:cs typeface="宋体"/>
              </a:rPr>
              <a:t>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041" y="4281728"/>
            <a:ext cx="50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b</a:t>
            </a:r>
            <a:r>
              <a:rPr sz="1800" spc="5" dirty="0">
                <a:latin typeface="微软雅黑"/>
                <a:cs typeface="微软雅黑"/>
              </a:rPr>
              <a:t>y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321" y="3615664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sho</a:t>
            </a:r>
            <a:r>
              <a:rPr sz="1800" spc="50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t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7702" y="3615664"/>
            <a:ext cx="313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int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4232" y="3615664"/>
            <a:ext cx="519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long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969" y="2990595"/>
            <a:ext cx="3816362" cy="1866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96897" y="2967583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char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4832" y="4551768"/>
            <a:ext cx="2199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685" algn="l"/>
              </a:tabLst>
            </a:pPr>
            <a:r>
              <a:rPr sz="1800" dirty="0">
                <a:latin typeface="微软雅黑"/>
                <a:cs typeface="微软雅黑"/>
              </a:rPr>
              <a:t>fl</a:t>
            </a:r>
            <a:r>
              <a:rPr sz="1800" spc="-30" dirty="0">
                <a:latin typeface="微软雅黑"/>
                <a:cs typeface="微软雅黑"/>
              </a:rPr>
              <a:t>o</a:t>
            </a:r>
            <a:r>
              <a:rPr sz="1800" dirty="0">
                <a:latin typeface="微软雅黑"/>
                <a:cs typeface="微软雅黑"/>
              </a:rPr>
              <a:t>at	</a:t>
            </a:r>
            <a:r>
              <a:rPr sz="1800" spc="-5" dirty="0">
                <a:latin typeface="微软雅黑"/>
                <a:cs typeface="微软雅黑"/>
              </a:rPr>
              <a:t>d</a:t>
            </a:r>
            <a:r>
              <a:rPr sz="1800" dirty="0">
                <a:latin typeface="微软雅黑"/>
                <a:cs typeface="微软雅黑"/>
              </a:rPr>
              <a:t>ouble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04053" y="3560953"/>
            <a:ext cx="432434" cy="257175"/>
          </a:xfrm>
          <a:custGeom>
            <a:avLst/>
            <a:gdLst/>
            <a:ahLst/>
            <a:cxnLst/>
            <a:rect l="l" t="t" r="r" b="b"/>
            <a:pathLst>
              <a:path w="432435" h="257175">
                <a:moveTo>
                  <a:pt x="318621" y="128555"/>
                </a:moveTo>
                <a:lnTo>
                  <a:pt x="189484" y="53225"/>
                </a:lnTo>
                <a:lnTo>
                  <a:pt x="175336" y="29768"/>
                </a:lnTo>
                <a:lnTo>
                  <a:pt x="175450" y="25704"/>
                </a:lnTo>
                <a:lnTo>
                  <a:pt x="202653" y="0"/>
                </a:lnTo>
                <a:lnTo>
                  <a:pt x="206730" y="114"/>
                </a:lnTo>
                <a:lnTo>
                  <a:pt x="210743" y="800"/>
                </a:lnTo>
                <a:lnTo>
                  <a:pt x="214617" y="2057"/>
                </a:lnTo>
                <a:lnTo>
                  <a:pt x="218274" y="3860"/>
                </a:lnTo>
                <a:lnTo>
                  <a:pt x="383057" y="99987"/>
                </a:lnTo>
                <a:lnTo>
                  <a:pt x="375335" y="99987"/>
                </a:lnTo>
                <a:lnTo>
                  <a:pt x="375335" y="103873"/>
                </a:lnTo>
                <a:lnTo>
                  <a:pt x="360934" y="103873"/>
                </a:lnTo>
                <a:lnTo>
                  <a:pt x="318621" y="128555"/>
                </a:lnTo>
                <a:close/>
              </a:path>
              <a:path w="432435" h="257175">
                <a:moveTo>
                  <a:pt x="269624" y="157137"/>
                </a:moveTo>
                <a:lnTo>
                  <a:pt x="0" y="157137"/>
                </a:lnTo>
                <a:lnTo>
                  <a:pt x="0" y="99987"/>
                </a:lnTo>
                <a:lnTo>
                  <a:pt x="269646" y="99987"/>
                </a:lnTo>
                <a:lnTo>
                  <a:pt x="318621" y="128555"/>
                </a:lnTo>
                <a:lnTo>
                  <a:pt x="269624" y="157137"/>
                </a:lnTo>
                <a:close/>
              </a:path>
              <a:path w="432435" h="257175">
                <a:moveTo>
                  <a:pt x="383052" y="157137"/>
                </a:moveTo>
                <a:lnTo>
                  <a:pt x="375335" y="157137"/>
                </a:lnTo>
                <a:lnTo>
                  <a:pt x="375335" y="99987"/>
                </a:lnTo>
                <a:lnTo>
                  <a:pt x="383057" y="99987"/>
                </a:lnTo>
                <a:lnTo>
                  <a:pt x="432041" y="128562"/>
                </a:lnTo>
                <a:lnTo>
                  <a:pt x="383052" y="157137"/>
                </a:lnTo>
                <a:close/>
              </a:path>
              <a:path w="432435" h="257175">
                <a:moveTo>
                  <a:pt x="360934" y="153238"/>
                </a:moveTo>
                <a:lnTo>
                  <a:pt x="318621" y="128555"/>
                </a:lnTo>
                <a:lnTo>
                  <a:pt x="360934" y="103873"/>
                </a:lnTo>
                <a:lnTo>
                  <a:pt x="360934" y="153238"/>
                </a:lnTo>
                <a:close/>
              </a:path>
              <a:path w="432435" h="257175">
                <a:moveTo>
                  <a:pt x="375335" y="153238"/>
                </a:moveTo>
                <a:lnTo>
                  <a:pt x="360934" y="153238"/>
                </a:lnTo>
                <a:lnTo>
                  <a:pt x="360934" y="103873"/>
                </a:lnTo>
                <a:lnTo>
                  <a:pt x="375335" y="103873"/>
                </a:lnTo>
                <a:lnTo>
                  <a:pt x="375335" y="153238"/>
                </a:lnTo>
                <a:close/>
              </a:path>
              <a:path w="432435" h="257175">
                <a:moveTo>
                  <a:pt x="202653" y="257111"/>
                </a:moveTo>
                <a:lnTo>
                  <a:pt x="175336" y="227342"/>
                </a:lnTo>
                <a:lnTo>
                  <a:pt x="175793" y="223291"/>
                </a:lnTo>
                <a:lnTo>
                  <a:pt x="318632" y="128562"/>
                </a:lnTo>
                <a:lnTo>
                  <a:pt x="360934" y="153238"/>
                </a:lnTo>
                <a:lnTo>
                  <a:pt x="375335" y="153238"/>
                </a:lnTo>
                <a:lnTo>
                  <a:pt x="375335" y="157137"/>
                </a:lnTo>
                <a:lnTo>
                  <a:pt x="383052" y="157137"/>
                </a:lnTo>
                <a:lnTo>
                  <a:pt x="218274" y="253250"/>
                </a:lnTo>
                <a:lnTo>
                  <a:pt x="214617" y="255054"/>
                </a:lnTo>
                <a:lnTo>
                  <a:pt x="210743" y="256311"/>
                </a:lnTo>
                <a:lnTo>
                  <a:pt x="206730" y="256997"/>
                </a:lnTo>
                <a:lnTo>
                  <a:pt x="202653" y="25711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04053" y="4141215"/>
            <a:ext cx="432434" cy="171450"/>
          </a:xfrm>
          <a:custGeom>
            <a:avLst/>
            <a:gdLst/>
            <a:ahLst/>
            <a:cxnLst/>
            <a:rect l="l" t="t" r="r" b="b"/>
            <a:pathLst>
              <a:path w="432435" h="171450">
                <a:moveTo>
                  <a:pt x="356416" y="85725"/>
                </a:moveTo>
                <a:lnTo>
                  <a:pt x="270332" y="35509"/>
                </a:lnTo>
                <a:lnTo>
                  <a:pt x="260883" y="18961"/>
                </a:lnTo>
                <a:lnTo>
                  <a:pt x="261188" y="15659"/>
                </a:lnTo>
                <a:lnTo>
                  <a:pt x="280022" y="0"/>
                </a:lnTo>
                <a:lnTo>
                  <a:pt x="283324" y="304"/>
                </a:lnTo>
                <a:lnTo>
                  <a:pt x="286524" y="1181"/>
                </a:lnTo>
                <a:lnTo>
                  <a:pt x="289534" y="2590"/>
                </a:lnTo>
                <a:lnTo>
                  <a:pt x="399386" y="66675"/>
                </a:lnTo>
                <a:lnTo>
                  <a:pt x="394233" y="66675"/>
                </a:lnTo>
                <a:lnTo>
                  <a:pt x="394233" y="69265"/>
                </a:lnTo>
                <a:lnTo>
                  <a:pt x="384632" y="69265"/>
                </a:lnTo>
                <a:lnTo>
                  <a:pt x="356416" y="85725"/>
                </a:lnTo>
                <a:close/>
              </a:path>
              <a:path w="432435" h="171450">
                <a:moveTo>
                  <a:pt x="323759" y="104775"/>
                </a:moveTo>
                <a:lnTo>
                  <a:pt x="0" y="104775"/>
                </a:lnTo>
                <a:lnTo>
                  <a:pt x="0" y="66675"/>
                </a:lnTo>
                <a:lnTo>
                  <a:pt x="323759" y="66675"/>
                </a:lnTo>
                <a:lnTo>
                  <a:pt x="356416" y="85725"/>
                </a:lnTo>
                <a:lnTo>
                  <a:pt x="323759" y="104775"/>
                </a:lnTo>
                <a:close/>
              </a:path>
              <a:path w="432435" h="171450">
                <a:moveTo>
                  <a:pt x="399386" y="104775"/>
                </a:moveTo>
                <a:lnTo>
                  <a:pt x="394233" y="104775"/>
                </a:lnTo>
                <a:lnTo>
                  <a:pt x="394233" y="66675"/>
                </a:lnTo>
                <a:lnTo>
                  <a:pt x="399386" y="66675"/>
                </a:lnTo>
                <a:lnTo>
                  <a:pt x="432041" y="85725"/>
                </a:lnTo>
                <a:lnTo>
                  <a:pt x="399386" y="104775"/>
                </a:lnTo>
                <a:close/>
              </a:path>
              <a:path w="432435" h="171450">
                <a:moveTo>
                  <a:pt x="384632" y="102184"/>
                </a:moveTo>
                <a:lnTo>
                  <a:pt x="356416" y="85725"/>
                </a:lnTo>
                <a:lnTo>
                  <a:pt x="384632" y="69265"/>
                </a:lnTo>
                <a:lnTo>
                  <a:pt x="384632" y="102184"/>
                </a:lnTo>
                <a:close/>
              </a:path>
              <a:path w="432435" h="171450">
                <a:moveTo>
                  <a:pt x="394233" y="102184"/>
                </a:moveTo>
                <a:lnTo>
                  <a:pt x="384632" y="102184"/>
                </a:lnTo>
                <a:lnTo>
                  <a:pt x="384632" y="69265"/>
                </a:lnTo>
                <a:lnTo>
                  <a:pt x="394233" y="69265"/>
                </a:lnTo>
                <a:lnTo>
                  <a:pt x="394233" y="102184"/>
                </a:lnTo>
                <a:close/>
              </a:path>
              <a:path w="432435" h="171450">
                <a:moveTo>
                  <a:pt x="280022" y="171450"/>
                </a:moveTo>
                <a:lnTo>
                  <a:pt x="260883" y="152488"/>
                </a:lnTo>
                <a:lnTo>
                  <a:pt x="261162" y="149174"/>
                </a:lnTo>
                <a:lnTo>
                  <a:pt x="356416" y="85725"/>
                </a:lnTo>
                <a:lnTo>
                  <a:pt x="384632" y="102184"/>
                </a:lnTo>
                <a:lnTo>
                  <a:pt x="394233" y="102184"/>
                </a:lnTo>
                <a:lnTo>
                  <a:pt x="394233" y="104775"/>
                </a:lnTo>
                <a:lnTo>
                  <a:pt x="399386" y="104775"/>
                </a:lnTo>
                <a:lnTo>
                  <a:pt x="289534" y="168859"/>
                </a:lnTo>
                <a:lnTo>
                  <a:pt x="286524" y="170268"/>
                </a:lnTo>
                <a:lnTo>
                  <a:pt x="283324" y="171145"/>
                </a:lnTo>
                <a:lnTo>
                  <a:pt x="280022" y="171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8428" y="3000755"/>
            <a:ext cx="3364991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5341" y="2996984"/>
            <a:ext cx="3371215" cy="375920"/>
          </a:xfrm>
          <a:custGeom>
            <a:avLst/>
            <a:gdLst/>
            <a:ahLst/>
            <a:cxnLst/>
            <a:rect l="l" t="t" r="r" b="b"/>
            <a:pathLst>
              <a:path w="3371215" h="375920">
                <a:moveTo>
                  <a:pt x="3371215" y="375920"/>
                </a:moveTo>
                <a:lnTo>
                  <a:pt x="0" y="375920"/>
                </a:lnTo>
                <a:lnTo>
                  <a:pt x="0" y="0"/>
                </a:lnTo>
                <a:lnTo>
                  <a:pt x="3371215" y="0"/>
                </a:lnTo>
                <a:lnTo>
                  <a:pt x="3371215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8300"/>
                </a:lnTo>
                <a:lnTo>
                  <a:pt x="3810" y="368300"/>
                </a:lnTo>
                <a:lnTo>
                  <a:pt x="7620" y="372110"/>
                </a:lnTo>
                <a:lnTo>
                  <a:pt x="3371215" y="372110"/>
                </a:lnTo>
                <a:lnTo>
                  <a:pt x="3371215" y="375920"/>
                </a:lnTo>
                <a:close/>
              </a:path>
              <a:path w="3371215" h="37592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3371215" h="375920">
                <a:moveTo>
                  <a:pt x="3363594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3363594" y="3809"/>
                </a:lnTo>
                <a:lnTo>
                  <a:pt x="3363594" y="7619"/>
                </a:lnTo>
                <a:close/>
              </a:path>
              <a:path w="3371215" h="375920">
                <a:moveTo>
                  <a:pt x="3363594" y="372110"/>
                </a:moveTo>
                <a:lnTo>
                  <a:pt x="3363594" y="3809"/>
                </a:lnTo>
                <a:lnTo>
                  <a:pt x="3367405" y="7619"/>
                </a:lnTo>
                <a:lnTo>
                  <a:pt x="3371215" y="7619"/>
                </a:lnTo>
                <a:lnTo>
                  <a:pt x="3371215" y="368300"/>
                </a:lnTo>
                <a:lnTo>
                  <a:pt x="3367405" y="368300"/>
                </a:lnTo>
                <a:lnTo>
                  <a:pt x="3363594" y="372110"/>
                </a:lnTo>
                <a:close/>
              </a:path>
              <a:path w="3371215" h="375920">
                <a:moveTo>
                  <a:pt x="3371215" y="7619"/>
                </a:moveTo>
                <a:lnTo>
                  <a:pt x="3367405" y="7619"/>
                </a:lnTo>
                <a:lnTo>
                  <a:pt x="3363594" y="3809"/>
                </a:lnTo>
                <a:lnTo>
                  <a:pt x="3371215" y="3809"/>
                </a:lnTo>
                <a:lnTo>
                  <a:pt x="3371215" y="7619"/>
                </a:lnTo>
                <a:close/>
              </a:path>
              <a:path w="3371215" h="375920">
                <a:moveTo>
                  <a:pt x="7620" y="372110"/>
                </a:moveTo>
                <a:lnTo>
                  <a:pt x="3810" y="368300"/>
                </a:lnTo>
                <a:lnTo>
                  <a:pt x="7620" y="368300"/>
                </a:lnTo>
                <a:lnTo>
                  <a:pt x="7620" y="372110"/>
                </a:lnTo>
                <a:close/>
              </a:path>
              <a:path w="3371215" h="375920">
                <a:moveTo>
                  <a:pt x="3363594" y="372110"/>
                </a:moveTo>
                <a:lnTo>
                  <a:pt x="7620" y="372110"/>
                </a:lnTo>
                <a:lnTo>
                  <a:pt x="7620" y="368300"/>
                </a:lnTo>
                <a:lnTo>
                  <a:pt x="3363594" y="368300"/>
                </a:lnTo>
                <a:lnTo>
                  <a:pt x="3363594" y="372110"/>
                </a:lnTo>
                <a:close/>
              </a:path>
              <a:path w="3371215" h="375920">
                <a:moveTo>
                  <a:pt x="3371215" y="372110"/>
                </a:moveTo>
                <a:lnTo>
                  <a:pt x="3363594" y="372110"/>
                </a:lnTo>
                <a:lnTo>
                  <a:pt x="3367405" y="368300"/>
                </a:lnTo>
                <a:lnTo>
                  <a:pt x="3371215" y="368300"/>
                </a:lnTo>
                <a:lnTo>
                  <a:pt x="3371215" y="372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48428" y="3028721"/>
            <a:ext cx="336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boolean</a:t>
            </a: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型数据不参与混合运算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04053" y="4630356"/>
            <a:ext cx="432434" cy="171450"/>
          </a:xfrm>
          <a:custGeom>
            <a:avLst/>
            <a:gdLst/>
            <a:ahLst/>
            <a:cxnLst/>
            <a:rect l="l" t="t" r="r" b="b"/>
            <a:pathLst>
              <a:path w="432435" h="171450">
                <a:moveTo>
                  <a:pt x="356427" y="85718"/>
                </a:moveTo>
                <a:lnTo>
                  <a:pt x="270332" y="35496"/>
                </a:lnTo>
                <a:lnTo>
                  <a:pt x="260883" y="18961"/>
                </a:lnTo>
                <a:lnTo>
                  <a:pt x="261188" y="15659"/>
                </a:lnTo>
                <a:lnTo>
                  <a:pt x="280022" y="0"/>
                </a:lnTo>
                <a:lnTo>
                  <a:pt x="283324" y="304"/>
                </a:lnTo>
                <a:lnTo>
                  <a:pt x="286524" y="1168"/>
                </a:lnTo>
                <a:lnTo>
                  <a:pt x="289534" y="2590"/>
                </a:lnTo>
                <a:lnTo>
                  <a:pt x="399386" y="66675"/>
                </a:lnTo>
                <a:lnTo>
                  <a:pt x="394233" y="66675"/>
                </a:lnTo>
                <a:lnTo>
                  <a:pt x="394233" y="69265"/>
                </a:lnTo>
                <a:lnTo>
                  <a:pt x="384632" y="69265"/>
                </a:lnTo>
                <a:lnTo>
                  <a:pt x="356427" y="85718"/>
                </a:lnTo>
                <a:close/>
              </a:path>
              <a:path w="432435" h="171450">
                <a:moveTo>
                  <a:pt x="266700" y="104775"/>
                </a:moveTo>
                <a:lnTo>
                  <a:pt x="152400" y="104775"/>
                </a:lnTo>
                <a:lnTo>
                  <a:pt x="152400" y="66675"/>
                </a:lnTo>
                <a:lnTo>
                  <a:pt x="266700" y="66675"/>
                </a:lnTo>
                <a:lnTo>
                  <a:pt x="266700" y="104775"/>
                </a:lnTo>
                <a:close/>
              </a:path>
              <a:path w="432435" h="171450">
                <a:moveTo>
                  <a:pt x="323759" y="104775"/>
                </a:moveTo>
                <a:lnTo>
                  <a:pt x="304800" y="104775"/>
                </a:lnTo>
                <a:lnTo>
                  <a:pt x="304800" y="66675"/>
                </a:lnTo>
                <a:lnTo>
                  <a:pt x="323781" y="66675"/>
                </a:lnTo>
                <a:lnTo>
                  <a:pt x="356427" y="85718"/>
                </a:lnTo>
                <a:lnTo>
                  <a:pt x="323759" y="104775"/>
                </a:lnTo>
                <a:close/>
              </a:path>
              <a:path w="432435" h="171450">
                <a:moveTo>
                  <a:pt x="399381" y="104775"/>
                </a:moveTo>
                <a:lnTo>
                  <a:pt x="394233" y="104775"/>
                </a:lnTo>
                <a:lnTo>
                  <a:pt x="394233" y="66675"/>
                </a:lnTo>
                <a:lnTo>
                  <a:pt x="399386" y="66675"/>
                </a:lnTo>
                <a:lnTo>
                  <a:pt x="432041" y="85725"/>
                </a:lnTo>
                <a:lnTo>
                  <a:pt x="399381" y="104775"/>
                </a:lnTo>
                <a:close/>
              </a:path>
              <a:path w="432435" h="171450">
                <a:moveTo>
                  <a:pt x="384632" y="102171"/>
                </a:moveTo>
                <a:lnTo>
                  <a:pt x="356427" y="85718"/>
                </a:lnTo>
                <a:lnTo>
                  <a:pt x="384632" y="69265"/>
                </a:lnTo>
                <a:lnTo>
                  <a:pt x="384632" y="102171"/>
                </a:lnTo>
                <a:close/>
              </a:path>
              <a:path w="432435" h="171450">
                <a:moveTo>
                  <a:pt x="394233" y="102171"/>
                </a:moveTo>
                <a:lnTo>
                  <a:pt x="384632" y="102171"/>
                </a:lnTo>
                <a:lnTo>
                  <a:pt x="384632" y="69265"/>
                </a:lnTo>
                <a:lnTo>
                  <a:pt x="394233" y="69265"/>
                </a:lnTo>
                <a:lnTo>
                  <a:pt x="394233" y="102171"/>
                </a:lnTo>
                <a:close/>
              </a:path>
              <a:path w="432435" h="171450">
                <a:moveTo>
                  <a:pt x="280022" y="171450"/>
                </a:moveTo>
                <a:lnTo>
                  <a:pt x="260883" y="152476"/>
                </a:lnTo>
                <a:lnTo>
                  <a:pt x="261162" y="149174"/>
                </a:lnTo>
                <a:lnTo>
                  <a:pt x="356438" y="85725"/>
                </a:lnTo>
                <a:lnTo>
                  <a:pt x="384632" y="102171"/>
                </a:lnTo>
                <a:lnTo>
                  <a:pt x="394233" y="102171"/>
                </a:lnTo>
                <a:lnTo>
                  <a:pt x="394233" y="104775"/>
                </a:lnTo>
                <a:lnTo>
                  <a:pt x="399381" y="104775"/>
                </a:lnTo>
                <a:lnTo>
                  <a:pt x="289534" y="168846"/>
                </a:lnTo>
                <a:lnTo>
                  <a:pt x="286524" y="170268"/>
                </a:lnTo>
                <a:lnTo>
                  <a:pt x="283324" y="171145"/>
                </a:lnTo>
                <a:lnTo>
                  <a:pt x="280022" y="171450"/>
                </a:lnTo>
                <a:close/>
              </a:path>
              <a:path w="432435" h="171450">
                <a:moveTo>
                  <a:pt x="114300" y="104775"/>
                </a:moveTo>
                <a:lnTo>
                  <a:pt x="0" y="104775"/>
                </a:lnTo>
                <a:lnTo>
                  <a:pt x="0" y="66675"/>
                </a:lnTo>
                <a:lnTo>
                  <a:pt x="114300" y="66675"/>
                </a:lnTo>
                <a:lnTo>
                  <a:pt x="114300" y="1047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87149" y="3573436"/>
            <a:ext cx="2796540" cy="1264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只要计算，必须进行的转换</a:t>
            </a:r>
            <a:endParaRPr sz="1800">
              <a:latin typeface="微软雅黑"/>
              <a:cs typeface="微软雅黑"/>
            </a:endParaRPr>
          </a:p>
          <a:p>
            <a:pPr marL="12700" marR="477520" indent="11430">
              <a:lnSpc>
                <a:spcPts val="3950"/>
              </a:lnSpc>
              <a:spcBef>
                <a:spcPts val="125"/>
              </a:spcBef>
            </a:pPr>
            <a:r>
              <a:rPr sz="1800" dirty="0">
                <a:latin typeface="微软雅黑"/>
                <a:cs typeface="微软雅黑"/>
              </a:rPr>
              <a:t>混合计算时发生的转换 转换时发生损失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1027430" y="5159375"/>
            <a:ext cx="427736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从小类型可以自动转换为较大类型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130"/>
              </a:lnSpc>
            </a:pP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表达式值结果的类型=表达式中最大的类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型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9979" y="393852"/>
            <a:ext cx="4612246" cy="332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3072" y="1109980"/>
          <a:ext cx="8077199" cy="4897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6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7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数据类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关键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字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宋体"/>
                          <a:cs typeface="宋体"/>
                        </a:rPr>
                        <a:t>占用位</a:t>
                      </a:r>
                      <a:r>
                        <a:rPr sz="1800" b="1" spc="-10" dirty="0">
                          <a:solidFill>
                            <a:srgbClr val="967A2C"/>
                          </a:solidFill>
                          <a:latin typeface="宋体"/>
                          <a:cs typeface="宋体"/>
                        </a:rPr>
                        <a:t>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取值范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围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布尔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boolean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8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true, false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字符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char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16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‘</a:t>
                      </a:r>
                      <a:r>
                        <a:rPr sz="1800" b="1" spc="-5" dirty="0">
                          <a:latin typeface="宋体"/>
                          <a:cs typeface="宋体"/>
                        </a:rPr>
                        <a:t>＼</a:t>
                      </a:r>
                      <a:r>
                        <a:rPr sz="1800" b="1" spc="-5" dirty="0">
                          <a:latin typeface="Book Antiqua"/>
                          <a:cs typeface="Book Antiqua"/>
                        </a:rPr>
                        <a:t>u 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0000’</a:t>
                      </a:r>
                      <a:r>
                        <a:rPr sz="1800" b="1" spc="-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～</a:t>
                      </a:r>
                      <a:r>
                        <a:rPr sz="1800" b="1" spc="-45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‘</a:t>
                      </a:r>
                      <a:r>
                        <a:rPr sz="1800" b="1" spc="-45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800" b="1" dirty="0">
                          <a:latin typeface="宋体"/>
                          <a:cs typeface="宋体"/>
                        </a:rPr>
                        <a:t>＼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u</a:t>
                      </a:r>
                      <a:r>
                        <a:rPr sz="1800" b="1" spc="-5" dirty="0">
                          <a:latin typeface="Book Antiqua"/>
                          <a:cs typeface="Book Antiqua"/>
                        </a:rPr>
                        <a:t> FFFF′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 ’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字节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byte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8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-128</a:t>
                      </a:r>
                      <a:r>
                        <a:rPr sz="1800" b="1" dirty="0">
                          <a:latin typeface="宋体"/>
                          <a:cs typeface="宋体"/>
                        </a:rPr>
                        <a:t>～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127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短整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short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16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-32768</a:t>
                      </a:r>
                      <a:r>
                        <a:rPr sz="1800" b="1" dirty="0">
                          <a:latin typeface="宋体"/>
                          <a:cs typeface="宋体"/>
                        </a:rPr>
                        <a:t>～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32767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整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int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32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-2147483648 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～</a:t>
                      </a:r>
                      <a:r>
                        <a:rPr sz="1800" b="1" spc="-46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2147483647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长整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long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64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dirty="0">
                          <a:latin typeface="Book Antiqua"/>
                          <a:cs typeface="Book Antiqua"/>
                        </a:rPr>
                        <a:t>-2</a:t>
                      </a:r>
                      <a:r>
                        <a:rPr sz="1725" b="1" baseline="21739" dirty="0">
                          <a:latin typeface="Book Antiqua"/>
                          <a:cs typeface="Book Antiqua"/>
                        </a:rPr>
                        <a:t>-63</a:t>
                      </a:r>
                      <a:r>
                        <a:rPr sz="1800" b="1" dirty="0">
                          <a:latin typeface="宋体"/>
                          <a:cs typeface="宋体"/>
                        </a:rPr>
                        <a:t>～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2</a:t>
                      </a:r>
                      <a:r>
                        <a:rPr sz="1725" b="1" baseline="21739" dirty="0">
                          <a:latin typeface="Book Antiqua"/>
                          <a:cs typeface="Book Antiqua"/>
                        </a:rPr>
                        <a:t>63</a:t>
                      </a:r>
                      <a:r>
                        <a:rPr sz="1800" b="1" dirty="0">
                          <a:latin typeface="Book Antiqua"/>
                          <a:cs typeface="Book Antiqua"/>
                        </a:rPr>
                        <a:t>-1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浮点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0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float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32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1.40129846432481707e-45</a:t>
                      </a:r>
                      <a:r>
                        <a:rPr sz="1800" b="1" spc="-5" dirty="0">
                          <a:latin typeface="宋体"/>
                          <a:cs typeface="宋体"/>
                        </a:rPr>
                        <a:t>～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3.40282346638528860e+38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双精度</a:t>
                      </a:r>
                      <a:r>
                        <a:rPr sz="1800" b="1" spc="-10" dirty="0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70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double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dirty="0">
                          <a:solidFill>
                            <a:srgbClr val="967A2C"/>
                          </a:solidFill>
                          <a:latin typeface="Book Antiqua"/>
                          <a:cs typeface="Book Antiqua"/>
                        </a:rPr>
                        <a:t>64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4.94065645841246544e-324</a:t>
                      </a:r>
                      <a:r>
                        <a:rPr sz="1800" b="1" spc="-5" dirty="0">
                          <a:latin typeface="宋体"/>
                          <a:cs typeface="宋体"/>
                        </a:rPr>
                        <a:t>～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Book Antiqua"/>
                          <a:cs typeface="Book Antiqua"/>
                        </a:rPr>
                        <a:t>1.79769313486231570e+308d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52133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2.4.1</a:t>
            </a:r>
            <a:r>
              <a:rPr sz="2800" b="1" spc="136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数据类型自动转换的规</a:t>
            </a:r>
            <a:r>
              <a:rPr sz="2800" b="1" spc="-20" dirty="0">
                <a:latin typeface="宋体"/>
                <a:cs typeface="宋体"/>
              </a:rPr>
              <a:t>则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04" y="2348483"/>
            <a:ext cx="8016240" cy="304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1840" y="2345054"/>
            <a:ext cx="8024495" cy="3053715"/>
          </a:xfrm>
          <a:custGeom>
            <a:avLst/>
            <a:gdLst/>
            <a:ahLst/>
            <a:cxnLst/>
            <a:rect l="l" t="t" r="r" b="b"/>
            <a:pathLst>
              <a:path w="8024495" h="3053715">
                <a:moveTo>
                  <a:pt x="8024494" y="3053715"/>
                </a:moveTo>
                <a:lnTo>
                  <a:pt x="0" y="3053715"/>
                </a:lnTo>
                <a:lnTo>
                  <a:pt x="0" y="0"/>
                </a:lnTo>
                <a:lnTo>
                  <a:pt x="8024494" y="0"/>
                </a:lnTo>
                <a:lnTo>
                  <a:pt x="8024494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046095"/>
                </a:lnTo>
                <a:lnTo>
                  <a:pt x="3809" y="3046095"/>
                </a:lnTo>
                <a:lnTo>
                  <a:pt x="7619" y="3049905"/>
                </a:lnTo>
                <a:lnTo>
                  <a:pt x="8024494" y="3049905"/>
                </a:lnTo>
                <a:lnTo>
                  <a:pt x="8024494" y="3053715"/>
                </a:lnTo>
                <a:close/>
              </a:path>
              <a:path w="8024495" h="305371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8024495" h="3053715">
                <a:moveTo>
                  <a:pt x="801687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8016875" y="3810"/>
                </a:lnTo>
                <a:lnTo>
                  <a:pt x="8016875" y="7620"/>
                </a:lnTo>
                <a:close/>
              </a:path>
              <a:path w="8024495" h="3053715">
                <a:moveTo>
                  <a:pt x="8016875" y="3049905"/>
                </a:moveTo>
                <a:lnTo>
                  <a:pt x="8016875" y="3810"/>
                </a:lnTo>
                <a:lnTo>
                  <a:pt x="8020684" y="7620"/>
                </a:lnTo>
                <a:lnTo>
                  <a:pt x="8024494" y="7620"/>
                </a:lnTo>
                <a:lnTo>
                  <a:pt x="8024494" y="3046095"/>
                </a:lnTo>
                <a:lnTo>
                  <a:pt x="8020684" y="3046095"/>
                </a:lnTo>
                <a:lnTo>
                  <a:pt x="8016875" y="3049905"/>
                </a:lnTo>
                <a:close/>
              </a:path>
              <a:path w="8024495" h="3053715">
                <a:moveTo>
                  <a:pt x="8024494" y="7620"/>
                </a:moveTo>
                <a:lnTo>
                  <a:pt x="8020684" y="7620"/>
                </a:lnTo>
                <a:lnTo>
                  <a:pt x="8016875" y="3810"/>
                </a:lnTo>
                <a:lnTo>
                  <a:pt x="8024494" y="3810"/>
                </a:lnTo>
                <a:lnTo>
                  <a:pt x="8024494" y="7620"/>
                </a:lnTo>
                <a:close/>
              </a:path>
              <a:path w="8024495" h="3053715">
                <a:moveTo>
                  <a:pt x="7619" y="3049905"/>
                </a:moveTo>
                <a:lnTo>
                  <a:pt x="3809" y="3046095"/>
                </a:lnTo>
                <a:lnTo>
                  <a:pt x="7619" y="3046095"/>
                </a:lnTo>
                <a:lnTo>
                  <a:pt x="7619" y="3049905"/>
                </a:lnTo>
                <a:close/>
              </a:path>
              <a:path w="8024495" h="3053715">
                <a:moveTo>
                  <a:pt x="8016875" y="3049905"/>
                </a:moveTo>
                <a:lnTo>
                  <a:pt x="7619" y="3049905"/>
                </a:lnTo>
                <a:lnTo>
                  <a:pt x="7619" y="3046095"/>
                </a:lnTo>
                <a:lnTo>
                  <a:pt x="8016875" y="3046095"/>
                </a:lnTo>
                <a:lnTo>
                  <a:pt x="8016875" y="3049905"/>
                </a:lnTo>
                <a:close/>
              </a:path>
              <a:path w="8024495" h="3053715">
                <a:moveTo>
                  <a:pt x="8024494" y="3049905"/>
                </a:moveTo>
                <a:lnTo>
                  <a:pt x="8016875" y="3049905"/>
                </a:lnTo>
                <a:lnTo>
                  <a:pt x="8020684" y="3046095"/>
                </a:lnTo>
                <a:lnTo>
                  <a:pt x="8024494" y="3046095"/>
                </a:lnTo>
                <a:lnTo>
                  <a:pt x="8024494" y="304990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1459230"/>
            <a:ext cx="8693785" cy="385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2-6</a:t>
            </a:r>
            <a:r>
              <a:rPr sz="2800" dirty="0">
                <a:latin typeface="宋体"/>
                <a:cs typeface="宋体"/>
              </a:rPr>
              <a:t>】分析下面的赋值出错的原因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宋体"/>
              <a:cs typeface="宋体"/>
            </a:endParaRPr>
          </a:p>
          <a:p>
            <a:pPr marL="1682750" marR="3181985" indent="-914400">
              <a:lnSpc>
                <a:spcPct val="100699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public static void main(String[] </a:t>
            </a:r>
            <a:r>
              <a:rPr sz="2400" spc="-10" dirty="0">
                <a:latin typeface="Times New Roman"/>
                <a:cs typeface="Times New Roman"/>
              </a:rPr>
              <a:t>args) </a:t>
            </a:r>
            <a:r>
              <a:rPr sz="2400" dirty="0">
                <a:latin typeface="Times New Roman"/>
                <a:cs typeface="Times New Roman"/>
              </a:rPr>
              <a:t>{  </a:t>
            </a:r>
            <a:r>
              <a:rPr sz="2400" spc="-5" dirty="0">
                <a:latin typeface="Times New Roman"/>
                <a:cs typeface="Times New Roman"/>
              </a:rPr>
              <a:t>int </a:t>
            </a: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1.2345;</a:t>
            </a:r>
          </a:p>
          <a:p>
            <a:pPr>
              <a:lnSpc>
                <a:spcPct val="100000"/>
              </a:lnSpc>
            </a:pPr>
            <a:endParaRPr sz="2500" dirty="0">
              <a:latin typeface="Times New Roman"/>
              <a:cs typeface="Times New Roman"/>
            </a:endParaRPr>
          </a:p>
          <a:p>
            <a:pPr marL="1682750">
              <a:lnSpc>
                <a:spcPts val="2855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byte </a:t>
            </a:r>
            <a:r>
              <a:rPr sz="2400" dirty="0">
                <a:latin typeface="Times New Roman"/>
                <a:cs typeface="Times New Roman"/>
              </a:rPr>
              <a:t>b 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1;</a:t>
            </a:r>
          </a:p>
          <a:p>
            <a:pPr marL="1682750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b+1;//</a:t>
            </a:r>
            <a:r>
              <a:rPr sz="2000" spc="-5" dirty="0">
                <a:latin typeface="Times New Roman"/>
                <a:cs typeface="Times New Roman"/>
              </a:rPr>
              <a:t>byte</a:t>
            </a:r>
            <a:r>
              <a:rPr sz="2000" dirty="0">
                <a:latin typeface="微软雅黑"/>
                <a:cs typeface="微软雅黑"/>
              </a:rPr>
              <a:t>运算时先转换为</a:t>
            </a:r>
            <a:r>
              <a:rPr sz="2000" spc="-5" dirty="0">
                <a:latin typeface="Times New Roman"/>
                <a:cs typeface="Times New Roman"/>
              </a:rPr>
              <a:t>int</a:t>
            </a:r>
            <a:r>
              <a:rPr sz="2000" dirty="0">
                <a:latin typeface="微软雅黑"/>
                <a:cs typeface="微软雅黑"/>
              </a:rPr>
              <a:t>类型</a:t>
            </a:r>
            <a:r>
              <a:rPr sz="2000" spc="-5" dirty="0">
                <a:latin typeface="微软雅黑"/>
                <a:cs typeface="微软雅黑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int</a:t>
            </a:r>
            <a:r>
              <a:rPr sz="2000" dirty="0">
                <a:latin typeface="微软雅黑"/>
                <a:cs typeface="微软雅黑"/>
              </a:rPr>
              <a:t>无法赋给</a:t>
            </a:r>
            <a:r>
              <a:rPr sz="2000" spc="-5" dirty="0">
                <a:latin typeface="Times New Roman"/>
                <a:cs typeface="Times New Roman"/>
              </a:rPr>
              <a:t>byte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682750">
              <a:lnSpc>
                <a:spcPts val="287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float </a:t>
            </a: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1.5;</a:t>
            </a:r>
          </a:p>
          <a:p>
            <a:pPr marL="768350">
              <a:lnSpc>
                <a:spcPts val="287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019415" cy="26549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从较长的数据类型转换成较短的数据类型时，必</a:t>
            </a:r>
            <a:r>
              <a:rPr sz="2800" spc="-5" dirty="0">
                <a:latin typeface="宋体"/>
                <a:cs typeface="宋体"/>
              </a:rPr>
              <a:t>须 </a:t>
            </a:r>
            <a:r>
              <a:rPr sz="2800" dirty="0">
                <a:latin typeface="宋体"/>
                <a:cs typeface="宋体"/>
              </a:rPr>
              <a:t>做强制类型转换。</a:t>
            </a:r>
            <a:r>
              <a:rPr sz="2800" spc="-5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即将表达式的类型强制性地</a:t>
            </a:r>
            <a:r>
              <a:rPr sz="2800" spc="-5" dirty="0">
                <a:latin typeface="宋体"/>
                <a:cs typeface="宋体"/>
              </a:rPr>
              <a:t>转 </a:t>
            </a:r>
            <a:r>
              <a:rPr sz="2800" dirty="0">
                <a:latin typeface="宋体"/>
                <a:cs typeface="宋体"/>
              </a:rPr>
              <a:t>换成某一数据类型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2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强制类型转换的格</a:t>
            </a:r>
            <a:r>
              <a:rPr sz="2800" spc="-5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  </a:t>
            </a: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（数据类型）表达式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4258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2.4.2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强制类型转</a:t>
            </a:r>
            <a:r>
              <a:rPr sz="2800" b="1" spc="-20" dirty="0">
                <a:latin typeface="宋体"/>
                <a:cs typeface="宋体"/>
              </a:rPr>
              <a:t>换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3574415" cy="174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算法的基本控制结</a:t>
            </a:r>
            <a:r>
              <a:rPr sz="2800" spc="-5" dirty="0"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solidFill>
                  <a:srgbClr val="070707"/>
                </a:solidFill>
                <a:latin typeface="宋体"/>
                <a:cs typeface="宋体"/>
              </a:rPr>
              <a:t>顺序结</a:t>
            </a:r>
            <a:r>
              <a:rPr sz="2800" spc="-5" dirty="0">
                <a:solidFill>
                  <a:srgbClr val="070707"/>
                </a:solidFill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solidFill>
                  <a:srgbClr val="070707"/>
                </a:solidFill>
                <a:latin typeface="宋体"/>
                <a:cs typeface="宋体"/>
              </a:rPr>
              <a:t>选择结</a:t>
            </a:r>
            <a:r>
              <a:rPr sz="2800" spc="-5" dirty="0">
                <a:solidFill>
                  <a:srgbClr val="070707"/>
                </a:solidFill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solidFill>
                  <a:srgbClr val="070707"/>
                </a:solidFill>
                <a:latin typeface="宋体"/>
                <a:cs typeface="宋体"/>
              </a:rPr>
              <a:t>循环结</a:t>
            </a:r>
            <a:r>
              <a:rPr sz="2800" spc="-5" dirty="0">
                <a:solidFill>
                  <a:srgbClr val="070707"/>
                </a:solidFill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1717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</a:t>
            </a:r>
            <a:r>
              <a:rPr sz="2800" b="1" spc="-7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流程控</a:t>
            </a:r>
            <a:r>
              <a:rPr sz="2800" b="1" spc="-20" dirty="0">
                <a:latin typeface="宋体"/>
                <a:cs typeface="宋体"/>
              </a:rPr>
              <a:t>制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185150" cy="2128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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与算法的基本控制结构相关的</a:t>
            </a: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SzPct val="96428"/>
              <a:buFont typeface="Wingdings"/>
              <a:buChar char="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分支语句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if-else,</a:t>
            </a:r>
            <a:r>
              <a:rPr sz="2800" spc="-1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switch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SzPct val="96428"/>
              <a:buFont typeface="Wingdings"/>
              <a:buChar char="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循环语句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while,</a:t>
            </a:r>
            <a:r>
              <a:rPr sz="2800" spc="-10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do-while, for</a:t>
            </a:r>
            <a:endParaRPr sz="2800">
              <a:latin typeface="宋体"/>
              <a:cs typeface="宋体"/>
            </a:endParaRPr>
          </a:p>
          <a:p>
            <a:pPr marL="527050" marR="5080" lvl="1" indent="-171450">
              <a:lnSpc>
                <a:spcPts val="3020"/>
              </a:lnSpc>
              <a:spcBef>
                <a:spcPts val="420"/>
              </a:spcBef>
              <a:buSzPct val="96428"/>
              <a:buFont typeface="Wingdings"/>
              <a:buChar char="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与程序转移有关的其它语句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break,</a:t>
            </a:r>
            <a:r>
              <a:rPr sz="2800" spc="-35" dirty="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continue,  return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1717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</a:t>
            </a:r>
            <a:r>
              <a:rPr sz="2800" b="1" spc="-7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流程控</a:t>
            </a:r>
            <a:r>
              <a:rPr sz="2800" b="1" spc="-20" dirty="0">
                <a:latin typeface="宋体"/>
                <a:cs typeface="宋体"/>
              </a:rPr>
              <a:t>制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3552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2.5.1</a:t>
            </a:r>
            <a:r>
              <a:rPr sz="2800" b="1" spc="133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if语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459230"/>
            <a:ext cx="6781800" cy="452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(1)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if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)  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dirty="0">
                <a:solidFill>
                  <a:srgbClr val="CC3300"/>
                </a:solidFill>
                <a:latin typeface="宋体"/>
                <a:cs typeface="宋体"/>
              </a:rPr>
              <a:t>例 </a:t>
            </a: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：if ( x &lt;= 0)</a:t>
            </a:r>
            <a:r>
              <a:rPr sz="2800" spc="-20" dirty="0">
                <a:solidFill>
                  <a:srgbClr val="CC33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x = -x ; </a:t>
            </a:r>
            <a:endParaRPr sz="2800">
              <a:latin typeface="宋体"/>
              <a:cs typeface="宋体"/>
            </a:endParaRPr>
          </a:p>
          <a:p>
            <a:pPr marL="355600" marR="5080" indent="-342900">
              <a:lnSpc>
                <a:spcPct val="101000"/>
              </a:lnSpc>
              <a:spcBef>
                <a:spcPts val="375"/>
              </a:spcBef>
            </a:pPr>
            <a:r>
              <a:rPr sz="2800" spc="-5" dirty="0">
                <a:latin typeface="宋体"/>
                <a:cs typeface="宋体"/>
              </a:rPr>
              <a:t>(2)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if</a:t>
            </a:r>
            <a:r>
              <a:rPr sz="2800" spc="138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137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语句</a:t>
            </a:r>
            <a:r>
              <a:rPr sz="2800" spc="-5" dirty="0">
                <a:latin typeface="宋体"/>
                <a:cs typeface="宋体"/>
              </a:rPr>
              <a:t>1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else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语句</a:t>
            </a:r>
            <a:r>
              <a:rPr sz="2800" spc="-5" dirty="0">
                <a:latin typeface="宋体"/>
                <a:cs typeface="宋体"/>
              </a:rPr>
              <a:t>2  </a:t>
            </a:r>
            <a:r>
              <a:rPr sz="2800" dirty="0">
                <a:solidFill>
                  <a:srgbClr val="CC3300"/>
                </a:solidFill>
                <a:latin typeface="宋体"/>
                <a:cs typeface="宋体"/>
              </a:rPr>
              <a:t>例 </a:t>
            </a: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：if (x&gt;y)</a:t>
            </a:r>
            <a:r>
              <a:rPr sz="2800" spc="-15" dirty="0">
                <a:solidFill>
                  <a:srgbClr val="CC33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z=x;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        else</a:t>
            </a:r>
            <a:r>
              <a:rPr sz="2800" spc="1385" dirty="0">
                <a:solidFill>
                  <a:srgbClr val="CC3300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CC3300"/>
                </a:solidFill>
                <a:latin typeface="宋体"/>
                <a:cs typeface="宋体"/>
              </a:rPr>
              <a:t>z=y;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(3)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if</a:t>
            </a:r>
            <a:r>
              <a:rPr sz="2800" spc="138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1)  </a:t>
            </a:r>
            <a:r>
              <a:rPr sz="2800" dirty="0">
                <a:latin typeface="宋体"/>
                <a:cs typeface="宋体"/>
              </a:rPr>
              <a:t>语句</a:t>
            </a:r>
            <a:r>
              <a:rPr sz="2800" spc="-5" dirty="0">
                <a:latin typeface="宋体"/>
                <a:cs typeface="宋体"/>
              </a:rPr>
              <a:t>1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else</a:t>
            </a:r>
            <a:r>
              <a:rPr sz="2800" spc="136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if</a:t>
            </a:r>
            <a:r>
              <a:rPr sz="2800" spc="137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2)</a:t>
            </a:r>
            <a:r>
              <a:rPr sz="2800" spc="137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语句</a:t>
            </a:r>
            <a:r>
              <a:rPr sz="2800" spc="-5" dirty="0">
                <a:latin typeface="宋体"/>
                <a:cs typeface="宋体"/>
              </a:rPr>
              <a:t>2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19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else</a:t>
            </a:r>
            <a:r>
              <a:rPr sz="2800" spc="1365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if</a:t>
            </a:r>
            <a:r>
              <a:rPr sz="2800" spc="137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(</a:t>
            </a:r>
            <a:r>
              <a:rPr sz="2800" dirty="0">
                <a:latin typeface="宋体"/>
                <a:cs typeface="宋体"/>
              </a:rPr>
              <a:t>表达式</a:t>
            </a:r>
            <a:r>
              <a:rPr sz="2800" spc="-5" dirty="0">
                <a:latin typeface="宋体"/>
                <a:cs typeface="宋体"/>
              </a:rPr>
              <a:t>3)</a:t>
            </a:r>
            <a:r>
              <a:rPr sz="2800" spc="137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语句</a:t>
            </a:r>
            <a:r>
              <a:rPr sz="2800" spc="-5" dirty="0">
                <a:latin typeface="宋体"/>
                <a:cs typeface="宋体"/>
              </a:rPr>
              <a:t>3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ts val="3190"/>
              </a:lnSpc>
            </a:pPr>
            <a:r>
              <a:rPr sz="2800" spc="-5" dirty="0">
                <a:latin typeface="宋体"/>
                <a:cs typeface="宋体"/>
              </a:rPr>
              <a:t>           …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宋体"/>
                <a:cs typeface="宋体"/>
              </a:rPr>
              <a:t>     else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 句 </a:t>
            </a:r>
            <a:r>
              <a:rPr sz="2800" spc="-5" dirty="0">
                <a:latin typeface="宋体"/>
                <a:cs typeface="宋体"/>
              </a:rPr>
              <a:t>n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1455"/>
            <a:ext cx="8229600" cy="2889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477644"/>
            <a:ext cx="8233409" cy="2896870"/>
          </a:xfrm>
          <a:custGeom>
            <a:avLst/>
            <a:gdLst/>
            <a:ahLst/>
            <a:cxnLst/>
            <a:rect l="l" t="t" r="r" b="b"/>
            <a:pathLst>
              <a:path w="8233409" h="2896870">
                <a:moveTo>
                  <a:pt x="0" y="7619"/>
                </a:moveTo>
                <a:lnTo>
                  <a:pt x="0" y="0"/>
                </a:lnTo>
                <a:lnTo>
                  <a:pt x="8233409" y="0"/>
                </a:lnTo>
                <a:lnTo>
                  <a:pt x="8233409" y="3809"/>
                </a:lnTo>
                <a:lnTo>
                  <a:pt x="3810" y="3809"/>
                </a:lnTo>
                <a:lnTo>
                  <a:pt x="0" y="7619"/>
                </a:lnTo>
                <a:close/>
              </a:path>
              <a:path w="8233409" h="2896870">
                <a:moveTo>
                  <a:pt x="3810" y="2893059"/>
                </a:moveTo>
                <a:lnTo>
                  <a:pt x="0" y="2889250"/>
                </a:lnTo>
                <a:lnTo>
                  <a:pt x="0" y="7619"/>
                </a:lnTo>
                <a:lnTo>
                  <a:pt x="3810" y="3809"/>
                </a:lnTo>
                <a:lnTo>
                  <a:pt x="3810" y="2893059"/>
                </a:lnTo>
                <a:close/>
              </a:path>
              <a:path w="8233409" h="2896870">
                <a:moveTo>
                  <a:pt x="8225790" y="7619"/>
                </a:moveTo>
                <a:lnTo>
                  <a:pt x="3810" y="7619"/>
                </a:lnTo>
                <a:lnTo>
                  <a:pt x="3810" y="3809"/>
                </a:lnTo>
                <a:lnTo>
                  <a:pt x="8225790" y="3809"/>
                </a:lnTo>
                <a:lnTo>
                  <a:pt x="8225790" y="7619"/>
                </a:lnTo>
                <a:close/>
              </a:path>
              <a:path w="8233409" h="2896870">
                <a:moveTo>
                  <a:pt x="8225790" y="2893059"/>
                </a:moveTo>
                <a:lnTo>
                  <a:pt x="8225790" y="3809"/>
                </a:lnTo>
                <a:lnTo>
                  <a:pt x="8229600" y="7619"/>
                </a:lnTo>
                <a:lnTo>
                  <a:pt x="8233409" y="7619"/>
                </a:lnTo>
                <a:lnTo>
                  <a:pt x="8233409" y="2889249"/>
                </a:lnTo>
                <a:lnTo>
                  <a:pt x="8229600" y="2889250"/>
                </a:lnTo>
                <a:lnTo>
                  <a:pt x="8225790" y="2893059"/>
                </a:lnTo>
                <a:close/>
              </a:path>
              <a:path w="8233409" h="2896870">
                <a:moveTo>
                  <a:pt x="8233409" y="7619"/>
                </a:moveTo>
                <a:lnTo>
                  <a:pt x="8229600" y="7619"/>
                </a:lnTo>
                <a:lnTo>
                  <a:pt x="8225790" y="3809"/>
                </a:lnTo>
                <a:lnTo>
                  <a:pt x="8233409" y="3809"/>
                </a:lnTo>
                <a:lnTo>
                  <a:pt x="8233409" y="7619"/>
                </a:lnTo>
                <a:close/>
              </a:path>
              <a:path w="8233409" h="2896870">
                <a:moveTo>
                  <a:pt x="8233409" y="2896869"/>
                </a:moveTo>
                <a:lnTo>
                  <a:pt x="0" y="2896869"/>
                </a:lnTo>
                <a:lnTo>
                  <a:pt x="0" y="2889250"/>
                </a:lnTo>
                <a:lnTo>
                  <a:pt x="3810" y="2893059"/>
                </a:lnTo>
                <a:lnTo>
                  <a:pt x="8233409" y="2893059"/>
                </a:lnTo>
                <a:lnTo>
                  <a:pt x="8233409" y="2896869"/>
                </a:lnTo>
                <a:close/>
              </a:path>
              <a:path w="8233409" h="2896870">
                <a:moveTo>
                  <a:pt x="8225790" y="2893059"/>
                </a:moveTo>
                <a:lnTo>
                  <a:pt x="3810" y="2893059"/>
                </a:lnTo>
                <a:lnTo>
                  <a:pt x="3810" y="2889250"/>
                </a:lnTo>
                <a:lnTo>
                  <a:pt x="8225790" y="2889250"/>
                </a:lnTo>
                <a:lnTo>
                  <a:pt x="8225790" y="2893059"/>
                </a:lnTo>
                <a:close/>
              </a:path>
              <a:path w="8233409" h="2896870">
                <a:moveTo>
                  <a:pt x="8233409" y="2893059"/>
                </a:moveTo>
                <a:lnTo>
                  <a:pt x="8225790" y="2893059"/>
                </a:lnTo>
                <a:lnTo>
                  <a:pt x="8229600" y="2889250"/>
                </a:lnTo>
                <a:lnTo>
                  <a:pt x="8233409" y="2889249"/>
                </a:lnTo>
                <a:lnTo>
                  <a:pt x="8233409" y="289305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286383"/>
            <a:ext cx="7848600" cy="301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>
              <a:lnSpc>
                <a:spcPct val="140300"/>
              </a:lnSpc>
              <a:spcBef>
                <a:spcPts val="100"/>
              </a:spcBef>
            </a:pPr>
            <a:r>
              <a:rPr sz="2800" spc="-5" dirty="0">
                <a:latin typeface="宋体"/>
                <a:cs typeface="宋体"/>
              </a:rPr>
              <a:t>if(year%4==0 &amp;&amp; year%100!=0 || year%400==0){  System.out.println(year+"</a:t>
            </a:r>
            <a:r>
              <a:rPr sz="2800" dirty="0">
                <a:latin typeface="宋体"/>
                <a:cs typeface="宋体"/>
              </a:rPr>
              <a:t>是闰年</a:t>
            </a:r>
            <a:r>
              <a:rPr sz="2800" spc="-5" dirty="0">
                <a:latin typeface="宋体"/>
                <a:cs typeface="宋体"/>
              </a:rPr>
              <a:t>");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800" spc="-5" dirty="0">
                <a:latin typeface="宋体"/>
                <a:cs typeface="宋体"/>
              </a:rPr>
              <a:t>}else{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355"/>
              </a:spcBef>
            </a:pPr>
            <a:r>
              <a:rPr sz="2800" spc="-5" dirty="0">
                <a:latin typeface="宋体"/>
                <a:cs typeface="宋体"/>
              </a:rPr>
              <a:t>System.out.println(year+"</a:t>
            </a:r>
            <a:r>
              <a:rPr sz="2800" dirty="0">
                <a:latin typeface="宋体"/>
                <a:cs typeface="宋体"/>
              </a:rPr>
              <a:t>不是闰年</a:t>
            </a:r>
            <a:r>
              <a:rPr sz="2800" spc="-5" dirty="0">
                <a:latin typeface="宋体"/>
                <a:cs typeface="宋体"/>
              </a:rPr>
              <a:t>");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800" spc="-5" dirty="0"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4132" y="439572"/>
            <a:ext cx="1592580" cy="248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27324" y="393852"/>
            <a:ext cx="670166" cy="3308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59230"/>
            <a:ext cx="802576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7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2-7</a:t>
            </a:r>
            <a:r>
              <a:rPr sz="2800" dirty="0">
                <a:latin typeface="宋体"/>
                <a:cs typeface="宋体"/>
              </a:rPr>
              <a:t>】根据输入的运算符（</a:t>
            </a:r>
            <a:r>
              <a:rPr sz="2800" spc="-5" dirty="0">
                <a:latin typeface="宋体"/>
                <a:cs typeface="宋体"/>
              </a:rPr>
              <a:t>+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5" dirty="0">
                <a:latin typeface="宋体"/>
                <a:cs typeface="宋体"/>
              </a:rPr>
              <a:t>*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5" dirty="0">
                <a:latin typeface="宋体"/>
                <a:cs typeface="宋体"/>
              </a:rPr>
              <a:t>/</a:t>
            </a:r>
            <a:r>
              <a:rPr sz="2800" dirty="0">
                <a:latin typeface="宋体"/>
                <a:cs typeface="宋体"/>
              </a:rPr>
              <a:t>）组织</a:t>
            </a:r>
            <a:r>
              <a:rPr sz="2800" spc="-5" dirty="0">
                <a:latin typeface="宋体"/>
                <a:cs typeface="宋体"/>
              </a:rPr>
              <a:t>运 </a:t>
            </a:r>
            <a:r>
              <a:rPr sz="2800" dirty="0">
                <a:latin typeface="宋体"/>
                <a:cs typeface="宋体"/>
              </a:rPr>
              <a:t>算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9572"/>
            <a:ext cx="1592580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27324" y="393852"/>
            <a:ext cx="67016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75" y="1382903"/>
            <a:ext cx="3426460" cy="102996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一般形</a:t>
            </a:r>
            <a:r>
              <a:rPr sz="2800" b="1" spc="-20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595"/>
              </a:spcBef>
            </a:pPr>
            <a:r>
              <a:rPr sz="2800" b="1" dirty="0">
                <a:latin typeface="宋体"/>
                <a:cs typeface="宋体"/>
              </a:rPr>
              <a:t>switch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(表达式</a:t>
            </a:r>
            <a:r>
              <a:rPr sz="2800" b="1" spc="-15" dirty="0"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3222"/>
            <a:ext cx="2310130" cy="254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46144" y="393852"/>
            <a:ext cx="67016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07561" y="2463800"/>
            <a:ext cx="1830070" cy="1427480"/>
          </a:xfrm>
          <a:custGeom>
            <a:avLst/>
            <a:gdLst/>
            <a:ahLst/>
            <a:cxnLst/>
            <a:rect l="l" t="t" r="r" b="b"/>
            <a:pathLst>
              <a:path w="1830070" h="1427479">
                <a:moveTo>
                  <a:pt x="1829625" y="1427162"/>
                </a:moveTo>
                <a:lnTo>
                  <a:pt x="0" y="1427162"/>
                </a:lnTo>
                <a:lnTo>
                  <a:pt x="0" y="0"/>
                </a:lnTo>
                <a:lnTo>
                  <a:pt x="1829625" y="0"/>
                </a:lnTo>
                <a:lnTo>
                  <a:pt x="1829625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1370012"/>
                </a:lnTo>
                <a:lnTo>
                  <a:pt x="28575" y="1370012"/>
                </a:lnTo>
                <a:lnTo>
                  <a:pt x="57150" y="1398587"/>
                </a:lnTo>
                <a:lnTo>
                  <a:pt x="1829625" y="1398587"/>
                </a:lnTo>
                <a:lnTo>
                  <a:pt x="1829625" y="1427162"/>
                </a:lnTo>
                <a:close/>
              </a:path>
              <a:path w="1830070" h="1427479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830070" h="1427479">
                <a:moveTo>
                  <a:pt x="1772475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772475" y="28575"/>
                </a:lnTo>
                <a:lnTo>
                  <a:pt x="1772475" y="57150"/>
                </a:lnTo>
                <a:close/>
              </a:path>
              <a:path w="1830070" h="1427479">
                <a:moveTo>
                  <a:pt x="1772475" y="1398587"/>
                </a:moveTo>
                <a:lnTo>
                  <a:pt x="1772475" y="28575"/>
                </a:lnTo>
                <a:lnTo>
                  <a:pt x="1801050" y="57150"/>
                </a:lnTo>
                <a:lnTo>
                  <a:pt x="1829625" y="57150"/>
                </a:lnTo>
                <a:lnTo>
                  <a:pt x="1829625" y="1370012"/>
                </a:lnTo>
                <a:lnTo>
                  <a:pt x="1801050" y="1370012"/>
                </a:lnTo>
                <a:lnTo>
                  <a:pt x="1772475" y="1398587"/>
                </a:lnTo>
                <a:close/>
              </a:path>
              <a:path w="1830070" h="1427479">
                <a:moveTo>
                  <a:pt x="1829625" y="57150"/>
                </a:moveTo>
                <a:lnTo>
                  <a:pt x="1801050" y="57150"/>
                </a:lnTo>
                <a:lnTo>
                  <a:pt x="1772475" y="28575"/>
                </a:lnTo>
                <a:lnTo>
                  <a:pt x="1829625" y="28575"/>
                </a:lnTo>
                <a:lnTo>
                  <a:pt x="1829625" y="57150"/>
                </a:lnTo>
                <a:close/>
              </a:path>
              <a:path w="1830070" h="1427479">
                <a:moveTo>
                  <a:pt x="57150" y="1398587"/>
                </a:moveTo>
                <a:lnTo>
                  <a:pt x="28575" y="1370012"/>
                </a:lnTo>
                <a:lnTo>
                  <a:pt x="57150" y="1370012"/>
                </a:lnTo>
                <a:lnTo>
                  <a:pt x="57150" y="1398587"/>
                </a:lnTo>
                <a:close/>
              </a:path>
              <a:path w="1830070" h="1427479">
                <a:moveTo>
                  <a:pt x="1772475" y="1398587"/>
                </a:moveTo>
                <a:lnTo>
                  <a:pt x="57150" y="1398587"/>
                </a:lnTo>
                <a:lnTo>
                  <a:pt x="57150" y="1370012"/>
                </a:lnTo>
                <a:lnTo>
                  <a:pt x="1772475" y="1370012"/>
                </a:lnTo>
                <a:lnTo>
                  <a:pt x="1772475" y="1398587"/>
                </a:lnTo>
                <a:close/>
              </a:path>
              <a:path w="1830070" h="1427479">
                <a:moveTo>
                  <a:pt x="1829625" y="1398587"/>
                </a:moveTo>
                <a:lnTo>
                  <a:pt x="1772475" y="1398587"/>
                </a:lnTo>
                <a:lnTo>
                  <a:pt x="1801050" y="1370012"/>
                </a:lnTo>
                <a:lnTo>
                  <a:pt x="1829625" y="1370012"/>
                </a:lnTo>
                <a:lnTo>
                  <a:pt x="1829625" y="1398587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2287" y="2407285"/>
            <a:ext cx="7924800" cy="360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   {</a:t>
            </a:r>
            <a:r>
              <a:rPr sz="2800" b="1" spc="139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case  </a:t>
            </a:r>
            <a:r>
              <a:rPr sz="2800" b="1" spc="139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常量表达式</a:t>
            </a:r>
            <a:r>
              <a:rPr sz="2800" b="1" spc="-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1：</a:t>
            </a:r>
            <a:r>
              <a:rPr sz="2800" b="1" spc="-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语句</a:t>
            </a:r>
            <a:r>
              <a:rPr sz="2800" b="1" spc="-15" dirty="0">
                <a:latin typeface="宋体"/>
                <a:cs typeface="宋体"/>
              </a:rPr>
              <a:t>1</a:t>
            </a:r>
            <a:endParaRPr sz="2800">
              <a:latin typeface="宋体"/>
              <a:cs typeface="宋体"/>
            </a:endParaRPr>
          </a:p>
          <a:p>
            <a:pPr marL="102870">
              <a:lnSpc>
                <a:spcPct val="100000"/>
              </a:lnSpc>
              <a:spcBef>
                <a:spcPts val="35"/>
              </a:spcBef>
            </a:pPr>
            <a:r>
              <a:rPr sz="2800" b="1" dirty="0">
                <a:latin typeface="宋体"/>
                <a:cs typeface="宋体"/>
              </a:rPr>
              <a:t>       case </a:t>
            </a:r>
            <a:r>
              <a:rPr sz="2800" b="1" spc="138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常量表达式</a:t>
            </a:r>
            <a:r>
              <a:rPr sz="2800" b="1" spc="-1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2：</a:t>
            </a:r>
            <a:r>
              <a:rPr sz="2800" b="1" spc="-1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语句</a:t>
            </a:r>
            <a:r>
              <a:rPr sz="2800" b="1" spc="-15" dirty="0">
                <a:latin typeface="宋体"/>
                <a:cs typeface="宋体"/>
              </a:rPr>
              <a:t>2</a:t>
            </a:r>
            <a:endParaRPr sz="2800">
              <a:latin typeface="宋体"/>
              <a:cs typeface="宋体"/>
            </a:endParaRPr>
          </a:p>
          <a:p>
            <a:pPr marL="102870">
              <a:lnSpc>
                <a:spcPct val="100000"/>
              </a:lnSpc>
              <a:spcBef>
                <a:spcPts val="35"/>
              </a:spcBef>
            </a:pPr>
            <a:r>
              <a:rPr sz="2800" b="1" dirty="0">
                <a:latin typeface="宋体"/>
                <a:cs typeface="宋体"/>
              </a:rPr>
              <a:t>                  </a:t>
            </a:r>
            <a:r>
              <a:rPr sz="2800" b="1" spc="-20" dirty="0">
                <a:latin typeface="宋体"/>
                <a:cs typeface="宋体"/>
              </a:rPr>
              <a:t>┆</a:t>
            </a:r>
            <a:endParaRPr sz="2800">
              <a:latin typeface="宋体"/>
              <a:cs typeface="宋体"/>
            </a:endParaRPr>
          </a:p>
          <a:p>
            <a:pPr marL="102870">
              <a:lnSpc>
                <a:spcPct val="100000"/>
              </a:lnSpc>
              <a:spcBef>
                <a:spcPts val="35"/>
              </a:spcBef>
            </a:pPr>
            <a:r>
              <a:rPr sz="2800" b="1" dirty="0">
                <a:latin typeface="宋体"/>
                <a:cs typeface="宋体"/>
              </a:rPr>
              <a:t>       case</a:t>
            </a:r>
            <a:r>
              <a:rPr sz="2800" b="1" spc="140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常量表达式 n：</a:t>
            </a:r>
            <a:r>
              <a:rPr sz="2800" b="1" spc="-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语句</a:t>
            </a:r>
            <a:r>
              <a:rPr sz="2800" b="1" spc="-15" dirty="0">
                <a:latin typeface="宋体"/>
                <a:cs typeface="宋体"/>
              </a:rPr>
              <a:t>n</a:t>
            </a:r>
            <a:endParaRPr sz="2800">
              <a:latin typeface="宋体"/>
              <a:cs typeface="宋体"/>
            </a:endParaRPr>
          </a:p>
          <a:p>
            <a:pPr marL="104775" marR="631825" indent="-1905">
              <a:lnSpc>
                <a:spcPts val="3020"/>
              </a:lnSpc>
              <a:spcBef>
                <a:spcPts val="420"/>
              </a:spcBef>
            </a:pPr>
            <a:r>
              <a:rPr sz="2800" b="1" dirty="0">
                <a:latin typeface="宋体"/>
                <a:cs typeface="宋体"/>
              </a:rPr>
              <a:t>       default :</a:t>
            </a:r>
            <a:r>
              <a:rPr sz="2800" b="1" spc="136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语 </a:t>
            </a:r>
            <a:r>
              <a:rPr sz="2800" b="1" spc="-20" dirty="0">
                <a:latin typeface="宋体"/>
                <a:cs typeface="宋体"/>
              </a:rPr>
              <a:t>句 </a:t>
            </a:r>
            <a:r>
              <a:rPr sz="2800" b="1" spc="-5" dirty="0">
                <a:latin typeface="宋体"/>
                <a:cs typeface="宋体"/>
              </a:rPr>
              <a:t>n+1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ts val="1930"/>
              </a:lnSpc>
            </a:pPr>
            <a:r>
              <a:rPr sz="1900" spc="-915" dirty="0">
                <a:solidFill>
                  <a:srgbClr val="3E3E3E"/>
                </a:solidFill>
                <a:latin typeface="Wingdings"/>
                <a:cs typeface="Wingdings"/>
              </a:rPr>
              <a:t></a:t>
            </a:r>
            <a:r>
              <a:rPr sz="2850" spc="2557" baseline="-40935" dirty="0">
                <a:latin typeface="Times New Roman"/>
                <a:cs typeface="Times New Roman"/>
              </a:rPr>
              <a:t> </a:t>
            </a:r>
            <a:r>
              <a:rPr sz="2400" spc="-1760" dirty="0">
                <a:latin typeface="宋体"/>
                <a:cs typeface="宋体"/>
              </a:rPr>
              <a:t>执</a:t>
            </a:r>
            <a:r>
              <a:rPr sz="3600" spc="315" baseline="-32407" dirty="0">
                <a:latin typeface="宋体"/>
                <a:cs typeface="宋体"/>
              </a:rPr>
              <a:t> </a:t>
            </a:r>
            <a:r>
              <a:rPr sz="4200" b="1" spc="-1604" baseline="-27777" dirty="0">
                <a:latin typeface="宋体"/>
                <a:cs typeface="宋体"/>
              </a:rPr>
              <a:t>}</a:t>
            </a:r>
            <a:r>
              <a:rPr sz="2400" dirty="0">
                <a:latin typeface="宋体"/>
                <a:cs typeface="宋体"/>
              </a:rPr>
              <a:t>行顺序</a:t>
            </a:r>
            <a:endParaRPr sz="2400">
              <a:latin typeface="宋体"/>
              <a:cs typeface="宋体"/>
            </a:endParaRPr>
          </a:p>
          <a:p>
            <a:pPr marL="573405" marR="30480" indent="-1905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宋体"/>
                <a:cs typeface="宋体"/>
              </a:rPr>
              <a:t>以case中的</a:t>
            </a:r>
            <a:r>
              <a:rPr sz="2400" dirty="0">
                <a:solidFill>
                  <a:srgbClr val="CC3300"/>
                </a:solidFill>
                <a:latin typeface="宋体"/>
                <a:cs typeface="宋体"/>
              </a:rPr>
              <a:t>常量表达式值</a:t>
            </a:r>
            <a:r>
              <a:rPr sz="2400" dirty="0">
                <a:latin typeface="宋体"/>
                <a:cs typeface="宋体"/>
              </a:rPr>
              <a:t>为入口标号，由此开始顺序执 行。因此，每个case分支最后应该加</a:t>
            </a:r>
            <a:r>
              <a:rPr sz="2400" dirty="0">
                <a:solidFill>
                  <a:srgbClr val="CC3300"/>
                </a:solidFill>
                <a:latin typeface="宋体"/>
                <a:cs typeface="宋体"/>
              </a:rPr>
              <a:t>break</a:t>
            </a:r>
            <a:r>
              <a:rPr sz="2400" dirty="0">
                <a:latin typeface="宋体"/>
                <a:cs typeface="宋体"/>
              </a:rPr>
              <a:t>语句。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1234" y="895985"/>
            <a:ext cx="2608580" cy="1097280"/>
          </a:xfrm>
          <a:custGeom>
            <a:avLst/>
            <a:gdLst/>
            <a:ahLst/>
            <a:cxnLst/>
            <a:rect l="l" t="t" r="r" b="b"/>
            <a:pathLst>
              <a:path w="2608579" h="1097280">
                <a:moveTo>
                  <a:pt x="2608580" y="1097279"/>
                </a:moveTo>
                <a:lnTo>
                  <a:pt x="0" y="1097279"/>
                </a:lnTo>
                <a:lnTo>
                  <a:pt x="0" y="0"/>
                </a:lnTo>
                <a:lnTo>
                  <a:pt x="2608580" y="0"/>
                </a:lnTo>
                <a:lnTo>
                  <a:pt x="2608580" y="12699"/>
                </a:lnTo>
                <a:lnTo>
                  <a:pt x="25400" y="12699"/>
                </a:lnTo>
                <a:lnTo>
                  <a:pt x="12700" y="25399"/>
                </a:lnTo>
                <a:lnTo>
                  <a:pt x="25400" y="25399"/>
                </a:lnTo>
                <a:lnTo>
                  <a:pt x="25400" y="1071879"/>
                </a:lnTo>
                <a:lnTo>
                  <a:pt x="12700" y="1071879"/>
                </a:lnTo>
                <a:lnTo>
                  <a:pt x="25400" y="1084579"/>
                </a:lnTo>
                <a:lnTo>
                  <a:pt x="2608580" y="1084579"/>
                </a:lnTo>
                <a:lnTo>
                  <a:pt x="2608580" y="1097279"/>
                </a:lnTo>
                <a:close/>
              </a:path>
              <a:path w="2608579" h="1097280">
                <a:moveTo>
                  <a:pt x="25400" y="25399"/>
                </a:moveTo>
                <a:lnTo>
                  <a:pt x="12700" y="25399"/>
                </a:lnTo>
                <a:lnTo>
                  <a:pt x="25400" y="12699"/>
                </a:lnTo>
                <a:lnTo>
                  <a:pt x="25400" y="25399"/>
                </a:lnTo>
                <a:close/>
              </a:path>
              <a:path w="2608579" h="1097280">
                <a:moveTo>
                  <a:pt x="2583180" y="25399"/>
                </a:moveTo>
                <a:lnTo>
                  <a:pt x="25400" y="25399"/>
                </a:lnTo>
                <a:lnTo>
                  <a:pt x="25400" y="12699"/>
                </a:lnTo>
                <a:lnTo>
                  <a:pt x="2583180" y="12699"/>
                </a:lnTo>
                <a:lnTo>
                  <a:pt x="2583180" y="25399"/>
                </a:lnTo>
                <a:close/>
              </a:path>
              <a:path w="2608579" h="1097280">
                <a:moveTo>
                  <a:pt x="2583180" y="1084579"/>
                </a:moveTo>
                <a:lnTo>
                  <a:pt x="2583180" y="12699"/>
                </a:lnTo>
                <a:lnTo>
                  <a:pt x="2595880" y="25399"/>
                </a:lnTo>
                <a:lnTo>
                  <a:pt x="2608580" y="25399"/>
                </a:lnTo>
                <a:lnTo>
                  <a:pt x="2608580" y="1071879"/>
                </a:lnTo>
                <a:lnTo>
                  <a:pt x="2595880" y="1071879"/>
                </a:lnTo>
                <a:lnTo>
                  <a:pt x="2583180" y="1084579"/>
                </a:lnTo>
                <a:close/>
              </a:path>
              <a:path w="2608579" h="1097280">
                <a:moveTo>
                  <a:pt x="2608580" y="25399"/>
                </a:moveTo>
                <a:lnTo>
                  <a:pt x="2595880" y="25399"/>
                </a:lnTo>
                <a:lnTo>
                  <a:pt x="2583180" y="12699"/>
                </a:lnTo>
                <a:lnTo>
                  <a:pt x="2608580" y="12699"/>
                </a:lnTo>
                <a:lnTo>
                  <a:pt x="2608580" y="25399"/>
                </a:lnTo>
                <a:close/>
              </a:path>
              <a:path w="2608579" h="1097280">
                <a:moveTo>
                  <a:pt x="25400" y="1084579"/>
                </a:moveTo>
                <a:lnTo>
                  <a:pt x="12700" y="1071879"/>
                </a:lnTo>
                <a:lnTo>
                  <a:pt x="25400" y="1071879"/>
                </a:lnTo>
                <a:lnTo>
                  <a:pt x="25400" y="1084579"/>
                </a:lnTo>
                <a:close/>
              </a:path>
              <a:path w="2608579" h="1097280">
                <a:moveTo>
                  <a:pt x="2583180" y="1084579"/>
                </a:moveTo>
                <a:lnTo>
                  <a:pt x="25400" y="1084579"/>
                </a:lnTo>
                <a:lnTo>
                  <a:pt x="25400" y="1071879"/>
                </a:lnTo>
                <a:lnTo>
                  <a:pt x="2583180" y="1071879"/>
                </a:lnTo>
                <a:lnTo>
                  <a:pt x="2583180" y="1084579"/>
                </a:lnTo>
                <a:close/>
              </a:path>
              <a:path w="2608579" h="1097280">
                <a:moveTo>
                  <a:pt x="2608580" y="1084579"/>
                </a:moveTo>
                <a:lnTo>
                  <a:pt x="2583180" y="1084579"/>
                </a:lnTo>
                <a:lnTo>
                  <a:pt x="2595880" y="1071879"/>
                </a:lnTo>
                <a:lnTo>
                  <a:pt x="2608580" y="1071879"/>
                </a:lnTo>
                <a:lnTo>
                  <a:pt x="2608580" y="108457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62675" y="956944"/>
            <a:ext cx="23120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每个常量表达式的值 不能相同，次序不影 响执行结果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15147" y="2323058"/>
            <a:ext cx="1981835" cy="76200"/>
          </a:xfrm>
          <a:custGeom>
            <a:avLst/>
            <a:gdLst/>
            <a:ahLst/>
            <a:cxnLst/>
            <a:rect l="l" t="t" r="r" b="b"/>
            <a:pathLst>
              <a:path w="1981835" h="76200">
                <a:moveTo>
                  <a:pt x="127126" y="76200"/>
                </a:moveTo>
                <a:lnTo>
                  <a:pt x="0" y="38506"/>
                </a:lnTo>
                <a:lnTo>
                  <a:pt x="126872" y="0"/>
                </a:lnTo>
                <a:lnTo>
                  <a:pt x="84624" y="25535"/>
                </a:lnTo>
                <a:lnTo>
                  <a:pt x="47586" y="25653"/>
                </a:lnTo>
                <a:lnTo>
                  <a:pt x="47663" y="51053"/>
                </a:lnTo>
                <a:lnTo>
                  <a:pt x="84908" y="51053"/>
                </a:lnTo>
                <a:lnTo>
                  <a:pt x="127126" y="76200"/>
                </a:lnTo>
                <a:close/>
              </a:path>
              <a:path w="1981835" h="76200">
                <a:moveTo>
                  <a:pt x="84708" y="50935"/>
                </a:moveTo>
                <a:lnTo>
                  <a:pt x="63500" y="38303"/>
                </a:lnTo>
                <a:lnTo>
                  <a:pt x="84624" y="25535"/>
                </a:lnTo>
                <a:lnTo>
                  <a:pt x="1981161" y="19456"/>
                </a:lnTo>
                <a:lnTo>
                  <a:pt x="1981238" y="44856"/>
                </a:lnTo>
                <a:lnTo>
                  <a:pt x="84708" y="50935"/>
                </a:lnTo>
                <a:close/>
              </a:path>
              <a:path w="1981835" h="76200">
                <a:moveTo>
                  <a:pt x="47663" y="51053"/>
                </a:moveTo>
                <a:lnTo>
                  <a:pt x="47586" y="25653"/>
                </a:lnTo>
                <a:lnTo>
                  <a:pt x="84624" y="25535"/>
                </a:lnTo>
                <a:lnTo>
                  <a:pt x="63500" y="38303"/>
                </a:lnTo>
                <a:lnTo>
                  <a:pt x="84708" y="50935"/>
                </a:lnTo>
                <a:lnTo>
                  <a:pt x="47663" y="51053"/>
                </a:lnTo>
                <a:close/>
              </a:path>
              <a:path w="1981835" h="76200">
                <a:moveTo>
                  <a:pt x="84908" y="51053"/>
                </a:moveTo>
                <a:lnTo>
                  <a:pt x="47663" y="51053"/>
                </a:lnTo>
                <a:lnTo>
                  <a:pt x="84708" y="50935"/>
                </a:lnTo>
                <a:lnTo>
                  <a:pt x="84908" y="51053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02722" y="2148839"/>
            <a:ext cx="2312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可以是整型、字符</a:t>
            </a:r>
            <a:r>
              <a:rPr sz="2000" spc="5" dirty="0">
                <a:latin typeface="微软雅黑"/>
                <a:cs typeface="微软雅黑"/>
              </a:rPr>
              <a:t>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3222"/>
            <a:ext cx="2310130" cy="254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6144" y="393852"/>
            <a:ext cx="67016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73554"/>
            <a:ext cx="6019800" cy="21812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769745"/>
            <a:ext cx="6023610" cy="2188845"/>
          </a:xfrm>
          <a:custGeom>
            <a:avLst/>
            <a:gdLst/>
            <a:ahLst/>
            <a:cxnLst/>
            <a:rect l="l" t="t" r="r" b="b"/>
            <a:pathLst>
              <a:path w="6023610" h="2188845">
                <a:moveTo>
                  <a:pt x="0" y="7619"/>
                </a:moveTo>
                <a:lnTo>
                  <a:pt x="0" y="0"/>
                </a:lnTo>
                <a:lnTo>
                  <a:pt x="6023610" y="0"/>
                </a:lnTo>
                <a:lnTo>
                  <a:pt x="6023610" y="3809"/>
                </a:lnTo>
                <a:lnTo>
                  <a:pt x="3810" y="3809"/>
                </a:lnTo>
                <a:lnTo>
                  <a:pt x="0" y="7619"/>
                </a:lnTo>
                <a:close/>
              </a:path>
              <a:path w="6023610" h="2188845">
                <a:moveTo>
                  <a:pt x="3810" y="2185034"/>
                </a:moveTo>
                <a:lnTo>
                  <a:pt x="0" y="2181225"/>
                </a:lnTo>
                <a:lnTo>
                  <a:pt x="0" y="7619"/>
                </a:lnTo>
                <a:lnTo>
                  <a:pt x="3810" y="3809"/>
                </a:lnTo>
                <a:lnTo>
                  <a:pt x="3810" y="2185034"/>
                </a:lnTo>
                <a:close/>
              </a:path>
              <a:path w="6023610" h="2188845">
                <a:moveTo>
                  <a:pt x="6015990" y="7619"/>
                </a:moveTo>
                <a:lnTo>
                  <a:pt x="3810" y="7619"/>
                </a:lnTo>
                <a:lnTo>
                  <a:pt x="3810" y="3809"/>
                </a:lnTo>
                <a:lnTo>
                  <a:pt x="6015990" y="3809"/>
                </a:lnTo>
                <a:lnTo>
                  <a:pt x="6015990" y="7619"/>
                </a:lnTo>
                <a:close/>
              </a:path>
              <a:path w="6023610" h="2188845">
                <a:moveTo>
                  <a:pt x="6015990" y="2185034"/>
                </a:moveTo>
                <a:lnTo>
                  <a:pt x="6015990" y="3809"/>
                </a:lnTo>
                <a:lnTo>
                  <a:pt x="6019800" y="7619"/>
                </a:lnTo>
                <a:lnTo>
                  <a:pt x="6023610" y="7619"/>
                </a:lnTo>
                <a:lnTo>
                  <a:pt x="6023610" y="2181225"/>
                </a:lnTo>
                <a:lnTo>
                  <a:pt x="6019800" y="2181225"/>
                </a:lnTo>
                <a:lnTo>
                  <a:pt x="6015990" y="2185034"/>
                </a:lnTo>
                <a:close/>
              </a:path>
              <a:path w="6023610" h="2188845">
                <a:moveTo>
                  <a:pt x="6023610" y="7619"/>
                </a:moveTo>
                <a:lnTo>
                  <a:pt x="6019800" y="7619"/>
                </a:lnTo>
                <a:lnTo>
                  <a:pt x="6015990" y="3809"/>
                </a:lnTo>
                <a:lnTo>
                  <a:pt x="6023610" y="3809"/>
                </a:lnTo>
                <a:lnTo>
                  <a:pt x="6023610" y="7619"/>
                </a:lnTo>
                <a:close/>
              </a:path>
              <a:path w="6023610" h="2188845">
                <a:moveTo>
                  <a:pt x="6023610" y="2188844"/>
                </a:moveTo>
                <a:lnTo>
                  <a:pt x="0" y="2188844"/>
                </a:lnTo>
                <a:lnTo>
                  <a:pt x="0" y="2181225"/>
                </a:lnTo>
                <a:lnTo>
                  <a:pt x="3810" y="2185034"/>
                </a:lnTo>
                <a:lnTo>
                  <a:pt x="6023610" y="2185034"/>
                </a:lnTo>
                <a:lnTo>
                  <a:pt x="6023610" y="2188844"/>
                </a:lnTo>
                <a:close/>
              </a:path>
              <a:path w="6023610" h="2188845">
                <a:moveTo>
                  <a:pt x="6015990" y="2185034"/>
                </a:moveTo>
                <a:lnTo>
                  <a:pt x="3810" y="2185034"/>
                </a:lnTo>
                <a:lnTo>
                  <a:pt x="3810" y="2181225"/>
                </a:lnTo>
                <a:lnTo>
                  <a:pt x="6015990" y="2181225"/>
                </a:lnTo>
                <a:lnTo>
                  <a:pt x="6015990" y="2185034"/>
                </a:lnTo>
                <a:close/>
              </a:path>
              <a:path w="6023610" h="2188845">
                <a:moveTo>
                  <a:pt x="6023610" y="2185034"/>
                </a:moveTo>
                <a:lnTo>
                  <a:pt x="6015990" y="2185034"/>
                </a:lnTo>
                <a:lnTo>
                  <a:pt x="6019800" y="2181225"/>
                </a:lnTo>
                <a:lnTo>
                  <a:pt x="6023610" y="2181225"/>
                </a:lnTo>
                <a:lnTo>
                  <a:pt x="6023610" y="218503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1758950"/>
            <a:ext cx="5397500" cy="200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switch</a:t>
            </a: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(myGrade){   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 case  ′A′ :     myScore =</a:t>
            </a:r>
            <a:r>
              <a:rPr sz="2400" spc="-10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5； 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 case  ′B′ :     myScore = 4</a:t>
            </a:r>
            <a:r>
              <a:rPr sz="2400" spc="-10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 case  ′C′ :     myScore = 3</a:t>
            </a:r>
            <a:r>
              <a:rPr sz="2400" spc="10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default : myScore = 0</a:t>
            </a:r>
            <a:r>
              <a:rPr sz="2400" spc="-7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;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3790950"/>
            <a:ext cx="2032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24002" y="1743418"/>
            <a:ext cx="21590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myGrade的值为 ‘A’，执行完 switch语句后，  myScore的值被 赋值为0</a:t>
            </a:r>
          </a:p>
        </p:txBody>
      </p:sp>
      <p:sp>
        <p:nvSpPr>
          <p:cNvPr id="9" name="object 9"/>
          <p:cNvSpPr/>
          <p:nvPr/>
        </p:nvSpPr>
        <p:spPr>
          <a:xfrm>
            <a:off x="6011862" y="268004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457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457200" h="76200">
                <a:moveTo>
                  <a:pt x="457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000" y="4175759"/>
            <a:ext cx="5463540" cy="1873250"/>
          </a:xfrm>
          <a:custGeom>
            <a:avLst/>
            <a:gdLst/>
            <a:ahLst/>
            <a:cxnLst/>
            <a:rect l="l" t="t" r="r" b="b"/>
            <a:pathLst>
              <a:path w="5463540" h="1873250">
                <a:moveTo>
                  <a:pt x="0" y="0"/>
                </a:moveTo>
                <a:lnTo>
                  <a:pt x="5463540" y="0"/>
                </a:lnTo>
                <a:lnTo>
                  <a:pt x="5463540" y="1872995"/>
                </a:lnTo>
                <a:lnTo>
                  <a:pt x="0" y="1872995"/>
                </a:lnTo>
                <a:lnTo>
                  <a:pt x="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7515" y="4138929"/>
            <a:ext cx="5283200" cy="7099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latin typeface="宋体"/>
                <a:cs typeface="宋体"/>
              </a:rPr>
              <a:t>switch</a:t>
            </a:r>
            <a:r>
              <a:rPr sz="1800" spc="-5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(myGrade){   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宋体"/>
                <a:cs typeface="宋体"/>
              </a:rPr>
              <a:t> case ′A′ : myScore = 5 ;</a:t>
            </a:r>
            <a:r>
              <a:rPr sz="1800" spc="800" dirty="0"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967A2C"/>
                </a:solidFill>
                <a:latin typeface="宋体"/>
                <a:cs typeface="宋体"/>
              </a:rPr>
              <a:t>break;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740" y="4891404"/>
            <a:ext cx="539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 case ′B′ : myScore = 4 ;</a:t>
            </a:r>
            <a:r>
              <a:rPr sz="1800" spc="800" dirty="0"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967A2C"/>
                </a:solidFill>
                <a:latin typeface="宋体"/>
                <a:cs typeface="宋体"/>
              </a:rPr>
              <a:t>break;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7515" y="5233670"/>
            <a:ext cx="5511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 case ′C′ : myScore = 3 ;</a:t>
            </a:r>
            <a:r>
              <a:rPr sz="1800" spc="805" dirty="0"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967A2C"/>
                </a:solidFill>
                <a:latin typeface="宋体"/>
                <a:cs typeface="宋体"/>
              </a:rPr>
              <a:t>break;</a:t>
            </a:r>
            <a:r>
              <a:rPr sz="1800" dirty="0">
                <a:latin typeface="宋体"/>
                <a:cs typeface="宋体"/>
              </a:rPr>
              <a:t> 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515" y="5507990"/>
            <a:ext cx="3454400" cy="7099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latin typeface="宋体"/>
                <a:cs typeface="宋体"/>
              </a:rPr>
              <a:t> default : myScore = 0</a:t>
            </a:r>
            <a:r>
              <a:rPr sz="1800" spc="-90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; 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宋体"/>
                <a:cs typeface="宋体"/>
              </a:rPr>
              <a:t>}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7502" y="4191342"/>
            <a:ext cx="21590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myGrade的值为 ‘A’，执行完 switch语句后，  myScore的值被 赋值为5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27762" y="5127968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457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457200" h="76200">
                <a:moveTo>
                  <a:pt x="457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4715" y="1269491"/>
            <a:ext cx="6049010" cy="36766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57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sz="2000" spc="-5" dirty="0">
                <a:latin typeface="宋体"/>
                <a:cs typeface="宋体"/>
              </a:rPr>
              <a:t>char myGrade= ′A′;</a:t>
            </a:r>
            <a:r>
              <a:rPr sz="2000" dirty="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58</a:t>
            </a:fld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3222"/>
            <a:ext cx="2310130" cy="254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6144" y="393852"/>
            <a:ext cx="67016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070" y="1700529"/>
            <a:ext cx="8153400" cy="25139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60" y="1696720"/>
            <a:ext cx="8161020" cy="2521585"/>
          </a:xfrm>
          <a:custGeom>
            <a:avLst/>
            <a:gdLst/>
            <a:ahLst/>
            <a:cxnLst/>
            <a:rect l="l" t="t" r="r" b="b"/>
            <a:pathLst>
              <a:path w="8161020" h="2521585">
                <a:moveTo>
                  <a:pt x="8161020" y="2521584"/>
                </a:moveTo>
                <a:lnTo>
                  <a:pt x="0" y="2521584"/>
                </a:lnTo>
                <a:lnTo>
                  <a:pt x="0" y="0"/>
                </a:lnTo>
                <a:lnTo>
                  <a:pt x="8161020" y="0"/>
                </a:lnTo>
                <a:lnTo>
                  <a:pt x="8161020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513965"/>
                </a:lnTo>
                <a:lnTo>
                  <a:pt x="3809" y="2513965"/>
                </a:lnTo>
                <a:lnTo>
                  <a:pt x="7619" y="2517775"/>
                </a:lnTo>
                <a:lnTo>
                  <a:pt x="8161020" y="2517775"/>
                </a:lnTo>
                <a:lnTo>
                  <a:pt x="8161020" y="2521584"/>
                </a:lnTo>
                <a:close/>
              </a:path>
              <a:path w="8161020" h="252158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8161020" h="2521585">
                <a:moveTo>
                  <a:pt x="8153400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8153400" y="3809"/>
                </a:lnTo>
                <a:lnTo>
                  <a:pt x="8153400" y="7619"/>
                </a:lnTo>
                <a:close/>
              </a:path>
              <a:path w="8161020" h="2521585">
                <a:moveTo>
                  <a:pt x="8153400" y="2517775"/>
                </a:moveTo>
                <a:lnTo>
                  <a:pt x="8153400" y="3809"/>
                </a:lnTo>
                <a:lnTo>
                  <a:pt x="8157210" y="7619"/>
                </a:lnTo>
                <a:lnTo>
                  <a:pt x="8161020" y="7619"/>
                </a:lnTo>
                <a:lnTo>
                  <a:pt x="8161020" y="2513965"/>
                </a:lnTo>
                <a:lnTo>
                  <a:pt x="8157210" y="2513965"/>
                </a:lnTo>
                <a:lnTo>
                  <a:pt x="8153400" y="2517775"/>
                </a:lnTo>
                <a:close/>
              </a:path>
              <a:path w="8161020" h="2521585">
                <a:moveTo>
                  <a:pt x="8161020" y="7619"/>
                </a:moveTo>
                <a:lnTo>
                  <a:pt x="8157210" y="7619"/>
                </a:lnTo>
                <a:lnTo>
                  <a:pt x="8153400" y="3809"/>
                </a:lnTo>
                <a:lnTo>
                  <a:pt x="8161020" y="3809"/>
                </a:lnTo>
                <a:lnTo>
                  <a:pt x="8161020" y="7619"/>
                </a:lnTo>
                <a:close/>
              </a:path>
              <a:path w="8161020" h="2521585">
                <a:moveTo>
                  <a:pt x="7619" y="2517775"/>
                </a:moveTo>
                <a:lnTo>
                  <a:pt x="3809" y="2513965"/>
                </a:lnTo>
                <a:lnTo>
                  <a:pt x="7619" y="2513965"/>
                </a:lnTo>
                <a:lnTo>
                  <a:pt x="7619" y="2517775"/>
                </a:lnTo>
                <a:close/>
              </a:path>
              <a:path w="8161020" h="2521585">
                <a:moveTo>
                  <a:pt x="8153400" y="2517775"/>
                </a:moveTo>
                <a:lnTo>
                  <a:pt x="7619" y="2517775"/>
                </a:lnTo>
                <a:lnTo>
                  <a:pt x="7619" y="2513965"/>
                </a:lnTo>
                <a:lnTo>
                  <a:pt x="8153400" y="2513965"/>
                </a:lnTo>
                <a:lnTo>
                  <a:pt x="8153400" y="2517775"/>
                </a:lnTo>
                <a:close/>
              </a:path>
              <a:path w="8161020" h="2521585">
                <a:moveTo>
                  <a:pt x="8161020" y="2517775"/>
                </a:moveTo>
                <a:lnTo>
                  <a:pt x="8153400" y="2517775"/>
                </a:lnTo>
                <a:lnTo>
                  <a:pt x="8157210" y="2513965"/>
                </a:lnTo>
                <a:lnTo>
                  <a:pt x="8161020" y="2513965"/>
                </a:lnTo>
                <a:lnTo>
                  <a:pt x="8161020" y="251777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286" y="1077747"/>
            <a:ext cx="71672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微软雅黑"/>
                <a:cs typeface="微软雅黑"/>
              </a:rPr>
              <a:t>多个不同的</a:t>
            </a:r>
            <a:r>
              <a:rPr sz="2800" spc="-5" dirty="0">
                <a:latin typeface="微软雅黑"/>
                <a:cs typeface="微软雅黑"/>
              </a:rPr>
              <a:t>c</a:t>
            </a:r>
            <a:r>
              <a:rPr sz="2800" dirty="0">
                <a:latin typeface="微软雅黑"/>
                <a:cs typeface="微软雅黑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se</a:t>
            </a:r>
            <a:r>
              <a:rPr sz="2800" dirty="0">
                <a:latin typeface="微软雅黑"/>
                <a:cs typeface="微软雅黑"/>
              </a:rPr>
              <a:t>值可以执行一组相同的操作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79070" y="1845944"/>
            <a:ext cx="8153400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宋体"/>
                <a:cs typeface="宋体"/>
              </a:rPr>
              <a:t>switch (myGrade)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2000" spc="-5" dirty="0">
                <a:latin typeface="宋体"/>
                <a:cs typeface="宋体"/>
              </a:rPr>
              <a:t>{ case ′A′</a:t>
            </a:r>
            <a:r>
              <a:rPr sz="2000" dirty="0">
                <a:latin typeface="宋体"/>
                <a:cs typeface="宋体"/>
              </a:rPr>
              <a:t> :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2000" spc="-5" dirty="0">
                <a:latin typeface="宋体"/>
                <a:cs typeface="宋体"/>
              </a:rPr>
              <a:t>     case ′B′ </a:t>
            </a:r>
            <a:r>
              <a:rPr sz="2000" dirty="0">
                <a:latin typeface="宋体"/>
                <a:cs typeface="宋体"/>
              </a:rPr>
              <a:t>: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宋体"/>
                <a:cs typeface="宋体"/>
              </a:rPr>
              <a:t>     case ′C′ : myScore = 1 ;</a:t>
            </a:r>
            <a:r>
              <a:rPr sz="2000" dirty="0">
                <a:latin typeface="宋体"/>
                <a:cs typeface="宋体"/>
              </a:rPr>
              <a:t> </a:t>
            </a:r>
            <a:r>
              <a:rPr sz="2000" spc="-5" dirty="0">
                <a:latin typeface="宋体"/>
                <a:cs typeface="宋体"/>
              </a:rPr>
              <a:t>// </a:t>
            </a:r>
            <a:r>
              <a:rPr sz="2000" dirty="0">
                <a:latin typeface="宋体"/>
                <a:cs typeface="宋体"/>
              </a:rPr>
              <a:t>及 </a:t>
            </a:r>
            <a:r>
              <a:rPr sz="2000" spc="5" dirty="0">
                <a:latin typeface="宋体"/>
                <a:cs typeface="宋体"/>
              </a:rPr>
              <a:t>格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宋体"/>
              <a:cs typeface="宋体"/>
            </a:endParaRPr>
          </a:p>
          <a:p>
            <a:pPr marL="262255">
              <a:lnSpc>
                <a:spcPct val="100000"/>
              </a:lnSpc>
            </a:pPr>
            <a:r>
              <a:rPr sz="2000" spc="-5" dirty="0">
                <a:latin typeface="宋体"/>
                <a:cs typeface="宋体"/>
              </a:rPr>
              <a:t>                   </a:t>
            </a:r>
            <a:r>
              <a:rPr sz="2000" spc="-5" dirty="0">
                <a:solidFill>
                  <a:srgbClr val="967A2C"/>
                </a:solidFill>
                <a:latin typeface="宋体"/>
                <a:cs typeface="宋体"/>
              </a:rPr>
              <a:t>break </a:t>
            </a:r>
            <a:r>
              <a:rPr sz="2000" dirty="0">
                <a:solidFill>
                  <a:srgbClr val="967A2C"/>
                </a:solidFill>
                <a:latin typeface="宋体"/>
                <a:cs typeface="宋体"/>
              </a:rPr>
              <a:t>;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2000" spc="-5" dirty="0">
                <a:latin typeface="宋体"/>
                <a:cs typeface="宋体"/>
              </a:rPr>
              <a:t>     default : myScore = 0 ; // </a:t>
            </a:r>
            <a:r>
              <a:rPr sz="2000" dirty="0">
                <a:latin typeface="宋体"/>
                <a:cs typeface="宋体"/>
              </a:rPr>
              <a:t>不 及 </a:t>
            </a:r>
            <a:r>
              <a:rPr sz="2000" spc="5" dirty="0">
                <a:latin typeface="宋体"/>
                <a:cs typeface="宋体"/>
              </a:rPr>
              <a:t>格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}</a:t>
            </a:r>
            <a:endParaRPr sz="2000">
              <a:latin typeface="宋体"/>
              <a:cs typeface="宋体"/>
            </a:endParaRPr>
          </a:p>
          <a:p>
            <a:pPr marL="109982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latin typeface="Arial"/>
                <a:cs typeface="Arial"/>
              </a:rPr>
              <a:t>example:Ex27Switch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3222"/>
            <a:ext cx="2310130" cy="254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4772" y="397027"/>
            <a:ext cx="1362519" cy="3244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89842" y="439572"/>
            <a:ext cx="1033145" cy="294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36817" y="404012"/>
            <a:ext cx="314020" cy="319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29374" y="420814"/>
            <a:ext cx="106692" cy="2754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8824" y="1484375"/>
            <a:ext cx="6003035" cy="16855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44319" y="3500120"/>
            <a:ext cx="5387340" cy="176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case</a:t>
            </a:r>
            <a:r>
              <a:rPr sz="1800" spc="-4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L</a:t>
            </a:r>
            <a:r>
              <a:rPr sz="1800" spc="-4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-&gt;</a:t>
            </a:r>
            <a:r>
              <a:rPr sz="1800" dirty="0">
                <a:latin typeface="微软雅黑"/>
                <a:cs typeface="微软雅黑"/>
              </a:rPr>
              <a:t>表达式可以有返回值，如果某个</a:t>
            </a:r>
            <a:r>
              <a:rPr sz="1800" spc="-5" dirty="0">
                <a:latin typeface="微软雅黑"/>
                <a:cs typeface="微软雅黑"/>
              </a:rPr>
              <a:t>case</a:t>
            </a:r>
            <a:r>
              <a:rPr sz="1800" dirty="0">
                <a:latin typeface="微软雅黑"/>
                <a:cs typeface="微软雅黑"/>
              </a:rPr>
              <a:t>模块有 多条语句，必须用</a:t>
            </a:r>
            <a:r>
              <a:rPr sz="1800" spc="-5" dirty="0">
                <a:latin typeface="微软雅黑"/>
                <a:cs typeface="微软雅黑"/>
              </a:rPr>
              <a:t>{}，</a:t>
            </a:r>
            <a:r>
              <a:rPr sz="1800" dirty="0">
                <a:latin typeface="微软雅黑"/>
                <a:cs typeface="微软雅黑"/>
              </a:rPr>
              <a:t>返回值前加</a:t>
            </a:r>
            <a:r>
              <a:rPr sz="1800" spc="-5" dirty="0">
                <a:latin typeface="微软雅黑"/>
                <a:cs typeface="微软雅黑"/>
              </a:rPr>
              <a:t>yield</a:t>
            </a:r>
            <a:r>
              <a:rPr sz="1800" dirty="0">
                <a:latin typeface="微软雅黑"/>
                <a:cs typeface="微软雅黑"/>
              </a:rPr>
              <a:t>关键字</a:t>
            </a:r>
            <a:endParaRPr sz="1800">
              <a:latin typeface="微软雅黑"/>
              <a:cs typeface="微软雅黑"/>
            </a:endParaRPr>
          </a:p>
          <a:p>
            <a:pPr marL="94615" marR="1472565">
              <a:lnSpc>
                <a:spcPct val="190300"/>
              </a:lnSpc>
              <a:spcBef>
                <a:spcPts val="1185"/>
              </a:spcBef>
            </a:pPr>
            <a:r>
              <a:rPr sz="1800" dirty="0">
                <a:latin typeface="微软雅黑"/>
                <a:cs typeface="微软雅黑"/>
              </a:rPr>
              <a:t>每个</a:t>
            </a:r>
            <a:r>
              <a:rPr sz="1800" spc="-5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case</a:t>
            </a:r>
            <a:r>
              <a:rPr sz="1800" spc="-5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允许多个常量，用逗号分隔 不再需要</a:t>
            </a:r>
            <a:r>
              <a:rPr sz="1800" spc="-10" dirty="0">
                <a:latin typeface="微软雅黑"/>
                <a:cs typeface="微软雅黑"/>
              </a:rPr>
              <a:t>break</a:t>
            </a:r>
            <a:r>
              <a:rPr sz="1800" dirty="0">
                <a:latin typeface="微软雅黑"/>
                <a:cs typeface="微软雅黑"/>
              </a:rPr>
              <a:t>语句；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60</a:t>
            </a:fld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3222"/>
            <a:ext cx="2310130" cy="254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4772" y="397027"/>
            <a:ext cx="1362519" cy="3244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89842" y="439572"/>
            <a:ext cx="1033145" cy="294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36817" y="404012"/>
            <a:ext cx="314020" cy="319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29374" y="420814"/>
            <a:ext cx="106692" cy="2754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868" y="1484375"/>
            <a:ext cx="3243072" cy="30750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52671" y="1844039"/>
            <a:ext cx="4965191" cy="19491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6115" y="4145279"/>
            <a:ext cx="6190615" cy="143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10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只要有返回值必须用yi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dirty="0">
                <a:latin typeface="微软雅黑"/>
                <a:cs typeface="微软雅黑"/>
              </a:rPr>
              <a:t>ld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微软雅黑"/>
              <a:cs typeface="微软雅黑"/>
            </a:endParaRPr>
          </a:p>
          <a:p>
            <a:pPr marL="12700" marR="365506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微软雅黑"/>
                <a:cs typeface="微软雅黑"/>
              </a:rPr>
              <a:t>如果只有一行返回值可以 不用</a:t>
            </a:r>
            <a:r>
              <a:rPr sz="1800" spc="-5" dirty="0">
                <a:latin typeface="微软雅黑"/>
                <a:cs typeface="微软雅黑"/>
              </a:rPr>
              <a:t>yield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6093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2.5.3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while循环语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83310" y="1501775"/>
            <a:ext cx="7673340" cy="30861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循环结构是在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一定条件下</a:t>
            </a:r>
            <a:r>
              <a:rPr sz="2800" dirty="0">
                <a:latin typeface="宋体"/>
                <a:cs typeface="宋体"/>
              </a:rPr>
              <a:t>，反复执行某段程序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流程结构，被反复执行的程序被称为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循环体</a:t>
            </a:r>
            <a:r>
              <a:rPr sz="2800" b="1" spc="-20" dirty="0">
                <a:solidFill>
                  <a:srgbClr val="FF33CC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2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的循环语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while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do-while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for</a:t>
            </a:r>
            <a:r>
              <a:rPr sz="2800" dirty="0">
                <a:latin typeface="宋体"/>
                <a:cs typeface="宋体"/>
              </a:rPr>
              <a:t>语句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6093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2.5.3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while循环语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2842" y="1653539"/>
            <a:ext cx="195072" cy="195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5214" y="1481455"/>
            <a:ext cx="5281930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while</a:t>
            </a:r>
            <a:r>
              <a:rPr sz="2800" spc="-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语句形</a:t>
            </a:r>
            <a:r>
              <a:rPr sz="2800" spc="-5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111125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    while</a:t>
            </a:r>
            <a:r>
              <a:rPr sz="2800" spc="1355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(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条件表达式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)</a:t>
            </a:r>
            <a:r>
              <a:rPr sz="2800" spc="136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006C39"/>
                </a:solidFill>
                <a:latin typeface="宋体"/>
                <a:cs typeface="宋体"/>
              </a:rPr>
              <a:t>语</a:t>
            </a:r>
            <a:r>
              <a:rPr sz="2800" b="1" spc="-20" dirty="0">
                <a:solidFill>
                  <a:srgbClr val="006C39"/>
                </a:solidFill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8346" y="3041491"/>
            <a:ext cx="110013" cy="1100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1875" y="2832735"/>
            <a:ext cx="1447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执行顺</a:t>
            </a:r>
            <a:r>
              <a:rPr sz="2800" spc="-5" dirty="0"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52355" y="3500628"/>
            <a:ext cx="1741263" cy="1713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19140" y="2657792"/>
            <a:ext cx="21590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C39"/>
                </a:solidFill>
                <a:latin typeface="微软雅黑"/>
                <a:cs typeface="微软雅黑"/>
              </a:rPr>
              <a:t>循环体</a:t>
            </a:r>
            <a:r>
              <a:rPr sz="2400" dirty="0">
                <a:latin typeface="微软雅黑"/>
                <a:cs typeface="微软雅黑"/>
              </a:rPr>
              <a:t>可以是复 合语句，其中必 须含有</a:t>
            </a:r>
            <a:r>
              <a:rPr sz="2400" dirty="0">
                <a:solidFill>
                  <a:srgbClr val="CC3300"/>
                </a:solidFill>
                <a:latin typeface="微软雅黑"/>
                <a:cs typeface="微软雅黑"/>
              </a:rPr>
              <a:t>改变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条件 表达式</a:t>
            </a:r>
            <a:r>
              <a:rPr sz="2400" dirty="0">
                <a:latin typeface="微软雅黑"/>
                <a:cs typeface="微软雅黑"/>
              </a:rPr>
              <a:t>值的语句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19700" y="3445827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09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09600" h="76200">
                <a:moveTo>
                  <a:pt x="609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63</a:t>
            </a:fld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6093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2.5.3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while循环语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69339" y="1462405"/>
            <a:ext cx="7847965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ts val="3020"/>
              </a:lnSpc>
              <a:spcBef>
                <a:spcPts val="47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2-9</a:t>
            </a:r>
            <a:r>
              <a:rPr sz="2800" dirty="0">
                <a:latin typeface="宋体"/>
                <a:cs typeface="宋体"/>
              </a:rPr>
              <a:t>】随机生成一个整数（</a:t>
            </a:r>
            <a:r>
              <a:rPr sz="2800" spc="-5" dirty="0">
                <a:latin typeface="宋体"/>
                <a:cs typeface="宋体"/>
              </a:rPr>
              <a:t>1~100</a:t>
            </a:r>
            <a:r>
              <a:rPr sz="2800" dirty="0">
                <a:latin typeface="宋体"/>
                <a:cs typeface="宋体"/>
              </a:rPr>
              <a:t>之间），由</a:t>
            </a:r>
            <a:r>
              <a:rPr sz="2800" spc="-5" dirty="0">
                <a:latin typeface="宋体"/>
                <a:cs typeface="宋体"/>
              </a:rPr>
              <a:t>用 </a:t>
            </a:r>
            <a:r>
              <a:rPr sz="2800" dirty="0">
                <a:latin typeface="宋体"/>
                <a:cs typeface="宋体"/>
              </a:rPr>
              <a:t>户进行猜数，每次给出大小的提示，并记录猜数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次数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7475855" cy="9829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语法形</a:t>
            </a:r>
            <a:r>
              <a:rPr sz="2800" spc="-5" dirty="0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409"/>
              </a:spcBef>
            </a:pPr>
            <a:r>
              <a:rPr sz="2800" b="1" dirty="0">
                <a:solidFill>
                  <a:srgbClr val="006C39"/>
                </a:solidFill>
                <a:latin typeface="宋体"/>
                <a:cs typeface="宋体"/>
              </a:rPr>
              <a:t>    for</a:t>
            </a:r>
            <a:r>
              <a:rPr sz="2800" b="1" spc="139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006C39"/>
                </a:solidFill>
                <a:latin typeface="宋体"/>
                <a:cs typeface="宋体"/>
              </a:rPr>
              <a:t>(表达式1；</a:t>
            </a:r>
            <a:r>
              <a:rPr sz="2800" b="1" dirty="0">
                <a:solidFill>
                  <a:srgbClr val="967A2C"/>
                </a:solidFill>
                <a:latin typeface="宋体"/>
                <a:cs typeface="宋体"/>
              </a:rPr>
              <a:t>表达式2</a:t>
            </a:r>
            <a:r>
              <a:rPr sz="2800" b="1" dirty="0">
                <a:solidFill>
                  <a:srgbClr val="006C39"/>
                </a:solidFill>
                <a:latin typeface="宋体"/>
                <a:cs typeface="宋体"/>
              </a:rPr>
              <a:t>；表达式3)</a:t>
            </a:r>
            <a:r>
              <a:rPr sz="2800" b="1" spc="-1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b="1" dirty="0">
                <a:solidFill>
                  <a:srgbClr val="006C39"/>
                </a:solidFill>
                <a:latin typeface="宋体"/>
                <a:cs typeface="宋体"/>
              </a:rPr>
              <a:t>语</a:t>
            </a:r>
            <a:r>
              <a:rPr sz="2800" b="1" spc="-20" dirty="0">
                <a:solidFill>
                  <a:srgbClr val="006C39"/>
                </a:solidFill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24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for循环语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18025" y="25606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02354" y="2794000"/>
            <a:ext cx="198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为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rue</a:t>
            </a:r>
            <a:r>
              <a:rPr sz="1800" dirty="0">
                <a:latin typeface="微软雅黑"/>
                <a:cs typeface="微软雅黑"/>
              </a:rPr>
              <a:t>时执行循环体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89712" y="25527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84862" y="2892424"/>
            <a:ext cx="2768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每次执行完循环体后求解</a:t>
            </a:r>
            <a:r>
              <a:rPr sz="1800" dirty="0">
                <a:latin typeface="Times New Roman"/>
                <a:cs typeface="Times New Roman"/>
              </a:rPr>
              <a:t>.  </a:t>
            </a:r>
            <a:r>
              <a:rPr sz="1800" dirty="0">
                <a:latin typeface="微软雅黑"/>
                <a:cs typeface="微软雅黑"/>
              </a:rPr>
              <a:t>用于改变循环控制变量的值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89776" y="4165091"/>
            <a:ext cx="1761744" cy="2232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09445" y="3042284"/>
            <a:ext cx="156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循环前先求解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dirty="0">
                <a:latin typeface="宋体"/>
                <a:cs typeface="宋体"/>
              </a:rPr>
              <a:t> 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0769" y="3453765"/>
            <a:ext cx="322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完成初始化循环变量和其他变量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19400" y="25654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6008" y="4818888"/>
            <a:ext cx="5334000" cy="460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1689" y="4815192"/>
            <a:ext cx="5341620" cy="467995"/>
          </a:xfrm>
          <a:custGeom>
            <a:avLst/>
            <a:gdLst/>
            <a:ahLst/>
            <a:cxnLst/>
            <a:rect l="l" t="t" r="r" b="b"/>
            <a:pathLst>
              <a:path w="5341620" h="467995">
                <a:moveTo>
                  <a:pt x="5341620" y="467995"/>
                </a:moveTo>
                <a:lnTo>
                  <a:pt x="0" y="467995"/>
                </a:lnTo>
                <a:lnTo>
                  <a:pt x="0" y="0"/>
                </a:lnTo>
                <a:lnTo>
                  <a:pt x="5341620" y="0"/>
                </a:lnTo>
                <a:lnTo>
                  <a:pt x="534162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460375"/>
                </a:lnTo>
                <a:lnTo>
                  <a:pt x="3809" y="460375"/>
                </a:lnTo>
                <a:lnTo>
                  <a:pt x="7619" y="464185"/>
                </a:lnTo>
                <a:lnTo>
                  <a:pt x="5341620" y="464185"/>
                </a:lnTo>
                <a:lnTo>
                  <a:pt x="5341620" y="467995"/>
                </a:lnTo>
                <a:close/>
              </a:path>
              <a:path w="5341620" h="46799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5341620" h="467995">
                <a:moveTo>
                  <a:pt x="533400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5334000" y="3810"/>
                </a:lnTo>
                <a:lnTo>
                  <a:pt x="5334000" y="7620"/>
                </a:lnTo>
                <a:close/>
              </a:path>
              <a:path w="5341620" h="467995">
                <a:moveTo>
                  <a:pt x="5334000" y="464185"/>
                </a:moveTo>
                <a:lnTo>
                  <a:pt x="5334000" y="3810"/>
                </a:lnTo>
                <a:lnTo>
                  <a:pt x="5337810" y="7620"/>
                </a:lnTo>
                <a:lnTo>
                  <a:pt x="5341620" y="7620"/>
                </a:lnTo>
                <a:lnTo>
                  <a:pt x="5341620" y="460375"/>
                </a:lnTo>
                <a:lnTo>
                  <a:pt x="5337810" y="460375"/>
                </a:lnTo>
                <a:lnTo>
                  <a:pt x="5334000" y="464185"/>
                </a:lnTo>
                <a:close/>
              </a:path>
              <a:path w="5341620" h="467995">
                <a:moveTo>
                  <a:pt x="5341620" y="7620"/>
                </a:moveTo>
                <a:lnTo>
                  <a:pt x="5337810" y="7620"/>
                </a:lnTo>
                <a:lnTo>
                  <a:pt x="5334000" y="3810"/>
                </a:lnTo>
                <a:lnTo>
                  <a:pt x="5341620" y="3810"/>
                </a:lnTo>
                <a:lnTo>
                  <a:pt x="5341620" y="7620"/>
                </a:lnTo>
                <a:close/>
              </a:path>
              <a:path w="5341620" h="467995">
                <a:moveTo>
                  <a:pt x="7619" y="464185"/>
                </a:moveTo>
                <a:lnTo>
                  <a:pt x="3809" y="460375"/>
                </a:lnTo>
                <a:lnTo>
                  <a:pt x="7619" y="460375"/>
                </a:lnTo>
                <a:lnTo>
                  <a:pt x="7619" y="464185"/>
                </a:lnTo>
                <a:close/>
              </a:path>
              <a:path w="5341620" h="467995">
                <a:moveTo>
                  <a:pt x="5334000" y="464185"/>
                </a:moveTo>
                <a:lnTo>
                  <a:pt x="7619" y="464185"/>
                </a:lnTo>
                <a:lnTo>
                  <a:pt x="7619" y="460375"/>
                </a:lnTo>
                <a:lnTo>
                  <a:pt x="5334000" y="460375"/>
                </a:lnTo>
                <a:lnTo>
                  <a:pt x="5334000" y="464185"/>
                </a:lnTo>
                <a:close/>
              </a:path>
              <a:path w="5341620" h="467995">
                <a:moveTo>
                  <a:pt x="5341620" y="464185"/>
                </a:moveTo>
                <a:lnTo>
                  <a:pt x="5334000" y="464185"/>
                </a:lnTo>
                <a:lnTo>
                  <a:pt x="5337810" y="460375"/>
                </a:lnTo>
                <a:lnTo>
                  <a:pt x="5341620" y="460375"/>
                </a:lnTo>
                <a:lnTo>
                  <a:pt x="5341620" y="46418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4239" y="4834877"/>
            <a:ext cx="429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例 : for(i=1; i&lt;=100; i++)  sum+=i;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65</a:t>
            </a:fld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24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for循环语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459230"/>
            <a:ext cx="802576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2-10</a:t>
            </a:r>
            <a:r>
              <a:rPr sz="2800" dirty="0">
                <a:latin typeface="宋体"/>
                <a:cs typeface="宋体"/>
              </a:rPr>
              <a:t>】输入一个日期，包括年、月、日</a:t>
            </a:r>
            <a:r>
              <a:rPr sz="2800" spc="-5" dirty="0">
                <a:latin typeface="宋体"/>
                <a:cs typeface="宋体"/>
              </a:rPr>
              <a:t>3</a:t>
            </a:r>
            <a:r>
              <a:rPr sz="2800" dirty="0">
                <a:latin typeface="宋体"/>
                <a:cs typeface="宋体"/>
              </a:rPr>
              <a:t>个数</a:t>
            </a:r>
            <a:r>
              <a:rPr sz="2800" spc="-5" dirty="0">
                <a:latin typeface="宋体"/>
                <a:cs typeface="宋体"/>
              </a:rPr>
              <a:t>字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190"/>
              </a:lnSpc>
            </a:pPr>
            <a:r>
              <a:rPr sz="2800" dirty="0">
                <a:latin typeface="宋体"/>
                <a:cs typeface="宋体"/>
              </a:rPr>
              <a:t>，计算该日期是该年中的第几天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24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for循环语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2668523"/>
            <a:ext cx="7930896" cy="1114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8190" y="2664802"/>
            <a:ext cx="7938770" cy="1121410"/>
          </a:xfrm>
          <a:custGeom>
            <a:avLst/>
            <a:gdLst/>
            <a:ahLst/>
            <a:cxnLst/>
            <a:rect l="l" t="t" r="r" b="b"/>
            <a:pathLst>
              <a:path w="7938770" h="1121410">
                <a:moveTo>
                  <a:pt x="7938769" y="1121410"/>
                </a:moveTo>
                <a:lnTo>
                  <a:pt x="0" y="1121410"/>
                </a:lnTo>
                <a:lnTo>
                  <a:pt x="0" y="0"/>
                </a:lnTo>
                <a:lnTo>
                  <a:pt x="7938769" y="0"/>
                </a:lnTo>
                <a:lnTo>
                  <a:pt x="7938769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1113789"/>
                </a:lnTo>
                <a:lnTo>
                  <a:pt x="3809" y="1113789"/>
                </a:lnTo>
                <a:lnTo>
                  <a:pt x="7619" y="1117600"/>
                </a:lnTo>
                <a:lnTo>
                  <a:pt x="7938769" y="1117600"/>
                </a:lnTo>
                <a:lnTo>
                  <a:pt x="7938769" y="1121410"/>
                </a:lnTo>
                <a:close/>
              </a:path>
              <a:path w="7938770" h="1121410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7938770" h="1121410">
                <a:moveTo>
                  <a:pt x="793115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7931150" y="3810"/>
                </a:lnTo>
                <a:lnTo>
                  <a:pt x="7931150" y="7619"/>
                </a:lnTo>
                <a:close/>
              </a:path>
              <a:path w="7938770" h="1121410">
                <a:moveTo>
                  <a:pt x="7931150" y="1117600"/>
                </a:moveTo>
                <a:lnTo>
                  <a:pt x="7931150" y="3810"/>
                </a:lnTo>
                <a:lnTo>
                  <a:pt x="7934959" y="7619"/>
                </a:lnTo>
                <a:lnTo>
                  <a:pt x="7938769" y="7619"/>
                </a:lnTo>
                <a:lnTo>
                  <a:pt x="7938769" y="1113789"/>
                </a:lnTo>
                <a:lnTo>
                  <a:pt x="7934959" y="1113789"/>
                </a:lnTo>
                <a:lnTo>
                  <a:pt x="7931150" y="1117600"/>
                </a:lnTo>
                <a:close/>
              </a:path>
              <a:path w="7938770" h="1121410">
                <a:moveTo>
                  <a:pt x="7938769" y="7619"/>
                </a:moveTo>
                <a:lnTo>
                  <a:pt x="7934959" y="7619"/>
                </a:lnTo>
                <a:lnTo>
                  <a:pt x="7931150" y="3810"/>
                </a:lnTo>
                <a:lnTo>
                  <a:pt x="7938769" y="3810"/>
                </a:lnTo>
                <a:lnTo>
                  <a:pt x="7938769" y="7619"/>
                </a:lnTo>
                <a:close/>
              </a:path>
              <a:path w="7938770" h="1121410">
                <a:moveTo>
                  <a:pt x="7619" y="1117600"/>
                </a:moveTo>
                <a:lnTo>
                  <a:pt x="3809" y="1113789"/>
                </a:lnTo>
                <a:lnTo>
                  <a:pt x="7619" y="1113789"/>
                </a:lnTo>
                <a:lnTo>
                  <a:pt x="7619" y="1117600"/>
                </a:lnTo>
                <a:close/>
              </a:path>
              <a:path w="7938770" h="1121410">
                <a:moveTo>
                  <a:pt x="7931150" y="1117600"/>
                </a:moveTo>
                <a:lnTo>
                  <a:pt x="7619" y="1117600"/>
                </a:lnTo>
                <a:lnTo>
                  <a:pt x="7619" y="1113789"/>
                </a:lnTo>
                <a:lnTo>
                  <a:pt x="7931150" y="1113789"/>
                </a:lnTo>
                <a:lnTo>
                  <a:pt x="7931150" y="1117600"/>
                </a:lnTo>
                <a:close/>
              </a:path>
              <a:path w="7938770" h="1121410">
                <a:moveTo>
                  <a:pt x="7938769" y="1117600"/>
                </a:moveTo>
                <a:lnTo>
                  <a:pt x="7931150" y="1117600"/>
                </a:lnTo>
                <a:lnTo>
                  <a:pt x="7934959" y="1113789"/>
                </a:lnTo>
                <a:lnTo>
                  <a:pt x="7938769" y="1113789"/>
                </a:lnTo>
                <a:lnTo>
                  <a:pt x="7938769" y="11176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8095" y="4767071"/>
            <a:ext cx="7924800" cy="387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540" y="4763655"/>
            <a:ext cx="7932420" cy="393700"/>
          </a:xfrm>
          <a:custGeom>
            <a:avLst/>
            <a:gdLst/>
            <a:ahLst/>
            <a:cxnLst/>
            <a:rect l="l" t="t" r="r" b="b"/>
            <a:pathLst>
              <a:path w="7932420" h="393700">
                <a:moveTo>
                  <a:pt x="7932419" y="393700"/>
                </a:moveTo>
                <a:lnTo>
                  <a:pt x="0" y="393700"/>
                </a:lnTo>
                <a:lnTo>
                  <a:pt x="0" y="0"/>
                </a:lnTo>
                <a:lnTo>
                  <a:pt x="7932419" y="0"/>
                </a:lnTo>
                <a:lnTo>
                  <a:pt x="7932419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386079"/>
                </a:lnTo>
                <a:lnTo>
                  <a:pt x="3809" y="386079"/>
                </a:lnTo>
                <a:lnTo>
                  <a:pt x="7619" y="389889"/>
                </a:lnTo>
                <a:lnTo>
                  <a:pt x="7932419" y="389889"/>
                </a:lnTo>
                <a:lnTo>
                  <a:pt x="7932419" y="393700"/>
                </a:lnTo>
                <a:close/>
              </a:path>
              <a:path w="7932420" h="393700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7932420" h="393700">
                <a:moveTo>
                  <a:pt x="792480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7924800" y="3810"/>
                </a:lnTo>
                <a:lnTo>
                  <a:pt x="7924800" y="7619"/>
                </a:lnTo>
                <a:close/>
              </a:path>
              <a:path w="7932420" h="393700">
                <a:moveTo>
                  <a:pt x="7924800" y="389889"/>
                </a:moveTo>
                <a:lnTo>
                  <a:pt x="7924800" y="3810"/>
                </a:lnTo>
                <a:lnTo>
                  <a:pt x="7928609" y="7619"/>
                </a:lnTo>
                <a:lnTo>
                  <a:pt x="7932419" y="7619"/>
                </a:lnTo>
                <a:lnTo>
                  <a:pt x="7932419" y="386079"/>
                </a:lnTo>
                <a:lnTo>
                  <a:pt x="7928609" y="386079"/>
                </a:lnTo>
                <a:lnTo>
                  <a:pt x="7924800" y="389889"/>
                </a:lnTo>
                <a:close/>
              </a:path>
              <a:path w="7932420" h="393700">
                <a:moveTo>
                  <a:pt x="7932419" y="7619"/>
                </a:moveTo>
                <a:lnTo>
                  <a:pt x="7928609" y="7619"/>
                </a:lnTo>
                <a:lnTo>
                  <a:pt x="7924800" y="3810"/>
                </a:lnTo>
                <a:lnTo>
                  <a:pt x="7932419" y="3810"/>
                </a:lnTo>
                <a:lnTo>
                  <a:pt x="7932419" y="7619"/>
                </a:lnTo>
                <a:close/>
              </a:path>
              <a:path w="7932420" h="393700">
                <a:moveTo>
                  <a:pt x="7619" y="389889"/>
                </a:moveTo>
                <a:lnTo>
                  <a:pt x="3809" y="386079"/>
                </a:lnTo>
                <a:lnTo>
                  <a:pt x="7619" y="386079"/>
                </a:lnTo>
                <a:lnTo>
                  <a:pt x="7619" y="389889"/>
                </a:lnTo>
                <a:close/>
              </a:path>
              <a:path w="7932420" h="393700">
                <a:moveTo>
                  <a:pt x="7924800" y="389889"/>
                </a:moveTo>
                <a:lnTo>
                  <a:pt x="7619" y="389889"/>
                </a:lnTo>
                <a:lnTo>
                  <a:pt x="7619" y="386079"/>
                </a:lnTo>
                <a:lnTo>
                  <a:pt x="7924800" y="386079"/>
                </a:lnTo>
                <a:lnTo>
                  <a:pt x="7924800" y="389889"/>
                </a:lnTo>
                <a:close/>
              </a:path>
              <a:path w="7932420" h="393700">
                <a:moveTo>
                  <a:pt x="7932419" y="389889"/>
                </a:moveTo>
                <a:lnTo>
                  <a:pt x="7924800" y="389889"/>
                </a:lnTo>
                <a:lnTo>
                  <a:pt x="7928609" y="386079"/>
                </a:lnTo>
                <a:lnTo>
                  <a:pt x="7932419" y="386079"/>
                </a:lnTo>
                <a:lnTo>
                  <a:pt x="7932419" y="38988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8490" y="1014596"/>
            <a:ext cx="8203565" cy="410019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145"/>
              </a:spcBef>
            </a:pPr>
            <a:r>
              <a:rPr sz="3200" dirty="0">
                <a:latin typeface="微软雅黑"/>
                <a:cs typeface="微软雅黑"/>
              </a:rPr>
              <a:t>关于</a:t>
            </a:r>
            <a:r>
              <a:rPr sz="3200" spc="-5" dirty="0">
                <a:latin typeface="微软雅黑"/>
                <a:cs typeface="微软雅黑"/>
              </a:rPr>
              <a:t>for</a:t>
            </a:r>
            <a:r>
              <a:rPr sz="3200" dirty="0">
                <a:latin typeface="微软雅黑"/>
                <a:cs typeface="微软雅黑"/>
              </a:rPr>
              <a:t>语句的几点说</a:t>
            </a:r>
            <a:r>
              <a:rPr sz="3200" spc="5" dirty="0">
                <a:latin typeface="微软雅黑"/>
                <a:cs typeface="微软雅黑"/>
              </a:rPr>
              <a:t>明</a:t>
            </a:r>
            <a:endParaRPr sz="3200">
              <a:latin typeface="微软雅黑"/>
              <a:cs typeface="微软雅黑"/>
            </a:endParaRPr>
          </a:p>
          <a:p>
            <a:pPr marL="184150" marR="5080" indent="-171450">
              <a:lnSpc>
                <a:spcPts val="3020"/>
              </a:lnSpc>
              <a:spcBef>
                <a:spcPts val="1290"/>
              </a:spcBef>
              <a:buSzPct val="96428"/>
              <a:buAutoNum type="arabicPlain"/>
              <a:tabLst>
                <a:tab pos="901700" algn="l"/>
              </a:tabLst>
            </a:pPr>
            <a:r>
              <a:rPr sz="2800" spc="-5" dirty="0">
                <a:latin typeface="宋体"/>
                <a:cs typeface="宋体"/>
              </a:rPr>
              <a:t>for</a:t>
            </a:r>
            <a:r>
              <a:rPr sz="2800" dirty="0">
                <a:latin typeface="宋体"/>
                <a:cs typeface="宋体"/>
              </a:rPr>
              <a:t>语句的三个表达式可以为空（但分号不能</a:t>
            </a:r>
            <a:r>
              <a:rPr sz="2800" spc="-5" dirty="0">
                <a:latin typeface="宋体"/>
                <a:cs typeface="宋体"/>
              </a:rPr>
              <a:t>省 </a:t>
            </a:r>
            <a:r>
              <a:rPr sz="2800" dirty="0">
                <a:latin typeface="宋体"/>
                <a:cs typeface="宋体"/>
              </a:rPr>
              <a:t>略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234950">
              <a:lnSpc>
                <a:spcPts val="2460"/>
              </a:lnSpc>
              <a:spcBef>
                <a:spcPts val="305"/>
              </a:spcBef>
            </a:pPr>
            <a:r>
              <a:rPr sz="2400" dirty="0">
                <a:latin typeface="宋体"/>
                <a:cs typeface="宋体"/>
              </a:rPr>
              <a:t> for</a:t>
            </a:r>
            <a:r>
              <a:rPr sz="2400" spc="-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(;</a:t>
            </a:r>
            <a:r>
              <a:rPr sz="2400" spc="-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;) 语句;  </a:t>
            </a:r>
            <a:endParaRPr sz="2400">
              <a:latin typeface="宋体"/>
              <a:cs typeface="宋体"/>
            </a:endParaRPr>
          </a:p>
          <a:p>
            <a:pPr marL="234950">
              <a:lnSpc>
                <a:spcPts val="2460"/>
              </a:lnSpc>
            </a:pPr>
            <a:r>
              <a:rPr sz="2400" dirty="0">
                <a:latin typeface="宋体"/>
                <a:cs typeface="宋体"/>
              </a:rPr>
              <a:t>                  //相当于</a:t>
            </a:r>
            <a:r>
              <a:rPr sz="2400" spc="118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while</a:t>
            </a:r>
            <a:r>
              <a:rPr sz="2400" spc="-1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(true)</a:t>
            </a:r>
            <a:r>
              <a:rPr sz="2400" spc="118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语句;</a:t>
            </a:r>
            <a:endParaRPr sz="2400">
              <a:latin typeface="宋体"/>
              <a:cs typeface="宋体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 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>
              <a:latin typeface="宋体"/>
              <a:cs typeface="宋体"/>
            </a:endParaRPr>
          </a:p>
          <a:p>
            <a:pPr marL="901700" indent="-889000">
              <a:lnSpc>
                <a:spcPct val="100000"/>
              </a:lnSpc>
              <a:buSzPct val="96428"/>
              <a:buAutoNum type="arabicPlain" startAt="2"/>
              <a:tabLst>
                <a:tab pos="901700" algn="l"/>
              </a:tabLst>
            </a:pPr>
            <a:r>
              <a:rPr sz="2800" dirty="0">
                <a:latin typeface="微软雅黑"/>
                <a:cs typeface="微软雅黑"/>
              </a:rPr>
              <a:t>在表达式</a:t>
            </a:r>
            <a:r>
              <a:rPr sz="2800" spc="-5" dirty="0">
                <a:latin typeface="Book Antiqua"/>
                <a:cs typeface="Book Antiqua"/>
              </a:rPr>
              <a:t>1</a:t>
            </a:r>
            <a:r>
              <a:rPr sz="2800" dirty="0">
                <a:latin typeface="微软雅黑"/>
                <a:cs typeface="微软雅黑"/>
              </a:rPr>
              <a:t>和表达式</a:t>
            </a:r>
            <a:r>
              <a:rPr sz="2800" spc="-5" dirty="0">
                <a:latin typeface="Book Antiqua"/>
                <a:cs typeface="Book Antiqua"/>
              </a:rPr>
              <a:t>3</a:t>
            </a:r>
            <a:r>
              <a:rPr sz="2800" dirty="0">
                <a:latin typeface="微软雅黑"/>
                <a:cs typeface="微软雅黑"/>
              </a:rPr>
              <a:t>的位置上可包含多个语</a:t>
            </a:r>
            <a:r>
              <a:rPr sz="2800" spc="-5" dirty="0">
                <a:latin typeface="微软雅黑"/>
                <a:cs typeface="微软雅黑"/>
              </a:rPr>
              <a:t>句</a:t>
            </a:r>
            <a:endParaRPr sz="28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2640"/>
              </a:spcBef>
            </a:pPr>
            <a:r>
              <a:rPr sz="2400" dirty="0">
                <a:latin typeface="宋体"/>
                <a:cs typeface="宋体"/>
              </a:rPr>
              <a:t>   for(</a:t>
            </a:r>
            <a:r>
              <a:rPr sz="2400" dirty="0">
                <a:solidFill>
                  <a:srgbClr val="ED7A07"/>
                </a:solidFill>
                <a:latin typeface="宋体"/>
                <a:cs typeface="宋体"/>
              </a:rPr>
              <a:t>sum=0, int i=1</a:t>
            </a:r>
            <a:r>
              <a:rPr sz="2400" dirty="0">
                <a:latin typeface="宋体"/>
                <a:cs typeface="宋体"/>
              </a:rPr>
              <a:t>; i&lt;=100; i++)</a:t>
            </a:r>
            <a:r>
              <a:rPr sz="2400" spc="113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sum+=i;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67</a:t>
            </a:fld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69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24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for循环语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1123" y="1848611"/>
            <a:ext cx="7903464" cy="1348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7745" y="1844471"/>
            <a:ext cx="7910830" cy="1356995"/>
          </a:xfrm>
          <a:custGeom>
            <a:avLst/>
            <a:gdLst/>
            <a:ahLst/>
            <a:cxnLst/>
            <a:rect l="l" t="t" r="r" b="b"/>
            <a:pathLst>
              <a:path w="7910830" h="1356995">
                <a:moveTo>
                  <a:pt x="7910220" y="1356994"/>
                </a:moveTo>
                <a:lnTo>
                  <a:pt x="0" y="1356994"/>
                </a:lnTo>
                <a:lnTo>
                  <a:pt x="0" y="0"/>
                </a:lnTo>
                <a:lnTo>
                  <a:pt x="7910220" y="0"/>
                </a:lnTo>
                <a:lnTo>
                  <a:pt x="791022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349374"/>
                </a:lnTo>
                <a:lnTo>
                  <a:pt x="3810" y="1349374"/>
                </a:lnTo>
                <a:lnTo>
                  <a:pt x="7620" y="1353184"/>
                </a:lnTo>
                <a:lnTo>
                  <a:pt x="7910220" y="1353184"/>
                </a:lnTo>
                <a:lnTo>
                  <a:pt x="7910220" y="1356994"/>
                </a:lnTo>
                <a:close/>
              </a:path>
              <a:path w="7910830" h="135699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910830" h="1356995">
                <a:moveTo>
                  <a:pt x="79026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902600" y="3809"/>
                </a:lnTo>
                <a:lnTo>
                  <a:pt x="7902600" y="7619"/>
                </a:lnTo>
                <a:close/>
              </a:path>
              <a:path w="7910830" h="1356995">
                <a:moveTo>
                  <a:pt x="7902600" y="1353184"/>
                </a:moveTo>
                <a:lnTo>
                  <a:pt x="7902600" y="3809"/>
                </a:lnTo>
                <a:lnTo>
                  <a:pt x="7906410" y="7619"/>
                </a:lnTo>
                <a:lnTo>
                  <a:pt x="7910220" y="7619"/>
                </a:lnTo>
                <a:lnTo>
                  <a:pt x="7910220" y="1349374"/>
                </a:lnTo>
                <a:lnTo>
                  <a:pt x="7906410" y="1349374"/>
                </a:lnTo>
                <a:lnTo>
                  <a:pt x="7902600" y="1353184"/>
                </a:lnTo>
                <a:close/>
              </a:path>
              <a:path w="7910830" h="1356995">
                <a:moveTo>
                  <a:pt x="7910220" y="7619"/>
                </a:moveTo>
                <a:lnTo>
                  <a:pt x="7906410" y="7619"/>
                </a:lnTo>
                <a:lnTo>
                  <a:pt x="7902600" y="3809"/>
                </a:lnTo>
                <a:lnTo>
                  <a:pt x="7910220" y="3809"/>
                </a:lnTo>
                <a:lnTo>
                  <a:pt x="7910220" y="7619"/>
                </a:lnTo>
                <a:close/>
              </a:path>
              <a:path w="7910830" h="1356995">
                <a:moveTo>
                  <a:pt x="7620" y="1353184"/>
                </a:moveTo>
                <a:lnTo>
                  <a:pt x="3810" y="1349374"/>
                </a:lnTo>
                <a:lnTo>
                  <a:pt x="7620" y="1349374"/>
                </a:lnTo>
                <a:lnTo>
                  <a:pt x="7620" y="1353184"/>
                </a:lnTo>
                <a:close/>
              </a:path>
              <a:path w="7910830" h="1356995">
                <a:moveTo>
                  <a:pt x="7902600" y="1353184"/>
                </a:moveTo>
                <a:lnTo>
                  <a:pt x="7620" y="1353184"/>
                </a:lnTo>
                <a:lnTo>
                  <a:pt x="7620" y="1349374"/>
                </a:lnTo>
                <a:lnTo>
                  <a:pt x="7902600" y="1349374"/>
                </a:lnTo>
                <a:lnTo>
                  <a:pt x="7902600" y="1353184"/>
                </a:lnTo>
                <a:close/>
              </a:path>
              <a:path w="7910830" h="1356995">
                <a:moveTo>
                  <a:pt x="7910220" y="1353184"/>
                </a:moveTo>
                <a:lnTo>
                  <a:pt x="7902600" y="1353184"/>
                </a:lnTo>
                <a:lnTo>
                  <a:pt x="7906410" y="1349374"/>
                </a:lnTo>
                <a:lnTo>
                  <a:pt x="7910220" y="1349374"/>
                </a:lnTo>
                <a:lnTo>
                  <a:pt x="7910220" y="135318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1123" y="3360420"/>
            <a:ext cx="7903464" cy="10774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7745" y="3356635"/>
            <a:ext cx="7910830" cy="1084580"/>
          </a:xfrm>
          <a:custGeom>
            <a:avLst/>
            <a:gdLst/>
            <a:ahLst/>
            <a:cxnLst/>
            <a:rect l="l" t="t" r="r" b="b"/>
            <a:pathLst>
              <a:path w="7910830" h="1084579">
                <a:moveTo>
                  <a:pt x="7910220" y="1084579"/>
                </a:moveTo>
                <a:lnTo>
                  <a:pt x="0" y="1084579"/>
                </a:lnTo>
                <a:lnTo>
                  <a:pt x="0" y="0"/>
                </a:lnTo>
                <a:lnTo>
                  <a:pt x="7910220" y="0"/>
                </a:lnTo>
                <a:lnTo>
                  <a:pt x="791022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076959"/>
                </a:lnTo>
                <a:lnTo>
                  <a:pt x="3810" y="1076959"/>
                </a:lnTo>
                <a:lnTo>
                  <a:pt x="7620" y="1080769"/>
                </a:lnTo>
                <a:lnTo>
                  <a:pt x="7910220" y="1080769"/>
                </a:lnTo>
                <a:lnTo>
                  <a:pt x="7910220" y="1084579"/>
                </a:lnTo>
                <a:close/>
              </a:path>
              <a:path w="7910830" h="1084579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910830" h="1084579">
                <a:moveTo>
                  <a:pt x="79026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902600" y="3809"/>
                </a:lnTo>
                <a:lnTo>
                  <a:pt x="7902600" y="7619"/>
                </a:lnTo>
                <a:close/>
              </a:path>
              <a:path w="7910830" h="1084579">
                <a:moveTo>
                  <a:pt x="7902600" y="1080769"/>
                </a:moveTo>
                <a:lnTo>
                  <a:pt x="7902600" y="3809"/>
                </a:lnTo>
                <a:lnTo>
                  <a:pt x="7906410" y="7619"/>
                </a:lnTo>
                <a:lnTo>
                  <a:pt x="7910220" y="7619"/>
                </a:lnTo>
                <a:lnTo>
                  <a:pt x="7910220" y="1076959"/>
                </a:lnTo>
                <a:lnTo>
                  <a:pt x="7906410" y="1076959"/>
                </a:lnTo>
                <a:lnTo>
                  <a:pt x="7902600" y="1080769"/>
                </a:lnTo>
                <a:close/>
              </a:path>
              <a:path w="7910830" h="1084579">
                <a:moveTo>
                  <a:pt x="7910220" y="7619"/>
                </a:moveTo>
                <a:lnTo>
                  <a:pt x="7906410" y="7619"/>
                </a:lnTo>
                <a:lnTo>
                  <a:pt x="7902600" y="3809"/>
                </a:lnTo>
                <a:lnTo>
                  <a:pt x="7910220" y="3809"/>
                </a:lnTo>
                <a:lnTo>
                  <a:pt x="7910220" y="7619"/>
                </a:lnTo>
                <a:close/>
              </a:path>
              <a:path w="7910830" h="1084579">
                <a:moveTo>
                  <a:pt x="7620" y="1080769"/>
                </a:moveTo>
                <a:lnTo>
                  <a:pt x="3810" y="1076959"/>
                </a:lnTo>
                <a:lnTo>
                  <a:pt x="7620" y="1076959"/>
                </a:lnTo>
                <a:lnTo>
                  <a:pt x="7620" y="1080769"/>
                </a:lnTo>
                <a:close/>
              </a:path>
              <a:path w="7910830" h="1084579">
                <a:moveTo>
                  <a:pt x="7902600" y="1080769"/>
                </a:moveTo>
                <a:lnTo>
                  <a:pt x="7620" y="1080769"/>
                </a:lnTo>
                <a:lnTo>
                  <a:pt x="7620" y="1076959"/>
                </a:lnTo>
                <a:lnTo>
                  <a:pt x="7902600" y="1076959"/>
                </a:lnTo>
                <a:lnTo>
                  <a:pt x="7902600" y="1080769"/>
                </a:lnTo>
                <a:close/>
              </a:path>
              <a:path w="7910830" h="1084579">
                <a:moveTo>
                  <a:pt x="7910220" y="1080769"/>
                </a:moveTo>
                <a:lnTo>
                  <a:pt x="7902600" y="1080769"/>
                </a:lnTo>
                <a:lnTo>
                  <a:pt x="7906410" y="1076959"/>
                </a:lnTo>
                <a:lnTo>
                  <a:pt x="7910220" y="1076959"/>
                </a:lnTo>
                <a:lnTo>
                  <a:pt x="7910220" y="108076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1123" y="4593335"/>
            <a:ext cx="7903464" cy="116890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7745" y="4590122"/>
            <a:ext cx="7910830" cy="1176020"/>
          </a:xfrm>
          <a:custGeom>
            <a:avLst/>
            <a:gdLst/>
            <a:ahLst/>
            <a:cxnLst/>
            <a:rect l="l" t="t" r="r" b="b"/>
            <a:pathLst>
              <a:path w="7910830" h="1176020">
                <a:moveTo>
                  <a:pt x="7910220" y="1176019"/>
                </a:moveTo>
                <a:lnTo>
                  <a:pt x="0" y="1176019"/>
                </a:lnTo>
                <a:lnTo>
                  <a:pt x="0" y="0"/>
                </a:lnTo>
                <a:lnTo>
                  <a:pt x="7910220" y="0"/>
                </a:lnTo>
                <a:lnTo>
                  <a:pt x="791022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168400"/>
                </a:lnTo>
                <a:lnTo>
                  <a:pt x="3810" y="1168400"/>
                </a:lnTo>
                <a:lnTo>
                  <a:pt x="7620" y="1172209"/>
                </a:lnTo>
                <a:lnTo>
                  <a:pt x="7910220" y="1172209"/>
                </a:lnTo>
                <a:lnTo>
                  <a:pt x="7910220" y="1176019"/>
                </a:lnTo>
                <a:close/>
              </a:path>
              <a:path w="7910830" h="117602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910830" h="1176020">
                <a:moveTo>
                  <a:pt x="79026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902600" y="3809"/>
                </a:lnTo>
                <a:lnTo>
                  <a:pt x="7902600" y="7619"/>
                </a:lnTo>
                <a:close/>
              </a:path>
              <a:path w="7910830" h="1176020">
                <a:moveTo>
                  <a:pt x="7902600" y="1172209"/>
                </a:moveTo>
                <a:lnTo>
                  <a:pt x="7902600" y="3809"/>
                </a:lnTo>
                <a:lnTo>
                  <a:pt x="7906410" y="7619"/>
                </a:lnTo>
                <a:lnTo>
                  <a:pt x="7910220" y="7619"/>
                </a:lnTo>
                <a:lnTo>
                  <a:pt x="7910220" y="1168400"/>
                </a:lnTo>
                <a:lnTo>
                  <a:pt x="7906410" y="1168400"/>
                </a:lnTo>
                <a:lnTo>
                  <a:pt x="7902600" y="1172209"/>
                </a:lnTo>
                <a:close/>
              </a:path>
              <a:path w="7910830" h="1176020">
                <a:moveTo>
                  <a:pt x="7910220" y="7619"/>
                </a:moveTo>
                <a:lnTo>
                  <a:pt x="7906410" y="7619"/>
                </a:lnTo>
                <a:lnTo>
                  <a:pt x="7902600" y="3809"/>
                </a:lnTo>
                <a:lnTo>
                  <a:pt x="7910220" y="3809"/>
                </a:lnTo>
                <a:lnTo>
                  <a:pt x="7910220" y="7619"/>
                </a:lnTo>
                <a:close/>
              </a:path>
              <a:path w="7910830" h="1176020">
                <a:moveTo>
                  <a:pt x="7620" y="1172209"/>
                </a:moveTo>
                <a:lnTo>
                  <a:pt x="3810" y="1168400"/>
                </a:lnTo>
                <a:lnTo>
                  <a:pt x="7620" y="1168400"/>
                </a:lnTo>
                <a:lnTo>
                  <a:pt x="7620" y="1172209"/>
                </a:lnTo>
                <a:close/>
              </a:path>
              <a:path w="7910830" h="1176020">
                <a:moveTo>
                  <a:pt x="7902600" y="1172209"/>
                </a:moveTo>
                <a:lnTo>
                  <a:pt x="7620" y="1172209"/>
                </a:lnTo>
                <a:lnTo>
                  <a:pt x="7620" y="1168400"/>
                </a:lnTo>
                <a:lnTo>
                  <a:pt x="7902600" y="1168400"/>
                </a:lnTo>
                <a:lnTo>
                  <a:pt x="7902600" y="1172209"/>
                </a:lnTo>
                <a:close/>
              </a:path>
              <a:path w="7910830" h="1176020">
                <a:moveTo>
                  <a:pt x="7910220" y="1172209"/>
                </a:moveTo>
                <a:lnTo>
                  <a:pt x="7902600" y="1172209"/>
                </a:lnTo>
                <a:lnTo>
                  <a:pt x="7906410" y="1168400"/>
                </a:lnTo>
                <a:lnTo>
                  <a:pt x="7910220" y="1168400"/>
                </a:lnTo>
                <a:lnTo>
                  <a:pt x="7910220" y="117220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（3）</a:t>
            </a:r>
            <a:r>
              <a:rPr dirty="0"/>
              <a:t>多种表达方</a:t>
            </a:r>
            <a:r>
              <a:rPr spc="-5" dirty="0"/>
              <a:t>式</a:t>
            </a:r>
          </a:p>
          <a:p>
            <a:pPr marL="514350">
              <a:lnSpc>
                <a:spcPct val="100000"/>
              </a:lnSpc>
              <a:spcBef>
                <a:spcPts val="1955"/>
              </a:spcBef>
            </a:pPr>
            <a:r>
              <a:rPr sz="2000" spc="-5" dirty="0"/>
              <a:t>    sum=0;</a:t>
            </a:r>
            <a:endParaRPr sz="2000" dirty="0"/>
          </a:p>
          <a:p>
            <a:pPr marL="514350">
              <a:lnSpc>
                <a:spcPct val="100000"/>
              </a:lnSpc>
            </a:pPr>
            <a:r>
              <a:rPr sz="2000" spc="-5" dirty="0"/>
              <a:t>    </a:t>
            </a:r>
            <a:r>
              <a:rPr sz="2000" spc="-5" dirty="0">
                <a:solidFill>
                  <a:srgbClr val="ED7A07"/>
                </a:solidFill>
              </a:rPr>
              <a:t>i=1</a:t>
            </a:r>
            <a:r>
              <a:rPr sz="2000" spc="975" dirty="0"/>
              <a:t> </a:t>
            </a:r>
            <a:r>
              <a:rPr sz="2000" spc="-5" dirty="0"/>
              <a:t>//</a:t>
            </a:r>
            <a:r>
              <a:rPr sz="2000" dirty="0"/>
              <a:t>在</a:t>
            </a:r>
            <a:r>
              <a:rPr sz="2000" spc="-5" dirty="0"/>
              <a:t>for</a:t>
            </a:r>
            <a:r>
              <a:rPr sz="2000" dirty="0"/>
              <a:t>语句之前给循环控制变量赋初</a:t>
            </a:r>
            <a:r>
              <a:rPr sz="2000" spc="5" dirty="0"/>
              <a:t>值</a:t>
            </a:r>
            <a:endParaRPr sz="2000" dirty="0"/>
          </a:p>
          <a:p>
            <a:pPr marL="514350">
              <a:lnSpc>
                <a:spcPct val="100000"/>
              </a:lnSpc>
            </a:pPr>
            <a:r>
              <a:rPr sz="2000" spc="-5" dirty="0"/>
              <a:t>    for (</a:t>
            </a:r>
            <a:r>
              <a:rPr sz="2000" spc="-5" dirty="0">
                <a:solidFill>
                  <a:srgbClr val="ED7A07"/>
                </a:solidFill>
              </a:rPr>
              <a:t>;</a:t>
            </a:r>
            <a:r>
              <a:rPr sz="2000" spc="-5" dirty="0"/>
              <a:t> i&lt;100; i++) sum=sum+i;</a:t>
            </a:r>
            <a:r>
              <a:rPr sz="2000" spc="975" dirty="0"/>
              <a:t> </a:t>
            </a:r>
            <a:r>
              <a:rPr sz="2000" spc="-5" dirty="0"/>
              <a:t>// </a:t>
            </a:r>
            <a:r>
              <a:rPr sz="2000" dirty="0"/>
              <a:t>省 略 表 达 式 1</a:t>
            </a:r>
          </a:p>
          <a:p>
            <a:pPr>
              <a:lnSpc>
                <a:spcPct val="100000"/>
              </a:lnSpc>
            </a:pPr>
            <a:endParaRPr sz="2000" dirty="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 dirty="0"/>
          </a:p>
          <a:p>
            <a:pPr marL="514350">
              <a:lnSpc>
                <a:spcPct val="100000"/>
              </a:lnSpc>
            </a:pPr>
            <a:r>
              <a:rPr sz="2000" spc="-5" dirty="0"/>
              <a:t>   </a:t>
            </a:r>
            <a:r>
              <a:rPr sz="2000" spc="-5" dirty="0">
                <a:solidFill>
                  <a:srgbClr val="ED7A07"/>
                </a:solidFill>
              </a:rPr>
              <a:t>i=1</a:t>
            </a:r>
            <a:r>
              <a:rPr sz="2000" spc="980" dirty="0"/>
              <a:t> </a:t>
            </a:r>
            <a:r>
              <a:rPr sz="2000" spc="-5" dirty="0"/>
              <a:t>//</a:t>
            </a:r>
            <a:r>
              <a:rPr sz="2000" dirty="0"/>
              <a:t>在</a:t>
            </a:r>
            <a:r>
              <a:rPr sz="2000" spc="-5" dirty="0"/>
              <a:t>for</a:t>
            </a:r>
            <a:r>
              <a:rPr sz="2000" dirty="0"/>
              <a:t>语句之前给循环控制变量赋初</a:t>
            </a:r>
            <a:r>
              <a:rPr sz="2000" spc="5" dirty="0"/>
              <a:t>值</a:t>
            </a:r>
            <a:endParaRPr sz="2000" dirty="0"/>
          </a:p>
          <a:p>
            <a:pPr marL="514350">
              <a:lnSpc>
                <a:spcPct val="100000"/>
              </a:lnSpc>
            </a:pPr>
            <a:r>
              <a:rPr sz="2000" spc="-5" dirty="0"/>
              <a:t>   for</a:t>
            </a:r>
            <a:r>
              <a:rPr sz="2000" spc="-10" dirty="0"/>
              <a:t> </a:t>
            </a:r>
            <a:r>
              <a:rPr sz="2000" spc="-5" dirty="0"/>
              <a:t>(</a:t>
            </a:r>
            <a:r>
              <a:rPr sz="2000" spc="-5" dirty="0">
                <a:solidFill>
                  <a:srgbClr val="ED7A07"/>
                </a:solidFill>
              </a:rPr>
              <a:t>sum=0;</a:t>
            </a:r>
            <a:r>
              <a:rPr sz="2000" spc="-5" dirty="0"/>
              <a:t> i&lt;100; i++)</a:t>
            </a:r>
            <a:r>
              <a:rPr sz="2000" spc="985" dirty="0"/>
              <a:t> </a:t>
            </a:r>
            <a:r>
              <a:rPr sz="2000" spc="-5" dirty="0"/>
              <a:t>//</a:t>
            </a:r>
            <a:r>
              <a:rPr sz="2000" dirty="0"/>
              <a:t>表达式</a:t>
            </a:r>
            <a:r>
              <a:rPr sz="2000" spc="-5" dirty="0"/>
              <a:t>1</a:t>
            </a:r>
            <a:r>
              <a:rPr sz="2000" dirty="0"/>
              <a:t>与循环控制变量无关 </a:t>
            </a:r>
          </a:p>
          <a:p>
            <a:pPr marL="514350">
              <a:lnSpc>
                <a:spcPct val="100000"/>
              </a:lnSpc>
            </a:pPr>
            <a:r>
              <a:rPr sz="2000" spc="-5" dirty="0"/>
              <a:t>              sum=sum+i;                            </a:t>
            </a:r>
            <a:r>
              <a:rPr sz="2000" dirty="0"/>
              <a:t> 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 dirty="0"/>
          </a:p>
          <a:p>
            <a:pPr marL="514350">
              <a:lnSpc>
                <a:spcPct val="100000"/>
              </a:lnSpc>
            </a:pPr>
            <a:r>
              <a:rPr sz="2000" spc="-5" dirty="0"/>
              <a:t> </a:t>
            </a:r>
            <a:r>
              <a:rPr sz="2000" dirty="0"/>
              <a:t> </a:t>
            </a:r>
          </a:p>
          <a:p>
            <a:pPr marL="514350">
              <a:lnSpc>
                <a:spcPct val="100000"/>
              </a:lnSpc>
              <a:spcBef>
                <a:spcPts val="400"/>
              </a:spcBef>
            </a:pPr>
            <a:r>
              <a:rPr sz="2000" spc="-5" dirty="0"/>
              <a:t>    for (sum=0, i=1; i&lt;100</a:t>
            </a:r>
            <a:r>
              <a:rPr sz="2000" spc="-5" dirty="0">
                <a:solidFill>
                  <a:srgbClr val="ED7A07"/>
                </a:solidFill>
              </a:rPr>
              <a:t>;</a:t>
            </a:r>
            <a:r>
              <a:rPr sz="2000" dirty="0">
                <a:solidFill>
                  <a:srgbClr val="ED7A07"/>
                </a:solidFill>
              </a:rPr>
              <a:t> </a:t>
            </a:r>
            <a:r>
              <a:rPr sz="2000" spc="-5" dirty="0"/>
              <a:t>){</a:t>
            </a:r>
            <a:r>
              <a:rPr sz="2000" dirty="0"/>
              <a:t> </a:t>
            </a:r>
            <a:r>
              <a:rPr sz="2000" spc="-5" dirty="0"/>
              <a:t>//</a:t>
            </a:r>
            <a:r>
              <a:rPr sz="2000" dirty="0"/>
              <a:t>省略表达式3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-76200" y="5358008"/>
            <a:ext cx="7745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宋体"/>
                <a:cs typeface="宋体"/>
              </a:rPr>
              <a:t>           </a:t>
            </a:r>
            <a:r>
              <a:rPr sz="2000" spc="40" dirty="0">
                <a:latin typeface="宋体"/>
                <a:cs typeface="宋体"/>
              </a:rPr>
              <a:t>sum=sum+i;</a:t>
            </a:r>
            <a:r>
              <a:rPr sz="2000" spc="1075" dirty="0">
                <a:latin typeface="宋体"/>
                <a:cs typeface="宋体"/>
              </a:rPr>
              <a:t> </a:t>
            </a:r>
            <a:r>
              <a:rPr sz="2000" spc="40" dirty="0">
                <a:solidFill>
                  <a:srgbClr val="ED7A07"/>
                </a:solidFill>
                <a:latin typeface="宋体"/>
                <a:cs typeface="宋体"/>
              </a:rPr>
              <a:t>i++</a:t>
            </a:r>
            <a:r>
              <a:rPr sz="2000" spc="40" dirty="0">
                <a:latin typeface="宋体"/>
                <a:cs typeface="宋体"/>
              </a:rPr>
              <a:t>;</a:t>
            </a:r>
            <a:r>
              <a:rPr sz="2000" spc="1075" dirty="0">
                <a:latin typeface="宋体"/>
                <a:cs typeface="宋体"/>
              </a:rPr>
              <a:t> </a:t>
            </a:r>
            <a:r>
              <a:rPr sz="2000" spc="40" dirty="0">
                <a:latin typeface="宋体"/>
                <a:cs typeface="宋体"/>
              </a:rPr>
              <a:t>}</a:t>
            </a:r>
            <a:r>
              <a:rPr sz="2000" spc="1070" dirty="0">
                <a:latin typeface="宋体"/>
                <a:cs typeface="宋体"/>
              </a:rPr>
              <a:t> </a:t>
            </a:r>
            <a:r>
              <a:rPr sz="2000" spc="40" dirty="0">
                <a:latin typeface="宋体"/>
                <a:cs typeface="宋体"/>
              </a:rPr>
              <a:t>//</a:t>
            </a:r>
            <a:r>
              <a:rPr sz="2000" spc="45" dirty="0">
                <a:latin typeface="宋体"/>
                <a:cs typeface="宋体"/>
              </a:rPr>
              <a:t>在</a:t>
            </a:r>
            <a:r>
              <a:rPr sz="2000" spc="50" dirty="0">
                <a:latin typeface="宋体"/>
                <a:cs typeface="宋体"/>
              </a:rPr>
              <a:t>循环体中改变</a:t>
            </a:r>
            <a:r>
              <a:rPr sz="2000" spc="5" dirty="0">
                <a:latin typeface="宋体"/>
                <a:cs typeface="宋体"/>
              </a:rPr>
              <a:t>循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53200" y="5338889"/>
            <a:ext cx="142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环控制条件 </a:t>
            </a:r>
          </a:p>
        </p:txBody>
      </p:sp>
      <p:sp>
        <p:nvSpPr>
          <p:cNvPr id="32" name="object 32"/>
          <p:cNvSpPr/>
          <p:nvPr/>
        </p:nvSpPr>
        <p:spPr>
          <a:xfrm>
            <a:off x="611123" y="5888735"/>
            <a:ext cx="7903464" cy="8610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7745" y="5885522"/>
            <a:ext cx="7910830" cy="868044"/>
          </a:xfrm>
          <a:custGeom>
            <a:avLst/>
            <a:gdLst/>
            <a:ahLst/>
            <a:cxnLst/>
            <a:rect l="l" t="t" r="r" b="b"/>
            <a:pathLst>
              <a:path w="7910830" h="868045">
                <a:moveTo>
                  <a:pt x="7910220" y="868045"/>
                </a:moveTo>
                <a:lnTo>
                  <a:pt x="0" y="868045"/>
                </a:lnTo>
                <a:lnTo>
                  <a:pt x="0" y="0"/>
                </a:lnTo>
                <a:lnTo>
                  <a:pt x="7910220" y="0"/>
                </a:lnTo>
                <a:lnTo>
                  <a:pt x="791022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860425"/>
                </a:lnTo>
                <a:lnTo>
                  <a:pt x="3810" y="860425"/>
                </a:lnTo>
                <a:lnTo>
                  <a:pt x="7620" y="864234"/>
                </a:lnTo>
                <a:lnTo>
                  <a:pt x="7910220" y="864234"/>
                </a:lnTo>
                <a:lnTo>
                  <a:pt x="7910220" y="868045"/>
                </a:lnTo>
                <a:close/>
              </a:path>
              <a:path w="7910830" h="86804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910830" h="868045">
                <a:moveTo>
                  <a:pt x="79026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902600" y="3809"/>
                </a:lnTo>
                <a:lnTo>
                  <a:pt x="7902600" y="7619"/>
                </a:lnTo>
                <a:close/>
              </a:path>
              <a:path w="7910830" h="868045">
                <a:moveTo>
                  <a:pt x="7902600" y="864234"/>
                </a:moveTo>
                <a:lnTo>
                  <a:pt x="7902600" y="3809"/>
                </a:lnTo>
                <a:lnTo>
                  <a:pt x="7906410" y="7619"/>
                </a:lnTo>
                <a:lnTo>
                  <a:pt x="7910220" y="7619"/>
                </a:lnTo>
                <a:lnTo>
                  <a:pt x="7910220" y="860425"/>
                </a:lnTo>
                <a:lnTo>
                  <a:pt x="7906410" y="860425"/>
                </a:lnTo>
                <a:lnTo>
                  <a:pt x="7902600" y="864234"/>
                </a:lnTo>
                <a:close/>
              </a:path>
              <a:path w="7910830" h="868045">
                <a:moveTo>
                  <a:pt x="7910220" y="7619"/>
                </a:moveTo>
                <a:lnTo>
                  <a:pt x="7906410" y="7619"/>
                </a:lnTo>
                <a:lnTo>
                  <a:pt x="7902600" y="3809"/>
                </a:lnTo>
                <a:lnTo>
                  <a:pt x="7910220" y="3809"/>
                </a:lnTo>
                <a:lnTo>
                  <a:pt x="7910220" y="7619"/>
                </a:lnTo>
                <a:close/>
              </a:path>
              <a:path w="7910830" h="868045">
                <a:moveTo>
                  <a:pt x="7620" y="864234"/>
                </a:moveTo>
                <a:lnTo>
                  <a:pt x="3810" y="860425"/>
                </a:lnTo>
                <a:lnTo>
                  <a:pt x="7620" y="860425"/>
                </a:lnTo>
                <a:lnTo>
                  <a:pt x="7620" y="864234"/>
                </a:lnTo>
                <a:close/>
              </a:path>
              <a:path w="7910830" h="868045">
                <a:moveTo>
                  <a:pt x="7902600" y="864234"/>
                </a:moveTo>
                <a:lnTo>
                  <a:pt x="7620" y="864234"/>
                </a:lnTo>
                <a:lnTo>
                  <a:pt x="7620" y="860425"/>
                </a:lnTo>
                <a:lnTo>
                  <a:pt x="7902600" y="860425"/>
                </a:lnTo>
                <a:lnTo>
                  <a:pt x="7902600" y="864234"/>
                </a:lnTo>
                <a:close/>
              </a:path>
              <a:path w="7910830" h="868045">
                <a:moveTo>
                  <a:pt x="7910220" y="864234"/>
                </a:moveTo>
                <a:lnTo>
                  <a:pt x="7902600" y="864234"/>
                </a:lnTo>
                <a:lnTo>
                  <a:pt x="7906410" y="860425"/>
                </a:lnTo>
                <a:lnTo>
                  <a:pt x="7910220" y="860425"/>
                </a:lnTo>
                <a:lnTo>
                  <a:pt x="7910220" y="86423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2995" y="5780747"/>
            <a:ext cx="5347335" cy="6362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2000" spc="-5" dirty="0">
                <a:latin typeface="宋体"/>
                <a:cs typeface="宋体"/>
              </a:rPr>
              <a:t>    for( </a:t>
            </a:r>
            <a:r>
              <a:rPr sz="2000" spc="-5" dirty="0">
                <a:solidFill>
                  <a:srgbClr val="ED7A07"/>
                </a:solidFill>
                <a:latin typeface="宋体"/>
                <a:cs typeface="宋体"/>
              </a:rPr>
              <a:t>i=0, j=10;</a:t>
            </a:r>
            <a:r>
              <a:rPr sz="2000" spc="-5" dirty="0">
                <a:latin typeface="宋体"/>
                <a:cs typeface="宋体"/>
              </a:rPr>
              <a:t> i&lt;j; </a:t>
            </a:r>
            <a:r>
              <a:rPr sz="2000" spc="-5" dirty="0">
                <a:solidFill>
                  <a:srgbClr val="ED7A07"/>
                </a:solidFill>
                <a:latin typeface="宋体"/>
                <a:cs typeface="宋体"/>
              </a:rPr>
              <a:t>i++, j--</a:t>
            </a:r>
            <a:r>
              <a:rPr sz="2000" spc="-5" dirty="0">
                <a:latin typeface="宋体"/>
                <a:cs typeface="宋体"/>
              </a:rPr>
              <a:t>)</a:t>
            </a:r>
            <a:r>
              <a:rPr sz="2000" spc="-10" dirty="0">
                <a:latin typeface="宋体"/>
                <a:cs typeface="宋体"/>
              </a:rPr>
              <a:t> </a:t>
            </a:r>
            <a:r>
              <a:rPr sz="2000" spc="-5" dirty="0">
                <a:latin typeface="宋体"/>
                <a:cs typeface="宋体"/>
              </a:rPr>
              <a:t>{……}</a:t>
            </a:r>
            <a:r>
              <a:rPr sz="2000" dirty="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2995" y="6390347"/>
            <a:ext cx="7733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宋体"/>
                <a:cs typeface="宋体"/>
              </a:rPr>
              <a:t>                                         </a:t>
            </a:r>
            <a:r>
              <a:rPr sz="2000" spc="65" dirty="0">
                <a:latin typeface="宋体"/>
                <a:cs typeface="宋体"/>
              </a:rPr>
              <a:t>//</a:t>
            </a:r>
            <a:r>
              <a:rPr sz="2000" spc="1050" dirty="0">
                <a:latin typeface="宋体"/>
                <a:cs typeface="宋体"/>
              </a:rPr>
              <a:t> </a:t>
            </a:r>
            <a:r>
              <a:rPr sz="2000" spc="70" dirty="0">
                <a:latin typeface="宋体"/>
                <a:cs typeface="宋体"/>
              </a:rPr>
              <a:t>表达式</a:t>
            </a:r>
            <a:r>
              <a:rPr sz="2000" spc="65" dirty="0">
                <a:latin typeface="宋体"/>
                <a:cs typeface="宋体"/>
              </a:rPr>
              <a:t>1</a:t>
            </a:r>
            <a:r>
              <a:rPr sz="2000" spc="75" dirty="0">
                <a:latin typeface="宋体"/>
                <a:cs typeface="宋体"/>
              </a:rPr>
              <a:t>和表达</a:t>
            </a:r>
            <a:r>
              <a:rPr sz="2000" spc="5" dirty="0">
                <a:latin typeface="宋体"/>
                <a:cs typeface="宋体"/>
              </a:rPr>
              <a:t>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2995" y="6542747"/>
            <a:ext cx="22993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宋体"/>
                <a:cs typeface="宋体"/>
              </a:rPr>
              <a:t>3</a:t>
            </a:r>
            <a:r>
              <a:rPr sz="2000" dirty="0">
                <a:latin typeface="宋体"/>
                <a:cs typeface="宋体"/>
              </a:rPr>
              <a:t>可以是逗号表达式 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16186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注意事</a:t>
            </a:r>
            <a:r>
              <a:rPr sz="2800" spc="-5" dirty="0">
                <a:latin typeface="宋体"/>
                <a:cs typeface="宋体"/>
              </a:rPr>
              <a:t>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24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2.5.4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for循环语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" y="2781300"/>
            <a:ext cx="7924800" cy="1187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795" y="2776854"/>
            <a:ext cx="7932420" cy="1195070"/>
          </a:xfrm>
          <a:custGeom>
            <a:avLst/>
            <a:gdLst/>
            <a:ahLst/>
            <a:cxnLst/>
            <a:rect l="l" t="t" r="r" b="b"/>
            <a:pathLst>
              <a:path w="7932420" h="1195070">
                <a:moveTo>
                  <a:pt x="7932420" y="1195070"/>
                </a:moveTo>
                <a:lnTo>
                  <a:pt x="0" y="1195070"/>
                </a:lnTo>
                <a:lnTo>
                  <a:pt x="0" y="0"/>
                </a:lnTo>
                <a:lnTo>
                  <a:pt x="7932420" y="0"/>
                </a:lnTo>
                <a:lnTo>
                  <a:pt x="793242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1187450"/>
                </a:lnTo>
                <a:lnTo>
                  <a:pt x="3809" y="1187450"/>
                </a:lnTo>
                <a:lnTo>
                  <a:pt x="7619" y="1191260"/>
                </a:lnTo>
                <a:lnTo>
                  <a:pt x="7932420" y="1191260"/>
                </a:lnTo>
                <a:lnTo>
                  <a:pt x="7932420" y="1195070"/>
                </a:lnTo>
                <a:close/>
              </a:path>
              <a:path w="7932420" h="119507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932420" h="1195070">
                <a:moveTo>
                  <a:pt x="792480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924800" y="3810"/>
                </a:lnTo>
                <a:lnTo>
                  <a:pt x="7924800" y="7620"/>
                </a:lnTo>
                <a:close/>
              </a:path>
              <a:path w="7932420" h="1195070">
                <a:moveTo>
                  <a:pt x="7924800" y="1191260"/>
                </a:moveTo>
                <a:lnTo>
                  <a:pt x="7924800" y="3810"/>
                </a:lnTo>
                <a:lnTo>
                  <a:pt x="7928609" y="7620"/>
                </a:lnTo>
                <a:lnTo>
                  <a:pt x="7932420" y="7620"/>
                </a:lnTo>
                <a:lnTo>
                  <a:pt x="7932420" y="1187450"/>
                </a:lnTo>
                <a:lnTo>
                  <a:pt x="7928609" y="1187450"/>
                </a:lnTo>
                <a:lnTo>
                  <a:pt x="7924800" y="1191260"/>
                </a:lnTo>
                <a:close/>
              </a:path>
              <a:path w="7932420" h="1195070">
                <a:moveTo>
                  <a:pt x="7932420" y="7620"/>
                </a:moveTo>
                <a:lnTo>
                  <a:pt x="7928609" y="7620"/>
                </a:lnTo>
                <a:lnTo>
                  <a:pt x="7924800" y="3810"/>
                </a:lnTo>
                <a:lnTo>
                  <a:pt x="7932420" y="3810"/>
                </a:lnTo>
                <a:lnTo>
                  <a:pt x="7932420" y="7620"/>
                </a:lnTo>
                <a:close/>
              </a:path>
              <a:path w="7932420" h="1195070">
                <a:moveTo>
                  <a:pt x="7619" y="1191260"/>
                </a:moveTo>
                <a:lnTo>
                  <a:pt x="3809" y="1187450"/>
                </a:lnTo>
                <a:lnTo>
                  <a:pt x="7619" y="1187450"/>
                </a:lnTo>
                <a:lnTo>
                  <a:pt x="7619" y="1191260"/>
                </a:lnTo>
                <a:close/>
              </a:path>
              <a:path w="7932420" h="1195070">
                <a:moveTo>
                  <a:pt x="7924800" y="1191260"/>
                </a:moveTo>
                <a:lnTo>
                  <a:pt x="7619" y="1191260"/>
                </a:lnTo>
                <a:lnTo>
                  <a:pt x="7619" y="1187450"/>
                </a:lnTo>
                <a:lnTo>
                  <a:pt x="7924800" y="1187450"/>
                </a:lnTo>
                <a:lnTo>
                  <a:pt x="7924800" y="1191260"/>
                </a:lnTo>
                <a:close/>
              </a:path>
              <a:path w="7932420" h="1195070">
                <a:moveTo>
                  <a:pt x="7932420" y="1191260"/>
                </a:moveTo>
                <a:lnTo>
                  <a:pt x="7924800" y="1191260"/>
                </a:lnTo>
                <a:lnTo>
                  <a:pt x="7928609" y="1187450"/>
                </a:lnTo>
                <a:lnTo>
                  <a:pt x="7932420" y="1187450"/>
                </a:lnTo>
                <a:lnTo>
                  <a:pt x="7932420" y="119126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3295" y="4293108"/>
            <a:ext cx="7924800" cy="306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0184" y="4289678"/>
            <a:ext cx="7932420" cy="314325"/>
          </a:xfrm>
          <a:custGeom>
            <a:avLst/>
            <a:gdLst/>
            <a:ahLst/>
            <a:cxnLst/>
            <a:rect l="l" t="t" r="r" b="b"/>
            <a:pathLst>
              <a:path w="7932420" h="314325">
                <a:moveTo>
                  <a:pt x="7932420" y="314325"/>
                </a:moveTo>
                <a:lnTo>
                  <a:pt x="0" y="314325"/>
                </a:lnTo>
                <a:lnTo>
                  <a:pt x="0" y="0"/>
                </a:lnTo>
                <a:lnTo>
                  <a:pt x="7932420" y="0"/>
                </a:lnTo>
                <a:lnTo>
                  <a:pt x="7932420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306705"/>
                </a:lnTo>
                <a:lnTo>
                  <a:pt x="3809" y="306705"/>
                </a:lnTo>
                <a:lnTo>
                  <a:pt x="7620" y="310515"/>
                </a:lnTo>
                <a:lnTo>
                  <a:pt x="7932420" y="310515"/>
                </a:lnTo>
                <a:lnTo>
                  <a:pt x="7932420" y="314325"/>
                </a:lnTo>
                <a:close/>
              </a:path>
              <a:path w="7932420" h="314325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932420" h="314325">
                <a:moveTo>
                  <a:pt x="79248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924800" y="3810"/>
                </a:lnTo>
                <a:lnTo>
                  <a:pt x="7924800" y="7620"/>
                </a:lnTo>
                <a:close/>
              </a:path>
              <a:path w="7932420" h="314325">
                <a:moveTo>
                  <a:pt x="7924800" y="310515"/>
                </a:moveTo>
                <a:lnTo>
                  <a:pt x="7924800" y="3810"/>
                </a:lnTo>
                <a:lnTo>
                  <a:pt x="7928609" y="7620"/>
                </a:lnTo>
                <a:lnTo>
                  <a:pt x="7932420" y="7620"/>
                </a:lnTo>
                <a:lnTo>
                  <a:pt x="7932420" y="306705"/>
                </a:lnTo>
                <a:lnTo>
                  <a:pt x="7928609" y="306705"/>
                </a:lnTo>
                <a:lnTo>
                  <a:pt x="7924800" y="310515"/>
                </a:lnTo>
                <a:close/>
              </a:path>
              <a:path w="7932420" h="314325">
                <a:moveTo>
                  <a:pt x="7932420" y="7620"/>
                </a:moveTo>
                <a:lnTo>
                  <a:pt x="7928609" y="7620"/>
                </a:lnTo>
                <a:lnTo>
                  <a:pt x="7924800" y="3810"/>
                </a:lnTo>
                <a:lnTo>
                  <a:pt x="7932420" y="3810"/>
                </a:lnTo>
                <a:lnTo>
                  <a:pt x="7932420" y="7620"/>
                </a:lnTo>
                <a:close/>
              </a:path>
              <a:path w="7932420" h="314325">
                <a:moveTo>
                  <a:pt x="7620" y="310515"/>
                </a:moveTo>
                <a:lnTo>
                  <a:pt x="3809" y="306705"/>
                </a:lnTo>
                <a:lnTo>
                  <a:pt x="7620" y="306705"/>
                </a:lnTo>
                <a:lnTo>
                  <a:pt x="7620" y="310515"/>
                </a:lnTo>
                <a:close/>
              </a:path>
              <a:path w="7932420" h="314325">
                <a:moveTo>
                  <a:pt x="7924800" y="310515"/>
                </a:moveTo>
                <a:lnTo>
                  <a:pt x="7620" y="310515"/>
                </a:lnTo>
                <a:lnTo>
                  <a:pt x="7620" y="306705"/>
                </a:lnTo>
                <a:lnTo>
                  <a:pt x="7924800" y="306705"/>
                </a:lnTo>
                <a:lnTo>
                  <a:pt x="7924800" y="310515"/>
                </a:lnTo>
                <a:close/>
              </a:path>
              <a:path w="7932420" h="314325">
                <a:moveTo>
                  <a:pt x="7932420" y="310515"/>
                </a:moveTo>
                <a:lnTo>
                  <a:pt x="7924800" y="310515"/>
                </a:lnTo>
                <a:lnTo>
                  <a:pt x="7928609" y="306705"/>
                </a:lnTo>
                <a:lnTo>
                  <a:pt x="7932420" y="306705"/>
                </a:lnTo>
                <a:lnTo>
                  <a:pt x="7932420" y="31051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295" y="2668397"/>
            <a:ext cx="7924800" cy="18986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335"/>
              </a:spcBef>
            </a:pPr>
            <a:r>
              <a:rPr sz="2000" spc="-5" dirty="0">
                <a:latin typeface="宋体"/>
                <a:cs typeface="宋体"/>
              </a:rPr>
              <a:t>  sum=0;</a:t>
            </a:r>
            <a:endParaRPr sz="2000" dirty="0">
              <a:latin typeface="宋体"/>
              <a:cs typeface="宋体"/>
            </a:endParaRPr>
          </a:p>
          <a:p>
            <a:pPr marL="23495" marR="272415">
              <a:lnSpc>
                <a:spcPct val="110000"/>
              </a:lnSpc>
            </a:pPr>
            <a:r>
              <a:rPr sz="2000" spc="-5" dirty="0">
                <a:latin typeface="宋体"/>
                <a:cs typeface="宋体"/>
              </a:rPr>
              <a:t>  for(</a:t>
            </a:r>
            <a:r>
              <a:rPr sz="2000" spc="-5" dirty="0">
                <a:solidFill>
                  <a:srgbClr val="ED7A07"/>
                </a:solidFill>
                <a:latin typeface="宋体"/>
                <a:cs typeface="宋体"/>
              </a:rPr>
              <a:t>int</a:t>
            </a:r>
            <a:r>
              <a:rPr sz="2000" spc="-10" dirty="0">
                <a:solidFill>
                  <a:srgbClr val="ED7A07"/>
                </a:solidFill>
                <a:latin typeface="宋体"/>
                <a:cs typeface="宋体"/>
              </a:rPr>
              <a:t> </a:t>
            </a:r>
            <a:r>
              <a:rPr sz="2000" spc="-5" dirty="0">
                <a:solidFill>
                  <a:srgbClr val="ED7A07"/>
                </a:solidFill>
                <a:latin typeface="宋体"/>
                <a:cs typeface="宋体"/>
              </a:rPr>
              <a:t>i=1</a:t>
            </a:r>
            <a:r>
              <a:rPr sz="2000" spc="-5" dirty="0">
                <a:latin typeface="宋体"/>
                <a:cs typeface="宋体"/>
              </a:rPr>
              <a:t>;</a:t>
            </a:r>
            <a:r>
              <a:rPr sz="2000" spc="985" dirty="0">
                <a:latin typeface="宋体"/>
                <a:cs typeface="宋体"/>
              </a:rPr>
              <a:t> </a:t>
            </a:r>
            <a:r>
              <a:rPr sz="2000" spc="-5" dirty="0">
                <a:latin typeface="宋体"/>
                <a:cs typeface="宋体"/>
              </a:rPr>
              <a:t>i&lt;=100;</a:t>
            </a:r>
            <a:r>
              <a:rPr sz="2000" spc="985" dirty="0">
                <a:latin typeface="宋体"/>
                <a:cs typeface="宋体"/>
              </a:rPr>
              <a:t> </a:t>
            </a:r>
            <a:r>
              <a:rPr sz="2000" spc="-5" dirty="0">
                <a:latin typeface="宋体"/>
                <a:cs typeface="宋体"/>
              </a:rPr>
              <a:t>i++)  //</a:t>
            </a:r>
            <a:r>
              <a:rPr sz="2000" dirty="0">
                <a:latin typeface="宋体"/>
                <a:cs typeface="宋体"/>
              </a:rPr>
              <a:t>在</a:t>
            </a:r>
            <a:r>
              <a:rPr sz="2000" spc="-5" dirty="0">
                <a:latin typeface="宋体"/>
                <a:cs typeface="宋体"/>
              </a:rPr>
              <a:t>for</a:t>
            </a:r>
            <a:r>
              <a:rPr sz="2000" dirty="0">
                <a:latin typeface="宋体"/>
                <a:cs typeface="宋体"/>
              </a:rPr>
              <a:t>语句中声明循环控制变</a:t>
            </a:r>
            <a:r>
              <a:rPr sz="2000" spc="5" dirty="0">
                <a:latin typeface="宋体"/>
                <a:cs typeface="宋体"/>
              </a:rPr>
              <a:t>量 </a:t>
            </a:r>
            <a:r>
              <a:rPr sz="2000" dirty="0">
                <a:latin typeface="宋体"/>
                <a:cs typeface="宋体"/>
              </a:rPr>
              <a:t>并赋初</a:t>
            </a:r>
            <a:r>
              <a:rPr sz="2000" spc="5" dirty="0">
                <a:latin typeface="宋体"/>
                <a:cs typeface="宋体"/>
              </a:rPr>
              <a:t>值</a:t>
            </a:r>
            <a:endParaRPr sz="2000" dirty="0">
              <a:latin typeface="宋体"/>
              <a:cs typeface="宋体"/>
            </a:endParaRPr>
          </a:p>
          <a:p>
            <a:pPr marL="2349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宋体"/>
                <a:cs typeface="宋体"/>
              </a:rPr>
              <a:t>       sum+=i;</a:t>
            </a:r>
            <a:endParaRPr sz="2000" dirty="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1789"/>
              </a:spcBef>
            </a:pPr>
            <a:r>
              <a:rPr sz="2000" spc="-5" dirty="0">
                <a:latin typeface="宋体"/>
                <a:cs typeface="宋体"/>
              </a:rPr>
              <a:t>  System.out.println(</a:t>
            </a:r>
            <a:r>
              <a:rPr sz="2000" spc="-5" dirty="0">
                <a:solidFill>
                  <a:srgbClr val="967A2C"/>
                </a:solidFill>
                <a:latin typeface="宋体"/>
                <a:cs typeface="宋体"/>
              </a:rPr>
              <a:t>i</a:t>
            </a:r>
            <a:r>
              <a:rPr sz="2000" spc="-5" dirty="0">
                <a:latin typeface="宋体"/>
                <a:cs typeface="宋体"/>
              </a:rPr>
              <a:t>);</a:t>
            </a:r>
            <a:r>
              <a:rPr sz="2000" dirty="0">
                <a:latin typeface="宋体"/>
                <a:cs typeface="宋体"/>
              </a:rPr>
              <a:t> </a:t>
            </a:r>
            <a:r>
              <a:rPr sz="2000" spc="-5" dirty="0">
                <a:latin typeface="宋体"/>
                <a:cs typeface="宋体"/>
              </a:rPr>
              <a:t>//</a:t>
            </a:r>
            <a:r>
              <a:rPr sz="2000" spc="-5" dirty="0">
                <a:solidFill>
                  <a:srgbClr val="ED7A07"/>
                </a:solidFill>
                <a:latin typeface="宋体"/>
                <a:cs typeface="宋体"/>
              </a:rPr>
              <a:t>!Error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5748" y="1496567"/>
            <a:ext cx="1299368" cy="10256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69</a:t>
            </a:fld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459230"/>
            <a:ext cx="2613660" cy="13138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11760" marR="894080" indent="-99060">
              <a:lnSpc>
                <a:spcPct val="101000"/>
              </a:lnSpc>
              <a:spcBef>
                <a:spcPts val="60"/>
              </a:spcBef>
            </a:pPr>
            <a:r>
              <a:rPr sz="2800" dirty="0">
                <a:latin typeface="宋体"/>
                <a:cs typeface="宋体"/>
              </a:rPr>
              <a:t>一般形</a:t>
            </a:r>
            <a:r>
              <a:rPr sz="2800" spc="-5" dirty="0">
                <a:latin typeface="宋体"/>
                <a:cs typeface="宋体"/>
              </a:rPr>
              <a:t>式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do</a:t>
            </a:r>
            <a:r>
              <a:rPr sz="2800" spc="1295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语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11176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while</a:t>
            </a:r>
            <a:r>
              <a:rPr sz="2800" spc="-8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(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表达式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414845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2.5.5</a:t>
            </a:r>
            <a:r>
              <a:rPr sz="2800" b="1" spc="135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do-while循环语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7675" y="2293937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127000" y="76200"/>
                </a:moveTo>
                <a:lnTo>
                  <a:pt x="0" y="38100"/>
                </a:lnTo>
                <a:lnTo>
                  <a:pt x="127000" y="0"/>
                </a:lnTo>
                <a:lnTo>
                  <a:pt x="74083" y="31750"/>
                </a:lnTo>
                <a:lnTo>
                  <a:pt x="47625" y="31750"/>
                </a:lnTo>
                <a:lnTo>
                  <a:pt x="47625" y="44450"/>
                </a:lnTo>
                <a:lnTo>
                  <a:pt x="74083" y="44450"/>
                </a:lnTo>
                <a:lnTo>
                  <a:pt x="127000" y="76200"/>
                </a:lnTo>
                <a:close/>
              </a:path>
              <a:path w="914400" h="76200">
                <a:moveTo>
                  <a:pt x="74083" y="44450"/>
                </a:moveTo>
                <a:lnTo>
                  <a:pt x="47625" y="44450"/>
                </a:lnTo>
                <a:lnTo>
                  <a:pt x="47625" y="31750"/>
                </a:lnTo>
                <a:lnTo>
                  <a:pt x="74083" y="31750"/>
                </a:lnTo>
                <a:lnTo>
                  <a:pt x="63500" y="38100"/>
                </a:lnTo>
                <a:lnTo>
                  <a:pt x="74083" y="44450"/>
                </a:lnTo>
                <a:close/>
              </a:path>
              <a:path w="914400" h="76200">
                <a:moveTo>
                  <a:pt x="914400" y="44450"/>
                </a:moveTo>
                <a:lnTo>
                  <a:pt x="74083" y="44450"/>
                </a:lnTo>
                <a:lnTo>
                  <a:pt x="63500" y="38100"/>
                </a:lnTo>
                <a:lnTo>
                  <a:pt x="74083" y="31750"/>
                </a:lnTo>
                <a:lnTo>
                  <a:pt x="914400" y="31750"/>
                </a:lnTo>
                <a:lnTo>
                  <a:pt x="914400" y="44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04615" y="1860549"/>
            <a:ext cx="33280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循环体可以是复合语句，其中 必须含有改变条件表达式值的 语句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6601" y="1969795"/>
            <a:ext cx="952500" cy="397510"/>
          </a:xfrm>
          <a:custGeom>
            <a:avLst/>
            <a:gdLst/>
            <a:ahLst/>
            <a:cxnLst/>
            <a:rect l="l" t="t" r="r" b="b"/>
            <a:pathLst>
              <a:path w="952500" h="397510">
                <a:moveTo>
                  <a:pt x="952500" y="397167"/>
                </a:moveTo>
                <a:lnTo>
                  <a:pt x="0" y="397167"/>
                </a:lnTo>
                <a:lnTo>
                  <a:pt x="0" y="0"/>
                </a:lnTo>
                <a:lnTo>
                  <a:pt x="952500" y="0"/>
                </a:lnTo>
                <a:lnTo>
                  <a:pt x="9525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359067"/>
                </a:lnTo>
                <a:lnTo>
                  <a:pt x="19050" y="359067"/>
                </a:lnTo>
                <a:lnTo>
                  <a:pt x="38100" y="378117"/>
                </a:lnTo>
                <a:lnTo>
                  <a:pt x="952500" y="378117"/>
                </a:lnTo>
                <a:lnTo>
                  <a:pt x="952500" y="397167"/>
                </a:lnTo>
                <a:close/>
              </a:path>
              <a:path w="952500" h="39751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952500" h="397510">
                <a:moveTo>
                  <a:pt x="9144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914400" y="19050"/>
                </a:lnTo>
                <a:lnTo>
                  <a:pt x="914400" y="38100"/>
                </a:lnTo>
                <a:close/>
              </a:path>
              <a:path w="952500" h="397510">
                <a:moveTo>
                  <a:pt x="914400" y="378117"/>
                </a:moveTo>
                <a:lnTo>
                  <a:pt x="914400" y="19050"/>
                </a:lnTo>
                <a:lnTo>
                  <a:pt x="933450" y="38100"/>
                </a:lnTo>
                <a:lnTo>
                  <a:pt x="952500" y="38100"/>
                </a:lnTo>
                <a:lnTo>
                  <a:pt x="952500" y="359067"/>
                </a:lnTo>
                <a:lnTo>
                  <a:pt x="933450" y="359067"/>
                </a:lnTo>
                <a:lnTo>
                  <a:pt x="914400" y="378117"/>
                </a:lnTo>
                <a:close/>
              </a:path>
              <a:path w="952500" h="397510">
                <a:moveTo>
                  <a:pt x="952500" y="38100"/>
                </a:moveTo>
                <a:lnTo>
                  <a:pt x="933450" y="38100"/>
                </a:lnTo>
                <a:lnTo>
                  <a:pt x="914400" y="19050"/>
                </a:lnTo>
                <a:lnTo>
                  <a:pt x="952500" y="19050"/>
                </a:lnTo>
                <a:lnTo>
                  <a:pt x="952500" y="38100"/>
                </a:lnTo>
                <a:close/>
              </a:path>
              <a:path w="952500" h="397510">
                <a:moveTo>
                  <a:pt x="38100" y="378117"/>
                </a:moveTo>
                <a:lnTo>
                  <a:pt x="19050" y="359067"/>
                </a:lnTo>
                <a:lnTo>
                  <a:pt x="38100" y="359067"/>
                </a:lnTo>
                <a:lnTo>
                  <a:pt x="38100" y="378117"/>
                </a:lnTo>
                <a:close/>
              </a:path>
              <a:path w="952500" h="397510">
                <a:moveTo>
                  <a:pt x="914400" y="378117"/>
                </a:moveTo>
                <a:lnTo>
                  <a:pt x="38100" y="378117"/>
                </a:lnTo>
                <a:lnTo>
                  <a:pt x="38100" y="359067"/>
                </a:lnTo>
                <a:lnTo>
                  <a:pt x="914400" y="359067"/>
                </a:lnTo>
                <a:lnTo>
                  <a:pt x="914400" y="378117"/>
                </a:lnTo>
                <a:close/>
              </a:path>
              <a:path w="952500" h="397510">
                <a:moveTo>
                  <a:pt x="952500" y="378117"/>
                </a:moveTo>
                <a:lnTo>
                  <a:pt x="914400" y="378117"/>
                </a:lnTo>
                <a:lnTo>
                  <a:pt x="933450" y="359067"/>
                </a:lnTo>
                <a:lnTo>
                  <a:pt x="952500" y="359067"/>
                </a:lnTo>
                <a:lnTo>
                  <a:pt x="952500" y="378117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3964" y="2997707"/>
            <a:ext cx="1964826" cy="2345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423" y="4014577"/>
            <a:ext cx="110013" cy="1100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3737" y="3817251"/>
            <a:ext cx="3225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 </a:t>
            </a:r>
            <a:r>
              <a:rPr sz="2800" dirty="0">
                <a:latin typeface="微软雅黑"/>
                <a:cs typeface="微软雅黑"/>
              </a:rPr>
              <a:t>与</a:t>
            </a:r>
            <a:r>
              <a:rPr sz="2800" spc="-5" dirty="0">
                <a:latin typeface="宋体"/>
                <a:cs typeface="宋体"/>
              </a:rPr>
              <a:t>while</a:t>
            </a:r>
            <a:r>
              <a:rPr sz="2800" dirty="0">
                <a:latin typeface="微软雅黑"/>
                <a:cs typeface="微软雅黑"/>
              </a:rPr>
              <a:t>语句的比</a:t>
            </a:r>
            <a:r>
              <a:rPr sz="2800" spc="-5" dirty="0">
                <a:latin typeface="微软雅黑"/>
                <a:cs typeface="微软雅黑"/>
              </a:rPr>
              <a:t>较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68645" y="3874008"/>
            <a:ext cx="1922052" cy="17273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2587"/>
            <a:ext cx="2660014" cy="255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05554" y="393852"/>
            <a:ext cx="138517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459230"/>
            <a:ext cx="784796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7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2-11</a:t>
            </a:r>
            <a:r>
              <a:rPr sz="2800" dirty="0">
                <a:latin typeface="宋体"/>
                <a:cs typeface="宋体"/>
              </a:rPr>
              <a:t>】输入两个正数，并利用欧几里德算法</a:t>
            </a:r>
            <a:r>
              <a:rPr sz="2800" spc="-5" dirty="0">
                <a:latin typeface="宋体"/>
                <a:cs typeface="宋体"/>
              </a:rPr>
              <a:t>（ </a:t>
            </a:r>
            <a:r>
              <a:rPr sz="2800" dirty="0">
                <a:latin typeface="宋体"/>
                <a:cs typeface="宋体"/>
              </a:rPr>
              <a:t>辗转相除法）求它们的最大公约数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71</a:t>
            </a:fld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3411854" cy="174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改变程序控制流语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break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continue</a:t>
            </a:r>
            <a:endParaRPr sz="2800">
              <a:latin typeface="宋体"/>
              <a:cs typeface="宋体"/>
            </a:endParaRPr>
          </a:p>
          <a:p>
            <a:pPr marL="52705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spc="-5" dirty="0">
                <a:latin typeface="宋体"/>
                <a:cs typeface="宋体"/>
              </a:rPr>
              <a:t>return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8943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2.5.6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break语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92612" y="33401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2862" y="552450"/>
                </a:moveTo>
                <a:lnTo>
                  <a:pt x="33337" y="5524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552450"/>
                </a:lnTo>
                <a:close/>
              </a:path>
              <a:path w="76200" h="609600">
                <a:moveTo>
                  <a:pt x="38100" y="609600"/>
                </a:moveTo>
                <a:lnTo>
                  <a:pt x="0" y="533400"/>
                </a:lnTo>
                <a:lnTo>
                  <a:pt x="33337" y="533400"/>
                </a:lnTo>
                <a:lnTo>
                  <a:pt x="33337" y="552450"/>
                </a:lnTo>
                <a:lnTo>
                  <a:pt x="66675" y="552450"/>
                </a:lnTo>
                <a:lnTo>
                  <a:pt x="38100" y="609600"/>
                </a:lnTo>
                <a:close/>
              </a:path>
              <a:path w="76200" h="609600">
                <a:moveTo>
                  <a:pt x="66675" y="552450"/>
                </a:moveTo>
                <a:lnTo>
                  <a:pt x="42862" y="552450"/>
                </a:lnTo>
                <a:lnTo>
                  <a:pt x="42862" y="533400"/>
                </a:lnTo>
                <a:lnTo>
                  <a:pt x="76200" y="533400"/>
                </a:lnTo>
                <a:lnTo>
                  <a:pt x="66675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58667" y="3950208"/>
            <a:ext cx="3048000" cy="1569720"/>
          </a:xfrm>
          <a:custGeom>
            <a:avLst/>
            <a:gdLst/>
            <a:ahLst/>
            <a:cxnLst/>
            <a:rect l="l" t="t" r="r" b="b"/>
            <a:pathLst>
              <a:path w="3048000" h="1569720">
                <a:moveTo>
                  <a:pt x="0" y="0"/>
                </a:moveTo>
                <a:lnTo>
                  <a:pt x="3048000" y="0"/>
                </a:lnTo>
                <a:lnTo>
                  <a:pt x="3048000" y="1569719"/>
                </a:lnTo>
                <a:lnTo>
                  <a:pt x="0" y="1569719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4467" y="2350007"/>
            <a:ext cx="1316990" cy="990600"/>
          </a:xfrm>
          <a:custGeom>
            <a:avLst/>
            <a:gdLst/>
            <a:ahLst/>
            <a:cxnLst/>
            <a:rect l="l" t="t" r="r" b="b"/>
            <a:pathLst>
              <a:path w="1316989" h="990600">
                <a:moveTo>
                  <a:pt x="658368" y="990600"/>
                </a:moveTo>
                <a:lnTo>
                  <a:pt x="0" y="495300"/>
                </a:lnTo>
                <a:lnTo>
                  <a:pt x="658368" y="0"/>
                </a:lnTo>
                <a:lnTo>
                  <a:pt x="1316736" y="495300"/>
                </a:lnTo>
                <a:lnTo>
                  <a:pt x="658368" y="9906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6987" y="2343543"/>
            <a:ext cx="1332230" cy="1002665"/>
          </a:xfrm>
          <a:custGeom>
            <a:avLst/>
            <a:gdLst/>
            <a:ahLst/>
            <a:cxnLst/>
            <a:rect l="l" t="t" r="r" b="b"/>
            <a:pathLst>
              <a:path w="1332229" h="1002664">
                <a:moveTo>
                  <a:pt x="665949" y="1002512"/>
                </a:moveTo>
                <a:lnTo>
                  <a:pt x="0" y="501256"/>
                </a:lnTo>
                <a:lnTo>
                  <a:pt x="665949" y="0"/>
                </a:lnTo>
                <a:lnTo>
                  <a:pt x="678924" y="9766"/>
                </a:lnTo>
                <a:lnTo>
                  <a:pt x="663079" y="9766"/>
                </a:lnTo>
                <a:lnTo>
                  <a:pt x="665943" y="11921"/>
                </a:lnTo>
                <a:lnTo>
                  <a:pt x="20918" y="497446"/>
                </a:lnTo>
                <a:lnTo>
                  <a:pt x="10795" y="497446"/>
                </a:lnTo>
                <a:lnTo>
                  <a:pt x="10795" y="505066"/>
                </a:lnTo>
                <a:lnTo>
                  <a:pt x="20918" y="505066"/>
                </a:lnTo>
                <a:lnTo>
                  <a:pt x="665943" y="990590"/>
                </a:lnTo>
                <a:lnTo>
                  <a:pt x="663079" y="992746"/>
                </a:lnTo>
                <a:lnTo>
                  <a:pt x="678924" y="992746"/>
                </a:lnTo>
                <a:lnTo>
                  <a:pt x="665949" y="1002512"/>
                </a:lnTo>
                <a:close/>
              </a:path>
              <a:path w="1332229" h="1002664">
                <a:moveTo>
                  <a:pt x="665943" y="11921"/>
                </a:moveTo>
                <a:lnTo>
                  <a:pt x="663079" y="9766"/>
                </a:lnTo>
                <a:lnTo>
                  <a:pt x="668807" y="9766"/>
                </a:lnTo>
                <a:lnTo>
                  <a:pt x="665943" y="11921"/>
                </a:lnTo>
                <a:close/>
              </a:path>
              <a:path w="1332229" h="1002664">
                <a:moveTo>
                  <a:pt x="1316043" y="501256"/>
                </a:moveTo>
                <a:lnTo>
                  <a:pt x="665943" y="11921"/>
                </a:lnTo>
                <a:lnTo>
                  <a:pt x="668807" y="9766"/>
                </a:lnTo>
                <a:lnTo>
                  <a:pt x="678924" y="9766"/>
                </a:lnTo>
                <a:lnTo>
                  <a:pt x="1326825" y="497446"/>
                </a:lnTo>
                <a:lnTo>
                  <a:pt x="1321104" y="497446"/>
                </a:lnTo>
                <a:lnTo>
                  <a:pt x="1316043" y="501256"/>
                </a:lnTo>
                <a:close/>
              </a:path>
              <a:path w="1332229" h="1002664">
                <a:moveTo>
                  <a:pt x="10795" y="505066"/>
                </a:moveTo>
                <a:lnTo>
                  <a:pt x="10795" y="497446"/>
                </a:lnTo>
                <a:lnTo>
                  <a:pt x="15856" y="501256"/>
                </a:lnTo>
                <a:lnTo>
                  <a:pt x="10795" y="505066"/>
                </a:lnTo>
                <a:close/>
              </a:path>
              <a:path w="1332229" h="1002664">
                <a:moveTo>
                  <a:pt x="15856" y="501256"/>
                </a:moveTo>
                <a:lnTo>
                  <a:pt x="10795" y="497446"/>
                </a:lnTo>
                <a:lnTo>
                  <a:pt x="20918" y="497446"/>
                </a:lnTo>
                <a:lnTo>
                  <a:pt x="15856" y="501256"/>
                </a:lnTo>
                <a:close/>
              </a:path>
              <a:path w="1332229" h="1002664">
                <a:moveTo>
                  <a:pt x="1321104" y="505066"/>
                </a:moveTo>
                <a:lnTo>
                  <a:pt x="1316043" y="501256"/>
                </a:lnTo>
                <a:lnTo>
                  <a:pt x="1321104" y="497446"/>
                </a:lnTo>
                <a:lnTo>
                  <a:pt x="1321104" y="505066"/>
                </a:lnTo>
                <a:close/>
              </a:path>
              <a:path w="1332229" h="1002664">
                <a:moveTo>
                  <a:pt x="1326825" y="505066"/>
                </a:moveTo>
                <a:lnTo>
                  <a:pt x="1321104" y="505066"/>
                </a:lnTo>
                <a:lnTo>
                  <a:pt x="1321104" y="497446"/>
                </a:lnTo>
                <a:lnTo>
                  <a:pt x="1326825" y="497446"/>
                </a:lnTo>
                <a:lnTo>
                  <a:pt x="1331887" y="501256"/>
                </a:lnTo>
                <a:lnTo>
                  <a:pt x="1326825" y="505066"/>
                </a:lnTo>
                <a:close/>
              </a:path>
              <a:path w="1332229" h="1002664">
                <a:moveTo>
                  <a:pt x="20918" y="505066"/>
                </a:moveTo>
                <a:lnTo>
                  <a:pt x="10795" y="505066"/>
                </a:lnTo>
                <a:lnTo>
                  <a:pt x="15856" y="501256"/>
                </a:lnTo>
                <a:lnTo>
                  <a:pt x="20918" y="505066"/>
                </a:lnTo>
                <a:close/>
              </a:path>
              <a:path w="1332229" h="1002664">
                <a:moveTo>
                  <a:pt x="678924" y="992746"/>
                </a:moveTo>
                <a:lnTo>
                  <a:pt x="668807" y="992746"/>
                </a:lnTo>
                <a:lnTo>
                  <a:pt x="665943" y="990590"/>
                </a:lnTo>
                <a:lnTo>
                  <a:pt x="1316043" y="501256"/>
                </a:lnTo>
                <a:lnTo>
                  <a:pt x="1321104" y="505066"/>
                </a:lnTo>
                <a:lnTo>
                  <a:pt x="1326825" y="505066"/>
                </a:lnTo>
                <a:lnTo>
                  <a:pt x="678924" y="992746"/>
                </a:lnTo>
                <a:close/>
              </a:path>
              <a:path w="1332229" h="1002664">
                <a:moveTo>
                  <a:pt x="668807" y="992746"/>
                </a:moveTo>
                <a:lnTo>
                  <a:pt x="663079" y="992746"/>
                </a:lnTo>
                <a:lnTo>
                  <a:pt x="665943" y="990590"/>
                </a:lnTo>
                <a:lnTo>
                  <a:pt x="668807" y="992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82148" y="2661919"/>
            <a:ext cx="1042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循环条</a:t>
            </a:r>
            <a:r>
              <a:rPr sz="2000" spc="5" dirty="0">
                <a:latin typeface="微软雅黑"/>
                <a:cs typeface="微软雅黑"/>
              </a:rPr>
              <a:t>件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852" y="3369309"/>
            <a:ext cx="1129030" cy="209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true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循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640080" algn="l"/>
              </a:tabLst>
            </a:pPr>
            <a:r>
              <a:rPr sz="2400" dirty="0">
                <a:latin typeface="微软雅黑"/>
                <a:cs typeface="微软雅黑"/>
              </a:rPr>
              <a:t>环	</a:t>
            </a:r>
            <a:r>
              <a:rPr sz="1400" spc="-10" dirty="0">
                <a:latin typeface="微软雅黑"/>
                <a:cs typeface="微软雅黑"/>
              </a:rPr>
              <a:t>break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微软雅黑"/>
                <a:cs typeface="微软雅黑"/>
              </a:rPr>
              <a:t>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64074" y="4768850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40274" y="476901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16474" y="476916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92674" y="476933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68874" y="476948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5074" y="476964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21274" y="476980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97474" y="476996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73674" y="4770120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49874" y="477028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68962" y="4773612"/>
            <a:ext cx="114300" cy="1247775"/>
          </a:xfrm>
          <a:custGeom>
            <a:avLst/>
            <a:gdLst/>
            <a:ahLst/>
            <a:cxnLst/>
            <a:rect l="l" t="t" r="r" b="b"/>
            <a:pathLst>
              <a:path w="114300" h="1247775">
                <a:moveTo>
                  <a:pt x="57150" y="1247775"/>
                </a:moveTo>
                <a:lnTo>
                  <a:pt x="0" y="1133475"/>
                </a:lnTo>
                <a:lnTo>
                  <a:pt x="114300" y="1133475"/>
                </a:lnTo>
                <a:lnTo>
                  <a:pt x="109537" y="1143000"/>
                </a:lnTo>
                <a:lnTo>
                  <a:pt x="38100" y="1143000"/>
                </a:lnTo>
                <a:lnTo>
                  <a:pt x="38100" y="1162050"/>
                </a:lnTo>
                <a:lnTo>
                  <a:pt x="100012" y="1162050"/>
                </a:lnTo>
                <a:lnTo>
                  <a:pt x="57150" y="1247775"/>
                </a:lnTo>
                <a:close/>
              </a:path>
              <a:path w="114300" h="1247775">
                <a:moveTo>
                  <a:pt x="76200" y="1162050"/>
                </a:moveTo>
                <a:lnTo>
                  <a:pt x="38100" y="1162050"/>
                </a:lnTo>
                <a:lnTo>
                  <a:pt x="38100" y="1143000"/>
                </a:lnTo>
                <a:lnTo>
                  <a:pt x="76200" y="1143000"/>
                </a:lnTo>
                <a:lnTo>
                  <a:pt x="76200" y="1162050"/>
                </a:lnTo>
                <a:close/>
              </a:path>
              <a:path w="114300" h="1247775">
                <a:moveTo>
                  <a:pt x="100012" y="1162050"/>
                </a:moveTo>
                <a:lnTo>
                  <a:pt x="76200" y="1162050"/>
                </a:lnTo>
                <a:lnTo>
                  <a:pt x="76200" y="1143000"/>
                </a:lnTo>
                <a:lnTo>
                  <a:pt x="109537" y="1143000"/>
                </a:lnTo>
                <a:lnTo>
                  <a:pt x="100012" y="1162050"/>
                </a:lnTo>
                <a:close/>
              </a:path>
              <a:path w="114300" h="1247775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1247775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1247775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  <a:path w="114300" h="1247775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1247775">
                <a:moveTo>
                  <a:pt x="76200" y="342900"/>
                </a:moveTo>
                <a:lnTo>
                  <a:pt x="38100" y="342900"/>
                </a:lnTo>
                <a:lnTo>
                  <a:pt x="38100" y="304800"/>
                </a:lnTo>
                <a:lnTo>
                  <a:pt x="76200" y="304800"/>
                </a:lnTo>
                <a:lnTo>
                  <a:pt x="76200" y="342900"/>
                </a:lnTo>
                <a:close/>
              </a:path>
              <a:path w="114300" h="1247775">
                <a:moveTo>
                  <a:pt x="76200" y="419100"/>
                </a:moveTo>
                <a:lnTo>
                  <a:pt x="38100" y="419100"/>
                </a:lnTo>
                <a:lnTo>
                  <a:pt x="38100" y="381000"/>
                </a:lnTo>
                <a:lnTo>
                  <a:pt x="76200" y="381000"/>
                </a:lnTo>
                <a:lnTo>
                  <a:pt x="76200" y="419100"/>
                </a:lnTo>
                <a:close/>
              </a:path>
              <a:path w="114300" h="1247775">
                <a:moveTo>
                  <a:pt x="76200" y="495300"/>
                </a:moveTo>
                <a:lnTo>
                  <a:pt x="38100" y="495300"/>
                </a:lnTo>
                <a:lnTo>
                  <a:pt x="38100" y="457200"/>
                </a:lnTo>
                <a:lnTo>
                  <a:pt x="76200" y="457200"/>
                </a:lnTo>
                <a:lnTo>
                  <a:pt x="76200" y="495300"/>
                </a:lnTo>
                <a:close/>
              </a:path>
              <a:path w="114300" h="1247775">
                <a:moveTo>
                  <a:pt x="76200" y="571500"/>
                </a:moveTo>
                <a:lnTo>
                  <a:pt x="38100" y="5715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571500"/>
                </a:lnTo>
                <a:close/>
              </a:path>
              <a:path w="114300" h="1247775">
                <a:moveTo>
                  <a:pt x="76200" y="647700"/>
                </a:moveTo>
                <a:lnTo>
                  <a:pt x="38100" y="647700"/>
                </a:lnTo>
                <a:lnTo>
                  <a:pt x="38100" y="609600"/>
                </a:lnTo>
                <a:lnTo>
                  <a:pt x="76200" y="609600"/>
                </a:lnTo>
                <a:lnTo>
                  <a:pt x="76200" y="647700"/>
                </a:lnTo>
                <a:close/>
              </a:path>
              <a:path w="114300" h="1247775">
                <a:moveTo>
                  <a:pt x="76200" y="723900"/>
                </a:moveTo>
                <a:lnTo>
                  <a:pt x="38100" y="7239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723900"/>
                </a:lnTo>
                <a:close/>
              </a:path>
              <a:path w="114300" h="1247775">
                <a:moveTo>
                  <a:pt x="76200" y="800100"/>
                </a:moveTo>
                <a:lnTo>
                  <a:pt x="38100" y="800100"/>
                </a:lnTo>
                <a:lnTo>
                  <a:pt x="38100" y="762000"/>
                </a:lnTo>
                <a:lnTo>
                  <a:pt x="76200" y="762000"/>
                </a:lnTo>
                <a:lnTo>
                  <a:pt x="76200" y="800100"/>
                </a:lnTo>
                <a:close/>
              </a:path>
              <a:path w="114300" h="1247775">
                <a:moveTo>
                  <a:pt x="76200" y="876300"/>
                </a:moveTo>
                <a:lnTo>
                  <a:pt x="38100" y="876300"/>
                </a:lnTo>
                <a:lnTo>
                  <a:pt x="38100" y="838200"/>
                </a:lnTo>
                <a:lnTo>
                  <a:pt x="76200" y="838200"/>
                </a:lnTo>
                <a:lnTo>
                  <a:pt x="76200" y="876300"/>
                </a:lnTo>
                <a:close/>
              </a:path>
              <a:path w="114300" h="1247775">
                <a:moveTo>
                  <a:pt x="76200" y="952500"/>
                </a:moveTo>
                <a:lnTo>
                  <a:pt x="38100" y="952500"/>
                </a:lnTo>
                <a:lnTo>
                  <a:pt x="38100" y="914400"/>
                </a:lnTo>
                <a:lnTo>
                  <a:pt x="76200" y="914400"/>
                </a:lnTo>
                <a:lnTo>
                  <a:pt x="76200" y="952500"/>
                </a:lnTo>
                <a:close/>
              </a:path>
              <a:path w="114300" h="1247775">
                <a:moveTo>
                  <a:pt x="76200" y="1028700"/>
                </a:moveTo>
                <a:lnTo>
                  <a:pt x="38100" y="1028700"/>
                </a:lnTo>
                <a:lnTo>
                  <a:pt x="38100" y="990600"/>
                </a:lnTo>
                <a:lnTo>
                  <a:pt x="76200" y="990600"/>
                </a:lnTo>
                <a:lnTo>
                  <a:pt x="76200" y="1028700"/>
                </a:lnTo>
                <a:close/>
              </a:path>
              <a:path w="114300" h="1247775">
                <a:moveTo>
                  <a:pt x="76200" y="1104900"/>
                </a:moveTo>
                <a:lnTo>
                  <a:pt x="38100" y="110490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11049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13562" y="1290637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2862" y="552450"/>
                </a:moveTo>
                <a:lnTo>
                  <a:pt x="33337" y="5524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552450"/>
                </a:lnTo>
                <a:close/>
              </a:path>
              <a:path w="76200" h="609600">
                <a:moveTo>
                  <a:pt x="38100" y="609600"/>
                </a:moveTo>
                <a:lnTo>
                  <a:pt x="0" y="533400"/>
                </a:lnTo>
                <a:lnTo>
                  <a:pt x="33337" y="533400"/>
                </a:lnTo>
                <a:lnTo>
                  <a:pt x="33337" y="552450"/>
                </a:lnTo>
                <a:lnTo>
                  <a:pt x="66675" y="552450"/>
                </a:lnTo>
                <a:lnTo>
                  <a:pt x="38100" y="609600"/>
                </a:lnTo>
                <a:close/>
              </a:path>
              <a:path w="76200" h="609600">
                <a:moveTo>
                  <a:pt x="66675" y="552450"/>
                </a:moveTo>
                <a:lnTo>
                  <a:pt x="42862" y="552450"/>
                </a:lnTo>
                <a:lnTo>
                  <a:pt x="42862" y="533400"/>
                </a:lnTo>
                <a:lnTo>
                  <a:pt x="76200" y="533400"/>
                </a:lnTo>
                <a:lnTo>
                  <a:pt x="66675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79364" y="1900427"/>
            <a:ext cx="3048000" cy="1569720"/>
          </a:xfrm>
          <a:custGeom>
            <a:avLst/>
            <a:gdLst/>
            <a:ahLst/>
            <a:cxnLst/>
            <a:rect l="l" t="t" r="r" b="b"/>
            <a:pathLst>
              <a:path w="3048000" h="1569720">
                <a:moveTo>
                  <a:pt x="0" y="0"/>
                </a:moveTo>
                <a:lnTo>
                  <a:pt x="3047999" y="0"/>
                </a:lnTo>
                <a:lnTo>
                  <a:pt x="3047999" y="1569720"/>
                </a:lnTo>
                <a:lnTo>
                  <a:pt x="0" y="1569720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71502" y="1742757"/>
            <a:ext cx="138747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微软雅黑"/>
                <a:cs typeface="微软雅黑"/>
              </a:rPr>
              <a:t>循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tabLst>
                <a:tab pos="627380" algn="l"/>
              </a:tabLst>
            </a:pPr>
            <a:r>
              <a:rPr sz="2400" dirty="0">
                <a:latin typeface="微软雅黑"/>
                <a:cs typeface="微软雅黑"/>
              </a:rPr>
              <a:t>环	</a:t>
            </a:r>
            <a:r>
              <a:rPr sz="1400" spc="-5" dirty="0">
                <a:latin typeface="微软雅黑"/>
                <a:cs typeface="微软雅黑"/>
              </a:rPr>
              <a:t>continue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微软雅黑"/>
                <a:cs typeface="微软雅黑"/>
              </a:rPr>
              <a:t>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65164" y="300227"/>
            <a:ext cx="1316990" cy="990600"/>
          </a:xfrm>
          <a:custGeom>
            <a:avLst/>
            <a:gdLst/>
            <a:ahLst/>
            <a:cxnLst/>
            <a:rect l="l" t="t" r="r" b="b"/>
            <a:pathLst>
              <a:path w="1316990" h="990600">
                <a:moveTo>
                  <a:pt x="658367" y="990600"/>
                </a:moveTo>
                <a:lnTo>
                  <a:pt x="0" y="495300"/>
                </a:lnTo>
                <a:lnTo>
                  <a:pt x="658367" y="0"/>
                </a:lnTo>
                <a:lnTo>
                  <a:pt x="1316736" y="495300"/>
                </a:lnTo>
                <a:lnTo>
                  <a:pt x="658367" y="9906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57937" y="294081"/>
            <a:ext cx="1332230" cy="1002665"/>
          </a:xfrm>
          <a:custGeom>
            <a:avLst/>
            <a:gdLst/>
            <a:ahLst/>
            <a:cxnLst/>
            <a:rect l="l" t="t" r="r" b="b"/>
            <a:pathLst>
              <a:path w="1332229" h="1002665">
                <a:moveTo>
                  <a:pt x="665949" y="1002512"/>
                </a:moveTo>
                <a:lnTo>
                  <a:pt x="0" y="501256"/>
                </a:lnTo>
                <a:lnTo>
                  <a:pt x="665949" y="0"/>
                </a:lnTo>
                <a:lnTo>
                  <a:pt x="678924" y="9766"/>
                </a:lnTo>
                <a:lnTo>
                  <a:pt x="663079" y="9766"/>
                </a:lnTo>
                <a:lnTo>
                  <a:pt x="665943" y="11921"/>
                </a:lnTo>
                <a:lnTo>
                  <a:pt x="20918" y="497446"/>
                </a:lnTo>
                <a:lnTo>
                  <a:pt x="10795" y="497446"/>
                </a:lnTo>
                <a:lnTo>
                  <a:pt x="10795" y="505066"/>
                </a:lnTo>
                <a:lnTo>
                  <a:pt x="20918" y="505066"/>
                </a:lnTo>
                <a:lnTo>
                  <a:pt x="665943" y="990590"/>
                </a:lnTo>
                <a:lnTo>
                  <a:pt x="663079" y="992746"/>
                </a:lnTo>
                <a:lnTo>
                  <a:pt x="678924" y="992746"/>
                </a:lnTo>
                <a:lnTo>
                  <a:pt x="665949" y="1002512"/>
                </a:lnTo>
                <a:close/>
              </a:path>
              <a:path w="1332229" h="1002665">
                <a:moveTo>
                  <a:pt x="665943" y="11921"/>
                </a:moveTo>
                <a:lnTo>
                  <a:pt x="663079" y="9766"/>
                </a:lnTo>
                <a:lnTo>
                  <a:pt x="668807" y="9766"/>
                </a:lnTo>
                <a:lnTo>
                  <a:pt x="665943" y="11921"/>
                </a:lnTo>
                <a:close/>
              </a:path>
              <a:path w="1332229" h="1002665">
                <a:moveTo>
                  <a:pt x="1316030" y="501256"/>
                </a:moveTo>
                <a:lnTo>
                  <a:pt x="665943" y="11921"/>
                </a:lnTo>
                <a:lnTo>
                  <a:pt x="668807" y="9766"/>
                </a:lnTo>
                <a:lnTo>
                  <a:pt x="678924" y="9766"/>
                </a:lnTo>
                <a:lnTo>
                  <a:pt x="1326825" y="497446"/>
                </a:lnTo>
                <a:lnTo>
                  <a:pt x="1321092" y="497446"/>
                </a:lnTo>
                <a:lnTo>
                  <a:pt x="1316030" y="501256"/>
                </a:lnTo>
                <a:close/>
              </a:path>
              <a:path w="1332229" h="1002665">
                <a:moveTo>
                  <a:pt x="10795" y="505066"/>
                </a:moveTo>
                <a:lnTo>
                  <a:pt x="10795" y="497446"/>
                </a:lnTo>
                <a:lnTo>
                  <a:pt x="15856" y="501256"/>
                </a:lnTo>
                <a:lnTo>
                  <a:pt x="10795" y="505066"/>
                </a:lnTo>
                <a:close/>
              </a:path>
              <a:path w="1332229" h="1002665">
                <a:moveTo>
                  <a:pt x="15856" y="501256"/>
                </a:moveTo>
                <a:lnTo>
                  <a:pt x="10795" y="497446"/>
                </a:lnTo>
                <a:lnTo>
                  <a:pt x="20918" y="497446"/>
                </a:lnTo>
                <a:lnTo>
                  <a:pt x="15856" y="501256"/>
                </a:lnTo>
                <a:close/>
              </a:path>
              <a:path w="1332229" h="1002665">
                <a:moveTo>
                  <a:pt x="1321092" y="505066"/>
                </a:moveTo>
                <a:lnTo>
                  <a:pt x="1316030" y="501256"/>
                </a:lnTo>
                <a:lnTo>
                  <a:pt x="1321092" y="497446"/>
                </a:lnTo>
                <a:lnTo>
                  <a:pt x="1321092" y="505066"/>
                </a:lnTo>
                <a:close/>
              </a:path>
              <a:path w="1332229" h="1002665">
                <a:moveTo>
                  <a:pt x="1326825" y="505066"/>
                </a:moveTo>
                <a:lnTo>
                  <a:pt x="1321092" y="505066"/>
                </a:lnTo>
                <a:lnTo>
                  <a:pt x="1321092" y="497446"/>
                </a:lnTo>
                <a:lnTo>
                  <a:pt x="1326825" y="497446"/>
                </a:lnTo>
                <a:lnTo>
                  <a:pt x="1331887" y="501256"/>
                </a:lnTo>
                <a:lnTo>
                  <a:pt x="1326825" y="505066"/>
                </a:lnTo>
                <a:close/>
              </a:path>
              <a:path w="1332229" h="1002665">
                <a:moveTo>
                  <a:pt x="20918" y="505066"/>
                </a:moveTo>
                <a:lnTo>
                  <a:pt x="10795" y="505066"/>
                </a:lnTo>
                <a:lnTo>
                  <a:pt x="15856" y="501256"/>
                </a:lnTo>
                <a:lnTo>
                  <a:pt x="20918" y="505066"/>
                </a:lnTo>
                <a:close/>
              </a:path>
              <a:path w="1332229" h="1002665">
                <a:moveTo>
                  <a:pt x="678924" y="992746"/>
                </a:moveTo>
                <a:lnTo>
                  <a:pt x="668807" y="992746"/>
                </a:lnTo>
                <a:lnTo>
                  <a:pt x="665943" y="990590"/>
                </a:lnTo>
                <a:lnTo>
                  <a:pt x="1316030" y="501256"/>
                </a:lnTo>
                <a:lnTo>
                  <a:pt x="1321092" y="505066"/>
                </a:lnTo>
                <a:lnTo>
                  <a:pt x="1326825" y="505066"/>
                </a:lnTo>
                <a:lnTo>
                  <a:pt x="678924" y="992746"/>
                </a:lnTo>
                <a:close/>
              </a:path>
              <a:path w="1332229" h="1002665">
                <a:moveTo>
                  <a:pt x="668807" y="992746"/>
                </a:moveTo>
                <a:lnTo>
                  <a:pt x="663079" y="992746"/>
                </a:lnTo>
                <a:lnTo>
                  <a:pt x="665943" y="990590"/>
                </a:lnTo>
                <a:lnTo>
                  <a:pt x="668807" y="992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03098" y="612457"/>
            <a:ext cx="1042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循环条</a:t>
            </a:r>
            <a:r>
              <a:rPr sz="2000" spc="5" dirty="0">
                <a:latin typeface="微软雅黑"/>
                <a:cs typeface="微软雅黑"/>
              </a:rPr>
              <a:t>件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44602" y="1319847"/>
            <a:ext cx="4184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true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85024" y="271938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61224" y="271955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099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37424" y="271970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13624" y="2719870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89824" y="272002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66024" y="272018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42224" y="272033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18424" y="272050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94624" y="272065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099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70824" y="272082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38100" y="38176"/>
                </a:moveTo>
                <a:lnTo>
                  <a:pt x="0" y="38100"/>
                </a:lnTo>
                <a:lnTo>
                  <a:pt x="76" y="0"/>
                </a:lnTo>
                <a:lnTo>
                  <a:pt x="38176" y="76"/>
                </a:lnTo>
                <a:lnTo>
                  <a:pt x="38100" y="38176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8012" y="27082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28012" y="27844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28012" y="28606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28012" y="29368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28012" y="30130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28012" y="30892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28012" y="31654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28012" y="32416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28012" y="33178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28012" y="33940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47062" y="340518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23262" y="340518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399462" y="340518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75662" y="340518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32812" y="3386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32812" y="3309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32812" y="3233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532812" y="3157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532812" y="3081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32812" y="3005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32812" y="2928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32812" y="2852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532812" y="2776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532812" y="2700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32812" y="2624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32812" y="2547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32812" y="2471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532812" y="2395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532812" y="2319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532812" y="2243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532812" y="2166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532812" y="2090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32812" y="2014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532812" y="1938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532812" y="1862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532812" y="1785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532812" y="1709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532812" y="1633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532812" y="1557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532812" y="1481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532812" y="1404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532812" y="1328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32812" y="1252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532812" y="1176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532812" y="11001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532812" y="10239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532812" y="9477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532812" y="8715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532812" y="79533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713662" y="700087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114300"/>
                </a:lnTo>
                <a:close/>
              </a:path>
              <a:path w="838200" h="114300">
                <a:moveTo>
                  <a:pt x="152400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152400" y="38100"/>
                </a:lnTo>
                <a:lnTo>
                  <a:pt x="152400" y="76200"/>
                </a:lnTo>
                <a:close/>
              </a:path>
              <a:path w="838200" h="114300">
                <a:moveTo>
                  <a:pt x="838200" y="76200"/>
                </a:moveTo>
                <a:lnTo>
                  <a:pt x="800100" y="76200"/>
                </a:lnTo>
                <a:lnTo>
                  <a:pt x="800100" y="38100"/>
                </a:lnTo>
                <a:lnTo>
                  <a:pt x="838200" y="38100"/>
                </a:lnTo>
                <a:lnTo>
                  <a:pt x="838200" y="76200"/>
                </a:lnTo>
                <a:close/>
              </a:path>
              <a:path w="838200" h="114300">
                <a:moveTo>
                  <a:pt x="762000" y="76200"/>
                </a:moveTo>
                <a:lnTo>
                  <a:pt x="723900" y="76200"/>
                </a:lnTo>
                <a:lnTo>
                  <a:pt x="723900" y="38100"/>
                </a:lnTo>
                <a:lnTo>
                  <a:pt x="762000" y="38100"/>
                </a:lnTo>
                <a:lnTo>
                  <a:pt x="762000" y="76200"/>
                </a:lnTo>
                <a:close/>
              </a:path>
              <a:path w="838200" h="114300">
                <a:moveTo>
                  <a:pt x="685800" y="76200"/>
                </a:moveTo>
                <a:lnTo>
                  <a:pt x="647700" y="76200"/>
                </a:lnTo>
                <a:lnTo>
                  <a:pt x="647700" y="38100"/>
                </a:lnTo>
                <a:lnTo>
                  <a:pt x="685800" y="38100"/>
                </a:lnTo>
                <a:lnTo>
                  <a:pt x="685800" y="76200"/>
                </a:lnTo>
                <a:close/>
              </a:path>
              <a:path w="838200" h="114300">
                <a:moveTo>
                  <a:pt x="609600" y="76200"/>
                </a:moveTo>
                <a:lnTo>
                  <a:pt x="571500" y="76200"/>
                </a:lnTo>
                <a:lnTo>
                  <a:pt x="571500" y="38100"/>
                </a:lnTo>
                <a:lnTo>
                  <a:pt x="609600" y="38100"/>
                </a:lnTo>
                <a:lnTo>
                  <a:pt x="609600" y="76200"/>
                </a:lnTo>
                <a:close/>
              </a:path>
              <a:path w="838200" h="114300">
                <a:moveTo>
                  <a:pt x="533400" y="76200"/>
                </a:moveTo>
                <a:lnTo>
                  <a:pt x="495300" y="76200"/>
                </a:lnTo>
                <a:lnTo>
                  <a:pt x="495300" y="38100"/>
                </a:lnTo>
                <a:lnTo>
                  <a:pt x="533400" y="38100"/>
                </a:lnTo>
                <a:lnTo>
                  <a:pt x="533400" y="76200"/>
                </a:lnTo>
                <a:close/>
              </a:path>
              <a:path w="838200" h="114300">
                <a:moveTo>
                  <a:pt x="457200" y="76200"/>
                </a:moveTo>
                <a:lnTo>
                  <a:pt x="419100" y="76200"/>
                </a:lnTo>
                <a:lnTo>
                  <a:pt x="419100" y="38100"/>
                </a:lnTo>
                <a:lnTo>
                  <a:pt x="457200" y="38100"/>
                </a:lnTo>
                <a:lnTo>
                  <a:pt x="457200" y="76200"/>
                </a:lnTo>
                <a:close/>
              </a:path>
              <a:path w="838200" h="114300">
                <a:moveTo>
                  <a:pt x="381000" y="76200"/>
                </a:moveTo>
                <a:lnTo>
                  <a:pt x="342900" y="76200"/>
                </a:lnTo>
                <a:lnTo>
                  <a:pt x="342900" y="38100"/>
                </a:lnTo>
                <a:lnTo>
                  <a:pt x="381000" y="38100"/>
                </a:lnTo>
                <a:lnTo>
                  <a:pt x="381000" y="76200"/>
                </a:lnTo>
                <a:close/>
              </a:path>
              <a:path w="838200" h="114300">
                <a:moveTo>
                  <a:pt x="304800" y="76200"/>
                </a:moveTo>
                <a:lnTo>
                  <a:pt x="266700" y="76200"/>
                </a:lnTo>
                <a:lnTo>
                  <a:pt x="266700" y="38100"/>
                </a:lnTo>
                <a:lnTo>
                  <a:pt x="304800" y="38100"/>
                </a:lnTo>
                <a:lnTo>
                  <a:pt x="304800" y="76200"/>
                </a:lnTo>
                <a:close/>
              </a:path>
              <a:path w="838200" h="114300">
                <a:moveTo>
                  <a:pt x="228600" y="76200"/>
                </a:moveTo>
                <a:lnTo>
                  <a:pt x="190500" y="76200"/>
                </a:lnTo>
                <a:lnTo>
                  <a:pt x="190500" y="38100"/>
                </a:lnTo>
                <a:lnTo>
                  <a:pt x="228600" y="3810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8943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2.5.6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break语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25445" y="40386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2862" y="552450"/>
                </a:moveTo>
                <a:lnTo>
                  <a:pt x="33337" y="5524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552450"/>
                </a:lnTo>
                <a:close/>
              </a:path>
              <a:path w="76200" h="609600">
                <a:moveTo>
                  <a:pt x="38100" y="609600"/>
                </a:moveTo>
                <a:lnTo>
                  <a:pt x="0" y="533400"/>
                </a:lnTo>
                <a:lnTo>
                  <a:pt x="33337" y="533400"/>
                </a:lnTo>
                <a:lnTo>
                  <a:pt x="33337" y="552450"/>
                </a:lnTo>
                <a:lnTo>
                  <a:pt x="66675" y="552450"/>
                </a:lnTo>
                <a:lnTo>
                  <a:pt x="38100" y="609600"/>
                </a:lnTo>
                <a:close/>
              </a:path>
              <a:path w="76200" h="609600">
                <a:moveTo>
                  <a:pt x="66675" y="552450"/>
                </a:moveTo>
                <a:lnTo>
                  <a:pt x="42862" y="552450"/>
                </a:lnTo>
                <a:lnTo>
                  <a:pt x="42862" y="533400"/>
                </a:lnTo>
                <a:lnTo>
                  <a:pt x="76200" y="533400"/>
                </a:lnTo>
                <a:lnTo>
                  <a:pt x="66675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2708" y="4648200"/>
            <a:ext cx="3048000" cy="1201420"/>
          </a:xfrm>
          <a:custGeom>
            <a:avLst/>
            <a:gdLst/>
            <a:ahLst/>
            <a:cxnLst/>
            <a:rect l="l" t="t" r="r" b="b"/>
            <a:pathLst>
              <a:path w="3048000" h="1201420">
                <a:moveTo>
                  <a:pt x="0" y="0"/>
                </a:moveTo>
                <a:lnTo>
                  <a:pt x="3048000" y="0"/>
                </a:lnTo>
                <a:lnTo>
                  <a:pt x="3048000" y="1200912"/>
                </a:lnTo>
                <a:lnTo>
                  <a:pt x="0" y="1200912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8507" y="3048000"/>
            <a:ext cx="1315720" cy="990600"/>
          </a:xfrm>
          <a:custGeom>
            <a:avLst/>
            <a:gdLst/>
            <a:ahLst/>
            <a:cxnLst/>
            <a:rect l="l" t="t" r="r" b="b"/>
            <a:pathLst>
              <a:path w="1315720" h="990600">
                <a:moveTo>
                  <a:pt x="656844" y="990600"/>
                </a:moveTo>
                <a:lnTo>
                  <a:pt x="0" y="495300"/>
                </a:lnTo>
                <a:lnTo>
                  <a:pt x="656844" y="0"/>
                </a:lnTo>
                <a:lnTo>
                  <a:pt x="1315212" y="495300"/>
                </a:lnTo>
                <a:lnTo>
                  <a:pt x="656844" y="9906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69833" y="3042043"/>
            <a:ext cx="1332230" cy="1002665"/>
          </a:xfrm>
          <a:custGeom>
            <a:avLst/>
            <a:gdLst/>
            <a:ahLst/>
            <a:cxnLst/>
            <a:rect l="l" t="t" r="r" b="b"/>
            <a:pathLst>
              <a:path w="1332230" h="1002664">
                <a:moveTo>
                  <a:pt x="665937" y="1002512"/>
                </a:moveTo>
                <a:lnTo>
                  <a:pt x="0" y="501256"/>
                </a:lnTo>
                <a:lnTo>
                  <a:pt x="665937" y="0"/>
                </a:lnTo>
                <a:lnTo>
                  <a:pt x="678912" y="9766"/>
                </a:lnTo>
                <a:lnTo>
                  <a:pt x="663067" y="9766"/>
                </a:lnTo>
                <a:lnTo>
                  <a:pt x="665930" y="11921"/>
                </a:lnTo>
                <a:lnTo>
                  <a:pt x="20905" y="497446"/>
                </a:lnTo>
                <a:lnTo>
                  <a:pt x="10782" y="497446"/>
                </a:lnTo>
                <a:lnTo>
                  <a:pt x="10782" y="505066"/>
                </a:lnTo>
                <a:lnTo>
                  <a:pt x="20905" y="505066"/>
                </a:lnTo>
                <a:lnTo>
                  <a:pt x="665930" y="990590"/>
                </a:lnTo>
                <a:lnTo>
                  <a:pt x="663067" y="992746"/>
                </a:lnTo>
                <a:lnTo>
                  <a:pt x="678912" y="992746"/>
                </a:lnTo>
                <a:lnTo>
                  <a:pt x="665937" y="1002512"/>
                </a:lnTo>
                <a:close/>
              </a:path>
              <a:path w="1332230" h="1002664">
                <a:moveTo>
                  <a:pt x="665930" y="11921"/>
                </a:moveTo>
                <a:lnTo>
                  <a:pt x="663067" y="9766"/>
                </a:lnTo>
                <a:lnTo>
                  <a:pt x="668794" y="9766"/>
                </a:lnTo>
                <a:lnTo>
                  <a:pt x="665930" y="11921"/>
                </a:lnTo>
                <a:close/>
              </a:path>
              <a:path w="1332230" h="1002664">
                <a:moveTo>
                  <a:pt x="1316030" y="501256"/>
                </a:moveTo>
                <a:lnTo>
                  <a:pt x="665930" y="11921"/>
                </a:lnTo>
                <a:lnTo>
                  <a:pt x="668794" y="9766"/>
                </a:lnTo>
                <a:lnTo>
                  <a:pt x="678912" y="9766"/>
                </a:lnTo>
                <a:lnTo>
                  <a:pt x="1326812" y="497446"/>
                </a:lnTo>
                <a:lnTo>
                  <a:pt x="1321092" y="497446"/>
                </a:lnTo>
                <a:lnTo>
                  <a:pt x="1316030" y="501256"/>
                </a:lnTo>
                <a:close/>
              </a:path>
              <a:path w="1332230" h="1002664">
                <a:moveTo>
                  <a:pt x="10782" y="505066"/>
                </a:moveTo>
                <a:lnTo>
                  <a:pt x="10782" y="497446"/>
                </a:lnTo>
                <a:lnTo>
                  <a:pt x="15843" y="501256"/>
                </a:lnTo>
                <a:lnTo>
                  <a:pt x="10782" y="505066"/>
                </a:lnTo>
                <a:close/>
              </a:path>
              <a:path w="1332230" h="1002664">
                <a:moveTo>
                  <a:pt x="15843" y="501256"/>
                </a:moveTo>
                <a:lnTo>
                  <a:pt x="10782" y="497446"/>
                </a:lnTo>
                <a:lnTo>
                  <a:pt x="20905" y="497446"/>
                </a:lnTo>
                <a:lnTo>
                  <a:pt x="15843" y="501256"/>
                </a:lnTo>
                <a:close/>
              </a:path>
              <a:path w="1332230" h="1002664">
                <a:moveTo>
                  <a:pt x="1321092" y="505066"/>
                </a:moveTo>
                <a:lnTo>
                  <a:pt x="1316030" y="501256"/>
                </a:lnTo>
                <a:lnTo>
                  <a:pt x="1321092" y="497446"/>
                </a:lnTo>
                <a:lnTo>
                  <a:pt x="1321092" y="505066"/>
                </a:lnTo>
                <a:close/>
              </a:path>
              <a:path w="1332230" h="1002664">
                <a:moveTo>
                  <a:pt x="1326812" y="505066"/>
                </a:moveTo>
                <a:lnTo>
                  <a:pt x="1321092" y="505066"/>
                </a:lnTo>
                <a:lnTo>
                  <a:pt x="1321092" y="497446"/>
                </a:lnTo>
                <a:lnTo>
                  <a:pt x="1326812" y="497446"/>
                </a:lnTo>
                <a:lnTo>
                  <a:pt x="1331874" y="501256"/>
                </a:lnTo>
                <a:lnTo>
                  <a:pt x="1326812" y="505066"/>
                </a:lnTo>
                <a:close/>
              </a:path>
              <a:path w="1332230" h="1002664">
                <a:moveTo>
                  <a:pt x="20905" y="505066"/>
                </a:moveTo>
                <a:lnTo>
                  <a:pt x="10782" y="505066"/>
                </a:lnTo>
                <a:lnTo>
                  <a:pt x="15843" y="501256"/>
                </a:lnTo>
                <a:lnTo>
                  <a:pt x="20905" y="505066"/>
                </a:lnTo>
                <a:close/>
              </a:path>
              <a:path w="1332230" h="1002664">
                <a:moveTo>
                  <a:pt x="678912" y="992746"/>
                </a:moveTo>
                <a:lnTo>
                  <a:pt x="668794" y="992746"/>
                </a:lnTo>
                <a:lnTo>
                  <a:pt x="665930" y="990590"/>
                </a:lnTo>
                <a:lnTo>
                  <a:pt x="1316030" y="501256"/>
                </a:lnTo>
                <a:lnTo>
                  <a:pt x="1321092" y="505066"/>
                </a:lnTo>
                <a:lnTo>
                  <a:pt x="1326812" y="505066"/>
                </a:lnTo>
                <a:lnTo>
                  <a:pt x="678912" y="992746"/>
                </a:lnTo>
                <a:close/>
              </a:path>
              <a:path w="1332230" h="1002664">
                <a:moveTo>
                  <a:pt x="668794" y="992746"/>
                </a:moveTo>
                <a:lnTo>
                  <a:pt x="663067" y="992746"/>
                </a:lnTo>
                <a:lnTo>
                  <a:pt x="665930" y="990590"/>
                </a:lnTo>
                <a:lnTo>
                  <a:pt x="668794" y="992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739" y="1459230"/>
            <a:ext cx="8006715" cy="2232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break</a:t>
            </a:r>
            <a:r>
              <a:rPr sz="2800" dirty="0">
                <a:latin typeface="宋体"/>
                <a:cs typeface="宋体"/>
              </a:rPr>
              <a:t>语句仅出现在</a:t>
            </a:r>
            <a:r>
              <a:rPr sz="2800" spc="-5" dirty="0">
                <a:latin typeface="宋体"/>
                <a:cs typeface="宋体"/>
              </a:rPr>
              <a:t>switch</a:t>
            </a:r>
            <a:r>
              <a:rPr sz="2800" dirty="0">
                <a:latin typeface="宋体"/>
                <a:cs typeface="宋体"/>
              </a:rPr>
              <a:t>语句或循环体中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527050" lvl="1" indent="-171450">
              <a:lnSpc>
                <a:spcPts val="319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宋体"/>
                <a:cs typeface="宋体"/>
              </a:rPr>
              <a:t>作用：使程序的流程从一个</a:t>
            </a: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语句块内部跳转出</a:t>
            </a:r>
            <a:r>
              <a:rPr sz="2800" spc="-5" dirty="0">
                <a:solidFill>
                  <a:srgbClr val="967A2C"/>
                </a:solidFill>
                <a:latin typeface="宋体"/>
                <a:cs typeface="宋体"/>
              </a:rPr>
              <a:t>来</a:t>
            </a:r>
            <a:endParaRPr sz="2800" dirty="0">
              <a:latin typeface="宋体"/>
              <a:cs typeface="宋体"/>
            </a:endParaRPr>
          </a:p>
          <a:p>
            <a:pPr marL="527050" marR="5080">
              <a:lnSpc>
                <a:spcPts val="3020"/>
              </a:lnSpc>
              <a:spcBef>
                <a:spcPts val="210"/>
              </a:spcBef>
            </a:pPr>
            <a:r>
              <a:rPr sz="2800" dirty="0">
                <a:solidFill>
                  <a:srgbClr val="967A2C"/>
                </a:solidFill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即从</a:t>
            </a:r>
            <a:r>
              <a:rPr sz="2800" spc="-5" dirty="0">
                <a:latin typeface="宋体"/>
                <a:cs typeface="宋体"/>
              </a:rPr>
              <a:t>switch</a:t>
            </a:r>
            <a:r>
              <a:rPr sz="2800" dirty="0">
                <a:latin typeface="宋体"/>
                <a:cs typeface="宋体"/>
              </a:rPr>
              <a:t>语句的分支中跳出，或从循环体</a:t>
            </a:r>
            <a:r>
              <a:rPr sz="2800" spc="-5" dirty="0">
                <a:latin typeface="宋体"/>
                <a:cs typeface="宋体"/>
              </a:rPr>
              <a:t>内 </a:t>
            </a:r>
            <a:r>
              <a:rPr sz="2800" dirty="0">
                <a:latin typeface="宋体"/>
                <a:cs typeface="宋体"/>
              </a:rPr>
              <a:t>部跳出。 </a:t>
            </a:r>
          </a:p>
          <a:p>
            <a:pPr marL="1848485">
              <a:lnSpc>
                <a:spcPct val="100000"/>
              </a:lnSpc>
              <a:spcBef>
                <a:spcPts val="2145"/>
              </a:spcBef>
            </a:pPr>
            <a:r>
              <a:rPr sz="2000" dirty="0">
                <a:latin typeface="微软雅黑"/>
                <a:cs typeface="微软雅黑"/>
              </a:rPr>
              <a:t>循环条</a:t>
            </a:r>
            <a:r>
              <a:rPr sz="2000" spc="5" dirty="0">
                <a:latin typeface="微软雅黑"/>
                <a:cs typeface="微软雅黑"/>
              </a:rPr>
              <a:t>件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686" y="4067809"/>
            <a:ext cx="1135380" cy="173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true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循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tabLst>
                <a:tab pos="512445" algn="l"/>
              </a:tabLst>
            </a:pPr>
            <a:r>
              <a:rPr sz="1800" dirty="0">
                <a:latin typeface="微软雅黑"/>
                <a:cs typeface="微软雅黑"/>
              </a:rPr>
              <a:t>环	b</a:t>
            </a:r>
            <a:r>
              <a:rPr sz="1800" spc="-35" dirty="0">
                <a:latin typeface="微软雅黑"/>
                <a:cs typeface="微软雅黑"/>
              </a:rPr>
              <a:t>r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dirty="0">
                <a:latin typeface="微软雅黑"/>
                <a:cs typeface="微软雅黑"/>
              </a:rPr>
              <a:t>ak 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22232" y="5210175"/>
            <a:ext cx="762635" cy="40005"/>
          </a:xfrm>
          <a:custGeom>
            <a:avLst/>
            <a:gdLst/>
            <a:ahLst/>
            <a:cxnLst/>
            <a:rect l="l" t="t" r="r" b="b"/>
            <a:pathLst>
              <a:path w="762635" h="40004">
                <a:moveTo>
                  <a:pt x="38100" y="38176"/>
                </a:moveTo>
                <a:lnTo>
                  <a:pt x="0" y="38100"/>
                </a:lnTo>
                <a:lnTo>
                  <a:pt x="88" y="0"/>
                </a:lnTo>
                <a:lnTo>
                  <a:pt x="38188" y="76"/>
                </a:lnTo>
                <a:lnTo>
                  <a:pt x="38100" y="38176"/>
                </a:lnTo>
                <a:close/>
              </a:path>
              <a:path w="762635" h="40004">
                <a:moveTo>
                  <a:pt x="114300" y="38341"/>
                </a:moveTo>
                <a:lnTo>
                  <a:pt x="76200" y="38265"/>
                </a:lnTo>
                <a:lnTo>
                  <a:pt x="76288" y="165"/>
                </a:lnTo>
                <a:lnTo>
                  <a:pt x="114388" y="241"/>
                </a:lnTo>
                <a:lnTo>
                  <a:pt x="114300" y="38341"/>
                </a:lnTo>
                <a:close/>
              </a:path>
              <a:path w="762635" h="40004">
                <a:moveTo>
                  <a:pt x="190500" y="38493"/>
                </a:moveTo>
                <a:lnTo>
                  <a:pt x="152400" y="38417"/>
                </a:lnTo>
                <a:lnTo>
                  <a:pt x="152488" y="317"/>
                </a:lnTo>
                <a:lnTo>
                  <a:pt x="190588" y="393"/>
                </a:lnTo>
                <a:lnTo>
                  <a:pt x="190500" y="38493"/>
                </a:lnTo>
                <a:close/>
              </a:path>
              <a:path w="762635" h="40004">
                <a:moveTo>
                  <a:pt x="266700" y="38658"/>
                </a:moveTo>
                <a:lnTo>
                  <a:pt x="228600" y="38582"/>
                </a:lnTo>
                <a:lnTo>
                  <a:pt x="228688" y="482"/>
                </a:lnTo>
                <a:lnTo>
                  <a:pt x="266788" y="558"/>
                </a:lnTo>
                <a:lnTo>
                  <a:pt x="266700" y="38658"/>
                </a:lnTo>
                <a:close/>
              </a:path>
              <a:path w="762635" h="40004">
                <a:moveTo>
                  <a:pt x="342900" y="38811"/>
                </a:moveTo>
                <a:lnTo>
                  <a:pt x="304800" y="38735"/>
                </a:lnTo>
                <a:lnTo>
                  <a:pt x="304888" y="635"/>
                </a:lnTo>
                <a:lnTo>
                  <a:pt x="342988" y="711"/>
                </a:lnTo>
                <a:lnTo>
                  <a:pt x="342900" y="38811"/>
                </a:lnTo>
                <a:close/>
              </a:path>
              <a:path w="762635" h="40004">
                <a:moveTo>
                  <a:pt x="419100" y="38976"/>
                </a:moveTo>
                <a:lnTo>
                  <a:pt x="381000" y="38900"/>
                </a:lnTo>
                <a:lnTo>
                  <a:pt x="381088" y="800"/>
                </a:lnTo>
                <a:lnTo>
                  <a:pt x="419188" y="876"/>
                </a:lnTo>
                <a:lnTo>
                  <a:pt x="419100" y="38976"/>
                </a:lnTo>
                <a:close/>
              </a:path>
              <a:path w="762635" h="40004">
                <a:moveTo>
                  <a:pt x="495300" y="39128"/>
                </a:moveTo>
                <a:lnTo>
                  <a:pt x="457200" y="39052"/>
                </a:lnTo>
                <a:lnTo>
                  <a:pt x="457288" y="952"/>
                </a:lnTo>
                <a:lnTo>
                  <a:pt x="495388" y="1028"/>
                </a:lnTo>
                <a:lnTo>
                  <a:pt x="495300" y="39128"/>
                </a:lnTo>
                <a:close/>
              </a:path>
              <a:path w="762635" h="40004">
                <a:moveTo>
                  <a:pt x="571500" y="39293"/>
                </a:moveTo>
                <a:lnTo>
                  <a:pt x="533400" y="39217"/>
                </a:lnTo>
                <a:lnTo>
                  <a:pt x="533488" y="1117"/>
                </a:lnTo>
                <a:lnTo>
                  <a:pt x="571576" y="1193"/>
                </a:lnTo>
                <a:lnTo>
                  <a:pt x="571500" y="39293"/>
                </a:lnTo>
                <a:close/>
              </a:path>
              <a:path w="762635" h="40004">
                <a:moveTo>
                  <a:pt x="647700" y="39446"/>
                </a:moveTo>
                <a:lnTo>
                  <a:pt x="609600" y="39370"/>
                </a:lnTo>
                <a:lnTo>
                  <a:pt x="609676" y="1270"/>
                </a:lnTo>
                <a:lnTo>
                  <a:pt x="647776" y="1346"/>
                </a:lnTo>
                <a:lnTo>
                  <a:pt x="647700" y="39446"/>
                </a:lnTo>
                <a:close/>
              </a:path>
              <a:path w="762635" h="40004">
                <a:moveTo>
                  <a:pt x="723900" y="39611"/>
                </a:moveTo>
                <a:lnTo>
                  <a:pt x="685800" y="39535"/>
                </a:lnTo>
                <a:lnTo>
                  <a:pt x="685876" y="1435"/>
                </a:lnTo>
                <a:lnTo>
                  <a:pt x="723976" y="1511"/>
                </a:lnTo>
                <a:lnTo>
                  <a:pt x="723900" y="39611"/>
                </a:lnTo>
                <a:close/>
              </a:path>
              <a:path w="762635" h="40004">
                <a:moveTo>
                  <a:pt x="762000" y="39687"/>
                </a:moveTo>
                <a:lnTo>
                  <a:pt x="762076" y="1587"/>
                </a:lnTo>
                <a:lnTo>
                  <a:pt x="762000" y="39687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27120" y="5265737"/>
            <a:ext cx="114300" cy="1247775"/>
          </a:xfrm>
          <a:custGeom>
            <a:avLst/>
            <a:gdLst/>
            <a:ahLst/>
            <a:cxnLst/>
            <a:rect l="l" t="t" r="r" b="b"/>
            <a:pathLst>
              <a:path w="114300" h="1247775">
                <a:moveTo>
                  <a:pt x="57150" y="1247775"/>
                </a:moveTo>
                <a:lnTo>
                  <a:pt x="0" y="1133475"/>
                </a:lnTo>
                <a:lnTo>
                  <a:pt x="114300" y="1133475"/>
                </a:lnTo>
                <a:lnTo>
                  <a:pt x="109537" y="1143000"/>
                </a:lnTo>
                <a:lnTo>
                  <a:pt x="38100" y="1143000"/>
                </a:lnTo>
                <a:lnTo>
                  <a:pt x="38100" y="1162050"/>
                </a:lnTo>
                <a:lnTo>
                  <a:pt x="100012" y="1162050"/>
                </a:lnTo>
                <a:lnTo>
                  <a:pt x="57150" y="1247775"/>
                </a:lnTo>
                <a:close/>
              </a:path>
              <a:path w="114300" h="1247775">
                <a:moveTo>
                  <a:pt x="76200" y="1162050"/>
                </a:moveTo>
                <a:lnTo>
                  <a:pt x="38100" y="1162050"/>
                </a:lnTo>
                <a:lnTo>
                  <a:pt x="38100" y="1143000"/>
                </a:lnTo>
                <a:lnTo>
                  <a:pt x="76200" y="1143000"/>
                </a:lnTo>
                <a:lnTo>
                  <a:pt x="76200" y="1162050"/>
                </a:lnTo>
                <a:close/>
              </a:path>
              <a:path w="114300" h="1247775">
                <a:moveTo>
                  <a:pt x="100012" y="1162050"/>
                </a:moveTo>
                <a:lnTo>
                  <a:pt x="76200" y="1162050"/>
                </a:lnTo>
                <a:lnTo>
                  <a:pt x="76200" y="1143000"/>
                </a:lnTo>
                <a:lnTo>
                  <a:pt x="109537" y="1143000"/>
                </a:lnTo>
                <a:lnTo>
                  <a:pt x="100012" y="1162050"/>
                </a:lnTo>
                <a:close/>
              </a:path>
              <a:path w="114300" h="1247775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1247775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1247775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  <a:path w="114300" h="1247775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1247775">
                <a:moveTo>
                  <a:pt x="76200" y="342900"/>
                </a:moveTo>
                <a:lnTo>
                  <a:pt x="38100" y="342900"/>
                </a:lnTo>
                <a:lnTo>
                  <a:pt x="38100" y="304800"/>
                </a:lnTo>
                <a:lnTo>
                  <a:pt x="76200" y="304800"/>
                </a:lnTo>
                <a:lnTo>
                  <a:pt x="76200" y="342900"/>
                </a:lnTo>
                <a:close/>
              </a:path>
              <a:path w="114300" h="1247775">
                <a:moveTo>
                  <a:pt x="76200" y="419100"/>
                </a:moveTo>
                <a:lnTo>
                  <a:pt x="38100" y="419100"/>
                </a:lnTo>
                <a:lnTo>
                  <a:pt x="38100" y="381000"/>
                </a:lnTo>
                <a:lnTo>
                  <a:pt x="76200" y="381000"/>
                </a:lnTo>
                <a:lnTo>
                  <a:pt x="76200" y="419100"/>
                </a:lnTo>
                <a:close/>
              </a:path>
              <a:path w="114300" h="1247775">
                <a:moveTo>
                  <a:pt x="76200" y="495300"/>
                </a:moveTo>
                <a:lnTo>
                  <a:pt x="38100" y="495300"/>
                </a:lnTo>
                <a:lnTo>
                  <a:pt x="38100" y="457200"/>
                </a:lnTo>
                <a:lnTo>
                  <a:pt x="76200" y="457200"/>
                </a:lnTo>
                <a:lnTo>
                  <a:pt x="76200" y="495300"/>
                </a:lnTo>
                <a:close/>
              </a:path>
              <a:path w="114300" h="1247775">
                <a:moveTo>
                  <a:pt x="76200" y="571500"/>
                </a:moveTo>
                <a:lnTo>
                  <a:pt x="38100" y="5715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571500"/>
                </a:lnTo>
                <a:close/>
              </a:path>
              <a:path w="114300" h="1247775">
                <a:moveTo>
                  <a:pt x="76200" y="647700"/>
                </a:moveTo>
                <a:lnTo>
                  <a:pt x="38100" y="647700"/>
                </a:lnTo>
                <a:lnTo>
                  <a:pt x="38100" y="609600"/>
                </a:lnTo>
                <a:lnTo>
                  <a:pt x="76200" y="609600"/>
                </a:lnTo>
                <a:lnTo>
                  <a:pt x="76200" y="647700"/>
                </a:lnTo>
                <a:close/>
              </a:path>
              <a:path w="114300" h="1247775">
                <a:moveTo>
                  <a:pt x="76200" y="723900"/>
                </a:moveTo>
                <a:lnTo>
                  <a:pt x="38100" y="7239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723900"/>
                </a:lnTo>
                <a:close/>
              </a:path>
              <a:path w="114300" h="1247775">
                <a:moveTo>
                  <a:pt x="76200" y="800100"/>
                </a:moveTo>
                <a:lnTo>
                  <a:pt x="38100" y="800100"/>
                </a:lnTo>
                <a:lnTo>
                  <a:pt x="38100" y="762000"/>
                </a:lnTo>
                <a:lnTo>
                  <a:pt x="76200" y="762000"/>
                </a:lnTo>
                <a:lnTo>
                  <a:pt x="76200" y="800100"/>
                </a:lnTo>
                <a:close/>
              </a:path>
              <a:path w="114300" h="1247775">
                <a:moveTo>
                  <a:pt x="76200" y="876300"/>
                </a:moveTo>
                <a:lnTo>
                  <a:pt x="38100" y="876300"/>
                </a:lnTo>
                <a:lnTo>
                  <a:pt x="38100" y="838200"/>
                </a:lnTo>
                <a:lnTo>
                  <a:pt x="76200" y="838200"/>
                </a:lnTo>
                <a:lnTo>
                  <a:pt x="76200" y="876300"/>
                </a:lnTo>
                <a:close/>
              </a:path>
              <a:path w="114300" h="1247775">
                <a:moveTo>
                  <a:pt x="76200" y="952500"/>
                </a:moveTo>
                <a:lnTo>
                  <a:pt x="38100" y="952500"/>
                </a:lnTo>
                <a:lnTo>
                  <a:pt x="38100" y="914400"/>
                </a:lnTo>
                <a:lnTo>
                  <a:pt x="76200" y="914400"/>
                </a:lnTo>
                <a:lnTo>
                  <a:pt x="76200" y="952500"/>
                </a:lnTo>
                <a:close/>
              </a:path>
              <a:path w="114300" h="1247775">
                <a:moveTo>
                  <a:pt x="76200" y="1028700"/>
                </a:moveTo>
                <a:lnTo>
                  <a:pt x="38100" y="1028700"/>
                </a:lnTo>
                <a:lnTo>
                  <a:pt x="38100" y="990600"/>
                </a:lnTo>
                <a:lnTo>
                  <a:pt x="76200" y="990600"/>
                </a:lnTo>
                <a:lnTo>
                  <a:pt x="76200" y="1028700"/>
                </a:lnTo>
                <a:close/>
              </a:path>
              <a:path w="114300" h="1247775">
                <a:moveTo>
                  <a:pt x="76200" y="1104900"/>
                </a:moveTo>
                <a:lnTo>
                  <a:pt x="38100" y="110490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1104900"/>
                </a:lnTo>
                <a:close/>
              </a:path>
            </a:pathLst>
          </a:custGeom>
          <a:solidFill>
            <a:srgbClr val="ED7A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73</a:t>
            </a:fld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44634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for</a:t>
            </a:r>
            <a:r>
              <a:rPr sz="2800" dirty="0">
                <a:latin typeface="宋体"/>
                <a:cs typeface="宋体"/>
              </a:rPr>
              <a:t>循环结构中的</a:t>
            </a:r>
            <a:r>
              <a:rPr sz="2800" spc="-5" dirty="0">
                <a:latin typeface="宋体"/>
                <a:cs typeface="宋体"/>
              </a:rPr>
              <a:t>break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8943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2.5.6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break语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28744" y="1412747"/>
            <a:ext cx="3744467" cy="3861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74</a:t>
            </a:fld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28943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2.5.6</a:t>
            </a:r>
            <a:r>
              <a:rPr sz="2800" b="1" spc="1340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break语</a:t>
            </a:r>
            <a:r>
              <a:rPr sz="2800" b="1" spc="-20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459230"/>
            <a:ext cx="57143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2-12</a:t>
            </a:r>
            <a:r>
              <a:rPr sz="2800" dirty="0">
                <a:latin typeface="宋体"/>
                <a:cs typeface="宋体"/>
              </a:rPr>
              <a:t>】判断某个数是否是素数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32587"/>
            <a:ext cx="2130425" cy="255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66439" y="393852"/>
            <a:ext cx="67016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9223" y="2439923"/>
            <a:ext cx="5334000" cy="2892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6176" y="2436723"/>
            <a:ext cx="5341620" cy="2899410"/>
          </a:xfrm>
          <a:custGeom>
            <a:avLst/>
            <a:gdLst/>
            <a:ahLst/>
            <a:cxnLst/>
            <a:rect l="l" t="t" r="r" b="b"/>
            <a:pathLst>
              <a:path w="5341620" h="2899410">
                <a:moveTo>
                  <a:pt x="5341620" y="2899410"/>
                </a:moveTo>
                <a:lnTo>
                  <a:pt x="0" y="2899410"/>
                </a:lnTo>
                <a:lnTo>
                  <a:pt x="0" y="0"/>
                </a:lnTo>
                <a:lnTo>
                  <a:pt x="5341620" y="0"/>
                </a:lnTo>
                <a:lnTo>
                  <a:pt x="5341620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891790"/>
                </a:lnTo>
                <a:lnTo>
                  <a:pt x="3809" y="2891790"/>
                </a:lnTo>
                <a:lnTo>
                  <a:pt x="7619" y="2895600"/>
                </a:lnTo>
                <a:lnTo>
                  <a:pt x="5341620" y="2895600"/>
                </a:lnTo>
                <a:lnTo>
                  <a:pt x="5341620" y="2899410"/>
                </a:lnTo>
                <a:close/>
              </a:path>
              <a:path w="5341620" h="2899410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5341620" h="2899410">
                <a:moveTo>
                  <a:pt x="533400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5334000" y="3810"/>
                </a:lnTo>
                <a:lnTo>
                  <a:pt x="5334000" y="7619"/>
                </a:lnTo>
                <a:close/>
              </a:path>
              <a:path w="5341620" h="2899410">
                <a:moveTo>
                  <a:pt x="5334000" y="2895600"/>
                </a:moveTo>
                <a:lnTo>
                  <a:pt x="5334000" y="3810"/>
                </a:lnTo>
                <a:lnTo>
                  <a:pt x="5337810" y="7619"/>
                </a:lnTo>
                <a:lnTo>
                  <a:pt x="5341620" y="7619"/>
                </a:lnTo>
                <a:lnTo>
                  <a:pt x="5341620" y="2891790"/>
                </a:lnTo>
                <a:lnTo>
                  <a:pt x="5337810" y="2891790"/>
                </a:lnTo>
                <a:lnTo>
                  <a:pt x="5334000" y="2895600"/>
                </a:lnTo>
                <a:close/>
              </a:path>
              <a:path w="5341620" h="2899410">
                <a:moveTo>
                  <a:pt x="5341620" y="7619"/>
                </a:moveTo>
                <a:lnTo>
                  <a:pt x="5337810" y="7619"/>
                </a:lnTo>
                <a:lnTo>
                  <a:pt x="5334000" y="3810"/>
                </a:lnTo>
                <a:lnTo>
                  <a:pt x="5341620" y="3810"/>
                </a:lnTo>
                <a:lnTo>
                  <a:pt x="5341620" y="7619"/>
                </a:lnTo>
                <a:close/>
              </a:path>
              <a:path w="5341620" h="2899410">
                <a:moveTo>
                  <a:pt x="7619" y="2895600"/>
                </a:moveTo>
                <a:lnTo>
                  <a:pt x="3809" y="2891790"/>
                </a:lnTo>
                <a:lnTo>
                  <a:pt x="7619" y="2891790"/>
                </a:lnTo>
                <a:lnTo>
                  <a:pt x="7619" y="2895600"/>
                </a:lnTo>
                <a:close/>
              </a:path>
              <a:path w="5341620" h="2899410">
                <a:moveTo>
                  <a:pt x="5334000" y="2895600"/>
                </a:moveTo>
                <a:lnTo>
                  <a:pt x="7619" y="2895600"/>
                </a:lnTo>
                <a:lnTo>
                  <a:pt x="7619" y="2891790"/>
                </a:lnTo>
                <a:lnTo>
                  <a:pt x="5334000" y="2891790"/>
                </a:lnTo>
                <a:lnTo>
                  <a:pt x="5334000" y="2895600"/>
                </a:lnTo>
                <a:close/>
              </a:path>
              <a:path w="5341620" h="2899410">
                <a:moveTo>
                  <a:pt x="5341620" y="2895600"/>
                </a:moveTo>
                <a:lnTo>
                  <a:pt x="5334000" y="2895600"/>
                </a:lnTo>
                <a:lnTo>
                  <a:pt x="5337810" y="2891790"/>
                </a:lnTo>
                <a:lnTo>
                  <a:pt x="5341620" y="2891790"/>
                </a:lnTo>
                <a:lnTo>
                  <a:pt x="5341620" y="28956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9223" y="2321280"/>
            <a:ext cx="5334000" cy="29514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80"/>
              </a:spcBef>
            </a:pPr>
            <a:r>
              <a:rPr sz="2000" spc="-5" dirty="0">
                <a:solidFill>
                  <a:srgbClr val="967A2C"/>
                </a:solidFill>
                <a:latin typeface="Book Antiqua"/>
                <a:cs typeface="Book Antiqua"/>
              </a:rPr>
              <a:t>stop:</a:t>
            </a:r>
            <a:endParaRPr sz="2000" dirty="0">
              <a:latin typeface="Book Antiqua"/>
              <a:cs typeface="Book Antiqua"/>
            </a:endParaRPr>
          </a:p>
          <a:p>
            <a:pPr marL="346075" marR="2453005" indent="-254000">
              <a:lnSpc>
                <a:spcPct val="120000"/>
              </a:lnSpc>
            </a:pPr>
            <a:r>
              <a:rPr sz="2000" spc="-5" dirty="0">
                <a:latin typeface="Book Antiqua"/>
                <a:cs typeface="Book Antiqua"/>
              </a:rPr>
              <a:t>for (int i=1; i&lt;=10; i++) </a:t>
            </a:r>
            <a:r>
              <a:rPr sz="2000" dirty="0">
                <a:latin typeface="Book Antiqua"/>
                <a:cs typeface="Book Antiqua"/>
              </a:rPr>
              <a:t>{  </a:t>
            </a:r>
            <a:r>
              <a:rPr sz="2000" spc="-5" dirty="0">
                <a:latin typeface="Book Antiqua"/>
                <a:cs typeface="Book Antiqua"/>
              </a:rPr>
              <a:t>for (int j=1; j&lt;=5; j++)</a:t>
            </a:r>
            <a:r>
              <a:rPr sz="2000" spc="-25" dirty="0">
                <a:latin typeface="Book Antiqua"/>
                <a:cs typeface="Book Antiqua"/>
              </a:rPr>
              <a:t> </a:t>
            </a:r>
            <a:r>
              <a:rPr sz="2000" dirty="0">
                <a:latin typeface="Book Antiqua"/>
                <a:cs typeface="Book Antiqua"/>
              </a:rPr>
              <a:t>{</a:t>
            </a:r>
          </a:p>
          <a:p>
            <a:pPr marL="727075" marR="2083435">
              <a:lnSpc>
                <a:spcPct val="120000"/>
              </a:lnSpc>
              <a:tabLst>
                <a:tab pos="1879600" algn="l"/>
              </a:tabLst>
            </a:pPr>
            <a:r>
              <a:rPr sz="2000" spc="-5" dirty="0">
                <a:latin typeface="Book Antiqua"/>
                <a:cs typeface="Book Antiqua"/>
              </a:rPr>
              <a:t>if</a:t>
            </a:r>
            <a:r>
              <a:rPr sz="2000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(i==5)	</a:t>
            </a:r>
            <a:r>
              <a:rPr sz="2000" spc="-5" dirty="0">
                <a:solidFill>
                  <a:srgbClr val="967A2C"/>
                </a:solidFill>
                <a:latin typeface="Book Antiqua"/>
                <a:cs typeface="Book Antiqua"/>
              </a:rPr>
              <a:t>break stop</a:t>
            </a:r>
            <a:r>
              <a:rPr sz="2000" spc="-5" dirty="0">
                <a:latin typeface="Book Antiqua"/>
                <a:cs typeface="Book Antiqua"/>
              </a:rPr>
              <a:t>;  System.out.print( "*"</a:t>
            </a:r>
            <a:r>
              <a:rPr sz="2000" spc="-50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);</a:t>
            </a:r>
            <a:endParaRPr sz="2000" dirty="0">
              <a:latin typeface="Book Antiqua"/>
              <a:cs typeface="Book Antiqua"/>
            </a:endParaRPr>
          </a:p>
          <a:p>
            <a:pPr marL="3460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Book Antiqua"/>
                <a:cs typeface="Book Antiqua"/>
              </a:rPr>
              <a:t>}</a:t>
            </a:r>
          </a:p>
          <a:p>
            <a:pPr marL="34607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Book Antiqua"/>
                <a:cs typeface="Book Antiqua"/>
              </a:rPr>
              <a:t>System.out.println();</a:t>
            </a:r>
            <a:endParaRPr sz="2000" dirty="0">
              <a:latin typeface="Book Antiqua"/>
              <a:cs typeface="Book Antiqua"/>
            </a:endParaRPr>
          </a:p>
          <a:p>
            <a:pPr marL="920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Book Antiqua"/>
                <a:cs typeface="Book Antiqua"/>
              </a:rPr>
              <a:t>}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303479" y="2460853"/>
            <a:ext cx="711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*****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*****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*****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***** 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188" y="1413281"/>
            <a:ext cx="528891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800" spc="-5" dirty="0">
                <a:latin typeface="Times New Roman"/>
                <a:cs typeface="Times New Roman"/>
              </a:rPr>
              <a:t>Java</a:t>
            </a:r>
            <a:r>
              <a:rPr sz="2800" dirty="0">
                <a:latin typeface="微软雅黑"/>
                <a:cs typeface="微软雅黑"/>
              </a:rPr>
              <a:t>语言中</a:t>
            </a:r>
            <a:r>
              <a:rPr sz="2800" spc="-5" dirty="0">
                <a:latin typeface="Times New Roman"/>
                <a:cs typeface="Times New Roman"/>
              </a:rPr>
              <a:t>break</a:t>
            </a:r>
            <a:r>
              <a:rPr sz="2800" dirty="0">
                <a:latin typeface="微软雅黑"/>
                <a:cs typeface="微软雅黑"/>
              </a:rPr>
              <a:t>语句的特殊格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755650" lvl="1" indent="-286385">
              <a:lnSpc>
                <a:spcPct val="100000"/>
              </a:lnSpc>
              <a:buFont typeface="Arial"/>
              <a:buChar char="•"/>
              <a:tabLst>
                <a:tab pos="755015" algn="l"/>
                <a:tab pos="755650" algn="l"/>
                <a:tab pos="1916430" algn="l"/>
              </a:tabLst>
            </a:pPr>
            <a:r>
              <a:rPr sz="2800" spc="-10" dirty="0">
                <a:solidFill>
                  <a:srgbClr val="967A2C"/>
                </a:solidFill>
                <a:latin typeface="微软雅黑"/>
                <a:cs typeface="微软雅黑"/>
              </a:rPr>
              <a:t>break	</a:t>
            </a:r>
            <a:r>
              <a:rPr sz="2800" spc="-5" dirty="0">
                <a:solidFill>
                  <a:srgbClr val="967A2C"/>
                </a:solidFill>
                <a:latin typeface="微软雅黑"/>
                <a:cs typeface="微软雅黑"/>
              </a:rPr>
              <a:t>[</a:t>
            </a:r>
            <a:r>
              <a:rPr sz="2800" dirty="0">
                <a:solidFill>
                  <a:srgbClr val="967A2C"/>
                </a:solidFill>
                <a:latin typeface="微软雅黑"/>
                <a:cs typeface="微软雅黑"/>
              </a:rPr>
              <a:t>标号</a:t>
            </a:r>
            <a:r>
              <a:rPr sz="2800" spc="-5" dirty="0">
                <a:solidFill>
                  <a:srgbClr val="967A2C"/>
                </a:solidFill>
                <a:latin typeface="微软雅黑"/>
                <a:cs typeface="微软雅黑"/>
              </a:rPr>
              <a:t>];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833" y="5758014"/>
            <a:ext cx="51943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作用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:</a:t>
            </a:r>
            <a:r>
              <a:rPr sz="2800" spc="-9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快速地从多重循环内部退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出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071484" cy="30911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latin typeface="宋体"/>
                <a:cs typeface="宋体"/>
              </a:rPr>
              <a:t>变量声明的作用</a:t>
            </a:r>
            <a:r>
              <a:rPr sz="2800" b="1" spc="-20" dirty="0">
                <a:latin typeface="宋体"/>
                <a:cs typeface="宋体"/>
              </a:rPr>
              <a:t>域</a:t>
            </a:r>
            <a:endParaRPr sz="2800">
              <a:latin typeface="宋体"/>
              <a:cs typeface="宋体"/>
            </a:endParaRPr>
          </a:p>
          <a:p>
            <a:pPr marL="901700" indent="-889000">
              <a:lnSpc>
                <a:spcPct val="100000"/>
              </a:lnSpc>
              <a:spcBef>
                <a:spcPts val="409"/>
              </a:spcBef>
              <a:buClr>
                <a:srgbClr val="000000"/>
              </a:buClr>
              <a:buSzPct val="96428"/>
              <a:buAutoNum type="arabicPlain"/>
              <a:tabLst>
                <a:tab pos="90170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参数声明的作用域</a:t>
            </a:r>
            <a:r>
              <a:rPr sz="2800" dirty="0">
                <a:latin typeface="宋体"/>
                <a:cs typeface="宋体"/>
              </a:rPr>
              <a:t>是声明方法所在的方法体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4150" marR="5080" indent="-171450" algn="just">
              <a:lnSpc>
                <a:spcPts val="3020"/>
              </a:lnSpc>
              <a:spcBef>
                <a:spcPts val="795"/>
              </a:spcBef>
              <a:buClr>
                <a:srgbClr val="000000"/>
              </a:buClr>
              <a:buSzPct val="96428"/>
              <a:buAutoNum type="arabicPlain"/>
              <a:tabLst>
                <a:tab pos="907415" algn="l"/>
              </a:tabLst>
            </a:pPr>
            <a:r>
              <a:rPr sz="2800" spc="15" dirty="0">
                <a:solidFill>
                  <a:srgbClr val="FF0000"/>
                </a:solidFill>
                <a:latin typeface="宋体"/>
                <a:cs typeface="宋体"/>
              </a:rPr>
              <a:t>局部变量</a:t>
            </a:r>
            <a:r>
              <a:rPr sz="2800" spc="15" dirty="0">
                <a:latin typeface="宋体"/>
                <a:cs typeface="宋体"/>
              </a:rPr>
              <a:t>在方法或方法中的一</a:t>
            </a:r>
            <a:r>
              <a:rPr sz="2800" spc="20" dirty="0">
                <a:latin typeface="宋体"/>
                <a:cs typeface="宋体"/>
              </a:rPr>
              <a:t>块代码中声明</a:t>
            </a:r>
            <a:r>
              <a:rPr sz="2800" spc="-5" dirty="0">
                <a:latin typeface="宋体"/>
                <a:cs typeface="宋体"/>
              </a:rPr>
              <a:t>， </a:t>
            </a:r>
            <a:r>
              <a:rPr sz="2800" spc="85" dirty="0">
                <a:latin typeface="宋体"/>
                <a:cs typeface="宋体"/>
              </a:rPr>
              <a:t>它的作用域为它所在的代码块</a:t>
            </a:r>
            <a:r>
              <a:rPr sz="2800" spc="80" dirty="0">
                <a:latin typeface="宋体"/>
                <a:cs typeface="宋体"/>
              </a:rPr>
              <a:t>(</a:t>
            </a:r>
            <a:r>
              <a:rPr sz="2800" spc="85" dirty="0">
                <a:latin typeface="宋体"/>
                <a:cs typeface="宋体"/>
              </a:rPr>
              <a:t>整个</a:t>
            </a:r>
            <a:r>
              <a:rPr sz="2800" spc="90" dirty="0">
                <a:latin typeface="宋体"/>
                <a:cs typeface="宋体"/>
              </a:rPr>
              <a:t>方法或方法</a:t>
            </a:r>
            <a:r>
              <a:rPr sz="2800" spc="-5" dirty="0">
                <a:latin typeface="宋体"/>
                <a:cs typeface="宋体"/>
              </a:rPr>
              <a:t>中 </a:t>
            </a:r>
            <a:r>
              <a:rPr sz="2800" dirty="0">
                <a:latin typeface="宋体"/>
                <a:cs typeface="宋体"/>
              </a:rPr>
              <a:t>的某块代码</a:t>
            </a:r>
            <a:r>
              <a:rPr sz="2800" spc="-5" dirty="0">
                <a:latin typeface="宋体"/>
                <a:cs typeface="宋体"/>
              </a:rPr>
              <a:t>)。</a:t>
            </a:r>
            <a:endParaRPr sz="28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750"/>
              </a:spcBef>
              <a:buSzPct val="96428"/>
              <a:buAutoNum type="arabicPlain"/>
              <a:tabLst>
                <a:tab pos="930275" algn="l"/>
              </a:tabLst>
            </a:pPr>
            <a:r>
              <a:rPr sz="2800" spc="75" dirty="0">
                <a:latin typeface="宋体"/>
                <a:cs typeface="宋体"/>
              </a:rPr>
              <a:t>出现在</a:t>
            </a:r>
            <a:r>
              <a:rPr sz="2800" spc="70" dirty="0">
                <a:solidFill>
                  <a:srgbClr val="FF0000"/>
                </a:solidFill>
                <a:latin typeface="宋体"/>
                <a:cs typeface="宋体"/>
              </a:rPr>
              <a:t>for</a:t>
            </a:r>
            <a:r>
              <a:rPr sz="2800" spc="75" dirty="0">
                <a:solidFill>
                  <a:srgbClr val="FF0000"/>
                </a:solidFill>
                <a:latin typeface="宋体"/>
                <a:cs typeface="宋体"/>
              </a:rPr>
              <a:t>结构头初始化部</a:t>
            </a:r>
            <a:r>
              <a:rPr sz="2800" spc="80" dirty="0">
                <a:solidFill>
                  <a:srgbClr val="FF0000"/>
                </a:solidFill>
                <a:latin typeface="宋体"/>
                <a:cs typeface="宋体"/>
              </a:rPr>
              <a:t>分的局部变量</a:t>
            </a:r>
            <a:r>
              <a:rPr sz="2800" spc="8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其 </a:t>
            </a:r>
            <a:r>
              <a:rPr sz="2800" dirty="0">
                <a:latin typeface="宋体"/>
                <a:cs typeface="宋体"/>
              </a:rPr>
              <a:t>作用域是</a:t>
            </a:r>
            <a:r>
              <a:rPr sz="2800" spc="-5" dirty="0">
                <a:latin typeface="宋体"/>
                <a:cs typeface="宋体"/>
              </a:rPr>
              <a:t>for</a:t>
            </a:r>
            <a:r>
              <a:rPr sz="2800" dirty="0">
                <a:latin typeface="宋体"/>
                <a:cs typeface="宋体"/>
              </a:rPr>
              <a:t>结构体和结构体头中的其它表达式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21805"/>
            <a:ext cx="30683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2.5.7</a:t>
            </a:r>
            <a:r>
              <a:rPr sz="2800" b="1" spc="1345" dirty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循环的嵌</a:t>
            </a:r>
            <a:r>
              <a:rPr sz="2800" b="1" spc="-20" dirty="0">
                <a:latin typeface="宋体"/>
                <a:cs typeface="宋体"/>
              </a:rPr>
              <a:t>套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6398"/>
            <a:ext cx="8019415" cy="13665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函数</a:t>
            </a:r>
            <a:r>
              <a:rPr sz="2800" spc="-5" dirty="0">
                <a:latin typeface="宋体"/>
                <a:cs typeface="宋体"/>
              </a:rPr>
              <a:t>=</a:t>
            </a:r>
            <a:r>
              <a:rPr sz="2800" dirty="0">
                <a:latin typeface="宋体"/>
                <a:cs typeface="宋体"/>
              </a:rPr>
              <a:t>方法</a:t>
            </a:r>
            <a:r>
              <a:rPr sz="2800" spc="-5" dirty="0">
                <a:latin typeface="宋体"/>
                <a:cs typeface="宋体"/>
              </a:rPr>
              <a:t>=</a:t>
            </a:r>
            <a:r>
              <a:rPr sz="2800" dirty="0">
                <a:latin typeface="宋体"/>
                <a:cs typeface="宋体"/>
              </a:rPr>
              <a:t>模块化设</a:t>
            </a:r>
            <a:r>
              <a:rPr sz="2800" spc="-5" dirty="0">
                <a:latin typeface="宋体"/>
                <a:cs typeface="宋体"/>
              </a:rPr>
              <a:t>计</a:t>
            </a:r>
            <a:endParaRPr sz="2800">
              <a:latin typeface="宋体"/>
              <a:cs typeface="宋体"/>
            </a:endParaRPr>
          </a:p>
          <a:p>
            <a:pPr marL="184150" marR="5080" indent="-171450">
              <a:lnSpc>
                <a:spcPts val="302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中所有的方法都必须封装在类中，不能单独</a:t>
            </a:r>
            <a:r>
              <a:rPr sz="2800" spc="-5" dirty="0">
                <a:latin typeface="宋体"/>
                <a:cs typeface="宋体"/>
              </a:rPr>
              <a:t>出 </a:t>
            </a:r>
            <a:r>
              <a:rPr sz="2800" dirty="0">
                <a:latin typeface="宋体"/>
                <a:cs typeface="宋体"/>
              </a:rPr>
              <a:t>现、使用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40842"/>
            <a:ext cx="5060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30158" y="393852"/>
            <a:ext cx="686498" cy="327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78</a:t>
            </a:fld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9230"/>
            <a:ext cx="8070850" cy="481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中方法定义的基本格式为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1275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[</a:t>
            </a:r>
            <a:r>
              <a:rPr sz="2800" dirty="0">
                <a:latin typeface="宋体"/>
                <a:cs typeface="宋体"/>
              </a:rPr>
              <a:t>修饰符</a:t>
            </a:r>
            <a:r>
              <a:rPr sz="2800" spc="-5" dirty="0">
                <a:latin typeface="宋体"/>
                <a:cs typeface="宋体"/>
              </a:rPr>
              <a:t>]</a:t>
            </a:r>
            <a:r>
              <a:rPr sz="2800" spc="-4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返回值类型</a:t>
            </a:r>
            <a:r>
              <a:rPr sz="2800" spc="-4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方法名</a:t>
            </a:r>
            <a:r>
              <a:rPr sz="2800" spc="-5" dirty="0">
                <a:latin typeface="宋体"/>
                <a:cs typeface="宋体"/>
              </a:rPr>
              <a:t>([</a:t>
            </a:r>
            <a:r>
              <a:rPr sz="2800" dirty="0">
                <a:latin typeface="宋体"/>
                <a:cs typeface="宋体"/>
              </a:rPr>
              <a:t>形式参数列表</a:t>
            </a:r>
            <a:r>
              <a:rPr sz="2800" spc="-5" dirty="0">
                <a:latin typeface="宋体"/>
                <a:cs typeface="宋体"/>
              </a:rPr>
              <a:t>]){</a:t>
            </a:r>
            <a:endParaRPr sz="2800">
              <a:latin typeface="宋体"/>
              <a:cs typeface="宋体"/>
            </a:endParaRPr>
          </a:p>
          <a:p>
            <a:pPr marL="41275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     [</a:t>
            </a:r>
            <a:r>
              <a:rPr sz="2800" dirty="0">
                <a:latin typeface="宋体"/>
                <a:cs typeface="宋体"/>
              </a:rPr>
              <a:t>方法体</a:t>
            </a:r>
            <a:r>
              <a:rPr sz="2800" spc="-5" dirty="0">
                <a:latin typeface="宋体"/>
                <a:cs typeface="宋体"/>
              </a:rPr>
              <a:t>]</a:t>
            </a:r>
            <a:endParaRPr sz="2800">
              <a:latin typeface="宋体"/>
              <a:cs typeface="宋体"/>
            </a:endParaRPr>
          </a:p>
          <a:p>
            <a:pPr marL="41275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  <a:p>
            <a:pPr marL="184150" marR="233679" indent="-171450">
              <a:lnSpc>
                <a:spcPts val="3020"/>
              </a:lnSpc>
              <a:spcBef>
                <a:spcPts val="79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修饰符：定义方法在类中的存在属性（如公有</a:t>
            </a:r>
            <a:r>
              <a:rPr sz="2800" spc="-5" dirty="0">
                <a:latin typeface="宋体"/>
                <a:cs typeface="宋体"/>
              </a:rPr>
              <a:t>/私 </a:t>
            </a:r>
            <a:r>
              <a:rPr sz="2800" dirty="0">
                <a:latin typeface="宋体"/>
                <a:cs typeface="宋体"/>
              </a:rPr>
              <a:t>有、是否可以被重载等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返回值类型：如果方法没有返回值则定义为</a:t>
            </a:r>
            <a:r>
              <a:rPr sz="2800" spc="-5" dirty="0">
                <a:latin typeface="宋体"/>
                <a:cs typeface="宋体"/>
              </a:rPr>
              <a:t>void”</a:t>
            </a:r>
            <a:endParaRPr sz="2800">
              <a:latin typeface="宋体"/>
              <a:cs typeface="宋体"/>
            </a:endParaRPr>
          </a:p>
          <a:p>
            <a:pPr marL="184150" marR="55880" indent="-171450">
              <a:lnSpc>
                <a:spcPts val="3020"/>
              </a:lnSpc>
              <a:spcBef>
                <a:spcPts val="79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形式参数列表：定义方法需要接收的数据及相应</a:t>
            </a:r>
            <a:r>
              <a:rPr sz="2800" spc="-5" dirty="0">
                <a:latin typeface="宋体"/>
                <a:cs typeface="宋体"/>
              </a:rPr>
              <a:t>数 </a:t>
            </a:r>
            <a:r>
              <a:rPr sz="2800" dirty="0">
                <a:latin typeface="宋体"/>
                <a:cs typeface="宋体"/>
              </a:rPr>
              <a:t>据类型，参数列表可缺</a:t>
            </a:r>
            <a:r>
              <a:rPr sz="2800" spc="-5" dirty="0">
                <a:latin typeface="宋体"/>
                <a:cs typeface="宋体"/>
              </a:rPr>
              <a:t>省</a:t>
            </a:r>
            <a:endParaRPr sz="2800">
              <a:latin typeface="宋体"/>
              <a:cs typeface="宋体"/>
            </a:endParaRPr>
          </a:p>
          <a:p>
            <a:pPr marL="184150" marR="55880" indent="-171450">
              <a:lnSpc>
                <a:spcPts val="302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方法体：由完成其逻辑功能的</a:t>
            </a:r>
            <a:r>
              <a:rPr sz="2800" spc="-5" dirty="0">
                <a:latin typeface="宋体"/>
                <a:cs typeface="宋体"/>
              </a:rPr>
              <a:t>Java</a:t>
            </a:r>
            <a:r>
              <a:rPr sz="2800" dirty="0">
                <a:latin typeface="宋体"/>
                <a:cs typeface="宋体"/>
              </a:rPr>
              <a:t>语句组成，可</a:t>
            </a:r>
            <a:r>
              <a:rPr sz="2800" spc="-5" dirty="0">
                <a:latin typeface="宋体"/>
                <a:cs typeface="宋体"/>
              </a:rPr>
              <a:t>为 </a:t>
            </a:r>
            <a:r>
              <a:rPr sz="2800" dirty="0">
                <a:latin typeface="宋体"/>
                <a:cs typeface="宋体"/>
              </a:rPr>
              <a:t>空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69273" y="393852"/>
            <a:ext cx="1753577" cy="329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79</a:t>
            </a:fld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59230"/>
            <a:ext cx="6425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2-14</a:t>
            </a:r>
            <a:r>
              <a:rPr sz="2800" dirty="0">
                <a:latin typeface="宋体"/>
                <a:cs typeface="宋体"/>
              </a:rPr>
              <a:t>】判断某数是否是素数的方法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4132" y="439572"/>
            <a:ext cx="847217" cy="248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69273" y="393852"/>
            <a:ext cx="1753577" cy="329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80</a:t>
            </a:fld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69273" y="393852"/>
            <a:ext cx="1754936" cy="329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99004" y="2564892"/>
            <a:ext cx="5209032" cy="2746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95575" y="2560954"/>
            <a:ext cx="5216525" cy="2754630"/>
          </a:xfrm>
          <a:custGeom>
            <a:avLst/>
            <a:gdLst/>
            <a:ahLst/>
            <a:cxnLst/>
            <a:rect l="l" t="t" r="r" b="b"/>
            <a:pathLst>
              <a:path w="5216525" h="2754629">
                <a:moveTo>
                  <a:pt x="5216525" y="2754630"/>
                </a:moveTo>
                <a:lnTo>
                  <a:pt x="0" y="2754630"/>
                </a:lnTo>
                <a:lnTo>
                  <a:pt x="0" y="0"/>
                </a:lnTo>
                <a:lnTo>
                  <a:pt x="5216525" y="0"/>
                </a:lnTo>
                <a:lnTo>
                  <a:pt x="5216525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2747010"/>
                </a:lnTo>
                <a:lnTo>
                  <a:pt x="3810" y="2747010"/>
                </a:lnTo>
                <a:lnTo>
                  <a:pt x="7619" y="2750820"/>
                </a:lnTo>
                <a:lnTo>
                  <a:pt x="5216525" y="2750820"/>
                </a:lnTo>
                <a:lnTo>
                  <a:pt x="5216525" y="2754630"/>
                </a:lnTo>
                <a:close/>
              </a:path>
              <a:path w="5216525" h="2754629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5216525" h="2754629">
                <a:moveTo>
                  <a:pt x="52089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5208905" y="3810"/>
                </a:lnTo>
                <a:lnTo>
                  <a:pt x="5208905" y="7620"/>
                </a:lnTo>
                <a:close/>
              </a:path>
              <a:path w="5216525" h="2754629">
                <a:moveTo>
                  <a:pt x="5208905" y="2750820"/>
                </a:moveTo>
                <a:lnTo>
                  <a:pt x="5208905" y="3810"/>
                </a:lnTo>
                <a:lnTo>
                  <a:pt x="5212715" y="7620"/>
                </a:lnTo>
                <a:lnTo>
                  <a:pt x="5216525" y="7620"/>
                </a:lnTo>
                <a:lnTo>
                  <a:pt x="5216525" y="2747009"/>
                </a:lnTo>
                <a:lnTo>
                  <a:pt x="5212715" y="2747010"/>
                </a:lnTo>
                <a:lnTo>
                  <a:pt x="5208905" y="2750820"/>
                </a:lnTo>
                <a:close/>
              </a:path>
              <a:path w="5216525" h="2754629">
                <a:moveTo>
                  <a:pt x="5216525" y="7620"/>
                </a:moveTo>
                <a:lnTo>
                  <a:pt x="5212715" y="7620"/>
                </a:lnTo>
                <a:lnTo>
                  <a:pt x="5208905" y="3810"/>
                </a:lnTo>
                <a:lnTo>
                  <a:pt x="5216525" y="3810"/>
                </a:lnTo>
                <a:lnTo>
                  <a:pt x="5216525" y="7620"/>
                </a:lnTo>
                <a:close/>
              </a:path>
              <a:path w="5216525" h="2754629">
                <a:moveTo>
                  <a:pt x="7619" y="2750820"/>
                </a:moveTo>
                <a:lnTo>
                  <a:pt x="3810" y="2747010"/>
                </a:lnTo>
                <a:lnTo>
                  <a:pt x="7619" y="2747010"/>
                </a:lnTo>
                <a:lnTo>
                  <a:pt x="7619" y="2750820"/>
                </a:lnTo>
                <a:close/>
              </a:path>
              <a:path w="5216525" h="2754629">
                <a:moveTo>
                  <a:pt x="5208905" y="2750820"/>
                </a:moveTo>
                <a:lnTo>
                  <a:pt x="7619" y="2750820"/>
                </a:lnTo>
                <a:lnTo>
                  <a:pt x="7619" y="2747010"/>
                </a:lnTo>
                <a:lnTo>
                  <a:pt x="5208905" y="2747010"/>
                </a:lnTo>
                <a:lnTo>
                  <a:pt x="5208905" y="2750820"/>
                </a:lnTo>
                <a:close/>
              </a:path>
              <a:path w="5216525" h="2754629">
                <a:moveTo>
                  <a:pt x="5216525" y="2750820"/>
                </a:moveTo>
                <a:lnTo>
                  <a:pt x="5208905" y="2750820"/>
                </a:lnTo>
                <a:lnTo>
                  <a:pt x="5212715" y="2747010"/>
                </a:lnTo>
                <a:lnTo>
                  <a:pt x="5216525" y="2747009"/>
                </a:lnTo>
                <a:lnTo>
                  <a:pt x="5216525" y="27508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1459230"/>
            <a:ext cx="8019415" cy="31553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宋体"/>
                <a:cs typeface="宋体"/>
              </a:rPr>
              <a:t>方法的重载：在一个类中定义多个同名的方法，</a:t>
            </a:r>
            <a:r>
              <a:rPr sz="2800" spc="-5" dirty="0">
                <a:latin typeface="宋体"/>
                <a:cs typeface="宋体"/>
              </a:rPr>
              <a:t>但 </a:t>
            </a:r>
            <a:r>
              <a:rPr sz="2800" dirty="0">
                <a:latin typeface="宋体"/>
                <a:cs typeface="宋体"/>
              </a:rPr>
              <a:t>方法有不同类型的参数或参数个数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712085" marR="403860">
              <a:lnSpc>
                <a:spcPct val="100000"/>
              </a:lnSpc>
              <a:spcBef>
                <a:spcPts val="2415"/>
              </a:spcBef>
            </a:pPr>
            <a:r>
              <a:rPr sz="2400" b="1" dirty="0">
                <a:latin typeface="宋体"/>
                <a:cs typeface="宋体"/>
              </a:rPr>
              <a:t>注意依赖形参识别方法，不能依赖</a:t>
            </a:r>
            <a:r>
              <a:rPr sz="2400" b="1" spc="-10" dirty="0">
                <a:latin typeface="宋体"/>
                <a:cs typeface="宋体"/>
              </a:rPr>
              <a:t>返 </a:t>
            </a:r>
            <a:r>
              <a:rPr sz="2400" b="1" dirty="0">
                <a:latin typeface="宋体"/>
                <a:cs typeface="宋体"/>
              </a:rPr>
              <a:t>回值</a:t>
            </a:r>
            <a:r>
              <a:rPr sz="1600" b="1" spc="-1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2712085">
              <a:lnSpc>
                <a:spcPts val="3335"/>
              </a:lnSpc>
            </a:pPr>
            <a:r>
              <a:rPr sz="1600" b="1" dirty="0">
                <a:latin typeface="宋体"/>
                <a:cs typeface="宋体"/>
              </a:rPr>
              <a:t>     </a:t>
            </a:r>
            <a:r>
              <a:rPr sz="2800" b="1" dirty="0">
                <a:latin typeface="宋体"/>
                <a:cs typeface="宋体"/>
              </a:rPr>
              <a:t>参数的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类型</a:t>
            </a:r>
            <a:r>
              <a:rPr sz="2800" b="1" dirty="0">
                <a:latin typeface="宋体"/>
                <a:cs typeface="宋体"/>
              </a:rPr>
              <a:t>不</a:t>
            </a:r>
            <a:r>
              <a:rPr sz="2800" b="1" spc="-20" dirty="0"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  <a:p>
            <a:pPr marL="2712085">
              <a:lnSpc>
                <a:spcPct val="100000"/>
              </a:lnSpc>
            </a:pPr>
            <a:r>
              <a:rPr sz="2800" b="1" dirty="0">
                <a:latin typeface="宋体"/>
                <a:cs typeface="宋体"/>
              </a:rPr>
              <a:t>   参数的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个数</a:t>
            </a:r>
            <a:r>
              <a:rPr sz="2800" b="1" dirty="0">
                <a:latin typeface="宋体"/>
                <a:cs typeface="宋体"/>
              </a:rPr>
              <a:t>不</a:t>
            </a:r>
            <a:r>
              <a:rPr sz="2800" b="1" spc="-20" dirty="0"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  <a:p>
            <a:pPr marL="2712085">
              <a:lnSpc>
                <a:spcPct val="100000"/>
              </a:lnSpc>
            </a:pPr>
            <a:r>
              <a:rPr sz="2800" b="1" dirty="0">
                <a:latin typeface="宋体"/>
                <a:cs typeface="宋体"/>
              </a:rPr>
              <a:t>   参数的</a:t>
            </a:r>
            <a:r>
              <a:rPr sz="2800" b="1" dirty="0">
                <a:solidFill>
                  <a:srgbClr val="FF0000"/>
                </a:solidFill>
                <a:latin typeface="宋体"/>
                <a:cs typeface="宋体"/>
              </a:rPr>
              <a:t>顺序</a:t>
            </a:r>
            <a:r>
              <a:rPr sz="2800" b="1" dirty="0">
                <a:latin typeface="宋体"/>
                <a:cs typeface="宋体"/>
              </a:rPr>
              <a:t>不</a:t>
            </a:r>
            <a:r>
              <a:rPr sz="2800" b="1" spc="-20" dirty="0">
                <a:latin typeface="宋体"/>
                <a:cs typeface="宋体"/>
              </a:rPr>
              <a:t>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15567" y="4581144"/>
            <a:ext cx="1299368" cy="10256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4132" y="440842"/>
            <a:ext cx="861694" cy="247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69273" y="393852"/>
            <a:ext cx="1754936" cy="329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70320" y="2410847"/>
            <a:ext cx="355600" cy="354965"/>
          </a:xfrm>
          <a:prstGeom prst="rect">
            <a:avLst/>
          </a:prstGeom>
        </p:spPr>
        <p:txBody>
          <a:bodyPr vert="horz" wrap="square" lIns="0" tIns="304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sz="2800" spc="-5" dirty="0">
                <a:latin typeface="宋体"/>
                <a:cs typeface="宋体"/>
              </a:rPr>
              <a:t>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7825" y="4135506"/>
            <a:ext cx="177800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800" spc="-5" dirty="0">
                <a:latin typeface="宋体"/>
                <a:cs typeface="宋体"/>
              </a:rPr>
              <a:t>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054" y="1102360"/>
            <a:ext cx="7848600" cy="428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【例</a:t>
            </a:r>
            <a:r>
              <a:rPr sz="2800" spc="-5" dirty="0">
                <a:latin typeface="宋体"/>
                <a:cs typeface="宋体"/>
              </a:rPr>
              <a:t>2-15</a:t>
            </a:r>
            <a:r>
              <a:rPr sz="2800" dirty="0">
                <a:latin typeface="宋体"/>
                <a:cs typeface="宋体"/>
              </a:rPr>
              <a:t>】设计打印金字塔的方法</a:t>
            </a:r>
            <a:r>
              <a:rPr sz="2800" spc="-5" dirty="0">
                <a:latin typeface="宋体"/>
                <a:cs typeface="宋体"/>
              </a:rPr>
              <a:t>printPyramid()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190"/>
              </a:lnSpc>
            </a:pPr>
            <a:r>
              <a:rPr sz="2800" dirty="0">
                <a:latin typeface="宋体"/>
                <a:cs typeface="宋体"/>
              </a:rPr>
              <a:t>，可以打印数字金字塔，也可以打印字母金字塔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宋体"/>
                <a:cs typeface="宋体"/>
              </a:rPr>
              <a:t>public void </a:t>
            </a:r>
            <a:r>
              <a:rPr sz="2800" spc="-5" dirty="0">
                <a:latin typeface="宋体"/>
                <a:cs typeface="宋体"/>
              </a:rPr>
              <a:t>printPyramid(</a:t>
            </a:r>
            <a:r>
              <a:rPr sz="2800" b="1" spc="-5" dirty="0">
                <a:latin typeface="宋体"/>
                <a:cs typeface="宋体"/>
              </a:rPr>
              <a:t>int</a:t>
            </a:r>
            <a:r>
              <a:rPr sz="2800" b="1" spc="-5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n){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0"/>
              </a:spcBef>
            </a:pPr>
            <a:r>
              <a:rPr sz="2800" spc="-5" dirty="0">
                <a:latin typeface="宋体"/>
                <a:cs typeface="宋体"/>
              </a:rPr>
              <a:t>//</a:t>
            </a:r>
            <a:r>
              <a:rPr sz="2800" dirty="0">
                <a:latin typeface="宋体"/>
                <a:cs typeface="宋体"/>
              </a:rPr>
              <a:t>打印</a:t>
            </a:r>
            <a:r>
              <a:rPr sz="2800" spc="-5" dirty="0">
                <a:latin typeface="宋体"/>
                <a:cs typeface="宋体"/>
              </a:rPr>
              <a:t>n</a:t>
            </a:r>
            <a:r>
              <a:rPr sz="2800" dirty="0">
                <a:latin typeface="宋体"/>
                <a:cs typeface="宋体"/>
              </a:rPr>
              <a:t>行数字组成的金字</a:t>
            </a:r>
            <a:r>
              <a:rPr sz="2800" spc="-5" dirty="0">
                <a:latin typeface="宋体"/>
                <a:cs typeface="宋体"/>
              </a:rPr>
              <a:t>塔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……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800" spc="-5" dirty="0"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800" b="1" dirty="0">
                <a:latin typeface="宋体"/>
                <a:cs typeface="宋体"/>
              </a:rPr>
              <a:t>public void </a:t>
            </a:r>
            <a:r>
              <a:rPr sz="2800" spc="-5" dirty="0">
                <a:latin typeface="宋体"/>
                <a:cs typeface="宋体"/>
              </a:rPr>
              <a:t>printPyramid(</a:t>
            </a:r>
            <a:r>
              <a:rPr sz="2800" b="1" spc="-5" dirty="0">
                <a:latin typeface="宋体"/>
                <a:cs typeface="宋体"/>
              </a:rPr>
              <a:t>char</a:t>
            </a:r>
            <a:r>
              <a:rPr sz="2800" b="1" spc="-5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c){ 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50"/>
              </a:spcBef>
            </a:pPr>
            <a:r>
              <a:rPr sz="2800" spc="-5" dirty="0">
                <a:latin typeface="宋体"/>
                <a:cs typeface="宋体"/>
              </a:rPr>
              <a:t>//</a:t>
            </a:r>
            <a:r>
              <a:rPr sz="2800" dirty="0">
                <a:latin typeface="宋体"/>
                <a:cs typeface="宋体"/>
              </a:rPr>
              <a:t>打印</a:t>
            </a:r>
            <a:r>
              <a:rPr sz="2800" spc="-5" dirty="0">
                <a:latin typeface="宋体"/>
                <a:cs typeface="宋体"/>
              </a:rPr>
              <a:t>'a'~ch</a:t>
            </a:r>
            <a:r>
              <a:rPr sz="2800" dirty="0">
                <a:latin typeface="宋体"/>
                <a:cs typeface="宋体"/>
              </a:rPr>
              <a:t>字母组成的金字</a:t>
            </a:r>
            <a:r>
              <a:rPr sz="2800" spc="-5" dirty="0">
                <a:latin typeface="宋体"/>
                <a:cs typeface="宋体"/>
              </a:rPr>
              <a:t>塔</a:t>
            </a:r>
            <a:endParaRPr sz="2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5"/>
              </a:spcBef>
            </a:pPr>
            <a:r>
              <a:rPr sz="2800" spc="-5" dirty="0">
                <a:latin typeface="宋体"/>
                <a:cs typeface="宋体"/>
              </a:rPr>
              <a:t>……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255" y="5366384"/>
            <a:ext cx="2032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4976" y="2205227"/>
            <a:ext cx="2087879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59880" y="3573779"/>
            <a:ext cx="2054352" cy="13685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10335" y="5457190"/>
            <a:ext cx="46386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spc="2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006C39"/>
                </a:solidFill>
                <a:latin typeface="Times New Roman"/>
                <a:cs typeface="Times New Roman"/>
              </a:rPr>
              <a:t>OverloadingOrder.java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82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3841</Words>
  <Application>Microsoft Office PowerPoint</Application>
  <PresentationFormat>全屏显示(4:3)</PresentationFormat>
  <Paragraphs>950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2" baseType="lpstr">
      <vt:lpstr>宋体</vt:lpstr>
      <vt:lpstr>微软雅黑</vt:lpstr>
      <vt:lpstr>Arial</vt:lpstr>
      <vt:lpstr>Book Antiqua</vt:lpstr>
      <vt:lpstr>Calibri</vt:lpstr>
      <vt:lpstr>Consolas</vt:lpstr>
      <vt:lpstr>Symbol</vt:lpstr>
      <vt:lpstr>Times New Roman</vt:lpstr>
      <vt:lpstr>Wingdings</vt:lpstr>
      <vt:lpstr>Office Theme</vt:lpstr>
      <vt:lpstr>2.1 标识符和关键字</vt:lpstr>
      <vt:lpstr>2.1 标识符和关键字</vt:lpstr>
      <vt:lpstr>2.1 标识符和关键字</vt:lpstr>
      <vt:lpstr>2.1 标识符和关键字</vt:lpstr>
      <vt:lpstr>2.1 标识符和关键字</vt:lpstr>
      <vt:lpstr>2.1 标识符和关键字</vt:lpstr>
      <vt:lpstr>2.1 标识符和关键字</vt:lpstr>
      <vt:lpstr>PowerPoint 演示文稿</vt:lpstr>
      <vt:lpstr>2.2 基本数据类型与变量、常量</vt:lpstr>
      <vt:lpstr>2.2 基本数据类型与变量、常量</vt:lpstr>
      <vt:lpstr>2.2.1 Java中的整数类型</vt:lpstr>
      <vt:lpstr>PowerPoint 演示文稿</vt:lpstr>
      <vt:lpstr>2.2.2 Java中的字符类型</vt:lpstr>
      <vt:lpstr>PowerPoint 演示文稿</vt:lpstr>
      <vt:lpstr>PowerPoint 演示文稿</vt:lpstr>
      <vt:lpstr>2.2.3 浮点类型</vt:lpstr>
      <vt:lpstr>2.2.3 浮点类型</vt:lpstr>
      <vt:lpstr>2.2.4 布尔类型</vt:lpstr>
      <vt:lpstr>2.2.5 符号常量</vt:lpstr>
      <vt:lpstr>PowerPoint 演示文稿</vt:lpstr>
      <vt:lpstr>PowerPoint 演示文稿</vt:lpstr>
      <vt:lpstr>PowerPoint 演示文稿</vt:lpstr>
      <vt:lpstr>PowerPoint 演示文稿</vt:lpstr>
      <vt:lpstr>int S=-a*x*x+b*x+c;</vt:lpstr>
      <vt:lpstr>2.3 运算符</vt:lpstr>
      <vt:lpstr>PowerPoint 演示文稿</vt:lpstr>
      <vt:lpstr>PowerPoint 演示文稿</vt:lpstr>
      <vt:lpstr>PowerPoint 演示文稿</vt:lpstr>
      <vt:lpstr>PowerPoint 演示文稿</vt:lpstr>
      <vt:lpstr>  int x=-1; </vt:lpstr>
      <vt:lpstr>前缀和后缀运算符举例</vt:lpstr>
      <vt:lpstr>例2-2</vt:lpstr>
      <vt:lpstr>运算符+</vt:lpstr>
      <vt:lpstr>PowerPoint 演示文稿</vt:lpstr>
      <vt:lpstr>PowerPoint 演示文稿</vt:lpstr>
      <vt:lpstr>短路：一旦可以明确确定逻辑表达式的值，余下的部分可</vt:lpstr>
      <vt:lpstr>例如：int x = 3, y = 5 ;</vt:lpstr>
      <vt:lpstr>PowerPoint 演示文稿</vt:lpstr>
      <vt:lpstr>PowerPoint 演示文稿</vt:lpstr>
      <vt:lpstr>例2-5</vt:lpstr>
      <vt:lpstr>PowerPoint 演示文稿</vt:lpstr>
      <vt:lpstr>2.3.4 赋值运算符</vt:lpstr>
      <vt:lpstr>2.3.4 赋值运算符</vt:lpstr>
      <vt:lpstr>PowerPoint 演示文稿</vt:lpstr>
      <vt:lpstr>2.3.6 运算符的优先级与结合性</vt:lpstr>
      <vt:lpstr>2.3.6 运算符的优先级与结合性</vt:lpstr>
      <vt:lpstr>2.3.6 运算符的优先级与结合性</vt:lpstr>
      <vt:lpstr>2.4 表达式的类型转换</vt:lpstr>
      <vt:lpstr>PowerPoint 演示文稿</vt:lpstr>
      <vt:lpstr>2.4.1 数据类型自动转换的规则</vt:lpstr>
      <vt:lpstr>2.4.2 强制类型转换</vt:lpstr>
      <vt:lpstr>2.5 流程控制</vt:lpstr>
      <vt:lpstr>2.5 流程控制</vt:lpstr>
      <vt:lpstr>2.5.1 if语句</vt:lpstr>
      <vt:lpstr>PowerPoint 演示文稿</vt:lpstr>
      <vt:lpstr>【例2-7】根据输入的运算符（+、-、*、/）组织运 算。</vt:lpstr>
      <vt:lpstr>PowerPoint 演示文稿</vt:lpstr>
      <vt:lpstr>myGrade的值为 ‘A’，执行完 switch语句后，  myScore的值被 赋值为0</vt:lpstr>
      <vt:lpstr>多个不同的case值可以执行一组相同的操作。</vt:lpstr>
      <vt:lpstr>PowerPoint 演示文稿</vt:lpstr>
      <vt:lpstr>PowerPoint 演示文稿</vt:lpstr>
      <vt:lpstr>2.5.3 while循环语句</vt:lpstr>
      <vt:lpstr>2.5.3 while循环语句</vt:lpstr>
      <vt:lpstr>2.5.3 while循环语句</vt:lpstr>
      <vt:lpstr>2.5.4 for循环语句</vt:lpstr>
      <vt:lpstr>2.5.4 for循环语句</vt:lpstr>
      <vt:lpstr>2.5.4 for循环语句</vt:lpstr>
      <vt:lpstr>2.5.4 for循环语句</vt:lpstr>
      <vt:lpstr>2.5.4 for循环语句</vt:lpstr>
      <vt:lpstr>2.5.5 do-while循环语句</vt:lpstr>
      <vt:lpstr>【例2-11】输入两个正数，并利用欧几里德算法（ 辗转相除法）求它们的最大公约数。</vt:lpstr>
      <vt:lpstr>2.5.6 break语句</vt:lpstr>
      <vt:lpstr>2.5.6 break语句</vt:lpstr>
      <vt:lpstr>2.5.6 break语句</vt:lpstr>
      <vt:lpstr>2.5.6 break语句</vt:lpstr>
      <vt:lpstr>PowerPoint 演示文稿</vt:lpstr>
      <vt:lpstr>2.5.7 循环的嵌套</vt:lpstr>
      <vt:lpstr>PowerPoint 演示文稿</vt:lpstr>
      <vt:lpstr>PowerPoint 演示文稿</vt:lpstr>
      <vt:lpstr>【例2-14】判断某数是否是素数的方法。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Java语言基础</dc:title>
  <cp:lastModifiedBy>- Vel</cp:lastModifiedBy>
  <cp:revision>2</cp:revision>
  <dcterms:created xsi:type="dcterms:W3CDTF">2024-05-05T02:36:47Z</dcterms:created>
  <dcterms:modified xsi:type="dcterms:W3CDTF">2024-05-05T05:51:41Z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
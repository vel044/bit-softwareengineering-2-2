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</p:sldMasterIdLst>
  <p:notesMasterIdLst>
    <p:notesMasterId r:id="rId31"/>
  </p:notesMasterIdLst>
  <p:handoutMasterIdLst>
    <p:handoutMasterId r:id="rId32"/>
  </p:handoutMasterIdLst>
  <p:sldIdLst>
    <p:sldId id="831" r:id="rId2"/>
    <p:sldId id="832" r:id="rId3"/>
    <p:sldId id="834" r:id="rId4"/>
    <p:sldId id="836" r:id="rId5"/>
    <p:sldId id="837" r:id="rId6"/>
    <p:sldId id="838" r:id="rId7"/>
    <p:sldId id="839" r:id="rId8"/>
    <p:sldId id="841" r:id="rId9"/>
    <p:sldId id="842" r:id="rId10"/>
    <p:sldId id="843" r:id="rId11"/>
    <p:sldId id="845" r:id="rId12"/>
    <p:sldId id="846" r:id="rId13"/>
    <p:sldId id="847" r:id="rId14"/>
    <p:sldId id="848" r:id="rId15"/>
    <p:sldId id="849" r:id="rId16"/>
    <p:sldId id="850" r:id="rId17"/>
    <p:sldId id="851" r:id="rId18"/>
    <p:sldId id="852" r:id="rId19"/>
    <p:sldId id="853" r:id="rId20"/>
    <p:sldId id="854" r:id="rId21"/>
    <p:sldId id="855" r:id="rId22"/>
    <p:sldId id="856" r:id="rId23"/>
    <p:sldId id="857" r:id="rId24"/>
    <p:sldId id="858" r:id="rId25"/>
    <p:sldId id="859" r:id="rId26"/>
    <p:sldId id="860" r:id="rId27"/>
    <p:sldId id="861" r:id="rId28"/>
    <p:sldId id="862" r:id="rId29"/>
    <p:sldId id="863" r:id="rId30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9CCFF"/>
    <a:srgbClr val="C00000"/>
    <a:srgbClr val="A22E91"/>
    <a:srgbClr val="008461"/>
    <a:srgbClr val="CCFF99"/>
    <a:srgbClr val="66FF33"/>
    <a:srgbClr val="0066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深色样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80" autoAdjust="0"/>
    <p:restoredTop sz="88406" autoAdjust="0"/>
  </p:normalViewPr>
  <p:slideViewPr>
    <p:cSldViewPr>
      <p:cViewPr varScale="1">
        <p:scale>
          <a:sx n="67" d="100"/>
          <a:sy n="67" d="100"/>
        </p:scale>
        <p:origin x="692" y="32"/>
      </p:cViewPr>
      <p:guideLst>
        <p:guide orient="horz" pos="2183"/>
        <p:guide pos="3840"/>
      </p:guideLst>
    </p:cSldViewPr>
  </p:slideViewPr>
  <p:outlineViewPr>
    <p:cViewPr>
      <p:scale>
        <a:sx n="33" d="100"/>
        <a:sy n="33" d="100"/>
      </p:scale>
      <p:origin x="12" y="91482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30" d="100"/>
        <a:sy n="130" d="100"/>
      </p:scale>
      <p:origin x="0" y="-17220"/>
    </p:cViewPr>
  </p:sorterViewPr>
  <p:notesViewPr>
    <p:cSldViewPr>
      <p:cViewPr varScale="1">
        <p:scale>
          <a:sx n="54" d="100"/>
          <a:sy n="54" d="100"/>
        </p:scale>
        <p:origin x="-1842" y="-102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/>
            </a:lvl1pPr>
          </a:lstStyle>
          <a:p>
            <a:endParaRPr lang="zh-CN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endParaRPr lang="en-US" altLang="zh-CN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/>
            </a:lvl1pPr>
          </a:lstStyle>
          <a:p>
            <a:endParaRPr lang="en-US" altLang="zh-CN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fld id="{D666D5D4-C119-49D7-BA2C-46093DB5152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/>
            </a:lvl1pPr>
          </a:lstStyle>
          <a:p>
            <a:endParaRPr lang="zh-CN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/>
            </a:lvl1pPr>
          </a:lstStyle>
          <a:p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fld id="{722E37B7-A9EC-47D9-985A-5914DB8AB36F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宋体" pitchFamily="2" charset="-122"/>
            </a:endParaRPr>
          </a:p>
        </p:txBody>
      </p:sp>
      <p:sp>
        <p:nvSpPr>
          <p:cNvPr id="72708" name="Slide Number Placeholder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BA2BB9D1-0497-4C1E-BC9E-508947CE62E1}" type="slidenum">
              <a:rPr lang="zh-CN" altLang="en-US" sz="1200" b="0">
                <a:latin typeface="Times New Roman" pitchFamily="18" charset="0"/>
              </a:rPr>
              <a:pPr algn="r" eaLnBrk="1" hangingPunct="1"/>
              <a:t>1</a:t>
            </a:fld>
            <a:endParaRPr lang="en-US" altLang="zh-CN" sz="1200" b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260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宋体" pitchFamily="2" charset="-122"/>
            </a:endParaRPr>
          </a:p>
        </p:txBody>
      </p:sp>
      <p:sp>
        <p:nvSpPr>
          <p:cNvPr id="72708" name="Slide Number Placeholder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BA2BB9D1-0497-4C1E-BC9E-508947CE62E1}" type="slidenum">
              <a:rPr lang="zh-CN" altLang="en-US" sz="1200" b="0">
                <a:latin typeface="Times New Roman" pitchFamily="18" charset="0"/>
              </a:rPr>
              <a:pPr algn="r" eaLnBrk="1" hangingPunct="1"/>
              <a:t>2</a:t>
            </a:fld>
            <a:endParaRPr lang="en-US" altLang="zh-CN" sz="1200" b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6448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宋体" pitchFamily="2" charset="-122"/>
            </a:endParaRPr>
          </a:p>
        </p:txBody>
      </p:sp>
      <p:sp>
        <p:nvSpPr>
          <p:cNvPr id="73732" name="Slide Number Placeholder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265EF62B-B749-415A-96C2-2791066D88E7}" type="slidenum">
              <a:rPr lang="zh-CN" altLang="en-US" sz="1200" b="0">
                <a:latin typeface="Times New Roman" pitchFamily="18" charset="0"/>
              </a:rPr>
              <a:pPr algn="r" eaLnBrk="1" hangingPunct="1"/>
              <a:t>3</a:t>
            </a:fld>
            <a:endParaRPr lang="en-US" altLang="zh-CN" sz="1200" b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7752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宋体" pitchFamily="2" charset="-122"/>
            </a:endParaRPr>
          </a:p>
        </p:txBody>
      </p:sp>
      <p:sp>
        <p:nvSpPr>
          <p:cNvPr id="73732" name="Slide Number Placeholder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265EF62B-B749-415A-96C2-2791066D88E7}" type="slidenum">
              <a:rPr lang="zh-CN" altLang="en-US" sz="1200" b="0">
                <a:latin typeface="Times New Roman" pitchFamily="18" charset="0"/>
              </a:rPr>
              <a:pPr algn="r" eaLnBrk="1" hangingPunct="1"/>
              <a:t>4</a:t>
            </a:fld>
            <a:endParaRPr lang="en-US" altLang="zh-CN" sz="1200" b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82059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宋体" pitchFamily="2" charset="-122"/>
            </a:endParaRPr>
          </a:p>
        </p:txBody>
      </p:sp>
      <p:sp>
        <p:nvSpPr>
          <p:cNvPr id="73732" name="Slide Number Placeholder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265EF62B-B749-415A-96C2-2791066D88E7}" type="slidenum">
              <a:rPr lang="zh-CN" altLang="en-US" sz="1200" b="0">
                <a:latin typeface="Times New Roman" pitchFamily="18" charset="0"/>
              </a:rPr>
              <a:pPr algn="r" eaLnBrk="1" hangingPunct="1"/>
              <a:t>5</a:t>
            </a:fld>
            <a:endParaRPr lang="en-US" altLang="zh-CN" sz="1200" b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97967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宋体" pitchFamily="2" charset="-122"/>
            </a:endParaRPr>
          </a:p>
        </p:txBody>
      </p:sp>
      <p:sp>
        <p:nvSpPr>
          <p:cNvPr id="73732" name="Slide Number Placeholder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265EF62B-B749-415A-96C2-2791066D88E7}" type="slidenum">
              <a:rPr lang="zh-CN" altLang="en-US" sz="1200" b="0">
                <a:latin typeface="Times New Roman" pitchFamily="18" charset="0"/>
              </a:rPr>
              <a:pPr algn="r" eaLnBrk="1" hangingPunct="1"/>
              <a:t>6</a:t>
            </a:fld>
            <a:endParaRPr lang="en-US" altLang="zh-CN" sz="1200" b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5621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宋体" pitchFamily="2" charset="-122"/>
            </a:endParaRPr>
          </a:p>
        </p:txBody>
      </p:sp>
      <p:sp>
        <p:nvSpPr>
          <p:cNvPr id="73732" name="Slide Number Placeholder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265EF62B-B749-415A-96C2-2791066D88E7}" type="slidenum">
              <a:rPr lang="zh-CN" altLang="en-US" sz="1200" b="0">
                <a:latin typeface="Times New Roman" pitchFamily="18" charset="0"/>
              </a:rPr>
              <a:pPr algn="r" eaLnBrk="1" hangingPunct="1"/>
              <a:t>7</a:t>
            </a:fld>
            <a:endParaRPr lang="en-US" altLang="zh-CN" sz="1200" b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0900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宋体" pitchFamily="2" charset="-122"/>
            </a:endParaRPr>
          </a:p>
        </p:txBody>
      </p:sp>
      <p:sp>
        <p:nvSpPr>
          <p:cNvPr id="73732" name="Slide Number Placeholder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265EF62B-B749-415A-96C2-2791066D88E7}" type="slidenum">
              <a:rPr lang="zh-CN" altLang="en-US" sz="1200" b="0">
                <a:latin typeface="Times New Roman" pitchFamily="18" charset="0"/>
              </a:rPr>
              <a:pPr algn="r" eaLnBrk="1" hangingPunct="1"/>
              <a:t>8</a:t>
            </a:fld>
            <a:endParaRPr lang="en-US" altLang="zh-CN" sz="1200" b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101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宋体" pitchFamily="2" charset="-122"/>
            </a:endParaRPr>
          </a:p>
        </p:txBody>
      </p:sp>
      <p:sp>
        <p:nvSpPr>
          <p:cNvPr id="73732" name="Slide Number Placeholder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265EF62B-B749-415A-96C2-2791066D88E7}" type="slidenum">
              <a:rPr lang="zh-CN" altLang="en-US" sz="1200" b="0">
                <a:latin typeface="Times New Roman" pitchFamily="18" charset="0"/>
              </a:rPr>
              <a:pPr algn="r" eaLnBrk="1" hangingPunct="1"/>
              <a:t>9</a:t>
            </a:fld>
            <a:endParaRPr lang="en-US" altLang="zh-CN" sz="1200" b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9205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宋体" pitchFamily="2" charset="-122"/>
            </a:endParaRPr>
          </a:p>
        </p:txBody>
      </p:sp>
      <p:sp>
        <p:nvSpPr>
          <p:cNvPr id="73732" name="Slide Number Placeholder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265EF62B-B749-415A-96C2-2791066D88E7}" type="slidenum">
              <a:rPr lang="zh-CN" altLang="en-US" sz="1200" b="0">
                <a:latin typeface="Times New Roman" pitchFamily="18" charset="0"/>
              </a:rPr>
              <a:pPr algn="r" eaLnBrk="1" hangingPunct="1"/>
              <a:t>10</a:t>
            </a:fld>
            <a:endParaRPr lang="en-US" altLang="zh-CN" sz="1200" b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0659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宋体" pitchFamily="2" charset="-122"/>
            </a:endParaRPr>
          </a:p>
        </p:txBody>
      </p:sp>
      <p:sp>
        <p:nvSpPr>
          <p:cNvPr id="73732" name="Slide Number Placeholder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265EF62B-B749-415A-96C2-2791066D88E7}" type="slidenum">
              <a:rPr lang="zh-CN" altLang="en-US" sz="1200" b="0">
                <a:latin typeface="Times New Roman" pitchFamily="18" charset="0"/>
              </a:rPr>
              <a:pPr algn="r" eaLnBrk="1" hangingPunct="1"/>
              <a:t>11</a:t>
            </a:fld>
            <a:endParaRPr lang="en-US" altLang="zh-CN" sz="1200" b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0682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宋体" pitchFamily="2" charset="-122"/>
            </a:endParaRPr>
          </a:p>
        </p:txBody>
      </p:sp>
      <p:sp>
        <p:nvSpPr>
          <p:cNvPr id="73732" name="Slide Number Placeholder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265EF62B-B749-415A-96C2-2791066D88E7}" type="slidenum">
              <a:rPr lang="zh-CN" altLang="en-US" sz="1200" b="0">
                <a:latin typeface="Times New Roman" pitchFamily="18" charset="0"/>
              </a:rPr>
              <a:pPr algn="r" eaLnBrk="1" hangingPunct="1"/>
              <a:t>12</a:t>
            </a:fld>
            <a:endParaRPr lang="en-US" altLang="zh-CN" sz="1200" b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07129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宋体" pitchFamily="2" charset="-122"/>
            </a:endParaRPr>
          </a:p>
        </p:txBody>
      </p:sp>
      <p:sp>
        <p:nvSpPr>
          <p:cNvPr id="73732" name="Slide Number Placeholder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265EF62B-B749-415A-96C2-2791066D88E7}" type="slidenum">
              <a:rPr lang="zh-CN" altLang="en-US" sz="1200" b="0">
                <a:latin typeface="Times New Roman" pitchFamily="18" charset="0"/>
              </a:rPr>
              <a:pPr algn="r" eaLnBrk="1" hangingPunct="1"/>
              <a:t>13</a:t>
            </a:fld>
            <a:endParaRPr lang="en-US" altLang="zh-CN" sz="1200" b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54472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宋体" pitchFamily="2" charset="-122"/>
            </a:endParaRPr>
          </a:p>
        </p:txBody>
      </p:sp>
      <p:sp>
        <p:nvSpPr>
          <p:cNvPr id="73732" name="Slide Number Placeholder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265EF62B-B749-415A-96C2-2791066D88E7}" type="slidenum">
              <a:rPr lang="zh-CN" altLang="en-US" sz="1200" b="0">
                <a:latin typeface="Times New Roman" pitchFamily="18" charset="0"/>
              </a:rPr>
              <a:pPr algn="r" eaLnBrk="1" hangingPunct="1"/>
              <a:t>14</a:t>
            </a:fld>
            <a:endParaRPr lang="en-US" altLang="zh-CN" sz="1200" b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97039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宋体" pitchFamily="2" charset="-122"/>
            </a:endParaRPr>
          </a:p>
        </p:txBody>
      </p:sp>
      <p:sp>
        <p:nvSpPr>
          <p:cNvPr id="73732" name="Slide Number Placeholder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265EF62B-B749-415A-96C2-2791066D88E7}" type="slidenum">
              <a:rPr lang="zh-CN" altLang="en-US" sz="1200" b="0">
                <a:latin typeface="Times New Roman" pitchFamily="18" charset="0"/>
              </a:rPr>
              <a:pPr algn="r" eaLnBrk="1" hangingPunct="1"/>
              <a:t>15</a:t>
            </a:fld>
            <a:endParaRPr lang="en-US" altLang="zh-CN" sz="1200" b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9393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宋体" pitchFamily="2" charset="-122"/>
            </a:endParaRPr>
          </a:p>
        </p:txBody>
      </p:sp>
      <p:sp>
        <p:nvSpPr>
          <p:cNvPr id="73732" name="Slide Number Placeholder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265EF62B-B749-415A-96C2-2791066D88E7}" type="slidenum">
              <a:rPr lang="zh-CN" altLang="en-US" sz="1200" b="0">
                <a:latin typeface="Times New Roman" pitchFamily="18" charset="0"/>
              </a:rPr>
              <a:pPr algn="r" eaLnBrk="1" hangingPunct="1"/>
              <a:t>16</a:t>
            </a:fld>
            <a:endParaRPr lang="en-US" altLang="zh-CN" sz="1200" b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07710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宋体" pitchFamily="2" charset="-122"/>
            </a:endParaRPr>
          </a:p>
        </p:txBody>
      </p:sp>
      <p:sp>
        <p:nvSpPr>
          <p:cNvPr id="73732" name="Slide Number Placeholder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265EF62B-B749-415A-96C2-2791066D88E7}" type="slidenum">
              <a:rPr lang="zh-CN" altLang="en-US" sz="1200" b="0">
                <a:latin typeface="Times New Roman" pitchFamily="18" charset="0"/>
              </a:rPr>
              <a:pPr algn="r" eaLnBrk="1" hangingPunct="1"/>
              <a:t>17</a:t>
            </a:fld>
            <a:endParaRPr lang="en-US" altLang="zh-CN" sz="1200" b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0478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宋体" pitchFamily="2" charset="-122"/>
            </a:endParaRPr>
          </a:p>
        </p:txBody>
      </p:sp>
      <p:sp>
        <p:nvSpPr>
          <p:cNvPr id="73732" name="Slide Number Placeholder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265EF62B-B749-415A-96C2-2791066D88E7}" type="slidenum">
              <a:rPr lang="zh-CN" altLang="en-US" sz="1200" b="0">
                <a:latin typeface="Times New Roman" pitchFamily="18" charset="0"/>
              </a:rPr>
              <a:pPr algn="r" eaLnBrk="1" hangingPunct="1"/>
              <a:t>18</a:t>
            </a:fld>
            <a:endParaRPr lang="en-US" altLang="zh-CN" sz="1200" b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25545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宋体" pitchFamily="2" charset="-122"/>
            </a:endParaRPr>
          </a:p>
        </p:txBody>
      </p:sp>
      <p:sp>
        <p:nvSpPr>
          <p:cNvPr id="73732" name="Slide Number Placeholder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265EF62B-B749-415A-96C2-2791066D88E7}" type="slidenum">
              <a:rPr lang="zh-CN" altLang="en-US" sz="1200" b="0">
                <a:latin typeface="Times New Roman" pitchFamily="18" charset="0"/>
              </a:rPr>
              <a:pPr algn="r" eaLnBrk="1" hangingPunct="1"/>
              <a:t>19</a:t>
            </a:fld>
            <a:endParaRPr lang="en-US" altLang="zh-CN" sz="1200" b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4446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宋体" pitchFamily="2" charset="-122"/>
            </a:endParaRPr>
          </a:p>
        </p:txBody>
      </p:sp>
      <p:sp>
        <p:nvSpPr>
          <p:cNvPr id="73732" name="Slide Number Placeholder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265EF62B-B749-415A-96C2-2791066D88E7}" type="slidenum">
              <a:rPr lang="zh-CN" altLang="en-US" sz="1200" b="0">
                <a:latin typeface="Times New Roman" pitchFamily="18" charset="0"/>
              </a:rPr>
              <a:pPr algn="r" eaLnBrk="1" hangingPunct="1"/>
              <a:t>20</a:t>
            </a:fld>
            <a:endParaRPr lang="en-US" altLang="zh-CN" sz="1200" b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97440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宋体" pitchFamily="2" charset="-122"/>
            </a:endParaRPr>
          </a:p>
        </p:txBody>
      </p:sp>
      <p:sp>
        <p:nvSpPr>
          <p:cNvPr id="73732" name="Slide Number Placeholder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265EF62B-B749-415A-96C2-2791066D88E7}" type="slidenum">
              <a:rPr lang="zh-CN" altLang="en-US" sz="1200" b="0">
                <a:latin typeface="Times New Roman" pitchFamily="18" charset="0"/>
              </a:rPr>
              <a:pPr algn="r" eaLnBrk="1" hangingPunct="1"/>
              <a:t>21</a:t>
            </a:fld>
            <a:endParaRPr lang="en-US" altLang="zh-CN" sz="1200" b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4579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宋体" pitchFamily="2" charset="-122"/>
            </a:endParaRPr>
          </a:p>
        </p:txBody>
      </p:sp>
      <p:sp>
        <p:nvSpPr>
          <p:cNvPr id="73732" name="Slide Number Placeholder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265EF62B-B749-415A-96C2-2791066D88E7}" type="slidenum">
              <a:rPr lang="zh-CN" altLang="en-US" sz="1200" b="0">
                <a:latin typeface="Times New Roman" pitchFamily="18" charset="0"/>
              </a:rPr>
              <a:pPr algn="r" eaLnBrk="1" hangingPunct="1"/>
              <a:t>22</a:t>
            </a:fld>
            <a:endParaRPr lang="en-US" altLang="zh-CN" sz="1200" b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8907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宋体" pitchFamily="2" charset="-122"/>
            </a:endParaRPr>
          </a:p>
        </p:txBody>
      </p:sp>
      <p:sp>
        <p:nvSpPr>
          <p:cNvPr id="73732" name="Slide Number Placeholder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265EF62B-B749-415A-96C2-2791066D88E7}" type="slidenum">
              <a:rPr lang="zh-CN" altLang="en-US" sz="1200" b="0">
                <a:latin typeface="Times New Roman" pitchFamily="18" charset="0"/>
              </a:rPr>
              <a:pPr algn="r" eaLnBrk="1" hangingPunct="1"/>
              <a:t>23</a:t>
            </a:fld>
            <a:endParaRPr lang="en-US" altLang="zh-CN" sz="1200" b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9439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宋体" pitchFamily="2" charset="-122"/>
            </a:endParaRPr>
          </a:p>
        </p:txBody>
      </p:sp>
      <p:sp>
        <p:nvSpPr>
          <p:cNvPr id="73732" name="Slide Number Placeholder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265EF62B-B749-415A-96C2-2791066D88E7}" type="slidenum">
              <a:rPr lang="zh-CN" altLang="en-US" sz="1200" b="0">
                <a:latin typeface="Times New Roman" pitchFamily="18" charset="0"/>
              </a:rPr>
              <a:pPr algn="r" eaLnBrk="1" hangingPunct="1"/>
              <a:t>24</a:t>
            </a:fld>
            <a:endParaRPr lang="en-US" altLang="zh-CN" sz="1200" b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52896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宋体" pitchFamily="2" charset="-122"/>
            </a:endParaRPr>
          </a:p>
        </p:txBody>
      </p:sp>
      <p:sp>
        <p:nvSpPr>
          <p:cNvPr id="73732" name="Slide Number Placeholder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265EF62B-B749-415A-96C2-2791066D88E7}" type="slidenum">
              <a:rPr lang="zh-CN" altLang="en-US" sz="1200" b="0">
                <a:latin typeface="Times New Roman" pitchFamily="18" charset="0"/>
              </a:rPr>
              <a:pPr algn="r" eaLnBrk="1" hangingPunct="1"/>
              <a:t>25</a:t>
            </a:fld>
            <a:endParaRPr lang="en-US" altLang="zh-CN" sz="1200" b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3685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宋体" pitchFamily="2" charset="-122"/>
            </a:endParaRPr>
          </a:p>
        </p:txBody>
      </p:sp>
      <p:sp>
        <p:nvSpPr>
          <p:cNvPr id="73732" name="Slide Number Placeholder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265EF62B-B749-415A-96C2-2791066D88E7}" type="slidenum">
              <a:rPr lang="zh-CN" altLang="en-US" sz="1200" b="0">
                <a:latin typeface="Times New Roman" pitchFamily="18" charset="0"/>
              </a:rPr>
              <a:pPr algn="r" eaLnBrk="1" hangingPunct="1"/>
              <a:t>26</a:t>
            </a:fld>
            <a:endParaRPr lang="en-US" altLang="zh-CN" sz="1200" b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84472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宋体" pitchFamily="2" charset="-122"/>
            </a:endParaRPr>
          </a:p>
        </p:txBody>
      </p:sp>
      <p:sp>
        <p:nvSpPr>
          <p:cNvPr id="73732" name="Slide Number Placeholder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265EF62B-B749-415A-96C2-2791066D88E7}" type="slidenum">
              <a:rPr lang="zh-CN" altLang="en-US" sz="1200" b="0">
                <a:latin typeface="Times New Roman" pitchFamily="18" charset="0"/>
              </a:rPr>
              <a:pPr algn="r" eaLnBrk="1" hangingPunct="1"/>
              <a:t>27</a:t>
            </a:fld>
            <a:endParaRPr lang="en-US" altLang="zh-CN" sz="1200" b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9460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宋体" pitchFamily="2" charset="-122"/>
            </a:endParaRPr>
          </a:p>
        </p:txBody>
      </p:sp>
      <p:sp>
        <p:nvSpPr>
          <p:cNvPr id="73732" name="Slide Number Placeholder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265EF62B-B749-415A-96C2-2791066D88E7}" type="slidenum">
              <a:rPr lang="zh-CN" altLang="en-US" sz="1200" b="0">
                <a:latin typeface="Times New Roman" pitchFamily="18" charset="0"/>
              </a:rPr>
              <a:pPr algn="r" eaLnBrk="1" hangingPunct="1"/>
              <a:t>28</a:t>
            </a:fld>
            <a:endParaRPr lang="en-US" altLang="zh-CN" sz="1200" b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16764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宋体" pitchFamily="2" charset="-122"/>
            </a:endParaRPr>
          </a:p>
        </p:txBody>
      </p:sp>
      <p:sp>
        <p:nvSpPr>
          <p:cNvPr id="73732" name="Slide Number Placeholder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265EF62B-B749-415A-96C2-2791066D88E7}" type="slidenum">
              <a:rPr lang="zh-CN" altLang="en-US" sz="1200" b="0">
                <a:latin typeface="Times New Roman" pitchFamily="18" charset="0"/>
              </a:rPr>
              <a:pPr algn="r" eaLnBrk="1" hangingPunct="1"/>
              <a:t>29</a:t>
            </a:fld>
            <a:endParaRPr lang="en-US" altLang="zh-CN" sz="1200" b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902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>
                <a:solidFill>
                  <a:srgbClr val="002060"/>
                </a:solidFill>
              </a:defRPr>
            </a:lvl1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0" y="64008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b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7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4559300" y="6400800"/>
            <a:ext cx="3860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b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652000" y="6400800"/>
            <a:ext cx="2540000" cy="457200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2"/>
                </a:solidFill>
              </a:defRPr>
            </a:lvl1pPr>
          </a:lstStyle>
          <a:p>
            <a:fld id="{54F3EBD1-507D-4A04-A28D-E41DC1344515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0969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1"/>
          <p:cNvSpPr>
            <a:spLocks noGrp="1" noChangeArrowheads="1"/>
          </p:cNvSpPr>
          <p:nvPr>
            <p:ph type="dt" sz="half" idx="10"/>
          </p:nvPr>
        </p:nvSpPr>
        <p:spPr>
          <a:xfrm>
            <a:off x="0" y="64008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b="0">
                <a:latin typeface="Tahoma" panose="020B060403050404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4470400" y="6400800"/>
            <a:ext cx="3860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b="0">
                <a:latin typeface="Tahoma" panose="020B060403050404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652000" y="6400800"/>
            <a:ext cx="2540000" cy="457200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AE3E8A9A-BA5F-4F48-BE29-23AC4FE5506D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77621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76B57FF-C59A-4357-91C9-06147D4A188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700" y="992"/>
            <a:ext cx="949203" cy="94920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84F06E0-3F49-4B42-A57F-1AFC1A9A517D}"/>
              </a:ext>
            </a:extLst>
          </p:cNvPr>
          <p:cNvSpPr/>
          <p:nvPr userDrawn="1"/>
        </p:nvSpPr>
        <p:spPr>
          <a:xfrm>
            <a:off x="133699" y="944870"/>
            <a:ext cx="11516669" cy="719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zh-CN" altLang="en-US" sz="1799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3" r:id="rId1"/>
    <p:sldLayoutId id="2147484004" r:id="rId2"/>
  </p:sldLayoutIdLst>
  <p:hf hdr="0"/>
  <p:txStyles>
    <p:titleStyle>
      <a:lvl1pPr algn="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002060"/>
          </a:solidFill>
          <a:latin typeface="+mj-lt"/>
          <a:ea typeface="黑体" pitchFamily="2" charset="-122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002060"/>
          </a:solidFill>
          <a:latin typeface="Tahoma" pitchFamily="34" charset="0"/>
          <a:ea typeface="黑体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002060"/>
          </a:solidFill>
          <a:latin typeface="Tahoma" pitchFamily="34" charset="0"/>
          <a:ea typeface="黑体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002060"/>
          </a:solidFill>
          <a:latin typeface="Tahoma" pitchFamily="34" charset="0"/>
          <a:ea typeface="黑体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002060"/>
          </a:solidFill>
          <a:latin typeface="Tahoma" pitchFamily="34" charset="0"/>
          <a:ea typeface="黑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hlink"/>
          </a:solidFill>
          <a:latin typeface="Tahoma" pitchFamily="34" charset="0"/>
          <a:ea typeface="黑体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hlink"/>
          </a:solidFill>
          <a:latin typeface="Tahoma" pitchFamily="34" charset="0"/>
          <a:ea typeface="黑体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hlink"/>
          </a:solidFill>
          <a:latin typeface="Tahoma" pitchFamily="34" charset="0"/>
          <a:ea typeface="黑体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hlink"/>
          </a:solidFill>
          <a:latin typeface="Tahoma" pitchFamily="34" charset="0"/>
          <a:ea typeface="黑体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2800">
          <a:solidFill>
            <a:srgbClr val="0000FF"/>
          </a:solidFill>
          <a:latin typeface="+mn-lt"/>
          <a:ea typeface="黑体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ü"/>
        <a:defRPr kumimoji="1" sz="2400">
          <a:solidFill>
            <a:schemeClr val="tx1"/>
          </a:solidFill>
          <a:latin typeface="黑体" pitchFamily="2" charset="-122"/>
          <a:ea typeface="黑体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华文楷体" pitchFamily="2" charset="-122"/>
          <a:ea typeface="华文楷体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7474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3"/>
          <p:cNvSpPr>
            <a:spLocks/>
          </p:cNvSpPr>
          <p:nvPr/>
        </p:nvSpPr>
        <p:spPr bwMode="auto">
          <a:xfrm>
            <a:off x="334800" y="1055688"/>
            <a:ext cx="8991600" cy="580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Clr>
                <a:srgbClr val="0070C0"/>
              </a:buClr>
            </a:pPr>
            <a:r>
              <a:rPr kumimoji="0" lang="en-US" altLang="zh-CN" sz="3200" dirty="0">
                <a:ea typeface="黑体" pitchFamily="49" charset="-122"/>
                <a:cs typeface="Times New Roman" panose="02020603050405020304" pitchFamily="18" charset="0"/>
              </a:rPr>
              <a:t>Neoj4</a:t>
            </a:r>
            <a:r>
              <a:rPr kumimoji="0" lang="zh-CN" altLang="en-US" sz="3200" dirty="0">
                <a:ea typeface="黑体" pitchFamily="49" charset="-122"/>
                <a:cs typeface="Times New Roman" panose="02020603050405020304" pitchFamily="18" charset="0"/>
              </a:rPr>
              <a:t> 的优点：</a:t>
            </a:r>
            <a:endParaRPr kumimoji="0" lang="en-US" altLang="zh-CN" sz="3000" dirty="0">
              <a:ea typeface="黑体" pitchFamily="49" charset="-122"/>
            </a:endParaRPr>
          </a:p>
          <a:p>
            <a:pPr marL="533400" indent="-533400">
              <a:buClr>
                <a:srgbClr val="0070C0"/>
              </a:buClr>
              <a:buFont typeface="Wingdings" pitchFamily="2" charset="2"/>
              <a:buChar char="p"/>
            </a:pPr>
            <a:r>
              <a:rPr kumimoji="0" lang="zh-CN" altLang="en-US" sz="2800" dirty="0">
                <a:ea typeface="黑体" pitchFamily="49" charset="-122"/>
              </a:rPr>
              <a:t>将每个人连接到图中</a:t>
            </a:r>
            <a:endParaRPr kumimoji="0" lang="en-US" altLang="zh-CN" sz="2800" dirty="0">
              <a:ea typeface="黑体" pitchFamily="49" charset="-122"/>
            </a:endParaRPr>
          </a:p>
          <a:p>
            <a:pPr marL="742950" lvl="1" indent="-285750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kumimoji="0" lang="zh-CN" altLang="en-US" sz="1600" b="0" dirty="0">
                <a:solidFill>
                  <a:srgbClr val="000000"/>
                </a:solidFill>
                <a:ea typeface="黑体" pitchFamily="49" charset="-122"/>
              </a:rPr>
              <a:t>通过连接世界各地的社区、用户及合作伙伴等将图技术引入主流</a:t>
            </a:r>
            <a:endParaRPr kumimoji="0" lang="en-US" altLang="zh-CN" sz="3000" dirty="0">
              <a:ea typeface="黑体" pitchFamily="49" charset="-122"/>
            </a:endParaRPr>
          </a:p>
          <a:p>
            <a:pPr marL="533400" indent="-533400">
              <a:buClr>
                <a:srgbClr val="0070C0"/>
              </a:buClr>
              <a:buFont typeface="Wingdings" pitchFamily="2" charset="2"/>
              <a:buChar char="p"/>
            </a:pPr>
            <a:r>
              <a:rPr kumimoji="0" lang="zh-CN" altLang="en-US" sz="2800" dirty="0">
                <a:ea typeface="黑体" pitchFamily="49" charset="-122"/>
              </a:rPr>
              <a:t>全球最大、最活跃的图社区</a:t>
            </a:r>
            <a:endParaRPr kumimoji="0" lang="en-US" altLang="zh-CN" sz="2800" dirty="0">
              <a:ea typeface="黑体" pitchFamily="49" charset="-122"/>
            </a:endParaRPr>
          </a:p>
          <a:p>
            <a:pPr marL="742950" lvl="1" indent="-285750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kumimoji="0" lang="en-US" altLang="zh-CN" sz="1600" b="0" dirty="0">
                <a:ea typeface="黑体" pitchFamily="49" charset="-122"/>
              </a:rPr>
              <a:t>3,000,000+</a:t>
            </a:r>
            <a:r>
              <a:rPr kumimoji="0" lang="zh-CN" altLang="en-US" sz="1600" b="0" dirty="0">
                <a:ea typeface="黑体" pitchFamily="49" charset="-122"/>
              </a:rPr>
              <a:t>下载量，每月下载</a:t>
            </a:r>
            <a:r>
              <a:rPr kumimoji="0" lang="en-US" altLang="zh-CN" sz="1600" b="0" dirty="0">
                <a:ea typeface="黑体" pitchFamily="49" charset="-122"/>
              </a:rPr>
              <a:t>50,000</a:t>
            </a:r>
            <a:r>
              <a:rPr kumimoji="0" lang="zh-CN" altLang="en-US" sz="1600" b="0" dirty="0">
                <a:ea typeface="黑体" pitchFamily="49" charset="-122"/>
              </a:rPr>
              <a:t>次</a:t>
            </a:r>
            <a:endParaRPr kumimoji="0" lang="en-US" altLang="zh-CN" sz="1600" b="0" dirty="0">
              <a:ea typeface="黑体" pitchFamily="49" charset="-122"/>
            </a:endParaRPr>
          </a:p>
          <a:p>
            <a:pPr marL="742950" lvl="1" indent="-285750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kumimoji="0" lang="en-US" altLang="zh-CN" sz="1600" b="0" dirty="0">
                <a:ea typeface="黑体" pitchFamily="49" charset="-122"/>
              </a:rPr>
              <a:t>50,000+</a:t>
            </a:r>
            <a:r>
              <a:rPr kumimoji="0" lang="zh-CN" altLang="en-US" sz="1600" b="0" dirty="0">
                <a:ea typeface="黑体" pitchFamily="49" charset="-122"/>
              </a:rPr>
              <a:t>图教育</a:t>
            </a:r>
            <a:r>
              <a:rPr kumimoji="0" lang="en-US" altLang="zh-CN" sz="1600" b="0" dirty="0">
                <a:ea typeface="黑体" pitchFamily="49" charset="-122"/>
              </a:rPr>
              <a:t>(graph education)</a:t>
            </a:r>
            <a:r>
              <a:rPr kumimoji="0" lang="zh-CN" altLang="en-US" sz="1600" b="0" dirty="0">
                <a:ea typeface="黑体" pitchFamily="49" charset="-122"/>
              </a:rPr>
              <a:t>注册人</a:t>
            </a:r>
            <a:endParaRPr kumimoji="0" lang="en-US" altLang="zh-CN" sz="1600" b="0" dirty="0">
              <a:ea typeface="黑体" pitchFamily="49" charset="-122"/>
            </a:endParaRPr>
          </a:p>
          <a:p>
            <a:pPr marL="742950" lvl="1" indent="-285750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kumimoji="0" lang="en-US" altLang="zh-CN" sz="1600" b="0" dirty="0">
                <a:ea typeface="黑体" pitchFamily="49" charset="-122"/>
              </a:rPr>
              <a:t>48,000</a:t>
            </a:r>
            <a:r>
              <a:rPr kumimoji="0" lang="zh-CN" altLang="en-US" sz="1600" b="0" dirty="0">
                <a:ea typeface="黑体" pitchFamily="49" charset="-122"/>
              </a:rPr>
              <a:t>多个</a:t>
            </a:r>
            <a:r>
              <a:rPr kumimoji="0" lang="en-US" altLang="zh-CN" sz="1600" b="0" dirty="0">
                <a:ea typeface="黑体" pitchFamily="49" charset="-122"/>
              </a:rPr>
              <a:t>Meetup</a:t>
            </a:r>
            <a:r>
              <a:rPr kumimoji="0" lang="zh-CN" altLang="en-US" sz="1600" b="0" dirty="0">
                <a:ea typeface="黑体" pitchFamily="49" charset="-122"/>
              </a:rPr>
              <a:t>会员</a:t>
            </a:r>
            <a:endParaRPr kumimoji="0" lang="en-US" altLang="zh-CN" sz="1600" b="0" dirty="0">
              <a:ea typeface="黑体" pitchFamily="49" charset="-122"/>
            </a:endParaRPr>
          </a:p>
          <a:p>
            <a:pPr marL="742950" lvl="1" indent="-285750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kumimoji="0" lang="zh-CN" altLang="en-US" sz="1600" b="0" dirty="0">
                <a:ea typeface="黑体" pitchFamily="49" charset="-122"/>
              </a:rPr>
              <a:t>全球</a:t>
            </a:r>
            <a:r>
              <a:rPr kumimoji="0" lang="en-US" altLang="zh-CN" sz="1600" b="0" dirty="0">
                <a:ea typeface="黑体" pitchFamily="49" charset="-122"/>
              </a:rPr>
              <a:t>2000</a:t>
            </a:r>
            <a:r>
              <a:rPr kumimoji="0" lang="zh-CN" altLang="en-US" sz="1600" b="0" dirty="0">
                <a:ea typeface="黑体" pitchFamily="49" charset="-122"/>
              </a:rPr>
              <a:t>强中有</a:t>
            </a:r>
            <a:r>
              <a:rPr kumimoji="0" lang="en-US" altLang="zh-CN" sz="1600" b="0" dirty="0">
                <a:ea typeface="黑体" pitchFamily="49" charset="-122"/>
              </a:rPr>
              <a:t>50%</a:t>
            </a:r>
            <a:r>
              <a:rPr kumimoji="0" lang="zh-CN" altLang="en-US" sz="1600" b="0" dirty="0">
                <a:ea typeface="黑体" pitchFamily="49" charset="-122"/>
              </a:rPr>
              <a:t>使用过</a:t>
            </a:r>
            <a:r>
              <a:rPr kumimoji="0" lang="en-US" altLang="zh-CN" sz="1600" b="0" dirty="0">
                <a:ea typeface="黑体" pitchFamily="49" charset="-122"/>
              </a:rPr>
              <a:t>Neo4j</a:t>
            </a:r>
            <a:endParaRPr kumimoji="0" lang="zh-CN" altLang="en-US" sz="1600" b="0" dirty="0">
              <a:ea typeface="黑体" pitchFamily="49" charset="-122"/>
            </a:endParaRPr>
          </a:p>
          <a:p>
            <a:pPr marL="533400" indent="-533400">
              <a:buClr>
                <a:srgbClr val="0070C0"/>
              </a:buClr>
              <a:buFont typeface="Wingdings" pitchFamily="2" charset="2"/>
              <a:buChar char="p"/>
            </a:pPr>
            <a:r>
              <a:rPr kumimoji="0" lang="zh-CN" altLang="en-US" sz="2800" dirty="0">
                <a:latin typeface="黑体" pitchFamily="49" charset="-122"/>
                <a:ea typeface="黑体" pitchFamily="49" charset="-122"/>
              </a:rPr>
              <a:t>易学、易用</a:t>
            </a:r>
            <a:endParaRPr kumimoji="0" lang="en-US" altLang="zh-CN" sz="2800" dirty="0">
              <a:latin typeface="黑体" pitchFamily="49" charset="-122"/>
              <a:ea typeface="黑体" pitchFamily="49" charset="-122"/>
            </a:endParaRPr>
          </a:p>
          <a:p>
            <a:pPr marL="742950" lvl="1" indent="-285750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kumimoji="0" lang="zh-CN" altLang="en-US" sz="1600" b="0" dirty="0">
                <a:solidFill>
                  <a:srgbClr val="000000"/>
                </a:solidFill>
                <a:ea typeface="黑体" pitchFamily="49" charset="-122"/>
              </a:rPr>
              <a:t>用户界面直观交互且内置学习教程</a:t>
            </a:r>
            <a:endParaRPr kumimoji="0" lang="en-US" altLang="zh-CN" sz="1600" b="0" dirty="0">
              <a:solidFill>
                <a:srgbClr val="000000"/>
              </a:solidFill>
              <a:ea typeface="黑体" pitchFamily="49" charset="-122"/>
            </a:endParaRPr>
          </a:p>
          <a:p>
            <a:pPr marL="742950" lvl="1" indent="-285750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kumimoji="0" lang="en-US" altLang="zh-CN" sz="1600" b="0" dirty="0">
                <a:solidFill>
                  <a:srgbClr val="000000"/>
                </a:solidFill>
                <a:ea typeface="黑体" pitchFamily="49" charset="-122"/>
              </a:rPr>
              <a:t>Cypher</a:t>
            </a:r>
            <a:r>
              <a:rPr kumimoji="0" lang="zh-CN" altLang="en-US" sz="1600" b="0" dirty="0">
                <a:solidFill>
                  <a:srgbClr val="000000"/>
                </a:solidFill>
                <a:ea typeface="黑体" pitchFamily="49" charset="-122"/>
              </a:rPr>
              <a:t>查询语言</a:t>
            </a:r>
            <a:r>
              <a:rPr kumimoji="0" lang="en-US" altLang="zh-CN" sz="1600" b="0" dirty="0">
                <a:solidFill>
                  <a:srgbClr val="000000"/>
                </a:solidFill>
                <a:ea typeface="黑体" pitchFamily="49" charset="-122"/>
              </a:rPr>
              <a:t>(CQL)</a:t>
            </a:r>
            <a:r>
              <a:rPr kumimoji="0" lang="zh-CN" altLang="en-US" sz="1600" b="0" dirty="0">
                <a:solidFill>
                  <a:srgbClr val="000000"/>
                </a:solidFill>
                <a:ea typeface="黑体" pitchFamily="49" charset="-122"/>
              </a:rPr>
              <a:t>受启发与</a:t>
            </a:r>
            <a:r>
              <a:rPr kumimoji="0" lang="en-US" altLang="zh-CN" sz="1600" b="0" dirty="0">
                <a:solidFill>
                  <a:srgbClr val="000000"/>
                </a:solidFill>
                <a:ea typeface="黑体" pitchFamily="49" charset="-122"/>
              </a:rPr>
              <a:t>SQL，</a:t>
            </a:r>
            <a:r>
              <a:rPr kumimoji="0" lang="zh-CN" altLang="en-US" sz="1600" b="0" dirty="0">
                <a:solidFill>
                  <a:srgbClr val="000000"/>
                </a:solidFill>
                <a:ea typeface="黑体" pitchFamily="49" charset="-122"/>
              </a:rPr>
              <a:t>易于上手</a:t>
            </a:r>
            <a:endParaRPr kumimoji="0" lang="zh-CN" altLang="en-US" sz="3000" dirty="0">
              <a:latin typeface="黑体" pitchFamily="49" charset="-122"/>
              <a:ea typeface="黑体" pitchFamily="49" charset="-122"/>
            </a:endParaRPr>
          </a:p>
          <a:p>
            <a:pPr marL="533400" indent="-533400">
              <a:buClr>
                <a:srgbClr val="0070C0"/>
              </a:buClr>
              <a:buFont typeface="Wingdings" pitchFamily="2" charset="2"/>
              <a:buChar char="p"/>
            </a:pPr>
            <a:r>
              <a:rPr kumimoji="0" lang="zh-CN" altLang="en-US" sz="2800" dirty="0">
                <a:latin typeface="黑体" pitchFamily="49" charset="-122"/>
                <a:ea typeface="黑体" pitchFamily="49" charset="-122"/>
              </a:rPr>
              <a:t>高性能读写可扩展性</a:t>
            </a:r>
            <a:endParaRPr kumimoji="0" lang="en-US" altLang="zh-CN" sz="2800" dirty="0">
              <a:latin typeface="黑体" pitchFamily="49" charset="-122"/>
              <a:ea typeface="黑体" pitchFamily="49" charset="-122"/>
            </a:endParaRPr>
          </a:p>
          <a:p>
            <a:pPr marL="533400" indent="-533400">
              <a:buClr>
                <a:srgbClr val="0070C0"/>
              </a:buClr>
              <a:buFont typeface="Wingdings" pitchFamily="2" charset="2"/>
              <a:buChar char="p"/>
            </a:pPr>
            <a:r>
              <a:rPr kumimoji="0" lang="zh-CN" altLang="en-US" sz="2800" dirty="0">
                <a:latin typeface="黑体" pitchFamily="49" charset="-122"/>
                <a:ea typeface="黑体" pitchFamily="49" charset="-122"/>
              </a:rPr>
              <a:t>数据导入</a:t>
            </a:r>
            <a:r>
              <a:rPr kumimoji="0" lang="en-US" altLang="zh-CN" sz="2800" dirty="0">
                <a:latin typeface="黑体" pitchFamily="49" charset="-122"/>
                <a:ea typeface="黑体" pitchFamily="49" charset="-122"/>
              </a:rPr>
              <a:t>Neo4j</a:t>
            </a:r>
            <a:r>
              <a:rPr kumimoji="0" lang="zh-CN" altLang="en-US" sz="2800" dirty="0">
                <a:latin typeface="黑体" pitchFamily="49" charset="-122"/>
                <a:ea typeface="黑体" pitchFamily="49" charset="-122"/>
              </a:rPr>
              <a:t>更加方便</a:t>
            </a:r>
            <a:endParaRPr kumimoji="0" lang="en-US" altLang="zh-CN" sz="2800" dirty="0">
              <a:latin typeface="黑体" pitchFamily="49" charset="-122"/>
              <a:ea typeface="黑体" pitchFamily="49" charset="-122"/>
            </a:endParaRPr>
          </a:p>
          <a:p>
            <a:pPr marL="742950" lvl="1" indent="-285750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kumimoji="0" lang="zh-CN" altLang="en-US" sz="1600" b="0" dirty="0">
                <a:solidFill>
                  <a:srgbClr val="000000"/>
                </a:solidFill>
                <a:ea typeface="黑体" pitchFamily="49" charset="-122"/>
              </a:rPr>
              <a:t>大规模数据加载速度快、内存占用低</a:t>
            </a:r>
            <a:endParaRPr kumimoji="0" lang="en-US" altLang="zh-CN" sz="1600" b="0" dirty="0">
              <a:solidFill>
                <a:srgbClr val="000000"/>
              </a:solidFill>
              <a:ea typeface="黑体" pitchFamily="49" charset="-122"/>
            </a:endParaRPr>
          </a:p>
          <a:p>
            <a:pPr marL="742950" lvl="1" indent="-285750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kumimoji="0" lang="zh-CN" altLang="en-US" sz="1600" b="0" dirty="0">
                <a:solidFill>
                  <a:srgbClr val="000000"/>
                </a:solidFill>
                <a:ea typeface="黑体" pitchFamily="49" charset="-122"/>
              </a:rPr>
              <a:t>只需选择需要导入的数据、无需考虑数据大小</a:t>
            </a:r>
            <a:endParaRPr kumimoji="0" lang="zh-CN" altLang="en-US" sz="3000" dirty="0">
              <a:latin typeface="黑体" pitchFamily="49" charset="-122"/>
              <a:ea typeface="黑体" pitchFamily="49" charset="-122"/>
            </a:endParaRPr>
          </a:p>
          <a:p>
            <a:pPr marL="533400" indent="-533400">
              <a:buClr>
                <a:srgbClr val="0070C0"/>
              </a:buClr>
              <a:buFont typeface="Wingdings" pitchFamily="2" charset="2"/>
              <a:buChar char="p"/>
            </a:pPr>
            <a:r>
              <a:rPr kumimoji="0" lang="en-US" altLang="zh-CN" sz="3000" dirty="0">
                <a:ea typeface="黑体" pitchFamily="49" charset="-122"/>
              </a:rPr>
              <a:t>……</a:t>
            </a:r>
            <a:endParaRPr kumimoji="0" lang="en-US" altLang="zh-CN" sz="3000" dirty="0"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8806" y="2996952"/>
            <a:ext cx="3600400" cy="1368152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D57D9366-EC39-4B7F-8257-B74D54AD355B}"/>
              </a:ext>
            </a:extLst>
          </p:cNvPr>
          <p:cNvSpPr txBox="1">
            <a:spLocks noChangeArrowheads="1"/>
          </p:cNvSpPr>
          <p:nvPr/>
        </p:nvSpPr>
        <p:spPr>
          <a:xfrm>
            <a:off x="5794099" y="150658"/>
            <a:ext cx="5857875" cy="533400"/>
          </a:xfrm>
          <a:prstGeom prst="rect">
            <a:avLst/>
          </a:prstGeom>
        </p:spPr>
        <p:txBody>
          <a:bodyPr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2060"/>
                </a:solidFill>
                <a:latin typeface="+mj-lt"/>
                <a:ea typeface="黑体" pitchFamily="2" charset="-122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2060"/>
                </a:solidFill>
                <a:latin typeface="Tahoma" pitchFamily="34" charset="0"/>
                <a:ea typeface="黑体" pitchFamily="2" charset="-122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2060"/>
                </a:solidFill>
                <a:latin typeface="Tahoma" pitchFamily="34" charset="0"/>
                <a:ea typeface="黑体" pitchFamily="2" charset="-122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2060"/>
                </a:solidFill>
                <a:latin typeface="Tahoma" pitchFamily="34" charset="0"/>
                <a:ea typeface="黑体" pitchFamily="2" charset="-122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2060"/>
                </a:solidFill>
                <a:latin typeface="Tahoma" pitchFamily="34" charset="0"/>
                <a:ea typeface="黑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hlink"/>
                </a:solidFill>
                <a:latin typeface="Tahoma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hlink"/>
                </a:solidFill>
                <a:latin typeface="Tahoma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hlink"/>
                </a:solidFill>
                <a:latin typeface="Tahoma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hlink"/>
                </a:solidFill>
                <a:latin typeface="Tahoma" pitchFamily="34" charset="0"/>
                <a:ea typeface="黑体" pitchFamily="49" charset="-122"/>
              </a:defRPr>
            </a:lvl9pPr>
          </a:lstStyle>
          <a:p>
            <a:pPr>
              <a:defRPr/>
            </a:pPr>
            <a:r>
              <a:rPr lang="en-US" altLang="zh-CN" sz="40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Neo4j</a:t>
            </a:r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AAE582BA-DC1A-4241-AAB1-712E61E33269}"/>
              </a:ext>
            </a:extLst>
          </p:cNvPr>
          <p:cNvSpPr txBox="1">
            <a:spLocks noGrp="1"/>
          </p:cNvSpPr>
          <p:nvPr/>
        </p:nvSpPr>
        <p:spPr bwMode="auto">
          <a:xfrm>
            <a:off x="10287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41507284-0812-45A7-8B30-66F2C5187041}" type="slidenum">
              <a:rPr kumimoji="0" lang="zh-CN" altLang="en-US" sz="1400" b="0">
                <a:latin typeface="Tahoma" panose="020B0604030504040204" pitchFamily="34" charset="0"/>
              </a:rPr>
              <a:pPr algn="r" eaLnBrk="1" hangingPunct="1"/>
              <a:t>1</a:t>
            </a:fld>
            <a:endParaRPr kumimoji="0" lang="en-US" altLang="zh-CN" sz="1400" b="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148264"/>
      </p:ext>
    </p:extLst>
  </p:cSld>
  <p:clrMapOvr>
    <a:masterClrMapping/>
  </p:clrMapOvr>
  <p:transition advTm="70297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3"/>
          <p:cNvSpPr>
            <a:spLocks/>
          </p:cNvSpPr>
          <p:nvPr/>
        </p:nvSpPr>
        <p:spPr bwMode="auto">
          <a:xfrm>
            <a:off x="334800" y="1055688"/>
            <a:ext cx="8991600" cy="580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Clr>
                <a:srgbClr val="0070C0"/>
              </a:buClr>
            </a:pPr>
            <a:r>
              <a:rPr kumimoji="0" lang="en-US" altLang="zh-CN" sz="3200" dirty="0">
                <a:ea typeface="黑体" pitchFamily="49" charset="-122"/>
                <a:cs typeface="Times New Roman" panose="02020603050405020304" pitchFamily="18" charset="0"/>
              </a:rPr>
              <a:t>Neoj4</a:t>
            </a:r>
            <a:r>
              <a:rPr kumimoji="0" lang="zh-CN" altLang="en-US" sz="3200" dirty="0">
                <a:ea typeface="黑体" pitchFamily="49" charset="-122"/>
                <a:cs typeface="Times New Roman" panose="02020603050405020304" pitchFamily="18" charset="0"/>
              </a:rPr>
              <a:t> 的特点：</a:t>
            </a:r>
            <a:endParaRPr kumimoji="0" lang="en-US" altLang="zh-CN" sz="3000" dirty="0">
              <a:ea typeface="黑体" pitchFamily="49" charset="-122"/>
            </a:endParaRPr>
          </a:p>
          <a:p>
            <a:pPr marL="533400" indent="-533400">
              <a:buClr>
                <a:srgbClr val="0070C0"/>
              </a:buClr>
              <a:buFont typeface="Wingdings" pitchFamily="2" charset="2"/>
              <a:buChar char="p"/>
            </a:pPr>
            <a:r>
              <a:rPr kumimoji="0" lang="en-US" altLang="zh-CN" dirty="0">
                <a:ea typeface="黑体" pitchFamily="49" charset="-122"/>
              </a:rPr>
              <a:t>SQL</a:t>
            </a:r>
            <a:r>
              <a:rPr kumimoji="0" lang="zh-CN" altLang="en-US" dirty="0">
                <a:ea typeface="黑体" pitchFamily="49" charset="-122"/>
              </a:rPr>
              <a:t>就像简单的查询语言</a:t>
            </a:r>
            <a:r>
              <a:rPr kumimoji="0" lang="en-US" altLang="zh-CN" dirty="0">
                <a:ea typeface="黑体" pitchFamily="49" charset="-122"/>
              </a:rPr>
              <a:t>Neo4j CQL</a:t>
            </a:r>
          </a:p>
          <a:p>
            <a:pPr marL="533400" indent="-533400">
              <a:buClr>
                <a:srgbClr val="0070C0"/>
              </a:buClr>
              <a:buFont typeface="Wingdings" pitchFamily="2" charset="2"/>
              <a:buChar char="p"/>
            </a:pPr>
            <a:r>
              <a:rPr kumimoji="0" lang="zh-CN" altLang="en-US" dirty="0">
                <a:ea typeface="黑体" pitchFamily="49" charset="-122"/>
              </a:rPr>
              <a:t>遵循属性图数据模型</a:t>
            </a:r>
          </a:p>
          <a:p>
            <a:pPr marL="533400" indent="-533400">
              <a:buClr>
                <a:srgbClr val="0070C0"/>
              </a:buClr>
              <a:buFont typeface="Wingdings" pitchFamily="2" charset="2"/>
              <a:buChar char="p"/>
            </a:pPr>
            <a:r>
              <a:rPr kumimoji="0" lang="zh-CN" altLang="en-US" dirty="0">
                <a:ea typeface="黑体" pitchFamily="49" charset="-122"/>
              </a:rPr>
              <a:t>通过使用</a:t>
            </a:r>
            <a:r>
              <a:rPr kumimoji="0" lang="en-US" altLang="zh-CN" dirty="0">
                <a:ea typeface="黑体" pitchFamily="49" charset="-122"/>
              </a:rPr>
              <a:t>Apache Lucence</a:t>
            </a:r>
            <a:r>
              <a:rPr kumimoji="0" lang="zh-CN" altLang="en-US" dirty="0">
                <a:ea typeface="黑体" pitchFamily="49" charset="-122"/>
              </a:rPr>
              <a:t>支持索引</a:t>
            </a:r>
          </a:p>
          <a:p>
            <a:pPr marL="533400" indent="-533400">
              <a:buClr>
                <a:srgbClr val="0070C0"/>
              </a:buClr>
              <a:buFont typeface="Wingdings" pitchFamily="2" charset="2"/>
              <a:buChar char="p"/>
            </a:pPr>
            <a:r>
              <a:rPr kumimoji="0" lang="zh-CN" altLang="en-US" dirty="0">
                <a:ea typeface="黑体" pitchFamily="49" charset="-122"/>
              </a:rPr>
              <a:t>支持</a:t>
            </a:r>
            <a:r>
              <a:rPr kumimoji="0" lang="en-US" altLang="zh-CN" dirty="0">
                <a:ea typeface="黑体" pitchFamily="49" charset="-122"/>
              </a:rPr>
              <a:t>UNIQUE</a:t>
            </a:r>
            <a:r>
              <a:rPr kumimoji="0" lang="zh-CN" altLang="en-US" dirty="0">
                <a:ea typeface="黑体" pitchFamily="49" charset="-122"/>
              </a:rPr>
              <a:t>约束</a:t>
            </a:r>
          </a:p>
          <a:p>
            <a:pPr marL="533400" indent="-533400">
              <a:buClr>
                <a:srgbClr val="0070C0"/>
              </a:buClr>
              <a:buFont typeface="Wingdings" pitchFamily="2" charset="2"/>
              <a:buChar char="p"/>
            </a:pPr>
            <a:r>
              <a:rPr kumimoji="0" lang="zh-CN" altLang="en-US" dirty="0">
                <a:ea typeface="黑体" pitchFamily="49" charset="-122"/>
              </a:rPr>
              <a:t>包含一个用于执行</a:t>
            </a:r>
            <a:r>
              <a:rPr kumimoji="0" lang="en-US" altLang="zh-CN" dirty="0">
                <a:ea typeface="黑体" pitchFamily="49" charset="-122"/>
              </a:rPr>
              <a:t>CQL</a:t>
            </a:r>
            <a:r>
              <a:rPr kumimoji="0" lang="zh-CN" altLang="en-US" dirty="0">
                <a:ea typeface="黑体" pitchFamily="49" charset="-122"/>
              </a:rPr>
              <a:t>命令的</a:t>
            </a:r>
            <a:r>
              <a:rPr kumimoji="0" lang="en-US" altLang="zh-CN" dirty="0">
                <a:ea typeface="黑体" pitchFamily="49" charset="-122"/>
              </a:rPr>
              <a:t>UI</a:t>
            </a:r>
            <a:r>
              <a:rPr kumimoji="0" lang="zh-CN" altLang="en-US" dirty="0">
                <a:ea typeface="黑体" pitchFamily="49" charset="-122"/>
              </a:rPr>
              <a:t>：</a:t>
            </a:r>
            <a:r>
              <a:rPr kumimoji="0" lang="en-US" altLang="zh-CN" dirty="0">
                <a:ea typeface="黑体" pitchFamily="49" charset="-122"/>
              </a:rPr>
              <a:t>Neo4j</a:t>
            </a:r>
            <a:r>
              <a:rPr kumimoji="0" lang="zh-CN" altLang="en-US" dirty="0">
                <a:ea typeface="黑体" pitchFamily="49" charset="-122"/>
              </a:rPr>
              <a:t>数据浏览器</a:t>
            </a:r>
          </a:p>
          <a:p>
            <a:pPr marL="533400" indent="-533400">
              <a:buClr>
                <a:srgbClr val="0070C0"/>
              </a:buClr>
              <a:buFont typeface="Wingdings" pitchFamily="2" charset="2"/>
              <a:buChar char="p"/>
            </a:pPr>
            <a:r>
              <a:rPr kumimoji="0" lang="zh-CN" altLang="en-US" dirty="0">
                <a:ea typeface="黑体" pitchFamily="49" charset="-122"/>
              </a:rPr>
              <a:t>支持完整的</a:t>
            </a:r>
            <a:r>
              <a:rPr kumimoji="0" lang="en-US" altLang="zh-CN" dirty="0">
                <a:ea typeface="黑体" pitchFamily="49" charset="-122"/>
              </a:rPr>
              <a:t>ACID</a:t>
            </a:r>
            <a:r>
              <a:rPr kumimoji="0" lang="zh-CN" altLang="en-US" dirty="0">
                <a:ea typeface="黑体" pitchFamily="49" charset="-122"/>
              </a:rPr>
              <a:t>（原子性，一致性，隔离性和持久性）规则</a:t>
            </a:r>
          </a:p>
          <a:p>
            <a:pPr marL="533400" indent="-533400">
              <a:buClr>
                <a:srgbClr val="0070C0"/>
              </a:buClr>
              <a:buFont typeface="Wingdings" pitchFamily="2" charset="2"/>
              <a:buChar char="p"/>
            </a:pPr>
            <a:r>
              <a:rPr kumimoji="0" lang="zh-CN" altLang="en-US" dirty="0">
                <a:ea typeface="黑体" pitchFamily="49" charset="-122"/>
              </a:rPr>
              <a:t>采用原生图形库与本地</a:t>
            </a:r>
            <a:r>
              <a:rPr kumimoji="0" lang="en-US" altLang="zh-CN" dirty="0">
                <a:ea typeface="黑体" pitchFamily="49" charset="-122"/>
              </a:rPr>
              <a:t>GPE</a:t>
            </a:r>
            <a:r>
              <a:rPr kumimoji="0" lang="zh-CN" altLang="en-US" dirty="0">
                <a:ea typeface="黑体" pitchFamily="49" charset="-122"/>
              </a:rPr>
              <a:t>（图形处理引擎）</a:t>
            </a:r>
          </a:p>
          <a:p>
            <a:pPr marL="533400" indent="-533400">
              <a:buClr>
                <a:srgbClr val="0070C0"/>
              </a:buClr>
              <a:buFont typeface="Wingdings" pitchFamily="2" charset="2"/>
              <a:buChar char="p"/>
            </a:pPr>
            <a:r>
              <a:rPr kumimoji="0" lang="zh-CN" altLang="en-US" dirty="0">
                <a:ea typeface="黑体" pitchFamily="49" charset="-122"/>
              </a:rPr>
              <a:t>支持查询的数据导出到</a:t>
            </a:r>
            <a:r>
              <a:rPr kumimoji="0" lang="en-US" altLang="zh-CN" dirty="0">
                <a:ea typeface="黑体" pitchFamily="49" charset="-122"/>
              </a:rPr>
              <a:t>JSON</a:t>
            </a:r>
            <a:r>
              <a:rPr kumimoji="0" lang="zh-CN" altLang="en-US" dirty="0">
                <a:ea typeface="黑体" pitchFamily="49" charset="-122"/>
              </a:rPr>
              <a:t>和</a:t>
            </a:r>
            <a:r>
              <a:rPr kumimoji="0" lang="en-US" altLang="zh-CN" dirty="0">
                <a:ea typeface="黑体" pitchFamily="49" charset="-122"/>
              </a:rPr>
              <a:t>XLS</a:t>
            </a:r>
            <a:r>
              <a:rPr kumimoji="0" lang="zh-CN" altLang="en-US" dirty="0">
                <a:ea typeface="黑体" pitchFamily="49" charset="-122"/>
              </a:rPr>
              <a:t>格式</a:t>
            </a:r>
          </a:p>
          <a:p>
            <a:pPr marL="533400" indent="-533400">
              <a:buClr>
                <a:srgbClr val="0070C0"/>
              </a:buClr>
              <a:buFont typeface="Wingdings" pitchFamily="2" charset="2"/>
              <a:buChar char="p"/>
            </a:pPr>
            <a:r>
              <a:rPr kumimoji="0" lang="zh-CN" altLang="en-US" dirty="0">
                <a:ea typeface="黑体" pitchFamily="49" charset="-122"/>
              </a:rPr>
              <a:t>提供了</a:t>
            </a:r>
            <a:r>
              <a:rPr kumimoji="0" lang="en-US" altLang="zh-CN" dirty="0">
                <a:ea typeface="黑体" pitchFamily="49" charset="-122"/>
              </a:rPr>
              <a:t>REST API</a:t>
            </a:r>
            <a:r>
              <a:rPr kumimoji="0" lang="zh-CN" altLang="en-US" dirty="0">
                <a:ea typeface="黑体" pitchFamily="49" charset="-122"/>
              </a:rPr>
              <a:t>，可以被任何编程语言（如</a:t>
            </a:r>
            <a:r>
              <a:rPr kumimoji="0" lang="en-US" altLang="zh-CN" dirty="0">
                <a:ea typeface="黑体" pitchFamily="49" charset="-122"/>
              </a:rPr>
              <a:t>Java</a:t>
            </a:r>
            <a:r>
              <a:rPr kumimoji="0" lang="zh-CN" altLang="en-US" dirty="0">
                <a:ea typeface="黑体" pitchFamily="49" charset="-122"/>
              </a:rPr>
              <a:t>，</a:t>
            </a:r>
            <a:r>
              <a:rPr kumimoji="0" lang="en-US" altLang="zh-CN" dirty="0">
                <a:ea typeface="黑体" pitchFamily="49" charset="-122"/>
              </a:rPr>
              <a:t>Spring</a:t>
            </a:r>
            <a:r>
              <a:rPr kumimoji="0" lang="zh-CN" altLang="en-US" dirty="0">
                <a:ea typeface="黑体" pitchFamily="49" charset="-122"/>
              </a:rPr>
              <a:t>，</a:t>
            </a:r>
            <a:r>
              <a:rPr kumimoji="0" lang="en-US" altLang="zh-CN" dirty="0">
                <a:ea typeface="黑体" pitchFamily="49" charset="-122"/>
              </a:rPr>
              <a:t>Scala</a:t>
            </a:r>
            <a:r>
              <a:rPr kumimoji="0" lang="zh-CN" altLang="en-US" dirty="0">
                <a:ea typeface="黑体" pitchFamily="49" charset="-122"/>
              </a:rPr>
              <a:t>等）访问</a:t>
            </a:r>
          </a:p>
          <a:p>
            <a:pPr marL="533400" indent="-533400">
              <a:buClr>
                <a:srgbClr val="0070C0"/>
              </a:buClr>
              <a:buFont typeface="Wingdings" pitchFamily="2" charset="2"/>
              <a:buChar char="p"/>
            </a:pPr>
            <a:r>
              <a:rPr kumimoji="0" lang="zh-CN" altLang="en-US" dirty="0">
                <a:ea typeface="黑体" pitchFamily="49" charset="-122"/>
              </a:rPr>
              <a:t>提供了可以通过任何</a:t>
            </a:r>
            <a:r>
              <a:rPr kumimoji="0" lang="en-US" altLang="zh-CN" dirty="0">
                <a:ea typeface="黑体" pitchFamily="49" charset="-122"/>
              </a:rPr>
              <a:t>UI MVC</a:t>
            </a:r>
            <a:r>
              <a:rPr kumimoji="0" lang="zh-CN" altLang="en-US" dirty="0">
                <a:ea typeface="黑体" pitchFamily="49" charset="-122"/>
              </a:rPr>
              <a:t>框架（如</a:t>
            </a:r>
            <a:r>
              <a:rPr kumimoji="0" lang="en-US" altLang="zh-CN" dirty="0">
                <a:ea typeface="黑体" pitchFamily="49" charset="-122"/>
              </a:rPr>
              <a:t>Node JS</a:t>
            </a:r>
            <a:r>
              <a:rPr kumimoji="0" lang="zh-CN" altLang="en-US" dirty="0">
                <a:ea typeface="黑体" pitchFamily="49" charset="-122"/>
              </a:rPr>
              <a:t>）访问的</a:t>
            </a:r>
            <a:r>
              <a:rPr kumimoji="0" lang="en-US" altLang="zh-CN" dirty="0">
                <a:ea typeface="黑体" pitchFamily="49" charset="-122"/>
              </a:rPr>
              <a:t>Java</a:t>
            </a:r>
            <a:r>
              <a:rPr kumimoji="0" lang="zh-CN" altLang="en-US" dirty="0">
                <a:ea typeface="黑体" pitchFamily="49" charset="-122"/>
              </a:rPr>
              <a:t>脚本</a:t>
            </a:r>
          </a:p>
          <a:p>
            <a:pPr marL="533400" indent="-533400">
              <a:buClr>
                <a:srgbClr val="0070C0"/>
              </a:buClr>
              <a:buFont typeface="Wingdings" pitchFamily="2" charset="2"/>
              <a:buChar char="p"/>
            </a:pPr>
            <a:r>
              <a:rPr kumimoji="0" lang="zh-CN" altLang="en-US" dirty="0">
                <a:ea typeface="黑体" pitchFamily="49" charset="-122"/>
              </a:rPr>
              <a:t>支持两种</a:t>
            </a:r>
            <a:r>
              <a:rPr kumimoji="0" lang="en-US" altLang="zh-CN" dirty="0">
                <a:ea typeface="黑体" pitchFamily="49" charset="-122"/>
              </a:rPr>
              <a:t>Java API</a:t>
            </a:r>
            <a:r>
              <a:rPr kumimoji="0" lang="zh-CN" altLang="en-US" dirty="0">
                <a:ea typeface="黑体" pitchFamily="49" charset="-122"/>
              </a:rPr>
              <a:t>：</a:t>
            </a:r>
            <a:r>
              <a:rPr kumimoji="0" lang="en-US" altLang="zh-CN" dirty="0">
                <a:ea typeface="黑体" pitchFamily="49" charset="-122"/>
              </a:rPr>
              <a:t>Cypher API</a:t>
            </a:r>
            <a:r>
              <a:rPr kumimoji="0" lang="zh-CN" altLang="en-US" dirty="0">
                <a:ea typeface="黑体" pitchFamily="49" charset="-122"/>
              </a:rPr>
              <a:t>和</a:t>
            </a:r>
            <a:r>
              <a:rPr kumimoji="0" lang="en-US" altLang="zh-CN" dirty="0">
                <a:ea typeface="黑体" pitchFamily="49" charset="-122"/>
              </a:rPr>
              <a:t>Native Java API</a:t>
            </a:r>
            <a:r>
              <a:rPr kumimoji="0" lang="zh-CN" altLang="en-US" dirty="0">
                <a:ea typeface="黑体" pitchFamily="49" charset="-122"/>
              </a:rPr>
              <a:t>来开发</a:t>
            </a:r>
            <a:r>
              <a:rPr kumimoji="0" lang="en-US" altLang="zh-CN" dirty="0">
                <a:ea typeface="黑体" pitchFamily="49" charset="-122"/>
              </a:rPr>
              <a:t>Java</a:t>
            </a:r>
            <a:r>
              <a:rPr kumimoji="0" lang="zh-CN" altLang="en-US" dirty="0">
                <a:ea typeface="黑体" pitchFamily="49" charset="-122"/>
              </a:rPr>
              <a:t>应用程序</a:t>
            </a:r>
            <a:endParaRPr kumimoji="0" lang="en-US" altLang="zh-CN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76152CB-949E-439F-9873-743AF99B989E}"/>
              </a:ext>
            </a:extLst>
          </p:cNvPr>
          <p:cNvSpPr txBox="1">
            <a:spLocks noChangeArrowheads="1"/>
          </p:cNvSpPr>
          <p:nvPr/>
        </p:nvSpPr>
        <p:spPr>
          <a:xfrm>
            <a:off x="5794099" y="150658"/>
            <a:ext cx="5857875" cy="533400"/>
          </a:xfrm>
          <a:prstGeom prst="rect">
            <a:avLst/>
          </a:prstGeom>
        </p:spPr>
        <p:txBody>
          <a:bodyPr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2060"/>
                </a:solidFill>
                <a:latin typeface="+mj-lt"/>
                <a:ea typeface="黑体" pitchFamily="2" charset="-122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2060"/>
                </a:solidFill>
                <a:latin typeface="Tahoma" pitchFamily="34" charset="0"/>
                <a:ea typeface="黑体" pitchFamily="2" charset="-122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2060"/>
                </a:solidFill>
                <a:latin typeface="Tahoma" pitchFamily="34" charset="0"/>
                <a:ea typeface="黑体" pitchFamily="2" charset="-122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2060"/>
                </a:solidFill>
                <a:latin typeface="Tahoma" pitchFamily="34" charset="0"/>
                <a:ea typeface="黑体" pitchFamily="2" charset="-122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2060"/>
                </a:solidFill>
                <a:latin typeface="Tahoma" pitchFamily="34" charset="0"/>
                <a:ea typeface="黑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hlink"/>
                </a:solidFill>
                <a:latin typeface="Tahoma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hlink"/>
                </a:solidFill>
                <a:latin typeface="Tahoma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hlink"/>
                </a:solidFill>
                <a:latin typeface="Tahoma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hlink"/>
                </a:solidFill>
                <a:latin typeface="Tahoma" pitchFamily="34" charset="0"/>
                <a:ea typeface="黑体" pitchFamily="49" charset="-122"/>
              </a:defRPr>
            </a:lvl9pPr>
          </a:lstStyle>
          <a:p>
            <a:pPr>
              <a:defRPr/>
            </a:pPr>
            <a:r>
              <a:rPr lang="en-US" altLang="zh-CN" sz="40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Neo4j</a:t>
            </a:r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2BD1509B-C99C-4A5F-B0D4-6FF8A9FE0377}"/>
              </a:ext>
            </a:extLst>
          </p:cNvPr>
          <p:cNvSpPr txBox="1">
            <a:spLocks noGrp="1"/>
          </p:cNvSpPr>
          <p:nvPr/>
        </p:nvSpPr>
        <p:spPr bwMode="auto">
          <a:xfrm>
            <a:off x="10287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41507284-0812-45A7-8B30-66F2C5187041}" type="slidenum">
              <a:rPr kumimoji="0" lang="zh-CN" altLang="en-US" sz="1400" b="0">
                <a:latin typeface="Tahoma" panose="020B0604030504040204" pitchFamily="34" charset="0"/>
              </a:rPr>
              <a:pPr algn="r" eaLnBrk="1" hangingPunct="1"/>
              <a:t>2</a:t>
            </a:fld>
            <a:endParaRPr kumimoji="0" lang="en-US" altLang="zh-CN" sz="1400" b="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6766730"/>
      </p:ext>
    </p:extLst>
  </p:cSld>
  <p:clrMapOvr>
    <a:masterClrMapping/>
  </p:clrMapOvr>
  <p:transition advTm="70297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063552" y="1268760"/>
            <a:ext cx="57230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第一步：进入官网下载页面</a:t>
            </a:r>
            <a:endParaRPr lang="en-US" altLang="zh-CN" dirty="0">
              <a:latin typeface="+mn-ea"/>
              <a:ea typeface="+mn-ea"/>
            </a:endParaRPr>
          </a:p>
          <a:p>
            <a:r>
              <a:rPr lang="en-US" altLang="zh-CN" b="0" dirty="0">
                <a:ea typeface="+mn-ea"/>
                <a:cs typeface="Times New Roman" panose="02020603050405020304" pitchFamily="18" charset="0"/>
              </a:rPr>
              <a:t>	https://neo4j.com/deployment-center/</a:t>
            </a:r>
            <a:endParaRPr lang="en-US" altLang="zh-CN" sz="2000" b="0" dirty="0">
              <a:ea typeface="+mn-ea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+mn-ea"/>
              </a:rPr>
              <a:t>第二步</a:t>
            </a:r>
            <a:r>
              <a:rPr lang="en-US" altLang="zh-CN" dirty="0">
                <a:latin typeface="+mn-ea"/>
              </a:rPr>
              <a:t>: </a:t>
            </a:r>
            <a:r>
              <a:rPr lang="zh-CN" altLang="en-US" dirty="0">
                <a:ea typeface="+mn-ea"/>
                <a:cs typeface="Times New Roman" panose="02020603050405020304" pitchFamily="18" charset="0"/>
              </a:rPr>
              <a:t>选择</a:t>
            </a:r>
            <a:r>
              <a:rPr lang="en-US" altLang="zh-CN" dirty="0">
                <a:ea typeface="+mn-ea"/>
                <a:cs typeface="Times New Roman" panose="02020603050405020304" pitchFamily="18" charset="0"/>
              </a:rPr>
              <a:t>Neo4j Server</a:t>
            </a:r>
            <a:r>
              <a:rPr lang="zh-CN" altLang="en-US" dirty="0">
                <a:ea typeface="+mn-ea"/>
                <a:cs typeface="Times New Roman" panose="02020603050405020304" pitchFamily="18" charset="0"/>
              </a:rPr>
              <a:t>下载</a:t>
            </a: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453EBC9F-A1DB-4111-B5B8-879102989447}"/>
              </a:ext>
            </a:extLst>
          </p:cNvPr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lvl="0" algn="r">
              <a:defRPr/>
            </a:pPr>
            <a:r>
              <a:rPr lang="en-US" altLang="zh-CN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Neo4j</a:t>
            </a:r>
            <a:r>
              <a:rPr lang="zh-CN" altLang="en-US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的安装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itchFamily="34" charset="0"/>
              <a:ea typeface="黑体" pitchFamily="2" charset="-122"/>
              <a:cs typeface="+mn-cs"/>
            </a:endParaRPr>
          </a:p>
        </p:txBody>
      </p:sp>
      <p:sp>
        <p:nvSpPr>
          <p:cNvPr id="10" name="灯片编号占位符 5">
            <a:extLst>
              <a:ext uri="{FF2B5EF4-FFF2-40B4-BE49-F238E27FC236}">
                <a16:creationId xmlns:a16="http://schemas.microsoft.com/office/drawing/2014/main" id="{F3D9E241-422F-4A24-BB48-38343020F06C}"/>
              </a:ext>
            </a:extLst>
          </p:cNvPr>
          <p:cNvSpPr txBox="1">
            <a:spLocks noGrp="1"/>
          </p:cNvSpPr>
          <p:nvPr/>
        </p:nvSpPr>
        <p:spPr bwMode="auto">
          <a:xfrm>
            <a:off x="10287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41507284-0812-45A7-8B30-66F2C5187041}" type="slidenum">
              <a:rPr kumimoji="0" lang="zh-CN" altLang="en-US" sz="1400" b="0">
                <a:latin typeface="Tahoma" panose="020B0604030504040204" pitchFamily="34" charset="0"/>
              </a:rPr>
              <a:pPr algn="r" eaLnBrk="1" hangingPunct="1"/>
              <a:t>3</a:t>
            </a:fld>
            <a:endParaRPr kumimoji="0" lang="en-US" altLang="zh-CN" sz="1400" b="0" dirty="0">
              <a:latin typeface="Tahoma" panose="020B060403050404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D91F643-7DD3-4A03-8CFD-7EBFAE60D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786" y="2613228"/>
            <a:ext cx="9948428" cy="367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185951"/>
      </p:ext>
    </p:extLst>
  </p:cSld>
  <p:clrMapOvr>
    <a:masterClrMapping/>
  </p:clrMapOvr>
  <p:transition advTm="5937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063552" y="1268761"/>
            <a:ext cx="6647974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第三步：环境配置</a:t>
            </a:r>
            <a:endParaRPr lang="en-US" altLang="zh-CN" dirty="0">
              <a:latin typeface="+mn-ea"/>
              <a:ea typeface="+mn-ea"/>
            </a:endParaRPr>
          </a:p>
          <a:p>
            <a:endParaRPr lang="en-US" altLang="zh-CN" dirty="0">
              <a:latin typeface="+mn-ea"/>
              <a:ea typeface="+mn-ea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b="0" dirty="0">
                <a:ea typeface="+mn-ea"/>
                <a:cs typeface="Times New Roman" panose="02020603050405020304" pitchFamily="18" charset="0"/>
              </a:rPr>
              <a:t>首先</a:t>
            </a:r>
            <a:r>
              <a:rPr lang="zh-CN" altLang="en-US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确保已安装</a:t>
            </a:r>
            <a:r>
              <a:rPr lang="en-US" altLang="zh-CN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jdk17</a:t>
            </a:r>
            <a:r>
              <a:rPr lang="zh-CN" altLang="en-US" b="0" dirty="0">
                <a:ea typeface="+mn-ea"/>
                <a:cs typeface="Times New Roman" panose="02020603050405020304" pitchFamily="18" charset="0"/>
              </a:rPr>
              <a:t>及以上版本！</a:t>
            </a:r>
            <a:endParaRPr lang="en-US" altLang="zh-CN" b="0" dirty="0">
              <a:ea typeface="+mn-ea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b="0" dirty="0">
                <a:ea typeface="+mn-ea"/>
                <a:cs typeface="Times New Roman" panose="02020603050405020304" pitchFamily="18" charset="0"/>
              </a:rPr>
              <a:t>将压缩包解压到磁盘目录中</a:t>
            </a:r>
            <a:endParaRPr lang="en-US" altLang="zh-CN" b="0" dirty="0">
              <a:ea typeface="+mn-ea"/>
              <a:cs typeface="Times New Roman" panose="02020603050405020304" pitchFamily="18" charset="0"/>
            </a:endParaRPr>
          </a:p>
          <a:p>
            <a:r>
              <a:rPr lang="en-US" altLang="zh-CN" sz="2800" b="0" dirty="0">
                <a:ea typeface="+mn-ea"/>
                <a:cs typeface="Times New Roman" panose="02020603050405020304" pitchFamily="18" charset="0"/>
              </a:rPr>
              <a:t>	</a:t>
            </a:r>
            <a:r>
              <a:rPr lang="zh-CN" altLang="en-US" sz="18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注：解压目录最好不要有空格，否则可能无法正常运行</a:t>
            </a:r>
            <a:endParaRPr lang="en-US" altLang="zh-CN" sz="2800" b="0" dirty="0">
              <a:solidFill>
                <a:srgbClr val="FF0000"/>
              </a:solidFill>
              <a:ea typeface="+mn-ea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zh-CN" altLang="en-US" b="0" dirty="0">
                <a:ea typeface="+mn-ea"/>
                <a:cs typeface="Times New Roman" panose="02020603050405020304" pitchFamily="18" charset="0"/>
              </a:rPr>
              <a:t>新建系统变量</a:t>
            </a:r>
            <a:r>
              <a:rPr lang="en-US" altLang="zh-CN" b="0" dirty="0">
                <a:ea typeface="+mn-ea"/>
                <a:cs typeface="Times New Roman" panose="02020603050405020304" pitchFamily="18" charset="0"/>
              </a:rPr>
              <a:t>“NEO4J_HOME”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zh-CN" altLang="en-US" b="0" dirty="0">
                <a:ea typeface="+mn-ea"/>
                <a:cs typeface="Times New Roman" panose="02020603050405020304" pitchFamily="18" charset="0"/>
              </a:rPr>
              <a:t>编辑系统</a:t>
            </a:r>
            <a:r>
              <a:rPr lang="en-US" altLang="zh-CN" b="0" dirty="0">
                <a:ea typeface="+mn-ea"/>
                <a:cs typeface="Times New Roman" panose="02020603050405020304" pitchFamily="18" charset="0"/>
              </a:rPr>
              <a:t>Path</a:t>
            </a:r>
            <a:r>
              <a:rPr lang="zh-CN" altLang="en-US" b="0" dirty="0">
                <a:ea typeface="+mn-ea"/>
                <a:cs typeface="Times New Roman" panose="02020603050405020304" pitchFamily="18" charset="0"/>
              </a:rPr>
              <a:t>变量</a:t>
            </a:r>
            <a:endParaRPr lang="en-US" altLang="zh-CN" b="0" dirty="0">
              <a:ea typeface="+mn-ea"/>
              <a:cs typeface="Times New Roman" panose="02020603050405020304" pitchFamily="18" charset="0"/>
            </a:endParaRPr>
          </a:p>
          <a:p>
            <a:r>
              <a:rPr lang="en-US" altLang="zh-CN" b="0" dirty="0">
                <a:ea typeface="+mn-ea"/>
                <a:cs typeface="Times New Roman" panose="02020603050405020304" pitchFamily="18" charset="0"/>
              </a:rPr>
              <a:t>	“</a:t>
            </a:r>
            <a:r>
              <a:rPr lang="en-US" altLang="zh-CN" sz="18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%NEO4J_HOME%\bin;</a:t>
            </a:r>
            <a:r>
              <a:rPr lang="en-US" altLang="zh-CN" sz="1800" b="0" dirty="0">
                <a:ea typeface="+mn-ea"/>
                <a:cs typeface="Times New Roman" panose="02020603050405020304" pitchFamily="18" charset="0"/>
              </a:rPr>
              <a:t>”</a:t>
            </a:r>
            <a:r>
              <a:rPr lang="zh-CN" altLang="en-US" sz="1800" b="0" dirty="0">
                <a:ea typeface="+mn-ea"/>
                <a:cs typeface="Times New Roman" panose="02020603050405020304" pitchFamily="18" charset="0"/>
              </a:rPr>
              <a:t>添加到</a:t>
            </a:r>
            <a:r>
              <a:rPr lang="en-US" altLang="zh-CN" sz="1800" b="0" dirty="0">
                <a:ea typeface="+mn-ea"/>
                <a:cs typeface="Times New Roman" panose="02020603050405020304" pitchFamily="18" charset="0"/>
              </a:rPr>
              <a:t>Path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6204" y="3200176"/>
            <a:ext cx="3400000" cy="138095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593" y="4397480"/>
            <a:ext cx="3352381" cy="1466667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1" name="直接箭头连接符 10"/>
          <p:cNvCxnSpPr/>
          <p:nvPr/>
        </p:nvCxnSpPr>
        <p:spPr bwMode="auto">
          <a:xfrm>
            <a:off x="6600056" y="3356992"/>
            <a:ext cx="1368152" cy="28803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 bwMode="auto">
          <a:xfrm flipH="1">
            <a:off x="4378330" y="4221088"/>
            <a:ext cx="1861687" cy="909724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 bwMode="auto">
          <a:xfrm>
            <a:off x="3488472" y="5146052"/>
            <a:ext cx="1008112" cy="155156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 b="0">
              <a:latin typeface="Tahoma" pitchFamily="34" charset="0"/>
            </a:endParaRPr>
          </a:p>
        </p:txBody>
      </p:sp>
      <p:sp>
        <p:nvSpPr>
          <p:cNvPr id="17" name="矩形 16"/>
          <p:cNvSpPr/>
          <p:nvPr/>
        </p:nvSpPr>
        <p:spPr bwMode="auto">
          <a:xfrm>
            <a:off x="7968208" y="3645024"/>
            <a:ext cx="1728192" cy="43204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 b="0">
              <a:latin typeface="Tahoma" pitchFamily="34" charset="0"/>
            </a:endParaRP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738AF2D6-0179-4942-A980-448D60D3342F}"/>
              </a:ext>
            </a:extLst>
          </p:cNvPr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lvl="0" algn="r">
              <a:defRPr/>
            </a:pPr>
            <a:r>
              <a:rPr lang="en-US" altLang="zh-CN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Neo4j</a:t>
            </a:r>
            <a:r>
              <a:rPr lang="zh-CN" altLang="en-US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的安装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itchFamily="34" charset="0"/>
              <a:ea typeface="黑体" pitchFamily="2" charset="-122"/>
              <a:cs typeface="+mn-cs"/>
            </a:endParaRPr>
          </a:p>
        </p:txBody>
      </p:sp>
      <p:sp>
        <p:nvSpPr>
          <p:cNvPr id="15" name="灯片编号占位符 5">
            <a:extLst>
              <a:ext uri="{FF2B5EF4-FFF2-40B4-BE49-F238E27FC236}">
                <a16:creationId xmlns:a16="http://schemas.microsoft.com/office/drawing/2014/main" id="{D7500297-7F9C-42AE-8DC3-D251BBA9C429}"/>
              </a:ext>
            </a:extLst>
          </p:cNvPr>
          <p:cNvSpPr txBox="1">
            <a:spLocks noGrp="1"/>
          </p:cNvSpPr>
          <p:nvPr/>
        </p:nvSpPr>
        <p:spPr bwMode="auto">
          <a:xfrm>
            <a:off x="10287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41507284-0812-45A7-8B30-66F2C5187041}" type="slidenum">
              <a:rPr kumimoji="0" lang="zh-CN" altLang="en-US" sz="1400" b="0">
                <a:latin typeface="Tahoma" panose="020B0604030504040204" pitchFamily="34" charset="0"/>
              </a:rPr>
              <a:pPr algn="r" eaLnBrk="1" hangingPunct="1"/>
              <a:t>4</a:t>
            </a:fld>
            <a:endParaRPr kumimoji="0" lang="en-US" altLang="zh-CN" sz="1400" b="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2887322"/>
      </p:ext>
    </p:extLst>
  </p:cSld>
  <p:clrMapOvr>
    <a:masterClrMapping/>
  </p:clrMapOvr>
  <p:transition advTm="5937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063553" y="1268761"/>
            <a:ext cx="6365845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第四步：运行</a:t>
            </a:r>
            <a:endParaRPr lang="en-US" altLang="zh-CN" dirty="0">
              <a:latin typeface="+mn-ea"/>
              <a:ea typeface="+mn-ea"/>
            </a:endParaRPr>
          </a:p>
          <a:p>
            <a:endParaRPr lang="en-US" altLang="zh-CN" dirty="0">
              <a:latin typeface="+mn-ea"/>
              <a:ea typeface="+mn-ea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b="0" dirty="0">
                <a:ea typeface="+mn-ea"/>
                <a:cs typeface="Times New Roman" panose="02020603050405020304" pitchFamily="18" charset="0"/>
              </a:rPr>
              <a:t>运行</a:t>
            </a:r>
            <a:r>
              <a:rPr lang="en-US" altLang="zh-CN" b="0" dirty="0">
                <a:ea typeface="+mn-ea"/>
                <a:cs typeface="Times New Roman" panose="02020603050405020304" pitchFamily="18" charset="0"/>
              </a:rPr>
              <a:t>cmd，</a:t>
            </a:r>
            <a:r>
              <a:rPr lang="zh-CN" altLang="en-US" b="0" dirty="0">
                <a:ea typeface="+mn-ea"/>
                <a:cs typeface="Times New Roman" panose="02020603050405020304" pitchFamily="18" charset="0"/>
              </a:rPr>
              <a:t>输入</a:t>
            </a:r>
            <a:r>
              <a:rPr lang="en-US" altLang="zh-CN" b="0" dirty="0">
                <a:ea typeface="+mn-ea"/>
                <a:cs typeface="Times New Roman" panose="02020603050405020304" pitchFamily="18" charset="0"/>
              </a:rPr>
              <a:t>“neo4j.bat console”</a:t>
            </a:r>
          </a:p>
          <a:p>
            <a:pPr marL="457200" indent="-457200">
              <a:buFont typeface="+mj-lt"/>
              <a:buAutoNum type="arabicPeriod"/>
            </a:pPr>
            <a:endParaRPr lang="en-US" altLang="zh-CN" b="0" dirty="0">
              <a:ea typeface="+mn-ea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altLang="zh-CN" b="0" dirty="0">
              <a:ea typeface="+mn-ea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altLang="zh-CN" b="0" dirty="0">
              <a:ea typeface="+mn-ea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altLang="zh-CN" b="0" dirty="0">
              <a:ea typeface="+mn-ea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b="0" dirty="0">
                <a:ea typeface="+mn-ea"/>
                <a:cs typeface="Times New Roman" panose="02020603050405020304" pitchFamily="18" charset="0"/>
              </a:rPr>
              <a:t>访问</a:t>
            </a:r>
            <a:r>
              <a:rPr lang="en-US" altLang="zh-CN" b="0" dirty="0">
                <a:ea typeface="+mn-ea"/>
                <a:cs typeface="Times New Roman" panose="02020603050405020304" pitchFamily="18" charset="0"/>
              </a:rPr>
              <a:t>Neo4j</a:t>
            </a:r>
            <a:r>
              <a:rPr lang="zh-CN" altLang="en-US" b="0" dirty="0">
                <a:ea typeface="+mn-ea"/>
                <a:cs typeface="Times New Roman" panose="02020603050405020304" pitchFamily="18" charset="0"/>
              </a:rPr>
              <a:t>数据库</a:t>
            </a:r>
            <a:endParaRPr lang="en-US" altLang="zh-CN" b="0" dirty="0">
              <a:ea typeface="+mn-ea"/>
              <a:cs typeface="Times New Roman" panose="02020603050405020304" pitchFamily="18" charset="0"/>
            </a:endParaRPr>
          </a:p>
          <a:p>
            <a:r>
              <a:rPr lang="en-US" altLang="zh-CN" sz="1800" b="0" dirty="0">
                <a:ea typeface="+mn-ea"/>
                <a:cs typeface="Times New Roman" panose="02020603050405020304" pitchFamily="18" charset="0"/>
              </a:rPr>
              <a:t>	</a:t>
            </a:r>
            <a:r>
              <a:rPr lang="zh-CN" altLang="en-US" sz="1800" b="0" dirty="0">
                <a:ea typeface="+mn-ea"/>
                <a:cs typeface="Times New Roman" panose="02020603050405020304" pitchFamily="18" charset="0"/>
              </a:rPr>
              <a:t>打开浏览器访问</a:t>
            </a:r>
            <a:r>
              <a:rPr lang="en-US" altLang="zh-CN" sz="1800" b="0" dirty="0">
                <a:ea typeface="+mn-ea"/>
                <a:cs typeface="Times New Roman" panose="02020603050405020304" pitchFamily="18" charset="0"/>
                <a:hlinkClick r:id="rId3"/>
              </a:rPr>
              <a:t>http://localhost:7474/</a:t>
            </a:r>
            <a:r>
              <a:rPr lang="en-US" altLang="zh-CN" sz="1800" b="0" dirty="0"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1800" b="0" dirty="0">
                <a:ea typeface="+mn-ea"/>
                <a:cs typeface="Times New Roman" panose="02020603050405020304" pitchFamily="18" charset="0"/>
              </a:rPr>
              <a:t>默认密码</a:t>
            </a:r>
            <a:r>
              <a:rPr lang="en-US" altLang="zh-CN" sz="1800" b="0" dirty="0">
                <a:ea typeface="+mn-ea"/>
                <a:cs typeface="Times New Roman" panose="02020603050405020304" pitchFamily="18" charset="0"/>
              </a:rPr>
              <a:t>neo4j.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4"/>
          <a:srcRect l="655" b="16572"/>
          <a:stretch/>
        </p:blipFill>
        <p:spPr>
          <a:xfrm>
            <a:off x="3071664" y="2564905"/>
            <a:ext cx="6131000" cy="11759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88" t="41675" r="6689" b="13372"/>
          <a:stretch/>
        </p:blipFill>
        <p:spPr>
          <a:xfrm>
            <a:off x="2891388" y="4567811"/>
            <a:ext cx="7344816" cy="1944216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7" name="直接箭头连接符 6"/>
          <p:cNvCxnSpPr/>
          <p:nvPr/>
        </p:nvCxnSpPr>
        <p:spPr bwMode="auto">
          <a:xfrm flipH="1">
            <a:off x="6312024" y="4437112"/>
            <a:ext cx="1656184" cy="1224136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 bwMode="auto">
          <a:xfrm>
            <a:off x="6023992" y="5661248"/>
            <a:ext cx="4212212" cy="432048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 b="0">
              <a:latin typeface="Tahoma" pitchFamily="34" charset="0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9B82D37B-751A-4639-8000-8F930C8999E5}"/>
              </a:ext>
            </a:extLst>
          </p:cNvPr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lvl="0" algn="r">
              <a:defRPr/>
            </a:pPr>
            <a:r>
              <a:rPr lang="en-US" altLang="zh-CN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Neo4j</a:t>
            </a:r>
            <a:r>
              <a:rPr lang="zh-CN" altLang="en-US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的安装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itchFamily="34" charset="0"/>
              <a:ea typeface="黑体" pitchFamily="2" charset="-122"/>
              <a:cs typeface="+mn-cs"/>
            </a:endParaRPr>
          </a:p>
        </p:txBody>
      </p:sp>
      <p:sp>
        <p:nvSpPr>
          <p:cNvPr id="11" name="灯片编号占位符 5">
            <a:extLst>
              <a:ext uri="{FF2B5EF4-FFF2-40B4-BE49-F238E27FC236}">
                <a16:creationId xmlns:a16="http://schemas.microsoft.com/office/drawing/2014/main" id="{A015B2AE-6876-4FB0-8347-118971D184A1}"/>
              </a:ext>
            </a:extLst>
          </p:cNvPr>
          <p:cNvSpPr txBox="1">
            <a:spLocks noGrp="1"/>
          </p:cNvSpPr>
          <p:nvPr/>
        </p:nvSpPr>
        <p:spPr bwMode="auto">
          <a:xfrm>
            <a:off x="10287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41507284-0812-45A7-8B30-66F2C5187041}" type="slidenum">
              <a:rPr kumimoji="0" lang="zh-CN" altLang="en-US" sz="1400" b="0">
                <a:latin typeface="Tahoma" panose="020B0604030504040204" pitchFamily="34" charset="0"/>
              </a:rPr>
              <a:pPr algn="r" eaLnBrk="1" hangingPunct="1"/>
              <a:t>5</a:t>
            </a:fld>
            <a:endParaRPr kumimoji="0" lang="en-US" altLang="zh-CN" sz="1400" b="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76691"/>
      </p:ext>
    </p:extLst>
  </p:cSld>
  <p:clrMapOvr>
    <a:masterClrMapping/>
  </p:clrMapOvr>
  <p:transition advTm="5937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063553" y="1268760"/>
            <a:ext cx="409919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第四步：运行</a:t>
            </a:r>
            <a:endParaRPr lang="en-US" altLang="zh-CN" dirty="0">
              <a:latin typeface="+mn-ea"/>
              <a:ea typeface="+mn-ea"/>
            </a:endParaRPr>
          </a:p>
          <a:p>
            <a:endParaRPr lang="en-US" altLang="zh-CN" dirty="0">
              <a:latin typeface="+mn-ea"/>
              <a:ea typeface="+mn-ea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zh-CN" altLang="en-US" b="0" dirty="0">
                <a:ea typeface="+mn-ea"/>
                <a:cs typeface="Times New Roman" panose="02020603050405020304" pitchFamily="18" charset="0"/>
              </a:rPr>
              <a:t>进入</a:t>
            </a:r>
            <a:r>
              <a:rPr lang="en-US" altLang="zh-CN" b="0" dirty="0">
                <a:ea typeface="+mn-ea"/>
                <a:cs typeface="Times New Roman" panose="02020603050405020304" pitchFamily="18" charset="0"/>
              </a:rPr>
              <a:t>neo4j</a:t>
            </a:r>
            <a:r>
              <a:rPr lang="zh-CN" altLang="en-US" b="0" dirty="0">
                <a:ea typeface="+mn-ea"/>
                <a:cs typeface="Times New Roman" panose="02020603050405020304" pitchFamily="18" charset="0"/>
              </a:rPr>
              <a:t>数据库访问界面</a:t>
            </a:r>
            <a:endParaRPr lang="en-US" altLang="zh-CN" b="0" dirty="0">
              <a:ea typeface="+mn-ea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altLang="zh-CN" b="0" dirty="0">
              <a:ea typeface="+mn-ea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altLang="zh-CN" b="0" dirty="0">
              <a:ea typeface="+mn-ea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altLang="zh-CN" b="0" dirty="0"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319" y="2628908"/>
            <a:ext cx="8014865" cy="398102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0" name="直接箭头连接符 9"/>
          <p:cNvCxnSpPr>
            <a:stCxn id="11" idx="0"/>
          </p:cNvCxnSpPr>
          <p:nvPr/>
        </p:nvCxnSpPr>
        <p:spPr bwMode="auto">
          <a:xfrm flipH="1" flipV="1">
            <a:off x="3071664" y="2780928"/>
            <a:ext cx="555606" cy="140115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2553899" y="4182080"/>
            <a:ext cx="2146742" cy="36933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800" b="0" dirty="0">
                <a:latin typeface="+mn-ea"/>
                <a:ea typeface="+mn-ea"/>
              </a:rPr>
              <a:t>(1)</a:t>
            </a:r>
            <a:r>
              <a:rPr lang="zh-CN" altLang="en-US" sz="1800" b="0" dirty="0">
                <a:latin typeface="+mn-ea"/>
                <a:ea typeface="+mn-ea"/>
              </a:rPr>
              <a:t>键入输</a:t>
            </a:r>
            <a:r>
              <a:rPr lang="en-US" altLang="zh-CN" sz="1800" b="0" dirty="0">
                <a:ea typeface="+mn-ea"/>
                <a:cs typeface="Times New Roman" panose="02020603050405020304" pitchFamily="18" charset="0"/>
              </a:rPr>
              <a:t>CQL</a:t>
            </a:r>
            <a:r>
              <a:rPr lang="zh-CN" altLang="en-US" sz="1800" b="0" dirty="0">
                <a:latin typeface="+mn-ea"/>
                <a:ea typeface="+mn-ea"/>
              </a:rPr>
              <a:t>语句</a:t>
            </a:r>
          </a:p>
        </p:txBody>
      </p:sp>
      <p:sp>
        <p:nvSpPr>
          <p:cNvPr id="14" name="矩形 13"/>
          <p:cNvSpPr/>
          <p:nvPr/>
        </p:nvSpPr>
        <p:spPr bwMode="auto">
          <a:xfrm>
            <a:off x="9840416" y="2663208"/>
            <a:ext cx="288032" cy="296036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 b="0">
              <a:latin typeface="Tahoma" pitchFamily="34" charset="0"/>
            </a:endParaRPr>
          </a:p>
        </p:txBody>
      </p:sp>
      <p:cxnSp>
        <p:nvCxnSpPr>
          <p:cNvPr id="16" name="直接箭头连接符 15"/>
          <p:cNvCxnSpPr>
            <a:endCxn id="14" idx="0"/>
          </p:cNvCxnSpPr>
          <p:nvPr/>
        </p:nvCxnSpPr>
        <p:spPr bwMode="auto">
          <a:xfrm>
            <a:off x="8763002" y="2204864"/>
            <a:ext cx="1221431" cy="458344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8266712" y="1835532"/>
            <a:ext cx="992579" cy="36933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800" b="0" dirty="0">
                <a:latin typeface="+mn-ea"/>
                <a:ea typeface="+mn-ea"/>
              </a:rPr>
              <a:t>(2)</a:t>
            </a:r>
            <a:r>
              <a:rPr lang="zh-CN" altLang="en-US" sz="1800" b="0" dirty="0">
                <a:latin typeface="+mn-ea"/>
                <a:ea typeface="+mn-ea"/>
              </a:rPr>
              <a:t>运行</a:t>
            </a: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196D7AF2-E43D-4D60-B5F0-6513C3F0B72D}"/>
              </a:ext>
            </a:extLst>
          </p:cNvPr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lvl="0" algn="r">
              <a:defRPr/>
            </a:pPr>
            <a:r>
              <a:rPr lang="en-US" altLang="zh-CN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Neo4j</a:t>
            </a:r>
            <a:r>
              <a:rPr lang="zh-CN" altLang="en-US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的安装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itchFamily="34" charset="0"/>
              <a:ea typeface="黑体" pitchFamily="2" charset="-122"/>
              <a:cs typeface="+mn-cs"/>
            </a:endParaRPr>
          </a:p>
        </p:txBody>
      </p:sp>
      <p:sp>
        <p:nvSpPr>
          <p:cNvPr id="15" name="灯片编号占位符 5">
            <a:extLst>
              <a:ext uri="{FF2B5EF4-FFF2-40B4-BE49-F238E27FC236}">
                <a16:creationId xmlns:a16="http://schemas.microsoft.com/office/drawing/2014/main" id="{60794CF9-B311-4F43-A535-A281611F742D}"/>
              </a:ext>
            </a:extLst>
          </p:cNvPr>
          <p:cNvSpPr txBox="1">
            <a:spLocks noGrp="1"/>
          </p:cNvSpPr>
          <p:nvPr/>
        </p:nvSpPr>
        <p:spPr bwMode="auto">
          <a:xfrm>
            <a:off x="10287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41507284-0812-45A7-8B30-66F2C5187041}" type="slidenum">
              <a:rPr kumimoji="0" lang="zh-CN" altLang="en-US" sz="1400" b="0">
                <a:latin typeface="Tahoma" panose="020B0604030504040204" pitchFamily="34" charset="0"/>
              </a:rPr>
              <a:pPr algn="r" eaLnBrk="1" hangingPunct="1"/>
              <a:t>6</a:t>
            </a:fld>
            <a:endParaRPr kumimoji="0" lang="en-US" altLang="zh-CN" sz="1400" b="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5703116"/>
      </p:ext>
    </p:extLst>
  </p:cSld>
  <p:clrMapOvr>
    <a:masterClrMapping/>
  </p:clrMapOvr>
  <p:transition advTm="5937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063552" y="1268760"/>
            <a:ext cx="668644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实例：</a:t>
            </a:r>
            <a:endParaRPr lang="en-US" altLang="zh-CN" dirty="0">
              <a:latin typeface="+mn-ea"/>
              <a:ea typeface="+mn-ea"/>
            </a:endParaRPr>
          </a:p>
          <a:p>
            <a:r>
              <a:rPr lang="en-US" altLang="zh-CN" dirty="0">
                <a:latin typeface="+mn-ea"/>
                <a:ea typeface="+mn-ea"/>
              </a:rPr>
              <a:t>	</a:t>
            </a:r>
            <a:r>
              <a:rPr lang="zh-CN" altLang="en-US" dirty="0">
                <a:latin typeface="+mn-ea"/>
                <a:ea typeface="+mn-ea"/>
              </a:rPr>
              <a:t>数据库中自带的</a:t>
            </a:r>
            <a:r>
              <a:rPr lang="en-US" altLang="zh-CN" dirty="0">
                <a:ea typeface="+mn-ea"/>
                <a:cs typeface="Times New Roman" panose="02020603050405020304" pitchFamily="18" charset="0"/>
              </a:rPr>
              <a:t>movie graph </a:t>
            </a:r>
            <a:r>
              <a:rPr lang="zh-CN" altLang="en-US" dirty="0">
                <a:latin typeface="+mn-ea"/>
                <a:ea typeface="+mn-ea"/>
              </a:rPr>
              <a:t>生成示例图</a:t>
            </a:r>
            <a:endParaRPr lang="en-US" altLang="zh-CN" dirty="0">
              <a:latin typeface="+mn-ea"/>
              <a:ea typeface="+mn-ea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altLang="zh-CN" b="0" dirty="0">
              <a:ea typeface="+mn-ea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altLang="zh-CN" b="0" dirty="0">
              <a:ea typeface="+mn-ea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altLang="zh-CN" b="0" dirty="0"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521" y="2132857"/>
            <a:ext cx="3839319" cy="39399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13"/>
          <a:stretch/>
        </p:blipFill>
        <p:spPr>
          <a:xfrm>
            <a:off x="5614840" y="2133514"/>
            <a:ext cx="4618015" cy="28626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矩形 4"/>
          <p:cNvSpPr/>
          <p:nvPr/>
        </p:nvSpPr>
        <p:spPr bwMode="auto">
          <a:xfrm>
            <a:off x="6023992" y="4725144"/>
            <a:ext cx="2304256" cy="216024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 b="0">
              <a:latin typeface="Tahoma" pitchFamily="34" charset="0"/>
            </a:endParaRPr>
          </a:p>
        </p:txBody>
      </p:sp>
      <p:cxnSp>
        <p:nvCxnSpPr>
          <p:cNvPr id="8" name="直接箭头连接符 7"/>
          <p:cNvCxnSpPr/>
          <p:nvPr/>
        </p:nvCxnSpPr>
        <p:spPr bwMode="auto">
          <a:xfrm flipH="1" flipV="1">
            <a:off x="7923846" y="3645024"/>
            <a:ext cx="793750" cy="1944216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 bwMode="auto">
          <a:xfrm flipH="1" flipV="1">
            <a:off x="7176120" y="4941168"/>
            <a:ext cx="1541476" cy="64807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6998215" y="5588385"/>
            <a:ext cx="3438762" cy="36933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1800" dirty="0"/>
              <a:t>可通过点击节点或边查询属性值</a:t>
            </a: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FD2E2BD4-AF6D-4567-BD9C-F2219D21BD3B}"/>
              </a:ext>
            </a:extLst>
          </p:cNvPr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lvl="0" algn="r">
              <a:defRPr/>
            </a:pPr>
            <a:r>
              <a:rPr lang="en-US" altLang="zh-CN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Neo4j</a:t>
            </a:r>
            <a:r>
              <a:rPr lang="zh-CN" altLang="en-US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的安装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itchFamily="34" charset="0"/>
              <a:ea typeface="黑体" pitchFamily="2" charset="-122"/>
              <a:cs typeface="+mn-cs"/>
            </a:endParaRPr>
          </a:p>
        </p:txBody>
      </p:sp>
      <p:sp>
        <p:nvSpPr>
          <p:cNvPr id="14" name="灯片编号占位符 5">
            <a:extLst>
              <a:ext uri="{FF2B5EF4-FFF2-40B4-BE49-F238E27FC236}">
                <a16:creationId xmlns:a16="http://schemas.microsoft.com/office/drawing/2014/main" id="{72A61688-8B8A-4917-8190-F4D671D71294}"/>
              </a:ext>
            </a:extLst>
          </p:cNvPr>
          <p:cNvSpPr txBox="1">
            <a:spLocks noGrp="1"/>
          </p:cNvSpPr>
          <p:nvPr/>
        </p:nvSpPr>
        <p:spPr bwMode="auto">
          <a:xfrm>
            <a:off x="10287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41507284-0812-45A7-8B30-66F2C5187041}" type="slidenum">
              <a:rPr kumimoji="0" lang="zh-CN" altLang="en-US" sz="1400" b="0">
                <a:latin typeface="Tahoma" panose="020B0604030504040204" pitchFamily="34" charset="0"/>
              </a:rPr>
              <a:pPr algn="r" eaLnBrk="1" hangingPunct="1"/>
              <a:t>7</a:t>
            </a:fld>
            <a:endParaRPr kumimoji="0" lang="en-US" altLang="zh-CN" sz="1400" b="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196178"/>
      </p:ext>
    </p:extLst>
  </p:cSld>
  <p:clrMapOvr>
    <a:masterClrMapping/>
  </p:clrMapOvr>
  <p:transition advTm="5937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055440" y="1412777"/>
            <a:ext cx="55715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一、</a:t>
            </a:r>
            <a:r>
              <a:rPr lang="en-US" altLang="zh-CN" dirty="0"/>
              <a:t>CQL(Cypher Query Language)</a:t>
            </a:r>
            <a:r>
              <a:rPr lang="zh-CN" altLang="en-US" dirty="0"/>
              <a:t>简介</a:t>
            </a:r>
          </a:p>
        </p:txBody>
      </p:sp>
      <p:sp>
        <p:nvSpPr>
          <p:cNvPr id="10" name="矩形 9"/>
          <p:cNvSpPr/>
          <p:nvPr/>
        </p:nvSpPr>
        <p:spPr>
          <a:xfrm>
            <a:off x="1559496" y="1874442"/>
            <a:ext cx="69127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00" b="0" dirty="0">
                <a:ea typeface="+mn-ea"/>
                <a:cs typeface="Times New Roman" panose="02020603050405020304" pitchFamily="18" charset="0"/>
              </a:rPr>
              <a:t>    CQL</a:t>
            </a:r>
            <a:r>
              <a:rPr lang="zh-CN" altLang="en-US" sz="1800" b="0" dirty="0">
                <a:ea typeface="+mn-ea"/>
                <a:cs typeface="Times New Roman" panose="02020603050405020304" pitchFamily="18" charset="0"/>
              </a:rPr>
              <a:t>即</a:t>
            </a:r>
            <a:r>
              <a:rPr lang="en-US" altLang="zh-CN" sz="1800" b="0" dirty="0">
                <a:ea typeface="+mn-ea"/>
                <a:cs typeface="Times New Roman" panose="02020603050405020304" pitchFamily="18" charset="0"/>
              </a:rPr>
              <a:t>Cypher</a:t>
            </a:r>
            <a:r>
              <a:rPr lang="zh-CN" altLang="en-US" sz="1800" b="0" dirty="0">
                <a:ea typeface="+mn-ea"/>
                <a:cs typeface="Times New Roman" panose="02020603050405020304" pitchFamily="18" charset="0"/>
              </a:rPr>
              <a:t>查询语言， 如</a:t>
            </a:r>
            <a:r>
              <a:rPr lang="en-US" altLang="zh-CN" sz="1800" b="0" dirty="0">
                <a:ea typeface="+mn-ea"/>
                <a:cs typeface="Times New Roman" panose="02020603050405020304" pitchFamily="18" charset="0"/>
              </a:rPr>
              <a:t>Oracle</a:t>
            </a:r>
            <a:r>
              <a:rPr lang="zh-CN" altLang="en-US" sz="1800" b="0" dirty="0">
                <a:ea typeface="+mn-ea"/>
                <a:cs typeface="Times New Roman" panose="02020603050405020304" pitchFamily="18" charset="0"/>
              </a:rPr>
              <a:t>数据库中的</a:t>
            </a:r>
            <a:r>
              <a:rPr lang="en-US" altLang="zh-CN" sz="1800" b="0" dirty="0">
                <a:ea typeface="+mn-ea"/>
                <a:cs typeface="Times New Roman" panose="02020603050405020304" pitchFamily="18" charset="0"/>
              </a:rPr>
              <a:t>SQL</a:t>
            </a:r>
            <a:r>
              <a:rPr lang="zh-CN" altLang="en-US" sz="1800" b="0" dirty="0">
                <a:ea typeface="+mn-ea"/>
                <a:cs typeface="Times New Roman" panose="02020603050405020304" pitchFamily="18" charset="0"/>
              </a:rPr>
              <a:t>查询语言，</a:t>
            </a:r>
            <a:r>
              <a:rPr lang="en-US" altLang="zh-CN" sz="1800" b="0" dirty="0">
                <a:ea typeface="+mn-ea"/>
                <a:cs typeface="Times New Roman" panose="02020603050405020304" pitchFamily="18" charset="0"/>
              </a:rPr>
              <a:t>Neo4j</a:t>
            </a:r>
            <a:r>
              <a:rPr lang="zh-CN" altLang="en-US" sz="1800" b="0" dirty="0">
                <a:ea typeface="+mn-ea"/>
                <a:cs typeface="Times New Roman" panose="02020603050405020304" pitchFamily="18" charset="0"/>
              </a:rPr>
              <a:t>将</a:t>
            </a:r>
            <a:r>
              <a:rPr lang="en-US" altLang="zh-CN" sz="1800" b="0" dirty="0">
                <a:ea typeface="+mn-ea"/>
                <a:cs typeface="Times New Roman" panose="02020603050405020304" pitchFamily="18" charset="0"/>
              </a:rPr>
              <a:t>CQL</a:t>
            </a:r>
            <a:r>
              <a:rPr lang="zh-CN" altLang="en-US" sz="1800" b="0" dirty="0">
                <a:ea typeface="+mn-ea"/>
                <a:cs typeface="Times New Roman" panose="02020603050405020304" pitchFamily="18" charset="0"/>
              </a:rPr>
              <a:t>作为查询语言。</a:t>
            </a:r>
            <a:endParaRPr lang="en-US" altLang="zh-CN" sz="1800" b="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567608" y="2520772"/>
            <a:ext cx="76803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cs typeface="Times New Roman" panose="02020603050405020304" pitchFamily="18" charset="0"/>
              </a:rPr>
              <a:t>1、Neo4j CQL</a:t>
            </a:r>
            <a:r>
              <a:rPr lang="zh-CN" altLang="en-US" sz="2000" dirty="0">
                <a:cs typeface="Times New Roman" panose="02020603050405020304" pitchFamily="18" charset="0"/>
              </a:rPr>
              <a:t>支持的数据类型：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r>
              <a:rPr lang="en-US" altLang="zh-CN" sz="2000" dirty="0">
                <a:cs typeface="Times New Roman" panose="02020603050405020304" pitchFamily="18" charset="0"/>
              </a:rPr>
              <a:t>    </a:t>
            </a:r>
            <a:r>
              <a:rPr lang="en-US" altLang="zh-CN" sz="1800" b="0" dirty="0">
                <a:ea typeface="+mn-ea"/>
                <a:cs typeface="Times New Roman" panose="02020603050405020304" pitchFamily="18" charset="0"/>
              </a:rPr>
              <a:t>Neo4j CQL</a:t>
            </a:r>
            <a:r>
              <a:rPr lang="zh-CN" altLang="en-US" sz="1800" b="0" dirty="0">
                <a:ea typeface="+mn-ea"/>
                <a:cs typeface="Times New Roman" panose="02020603050405020304" pitchFamily="18" charset="0"/>
              </a:rPr>
              <a:t>所支持的数据类型和</a:t>
            </a:r>
            <a:r>
              <a:rPr lang="en-US" altLang="zh-CN" sz="1800" b="0" dirty="0">
                <a:ea typeface="+mn-ea"/>
                <a:cs typeface="Times New Roman" panose="02020603050405020304" pitchFamily="18" charset="0"/>
              </a:rPr>
              <a:t>java</a:t>
            </a:r>
            <a:r>
              <a:rPr lang="zh-CN" altLang="en-US" sz="1800" b="0" dirty="0">
                <a:ea typeface="+mn-ea"/>
                <a:cs typeface="Times New Roman" panose="02020603050405020304" pitchFamily="18" charset="0"/>
              </a:rPr>
              <a:t>相似，用于定义</a:t>
            </a:r>
            <a:r>
              <a:rPr lang="zh-CN" altLang="en-US" sz="18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节点和关系的属性</a:t>
            </a:r>
            <a:r>
              <a:rPr lang="zh-CN" altLang="en-US" sz="1800" b="0" dirty="0">
                <a:ea typeface="+mn-ea"/>
                <a:cs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2975992" y="3257658"/>
          <a:ext cx="6096000" cy="34117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7920">
                  <a:extLst>
                    <a:ext uri="{9D8B030D-6E8A-4147-A177-3AD203B41FA5}">
                      <a16:colId xmlns:a16="http://schemas.microsoft.com/office/drawing/2014/main" val="3333534912"/>
                    </a:ext>
                  </a:extLst>
                </a:gridCol>
                <a:gridCol w="3768080">
                  <a:extLst>
                    <a:ext uri="{9D8B030D-6E8A-4147-A177-3AD203B41FA5}">
                      <a16:colId xmlns:a16="http://schemas.microsoft.com/office/drawing/2014/main" val="2436548712"/>
                    </a:ext>
                  </a:extLst>
                </a:gridCol>
              </a:tblGrid>
              <a:tr h="338438">
                <a:tc>
                  <a:txBody>
                    <a:bodyPr/>
                    <a:lstStyle/>
                    <a:p>
                      <a:r>
                        <a:rPr lang="en-US" altLang="zh-CN" dirty="0"/>
                        <a:t>CQL</a:t>
                      </a:r>
                      <a:r>
                        <a:rPr lang="zh-CN" altLang="en-US" dirty="0"/>
                        <a:t>数据类型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用法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000304"/>
                  </a:ext>
                </a:extLst>
              </a:tr>
              <a:tr h="338438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boolean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用于表示布尔文字：</a:t>
                      </a:r>
                      <a:r>
                        <a:rPr lang="en-US" altLang="zh-CN" sz="1600" dirty="0"/>
                        <a:t>true</a:t>
                      </a:r>
                      <a:r>
                        <a:rPr lang="zh-CN" altLang="en-US" sz="1600" dirty="0"/>
                        <a:t>，</a:t>
                      </a:r>
                      <a:r>
                        <a:rPr lang="en-US" altLang="zh-CN" sz="1600" dirty="0"/>
                        <a:t>false</a:t>
                      </a:r>
                      <a:r>
                        <a:rPr lang="zh-CN" altLang="en-US" sz="1600" dirty="0"/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891130"/>
                  </a:ext>
                </a:extLst>
              </a:tr>
              <a:tr h="338438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byte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用于表示</a:t>
                      </a:r>
                      <a:r>
                        <a:rPr lang="en-US" altLang="zh-CN" sz="1600" dirty="0"/>
                        <a:t>8</a:t>
                      </a:r>
                      <a:r>
                        <a:rPr lang="zh-CN" altLang="en-US" sz="1600" dirty="0"/>
                        <a:t>位整数。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269382"/>
                  </a:ext>
                </a:extLst>
              </a:tr>
              <a:tr h="338438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用于表示</a:t>
                      </a:r>
                      <a:r>
                        <a:rPr lang="en-US" altLang="zh-CN" sz="1600" dirty="0"/>
                        <a:t>16</a:t>
                      </a:r>
                      <a:r>
                        <a:rPr lang="zh-CN" altLang="en-US" sz="1600" dirty="0"/>
                        <a:t>位整数。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953482"/>
                  </a:ext>
                </a:extLst>
              </a:tr>
              <a:tr h="338438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int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用于表示</a:t>
                      </a:r>
                      <a:r>
                        <a:rPr lang="en-US" altLang="zh-CN" sz="1600" dirty="0"/>
                        <a:t>32</a:t>
                      </a:r>
                      <a:r>
                        <a:rPr lang="zh-CN" altLang="en-US" sz="1600" dirty="0"/>
                        <a:t>位整数。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506107"/>
                  </a:ext>
                </a:extLst>
              </a:tr>
              <a:tr h="338438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long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用于表示</a:t>
                      </a:r>
                      <a:r>
                        <a:rPr lang="en-US" altLang="zh-CN" sz="1600" dirty="0"/>
                        <a:t>64</a:t>
                      </a:r>
                      <a:r>
                        <a:rPr lang="zh-CN" altLang="en-US" sz="1600" dirty="0"/>
                        <a:t>位整数。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964348"/>
                  </a:ext>
                </a:extLst>
              </a:tr>
              <a:tr h="338438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float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用于表示</a:t>
                      </a:r>
                      <a:r>
                        <a:rPr lang="en-US" altLang="zh-CN" sz="1600" dirty="0"/>
                        <a:t>32</a:t>
                      </a:r>
                      <a:r>
                        <a:rPr lang="zh-CN" altLang="en-US" sz="1600" dirty="0"/>
                        <a:t>位浮点数。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0223145"/>
                  </a:ext>
                </a:extLst>
              </a:tr>
              <a:tr h="338438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double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用于表示</a:t>
                      </a:r>
                      <a:r>
                        <a:rPr lang="en-US" altLang="zh-CN" sz="1600" dirty="0"/>
                        <a:t>64</a:t>
                      </a:r>
                      <a:r>
                        <a:rPr lang="zh-CN" altLang="en-US" sz="1600" dirty="0"/>
                        <a:t>位浮点数。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964936"/>
                  </a:ext>
                </a:extLst>
              </a:tr>
              <a:tr h="338438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char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用于表示</a:t>
                      </a:r>
                      <a:r>
                        <a:rPr lang="en-US" altLang="zh-CN" sz="1600" dirty="0"/>
                        <a:t>16</a:t>
                      </a:r>
                      <a:r>
                        <a:rPr lang="zh-CN" altLang="en-US" sz="1600" dirty="0"/>
                        <a:t>位字符。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1151082"/>
                  </a:ext>
                </a:extLst>
              </a:tr>
              <a:tr h="338438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String 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用于表示字符串。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298244"/>
                  </a:ext>
                </a:extLst>
              </a:tr>
            </a:tbl>
          </a:graphicData>
        </a:graphic>
      </p:graphicFrame>
      <p:sp>
        <p:nvSpPr>
          <p:cNvPr id="12" name="标题 1">
            <a:extLst>
              <a:ext uri="{FF2B5EF4-FFF2-40B4-BE49-F238E27FC236}">
                <a16:creationId xmlns:a16="http://schemas.microsoft.com/office/drawing/2014/main" id="{815077BC-0CB6-404D-8318-81735C992160}"/>
              </a:ext>
            </a:extLst>
          </p:cNvPr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lvl="0" algn="r">
              <a:defRPr/>
            </a:pPr>
            <a:r>
              <a:rPr lang="en-US" altLang="zh-CN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Neo4j--CQL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itchFamily="34" charset="0"/>
              <a:ea typeface="黑体" pitchFamily="2" charset="-122"/>
              <a:cs typeface="+mn-cs"/>
            </a:endParaRPr>
          </a:p>
        </p:txBody>
      </p:sp>
      <p:sp>
        <p:nvSpPr>
          <p:cNvPr id="14" name="灯片编号占位符 5">
            <a:extLst>
              <a:ext uri="{FF2B5EF4-FFF2-40B4-BE49-F238E27FC236}">
                <a16:creationId xmlns:a16="http://schemas.microsoft.com/office/drawing/2014/main" id="{D6F514AE-EA8B-4590-9C05-9370F63C1FC1}"/>
              </a:ext>
            </a:extLst>
          </p:cNvPr>
          <p:cNvSpPr txBox="1">
            <a:spLocks noGrp="1"/>
          </p:cNvSpPr>
          <p:nvPr/>
        </p:nvSpPr>
        <p:spPr bwMode="auto">
          <a:xfrm>
            <a:off x="10287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41507284-0812-45A7-8B30-66F2C5187041}" type="slidenum">
              <a:rPr kumimoji="0" lang="zh-CN" altLang="en-US" sz="1400" b="0">
                <a:latin typeface="Tahoma" panose="020B0604030504040204" pitchFamily="34" charset="0"/>
              </a:rPr>
              <a:pPr algn="r" eaLnBrk="1" hangingPunct="1"/>
              <a:t>8</a:t>
            </a:fld>
            <a:endParaRPr kumimoji="0" lang="en-US" altLang="zh-CN" sz="1400" b="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908079"/>
      </p:ext>
    </p:extLst>
  </p:cSld>
  <p:clrMapOvr>
    <a:masterClrMapping/>
  </p:clrMapOvr>
  <p:transition advTm="5937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055440" y="1412777"/>
            <a:ext cx="55715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一、</a:t>
            </a:r>
            <a:r>
              <a:rPr lang="en-US" altLang="zh-CN" dirty="0"/>
              <a:t>CQL(Cypher Query Language)</a:t>
            </a:r>
            <a:r>
              <a:rPr lang="zh-CN" altLang="en-US" dirty="0"/>
              <a:t>简介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567609" y="1844825"/>
            <a:ext cx="38972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zh-CN" sz="2000" dirty="0">
              <a:cs typeface="Times New Roman" panose="02020603050405020304" pitchFamily="18" charset="0"/>
            </a:endParaRPr>
          </a:p>
          <a:p>
            <a:r>
              <a:rPr lang="en-US" altLang="zh-CN" sz="2000" dirty="0">
                <a:cs typeface="Times New Roman" panose="02020603050405020304" pitchFamily="18" charset="0"/>
              </a:rPr>
              <a:t>2、Neo4j CQL</a:t>
            </a:r>
            <a:r>
              <a:rPr lang="zh-CN" altLang="en-US" sz="2000" dirty="0">
                <a:cs typeface="Times New Roman" panose="02020603050405020304" pitchFamily="18" charset="0"/>
              </a:rPr>
              <a:t>常用命令、条款：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r>
              <a:rPr lang="en-US" altLang="zh-CN" sz="2000" dirty="0">
                <a:cs typeface="Times New Roman" panose="02020603050405020304" pitchFamily="18" charset="0"/>
              </a:rPr>
              <a:t>    </a:t>
            </a:r>
            <a:r>
              <a:rPr lang="en-US" altLang="zh-CN" sz="1800" b="0" dirty="0">
                <a:ea typeface="+mn-ea"/>
                <a:cs typeface="Times New Roman" panose="02020603050405020304" pitchFamily="18" charset="0"/>
              </a:rPr>
              <a:t>Neo4j CQL</a:t>
            </a:r>
            <a:r>
              <a:rPr lang="zh-CN" altLang="en-US" sz="1800" b="0" dirty="0">
                <a:ea typeface="+mn-ea"/>
                <a:cs typeface="Times New Roman" panose="02020603050405020304" pitchFamily="18" charset="0"/>
              </a:rPr>
              <a:t>常用命令和</a:t>
            </a:r>
            <a:r>
              <a:rPr lang="en-US" altLang="zh-CN" sz="1800" b="0" dirty="0">
                <a:ea typeface="+mn-ea"/>
                <a:cs typeface="Times New Roman" panose="02020603050405020304" pitchFamily="18" charset="0"/>
              </a:rPr>
              <a:t>SQL</a:t>
            </a:r>
            <a:r>
              <a:rPr lang="zh-CN" altLang="en-US" sz="1800" b="0" dirty="0">
                <a:ea typeface="+mn-ea"/>
                <a:cs typeface="Times New Roman" panose="02020603050405020304" pitchFamily="18" charset="0"/>
              </a:rPr>
              <a:t>相似。</a:t>
            </a:r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2975992" y="3020032"/>
          <a:ext cx="6096000" cy="3073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7920">
                  <a:extLst>
                    <a:ext uri="{9D8B030D-6E8A-4147-A177-3AD203B41FA5}">
                      <a16:colId xmlns:a16="http://schemas.microsoft.com/office/drawing/2014/main" val="3333534912"/>
                    </a:ext>
                  </a:extLst>
                </a:gridCol>
                <a:gridCol w="3768080">
                  <a:extLst>
                    <a:ext uri="{9D8B030D-6E8A-4147-A177-3AD203B41FA5}">
                      <a16:colId xmlns:a16="http://schemas.microsoft.com/office/drawing/2014/main" val="2436548712"/>
                    </a:ext>
                  </a:extLst>
                </a:gridCol>
              </a:tblGrid>
              <a:tr h="338438">
                <a:tc>
                  <a:txBody>
                    <a:bodyPr/>
                    <a:lstStyle/>
                    <a:p>
                      <a:r>
                        <a:rPr lang="en-US" altLang="zh-CN" dirty="0"/>
                        <a:t>CQL</a:t>
                      </a:r>
                      <a:r>
                        <a:rPr lang="zh-CN" altLang="en-US" dirty="0"/>
                        <a:t>命令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用法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000304"/>
                  </a:ext>
                </a:extLst>
              </a:tr>
              <a:tr h="338438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CREAT--</a:t>
                      </a:r>
                      <a:r>
                        <a:rPr lang="zh-CN" altLang="en-US" sz="1600" dirty="0"/>
                        <a:t>创建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创建节点、关系和属性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891130"/>
                  </a:ext>
                </a:extLst>
              </a:tr>
              <a:tr h="338438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MATCH--</a:t>
                      </a:r>
                      <a:r>
                        <a:rPr lang="zh-CN" altLang="en-US" sz="1600" dirty="0"/>
                        <a:t>匹配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检索有关节点、关系和属性的数据</a:t>
                      </a:r>
                      <a:endParaRPr lang="en-US" altLang="zh-C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269382"/>
                  </a:ext>
                </a:extLst>
              </a:tr>
              <a:tr h="338438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RETURN--</a:t>
                      </a:r>
                      <a:r>
                        <a:rPr lang="zh-CN" altLang="en-US" sz="1600" dirty="0"/>
                        <a:t>返回</a:t>
                      </a:r>
                      <a:endParaRPr lang="en-US" altLang="zh-C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返回查询结果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953482"/>
                  </a:ext>
                </a:extLst>
              </a:tr>
              <a:tr h="338438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WHERE--</a:t>
                      </a:r>
                      <a:r>
                        <a:rPr lang="zh-CN" altLang="en-US" sz="1600" dirty="0"/>
                        <a:t>哪里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提供检索数据的条件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506107"/>
                  </a:ext>
                </a:extLst>
              </a:tr>
              <a:tr h="338438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DELETE--</a:t>
                      </a:r>
                      <a:r>
                        <a:rPr lang="zh-CN" altLang="en-US" sz="1600" dirty="0"/>
                        <a:t>删除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删除节点和关系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964348"/>
                  </a:ext>
                </a:extLst>
              </a:tr>
              <a:tr h="338438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REMOVE--</a:t>
                      </a:r>
                      <a:r>
                        <a:rPr lang="zh-CN" altLang="en-US" sz="1600" dirty="0"/>
                        <a:t>移除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删除节点和关系的属性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0223145"/>
                  </a:ext>
                </a:extLst>
              </a:tr>
              <a:tr h="338438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ORDER…BY--</a:t>
                      </a:r>
                      <a:r>
                        <a:rPr lang="zh-CN" altLang="en-US" sz="1600" dirty="0"/>
                        <a:t>排序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排序检索数据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964936"/>
                  </a:ext>
                </a:extLst>
              </a:tr>
              <a:tr h="338438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SET--</a:t>
                      </a:r>
                      <a:r>
                        <a:rPr lang="zh-CN" altLang="en-US" sz="1600" dirty="0"/>
                        <a:t>设置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添加或更新标签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1151082"/>
                  </a:ext>
                </a:extLst>
              </a:tr>
            </a:tbl>
          </a:graphicData>
        </a:graphic>
      </p:graphicFrame>
      <p:sp>
        <p:nvSpPr>
          <p:cNvPr id="8" name="标题 1">
            <a:extLst>
              <a:ext uri="{FF2B5EF4-FFF2-40B4-BE49-F238E27FC236}">
                <a16:creationId xmlns:a16="http://schemas.microsoft.com/office/drawing/2014/main" id="{2D470BD8-ABC0-4C89-9B13-647CA65C7AD9}"/>
              </a:ext>
            </a:extLst>
          </p:cNvPr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lvl="0" algn="r">
              <a:defRPr/>
            </a:pPr>
            <a:r>
              <a:rPr lang="en-US" altLang="zh-CN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Neo4j--CQL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itchFamily="34" charset="0"/>
              <a:ea typeface="黑体" pitchFamily="2" charset="-122"/>
              <a:cs typeface="+mn-cs"/>
            </a:endParaRPr>
          </a:p>
        </p:txBody>
      </p:sp>
      <p:sp>
        <p:nvSpPr>
          <p:cNvPr id="10" name="灯片编号占位符 5">
            <a:extLst>
              <a:ext uri="{FF2B5EF4-FFF2-40B4-BE49-F238E27FC236}">
                <a16:creationId xmlns:a16="http://schemas.microsoft.com/office/drawing/2014/main" id="{6F5C859A-3698-4D6B-82AB-31B442D28A6A}"/>
              </a:ext>
            </a:extLst>
          </p:cNvPr>
          <p:cNvSpPr txBox="1">
            <a:spLocks noGrp="1"/>
          </p:cNvSpPr>
          <p:nvPr/>
        </p:nvSpPr>
        <p:spPr bwMode="auto">
          <a:xfrm>
            <a:off x="10287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41507284-0812-45A7-8B30-66F2C5187041}" type="slidenum">
              <a:rPr kumimoji="0" lang="zh-CN" altLang="en-US" sz="1400" b="0">
                <a:latin typeface="Tahoma" panose="020B0604030504040204" pitchFamily="34" charset="0"/>
              </a:rPr>
              <a:pPr algn="r" eaLnBrk="1" hangingPunct="1"/>
              <a:t>9</a:t>
            </a:fld>
            <a:endParaRPr kumimoji="0" lang="en-US" altLang="zh-CN" sz="1400" b="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3848563"/>
      </p:ext>
    </p:extLst>
  </p:cSld>
  <p:clrMapOvr>
    <a:masterClrMapping/>
  </p:clrMapOvr>
  <p:transition advTm="5937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055440" y="1412777"/>
            <a:ext cx="55715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一、</a:t>
            </a:r>
            <a:r>
              <a:rPr lang="en-US" altLang="zh-CN" dirty="0"/>
              <a:t>CQL(Cypher Query Language)</a:t>
            </a:r>
            <a:r>
              <a:rPr lang="zh-CN" altLang="en-US" dirty="0"/>
              <a:t>简介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567609" y="1844825"/>
            <a:ext cx="265675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zh-CN" sz="2000" dirty="0">
              <a:cs typeface="Times New Roman" panose="02020603050405020304" pitchFamily="18" charset="0"/>
            </a:endParaRPr>
          </a:p>
          <a:p>
            <a:r>
              <a:rPr lang="en-US" altLang="zh-CN" sz="2000" dirty="0">
                <a:cs typeface="Times New Roman" panose="02020603050405020304" pitchFamily="18" charset="0"/>
              </a:rPr>
              <a:t>3、Neo4j CQL </a:t>
            </a:r>
            <a:r>
              <a:rPr lang="zh-CN" altLang="en-US" sz="2000" dirty="0">
                <a:cs typeface="Times New Roman" panose="02020603050405020304" pitchFamily="18" charset="0"/>
              </a:rPr>
              <a:t>函数：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r>
              <a:rPr lang="en-US" altLang="zh-CN" sz="2000" dirty="0">
                <a:cs typeface="Times New Roman" panose="02020603050405020304" pitchFamily="18" charset="0"/>
              </a:rPr>
              <a:t>    </a:t>
            </a:r>
            <a:endParaRPr lang="zh-CN" altLang="en-US" sz="1800" b="0" dirty="0"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2975992" y="3020032"/>
          <a:ext cx="6864424" cy="19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7880">
                  <a:extLst>
                    <a:ext uri="{9D8B030D-6E8A-4147-A177-3AD203B41FA5}">
                      <a16:colId xmlns:a16="http://schemas.microsoft.com/office/drawing/2014/main" val="3333534912"/>
                    </a:ext>
                  </a:extLst>
                </a:gridCol>
                <a:gridCol w="4896544">
                  <a:extLst>
                    <a:ext uri="{9D8B030D-6E8A-4147-A177-3AD203B41FA5}">
                      <a16:colId xmlns:a16="http://schemas.microsoft.com/office/drawing/2014/main" val="2436548712"/>
                    </a:ext>
                  </a:extLst>
                </a:gridCol>
              </a:tblGrid>
              <a:tr h="524376">
                <a:tc>
                  <a:txBody>
                    <a:bodyPr/>
                    <a:lstStyle/>
                    <a:p>
                      <a:r>
                        <a:rPr lang="zh-CN" altLang="en-US" dirty="0"/>
                        <a:t>定制列表功能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用法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000304"/>
                  </a:ext>
                </a:extLst>
              </a:tr>
              <a:tr h="485208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String </a:t>
                      </a:r>
                      <a:r>
                        <a:rPr lang="zh-CN" altLang="en-US" sz="1600" dirty="0"/>
                        <a:t>字符串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他们用于操作</a:t>
                      </a:r>
                      <a:r>
                        <a:rPr lang="en-US" altLang="zh-CN" sz="1600" dirty="0"/>
                        <a:t>String</a:t>
                      </a:r>
                      <a:r>
                        <a:rPr lang="zh-CN" altLang="en-US" sz="1600" dirty="0"/>
                        <a:t>字面量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891130"/>
                  </a:ext>
                </a:extLst>
              </a:tr>
              <a:tr h="485208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Aggregation </a:t>
                      </a:r>
                      <a:r>
                        <a:rPr lang="zh-CN" altLang="en-US" sz="1600" dirty="0"/>
                        <a:t>聚合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用于对</a:t>
                      </a:r>
                      <a:r>
                        <a:rPr lang="en-US" altLang="zh-CN" sz="1600" dirty="0"/>
                        <a:t>CQL</a:t>
                      </a:r>
                      <a:r>
                        <a:rPr lang="zh-CN" altLang="en-US" sz="1600" dirty="0"/>
                        <a:t>查询结果执行一些聚合操作</a:t>
                      </a:r>
                      <a:endParaRPr lang="en-US" altLang="zh-C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269382"/>
                  </a:ext>
                </a:extLst>
              </a:tr>
              <a:tr h="485208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Relationship </a:t>
                      </a:r>
                      <a:r>
                        <a:rPr lang="zh-CN" altLang="en-US" sz="1600" dirty="0"/>
                        <a:t>关系</a:t>
                      </a:r>
                      <a:endParaRPr lang="en-US" altLang="zh-C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用于获取关系的细节，如边的</a:t>
                      </a:r>
                      <a:r>
                        <a:rPr lang="en-US" altLang="zh-CN" sz="1600" dirty="0"/>
                        <a:t>startnode、endnode</a:t>
                      </a:r>
                      <a:r>
                        <a:rPr lang="zh-CN" altLang="en-US" sz="1600" dirty="0"/>
                        <a:t>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953482"/>
                  </a:ext>
                </a:extLst>
              </a:tr>
            </a:tbl>
          </a:graphicData>
        </a:graphic>
      </p:graphicFrame>
      <p:sp>
        <p:nvSpPr>
          <p:cNvPr id="8" name="标题 1">
            <a:extLst>
              <a:ext uri="{FF2B5EF4-FFF2-40B4-BE49-F238E27FC236}">
                <a16:creationId xmlns:a16="http://schemas.microsoft.com/office/drawing/2014/main" id="{F52C39C1-3E7B-4062-B783-A84273FF4CEC}"/>
              </a:ext>
            </a:extLst>
          </p:cNvPr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lvl="0" algn="r">
              <a:defRPr/>
            </a:pPr>
            <a:r>
              <a:rPr lang="en-US" altLang="zh-CN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Neo4j--CQL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itchFamily="34" charset="0"/>
              <a:ea typeface="黑体" pitchFamily="2" charset="-122"/>
              <a:cs typeface="+mn-cs"/>
            </a:endParaRPr>
          </a:p>
        </p:txBody>
      </p:sp>
      <p:sp>
        <p:nvSpPr>
          <p:cNvPr id="10" name="灯片编号占位符 5">
            <a:extLst>
              <a:ext uri="{FF2B5EF4-FFF2-40B4-BE49-F238E27FC236}">
                <a16:creationId xmlns:a16="http://schemas.microsoft.com/office/drawing/2014/main" id="{78F2C092-2368-4033-B2EE-64D226342DEC}"/>
              </a:ext>
            </a:extLst>
          </p:cNvPr>
          <p:cNvSpPr txBox="1">
            <a:spLocks noGrp="1"/>
          </p:cNvSpPr>
          <p:nvPr/>
        </p:nvSpPr>
        <p:spPr bwMode="auto">
          <a:xfrm>
            <a:off x="10287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41507284-0812-45A7-8B30-66F2C5187041}" type="slidenum">
              <a:rPr kumimoji="0" lang="zh-CN" altLang="en-US" sz="1400" b="0">
                <a:latin typeface="Tahoma" panose="020B0604030504040204" pitchFamily="34" charset="0"/>
              </a:rPr>
              <a:pPr algn="r" eaLnBrk="1" hangingPunct="1"/>
              <a:t>10</a:t>
            </a:fld>
            <a:endParaRPr kumimoji="0" lang="en-US" altLang="zh-CN" sz="1400" b="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0948219"/>
      </p:ext>
    </p:extLst>
  </p:cSld>
  <p:clrMapOvr>
    <a:masterClrMapping/>
  </p:clrMapOvr>
  <p:transition advTm="5937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055440" y="1412777"/>
            <a:ext cx="33265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二、</a:t>
            </a:r>
            <a:r>
              <a:rPr lang="en-US" altLang="zh-CN" dirty="0"/>
              <a:t>CQL</a:t>
            </a:r>
            <a:r>
              <a:rPr lang="zh-CN" altLang="en-US" dirty="0"/>
              <a:t>常用命令使用</a:t>
            </a:r>
            <a:endParaRPr lang="en-US" altLang="zh-CN" dirty="0"/>
          </a:p>
        </p:txBody>
      </p:sp>
      <p:sp>
        <p:nvSpPr>
          <p:cNvPr id="11" name="文本框 10"/>
          <p:cNvSpPr txBox="1"/>
          <p:nvPr/>
        </p:nvSpPr>
        <p:spPr>
          <a:xfrm>
            <a:off x="2548726" y="1844824"/>
            <a:ext cx="6355586" cy="267765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cs typeface="Times New Roman" panose="02020603050405020304" pitchFamily="18" charset="0"/>
              </a:rPr>
              <a:t>1、CREATE</a:t>
            </a:r>
            <a:r>
              <a:rPr lang="zh-CN" altLang="en-US" sz="2000" dirty="0">
                <a:cs typeface="Times New Roman" panose="02020603050405020304" pitchFamily="18" charset="0"/>
              </a:rPr>
              <a:t>：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r>
              <a:rPr lang="en-US" altLang="zh-CN" sz="1800" b="0" dirty="0">
                <a:ea typeface="+mn-ea"/>
                <a:cs typeface="Times New Roman" panose="02020603050405020304" pitchFamily="18" charset="0"/>
              </a:rPr>
              <a:t>	</a:t>
            </a:r>
            <a:r>
              <a:rPr lang="zh-CN" altLang="en-US" sz="1800" b="0" dirty="0">
                <a:ea typeface="+mn-ea"/>
                <a:cs typeface="Times New Roman" panose="02020603050405020304" pitchFamily="18" charset="0"/>
              </a:rPr>
              <a:t>语法：</a:t>
            </a:r>
            <a:endParaRPr lang="en-US" altLang="zh-CN" sz="1800" b="0" dirty="0">
              <a:ea typeface="+mn-ea"/>
              <a:cs typeface="Times New Roman" panose="02020603050405020304" pitchFamily="18" charset="0"/>
            </a:endParaRPr>
          </a:p>
          <a:p>
            <a:r>
              <a:rPr lang="en-US" altLang="zh-CN" sz="18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	</a:t>
            </a:r>
            <a:r>
              <a:rPr lang="en-US" altLang="zh-CN" sz="14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CREATE</a:t>
            </a:r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 (&lt;node-name&gt;:&lt;label-name1&gt;:…:&lt;label-</a:t>
            </a:r>
            <a:r>
              <a:rPr lang="en-US" altLang="zh-CN" sz="1400" b="0" dirty="0" err="1">
                <a:ea typeface="+mn-ea"/>
                <a:cs typeface="Times New Roman" panose="02020603050405020304" pitchFamily="18" charset="0"/>
              </a:rPr>
              <a:t>namen</a:t>
            </a:r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&gt;)     </a:t>
            </a:r>
            <a:r>
              <a:rPr lang="zh-CN" altLang="en-US" sz="1400" b="0" dirty="0">
                <a:ea typeface="+mn-ea"/>
                <a:cs typeface="Times New Roman" panose="02020603050405020304" pitchFamily="18" charset="0"/>
              </a:rPr>
              <a:t>不带属性</a:t>
            </a:r>
            <a:endParaRPr lang="en-US" altLang="zh-CN" sz="1400" b="0" dirty="0">
              <a:ea typeface="+mn-ea"/>
              <a:cs typeface="Times New Roman" panose="02020603050405020304" pitchFamily="18" charset="0"/>
            </a:endParaRPr>
          </a:p>
          <a:p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	</a:t>
            </a:r>
            <a:r>
              <a:rPr lang="en-US" altLang="zh-CN" sz="14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CREATE</a:t>
            </a:r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 (</a:t>
            </a:r>
          </a:p>
          <a:p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   	      &lt;node-name&gt;:&lt;label-name&gt;</a:t>
            </a:r>
          </a:p>
          <a:p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   	     {    </a:t>
            </a:r>
          </a:p>
          <a:p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      		&lt;key&gt;:&lt;Value&gt;</a:t>
            </a:r>
          </a:p>
          <a:p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     		........</a:t>
            </a:r>
          </a:p>
          <a:p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      		&lt;n-key&gt;:&lt;n-Value&gt;</a:t>
            </a:r>
          </a:p>
          <a:p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  	       }</a:t>
            </a:r>
          </a:p>
          <a:p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	  )</a:t>
            </a:r>
            <a:endParaRPr lang="zh-CN" altLang="en-US" sz="1400" b="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4303159" y="3284984"/>
            <a:ext cx="1792842" cy="864096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 b="0">
              <a:latin typeface="Tahoma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67608" y="4437112"/>
            <a:ext cx="666791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0" dirty="0">
                <a:latin typeface="+mn-ea"/>
                <a:ea typeface="+mn-ea"/>
              </a:rPr>
              <a:t>示例：</a:t>
            </a:r>
            <a:endParaRPr lang="en-US" altLang="zh-CN" sz="1400" b="0" dirty="0">
              <a:latin typeface="+mn-ea"/>
              <a:ea typeface="+mn-ea"/>
            </a:endParaRPr>
          </a:p>
          <a:p>
            <a:endParaRPr lang="en-US" altLang="zh-CN" sz="1400" b="0" dirty="0"/>
          </a:p>
          <a:p>
            <a:r>
              <a:rPr lang="en-US" altLang="zh-CN" sz="1400" b="0" dirty="0">
                <a:solidFill>
                  <a:srgbClr val="FF0000"/>
                </a:solidFill>
                <a:cs typeface="Times New Roman" panose="02020603050405020304" pitchFamily="18" charset="0"/>
              </a:rPr>
              <a:t>CREATE</a:t>
            </a:r>
            <a:r>
              <a:rPr lang="en-US" altLang="zh-CN" sz="1400" b="0" dirty="0">
                <a:cs typeface="Times New Roman" panose="02020603050405020304" pitchFamily="18" charset="0"/>
              </a:rPr>
              <a:t> (neu : University {name:"NEU",location:"Liaoning,China",level:"985,211,B"} )</a:t>
            </a:r>
            <a:endParaRPr lang="zh-CN" altLang="en-US" sz="1400" b="0" dirty="0">
              <a:cs typeface="Times New Roman" panose="02020603050405020304" pitchFamily="18" charset="0"/>
            </a:endParaRPr>
          </a:p>
        </p:txBody>
      </p:sp>
      <p:cxnSp>
        <p:nvCxnSpPr>
          <p:cNvPr id="8" name="直接箭头连接符 7"/>
          <p:cNvCxnSpPr/>
          <p:nvPr/>
        </p:nvCxnSpPr>
        <p:spPr bwMode="auto">
          <a:xfrm flipV="1">
            <a:off x="3575720" y="5085184"/>
            <a:ext cx="0" cy="64807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3252555" y="5640053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节点名</a:t>
            </a:r>
          </a:p>
        </p:txBody>
      </p:sp>
      <p:cxnSp>
        <p:nvCxnSpPr>
          <p:cNvPr id="16" name="直接箭头连接符 15"/>
          <p:cNvCxnSpPr/>
          <p:nvPr/>
        </p:nvCxnSpPr>
        <p:spPr bwMode="auto">
          <a:xfrm flipV="1">
            <a:off x="4339114" y="5085184"/>
            <a:ext cx="0" cy="64807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4098825" y="5648357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标签</a:t>
            </a:r>
          </a:p>
        </p:txBody>
      </p:sp>
      <p:sp>
        <p:nvSpPr>
          <p:cNvPr id="15" name="矩形 14"/>
          <p:cNvSpPr/>
          <p:nvPr/>
        </p:nvSpPr>
        <p:spPr bwMode="auto">
          <a:xfrm>
            <a:off x="4655840" y="4869160"/>
            <a:ext cx="4320480" cy="306616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 b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cxnSp>
        <p:nvCxnSpPr>
          <p:cNvPr id="19" name="直接箭头连接符 18"/>
          <p:cNvCxnSpPr/>
          <p:nvPr/>
        </p:nvCxnSpPr>
        <p:spPr bwMode="auto">
          <a:xfrm flipV="1">
            <a:off x="6816080" y="5138784"/>
            <a:ext cx="0" cy="501268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6262082" y="5639913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属性名及属性值</a:t>
            </a:r>
          </a:p>
        </p:txBody>
      </p:sp>
      <p:cxnSp>
        <p:nvCxnSpPr>
          <p:cNvPr id="22" name="直接箭头连接符 21"/>
          <p:cNvCxnSpPr/>
          <p:nvPr/>
        </p:nvCxnSpPr>
        <p:spPr bwMode="auto">
          <a:xfrm flipH="1">
            <a:off x="6096002" y="3717032"/>
            <a:ext cx="936103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6960097" y="3578533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0" dirty="0">
                <a:latin typeface="+mn-ea"/>
                <a:ea typeface="+mn-ea"/>
              </a:rPr>
              <a:t>带属性</a:t>
            </a:r>
          </a:p>
        </p:txBody>
      </p:sp>
      <p:sp>
        <p:nvSpPr>
          <p:cNvPr id="24" name="矩形 23"/>
          <p:cNvSpPr/>
          <p:nvPr/>
        </p:nvSpPr>
        <p:spPr bwMode="auto">
          <a:xfrm>
            <a:off x="5414022" y="2530217"/>
            <a:ext cx="2482178" cy="241285"/>
          </a:xfrm>
          <a:prstGeom prst="rect">
            <a:avLst/>
          </a:prstGeom>
          <a:noFill/>
          <a:ln w="3175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 b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cxnSp>
        <p:nvCxnSpPr>
          <p:cNvPr id="26" name="直接箭头连接符 25"/>
          <p:cNvCxnSpPr/>
          <p:nvPr/>
        </p:nvCxnSpPr>
        <p:spPr bwMode="auto">
          <a:xfrm flipH="1">
            <a:off x="5735961" y="2204864"/>
            <a:ext cx="360041" cy="32535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6006087" y="2016289"/>
            <a:ext cx="198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0" dirty="0">
                <a:latin typeface="+mn-ea"/>
                <a:ea typeface="+mn-ea"/>
              </a:rPr>
              <a:t>一个节点可以多个标签</a:t>
            </a:r>
          </a:p>
        </p:txBody>
      </p:sp>
      <p:sp>
        <p:nvSpPr>
          <p:cNvPr id="25" name="标题 1">
            <a:extLst>
              <a:ext uri="{FF2B5EF4-FFF2-40B4-BE49-F238E27FC236}">
                <a16:creationId xmlns:a16="http://schemas.microsoft.com/office/drawing/2014/main" id="{D051A455-0887-436F-BC45-F7C7C22C6FA1}"/>
              </a:ext>
            </a:extLst>
          </p:cNvPr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lvl="0" algn="r">
              <a:defRPr/>
            </a:pPr>
            <a:r>
              <a:rPr lang="en-US" altLang="zh-CN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Neo4j—</a:t>
            </a:r>
            <a:r>
              <a:rPr lang="zh-CN" altLang="en-US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常用命令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itchFamily="34" charset="0"/>
              <a:ea typeface="黑体" pitchFamily="2" charset="-122"/>
              <a:cs typeface="+mn-cs"/>
            </a:endParaRPr>
          </a:p>
        </p:txBody>
      </p:sp>
      <p:sp>
        <p:nvSpPr>
          <p:cNvPr id="28" name="灯片编号占位符 5">
            <a:extLst>
              <a:ext uri="{FF2B5EF4-FFF2-40B4-BE49-F238E27FC236}">
                <a16:creationId xmlns:a16="http://schemas.microsoft.com/office/drawing/2014/main" id="{23C42545-B60B-4C6D-8A03-8F22B9432F55}"/>
              </a:ext>
            </a:extLst>
          </p:cNvPr>
          <p:cNvSpPr txBox="1">
            <a:spLocks noGrp="1"/>
          </p:cNvSpPr>
          <p:nvPr/>
        </p:nvSpPr>
        <p:spPr bwMode="auto">
          <a:xfrm>
            <a:off x="10287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41507284-0812-45A7-8B30-66F2C5187041}" type="slidenum">
              <a:rPr kumimoji="0" lang="zh-CN" altLang="en-US" sz="1400" b="0">
                <a:latin typeface="Tahoma" panose="020B0604030504040204" pitchFamily="34" charset="0"/>
              </a:rPr>
              <a:pPr algn="r" eaLnBrk="1" hangingPunct="1"/>
              <a:t>11</a:t>
            </a:fld>
            <a:endParaRPr kumimoji="0" lang="en-US" altLang="zh-CN" sz="1400" b="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228697"/>
      </p:ext>
    </p:extLst>
  </p:cSld>
  <p:clrMapOvr>
    <a:masterClrMapping/>
  </p:clrMapOvr>
  <p:transition advTm="5937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055440" y="1412777"/>
            <a:ext cx="33265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二、</a:t>
            </a:r>
            <a:r>
              <a:rPr lang="en-US" altLang="zh-CN" dirty="0"/>
              <a:t>CQL</a:t>
            </a:r>
            <a:r>
              <a:rPr lang="zh-CN" altLang="en-US" dirty="0"/>
              <a:t>常用命令使用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567609" y="1844825"/>
            <a:ext cx="489127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cs typeface="Times New Roman" panose="02020603050405020304" pitchFamily="18" charset="0"/>
              </a:rPr>
              <a:t>2、MATCH</a:t>
            </a:r>
            <a:r>
              <a:rPr lang="zh-CN" altLang="en-US" sz="2000" dirty="0">
                <a:cs typeface="Times New Roman" panose="02020603050405020304" pitchFamily="18" charset="0"/>
              </a:rPr>
              <a:t>：获取有关节点和属性的数据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r>
              <a:rPr lang="en-US" altLang="zh-CN" sz="1800" b="0" dirty="0">
                <a:ea typeface="+mn-ea"/>
                <a:cs typeface="Times New Roman" panose="02020603050405020304" pitchFamily="18" charset="0"/>
              </a:rPr>
              <a:t>	</a:t>
            </a:r>
            <a:r>
              <a:rPr lang="zh-CN" altLang="en-US" sz="1800" b="0" dirty="0">
                <a:ea typeface="+mn-ea"/>
                <a:cs typeface="Times New Roman" panose="02020603050405020304" pitchFamily="18" charset="0"/>
              </a:rPr>
              <a:t>语法：</a:t>
            </a:r>
            <a:endParaRPr lang="en-US" altLang="zh-CN" sz="1800" b="0" dirty="0">
              <a:ea typeface="+mn-ea"/>
              <a:cs typeface="Times New Roman" panose="02020603050405020304" pitchFamily="18" charset="0"/>
            </a:endParaRPr>
          </a:p>
          <a:p>
            <a:r>
              <a:rPr lang="en-US" altLang="zh-CN" sz="18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	</a:t>
            </a:r>
            <a:r>
              <a:rPr lang="en-US" altLang="zh-CN" sz="14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MATCH</a:t>
            </a:r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 (&lt;node-name&gt;:&lt;label-name&gt;) 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2567609" y="2852936"/>
            <a:ext cx="5180459" cy="1242720"/>
            <a:chOff x="1043608" y="2852936"/>
            <a:chExt cx="5180459" cy="1242720"/>
          </a:xfrm>
        </p:grpSpPr>
        <p:sp>
          <p:nvSpPr>
            <p:cNvPr id="6" name="文本框 5"/>
            <p:cNvSpPr txBox="1"/>
            <p:nvPr/>
          </p:nvSpPr>
          <p:spPr>
            <a:xfrm>
              <a:off x="1043608" y="2852936"/>
              <a:ext cx="213488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0" dirty="0">
                  <a:latin typeface="+mn-ea"/>
                  <a:ea typeface="+mn-ea"/>
                </a:rPr>
                <a:t>示例：</a:t>
              </a:r>
              <a:endParaRPr lang="en-US" altLang="zh-CN" sz="1400" b="0" dirty="0"/>
            </a:p>
            <a:p>
              <a:r>
                <a:rPr lang="en-US" altLang="zh-CN" sz="1400" b="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MATCH</a:t>
              </a:r>
              <a:r>
                <a:rPr lang="en-US" altLang="zh-CN" sz="1400" b="0" dirty="0">
                  <a:cs typeface="Times New Roman" panose="02020603050405020304" pitchFamily="18" charset="0"/>
                </a:rPr>
                <a:t> (neu : University)</a:t>
              </a:r>
              <a:endParaRPr lang="zh-CN" altLang="en-US" sz="1400" b="0" dirty="0">
                <a:cs typeface="Times New Roman" panose="02020603050405020304" pitchFamily="18" charset="0"/>
              </a:endParaRPr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1187624" y="3356992"/>
              <a:ext cx="5036443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注：单独使用会报错，应结合</a:t>
              </a:r>
              <a:r>
                <a:rPr lang="en-US" altLang="zh-CN" sz="14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RETURN </a:t>
              </a:r>
              <a:r>
                <a:rPr lang="zh-CN" altLang="en-US" sz="14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或 </a:t>
              </a:r>
              <a:r>
                <a:rPr lang="en-US" altLang="zh-CN" sz="14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UPDATE </a:t>
              </a:r>
              <a:r>
                <a:rPr lang="zh-CN" altLang="en-US" sz="1400" dirty="0"/>
                <a:t>命令使用</a:t>
              </a:r>
              <a:endParaRPr lang="en-US" altLang="zh-CN" sz="1400" dirty="0"/>
            </a:p>
            <a:p>
              <a:r>
                <a:rPr lang="zh-CN" altLang="en-US" sz="1400" b="0" dirty="0">
                  <a:cs typeface="Times New Roman" panose="02020603050405020304" pitchFamily="18" charset="0"/>
                </a:rPr>
                <a:t>        如下：</a:t>
              </a:r>
              <a:endParaRPr lang="en-US" altLang="zh-CN" sz="1400" b="0" dirty="0">
                <a:cs typeface="Times New Roman" panose="02020603050405020304" pitchFamily="18" charset="0"/>
              </a:endParaRPr>
            </a:p>
            <a:p>
              <a:r>
                <a:rPr lang="en-US" altLang="zh-CN" sz="1400" b="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       MATCH</a:t>
              </a:r>
              <a:r>
                <a:rPr lang="en-US" altLang="zh-CN" sz="1400" b="0" dirty="0">
                  <a:cs typeface="Times New Roman" panose="02020603050405020304" pitchFamily="18" charset="0"/>
                </a:rPr>
                <a:t> (neu : University) </a:t>
              </a:r>
              <a:r>
                <a:rPr lang="en-US" altLang="zh-CN" sz="1400" b="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RETURN</a:t>
              </a:r>
              <a:r>
                <a:rPr lang="en-US" altLang="zh-CN" sz="1400" b="0" dirty="0">
                  <a:cs typeface="Times New Roman" panose="02020603050405020304" pitchFamily="18" charset="0"/>
                </a:rPr>
                <a:t> neu</a:t>
              </a:r>
              <a:endParaRPr lang="zh-CN" altLang="en-US" sz="1400" b="0" dirty="0"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2567609" y="4059069"/>
            <a:ext cx="4238661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cs typeface="Times New Roman" panose="02020603050405020304" pitchFamily="18" charset="0"/>
              </a:rPr>
              <a:t>3、RETURN：</a:t>
            </a:r>
            <a:r>
              <a:rPr lang="zh-CN" altLang="en-US" sz="2000" dirty="0">
                <a:cs typeface="Times New Roman" panose="02020603050405020304" pitchFamily="18" charset="0"/>
              </a:rPr>
              <a:t>检索节点或关系属性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r>
              <a:rPr lang="en-US" altLang="zh-CN" sz="1800" b="0" dirty="0">
                <a:ea typeface="+mn-ea"/>
                <a:cs typeface="Times New Roman" panose="02020603050405020304" pitchFamily="18" charset="0"/>
              </a:rPr>
              <a:t>	</a:t>
            </a:r>
            <a:r>
              <a:rPr lang="zh-CN" altLang="en-US" sz="1800" b="0" dirty="0">
                <a:ea typeface="+mn-ea"/>
                <a:cs typeface="Times New Roman" panose="02020603050405020304" pitchFamily="18" charset="0"/>
              </a:rPr>
              <a:t>语法：</a:t>
            </a:r>
            <a:endParaRPr lang="en-US" altLang="zh-CN" sz="1800" b="0" dirty="0">
              <a:ea typeface="+mn-ea"/>
              <a:cs typeface="Times New Roman" panose="02020603050405020304" pitchFamily="18" charset="0"/>
            </a:endParaRPr>
          </a:p>
          <a:p>
            <a:r>
              <a:rPr lang="en-US" altLang="zh-CN" sz="18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	</a:t>
            </a:r>
            <a:r>
              <a:rPr lang="en-US" altLang="zh-CN" sz="14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RETURN </a:t>
            </a:r>
          </a:p>
          <a:p>
            <a:pPr lvl="2"/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   &lt;node-name&gt;.&lt;property1-name&gt;,</a:t>
            </a:r>
          </a:p>
          <a:p>
            <a:pPr lvl="2"/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   ........</a:t>
            </a:r>
          </a:p>
          <a:p>
            <a:pPr lvl="2"/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   &lt;node-name&gt;.&lt;propertyn-name&gt;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2567608" y="5570656"/>
            <a:ext cx="53040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0" dirty="0">
                <a:latin typeface="+mn-ea"/>
                <a:ea typeface="+mn-ea"/>
              </a:rPr>
              <a:t>示例：</a:t>
            </a:r>
            <a:endParaRPr lang="en-US" altLang="zh-CN" sz="1400" b="0" dirty="0"/>
          </a:p>
          <a:p>
            <a:r>
              <a:rPr lang="en-US" altLang="zh-CN" sz="1400" b="0" dirty="0">
                <a:solidFill>
                  <a:srgbClr val="FF0000"/>
                </a:solidFill>
                <a:cs typeface="Times New Roman" panose="02020603050405020304" pitchFamily="18" charset="0"/>
              </a:rPr>
              <a:t>MATCH</a:t>
            </a:r>
            <a:r>
              <a:rPr lang="en-US" altLang="zh-CN" sz="1400" b="0" dirty="0">
                <a:cs typeface="Times New Roman" panose="02020603050405020304" pitchFamily="18" charset="0"/>
              </a:rPr>
              <a:t> (neu : University) </a:t>
            </a:r>
            <a:r>
              <a:rPr lang="en-US" altLang="zh-CN" sz="1400" b="0" dirty="0">
                <a:solidFill>
                  <a:srgbClr val="FF0000"/>
                </a:solidFill>
                <a:cs typeface="Times New Roman" panose="02020603050405020304" pitchFamily="18" charset="0"/>
              </a:rPr>
              <a:t>RETURN</a:t>
            </a:r>
            <a:r>
              <a:rPr lang="en-US" altLang="zh-CN" sz="1400" b="0" dirty="0">
                <a:cs typeface="Times New Roman" panose="02020603050405020304" pitchFamily="18" charset="0"/>
              </a:rPr>
              <a:t> neu.name, neu.location, neu.level</a:t>
            </a:r>
            <a:endParaRPr lang="zh-CN" altLang="en-US" sz="1400" b="0" dirty="0"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2567608" y="2852936"/>
            <a:ext cx="2304256" cy="504056"/>
          </a:xfrm>
          <a:prstGeom prst="rect">
            <a:avLst/>
          </a:prstGeom>
          <a:noFill/>
          <a:ln w="1270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 b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7" name="矩形 26"/>
          <p:cNvSpPr/>
          <p:nvPr/>
        </p:nvSpPr>
        <p:spPr bwMode="auto">
          <a:xfrm>
            <a:off x="2550655" y="5629760"/>
            <a:ext cx="5320969" cy="504056"/>
          </a:xfrm>
          <a:prstGeom prst="rect">
            <a:avLst/>
          </a:prstGeom>
          <a:noFill/>
          <a:ln w="1270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 b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A7559C2B-B7E0-444F-8370-D10174041CF5}"/>
              </a:ext>
            </a:extLst>
          </p:cNvPr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lvl="0" algn="r">
              <a:defRPr/>
            </a:pPr>
            <a:r>
              <a:rPr lang="en-US" altLang="zh-CN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Neo4j—</a:t>
            </a:r>
            <a:r>
              <a:rPr lang="zh-CN" altLang="en-US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常用命令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itchFamily="34" charset="0"/>
              <a:ea typeface="黑体" pitchFamily="2" charset="-122"/>
              <a:cs typeface="+mn-cs"/>
            </a:endParaRPr>
          </a:p>
        </p:txBody>
      </p:sp>
      <p:sp>
        <p:nvSpPr>
          <p:cNvPr id="15" name="灯片编号占位符 5">
            <a:extLst>
              <a:ext uri="{FF2B5EF4-FFF2-40B4-BE49-F238E27FC236}">
                <a16:creationId xmlns:a16="http://schemas.microsoft.com/office/drawing/2014/main" id="{B4D03892-CD3F-44D5-976B-AAD41A878311}"/>
              </a:ext>
            </a:extLst>
          </p:cNvPr>
          <p:cNvSpPr txBox="1">
            <a:spLocks noGrp="1"/>
          </p:cNvSpPr>
          <p:nvPr/>
        </p:nvSpPr>
        <p:spPr bwMode="auto">
          <a:xfrm>
            <a:off x="10287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41507284-0812-45A7-8B30-66F2C5187041}" type="slidenum">
              <a:rPr kumimoji="0" lang="zh-CN" altLang="en-US" sz="1400" b="0">
                <a:latin typeface="Tahoma" panose="020B0604030504040204" pitchFamily="34" charset="0"/>
              </a:rPr>
              <a:pPr algn="r" eaLnBrk="1" hangingPunct="1"/>
              <a:t>12</a:t>
            </a:fld>
            <a:endParaRPr kumimoji="0" lang="en-US" altLang="zh-CN" sz="1400" b="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6043190"/>
      </p:ext>
    </p:extLst>
  </p:cSld>
  <p:clrMapOvr>
    <a:masterClrMapping/>
  </p:clrMapOvr>
  <p:transition advTm="5937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055440" y="1412777"/>
            <a:ext cx="33265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二、</a:t>
            </a:r>
            <a:r>
              <a:rPr lang="en-US" altLang="zh-CN" dirty="0"/>
              <a:t>CQL</a:t>
            </a:r>
            <a:r>
              <a:rPr lang="zh-CN" altLang="en-US" dirty="0"/>
              <a:t>常用命令使用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567608" y="1844825"/>
            <a:ext cx="6865982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cs typeface="Times New Roman" panose="02020603050405020304" pitchFamily="18" charset="0"/>
              </a:rPr>
              <a:t>4、</a:t>
            </a:r>
            <a:r>
              <a:rPr lang="zh-CN" altLang="en-US" sz="2000" dirty="0">
                <a:cs typeface="Times New Roman" panose="02020603050405020304" pitchFamily="18" charset="0"/>
              </a:rPr>
              <a:t>关系基础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r>
              <a:rPr lang="en-US" altLang="zh-CN" sz="1800" b="0" dirty="0">
                <a:ea typeface="+mn-ea"/>
                <a:cs typeface="Times New Roman" panose="02020603050405020304" pitchFamily="18" charset="0"/>
              </a:rPr>
              <a:t>	</a:t>
            </a:r>
            <a:r>
              <a:rPr lang="zh-CN" altLang="en-US" sz="1800" b="0" dirty="0">
                <a:ea typeface="+mn-ea"/>
                <a:cs typeface="Times New Roman" panose="02020603050405020304" pitchFamily="18" charset="0"/>
              </a:rPr>
              <a:t>基于方向性，</a:t>
            </a:r>
            <a:r>
              <a:rPr lang="en-US" altLang="zh-CN" sz="1800" b="0" dirty="0">
                <a:ea typeface="+mn-ea"/>
                <a:cs typeface="Times New Roman" panose="02020603050405020304" pitchFamily="18" charset="0"/>
              </a:rPr>
              <a:t>Neo4j</a:t>
            </a:r>
            <a:r>
              <a:rPr lang="zh-CN" altLang="en-US" sz="1800" b="0" dirty="0">
                <a:ea typeface="+mn-ea"/>
                <a:cs typeface="Times New Roman" panose="02020603050405020304" pitchFamily="18" charset="0"/>
              </a:rPr>
              <a:t>关系被分为</a:t>
            </a:r>
            <a:r>
              <a:rPr lang="zh-CN" altLang="en-US" sz="18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两种</a:t>
            </a:r>
            <a:r>
              <a:rPr lang="zh-CN" altLang="en-US" sz="1800" b="0" dirty="0">
                <a:ea typeface="+mn-ea"/>
                <a:cs typeface="Times New Roman" panose="02020603050405020304" pitchFamily="18" charset="0"/>
              </a:rPr>
              <a:t>主要类型：</a:t>
            </a:r>
            <a:endParaRPr lang="en-US" altLang="zh-CN" sz="1800" b="0" dirty="0">
              <a:ea typeface="+mn-ea"/>
              <a:cs typeface="Times New Roman" panose="02020603050405020304" pitchFamily="18" charset="0"/>
            </a:endParaRP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zh-CN" altLang="en-US" sz="1800" b="0" dirty="0">
                <a:ea typeface="+mn-ea"/>
                <a:cs typeface="Times New Roman" panose="02020603050405020304" pitchFamily="18" charset="0"/>
              </a:rPr>
              <a:t>单向关系</a:t>
            </a:r>
            <a:endParaRPr lang="en-US" altLang="zh-CN" sz="1800" b="0" dirty="0">
              <a:ea typeface="+mn-ea"/>
              <a:cs typeface="Times New Roman" panose="02020603050405020304" pitchFamily="18" charset="0"/>
            </a:endParaRP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zh-CN" altLang="en-US" sz="1800" b="0" dirty="0">
                <a:ea typeface="+mn-ea"/>
                <a:cs typeface="Times New Roman" panose="02020603050405020304" pitchFamily="18" charset="0"/>
              </a:rPr>
              <a:t>双向关系</a:t>
            </a:r>
            <a:endParaRPr lang="en-US" altLang="zh-CN" sz="1800" b="0" dirty="0">
              <a:ea typeface="+mn-ea"/>
              <a:cs typeface="Times New Roman" panose="02020603050405020304" pitchFamily="18" charset="0"/>
            </a:endParaRPr>
          </a:p>
          <a:p>
            <a:pPr lvl="3"/>
            <a:endParaRPr lang="en-US" altLang="zh-CN" sz="1800" b="0" dirty="0">
              <a:ea typeface="+mn-ea"/>
              <a:cs typeface="Times New Roman" panose="02020603050405020304" pitchFamily="18" charset="0"/>
            </a:endParaRPr>
          </a:p>
          <a:p>
            <a:pPr lvl="1"/>
            <a:r>
              <a:rPr lang="zh-CN" altLang="en-US" sz="1800" dirty="0">
                <a:ea typeface="+mn-ea"/>
                <a:cs typeface="Times New Roman" panose="02020603050405020304" pitchFamily="18" charset="0"/>
              </a:rPr>
              <a:t>建立节点关系：</a:t>
            </a:r>
            <a:r>
              <a:rPr lang="zh-CN" altLang="en-US" sz="1800" b="0" dirty="0">
                <a:ea typeface="+mn-ea"/>
                <a:cs typeface="Times New Roman" panose="02020603050405020304" pitchFamily="18" charset="0"/>
              </a:rPr>
              <a:t>通过</a:t>
            </a:r>
            <a:r>
              <a:rPr lang="en-US" altLang="zh-CN" sz="18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MATCH</a:t>
            </a:r>
            <a:r>
              <a:rPr lang="zh-CN" altLang="en-US" sz="1800" b="0" dirty="0">
                <a:ea typeface="+mn-ea"/>
                <a:cs typeface="Times New Roman" panose="02020603050405020304" pitchFamily="18" charset="0"/>
              </a:rPr>
              <a:t>和</a:t>
            </a:r>
            <a:r>
              <a:rPr lang="en-US" altLang="zh-CN" sz="18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CREATE</a:t>
            </a:r>
            <a:r>
              <a:rPr lang="zh-CN" altLang="en-US" sz="1800" b="0" dirty="0">
                <a:ea typeface="+mn-ea"/>
                <a:cs typeface="Times New Roman" panose="02020603050405020304" pitchFamily="18" charset="0"/>
              </a:rPr>
              <a:t>命令</a:t>
            </a:r>
            <a:endParaRPr lang="en-US" altLang="zh-CN" sz="1800" b="0" dirty="0">
              <a:ea typeface="+mn-ea"/>
              <a:cs typeface="Times New Roman" panose="02020603050405020304" pitchFamily="18" charset="0"/>
            </a:endParaRPr>
          </a:p>
          <a:p>
            <a:pPr lvl="2"/>
            <a:r>
              <a:rPr lang="zh-CN" altLang="en-US" sz="18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语法：</a:t>
            </a:r>
            <a:endParaRPr lang="en-US" altLang="zh-CN" sz="1800" b="0" dirty="0">
              <a:solidFill>
                <a:srgbClr val="FF0000"/>
              </a:solidFill>
              <a:ea typeface="+mn-ea"/>
              <a:cs typeface="Times New Roman" panose="02020603050405020304" pitchFamily="18" charset="0"/>
            </a:endParaRPr>
          </a:p>
          <a:p>
            <a:pPr lvl="3"/>
            <a:r>
              <a:rPr lang="en-US" altLang="zh-CN" sz="12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MATCH</a:t>
            </a:r>
            <a:r>
              <a:rPr lang="en-US" altLang="zh-CN" sz="1200" b="0" dirty="0">
                <a:ea typeface="+mn-ea"/>
                <a:cs typeface="Times New Roman" panose="02020603050405020304" pitchFamily="18" charset="0"/>
              </a:rPr>
              <a:t> (&lt;</a:t>
            </a:r>
            <a:r>
              <a:rPr lang="en-US" altLang="zh-CN" sz="1200" b="0" dirty="0">
                <a:solidFill>
                  <a:srgbClr val="00B050"/>
                </a:solidFill>
                <a:ea typeface="+mn-ea"/>
                <a:cs typeface="Times New Roman" panose="02020603050405020304" pitchFamily="18" charset="0"/>
              </a:rPr>
              <a:t>node1-name</a:t>
            </a:r>
            <a:r>
              <a:rPr lang="en-US" altLang="zh-CN" sz="1200" b="0" dirty="0">
                <a:ea typeface="+mn-ea"/>
                <a:cs typeface="Times New Roman" panose="02020603050405020304" pitchFamily="18" charset="0"/>
              </a:rPr>
              <a:t>&gt;:&lt;node1-labelname&gt;),(&lt;</a:t>
            </a:r>
            <a:r>
              <a:rPr lang="en-US" altLang="zh-CN" sz="1200" b="0" dirty="0">
                <a:solidFill>
                  <a:srgbClr val="00B0F0"/>
                </a:solidFill>
                <a:ea typeface="+mn-ea"/>
                <a:cs typeface="Times New Roman" panose="02020603050405020304" pitchFamily="18" charset="0"/>
              </a:rPr>
              <a:t>node2-name</a:t>
            </a:r>
            <a:r>
              <a:rPr lang="en-US" altLang="zh-CN" sz="1200" b="0" dirty="0">
                <a:ea typeface="+mn-ea"/>
                <a:cs typeface="Times New Roman" panose="02020603050405020304" pitchFamily="18" charset="0"/>
              </a:rPr>
              <a:t>&gt;:&lt;node2-labelname&gt;)</a:t>
            </a:r>
          </a:p>
          <a:p>
            <a:pPr lvl="3"/>
            <a:r>
              <a:rPr lang="en-US" altLang="zh-CN" sz="12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CREATE</a:t>
            </a:r>
            <a:r>
              <a:rPr lang="en-US" altLang="zh-CN" sz="1200" b="0" dirty="0">
                <a:ea typeface="+mn-ea"/>
                <a:cs typeface="Times New Roman" panose="02020603050405020304" pitchFamily="18" charset="0"/>
              </a:rPr>
              <a:t>  </a:t>
            </a:r>
          </a:p>
          <a:p>
            <a:pPr lvl="3"/>
            <a:r>
              <a:rPr lang="en-US" altLang="zh-CN" sz="1200" b="0" dirty="0">
                <a:ea typeface="+mn-ea"/>
                <a:cs typeface="Times New Roman" panose="02020603050405020304" pitchFamily="18" charset="0"/>
              </a:rPr>
              <a:t>    (&lt;</a:t>
            </a:r>
            <a:r>
              <a:rPr lang="en-US" altLang="zh-CN" sz="1200" b="0" dirty="0">
                <a:solidFill>
                  <a:srgbClr val="00B050"/>
                </a:solidFill>
                <a:ea typeface="+mn-ea"/>
                <a:cs typeface="Times New Roman" panose="02020603050405020304" pitchFamily="18" charset="0"/>
              </a:rPr>
              <a:t>node1-name</a:t>
            </a:r>
            <a:r>
              <a:rPr lang="en-US" altLang="zh-CN" sz="1200" b="0" dirty="0">
                <a:ea typeface="+mn-ea"/>
                <a:cs typeface="Times New Roman" panose="02020603050405020304" pitchFamily="18" charset="0"/>
              </a:rPr>
              <a:t>&gt;) </a:t>
            </a:r>
            <a:r>
              <a:rPr lang="en-US" altLang="zh-CN" sz="1400" dirty="0">
                <a:solidFill>
                  <a:srgbClr val="7030A0"/>
                </a:solidFill>
                <a:ea typeface="+mn-ea"/>
                <a:cs typeface="Times New Roman" panose="02020603050405020304" pitchFamily="18" charset="0"/>
              </a:rPr>
              <a:t>-</a:t>
            </a:r>
            <a:r>
              <a:rPr lang="en-US" altLang="zh-CN" sz="1200" b="0" dirty="0"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ea typeface="+mn-ea"/>
                <a:cs typeface="Times New Roman" panose="02020603050405020304" pitchFamily="18" charset="0"/>
              </a:rPr>
              <a:t>[</a:t>
            </a:r>
            <a:r>
              <a:rPr lang="en-US" altLang="zh-CN" sz="1200" dirty="0">
                <a:ea typeface="+mn-ea"/>
                <a:cs typeface="Times New Roman" panose="02020603050405020304" pitchFamily="18" charset="0"/>
              </a:rPr>
              <a:t>&lt;</a:t>
            </a:r>
            <a:r>
              <a:rPr lang="en-US" altLang="zh-CN" sz="1400" dirty="0">
                <a:ea typeface="+mn-ea"/>
                <a:cs typeface="Times New Roman" panose="02020603050405020304" pitchFamily="18" charset="0"/>
              </a:rPr>
              <a:t>relationship-name&gt;:&lt;relationship-label-name</a:t>
            </a:r>
            <a:r>
              <a:rPr lang="en-US" altLang="zh-CN" sz="1200" dirty="0">
                <a:ea typeface="+mn-ea"/>
                <a:cs typeface="Times New Roman" panose="02020603050405020304" pitchFamily="18" charset="0"/>
              </a:rPr>
              <a:t>&gt;</a:t>
            </a:r>
          </a:p>
          <a:p>
            <a:pPr lvl="3"/>
            <a:r>
              <a:rPr lang="en-US" altLang="zh-CN" sz="1200" dirty="0">
                <a:ea typeface="+mn-ea"/>
                <a:cs typeface="Times New Roman" panose="02020603050405020304" pitchFamily="18" charset="0"/>
              </a:rPr>
              <a:t>    {&lt;define-properties-list&gt;}</a:t>
            </a:r>
            <a:r>
              <a:rPr lang="en-US" altLang="zh-CN" sz="1600" dirty="0">
                <a:ea typeface="+mn-ea"/>
                <a:cs typeface="Times New Roman" panose="02020603050405020304" pitchFamily="18" charset="0"/>
              </a:rPr>
              <a:t>] </a:t>
            </a:r>
            <a:r>
              <a:rPr lang="en-US" altLang="zh-CN" sz="1400" dirty="0">
                <a:solidFill>
                  <a:srgbClr val="7030A0"/>
                </a:solidFill>
                <a:ea typeface="+mn-ea"/>
                <a:cs typeface="Times New Roman" panose="02020603050405020304" pitchFamily="18" charset="0"/>
              </a:rPr>
              <a:t>-&gt;</a:t>
            </a:r>
            <a:r>
              <a:rPr lang="en-US" altLang="zh-CN" sz="12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1200" b="0" dirty="0">
                <a:ea typeface="+mn-ea"/>
                <a:cs typeface="Times New Roman" panose="02020603050405020304" pitchFamily="18" charset="0"/>
              </a:rPr>
              <a:t>(&lt;</a:t>
            </a:r>
            <a:r>
              <a:rPr lang="en-US" altLang="zh-CN" sz="1200" b="0" dirty="0">
                <a:solidFill>
                  <a:srgbClr val="00B0F0"/>
                </a:solidFill>
                <a:ea typeface="+mn-ea"/>
                <a:cs typeface="Times New Roman" panose="02020603050405020304" pitchFamily="18" charset="0"/>
              </a:rPr>
              <a:t>node2-name</a:t>
            </a:r>
            <a:r>
              <a:rPr lang="en-US" altLang="zh-CN" sz="1200" b="0" dirty="0">
                <a:ea typeface="+mn-ea"/>
                <a:cs typeface="Times New Roman" panose="02020603050405020304" pitchFamily="18" charset="0"/>
              </a:rPr>
              <a:t>&gt;)</a:t>
            </a:r>
          </a:p>
          <a:p>
            <a:pPr lvl="3"/>
            <a:r>
              <a:rPr lang="en-US" altLang="zh-CN" sz="12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RETURN</a:t>
            </a:r>
            <a:r>
              <a:rPr lang="en-US" altLang="zh-CN" sz="1200" b="0" dirty="0">
                <a:ea typeface="+mn-ea"/>
                <a:cs typeface="Times New Roman" panose="02020603050405020304" pitchFamily="18" charset="0"/>
              </a:rPr>
              <a:t> &lt;relationship-name&gt;	</a:t>
            </a:r>
            <a:endParaRPr lang="en-US" altLang="zh-CN" sz="1050" b="0" dirty="0"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7" name="直接箭头连接符 6"/>
          <p:cNvCxnSpPr/>
          <p:nvPr/>
        </p:nvCxnSpPr>
        <p:spPr bwMode="auto">
          <a:xfrm flipH="1">
            <a:off x="4079776" y="4653136"/>
            <a:ext cx="1944216" cy="64807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889642" y="5301208"/>
            <a:ext cx="73465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0" dirty="0">
                <a:ea typeface="+mn-ea"/>
                <a:cs typeface="Times New Roman" panose="02020603050405020304" pitchFamily="18" charset="0"/>
              </a:rPr>
              <a:t>CREATE </a:t>
            </a:r>
            <a:r>
              <a:rPr lang="zh-CN" altLang="en-US" sz="1600" b="0" dirty="0">
                <a:ea typeface="+mn-ea"/>
                <a:cs typeface="Times New Roman" panose="02020603050405020304" pitchFamily="18" charset="0"/>
              </a:rPr>
              <a:t>一次执行语句只可创建单向边，如现实中的</a:t>
            </a:r>
            <a:r>
              <a:rPr lang="en-US" altLang="zh-CN" sz="1600" b="0" dirty="0">
                <a:ea typeface="+mn-ea"/>
                <a:cs typeface="Times New Roman" panose="02020603050405020304" pitchFamily="18" charset="0"/>
              </a:rPr>
              <a:t>”</a:t>
            </a:r>
            <a:r>
              <a:rPr lang="zh-CN" altLang="en-US" sz="1600" b="0" dirty="0">
                <a:ea typeface="+mn-ea"/>
                <a:cs typeface="Times New Roman" panose="02020603050405020304" pitchFamily="18" charset="0"/>
              </a:rPr>
              <a:t>父子关系</a:t>
            </a:r>
            <a:r>
              <a:rPr lang="en-US" altLang="zh-CN" sz="1600" b="0" dirty="0">
                <a:ea typeface="+mn-ea"/>
                <a:cs typeface="Times New Roman" panose="02020603050405020304" pitchFamily="18" charset="0"/>
              </a:rPr>
              <a:t>”</a:t>
            </a:r>
            <a:r>
              <a:rPr lang="zh-CN" altLang="en-US" sz="1600" b="0" dirty="0">
                <a:ea typeface="+mn-ea"/>
                <a:cs typeface="Times New Roman" panose="02020603050405020304" pitchFamily="18" charset="0"/>
              </a:rPr>
              <a:t>只能是单向的。</a:t>
            </a: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C26DA664-8CBC-48DC-ABEA-F380B8378F5F}"/>
              </a:ext>
            </a:extLst>
          </p:cNvPr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lvl="0" algn="r">
              <a:defRPr/>
            </a:pPr>
            <a:r>
              <a:rPr lang="en-US" altLang="zh-CN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Neo4j—</a:t>
            </a:r>
            <a:r>
              <a:rPr lang="zh-CN" altLang="en-US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常用命令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itchFamily="34" charset="0"/>
              <a:ea typeface="黑体" pitchFamily="2" charset="-122"/>
              <a:cs typeface="+mn-cs"/>
            </a:endParaRPr>
          </a:p>
        </p:txBody>
      </p:sp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id="{986E7475-E4CF-4D01-9E08-E5C7B175A37B}"/>
              </a:ext>
            </a:extLst>
          </p:cNvPr>
          <p:cNvSpPr txBox="1">
            <a:spLocks noGrp="1"/>
          </p:cNvSpPr>
          <p:nvPr/>
        </p:nvSpPr>
        <p:spPr bwMode="auto">
          <a:xfrm>
            <a:off x="10287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41507284-0812-45A7-8B30-66F2C5187041}" type="slidenum">
              <a:rPr kumimoji="0" lang="zh-CN" altLang="en-US" sz="1400" b="0">
                <a:latin typeface="Tahoma" panose="020B0604030504040204" pitchFamily="34" charset="0"/>
              </a:rPr>
              <a:pPr algn="r" eaLnBrk="1" hangingPunct="1"/>
              <a:t>13</a:t>
            </a:fld>
            <a:endParaRPr kumimoji="0" lang="en-US" altLang="zh-CN" sz="1400" b="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767791"/>
      </p:ext>
    </p:extLst>
  </p:cSld>
  <p:clrMapOvr>
    <a:masterClrMapping/>
  </p:clrMapOvr>
  <p:transition advTm="5937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055440" y="1412777"/>
            <a:ext cx="33265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二、</a:t>
            </a:r>
            <a:r>
              <a:rPr lang="en-US" altLang="zh-CN" dirty="0"/>
              <a:t>CQL</a:t>
            </a:r>
            <a:r>
              <a:rPr lang="zh-CN" altLang="en-US" dirty="0"/>
              <a:t>常用命令使用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567609" y="1844824"/>
            <a:ext cx="6285695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cs typeface="Times New Roman" panose="02020603050405020304" pitchFamily="18" charset="0"/>
              </a:rPr>
              <a:t>5、WHERE</a:t>
            </a:r>
            <a:r>
              <a:rPr lang="zh-CN" altLang="en-US" sz="2000" dirty="0">
                <a:cs typeface="Times New Roman" panose="02020603050405020304" pitchFamily="18" charset="0"/>
              </a:rPr>
              <a:t>：用于过滤</a:t>
            </a:r>
            <a:r>
              <a:rPr lang="en-US" altLang="zh-CN" sz="2000" dirty="0">
                <a:cs typeface="Times New Roman" panose="02020603050405020304" pitchFamily="18" charset="0"/>
              </a:rPr>
              <a:t>MATCH</a:t>
            </a:r>
            <a:r>
              <a:rPr lang="zh-CN" altLang="en-US" sz="2000" dirty="0">
                <a:cs typeface="Times New Roman" panose="02020603050405020304" pitchFamily="18" charset="0"/>
              </a:rPr>
              <a:t>的查询结果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r>
              <a:rPr lang="en-US" altLang="zh-CN" sz="1800" b="0" dirty="0">
                <a:ea typeface="+mn-ea"/>
                <a:cs typeface="Times New Roman" panose="02020603050405020304" pitchFamily="18" charset="0"/>
              </a:rPr>
              <a:t>	</a:t>
            </a:r>
            <a:r>
              <a:rPr lang="zh-CN" altLang="en-US" sz="1800" b="0" dirty="0">
                <a:ea typeface="+mn-ea"/>
                <a:cs typeface="Times New Roman" panose="02020603050405020304" pitchFamily="18" charset="0"/>
              </a:rPr>
              <a:t>语法：</a:t>
            </a:r>
            <a:endParaRPr lang="en-US" altLang="zh-CN" sz="1800" b="0" dirty="0">
              <a:ea typeface="+mn-ea"/>
              <a:cs typeface="Times New Roman" panose="02020603050405020304" pitchFamily="18" charset="0"/>
            </a:endParaRPr>
          </a:p>
          <a:p>
            <a:r>
              <a:rPr lang="en-US" altLang="zh-CN" sz="18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	WHERE</a:t>
            </a:r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1800" b="0" dirty="0">
                <a:ea typeface="+mn-ea"/>
                <a:cs typeface="Times New Roman" panose="02020603050405020304" pitchFamily="18" charset="0"/>
              </a:rPr>
              <a:t>&lt;condition&gt; </a:t>
            </a:r>
          </a:p>
          <a:p>
            <a:r>
              <a:rPr lang="en-US" altLang="zh-CN" sz="1800" b="0" dirty="0">
                <a:ea typeface="+mn-ea"/>
                <a:cs typeface="Times New Roman" panose="02020603050405020304" pitchFamily="18" charset="0"/>
              </a:rPr>
              <a:t>	</a:t>
            </a:r>
            <a:r>
              <a:rPr lang="en-US" altLang="zh-CN" sz="18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WHERE</a:t>
            </a:r>
            <a:r>
              <a:rPr lang="en-US" altLang="zh-CN" sz="1800" b="0" dirty="0">
                <a:ea typeface="+mn-ea"/>
                <a:cs typeface="Times New Roman" panose="02020603050405020304" pitchFamily="18" charset="0"/>
              </a:rPr>
              <a:t> &lt;condition&gt; &lt;boolean operation&gt; &lt;condition&gt;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567608" y="3068960"/>
            <a:ext cx="67033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0" dirty="0">
                <a:latin typeface="+mn-ea"/>
                <a:ea typeface="+mn-ea"/>
              </a:rPr>
              <a:t>示例：</a:t>
            </a:r>
            <a:endParaRPr lang="en-US" altLang="zh-CN" sz="1400" b="0" dirty="0"/>
          </a:p>
          <a:p>
            <a:r>
              <a:rPr lang="en-US" altLang="zh-CN" sz="1400" b="0" dirty="0">
                <a:solidFill>
                  <a:srgbClr val="FF0000"/>
                </a:solidFill>
                <a:cs typeface="Times New Roman" panose="02020603050405020304" pitchFamily="18" charset="0"/>
              </a:rPr>
              <a:t>MATCH</a:t>
            </a:r>
            <a:r>
              <a:rPr lang="en-US" altLang="zh-CN" sz="1400" b="0" dirty="0">
                <a:cs typeface="Times New Roman" panose="02020603050405020304" pitchFamily="18" charset="0"/>
              </a:rPr>
              <a:t> (neu : University) </a:t>
            </a:r>
            <a:r>
              <a:rPr lang="en-US" altLang="zh-CN" sz="1400" b="0" dirty="0">
                <a:solidFill>
                  <a:srgbClr val="FF0000"/>
                </a:solidFill>
                <a:cs typeface="Times New Roman" panose="02020603050405020304" pitchFamily="18" charset="0"/>
              </a:rPr>
              <a:t>WHREE</a:t>
            </a:r>
            <a:r>
              <a:rPr lang="en-US" altLang="zh-CN" sz="1400" b="0" dirty="0">
                <a:cs typeface="Times New Roman" panose="02020603050405020304" pitchFamily="18" charset="0"/>
              </a:rPr>
              <a:t> neu.name = “Northeastern University”  </a:t>
            </a:r>
            <a:r>
              <a:rPr lang="en-US" altLang="zh-CN" sz="1400" b="0" dirty="0">
                <a:solidFill>
                  <a:srgbClr val="FF0000"/>
                </a:solidFill>
                <a:cs typeface="Times New Roman" panose="02020603050405020304" pitchFamily="18" charset="0"/>
              </a:rPr>
              <a:t>RETURN</a:t>
            </a:r>
            <a:r>
              <a:rPr lang="en-US" altLang="zh-CN" sz="1400" b="0" dirty="0">
                <a:cs typeface="Times New Roman" panose="02020603050405020304" pitchFamily="18" charset="0"/>
              </a:rPr>
              <a:t> neu</a:t>
            </a:r>
            <a:endParaRPr lang="zh-CN" altLang="en-US" sz="1400" b="0" dirty="0"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2567608" y="3068960"/>
            <a:ext cx="6624736" cy="504056"/>
          </a:xfrm>
          <a:prstGeom prst="rect">
            <a:avLst/>
          </a:prstGeom>
          <a:noFill/>
          <a:ln w="1270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 b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567609" y="3710062"/>
            <a:ext cx="731161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cs typeface="Times New Roman" panose="02020603050405020304" pitchFamily="18" charset="0"/>
              </a:rPr>
              <a:t>6、DELETE</a:t>
            </a:r>
            <a:r>
              <a:rPr lang="zh-CN" altLang="en-US" sz="2000" dirty="0">
                <a:cs typeface="Times New Roman" panose="02020603050405020304" pitchFamily="18" charset="0"/>
              </a:rPr>
              <a:t>：删除节点或节点关系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r>
              <a:rPr lang="en-US" altLang="zh-CN" sz="1800" b="0" dirty="0">
                <a:ea typeface="+mn-ea"/>
                <a:cs typeface="Times New Roman" panose="02020603050405020304" pitchFamily="18" charset="0"/>
              </a:rPr>
              <a:t>	</a:t>
            </a:r>
            <a:r>
              <a:rPr lang="zh-CN" altLang="en-US" sz="1800" b="0" dirty="0">
                <a:ea typeface="+mn-ea"/>
                <a:cs typeface="Times New Roman" panose="02020603050405020304" pitchFamily="18" charset="0"/>
              </a:rPr>
              <a:t>语法：</a:t>
            </a:r>
            <a:endParaRPr lang="en-US" altLang="zh-CN" sz="1800" b="0" dirty="0">
              <a:ea typeface="+mn-ea"/>
              <a:cs typeface="Times New Roman" panose="02020603050405020304" pitchFamily="18" charset="0"/>
            </a:endParaRPr>
          </a:p>
          <a:p>
            <a:pPr marL="1257300" lvl="2" indent="-342900">
              <a:buFont typeface="+mj-ea"/>
              <a:buAutoNum type="circleNumDbPlain"/>
            </a:pPr>
            <a:r>
              <a:rPr lang="zh-CN" altLang="en-US" sz="1800" b="0" dirty="0">
                <a:ea typeface="+mn-ea"/>
                <a:cs typeface="Times New Roman" panose="02020603050405020304" pitchFamily="18" charset="0"/>
              </a:rPr>
              <a:t>删除节点</a:t>
            </a:r>
            <a:r>
              <a:rPr lang="en-US" altLang="zh-CN" sz="18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	</a:t>
            </a:r>
          </a:p>
          <a:p>
            <a:r>
              <a:rPr lang="en-US" altLang="zh-CN" sz="18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	MATCH</a:t>
            </a:r>
            <a:r>
              <a:rPr lang="en-US" altLang="zh-CN" sz="1800" b="0" dirty="0">
                <a:ea typeface="+mn-ea"/>
                <a:cs typeface="Times New Roman" panose="02020603050405020304" pitchFamily="18" charset="0"/>
              </a:rPr>
              <a:t> (e: Employee) </a:t>
            </a:r>
            <a:r>
              <a:rPr lang="en-US" altLang="zh-CN" sz="18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DELETE</a:t>
            </a:r>
            <a:r>
              <a:rPr lang="en-US" altLang="zh-CN" sz="1800" b="0" dirty="0">
                <a:ea typeface="+mn-ea"/>
                <a:cs typeface="Times New Roman" panose="02020603050405020304" pitchFamily="18" charset="0"/>
              </a:rPr>
              <a:t> e</a:t>
            </a:r>
          </a:p>
          <a:p>
            <a:pPr marL="1257300" lvl="2" indent="-342900">
              <a:buFont typeface="+mj-ea"/>
              <a:buAutoNum type="circleNumDbPlain" startAt="2"/>
            </a:pPr>
            <a:r>
              <a:rPr lang="zh-CN" altLang="en-US" sz="1800" b="0" dirty="0">
                <a:ea typeface="+mn-ea"/>
                <a:cs typeface="Times New Roman" panose="02020603050405020304" pitchFamily="18" charset="0"/>
              </a:rPr>
              <a:t>删除关系</a:t>
            </a:r>
            <a:endParaRPr lang="en-US" altLang="zh-CN" sz="1800" b="0" dirty="0">
              <a:ea typeface="+mn-ea"/>
              <a:cs typeface="Times New Roman" panose="02020603050405020304" pitchFamily="18" charset="0"/>
            </a:endParaRPr>
          </a:p>
          <a:p>
            <a:r>
              <a:rPr lang="en-US" altLang="zh-CN" sz="1800" b="0" dirty="0">
                <a:ea typeface="+mn-ea"/>
                <a:cs typeface="Times New Roman" panose="02020603050405020304" pitchFamily="18" charset="0"/>
              </a:rPr>
              <a:t>	</a:t>
            </a:r>
            <a:r>
              <a:rPr lang="en-US" altLang="zh-CN" sz="18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MATCH </a:t>
            </a:r>
            <a:r>
              <a:rPr lang="en-US" altLang="zh-CN" sz="1800" b="0" dirty="0">
                <a:ea typeface="+mn-ea"/>
                <a:cs typeface="Times New Roman" panose="02020603050405020304" pitchFamily="18" charset="0"/>
              </a:rPr>
              <a:t>(cc: </a:t>
            </a:r>
            <a:r>
              <a:rPr lang="en-US" altLang="zh-CN" sz="1800" b="0" dirty="0" err="1">
                <a:ea typeface="+mn-ea"/>
                <a:cs typeface="Times New Roman" panose="02020603050405020304" pitchFamily="18" charset="0"/>
              </a:rPr>
              <a:t>CreditCard</a:t>
            </a:r>
            <a:r>
              <a:rPr lang="en-US" altLang="zh-CN" sz="1800" b="0" dirty="0">
                <a:ea typeface="+mn-ea"/>
                <a:cs typeface="Times New Roman" panose="02020603050405020304" pitchFamily="18" charset="0"/>
              </a:rPr>
              <a:t>)-[</a:t>
            </a:r>
            <a:r>
              <a:rPr lang="en-US" altLang="zh-CN" sz="1800" b="0" dirty="0" err="1">
                <a:ea typeface="+mn-ea"/>
                <a:cs typeface="Times New Roman" panose="02020603050405020304" pitchFamily="18" charset="0"/>
              </a:rPr>
              <a:t>rel</a:t>
            </a:r>
            <a:r>
              <a:rPr lang="en-US" altLang="zh-CN" sz="1800" b="0" dirty="0">
                <a:ea typeface="+mn-ea"/>
                <a:cs typeface="Times New Roman" panose="02020603050405020304" pitchFamily="18" charset="0"/>
              </a:rPr>
              <a:t>]-(</a:t>
            </a:r>
            <a:r>
              <a:rPr lang="en-US" altLang="zh-CN" sz="1800" b="0" dirty="0" err="1">
                <a:ea typeface="+mn-ea"/>
                <a:cs typeface="Times New Roman" panose="02020603050405020304" pitchFamily="18" charset="0"/>
              </a:rPr>
              <a:t>c:Customer</a:t>
            </a:r>
            <a:r>
              <a:rPr lang="en-US" altLang="zh-CN" sz="1800" b="0" dirty="0">
                <a:ea typeface="+mn-ea"/>
                <a:cs typeface="Times New Roman" panose="02020603050405020304" pitchFamily="18" charset="0"/>
              </a:rPr>
              <a:t>)  </a:t>
            </a:r>
            <a:r>
              <a:rPr lang="en-US" altLang="zh-CN" sz="18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DELETE </a:t>
            </a:r>
            <a:r>
              <a:rPr lang="en-US" altLang="zh-CN" sz="1800" b="0" dirty="0" err="1">
                <a:ea typeface="+mn-ea"/>
                <a:cs typeface="Times New Roman" panose="02020603050405020304" pitchFamily="18" charset="0"/>
              </a:rPr>
              <a:t>rel</a:t>
            </a:r>
            <a:endParaRPr lang="en-US" altLang="zh-CN" sz="1800" b="0" dirty="0">
              <a:ea typeface="+mn-ea"/>
              <a:cs typeface="Times New Roman" panose="02020603050405020304" pitchFamily="18" charset="0"/>
            </a:endParaRPr>
          </a:p>
          <a:p>
            <a:endParaRPr lang="en-US" altLang="zh-CN" sz="1800" b="0" dirty="0">
              <a:ea typeface="+mn-ea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a typeface="+mn-ea"/>
                <a:cs typeface="Times New Roman" panose="02020603050405020304" pitchFamily="18" charset="0"/>
              </a:rPr>
              <a:t>	</a:t>
            </a:r>
            <a:r>
              <a:rPr lang="zh-CN" altLang="en-US" sz="1600" dirty="0">
                <a:ea typeface="+mn-ea"/>
                <a:cs typeface="Times New Roman" panose="02020603050405020304" pitchFamily="18" charset="0"/>
              </a:rPr>
              <a:t>注：当删除一个节点时，若其和其它节点存在关系，需先删除关系。</a:t>
            </a:r>
            <a:endParaRPr lang="en-US" altLang="zh-CN" sz="16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4331F2AE-220F-42B0-8486-659C4975C06B}"/>
              </a:ext>
            </a:extLst>
          </p:cNvPr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lvl="0" algn="r">
              <a:defRPr/>
            </a:pPr>
            <a:r>
              <a:rPr lang="en-US" altLang="zh-CN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Neo4j—</a:t>
            </a:r>
            <a:r>
              <a:rPr lang="zh-CN" altLang="en-US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常用命令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itchFamily="34" charset="0"/>
              <a:ea typeface="黑体" pitchFamily="2" charset="-122"/>
              <a:cs typeface="+mn-cs"/>
            </a:endParaRPr>
          </a:p>
        </p:txBody>
      </p:sp>
      <p:sp>
        <p:nvSpPr>
          <p:cNvPr id="15" name="灯片编号占位符 5">
            <a:extLst>
              <a:ext uri="{FF2B5EF4-FFF2-40B4-BE49-F238E27FC236}">
                <a16:creationId xmlns:a16="http://schemas.microsoft.com/office/drawing/2014/main" id="{743BCD17-A355-4C34-AFD8-C5D98E248A3A}"/>
              </a:ext>
            </a:extLst>
          </p:cNvPr>
          <p:cNvSpPr txBox="1">
            <a:spLocks noGrp="1"/>
          </p:cNvSpPr>
          <p:nvPr/>
        </p:nvSpPr>
        <p:spPr bwMode="auto">
          <a:xfrm>
            <a:off x="10287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41507284-0812-45A7-8B30-66F2C5187041}" type="slidenum">
              <a:rPr kumimoji="0" lang="zh-CN" altLang="en-US" sz="1400" b="0">
                <a:latin typeface="Tahoma" panose="020B0604030504040204" pitchFamily="34" charset="0"/>
              </a:rPr>
              <a:pPr algn="r" eaLnBrk="1" hangingPunct="1"/>
              <a:t>14</a:t>
            </a:fld>
            <a:endParaRPr kumimoji="0" lang="en-US" altLang="zh-CN" sz="1400" b="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5510357"/>
      </p:ext>
    </p:extLst>
  </p:cSld>
  <p:clrMapOvr>
    <a:masterClrMapping/>
  </p:clrMapOvr>
  <p:transition advTm="5937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055440" y="1412777"/>
            <a:ext cx="33265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二、</a:t>
            </a:r>
            <a:r>
              <a:rPr lang="en-US" altLang="zh-CN" dirty="0"/>
              <a:t>CQL</a:t>
            </a:r>
            <a:r>
              <a:rPr lang="zh-CN" altLang="en-US" dirty="0"/>
              <a:t>常用命令使用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567609" y="1844824"/>
            <a:ext cx="6473247" cy="23391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cs typeface="Times New Roman" panose="02020603050405020304" pitchFamily="18" charset="0"/>
              </a:rPr>
              <a:t>7、REMOVE</a:t>
            </a:r>
            <a:r>
              <a:rPr lang="zh-CN" altLang="en-US" sz="2000" dirty="0">
                <a:cs typeface="Times New Roman" panose="02020603050405020304" pitchFamily="18" charset="0"/>
              </a:rPr>
              <a:t>：</a:t>
            </a:r>
            <a:r>
              <a:rPr lang="zh-CN" altLang="en-US" sz="2000" dirty="0"/>
              <a:t>删除标签和属性</a:t>
            </a:r>
            <a:endParaRPr lang="en-US" altLang="zh-CN" sz="2000" dirty="0"/>
          </a:p>
          <a:p>
            <a:pPr lvl="2"/>
            <a:endParaRPr lang="en-US" altLang="zh-CN" sz="1600" b="0" dirty="0"/>
          </a:p>
          <a:p>
            <a:pPr lvl="2"/>
            <a:r>
              <a:rPr lang="zh-CN" altLang="en-US" sz="1600" b="0" dirty="0"/>
              <a:t>示例：</a:t>
            </a:r>
            <a:endParaRPr lang="en-US" altLang="zh-CN" sz="1600" b="0" dirty="0"/>
          </a:p>
          <a:p>
            <a:r>
              <a:rPr lang="en-US" altLang="zh-CN" sz="1800" b="0" dirty="0">
                <a:ea typeface="+mn-ea"/>
                <a:cs typeface="Times New Roman" panose="02020603050405020304" pitchFamily="18" charset="0"/>
              </a:rPr>
              <a:t>	</a:t>
            </a:r>
            <a:r>
              <a:rPr lang="en-US" altLang="zh-CN" sz="14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MATCH</a:t>
            </a:r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 (book { id:122 })</a:t>
            </a:r>
          </a:p>
          <a:p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	</a:t>
            </a:r>
            <a:r>
              <a:rPr lang="en-US" altLang="zh-CN" sz="14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REMOVE</a:t>
            </a:r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1400" b="0" dirty="0" err="1">
                <a:ea typeface="+mn-ea"/>
                <a:cs typeface="Times New Roman" panose="02020603050405020304" pitchFamily="18" charset="0"/>
              </a:rPr>
              <a:t>book.price</a:t>
            </a:r>
            <a:endParaRPr lang="en-US" altLang="zh-CN" sz="1400" b="0" dirty="0">
              <a:ea typeface="+mn-ea"/>
              <a:cs typeface="Times New Roman" panose="02020603050405020304" pitchFamily="18" charset="0"/>
            </a:endParaRPr>
          </a:p>
          <a:p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	</a:t>
            </a:r>
            <a:r>
              <a:rPr lang="en-US" altLang="zh-CN" sz="14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RETURN</a:t>
            </a:r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 book</a:t>
            </a:r>
            <a:endParaRPr lang="en-US" altLang="zh-CN" sz="1400" dirty="0"/>
          </a:p>
          <a:p>
            <a:pPr lvl="2"/>
            <a:r>
              <a:rPr lang="en-US" altLang="zh-CN" sz="1600" dirty="0">
                <a:cs typeface="Times New Roman" panose="02020603050405020304" pitchFamily="18" charset="0"/>
              </a:rPr>
              <a:t>        </a:t>
            </a:r>
          </a:p>
          <a:p>
            <a:pPr lvl="3"/>
            <a:r>
              <a:rPr lang="zh-CN" altLang="en-US" sz="1600" dirty="0">
                <a:cs typeface="Times New Roman" panose="02020603050405020304" pitchFamily="18" charset="0"/>
              </a:rPr>
              <a:t>注：</a:t>
            </a:r>
            <a:r>
              <a:rPr lang="en-US" altLang="zh-CN" sz="1600" dirty="0">
                <a:solidFill>
                  <a:srgbClr val="FF0000"/>
                </a:solidFill>
                <a:cs typeface="Times New Roman" panose="02020603050405020304" pitchFamily="18" charset="0"/>
              </a:rPr>
              <a:t>REMOVE</a:t>
            </a:r>
            <a:r>
              <a:rPr lang="zh-CN" altLang="en-US" sz="1600" dirty="0">
                <a:cs typeface="Times New Roman" panose="02020603050405020304" pitchFamily="18" charset="0"/>
              </a:rPr>
              <a:t>和</a:t>
            </a:r>
            <a:r>
              <a:rPr lang="en-US" altLang="zh-CN" sz="1600" dirty="0">
                <a:solidFill>
                  <a:srgbClr val="FF0000"/>
                </a:solidFill>
                <a:cs typeface="Times New Roman" panose="02020603050405020304" pitchFamily="18" charset="0"/>
              </a:rPr>
              <a:t>DELETE</a:t>
            </a:r>
            <a:r>
              <a:rPr lang="zh-CN" altLang="en-US" sz="1600" dirty="0">
                <a:cs typeface="Times New Roman" panose="02020603050405020304" pitchFamily="18" charset="0"/>
              </a:rPr>
              <a:t>这两个命令不应单独使用。 </a:t>
            </a:r>
          </a:p>
          <a:p>
            <a:pPr lvl="2"/>
            <a:r>
              <a:rPr lang="zh-CN" altLang="en-US" sz="1600" dirty="0">
                <a:cs typeface="Times New Roman" panose="02020603050405020304" pitchFamily="18" charset="0"/>
              </a:rPr>
              <a:t>两个命令都应该与</a:t>
            </a:r>
            <a:r>
              <a:rPr lang="en-US" altLang="zh-CN" sz="1600" dirty="0">
                <a:solidFill>
                  <a:srgbClr val="FF0000"/>
                </a:solidFill>
                <a:cs typeface="Times New Roman" panose="02020603050405020304" pitchFamily="18" charset="0"/>
              </a:rPr>
              <a:t>MATCH</a:t>
            </a:r>
            <a:r>
              <a:rPr lang="zh-CN" altLang="en-US" sz="1600" dirty="0">
                <a:cs typeface="Times New Roman" panose="02020603050405020304" pitchFamily="18" charset="0"/>
              </a:rPr>
              <a:t>命令一起使用。 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567608" y="4165338"/>
            <a:ext cx="6143028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cs typeface="Times New Roman" panose="02020603050405020304" pitchFamily="18" charset="0"/>
              </a:rPr>
              <a:t>8、SET</a:t>
            </a:r>
            <a:r>
              <a:rPr lang="zh-CN" altLang="en-US" sz="2000" dirty="0">
                <a:cs typeface="Times New Roman" panose="02020603050405020304" pitchFamily="18" charset="0"/>
              </a:rPr>
              <a:t>：添加或更新节点和关系的属性值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0" lvl="2"/>
            <a:r>
              <a:rPr lang="en-US" altLang="zh-CN" sz="1800" b="0" dirty="0">
                <a:ea typeface="+mn-ea"/>
                <a:cs typeface="Times New Roman" panose="02020603050405020304" pitchFamily="18" charset="0"/>
              </a:rPr>
              <a:t>	</a:t>
            </a:r>
          </a:p>
          <a:p>
            <a:pPr marL="0" lvl="2"/>
            <a:r>
              <a:rPr lang="en-US" altLang="zh-CN" sz="1800" b="0" dirty="0">
                <a:ea typeface="+mn-ea"/>
                <a:cs typeface="Times New Roman" panose="02020603050405020304" pitchFamily="18" charset="0"/>
              </a:rPr>
              <a:t>	</a:t>
            </a:r>
            <a:r>
              <a:rPr lang="zh-CN" altLang="en-US" sz="1600" b="0" dirty="0"/>
              <a:t>示例：</a:t>
            </a:r>
            <a:endParaRPr lang="en-US" altLang="zh-CN" sz="1800" b="0" dirty="0">
              <a:ea typeface="+mn-ea"/>
              <a:cs typeface="Times New Roman" panose="02020603050405020304" pitchFamily="18" charset="0"/>
            </a:endParaRPr>
          </a:p>
          <a:p>
            <a:r>
              <a:rPr lang="en-US" altLang="zh-CN" sz="18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	</a:t>
            </a:r>
            <a:r>
              <a:rPr lang="en-US" altLang="zh-CN" sz="14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MATCH</a:t>
            </a:r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 (</a:t>
            </a:r>
            <a:r>
              <a:rPr lang="en-US" altLang="zh-CN" sz="1400" b="0" dirty="0" err="1">
                <a:ea typeface="+mn-ea"/>
                <a:cs typeface="Times New Roman" panose="02020603050405020304" pitchFamily="18" charset="0"/>
              </a:rPr>
              <a:t>dc:DebitCard</a:t>
            </a:r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	</a:t>
            </a:r>
            <a:r>
              <a:rPr lang="en-US" altLang="zh-CN" sz="14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SET</a:t>
            </a:r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1400" b="0" dirty="0" err="1">
                <a:ea typeface="+mn-ea"/>
                <a:cs typeface="Times New Roman" panose="02020603050405020304" pitchFamily="18" charset="0"/>
              </a:rPr>
              <a:t>dc.atm_pin</a:t>
            </a:r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 = 3456</a:t>
            </a:r>
          </a:p>
          <a:p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	</a:t>
            </a:r>
            <a:r>
              <a:rPr lang="en-US" altLang="zh-CN" sz="14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RETURN</a:t>
            </a:r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 dc</a:t>
            </a:r>
          </a:p>
          <a:p>
            <a:pPr lvl="2"/>
            <a:endParaRPr lang="en-US" altLang="zh-CN" sz="1800" b="0" dirty="0">
              <a:solidFill>
                <a:srgbClr val="FF0000"/>
              </a:solidFill>
              <a:ea typeface="+mn-ea"/>
              <a:cs typeface="Times New Roman" panose="02020603050405020304" pitchFamily="18" charset="0"/>
            </a:endParaRPr>
          </a:p>
          <a:p>
            <a:pPr lvl="2"/>
            <a:r>
              <a:rPr lang="en-US" altLang="zh-CN" sz="18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        </a:t>
            </a:r>
            <a:r>
              <a:rPr lang="zh-CN" altLang="en-US" sz="1600" b="0" dirty="0">
                <a:ea typeface="+mn-ea"/>
                <a:cs typeface="Times New Roman" panose="02020603050405020304" pitchFamily="18" charset="0"/>
              </a:rPr>
              <a:t>若</a:t>
            </a:r>
            <a:r>
              <a:rPr lang="en-US" altLang="zh-CN" sz="1600" b="0" dirty="0" err="1">
                <a:ea typeface="+mn-ea"/>
                <a:cs typeface="Times New Roman" panose="02020603050405020304" pitchFamily="18" charset="0"/>
              </a:rPr>
              <a:t>atm_pin</a:t>
            </a:r>
            <a:r>
              <a:rPr lang="zh-CN" altLang="en-US" sz="1600" b="0" dirty="0">
                <a:ea typeface="+mn-ea"/>
                <a:cs typeface="Times New Roman" panose="02020603050405020304" pitchFamily="18" charset="0"/>
              </a:rPr>
              <a:t>属性不存在，则自动添加，存在则更新。</a:t>
            </a:r>
            <a:endParaRPr lang="en-US" altLang="zh-CN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503712" y="2420888"/>
            <a:ext cx="2376264" cy="100811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 b="0">
              <a:latin typeface="Tahoma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3713" y="4780813"/>
            <a:ext cx="2389839" cy="1024217"/>
          </a:xfrm>
          <a:prstGeom prst="rect">
            <a:avLst/>
          </a:prstGeom>
        </p:spPr>
      </p:pic>
      <p:sp>
        <p:nvSpPr>
          <p:cNvPr id="12" name="标题 1">
            <a:extLst>
              <a:ext uri="{FF2B5EF4-FFF2-40B4-BE49-F238E27FC236}">
                <a16:creationId xmlns:a16="http://schemas.microsoft.com/office/drawing/2014/main" id="{88873E6E-DA31-468D-BCBD-E7E48577EB47}"/>
              </a:ext>
            </a:extLst>
          </p:cNvPr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lvl="0" algn="r">
              <a:defRPr/>
            </a:pPr>
            <a:r>
              <a:rPr lang="en-US" altLang="zh-CN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Neo4j—</a:t>
            </a:r>
            <a:r>
              <a:rPr lang="zh-CN" altLang="en-US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常用命令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itchFamily="34" charset="0"/>
              <a:ea typeface="黑体" pitchFamily="2" charset="-122"/>
              <a:cs typeface="+mn-cs"/>
            </a:endParaRPr>
          </a:p>
        </p:txBody>
      </p:sp>
      <p:sp>
        <p:nvSpPr>
          <p:cNvPr id="14" name="灯片编号占位符 5">
            <a:extLst>
              <a:ext uri="{FF2B5EF4-FFF2-40B4-BE49-F238E27FC236}">
                <a16:creationId xmlns:a16="http://schemas.microsoft.com/office/drawing/2014/main" id="{49B93D20-DBD6-4CB7-B82C-D9588DDAE188}"/>
              </a:ext>
            </a:extLst>
          </p:cNvPr>
          <p:cNvSpPr txBox="1">
            <a:spLocks noGrp="1"/>
          </p:cNvSpPr>
          <p:nvPr/>
        </p:nvSpPr>
        <p:spPr bwMode="auto">
          <a:xfrm>
            <a:off x="10287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41507284-0812-45A7-8B30-66F2C5187041}" type="slidenum">
              <a:rPr kumimoji="0" lang="zh-CN" altLang="en-US" sz="1400" b="0">
                <a:latin typeface="Tahoma" panose="020B0604030504040204" pitchFamily="34" charset="0"/>
              </a:rPr>
              <a:pPr algn="r" eaLnBrk="1" hangingPunct="1"/>
              <a:t>15</a:t>
            </a:fld>
            <a:endParaRPr kumimoji="0" lang="en-US" altLang="zh-CN" sz="1400" b="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6812753"/>
      </p:ext>
    </p:extLst>
  </p:cSld>
  <p:clrMapOvr>
    <a:masterClrMapping/>
  </p:clrMapOvr>
  <p:transition advTm="5937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055440" y="1412777"/>
            <a:ext cx="33265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二、</a:t>
            </a:r>
            <a:r>
              <a:rPr lang="en-US" altLang="zh-CN" dirty="0"/>
              <a:t>CQL</a:t>
            </a:r>
            <a:r>
              <a:rPr lang="zh-CN" altLang="en-US" dirty="0"/>
              <a:t>常用命令使用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567608" y="1844824"/>
            <a:ext cx="5347490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cs typeface="Times New Roman" panose="02020603050405020304" pitchFamily="18" charset="0"/>
              </a:rPr>
              <a:t>9、ORDER BY</a:t>
            </a:r>
            <a:r>
              <a:rPr lang="zh-CN" altLang="en-US" sz="2000" dirty="0">
                <a:cs typeface="Times New Roman" panose="02020603050405020304" pitchFamily="18" charset="0"/>
              </a:rPr>
              <a:t>：</a:t>
            </a:r>
            <a:r>
              <a:rPr lang="zh-CN" altLang="en-US" sz="2000" dirty="0"/>
              <a:t>对返回结果排序</a:t>
            </a:r>
            <a:endParaRPr lang="en-US" altLang="zh-CN" sz="2000" dirty="0"/>
          </a:p>
          <a:p>
            <a:pPr lvl="2"/>
            <a:endParaRPr lang="en-US" altLang="zh-CN" sz="1600" b="0" dirty="0"/>
          </a:p>
          <a:p>
            <a:pPr lvl="2"/>
            <a:r>
              <a:rPr lang="zh-CN" altLang="en-US" sz="1600" b="0" dirty="0"/>
              <a:t>示例：</a:t>
            </a:r>
            <a:endParaRPr lang="en-US" altLang="zh-CN" sz="1600" b="0" dirty="0"/>
          </a:p>
          <a:p>
            <a:r>
              <a:rPr lang="en-US" altLang="zh-CN" sz="1800" b="0" dirty="0">
                <a:ea typeface="+mn-ea"/>
                <a:cs typeface="Times New Roman" panose="02020603050405020304" pitchFamily="18" charset="0"/>
              </a:rPr>
              <a:t>	</a:t>
            </a:r>
            <a:r>
              <a:rPr lang="en-US" altLang="zh-CN" sz="14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MATCH</a:t>
            </a:r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 (</a:t>
            </a:r>
            <a:r>
              <a:rPr lang="en-US" altLang="zh-CN" sz="1400" b="0" dirty="0" err="1">
                <a:ea typeface="+mn-ea"/>
                <a:cs typeface="Times New Roman" panose="02020603050405020304" pitchFamily="18" charset="0"/>
              </a:rPr>
              <a:t>emp:Employee</a:t>
            </a:r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	</a:t>
            </a:r>
            <a:r>
              <a:rPr lang="en-US" altLang="zh-CN" sz="14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RETURN</a:t>
            </a:r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1400" b="0" dirty="0" err="1">
                <a:ea typeface="+mn-ea"/>
                <a:cs typeface="Times New Roman" panose="02020603050405020304" pitchFamily="18" charset="0"/>
              </a:rPr>
              <a:t>emp.empid</a:t>
            </a:r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, emp.name, </a:t>
            </a:r>
            <a:r>
              <a:rPr lang="en-US" altLang="zh-CN" sz="1400" b="0" dirty="0" err="1">
                <a:ea typeface="+mn-ea"/>
                <a:cs typeface="Times New Roman" panose="02020603050405020304" pitchFamily="18" charset="0"/>
              </a:rPr>
              <a:t>emp.salary</a:t>
            </a:r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, </a:t>
            </a:r>
            <a:r>
              <a:rPr lang="en-US" altLang="zh-CN" sz="1400" b="0" dirty="0" err="1">
                <a:ea typeface="+mn-ea"/>
                <a:cs typeface="Times New Roman" panose="02020603050405020304" pitchFamily="18" charset="0"/>
              </a:rPr>
              <a:t>emp.deptno</a:t>
            </a:r>
            <a:endParaRPr lang="en-US" altLang="zh-CN" sz="1400" b="0" dirty="0">
              <a:ea typeface="+mn-ea"/>
              <a:cs typeface="Times New Roman" panose="02020603050405020304" pitchFamily="18" charset="0"/>
            </a:endParaRPr>
          </a:p>
          <a:p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	</a:t>
            </a:r>
            <a:r>
              <a:rPr lang="en-US" altLang="zh-CN" sz="14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ORDER BY </a:t>
            </a:r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emp.salary</a:t>
            </a:r>
            <a:r>
              <a:rPr lang="en-US" altLang="zh-CN" sz="1600" dirty="0">
                <a:cs typeface="Times New Roman" panose="02020603050405020304" pitchFamily="18" charset="0"/>
              </a:rPr>
              <a:t>  </a:t>
            </a:r>
            <a:r>
              <a:rPr lang="en-US" altLang="zh-CN" sz="1400" b="0" dirty="0">
                <a:solidFill>
                  <a:srgbClr val="FF0000"/>
                </a:solidFill>
                <a:cs typeface="Times New Roman" panose="02020603050405020304" pitchFamily="18" charset="0"/>
              </a:rPr>
              <a:t>DESC</a:t>
            </a:r>
            <a:r>
              <a:rPr lang="en-US" altLang="zh-CN" sz="1600" dirty="0"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567608" y="4165337"/>
            <a:ext cx="6853158" cy="25237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cs typeface="Times New Roman" panose="02020603050405020304" pitchFamily="18" charset="0"/>
              </a:rPr>
              <a:t>10、UNION</a:t>
            </a:r>
            <a:r>
              <a:rPr lang="zh-CN" altLang="en-US" sz="2000" dirty="0">
                <a:cs typeface="Times New Roman" panose="02020603050405020304" pitchFamily="18" charset="0"/>
              </a:rPr>
              <a:t>：结果合并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0" lvl="2"/>
            <a:r>
              <a:rPr lang="en-US" altLang="zh-CN" sz="1800" b="0" dirty="0">
                <a:ea typeface="+mn-ea"/>
                <a:cs typeface="Times New Roman" panose="02020603050405020304" pitchFamily="18" charset="0"/>
              </a:rPr>
              <a:t>	</a:t>
            </a:r>
          </a:p>
          <a:p>
            <a:pPr marL="0" lvl="2"/>
            <a:r>
              <a:rPr lang="en-US" altLang="zh-CN" sz="1800" b="0" dirty="0">
                <a:ea typeface="+mn-ea"/>
                <a:cs typeface="Times New Roman" panose="02020603050405020304" pitchFamily="18" charset="0"/>
              </a:rPr>
              <a:t>	</a:t>
            </a:r>
            <a:r>
              <a:rPr lang="zh-CN" altLang="en-US" sz="1600" b="0" dirty="0"/>
              <a:t>示例：</a:t>
            </a:r>
            <a:endParaRPr lang="en-US" altLang="zh-CN" sz="1800" b="0" dirty="0">
              <a:ea typeface="+mn-ea"/>
              <a:cs typeface="Times New Roman" panose="02020603050405020304" pitchFamily="18" charset="0"/>
            </a:endParaRPr>
          </a:p>
          <a:p>
            <a:r>
              <a:rPr lang="en-US" altLang="zh-CN" sz="18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	</a:t>
            </a:r>
            <a:r>
              <a:rPr lang="en-US" altLang="zh-CN" sz="14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MATCH </a:t>
            </a:r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1400" b="0" dirty="0" err="1">
                <a:ea typeface="+mn-ea"/>
                <a:cs typeface="Times New Roman" panose="02020603050405020304" pitchFamily="18" charset="0"/>
              </a:rPr>
              <a:t>cc:CreditCard</a:t>
            </a:r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) RETURN </a:t>
            </a:r>
            <a:r>
              <a:rPr lang="en-US" altLang="zh-CN" sz="1400" b="0" dirty="0" err="1">
                <a:ea typeface="+mn-ea"/>
                <a:cs typeface="Times New Roman" panose="02020603050405020304" pitchFamily="18" charset="0"/>
              </a:rPr>
              <a:t>cc.id,cc.number</a:t>
            </a:r>
            <a:endParaRPr lang="en-US" altLang="zh-CN" sz="1400" b="0" dirty="0">
              <a:ea typeface="+mn-ea"/>
              <a:cs typeface="Times New Roman" panose="02020603050405020304" pitchFamily="18" charset="0"/>
            </a:endParaRPr>
          </a:p>
          <a:p>
            <a:r>
              <a:rPr lang="en-US" altLang="zh-CN" sz="14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	UNION</a:t>
            </a:r>
          </a:p>
          <a:p>
            <a:r>
              <a:rPr lang="en-US" altLang="zh-CN" sz="14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	MATCH </a:t>
            </a:r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1400" b="0" dirty="0" err="1">
                <a:ea typeface="+mn-ea"/>
                <a:cs typeface="Times New Roman" panose="02020603050405020304" pitchFamily="18" charset="0"/>
              </a:rPr>
              <a:t>dc:DebitCard</a:t>
            </a:r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) RETURN </a:t>
            </a:r>
            <a:r>
              <a:rPr lang="en-US" altLang="zh-CN" sz="1400" b="0" dirty="0" err="1">
                <a:ea typeface="+mn-ea"/>
                <a:cs typeface="Times New Roman" panose="02020603050405020304" pitchFamily="18" charset="0"/>
              </a:rPr>
              <a:t>dc.id,dc.number</a:t>
            </a:r>
            <a:endParaRPr lang="en-US" altLang="zh-CN" sz="1800" b="0" dirty="0">
              <a:ea typeface="+mn-ea"/>
              <a:cs typeface="Times New Roman" panose="02020603050405020304" pitchFamily="18" charset="0"/>
            </a:endParaRPr>
          </a:p>
          <a:p>
            <a:pPr lvl="2"/>
            <a:endParaRPr lang="en-US" altLang="zh-CN" sz="1400" b="0" dirty="0">
              <a:ea typeface="+mn-ea"/>
              <a:cs typeface="Times New Roman" panose="02020603050405020304" pitchFamily="18" charset="0"/>
            </a:endParaRPr>
          </a:p>
          <a:p>
            <a:pPr lvl="2"/>
            <a:r>
              <a:rPr lang="zh-CN" altLang="en-US" sz="1400" b="0" dirty="0">
                <a:ea typeface="+mn-ea"/>
                <a:cs typeface="Times New Roman" panose="02020603050405020304" pitchFamily="18" charset="0"/>
              </a:rPr>
              <a:t>限制：</a:t>
            </a:r>
          </a:p>
          <a:p>
            <a:pPr lvl="2"/>
            <a:r>
              <a:rPr lang="zh-CN" altLang="en-US" sz="1400" b="0" dirty="0">
                <a:ea typeface="+mn-ea"/>
                <a:cs typeface="Times New Roman" panose="02020603050405020304" pitchFamily="18" charset="0"/>
              </a:rPr>
              <a:t>结果列类型和来自两组结果的</a:t>
            </a:r>
            <a:r>
              <a:rPr lang="zh-CN" altLang="en-US" sz="14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名称必须匹配</a:t>
            </a:r>
            <a:r>
              <a:rPr lang="zh-CN" altLang="en-US" sz="1400" b="0" dirty="0">
                <a:ea typeface="+mn-ea"/>
                <a:cs typeface="Times New Roman" panose="02020603050405020304" pitchFamily="18" charset="0"/>
              </a:rPr>
              <a:t>，这意味着</a:t>
            </a:r>
            <a:r>
              <a:rPr lang="zh-CN" altLang="en-US" sz="14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列名称</a:t>
            </a:r>
            <a:r>
              <a:rPr lang="zh-CN" altLang="en-US" sz="1400" b="0" dirty="0">
                <a:ea typeface="+mn-ea"/>
                <a:cs typeface="Times New Roman" panose="02020603050405020304" pitchFamily="18" charset="0"/>
              </a:rPr>
              <a:t>应该相同，</a:t>
            </a:r>
            <a:endParaRPr lang="en-US" altLang="zh-CN" sz="1400" b="0" dirty="0">
              <a:ea typeface="+mn-ea"/>
              <a:cs typeface="Times New Roman" panose="02020603050405020304" pitchFamily="18" charset="0"/>
            </a:endParaRPr>
          </a:p>
          <a:p>
            <a:pPr lvl="2"/>
            <a:r>
              <a:rPr lang="zh-CN" altLang="en-US" sz="1400" b="0" dirty="0">
                <a:ea typeface="+mn-ea"/>
                <a:cs typeface="Times New Roman" panose="02020603050405020304" pitchFamily="18" charset="0"/>
              </a:rPr>
              <a:t>列的</a:t>
            </a:r>
            <a:r>
              <a:rPr lang="zh-CN" altLang="en-US" sz="14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数据类型</a:t>
            </a:r>
            <a:r>
              <a:rPr lang="zh-CN" altLang="en-US" sz="1400" b="0" dirty="0">
                <a:ea typeface="+mn-ea"/>
                <a:cs typeface="Times New Roman" panose="02020603050405020304" pitchFamily="18" charset="0"/>
              </a:rPr>
              <a:t>应该相同。 </a:t>
            </a:r>
            <a:endParaRPr lang="en-US" altLang="zh-CN" sz="1400" b="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503712" y="2420888"/>
            <a:ext cx="4248472" cy="100811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 b="0">
              <a:latin typeface="Tahoma" pitchFamily="34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3487265" y="4797152"/>
            <a:ext cx="4248472" cy="100811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 b="0">
              <a:latin typeface="Tahoma" pitchFamily="34" charset="0"/>
            </a:endParaRP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89D61D12-6C4D-44E6-815F-6AA46F1C7FBC}"/>
              </a:ext>
            </a:extLst>
          </p:cNvPr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lvl="0" algn="r">
              <a:defRPr/>
            </a:pPr>
            <a:r>
              <a:rPr lang="en-US" altLang="zh-CN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Neo4j—</a:t>
            </a:r>
            <a:r>
              <a:rPr lang="zh-CN" altLang="en-US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常用命令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itchFamily="34" charset="0"/>
              <a:ea typeface="黑体" pitchFamily="2" charset="-122"/>
              <a:cs typeface="+mn-cs"/>
            </a:endParaRPr>
          </a:p>
        </p:txBody>
      </p:sp>
      <p:sp>
        <p:nvSpPr>
          <p:cNvPr id="15" name="灯片编号占位符 5">
            <a:extLst>
              <a:ext uri="{FF2B5EF4-FFF2-40B4-BE49-F238E27FC236}">
                <a16:creationId xmlns:a16="http://schemas.microsoft.com/office/drawing/2014/main" id="{DCD6F1A4-A4A7-41C0-9CF3-D46EBFF78413}"/>
              </a:ext>
            </a:extLst>
          </p:cNvPr>
          <p:cNvSpPr txBox="1">
            <a:spLocks noGrp="1"/>
          </p:cNvSpPr>
          <p:nvPr/>
        </p:nvSpPr>
        <p:spPr bwMode="auto">
          <a:xfrm>
            <a:off x="10287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41507284-0812-45A7-8B30-66F2C5187041}" type="slidenum">
              <a:rPr kumimoji="0" lang="zh-CN" altLang="en-US" sz="1400" b="0">
                <a:latin typeface="Tahoma" panose="020B0604030504040204" pitchFamily="34" charset="0"/>
              </a:rPr>
              <a:pPr algn="r" eaLnBrk="1" hangingPunct="1"/>
              <a:t>16</a:t>
            </a:fld>
            <a:endParaRPr kumimoji="0" lang="en-US" altLang="zh-CN" sz="1400" b="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520007"/>
      </p:ext>
    </p:extLst>
  </p:cSld>
  <p:clrMapOvr>
    <a:masterClrMapping/>
  </p:clrMapOvr>
  <p:transition advTm="5937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055440" y="1412777"/>
            <a:ext cx="33265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二、</a:t>
            </a:r>
            <a:r>
              <a:rPr lang="en-US" altLang="zh-CN" dirty="0"/>
              <a:t>CQL</a:t>
            </a:r>
            <a:r>
              <a:rPr lang="zh-CN" altLang="en-US" dirty="0"/>
              <a:t>常用命令使用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567609" y="1844824"/>
            <a:ext cx="556306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cs typeface="Times New Roman" panose="02020603050405020304" pitchFamily="18" charset="0"/>
              </a:rPr>
              <a:t>9、LIMIT</a:t>
            </a:r>
            <a:r>
              <a:rPr lang="zh-CN" altLang="en-US" sz="2000" dirty="0">
                <a:cs typeface="Times New Roman" panose="02020603050405020304" pitchFamily="18" charset="0"/>
              </a:rPr>
              <a:t>和</a:t>
            </a:r>
            <a:r>
              <a:rPr lang="en-US" altLang="zh-CN" sz="2000" dirty="0">
                <a:cs typeface="Times New Roman" panose="02020603050405020304" pitchFamily="18" charset="0"/>
              </a:rPr>
              <a:t>SKIP</a:t>
            </a:r>
            <a:r>
              <a:rPr lang="zh-CN" altLang="en-US" sz="2000" dirty="0">
                <a:cs typeface="Times New Roman" panose="02020603050405020304" pitchFamily="18" charset="0"/>
              </a:rPr>
              <a:t>：</a:t>
            </a:r>
            <a:r>
              <a:rPr lang="zh-CN" altLang="en-US" sz="2000" dirty="0"/>
              <a:t>限制查询结果返回行数</a:t>
            </a:r>
            <a:endParaRPr lang="en-US" altLang="zh-CN" sz="2000" dirty="0"/>
          </a:p>
          <a:p>
            <a:pPr lvl="2"/>
            <a:r>
              <a:rPr lang="en-US" altLang="zh-CN" sz="1600" b="0" dirty="0">
                <a:ea typeface="+mn-ea"/>
                <a:cs typeface="Times New Roman" panose="02020603050405020304" pitchFamily="18" charset="0"/>
              </a:rPr>
              <a:t>LIMIT：</a:t>
            </a:r>
            <a:r>
              <a:rPr lang="zh-CN" altLang="en-US" sz="1600" b="0" dirty="0">
                <a:ea typeface="+mn-ea"/>
                <a:cs typeface="Times New Roman" panose="02020603050405020304" pitchFamily="18" charset="0"/>
              </a:rPr>
              <a:t>返回结果的前</a:t>
            </a:r>
            <a:r>
              <a:rPr lang="en-US" altLang="zh-CN" sz="1600" b="0" dirty="0">
                <a:ea typeface="+mn-ea"/>
                <a:cs typeface="Times New Roman" panose="02020603050405020304" pitchFamily="18" charset="0"/>
              </a:rPr>
              <a:t>m</a:t>
            </a:r>
            <a:r>
              <a:rPr lang="zh-CN" altLang="en-US" sz="1600" b="0" dirty="0">
                <a:ea typeface="+mn-ea"/>
                <a:cs typeface="Times New Roman" panose="02020603050405020304" pitchFamily="18" charset="0"/>
              </a:rPr>
              <a:t>行</a:t>
            </a:r>
            <a:endParaRPr lang="en-US" altLang="zh-CN" sz="1600" b="0" dirty="0">
              <a:ea typeface="+mn-ea"/>
              <a:cs typeface="Times New Roman" panose="02020603050405020304" pitchFamily="18" charset="0"/>
            </a:endParaRPr>
          </a:p>
          <a:p>
            <a:pPr lvl="2"/>
            <a:r>
              <a:rPr lang="en-US" altLang="zh-CN" sz="1600" b="0" dirty="0">
                <a:ea typeface="+mn-ea"/>
                <a:cs typeface="Times New Roman" panose="02020603050405020304" pitchFamily="18" charset="0"/>
              </a:rPr>
              <a:t>SKIP:    </a:t>
            </a:r>
            <a:r>
              <a:rPr lang="zh-CN" altLang="en-US" sz="1600" b="0" dirty="0">
                <a:ea typeface="+mn-ea"/>
                <a:cs typeface="Times New Roman" panose="02020603050405020304" pitchFamily="18" charset="0"/>
              </a:rPr>
              <a:t>返回结果的后</a:t>
            </a:r>
            <a:r>
              <a:rPr lang="en-US" altLang="zh-CN" sz="1600" b="0" dirty="0">
                <a:ea typeface="+mn-ea"/>
                <a:cs typeface="Times New Roman" panose="02020603050405020304" pitchFamily="18" charset="0"/>
              </a:rPr>
              <a:t>m</a:t>
            </a:r>
            <a:r>
              <a:rPr lang="zh-CN" altLang="en-US" sz="1600" b="0" dirty="0">
                <a:ea typeface="+mn-ea"/>
                <a:cs typeface="Times New Roman" panose="02020603050405020304" pitchFamily="18" charset="0"/>
              </a:rPr>
              <a:t>行</a:t>
            </a:r>
            <a:endParaRPr lang="en-US" altLang="zh-CN" sz="1600" b="0" dirty="0">
              <a:ea typeface="+mn-ea"/>
              <a:cs typeface="Times New Roman" panose="02020603050405020304" pitchFamily="18" charset="0"/>
            </a:endParaRPr>
          </a:p>
          <a:p>
            <a:pPr lvl="2"/>
            <a:endParaRPr lang="en-US" altLang="zh-CN" sz="1600" b="0" dirty="0"/>
          </a:p>
          <a:p>
            <a:pPr lvl="2"/>
            <a:r>
              <a:rPr lang="zh-CN" altLang="en-US" sz="1600" b="0" dirty="0"/>
              <a:t>示例：</a:t>
            </a:r>
            <a:endParaRPr lang="en-US" altLang="zh-CN" sz="1600" b="0" dirty="0"/>
          </a:p>
          <a:p>
            <a:r>
              <a:rPr lang="en-US" altLang="zh-CN" sz="1800" b="0" dirty="0">
                <a:ea typeface="+mn-ea"/>
                <a:cs typeface="Times New Roman" panose="02020603050405020304" pitchFamily="18" charset="0"/>
              </a:rPr>
              <a:t>	</a:t>
            </a:r>
            <a:r>
              <a:rPr lang="en-US" altLang="zh-CN" sz="14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MATCH </a:t>
            </a:r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1400" b="0" dirty="0" err="1">
                <a:ea typeface="+mn-ea"/>
                <a:cs typeface="Times New Roman" panose="02020603050405020304" pitchFamily="18" charset="0"/>
              </a:rPr>
              <a:t>emp:Employee</a:t>
            </a:r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) </a:t>
            </a:r>
          </a:p>
          <a:p>
            <a:r>
              <a:rPr lang="en-US" altLang="zh-CN" sz="14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	RETURN </a:t>
            </a:r>
            <a:r>
              <a:rPr lang="en-US" altLang="zh-CN" sz="1400" b="0" dirty="0" err="1">
                <a:ea typeface="+mn-ea"/>
                <a:cs typeface="Times New Roman" panose="02020603050405020304" pitchFamily="18" charset="0"/>
              </a:rPr>
              <a:t>emp</a:t>
            </a:r>
            <a:endParaRPr lang="en-US" altLang="zh-CN" sz="1400" b="0" dirty="0">
              <a:ea typeface="+mn-ea"/>
              <a:cs typeface="Times New Roman" panose="02020603050405020304" pitchFamily="18" charset="0"/>
            </a:endParaRPr>
          </a:p>
          <a:p>
            <a:r>
              <a:rPr lang="en-US" altLang="zh-CN" sz="14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	LIMIT </a:t>
            </a:r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2 (</a:t>
            </a:r>
            <a:r>
              <a:rPr lang="zh-CN" altLang="en-US" sz="1400" b="0" dirty="0">
                <a:ea typeface="+mn-ea"/>
                <a:cs typeface="Times New Roman" panose="02020603050405020304" pitchFamily="18" charset="0"/>
              </a:rPr>
              <a:t>返回结果前两行</a:t>
            </a:r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) /</a:t>
            </a:r>
            <a:r>
              <a:rPr lang="en-US" altLang="zh-CN" sz="14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1600" b="0" dirty="0">
                <a:solidFill>
                  <a:srgbClr val="FF0000"/>
                </a:solidFill>
                <a:cs typeface="Times New Roman" panose="02020603050405020304" pitchFamily="18" charset="0"/>
              </a:rPr>
              <a:t>SKIP </a:t>
            </a:r>
            <a:r>
              <a:rPr lang="en-US" altLang="zh-CN" sz="1600" b="0" dirty="0">
                <a:cs typeface="Times New Roman" panose="02020603050405020304" pitchFamily="18" charset="0"/>
              </a:rPr>
              <a:t>2 (</a:t>
            </a:r>
            <a:r>
              <a:rPr lang="zh-CN" altLang="en-US" sz="1600" b="0" dirty="0">
                <a:cs typeface="Times New Roman" panose="02020603050405020304" pitchFamily="18" charset="0"/>
              </a:rPr>
              <a:t>返回后结果两行</a:t>
            </a:r>
            <a:r>
              <a:rPr lang="en-US" altLang="zh-CN" sz="1600" b="0" dirty="0">
                <a:cs typeface="Times New Roman" panose="02020603050405020304" pitchFamily="18" charset="0"/>
              </a:rPr>
              <a:t>) </a:t>
            </a:r>
            <a:endParaRPr lang="en-US" altLang="zh-CN" sz="1600" dirty="0"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567609" y="4165338"/>
            <a:ext cx="6442533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cs typeface="Times New Roman" panose="02020603050405020304" pitchFamily="18" charset="0"/>
              </a:rPr>
              <a:t>10、MERGE</a:t>
            </a:r>
            <a:r>
              <a:rPr lang="zh-CN" altLang="en-US" sz="2000" dirty="0"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cs typeface="Times New Roman" panose="02020603050405020304" pitchFamily="18" charset="0"/>
              </a:rPr>
              <a:t>MATCH+CREATE</a:t>
            </a:r>
            <a:r>
              <a:rPr lang="en-US" altLang="zh-CN" sz="1800" b="0" dirty="0">
                <a:ea typeface="+mn-ea"/>
                <a:cs typeface="Times New Roman" panose="02020603050405020304" pitchFamily="18" charset="0"/>
              </a:rPr>
              <a:t>	</a:t>
            </a:r>
          </a:p>
          <a:p>
            <a:pPr marL="0" lvl="2"/>
            <a:r>
              <a:rPr lang="en-US" altLang="zh-CN" sz="1800" b="0" dirty="0">
                <a:ea typeface="+mn-ea"/>
                <a:cs typeface="Times New Roman" panose="02020603050405020304" pitchFamily="18" charset="0"/>
              </a:rPr>
              <a:t>	</a:t>
            </a:r>
            <a:r>
              <a:rPr lang="zh-CN" altLang="en-US" sz="1600" b="0" dirty="0"/>
              <a:t>语法：</a:t>
            </a:r>
            <a:endParaRPr lang="en-US" altLang="zh-CN" sz="1800" b="0" dirty="0">
              <a:ea typeface="+mn-ea"/>
              <a:cs typeface="Times New Roman" panose="02020603050405020304" pitchFamily="18" charset="0"/>
            </a:endParaRPr>
          </a:p>
          <a:p>
            <a:r>
              <a:rPr lang="en-US" altLang="zh-CN" sz="18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	</a:t>
            </a:r>
            <a:r>
              <a:rPr lang="en-US" altLang="zh-CN" sz="14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MERGE (&lt;node-name&gt;:&lt;label-name&gt;</a:t>
            </a:r>
          </a:p>
          <a:p>
            <a:r>
              <a:rPr lang="en-US" altLang="zh-CN" sz="14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	{</a:t>
            </a:r>
          </a:p>
          <a:p>
            <a:pPr lvl="3"/>
            <a:r>
              <a:rPr lang="en-US" altLang="zh-CN" sz="14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 &lt;key&gt;:&lt;1-Value&gt;</a:t>
            </a:r>
          </a:p>
          <a:p>
            <a:pPr lvl="2"/>
            <a:r>
              <a:rPr lang="en-US" altLang="zh-CN" sz="14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            .....</a:t>
            </a:r>
          </a:p>
          <a:p>
            <a:pPr lvl="2"/>
            <a:r>
              <a:rPr lang="en-US" altLang="zh-CN" sz="14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           &lt;n-key&gt;:&lt;n-Value&gt;</a:t>
            </a:r>
          </a:p>
          <a:p>
            <a:r>
              <a:rPr lang="en-US" altLang="zh-CN" sz="14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	})</a:t>
            </a:r>
            <a:endParaRPr lang="en-US" altLang="zh-CN" sz="1400" b="0" dirty="0">
              <a:ea typeface="+mn-ea"/>
              <a:cs typeface="Times New Roman" panose="02020603050405020304" pitchFamily="18" charset="0"/>
            </a:endParaRPr>
          </a:p>
          <a:p>
            <a:pPr lvl="2"/>
            <a:endParaRPr lang="en-US" altLang="zh-CN" sz="1400" b="0" dirty="0">
              <a:ea typeface="+mn-ea"/>
              <a:cs typeface="Times New Roman" panose="02020603050405020304" pitchFamily="18" charset="0"/>
            </a:endParaRPr>
          </a:p>
          <a:p>
            <a:pPr lvl="2"/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CQL MERGE</a:t>
            </a:r>
            <a:r>
              <a:rPr lang="zh-CN" altLang="en-US" sz="1400" b="0" dirty="0">
                <a:ea typeface="+mn-ea"/>
                <a:cs typeface="Times New Roman" panose="02020603050405020304" pitchFamily="18" charset="0"/>
              </a:rPr>
              <a:t>命令将新的节点添加到数据库，且只有当它不存在时。</a:t>
            </a:r>
            <a:endParaRPr lang="en-US" altLang="zh-CN" sz="1400" b="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487265" y="2924944"/>
            <a:ext cx="4480943" cy="100811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 b="0">
              <a:latin typeface="Tahoma" pitchFamily="34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3487265" y="4797152"/>
            <a:ext cx="4248472" cy="136815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 b="0">
              <a:latin typeface="Tahoma" pitchFamily="34" charset="0"/>
            </a:endParaRP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0DD4C3A1-772B-420F-8418-9A7E3274B997}"/>
              </a:ext>
            </a:extLst>
          </p:cNvPr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lvl="0" algn="r">
              <a:defRPr/>
            </a:pPr>
            <a:r>
              <a:rPr lang="en-US" altLang="zh-CN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Neo4j—</a:t>
            </a:r>
            <a:r>
              <a:rPr lang="zh-CN" altLang="en-US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常用命令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itchFamily="34" charset="0"/>
              <a:ea typeface="黑体" pitchFamily="2" charset="-122"/>
              <a:cs typeface="+mn-cs"/>
            </a:endParaRPr>
          </a:p>
        </p:txBody>
      </p:sp>
      <p:sp>
        <p:nvSpPr>
          <p:cNvPr id="15" name="灯片编号占位符 5">
            <a:extLst>
              <a:ext uri="{FF2B5EF4-FFF2-40B4-BE49-F238E27FC236}">
                <a16:creationId xmlns:a16="http://schemas.microsoft.com/office/drawing/2014/main" id="{FBC87851-65DC-4EC6-AD93-1EEC97725F2C}"/>
              </a:ext>
            </a:extLst>
          </p:cNvPr>
          <p:cNvSpPr txBox="1">
            <a:spLocks noGrp="1"/>
          </p:cNvSpPr>
          <p:nvPr/>
        </p:nvSpPr>
        <p:spPr bwMode="auto">
          <a:xfrm>
            <a:off x="10287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41507284-0812-45A7-8B30-66F2C5187041}" type="slidenum">
              <a:rPr kumimoji="0" lang="zh-CN" altLang="en-US" sz="1400" b="0">
                <a:latin typeface="Tahoma" panose="020B0604030504040204" pitchFamily="34" charset="0"/>
              </a:rPr>
              <a:pPr algn="r" eaLnBrk="1" hangingPunct="1"/>
              <a:t>17</a:t>
            </a:fld>
            <a:endParaRPr kumimoji="0" lang="en-US" altLang="zh-CN" sz="1400" b="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238893"/>
      </p:ext>
    </p:extLst>
  </p:cSld>
  <p:clrMapOvr>
    <a:masterClrMapping/>
  </p:clrMapOvr>
  <p:transition advTm="5937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055440" y="1412777"/>
            <a:ext cx="33265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二、</a:t>
            </a:r>
            <a:r>
              <a:rPr lang="en-US" altLang="zh-CN" dirty="0"/>
              <a:t>CQL</a:t>
            </a:r>
            <a:r>
              <a:rPr lang="zh-CN" altLang="en-US" dirty="0"/>
              <a:t>常用命令使用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567608" y="1844824"/>
            <a:ext cx="372409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cs typeface="Times New Roman" panose="02020603050405020304" pitchFamily="18" charset="0"/>
              </a:rPr>
              <a:t>11、IN</a:t>
            </a:r>
            <a:r>
              <a:rPr lang="zh-CN" altLang="en-US" sz="2000" dirty="0">
                <a:cs typeface="Times New Roman" panose="02020603050405020304" pitchFamily="18" charset="0"/>
              </a:rPr>
              <a:t>：</a:t>
            </a:r>
            <a:r>
              <a:rPr lang="zh-CN" altLang="en-US" sz="2000" dirty="0"/>
              <a:t>提供值的集合</a:t>
            </a:r>
            <a:endParaRPr lang="en-US" altLang="zh-CN" sz="2000" dirty="0"/>
          </a:p>
          <a:p>
            <a:pPr lvl="2"/>
            <a:r>
              <a:rPr lang="zh-CN" altLang="en-US" sz="1600" b="0" dirty="0">
                <a:ea typeface="+mn-ea"/>
                <a:cs typeface="Times New Roman" panose="02020603050405020304" pitchFamily="18" charset="0"/>
              </a:rPr>
              <a:t>语法：</a:t>
            </a:r>
            <a:endParaRPr lang="en-US" altLang="zh-CN" sz="1600" b="0" dirty="0">
              <a:ea typeface="+mn-ea"/>
              <a:cs typeface="Times New Roman" panose="02020603050405020304" pitchFamily="18" charset="0"/>
            </a:endParaRPr>
          </a:p>
          <a:p>
            <a:pPr lvl="2"/>
            <a:r>
              <a:rPr lang="en-US" altLang="zh-CN" sz="1400" b="0" dirty="0">
                <a:solidFill>
                  <a:srgbClr val="FF0000"/>
                </a:solidFill>
                <a:cs typeface="Times New Roman" panose="02020603050405020304" pitchFamily="18" charset="0"/>
              </a:rPr>
              <a:t>IN</a:t>
            </a:r>
            <a:r>
              <a:rPr lang="en-US" altLang="zh-CN" sz="1400" b="0" dirty="0">
                <a:cs typeface="Times New Roman" panose="02020603050405020304" pitchFamily="18" charset="0"/>
              </a:rPr>
              <a:t> [&lt;Collection-of-values&gt;]</a:t>
            </a:r>
          </a:p>
          <a:p>
            <a:pPr lvl="2"/>
            <a:r>
              <a:rPr lang="zh-CN" altLang="en-US" sz="1600" b="0" dirty="0"/>
              <a:t>示例：</a:t>
            </a:r>
            <a:endParaRPr lang="en-US" altLang="zh-CN" sz="1600" b="0" dirty="0"/>
          </a:p>
          <a:p>
            <a:r>
              <a:rPr lang="en-US" altLang="zh-CN" sz="1800" b="0" dirty="0">
                <a:ea typeface="+mn-ea"/>
                <a:cs typeface="Times New Roman" panose="02020603050405020304" pitchFamily="18" charset="0"/>
              </a:rPr>
              <a:t>	</a:t>
            </a:r>
            <a:r>
              <a:rPr lang="en-US" altLang="zh-CN" sz="14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MATCH </a:t>
            </a:r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1400" b="0" dirty="0" err="1">
                <a:ea typeface="+mn-ea"/>
                <a:cs typeface="Times New Roman" panose="02020603050405020304" pitchFamily="18" charset="0"/>
              </a:rPr>
              <a:t>e:Employee</a:t>
            </a:r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) </a:t>
            </a:r>
          </a:p>
          <a:p>
            <a:r>
              <a:rPr lang="en-US" altLang="zh-CN" sz="14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	WHERE </a:t>
            </a:r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e.id </a:t>
            </a:r>
            <a:r>
              <a:rPr lang="en-US" altLang="zh-CN" sz="14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IN</a:t>
            </a:r>
            <a:r>
              <a:rPr lang="en-US" altLang="zh-CN" sz="1400" b="0" dirty="0">
                <a:ea typeface="+mn-ea"/>
                <a:cs typeface="Times New Roman" panose="02020603050405020304" pitchFamily="18" charset="0"/>
              </a:rPr>
              <a:t> [123,124]</a:t>
            </a:r>
          </a:p>
          <a:p>
            <a:r>
              <a:rPr lang="en-US" altLang="zh-CN" sz="1400" b="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	RETURN </a:t>
            </a:r>
            <a:r>
              <a:rPr lang="en-US" altLang="zh-CN" sz="1400" b="0" dirty="0" err="1">
                <a:ea typeface="+mn-ea"/>
                <a:cs typeface="Times New Roman" panose="02020603050405020304" pitchFamily="18" charset="0"/>
              </a:rPr>
              <a:t>e.id,e.name,e.sal,e.deptno</a:t>
            </a:r>
            <a:endParaRPr lang="en-US" altLang="zh-CN" sz="1600" dirty="0"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487265" y="2636912"/>
            <a:ext cx="4480943" cy="100811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 b="0">
              <a:latin typeface="Tahoma" pitchFamily="34" charset="0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4751658" y="3140968"/>
            <a:ext cx="792088" cy="28803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 b="0">
              <a:latin typeface="Tahoma" pitchFamily="34" charset="0"/>
            </a:endParaRPr>
          </a:p>
        </p:txBody>
      </p:sp>
      <p:cxnSp>
        <p:nvCxnSpPr>
          <p:cNvPr id="5" name="直接箭头连接符 4"/>
          <p:cNvCxnSpPr>
            <a:stCxn id="3" idx="3"/>
          </p:cNvCxnSpPr>
          <p:nvPr/>
        </p:nvCxnSpPr>
        <p:spPr bwMode="auto">
          <a:xfrm flipV="1">
            <a:off x="5543746" y="2996952"/>
            <a:ext cx="552254" cy="28803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6" name="文本框 5"/>
          <p:cNvSpPr txBox="1"/>
          <p:nvPr/>
        </p:nvSpPr>
        <p:spPr>
          <a:xfrm>
            <a:off x="6023993" y="2852689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0" dirty="0">
                <a:latin typeface="+mn-ea"/>
                <a:ea typeface="+mn-ea"/>
              </a:rPr>
              <a:t>集合</a:t>
            </a:r>
            <a:endParaRPr lang="zh-CN" altLang="en-US" b="0" dirty="0">
              <a:latin typeface="+mn-ea"/>
              <a:ea typeface="+mn-ea"/>
            </a:endParaRP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C4DB7857-1BB9-452F-B83F-CBCB939BEA43}"/>
              </a:ext>
            </a:extLst>
          </p:cNvPr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lvl="0" algn="r">
              <a:defRPr/>
            </a:pPr>
            <a:r>
              <a:rPr lang="en-US" altLang="zh-CN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Neo4j—</a:t>
            </a:r>
            <a:r>
              <a:rPr lang="zh-CN" altLang="en-US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常用命令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itchFamily="34" charset="0"/>
              <a:ea typeface="黑体" pitchFamily="2" charset="-122"/>
              <a:cs typeface="+mn-cs"/>
            </a:endParaRPr>
          </a:p>
        </p:txBody>
      </p:sp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id="{15BBF11F-5320-4321-BB2A-A8DC29B198C6}"/>
              </a:ext>
            </a:extLst>
          </p:cNvPr>
          <p:cNvSpPr txBox="1">
            <a:spLocks noGrp="1"/>
          </p:cNvSpPr>
          <p:nvPr/>
        </p:nvSpPr>
        <p:spPr bwMode="auto">
          <a:xfrm>
            <a:off x="10287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41507284-0812-45A7-8B30-66F2C5187041}" type="slidenum">
              <a:rPr kumimoji="0" lang="zh-CN" altLang="en-US" sz="1400" b="0">
                <a:latin typeface="Tahoma" panose="020B0604030504040204" pitchFamily="34" charset="0"/>
              </a:rPr>
              <a:pPr algn="r" eaLnBrk="1" hangingPunct="1"/>
              <a:t>18</a:t>
            </a:fld>
            <a:endParaRPr kumimoji="0" lang="en-US" altLang="zh-CN" sz="1400" b="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0226522"/>
      </p:ext>
    </p:extLst>
  </p:cSld>
  <p:clrMapOvr>
    <a:masterClrMapping/>
  </p:clrMapOvr>
  <p:transition advTm="5937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047947" y="1412777"/>
            <a:ext cx="27077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三、</a:t>
            </a:r>
            <a:r>
              <a:rPr lang="en-US" altLang="zh-CN" dirty="0"/>
              <a:t>CQL</a:t>
            </a:r>
            <a:r>
              <a:rPr lang="zh-CN" altLang="en-US" dirty="0"/>
              <a:t>常用函数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567609" y="1844824"/>
            <a:ext cx="18614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cs typeface="Times New Roman" panose="02020603050405020304" pitchFamily="18" charset="0"/>
              </a:rPr>
              <a:t>1、</a:t>
            </a:r>
            <a:r>
              <a:rPr lang="zh-CN" altLang="en-US" sz="2000" dirty="0"/>
              <a:t>字符串函数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711624" y="2244934"/>
            <a:ext cx="7526548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p"/>
            </a:pPr>
            <a:r>
              <a:rPr lang="en-US" altLang="zh-CN" sz="1800" dirty="0">
                <a:solidFill>
                  <a:srgbClr val="FF0000"/>
                </a:solidFill>
              </a:rPr>
              <a:t>UPPER</a:t>
            </a:r>
            <a:r>
              <a:rPr lang="en-US" altLang="zh-CN" sz="1800" dirty="0"/>
              <a:t>:</a:t>
            </a:r>
            <a:r>
              <a:rPr lang="zh-CN" altLang="en-US" sz="1800" dirty="0"/>
              <a:t>字母大写</a:t>
            </a:r>
            <a:endParaRPr lang="en-US" altLang="zh-CN" sz="1800" dirty="0"/>
          </a:p>
          <a:p>
            <a:pPr lvl="1"/>
            <a:r>
              <a:rPr lang="zh-CN" altLang="en-US" sz="1800" dirty="0"/>
              <a:t>语法：</a:t>
            </a:r>
            <a:r>
              <a:rPr lang="en-US" altLang="zh-CN" sz="1400" b="0" dirty="0">
                <a:cs typeface="Times New Roman" panose="02020603050405020304" pitchFamily="18" charset="0"/>
              </a:rPr>
              <a:t>UPPER (&lt;input-string&gt;)</a:t>
            </a:r>
          </a:p>
          <a:p>
            <a:pPr lvl="1"/>
            <a:r>
              <a:rPr lang="zh-CN" altLang="en-US" sz="1800" dirty="0"/>
              <a:t>示例：</a:t>
            </a:r>
            <a:r>
              <a:rPr lang="en-US" altLang="zh-CN" sz="1400" b="0" dirty="0">
                <a:solidFill>
                  <a:srgbClr val="FF0000"/>
                </a:solidFill>
                <a:cs typeface="Times New Roman" panose="02020603050405020304" pitchFamily="18" charset="0"/>
              </a:rPr>
              <a:t>MATCH</a:t>
            </a:r>
            <a:r>
              <a:rPr lang="en-US" altLang="zh-CN" sz="1400" b="0" dirty="0">
                <a:cs typeface="Times New Roman" panose="02020603050405020304" pitchFamily="18" charset="0"/>
              </a:rPr>
              <a:t> (e:Employee)  RETURN e.id, </a:t>
            </a:r>
            <a:r>
              <a:rPr lang="en-US" altLang="zh-CN" sz="1400" dirty="0">
                <a:solidFill>
                  <a:srgbClr val="FF0000"/>
                </a:solidFill>
                <a:cs typeface="Times New Roman" panose="02020603050405020304" pitchFamily="18" charset="0"/>
              </a:rPr>
              <a:t>UPPER</a:t>
            </a:r>
            <a:r>
              <a:rPr lang="en-US" altLang="zh-CN" sz="1400" b="0" dirty="0">
                <a:cs typeface="Times New Roman" panose="02020603050405020304" pitchFamily="18" charset="0"/>
              </a:rPr>
              <a:t>(e.name), </a:t>
            </a:r>
            <a:r>
              <a:rPr lang="en-US" altLang="zh-CN" sz="1400" b="0" dirty="0" err="1">
                <a:cs typeface="Times New Roman" panose="02020603050405020304" pitchFamily="18" charset="0"/>
              </a:rPr>
              <a:t>e.sal</a:t>
            </a:r>
            <a:r>
              <a:rPr lang="en-US" altLang="zh-CN" sz="1400" b="0" dirty="0">
                <a:cs typeface="Times New Roman" panose="02020603050405020304" pitchFamily="18" charset="0"/>
              </a:rPr>
              <a:t>, </a:t>
            </a:r>
            <a:r>
              <a:rPr lang="en-US" altLang="zh-CN" sz="1400" b="0" dirty="0" err="1">
                <a:cs typeface="Times New Roman" panose="02020603050405020304" pitchFamily="18" charset="0"/>
              </a:rPr>
              <a:t>e.deptno</a:t>
            </a:r>
            <a:endParaRPr lang="en-US" altLang="zh-CN" sz="1400" b="0" dirty="0">
              <a:cs typeface="Times New Roman" panose="02020603050405020304" pitchFamily="18" charset="0"/>
            </a:endParaRPr>
          </a:p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p"/>
            </a:pPr>
            <a:r>
              <a:rPr lang="en-US" altLang="zh-CN" sz="1800" dirty="0">
                <a:solidFill>
                  <a:srgbClr val="FF0000"/>
                </a:solidFill>
              </a:rPr>
              <a:t>LOWER</a:t>
            </a:r>
            <a:r>
              <a:rPr lang="en-US" altLang="zh-CN" sz="1800" dirty="0"/>
              <a:t>：</a:t>
            </a:r>
            <a:r>
              <a:rPr lang="zh-CN" altLang="en-US" sz="1800" dirty="0"/>
              <a:t>字母小写</a:t>
            </a:r>
            <a:endParaRPr lang="en-US" altLang="zh-CN" sz="1800" dirty="0"/>
          </a:p>
          <a:p>
            <a:pPr lvl="1"/>
            <a:r>
              <a:rPr lang="zh-CN" altLang="en-US" sz="1800" dirty="0"/>
              <a:t>语法：</a:t>
            </a:r>
            <a:r>
              <a:rPr lang="en-US" altLang="zh-CN" sz="1400" b="0" dirty="0">
                <a:cs typeface="Times New Roman" panose="02020603050405020304" pitchFamily="18" charset="0"/>
              </a:rPr>
              <a:t>LOWER (&lt;input-string&gt;)</a:t>
            </a:r>
          </a:p>
          <a:p>
            <a:pPr lvl="1"/>
            <a:r>
              <a:rPr lang="zh-CN" altLang="en-US" sz="1800" dirty="0">
                <a:solidFill>
                  <a:srgbClr val="000000"/>
                </a:solidFill>
              </a:rPr>
              <a:t>示例：</a:t>
            </a:r>
            <a:r>
              <a:rPr lang="en-US" altLang="zh-CN" sz="1400" b="0" dirty="0">
                <a:solidFill>
                  <a:srgbClr val="FF0000"/>
                </a:solidFill>
                <a:cs typeface="Times New Roman" panose="02020603050405020304" pitchFamily="18" charset="0"/>
              </a:rPr>
              <a:t> MATCH</a:t>
            </a:r>
            <a:r>
              <a:rPr lang="en-US" altLang="zh-CN" sz="1400" b="0" dirty="0">
                <a:cs typeface="Times New Roman" panose="02020603050405020304" pitchFamily="18" charset="0"/>
              </a:rPr>
              <a:t> (e:Employee)  RETURN e.id, </a:t>
            </a:r>
            <a:r>
              <a:rPr lang="en-US" altLang="zh-CN" sz="1400" dirty="0">
                <a:solidFill>
                  <a:srgbClr val="FF0000"/>
                </a:solidFill>
                <a:cs typeface="Times New Roman" panose="02020603050405020304" pitchFamily="18" charset="0"/>
              </a:rPr>
              <a:t>LOWER</a:t>
            </a:r>
            <a:r>
              <a:rPr lang="en-US" altLang="zh-CN" sz="1400" b="0" dirty="0">
                <a:cs typeface="Times New Roman" panose="02020603050405020304" pitchFamily="18" charset="0"/>
              </a:rPr>
              <a:t>(e.name), </a:t>
            </a:r>
            <a:r>
              <a:rPr lang="en-US" altLang="zh-CN" sz="1400" b="0" dirty="0" err="1">
                <a:cs typeface="Times New Roman" panose="02020603050405020304" pitchFamily="18" charset="0"/>
              </a:rPr>
              <a:t>e.sal</a:t>
            </a:r>
            <a:r>
              <a:rPr lang="en-US" altLang="zh-CN" sz="1400" b="0" dirty="0">
                <a:cs typeface="Times New Roman" panose="02020603050405020304" pitchFamily="18" charset="0"/>
              </a:rPr>
              <a:t>, </a:t>
            </a:r>
            <a:r>
              <a:rPr lang="en-US" altLang="zh-CN" sz="1400" b="0" dirty="0" err="1">
                <a:cs typeface="Times New Roman" panose="02020603050405020304" pitchFamily="18" charset="0"/>
              </a:rPr>
              <a:t>e.deptno</a:t>
            </a:r>
            <a:endParaRPr lang="en-US" altLang="zh-CN" sz="1400" b="0" dirty="0">
              <a:cs typeface="Times New Roman" panose="02020603050405020304" pitchFamily="18" charset="0"/>
            </a:endParaRPr>
          </a:p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p"/>
            </a:pPr>
            <a:r>
              <a:rPr lang="en-US" altLang="zh-CN" sz="1800" dirty="0">
                <a:solidFill>
                  <a:srgbClr val="FF0000"/>
                </a:solidFill>
              </a:rPr>
              <a:t>SBUSTRING</a:t>
            </a:r>
            <a:r>
              <a:rPr lang="en-US" altLang="zh-CN" sz="1800" dirty="0"/>
              <a:t>：</a:t>
            </a:r>
            <a:r>
              <a:rPr lang="zh-CN" altLang="en-US" sz="1800" dirty="0"/>
              <a:t>获取子字符串</a:t>
            </a:r>
            <a:endParaRPr lang="en-US" altLang="zh-CN" sz="1800" dirty="0"/>
          </a:p>
          <a:p>
            <a:pPr lvl="1"/>
            <a:r>
              <a:rPr lang="zh-CN" altLang="en-US" sz="1800" dirty="0"/>
              <a:t>语法：</a:t>
            </a:r>
            <a:r>
              <a:rPr lang="en-US" altLang="zh-CN" sz="1400" b="0" dirty="0">
                <a:cs typeface="Times New Roman" panose="02020603050405020304" pitchFamily="18" charset="0"/>
              </a:rPr>
              <a:t>SUBSTRING(&lt;input-string&gt;,&lt;startIndex&gt;, &lt;endIndex&gt;)</a:t>
            </a:r>
          </a:p>
          <a:p>
            <a:pPr lvl="1"/>
            <a:r>
              <a:rPr lang="zh-CN" altLang="en-US" sz="1800" dirty="0">
                <a:solidFill>
                  <a:srgbClr val="000000"/>
                </a:solidFill>
              </a:rPr>
              <a:t>示例：</a:t>
            </a:r>
            <a:r>
              <a:rPr lang="en-US" altLang="zh-CN" sz="1400" b="0" dirty="0">
                <a:solidFill>
                  <a:srgbClr val="FF0000"/>
                </a:solidFill>
                <a:cs typeface="Times New Roman" panose="02020603050405020304" pitchFamily="18" charset="0"/>
              </a:rPr>
              <a:t>MATCH </a:t>
            </a:r>
            <a:r>
              <a:rPr lang="en-US" altLang="zh-CN" sz="1400" b="0" dirty="0">
                <a:cs typeface="Times New Roman" panose="02020603050405020304" pitchFamily="18" charset="0"/>
              </a:rPr>
              <a:t>(e:Employee)  </a:t>
            </a:r>
            <a:r>
              <a:rPr lang="en-US" altLang="zh-CN" sz="1400" b="0" dirty="0">
                <a:solidFill>
                  <a:srgbClr val="FF0000"/>
                </a:solidFill>
                <a:cs typeface="Times New Roman" panose="02020603050405020304" pitchFamily="18" charset="0"/>
              </a:rPr>
              <a:t>RETURN </a:t>
            </a:r>
            <a:r>
              <a:rPr lang="en-US" altLang="zh-CN" sz="1400" b="0" dirty="0">
                <a:cs typeface="Times New Roman" panose="02020603050405020304" pitchFamily="18" charset="0"/>
              </a:rPr>
              <a:t>e.id, </a:t>
            </a:r>
            <a:r>
              <a:rPr lang="en-US" altLang="zh-CN" sz="1400" dirty="0">
                <a:solidFill>
                  <a:srgbClr val="FF0000"/>
                </a:solidFill>
                <a:cs typeface="Times New Roman" panose="02020603050405020304" pitchFamily="18" charset="0"/>
              </a:rPr>
              <a:t>SBUSTRING</a:t>
            </a:r>
            <a:r>
              <a:rPr lang="en-US" altLang="zh-CN" sz="1400" b="0" dirty="0">
                <a:cs typeface="Times New Roman" panose="02020603050405020304" pitchFamily="18" charset="0"/>
              </a:rPr>
              <a:t>(e.name,2,8), </a:t>
            </a:r>
            <a:r>
              <a:rPr lang="en-US" altLang="zh-CN" sz="1400" b="0" dirty="0" err="1">
                <a:cs typeface="Times New Roman" panose="02020603050405020304" pitchFamily="18" charset="0"/>
              </a:rPr>
              <a:t>e.sal</a:t>
            </a:r>
            <a:r>
              <a:rPr lang="en-US" altLang="zh-CN" sz="1400" b="0" dirty="0">
                <a:cs typeface="Times New Roman" panose="02020603050405020304" pitchFamily="18" charset="0"/>
              </a:rPr>
              <a:t>, </a:t>
            </a:r>
            <a:r>
              <a:rPr lang="en-US" altLang="zh-CN" sz="1400" b="0" dirty="0" err="1">
                <a:cs typeface="Times New Roman" panose="02020603050405020304" pitchFamily="18" charset="0"/>
              </a:rPr>
              <a:t>e.deptno</a:t>
            </a:r>
            <a:endParaRPr lang="en-US" altLang="zh-CN" sz="1400" b="0" dirty="0">
              <a:cs typeface="Times New Roman" panose="02020603050405020304" pitchFamily="18" charset="0"/>
            </a:endParaRPr>
          </a:p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p"/>
            </a:pPr>
            <a:r>
              <a:rPr lang="en-US" altLang="zh-CN" sz="1800" dirty="0">
                <a:solidFill>
                  <a:srgbClr val="FF0000"/>
                </a:solidFill>
              </a:rPr>
              <a:t>REPLACE</a:t>
            </a:r>
            <a:r>
              <a:rPr lang="en-US" altLang="zh-CN" sz="1800" dirty="0"/>
              <a:t>：</a:t>
            </a:r>
            <a:r>
              <a:rPr lang="zh-CN" altLang="en-US" sz="1800" dirty="0"/>
              <a:t>替换</a:t>
            </a:r>
            <a:endParaRPr lang="en-US" altLang="zh-CN" sz="1800" dirty="0"/>
          </a:p>
          <a:p>
            <a:pPr lvl="1"/>
            <a:r>
              <a:rPr lang="zh-CN" altLang="en-US" sz="1800" dirty="0"/>
              <a:t>语法：</a:t>
            </a:r>
            <a:r>
              <a:rPr lang="en-US" altLang="zh-CN" sz="1400" b="0" dirty="0">
                <a:cs typeface="Times New Roman" panose="02020603050405020304" pitchFamily="18" charset="0"/>
              </a:rPr>
              <a:t>REPLACE(&lt;original-string, search-string, replace-string)</a:t>
            </a:r>
          </a:p>
          <a:p>
            <a:pPr lvl="1"/>
            <a:r>
              <a:rPr lang="zh-CN" altLang="en-US" sz="1800" dirty="0">
                <a:solidFill>
                  <a:srgbClr val="000000"/>
                </a:solidFill>
              </a:rPr>
              <a:t>示例：</a:t>
            </a:r>
            <a:r>
              <a:rPr lang="en-US" altLang="zh-CN" sz="1400" b="0" dirty="0">
                <a:solidFill>
                  <a:srgbClr val="FF0000"/>
                </a:solidFill>
                <a:cs typeface="Times New Roman" panose="02020603050405020304" pitchFamily="18" charset="0"/>
              </a:rPr>
              <a:t>MATCH</a:t>
            </a:r>
            <a:r>
              <a:rPr lang="en-US" altLang="zh-CN" sz="1400" b="0" dirty="0">
                <a:solidFill>
                  <a:srgbClr val="000000"/>
                </a:solidFill>
                <a:cs typeface="Times New Roman" panose="02020603050405020304" pitchFamily="18" charset="0"/>
              </a:rPr>
              <a:t> (e:Employee)  </a:t>
            </a:r>
            <a:r>
              <a:rPr lang="en-US" altLang="zh-CN" sz="1400" b="0" dirty="0">
                <a:solidFill>
                  <a:srgbClr val="FF0000"/>
                </a:solidFill>
                <a:cs typeface="Times New Roman" panose="02020603050405020304" pitchFamily="18" charset="0"/>
              </a:rPr>
              <a:t>RETURN</a:t>
            </a:r>
            <a:r>
              <a:rPr lang="en-US" altLang="zh-CN" sz="1400" b="0" dirty="0">
                <a:solidFill>
                  <a:srgbClr val="000000"/>
                </a:solidFill>
                <a:cs typeface="Times New Roman" panose="02020603050405020304" pitchFamily="18" charset="0"/>
              </a:rPr>
              <a:t> e.id, </a:t>
            </a:r>
            <a:r>
              <a:rPr lang="en-US" altLang="zh-CN" sz="1400" b="0" dirty="0">
                <a:solidFill>
                  <a:srgbClr val="FF0000"/>
                </a:solidFill>
                <a:cs typeface="Times New Roman" panose="02020603050405020304" pitchFamily="18" charset="0"/>
              </a:rPr>
              <a:t>REPLACE</a:t>
            </a:r>
            <a:r>
              <a:rPr lang="en-US" altLang="zh-CN" sz="1400" b="0" dirty="0">
                <a:solidFill>
                  <a:srgbClr val="000000"/>
                </a:solidFill>
                <a:cs typeface="Times New Roman" panose="02020603050405020304" pitchFamily="18" charset="0"/>
              </a:rPr>
              <a:t>(e.name, “</a:t>
            </a:r>
            <a:r>
              <a:rPr lang="en-US" altLang="zh-CN" sz="1400" b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w”,“m</a:t>
            </a:r>
            <a:r>
              <a:rPr lang="en-US" altLang="zh-CN" sz="1400" b="0" dirty="0">
                <a:solidFill>
                  <a:srgbClr val="000000"/>
                </a:solidFill>
                <a:cs typeface="Times New Roman" panose="02020603050405020304" pitchFamily="18" charset="0"/>
              </a:rPr>
              <a:t>”), </a:t>
            </a:r>
            <a:r>
              <a:rPr lang="en-US" altLang="zh-CN" sz="1400" b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e.sal</a:t>
            </a:r>
            <a:r>
              <a:rPr lang="en-US" altLang="zh-CN" sz="1400" b="0" dirty="0">
                <a:solidFill>
                  <a:srgbClr val="000000"/>
                </a:solidFill>
                <a:cs typeface="Times New Roman" panose="02020603050405020304" pitchFamily="18" charset="0"/>
              </a:rPr>
              <a:t>, </a:t>
            </a:r>
            <a:r>
              <a:rPr lang="en-US" altLang="zh-CN" sz="1400" b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e.deptno</a:t>
            </a:r>
            <a:endParaRPr lang="en-US" altLang="zh-CN" sz="2000" b="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055336" y="4276429"/>
            <a:ext cx="883722" cy="216024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 b="0">
              <a:latin typeface="Tahoma" pitchFamily="34" charset="0"/>
            </a:endParaRPr>
          </a:p>
        </p:txBody>
      </p:sp>
      <p:cxnSp>
        <p:nvCxnSpPr>
          <p:cNvPr id="12" name="直接箭头连接符 11"/>
          <p:cNvCxnSpPr>
            <a:stCxn id="8" idx="3"/>
          </p:cNvCxnSpPr>
          <p:nvPr/>
        </p:nvCxnSpPr>
        <p:spPr bwMode="auto">
          <a:xfrm flipV="1">
            <a:off x="7939058" y="4149081"/>
            <a:ext cx="173166" cy="23536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7968209" y="4005065"/>
            <a:ext cx="18357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0" dirty="0">
                <a:latin typeface="+mn-ea"/>
                <a:ea typeface="+mn-ea"/>
              </a:rPr>
              <a:t>若省略，则由</a:t>
            </a:r>
            <a:r>
              <a:rPr lang="en-US" altLang="zh-CN" sz="1200" b="0" dirty="0">
                <a:ea typeface="+mn-ea"/>
                <a:cs typeface="Times New Roman" panose="02020603050405020304" pitchFamily="18" charset="0"/>
              </a:rPr>
              <a:t>start</a:t>
            </a:r>
            <a:r>
              <a:rPr lang="zh-CN" altLang="en-US" sz="1200" b="0" dirty="0">
                <a:latin typeface="+mn-ea"/>
                <a:ea typeface="+mn-ea"/>
              </a:rPr>
              <a:t>到结尾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A57BDF74-57A2-4B83-81D1-C3D3D7DC4FC9}"/>
              </a:ext>
            </a:extLst>
          </p:cNvPr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lvl="0" algn="r">
              <a:defRPr/>
            </a:pPr>
            <a:r>
              <a:rPr lang="en-US" altLang="zh-CN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Neo4j—</a:t>
            </a:r>
            <a:r>
              <a:rPr lang="zh-CN" altLang="en-US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常用函数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itchFamily="34" charset="0"/>
              <a:ea typeface="黑体" pitchFamily="2" charset="-122"/>
              <a:cs typeface="+mn-cs"/>
            </a:endParaRPr>
          </a:p>
        </p:txBody>
      </p:sp>
      <p:sp>
        <p:nvSpPr>
          <p:cNvPr id="15" name="灯片编号占位符 5">
            <a:extLst>
              <a:ext uri="{FF2B5EF4-FFF2-40B4-BE49-F238E27FC236}">
                <a16:creationId xmlns:a16="http://schemas.microsoft.com/office/drawing/2014/main" id="{6126B593-E198-47C9-86C8-790B8333EB66}"/>
              </a:ext>
            </a:extLst>
          </p:cNvPr>
          <p:cNvSpPr txBox="1">
            <a:spLocks noGrp="1"/>
          </p:cNvSpPr>
          <p:nvPr/>
        </p:nvSpPr>
        <p:spPr bwMode="auto">
          <a:xfrm>
            <a:off x="10287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41507284-0812-45A7-8B30-66F2C5187041}" type="slidenum">
              <a:rPr kumimoji="0" lang="zh-CN" altLang="en-US" sz="1400" b="0">
                <a:latin typeface="Tahoma" panose="020B0604030504040204" pitchFamily="34" charset="0"/>
              </a:rPr>
              <a:pPr algn="r" eaLnBrk="1" hangingPunct="1"/>
              <a:t>19</a:t>
            </a:fld>
            <a:endParaRPr kumimoji="0" lang="en-US" altLang="zh-CN" sz="1400" b="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3717180"/>
      </p:ext>
    </p:extLst>
  </p:cSld>
  <p:clrMapOvr>
    <a:masterClrMapping/>
  </p:clrMapOvr>
  <p:transition advTm="5937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047947" y="1412777"/>
            <a:ext cx="27077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三、</a:t>
            </a:r>
            <a:r>
              <a:rPr lang="en-US" altLang="zh-CN" dirty="0"/>
              <a:t>CQL</a:t>
            </a:r>
            <a:r>
              <a:rPr lang="zh-CN" altLang="en-US" dirty="0"/>
              <a:t>常用函数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567608" y="1844824"/>
            <a:ext cx="16033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cs typeface="Times New Roman" panose="02020603050405020304" pitchFamily="18" charset="0"/>
              </a:rPr>
              <a:t>2、</a:t>
            </a:r>
            <a:r>
              <a:rPr lang="zh-CN" altLang="en-US" sz="2000" dirty="0"/>
              <a:t>聚合函数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711624" y="2244934"/>
            <a:ext cx="577369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p"/>
            </a:pPr>
            <a:r>
              <a:rPr lang="en-US" altLang="zh-CN" sz="1800" dirty="0">
                <a:solidFill>
                  <a:srgbClr val="FF0000"/>
                </a:solidFill>
              </a:rPr>
              <a:t>COUNT</a:t>
            </a:r>
            <a:r>
              <a:rPr lang="en-US" altLang="zh-CN" sz="1800" dirty="0"/>
              <a:t>:</a:t>
            </a:r>
            <a:r>
              <a:rPr lang="zh-CN" altLang="en-US" sz="1800" dirty="0"/>
              <a:t>返回由</a:t>
            </a:r>
            <a:r>
              <a:rPr lang="en-US" altLang="zh-CN" sz="1800" dirty="0">
                <a:cs typeface="Times New Roman" panose="02020603050405020304" pitchFamily="18" charset="0"/>
              </a:rPr>
              <a:t>MATCH</a:t>
            </a:r>
            <a:r>
              <a:rPr lang="zh-CN" altLang="en-US" sz="1800" dirty="0"/>
              <a:t>命令返回的行数</a:t>
            </a:r>
            <a:endParaRPr lang="en-US" altLang="zh-CN" sz="1800" dirty="0"/>
          </a:p>
          <a:p>
            <a:pPr lvl="1"/>
            <a:r>
              <a:rPr lang="zh-CN" altLang="en-US" sz="1800" dirty="0"/>
              <a:t>语法：</a:t>
            </a:r>
            <a:r>
              <a:rPr lang="en-US" altLang="zh-CN" sz="1400" b="0" dirty="0">
                <a:solidFill>
                  <a:srgbClr val="FF0000"/>
                </a:solidFill>
                <a:cs typeface="Times New Roman" panose="02020603050405020304" pitchFamily="18" charset="0"/>
              </a:rPr>
              <a:t>COUNT</a:t>
            </a:r>
            <a:r>
              <a:rPr lang="en-US" altLang="zh-CN" sz="1400" b="0" dirty="0">
                <a:cs typeface="Times New Roman" panose="02020603050405020304" pitchFamily="18" charset="0"/>
              </a:rPr>
              <a:t> (&lt;value&gt;)</a:t>
            </a:r>
          </a:p>
          <a:p>
            <a:pPr lvl="1"/>
            <a:r>
              <a:rPr lang="zh-CN" altLang="en-US" sz="1800" dirty="0"/>
              <a:t>示例：</a:t>
            </a:r>
            <a:r>
              <a:rPr lang="en-US" altLang="zh-CN" sz="1400" b="0" dirty="0">
                <a:solidFill>
                  <a:srgbClr val="FF0000"/>
                </a:solidFill>
                <a:cs typeface="Times New Roman" panose="02020603050405020304" pitchFamily="18" charset="0"/>
              </a:rPr>
              <a:t>MATCH</a:t>
            </a:r>
            <a:r>
              <a:rPr lang="en-US" altLang="zh-CN" sz="1400" b="0" dirty="0">
                <a:cs typeface="Times New Roman" panose="02020603050405020304" pitchFamily="18" charset="0"/>
              </a:rPr>
              <a:t> (e:Employee)  </a:t>
            </a:r>
            <a:r>
              <a:rPr lang="en-US" altLang="zh-CN" sz="1400" b="0" dirty="0">
                <a:solidFill>
                  <a:srgbClr val="FF0000"/>
                </a:solidFill>
                <a:cs typeface="Times New Roman" panose="02020603050405020304" pitchFamily="18" charset="0"/>
              </a:rPr>
              <a:t>RETURN</a:t>
            </a:r>
            <a:r>
              <a:rPr lang="en-US" altLang="zh-CN" sz="1400" b="0" dirty="0">
                <a:cs typeface="Times New Roman" panose="02020603050405020304" pitchFamily="18" charset="0"/>
              </a:rPr>
              <a:t> </a:t>
            </a:r>
            <a:r>
              <a:rPr lang="en-US" altLang="zh-CN" sz="1400" b="0" dirty="0">
                <a:solidFill>
                  <a:srgbClr val="FF0000"/>
                </a:solidFill>
                <a:cs typeface="Times New Roman" panose="02020603050405020304" pitchFamily="18" charset="0"/>
              </a:rPr>
              <a:t>COUNT</a:t>
            </a:r>
            <a:r>
              <a:rPr lang="en-US" altLang="zh-CN" sz="1400" b="0" dirty="0">
                <a:cs typeface="Times New Roman" panose="02020603050405020304" pitchFamily="18" charset="0"/>
              </a:rPr>
              <a:t> (*)</a:t>
            </a:r>
          </a:p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p"/>
            </a:pPr>
            <a:r>
              <a:rPr lang="en-US" altLang="zh-CN" sz="1800" dirty="0">
                <a:solidFill>
                  <a:srgbClr val="FF0000"/>
                </a:solidFill>
              </a:rPr>
              <a:t>MAX(MIN)</a:t>
            </a:r>
            <a:r>
              <a:rPr lang="en-US" altLang="zh-CN" sz="1800" dirty="0"/>
              <a:t>：</a:t>
            </a:r>
            <a:r>
              <a:rPr lang="zh-CN" altLang="en-US" sz="1800" dirty="0"/>
              <a:t>返回最大值</a:t>
            </a:r>
            <a:r>
              <a:rPr lang="en-US" altLang="zh-CN" sz="1800" dirty="0"/>
              <a:t>(</a:t>
            </a:r>
            <a:r>
              <a:rPr lang="zh-CN" altLang="en-US" sz="1800" dirty="0"/>
              <a:t>最小值</a:t>
            </a:r>
            <a:r>
              <a:rPr lang="en-US" altLang="zh-CN" sz="1800" dirty="0"/>
              <a:t>)</a:t>
            </a:r>
          </a:p>
          <a:p>
            <a:pPr lvl="1"/>
            <a:r>
              <a:rPr lang="zh-CN" altLang="en-US" sz="1800" dirty="0"/>
              <a:t>语法：</a:t>
            </a:r>
            <a:r>
              <a:rPr lang="en-US" altLang="zh-CN" sz="1400" b="0" dirty="0">
                <a:solidFill>
                  <a:srgbClr val="FF0000"/>
                </a:solidFill>
                <a:cs typeface="Times New Roman" panose="02020603050405020304" pitchFamily="18" charset="0"/>
              </a:rPr>
              <a:t>MAX/MIN</a:t>
            </a:r>
            <a:r>
              <a:rPr lang="en-US" altLang="zh-CN" sz="1400" b="0" dirty="0">
                <a:cs typeface="Times New Roman" panose="02020603050405020304" pitchFamily="18" charset="0"/>
              </a:rPr>
              <a:t>(&lt;property-name&gt; )</a:t>
            </a:r>
          </a:p>
          <a:p>
            <a:pPr lvl="1"/>
            <a:r>
              <a:rPr lang="zh-CN" altLang="en-US" sz="1800" dirty="0">
                <a:solidFill>
                  <a:srgbClr val="000000"/>
                </a:solidFill>
              </a:rPr>
              <a:t>示例：</a:t>
            </a:r>
            <a:r>
              <a:rPr lang="en-US" altLang="zh-CN" sz="1400" b="0" dirty="0">
                <a:solidFill>
                  <a:srgbClr val="FF0000"/>
                </a:solidFill>
                <a:cs typeface="Times New Roman" panose="02020603050405020304" pitchFamily="18" charset="0"/>
              </a:rPr>
              <a:t> MATCH</a:t>
            </a:r>
            <a:r>
              <a:rPr lang="en-US" altLang="zh-CN" sz="1400" b="0" dirty="0">
                <a:cs typeface="Times New Roman" panose="02020603050405020304" pitchFamily="18" charset="0"/>
              </a:rPr>
              <a:t> (e:Employee)  </a:t>
            </a:r>
            <a:r>
              <a:rPr lang="en-US" altLang="zh-CN" sz="1400" b="0" dirty="0">
                <a:solidFill>
                  <a:srgbClr val="FF0000"/>
                </a:solidFill>
                <a:cs typeface="Times New Roman" panose="02020603050405020304" pitchFamily="18" charset="0"/>
              </a:rPr>
              <a:t>RETURN</a:t>
            </a:r>
            <a:r>
              <a:rPr lang="en-US" altLang="zh-CN" sz="1400" b="0" dirty="0">
                <a:cs typeface="Times New Roman" panose="02020603050405020304" pitchFamily="18" charset="0"/>
              </a:rPr>
              <a:t>  </a:t>
            </a:r>
            <a:r>
              <a:rPr lang="en-US" altLang="zh-CN" sz="1400" b="0" dirty="0">
                <a:solidFill>
                  <a:srgbClr val="FF0000"/>
                </a:solidFill>
                <a:cs typeface="Times New Roman" panose="02020603050405020304" pitchFamily="18" charset="0"/>
              </a:rPr>
              <a:t>MAX</a:t>
            </a:r>
            <a:r>
              <a:rPr lang="en-US" altLang="zh-CN" sz="1400" b="0" dirty="0">
                <a:cs typeface="Times New Roman" panose="02020603050405020304" pitchFamily="18" charset="0"/>
              </a:rPr>
              <a:t> (</a:t>
            </a:r>
            <a:r>
              <a:rPr lang="en-US" altLang="zh-CN" sz="1400" b="0" dirty="0" err="1">
                <a:cs typeface="Times New Roman" panose="02020603050405020304" pitchFamily="18" charset="0"/>
              </a:rPr>
              <a:t>e.sal</a:t>
            </a:r>
            <a:r>
              <a:rPr lang="en-US" altLang="zh-CN" sz="1400" b="0" dirty="0">
                <a:cs typeface="Times New Roman" panose="02020603050405020304" pitchFamily="18" charset="0"/>
              </a:rPr>
              <a:t>), </a:t>
            </a:r>
            <a:r>
              <a:rPr lang="en-US" altLang="zh-CN" sz="1400" b="0" dirty="0">
                <a:solidFill>
                  <a:srgbClr val="FF0000"/>
                </a:solidFill>
                <a:cs typeface="Times New Roman" panose="02020603050405020304" pitchFamily="18" charset="0"/>
              </a:rPr>
              <a:t>MIN</a:t>
            </a:r>
            <a:r>
              <a:rPr lang="en-US" altLang="zh-CN" sz="1400" b="0" dirty="0">
                <a:cs typeface="Times New Roman" panose="02020603050405020304" pitchFamily="18" charset="0"/>
              </a:rPr>
              <a:t> (</a:t>
            </a:r>
            <a:r>
              <a:rPr lang="en-US" altLang="zh-CN" sz="1400" b="0" dirty="0" err="1">
                <a:cs typeface="Times New Roman" panose="02020603050405020304" pitchFamily="18" charset="0"/>
              </a:rPr>
              <a:t>e.sal</a:t>
            </a:r>
            <a:r>
              <a:rPr lang="en-US" altLang="zh-CN" sz="1400" b="0" dirty="0"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p"/>
            </a:pPr>
            <a:r>
              <a:rPr lang="en-US" altLang="zh-CN" sz="1800" dirty="0">
                <a:solidFill>
                  <a:srgbClr val="FF0000"/>
                </a:solidFill>
              </a:rPr>
              <a:t>SUM</a:t>
            </a:r>
            <a:r>
              <a:rPr lang="en-US" altLang="zh-CN" sz="1800" dirty="0"/>
              <a:t>：</a:t>
            </a:r>
            <a:r>
              <a:rPr lang="zh-CN" altLang="en-US" sz="1800" dirty="0"/>
              <a:t>求和</a:t>
            </a:r>
            <a:endParaRPr lang="en-US" altLang="zh-CN" sz="1800" dirty="0"/>
          </a:p>
          <a:p>
            <a:pPr lvl="1"/>
            <a:r>
              <a:rPr lang="zh-CN" altLang="en-US" sz="1800" dirty="0"/>
              <a:t>语法：</a:t>
            </a:r>
            <a:r>
              <a:rPr lang="en-US" altLang="zh-CN" sz="1400" b="0" dirty="0">
                <a:solidFill>
                  <a:srgbClr val="FF0000"/>
                </a:solidFill>
                <a:cs typeface="Times New Roman" panose="02020603050405020304" pitchFamily="18" charset="0"/>
              </a:rPr>
              <a:t>SUM </a:t>
            </a:r>
            <a:r>
              <a:rPr lang="en-US" altLang="zh-CN" sz="1400" b="0" dirty="0">
                <a:cs typeface="Times New Roman" panose="02020603050405020304" pitchFamily="18" charset="0"/>
              </a:rPr>
              <a:t>(&lt;property-name&gt; )</a:t>
            </a:r>
          </a:p>
          <a:p>
            <a:pPr lvl="1"/>
            <a:r>
              <a:rPr lang="zh-CN" altLang="en-US" sz="1800" dirty="0">
                <a:solidFill>
                  <a:srgbClr val="000000"/>
                </a:solidFill>
              </a:rPr>
              <a:t>示例：</a:t>
            </a:r>
            <a:r>
              <a:rPr lang="en-US" altLang="zh-CN" sz="1400" b="0" dirty="0">
                <a:solidFill>
                  <a:srgbClr val="FF0000"/>
                </a:solidFill>
                <a:cs typeface="Times New Roman" panose="02020603050405020304" pitchFamily="18" charset="0"/>
              </a:rPr>
              <a:t>MATCH </a:t>
            </a:r>
            <a:r>
              <a:rPr lang="en-US" altLang="zh-CN" sz="1400" b="0" dirty="0">
                <a:cs typeface="Times New Roman" panose="02020603050405020304" pitchFamily="18" charset="0"/>
              </a:rPr>
              <a:t>(e:Employee)  </a:t>
            </a:r>
            <a:r>
              <a:rPr lang="en-US" altLang="zh-CN" sz="1400" b="0" dirty="0">
                <a:solidFill>
                  <a:srgbClr val="FF0000"/>
                </a:solidFill>
                <a:cs typeface="Times New Roman" panose="02020603050405020304" pitchFamily="18" charset="0"/>
              </a:rPr>
              <a:t>RETURN </a:t>
            </a:r>
            <a:r>
              <a:rPr lang="en-US" altLang="zh-CN" sz="1400" b="0" dirty="0"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cs typeface="Times New Roman" panose="02020603050405020304" pitchFamily="18" charset="0"/>
              </a:rPr>
              <a:t>SUM </a:t>
            </a:r>
            <a:r>
              <a:rPr lang="en-US" altLang="zh-CN" sz="1400" b="0" dirty="0">
                <a:cs typeface="Times New Roman" panose="02020603050405020304" pitchFamily="18" charset="0"/>
              </a:rPr>
              <a:t>(</a:t>
            </a:r>
            <a:r>
              <a:rPr lang="en-US" altLang="zh-CN" sz="1400" b="0" dirty="0" err="1">
                <a:cs typeface="Times New Roman" panose="02020603050405020304" pitchFamily="18" charset="0"/>
              </a:rPr>
              <a:t>e.sal</a:t>
            </a:r>
            <a:r>
              <a:rPr lang="en-US" altLang="zh-CN" sz="1400" b="0" dirty="0">
                <a:cs typeface="Times New Roman" panose="02020603050405020304" pitchFamily="18" charset="0"/>
              </a:rPr>
              <a:t>) </a:t>
            </a:r>
          </a:p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p"/>
            </a:pPr>
            <a:r>
              <a:rPr lang="en-US" altLang="zh-CN" sz="1800" dirty="0">
                <a:solidFill>
                  <a:srgbClr val="FF0000"/>
                </a:solidFill>
              </a:rPr>
              <a:t>AVG</a:t>
            </a:r>
            <a:r>
              <a:rPr lang="en-US" altLang="zh-CN" sz="1800" dirty="0"/>
              <a:t>：</a:t>
            </a:r>
            <a:r>
              <a:rPr lang="zh-CN" altLang="en-US" sz="1800" dirty="0"/>
              <a:t>求均值</a:t>
            </a:r>
            <a:endParaRPr lang="en-US" altLang="zh-CN" sz="1800" dirty="0"/>
          </a:p>
          <a:p>
            <a:pPr lvl="1"/>
            <a:r>
              <a:rPr lang="zh-CN" altLang="en-US" sz="1800" dirty="0"/>
              <a:t>语法：</a:t>
            </a:r>
            <a:r>
              <a:rPr lang="en-US" altLang="zh-CN" sz="1400" b="0" dirty="0">
                <a:solidFill>
                  <a:srgbClr val="FF0000"/>
                </a:solidFill>
                <a:cs typeface="Times New Roman" panose="02020603050405020304" pitchFamily="18" charset="0"/>
              </a:rPr>
              <a:t>AVG </a:t>
            </a:r>
            <a:r>
              <a:rPr lang="en-US" altLang="zh-CN" sz="1400" b="0" dirty="0">
                <a:cs typeface="Times New Roman" panose="02020603050405020304" pitchFamily="18" charset="0"/>
              </a:rPr>
              <a:t>(&lt;property-name&gt; )</a:t>
            </a:r>
          </a:p>
          <a:p>
            <a:pPr lvl="1"/>
            <a:r>
              <a:rPr lang="zh-CN" altLang="en-US" sz="1800" dirty="0">
                <a:solidFill>
                  <a:srgbClr val="000000"/>
                </a:solidFill>
              </a:rPr>
              <a:t>示例：</a:t>
            </a:r>
            <a:r>
              <a:rPr lang="en-US" altLang="zh-CN" sz="1400" b="0" dirty="0">
                <a:solidFill>
                  <a:srgbClr val="FF0000"/>
                </a:solidFill>
                <a:cs typeface="Times New Roman" panose="02020603050405020304" pitchFamily="18" charset="0"/>
              </a:rPr>
              <a:t>MATCH</a:t>
            </a:r>
            <a:r>
              <a:rPr lang="en-US" altLang="zh-CN" sz="1400" b="0" dirty="0">
                <a:solidFill>
                  <a:srgbClr val="000000"/>
                </a:solidFill>
                <a:cs typeface="Times New Roman" panose="02020603050405020304" pitchFamily="18" charset="0"/>
              </a:rPr>
              <a:t> (e:Employee)  </a:t>
            </a:r>
            <a:r>
              <a:rPr lang="en-US" altLang="zh-CN" sz="1400" b="0" dirty="0">
                <a:solidFill>
                  <a:srgbClr val="FF0000"/>
                </a:solidFill>
                <a:cs typeface="Times New Roman" panose="02020603050405020304" pitchFamily="18" charset="0"/>
              </a:rPr>
              <a:t>RETURN </a:t>
            </a:r>
            <a:r>
              <a:rPr lang="en-US" altLang="zh-CN" sz="1400" b="0" dirty="0"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cs typeface="Times New Roman" panose="02020603050405020304" pitchFamily="18" charset="0"/>
              </a:rPr>
              <a:t>AVG </a:t>
            </a:r>
            <a:r>
              <a:rPr lang="en-US" altLang="zh-CN" sz="1400" b="0" dirty="0">
                <a:cs typeface="Times New Roman" panose="02020603050405020304" pitchFamily="18" charset="0"/>
              </a:rPr>
              <a:t>(</a:t>
            </a:r>
            <a:r>
              <a:rPr lang="en-US" altLang="zh-CN" sz="1400" b="0" dirty="0" err="1">
                <a:cs typeface="Times New Roman" panose="02020603050405020304" pitchFamily="18" charset="0"/>
              </a:rPr>
              <a:t>e.sal</a:t>
            </a:r>
            <a:r>
              <a:rPr lang="en-US" altLang="zh-CN" sz="1400" b="0" dirty="0">
                <a:cs typeface="Times New Roman" panose="02020603050405020304" pitchFamily="18" charset="0"/>
              </a:rPr>
              <a:t>)</a:t>
            </a:r>
            <a:endParaRPr lang="en-US" altLang="zh-CN" sz="2000" b="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cxnSp>
        <p:nvCxnSpPr>
          <p:cNvPr id="3" name="直接箭头连接符 2"/>
          <p:cNvCxnSpPr/>
          <p:nvPr/>
        </p:nvCxnSpPr>
        <p:spPr bwMode="auto">
          <a:xfrm flipV="1">
            <a:off x="6816080" y="3212976"/>
            <a:ext cx="1800200" cy="504056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 bwMode="auto">
          <a:xfrm flipV="1">
            <a:off x="7752184" y="3212976"/>
            <a:ext cx="864096" cy="504056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752185" y="2911699"/>
            <a:ext cx="1800493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查询最大、最小销售</a:t>
            </a:r>
          </a:p>
        </p:txBody>
      </p:sp>
      <p:cxnSp>
        <p:nvCxnSpPr>
          <p:cNvPr id="17" name="直接箭头连接符 16"/>
          <p:cNvCxnSpPr/>
          <p:nvPr/>
        </p:nvCxnSpPr>
        <p:spPr bwMode="auto">
          <a:xfrm flipV="1">
            <a:off x="6816080" y="4293096"/>
            <a:ext cx="792088" cy="28803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6961714" y="3978700"/>
            <a:ext cx="1261884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查询销售总和</a:t>
            </a:r>
          </a:p>
        </p:txBody>
      </p:sp>
      <p:cxnSp>
        <p:nvCxnSpPr>
          <p:cNvPr id="23" name="直接箭头连接符 22"/>
          <p:cNvCxnSpPr/>
          <p:nvPr/>
        </p:nvCxnSpPr>
        <p:spPr bwMode="auto">
          <a:xfrm flipV="1">
            <a:off x="6816080" y="5085184"/>
            <a:ext cx="792088" cy="28803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6994356" y="4797153"/>
            <a:ext cx="1261884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查询销售均值</a:t>
            </a: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5D0C8193-8832-4DF0-9862-95127E7749ED}"/>
              </a:ext>
            </a:extLst>
          </p:cNvPr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lvl="0" algn="r">
              <a:defRPr/>
            </a:pPr>
            <a:r>
              <a:rPr lang="en-US" altLang="zh-CN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Neo4j—</a:t>
            </a:r>
            <a:r>
              <a:rPr lang="zh-CN" altLang="en-US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常用函数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itchFamily="34" charset="0"/>
              <a:ea typeface="黑体" pitchFamily="2" charset="-122"/>
              <a:cs typeface="+mn-cs"/>
            </a:endParaRPr>
          </a:p>
        </p:txBody>
      </p:sp>
      <p:sp>
        <p:nvSpPr>
          <p:cNvPr id="16" name="灯片编号占位符 5">
            <a:extLst>
              <a:ext uri="{FF2B5EF4-FFF2-40B4-BE49-F238E27FC236}">
                <a16:creationId xmlns:a16="http://schemas.microsoft.com/office/drawing/2014/main" id="{5088431B-F842-4875-93A2-99FADCF9E246}"/>
              </a:ext>
            </a:extLst>
          </p:cNvPr>
          <p:cNvSpPr txBox="1">
            <a:spLocks noGrp="1"/>
          </p:cNvSpPr>
          <p:nvPr/>
        </p:nvSpPr>
        <p:spPr bwMode="auto">
          <a:xfrm>
            <a:off x="10287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41507284-0812-45A7-8B30-66F2C5187041}" type="slidenum">
              <a:rPr kumimoji="0" lang="zh-CN" altLang="en-US" sz="1400" b="0">
                <a:latin typeface="Tahoma" panose="020B0604030504040204" pitchFamily="34" charset="0"/>
              </a:rPr>
              <a:pPr algn="r" eaLnBrk="1" hangingPunct="1"/>
              <a:t>20</a:t>
            </a:fld>
            <a:endParaRPr kumimoji="0" lang="en-US" altLang="zh-CN" sz="1400" b="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547171"/>
      </p:ext>
    </p:extLst>
  </p:cSld>
  <p:clrMapOvr>
    <a:masterClrMapping/>
  </p:clrMapOvr>
  <p:transition advTm="5937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055440" y="1412777"/>
            <a:ext cx="27077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三、</a:t>
            </a:r>
            <a:r>
              <a:rPr lang="en-US" altLang="zh-CN" dirty="0"/>
              <a:t>CQL</a:t>
            </a:r>
            <a:r>
              <a:rPr lang="zh-CN" altLang="en-US" dirty="0"/>
              <a:t>常用函数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567608" y="1844824"/>
            <a:ext cx="16033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cs typeface="Times New Roman" panose="02020603050405020304" pitchFamily="18" charset="0"/>
              </a:rPr>
              <a:t>3、</a:t>
            </a:r>
            <a:r>
              <a:rPr lang="zh-CN" altLang="en-US" sz="2000" dirty="0"/>
              <a:t>关系函数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711625" y="2244935"/>
            <a:ext cx="5336717" cy="3662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p"/>
            </a:pPr>
            <a:r>
              <a:rPr lang="en-US" altLang="zh-CN" sz="1800" dirty="0">
                <a:solidFill>
                  <a:srgbClr val="FF0000"/>
                </a:solidFill>
              </a:rPr>
              <a:t>STARTNODE/ENDNODE</a:t>
            </a:r>
            <a:r>
              <a:rPr lang="en-US" altLang="zh-CN" sz="1800" dirty="0"/>
              <a:t>:</a:t>
            </a:r>
            <a:r>
              <a:rPr lang="zh-CN" altLang="en-US" sz="1800" dirty="0"/>
              <a:t>关系的开始</a:t>
            </a:r>
            <a:r>
              <a:rPr lang="en-US" altLang="zh-CN" sz="1800" dirty="0"/>
              <a:t>/</a:t>
            </a:r>
            <a:r>
              <a:rPr lang="zh-CN" altLang="en-US" sz="1800" dirty="0"/>
              <a:t>结束点</a:t>
            </a:r>
            <a:endParaRPr lang="en-US" altLang="zh-CN" sz="1800" dirty="0"/>
          </a:p>
          <a:p>
            <a:pPr lvl="1">
              <a:buClr>
                <a:srgbClr val="0070C0"/>
              </a:buClr>
            </a:pPr>
            <a:r>
              <a:rPr lang="zh-CN" altLang="en-US" sz="1800" dirty="0"/>
              <a:t>语法：</a:t>
            </a:r>
            <a:r>
              <a:rPr lang="en-US" altLang="zh-CN" sz="1400" b="0" dirty="0">
                <a:solidFill>
                  <a:srgbClr val="FF0000"/>
                </a:solidFill>
                <a:cs typeface="Times New Roman" panose="02020603050405020304" pitchFamily="18" charset="0"/>
              </a:rPr>
              <a:t>STARTNODE </a:t>
            </a:r>
            <a:r>
              <a:rPr lang="en-US" altLang="zh-CN" sz="1400" b="0" dirty="0">
                <a:cs typeface="Times New Roman" panose="02020603050405020304" pitchFamily="18" charset="0"/>
              </a:rPr>
              <a:t>(&lt;relationship-label-name&gt;)</a:t>
            </a:r>
          </a:p>
          <a:p>
            <a:pPr lvl="1">
              <a:buClr>
                <a:srgbClr val="0070C0"/>
              </a:buClr>
            </a:pPr>
            <a:r>
              <a:rPr lang="zh-CN" altLang="en-US" sz="1800" dirty="0"/>
              <a:t>示例：</a:t>
            </a:r>
            <a:r>
              <a:rPr lang="en-US" altLang="zh-CN" sz="1400" b="0" dirty="0">
                <a:solidFill>
                  <a:srgbClr val="FF0000"/>
                </a:solidFill>
                <a:cs typeface="Times New Roman" panose="02020603050405020304" pitchFamily="18" charset="0"/>
              </a:rPr>
              <a:t>MATCH </a:t>
            </a:r>
            <a:r>
              <a:rPr lang="en-US" altLang="zh-CN" sz="1400" b="0" dirty="0">
                <a:cs typeface="Times New Roman" panose="02020603050405020304" pitchFamily="18" charset="0"/>
              </a:rPr>
              <a:t>(a)-[movie : ACTION_MOVIES]-&gt;(b) </a:t>
            </a:r>
          </a:p>
          <a:p>
            <a:pPr lvl="2">
              <a:buClr>
                <a:srgbClr val="0070C0"/>
              </a:buClr>
            </a:pPr>
            <a:r>
              <a:rPr lang="en-US" altLang="zh-CN" sz="1400" b="0" dirty="0">
                <a:solidFill>
                  <a:srgbClr val="FF0000"/>
                </a:solidFill>
                <a:cs typeface="Times New Roman" panose="02020603050405020304" pitchFamily="18" charset="0"/>
              </a:rPr>
              <a:t>     RETURN ENDNODE </a:t>
            </a:r>
            <a:r>
              <a:rPr lang="en-US" altLang="zh-CN" sz="1400" b="0" dirty="0">
                <a:cs typeface="Times New Roman" panose="02020603050405020304" pitchFamily="18" charset="0"/>
              </a:rPr>
              <a:t>(movie)</a:t>
            </a:r>
          </a:p>
          <a:p>
            <a:pPr lvl="2">
              <a:buClr>
                <a:srgbClr val="0070C0"/>
              </a:buClr>
            </a:pPr>
            <a:endParaRPr lang="en-US" altLang="zh-CN" sz="1400" b="0" dirty="0">
              <a:cs typeface="Times New Roman" panose="02020603050405020304" pitchFamily="18" charset="0"/>
            </a:endParaRPr>
          </a:p>
          <a:p>
            <a:pPr marL="285750" indent="-285750">
              <a:buClr>
                <a:srgbClr val="0070C0"/>
              </a:buClr>
              <a:buFont typeface="Wingdings" panose="05000000000000000000" pitchFamily="2" charset="2"/>
              <a:buChar char="p"/>
            </a:pPr>
            <a:r>
              <a:rPr lang="en-US" altLang="zh-CN" sz="1800" dirty="0">
                <a:solidFill>
                  <a:srgbClr val="FF0000"/>
                </a:solidFill>
              </a:rPr>
              <a:t>ID</a:t>
            </a:r>
            <a:r>
              <a:rPr lang="en-US" altLang="zh-CN" sz="1800" dirty="0"/>
              <a:t>：</a:t>
            </a:r>
            <a:r>
              <a:rPr lang="zh-CN" altLang="en-US" sz="1800" dirty="0"/>
              <a:t>返回节点或关系的</a:t>
            </a:r>
            <a:r>
              <a:rPr lang="en-US" altLang="zh-CN" sz="1800" b="0" dirty="0">
                <a:cs typeface="Times New Roman" panose="02020603050405020304" pitchFamily="18" charset="0"/>
              </a:rPr>
              <a:t>ID</a:t>
            </a:r>
          </a:p>
          <a:p>
            <a:pPr lvl="1">
              <a:buClr>
                <a:srgbClr val="0070C0"/>
              </a:buClr>
            </a:pPr>
            <a:r>
              <a:rPr lang="zh-CN" altLang="en-US" sz="1800" dirty="0"/>
              <a:t>语法：</a:t>
            </a:r>
            <a:r>
              <a:rPr lang="en-US" altLang="zh-CN" sz="1400" b="0" dirty="0">
                <a:solidFill>
                  <a:srgbClr val="FF0000"/>
                </a:solidFill>
                <a:cs typeface="Times New Roman" panose="02020603050405020304" pitchFamily="18" charset="0"/>
              </a:rPr>
              <a:t>ID </a:t>
            </a:r>
            <a:r>
              <a:rPr lang="en-US" altLang="zh-CN" sz="1400" b="0" dirty="0">
                <a:cs typeface="Times New Roman" panose="02020603050405020304" pitchFamily="18" charset="0"/>
              </a:rPr>
              <a:t>(&lt;property-name&gt; )</a:t>
            </a:r>
          </a:p>
          <a:p>
            <a:pPr lvl="1"/>
            <a:r>
              <a:rPr lang="zh-CN" altLang="en-US" sz="1800" dirty="0">
                <a:solidFill>
                  <a:srgbClr val="000000"/>
                </a:solidFill>
              </a:rPr>
              <a:t>示例：</a:t>
            </a:r>
            <a:r>
              <a:rPr lang="en-US" altLang="zh-CN" sz="1400" b="0" dirty="0">
                <a:solidFill>
                  <a:srgbClr val="FF0000"/>
                </a:solidFill>
                <a:cs typeface="Times New Roman" panose="02020603050405020304" pitchFamily="18" charset="0"/>
              </a:rPr>
              <a:t>MATCH </a:t>
            </a:r>
            <a:r>
              <a:rPr lang="en-US" altLang="zh-CN" sz="1400" b="0" dirty="0">
                <a:cs typeface="Times New Roman" panose="02020603050405020304" pitchFamily="18" charset="0"/>
              </a:rPr>
              <a:t>(a)-[movie : ACTION_MOVIES]-&gt;(b) </a:t>
            </a:r>
          </a:p>
          <a:p>
            <a:pPr lvl="2"/>
            <a:r>
              <a:rPr lang="en-US" altLang="zh-CN" sz="1400" b="0" dirty="0">
                <a:solidFill>
                  <a:srgbClr val="FF0000"/>
                </a:solidFill>
                <a:cs typeface="Times New Roman" panose="02020603050405020304" pitchFamily="18" charset="0"/>
              </a:rPr>
              <a:t>     RETUR  ID </a:t>
            </a:r>
            <a:r>
              <a:rPr lang="en-US" altLang="zh-CN" sz="1400" b="0" dirty="0">
                <a:cs typeface="Times New Roman" panose="02020603050405020304" pitchFamily="18" charset="0"/>
              </a:rPr>
              <a:t>(movie)</a:t>
            </a:r>
          </a:p>
          <a:p>
            <a:pPr lvl="2"/>
            <a:endParaRPr lang="en-US" altLang="zh-CN" sz="1400" b="0" dirty="0">
              <a:cs typeface="Times New Roman" panose="02020603050405020304" pitchFamily="18" charset="0"/>
            </a:endParaRPr>
          </a:p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p"/>
            </a:pPr>
            <a:r>
              <a:rPr lang="en-US" altLang="zh-CN" sz="1800" dirty="0">
                <a:solidFill>
                  <a:srgbClr val="FF0000"/>
                </a:solidFill>
              </a:rPr>
              <a:t>TYPE</a:t>
            </a:r>
            <a:r>
              <a:rPr lang="en-US" altLang="zh-CN" sz="1800" dirty="0"/>
              <a:t>：</a:t>
            </a:r>
            <a:r>
              <a:rPr lang="zh-CN" altLang="en-US" sz="1800" dirty="0"/>
              <a:t>查询</a:t>
            </a:r>
            <a:r>
              <a:rPr lang="zh-CN" altLang="en-US" sz="1800" dirty="0">
                <a:solidFill>
                  <a:srgbClr val="FF0000"/>
                </a:solidFill>
              </a:rPr>
              <a:t>关系</a:t>
            </a:r>
            <a:r>
              <a:rPr lang="zh-CN" altLang="en-US" sz="1800" dirty="0"/>
              <a:t>的类型</a:t>
            </a:r>
            <a:endParaRPr lang="en-US" altLang="zh-CN" sz="1800" dirty="0"/>
          </a:p>
          <a:p>
            <a:pPr lvl="1"/>
            <a:r>
              <a:rPr lang="zh-CN" altLang="en-US" sz="1800" dirty="0"/>
              <a:t>语法：</a:t>
            </a:r>
            <a:r>
              <a:rPr lang="en-US" altLang="zh-CN" sz="1400" b="0" dirty="0">
                <a:solidFill>
                  <a:srgbClr val="FF0000"/>
                </a:solidFill>
                <a:cs typeface="Times New Roman" panose="02020603050405020304" pitchFamily="18" charset="0"/>
              </a:rPr>
              <a:t>TYPE </a:t>
            </a:r>
            <a:r>
              <a:rPr lang="en-US" altLang="zh-CN" sz="1400" b="0" dirty="0">
                <a:cs typeface="Times New Roman" panose="02020603050405020304" pitchFamily="18" charset="0"/>
              </a:rPr>
              <a:t>(&lt;relationship-name&gt; )</a:t>
            </a:r>
          </a:p>
          <a:p>
            <a:pPr lvl="1"/>
            <a:r>
              <a:rPr lang="zh-CN" altLang="en-US" sz="1800" dirty="0">
                <a:solidFill>
                  <a:srgbClr val="000000"/>
                </a:solidFill>
              </a:rPr>
              <a:t>示例：</a:t>
            </a:r>
            <a:r>
              <a:rPr lang="en-US" altLang="zh-CN" sz="1400" b="0" dirty="0">
                <a:solidFill>
                  <a:srgbClr val="FF0000"/>
                </a:solidFill>
                <a:cs typeface="Times New Roman" panose="02020603050405020304" pitchFamily="18" charset="0"/>
              </a:rPr>
              <a:t>MATCH </a:t>
            </a:r>
            <a:r>
              <a:rPr lang="en-US" altLang="zh-CN" sz="1400" b="0" dirty="0">
                <a:cs typeface="Times New Roman" panose="02020603050405020304" pitchFamily="18" charset="0"/>
              </a:rPr>
              <a:t>(a)-[movie : ACTION_MOVIES]-&gt;(b) </a:t>
            </a:r>
          </a:p>
          <a:p>
            <a:pPr lvl="2"/>
            <a:r>
              <a:rPr lang="en-US" altLang="zh-CN" sz="1400" b="0" dirty="0">
                <a:solidFill>
                  <a:srgbClr val="FF0000"/>
                </a:solidFill>
                <a:cs typeface="Times New Roman" panose="02020603050405020304" pitchFamily="18" charset="0"/>
              </a:rPr>
              <a:t>     RETUR  ID </a:t>
            </a:r>
            <a:r>
              <a:rPr lang="en-US" altLang="zh-CN" sz="1400" b="0" dirty="0">
                <a:cs typeface="Times New Roman" panose="02020603050405020304" pitchFamily="18" charset="0"/>
              </a:rPr>
              <a:t>(movie</a:t>
            </a:r>
            <a:r>
              <a:rPr lang="zh-CN" altLang="en-US" sz="1400" b="0" dirty="0">
                <a:cs typeface="Times New Roman" panose="02020603050405020304" pitchFamily="18" charset="0"/>
              </a:rPr>
              <a:t>）</a:t>
            </a:r>
            <a:endParaRPr lang="en-US" altLang="zh-CN" sz="1400" b="0" dirty="0">
              <a:cs typeface="Times New Roman" panose="02020603050405020304" pitchFamily="18" charset="0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3301A3AC-2D7A-4D3B-8ADA-20416AE786BC}"/>
              </a:ext>
            </a:extLst>
          </p:cNvPr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lvl="0" algn="r">
              <a:defRPr/>
            </a:pPr>
            <a:r>
              <a:rPr lang="en-US" altLang="zh-CN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Neo4j—</a:t>
            </a:r>
            <a:r>
              <a:rPr lang="zh-CN" altLang="en-US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常用函数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itchFamily="34" charset="0"/>
              <a:ea typeface="黑体" pitchFamily="2" charset="-122"/>
              <a:cs typeface="+mn-cs"/>
            </a:endParaRPr>
          </a:p>
        </p:txBody>
      </p:sp>
      <p:sp>
        <p:nvSpPr>
          <p:cNvPr id="10" name="灯片编号占位符 5">
            <a:extLst>
              <a:ext uri="{FF2B5EF4-FFF2-40B4-BE49-F238E27FC236}">
                <a16:creationId xmlns:a16="http://schemas.microsoft.com/office/drawing/2014/main" id="{B01B15BE-F74A-4DB6-83B3-2EDCCDCF920E}"/>
              </a:ext>
            </a:extLst>
          </p:cNvPr>
          <p:cNvSpPr txBox="1">
            <a:spLocks noGrp="1"/>
          </p:cNvSpPr>
          <p:nvPr/>
        </p:nvSpPr>
        <p:spPr bwMode="auto">
          <a:xfrm>
            <a:off x="10287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41507284-0812-45A7-8B30-66F2C5187041}" type="slidenum">
              <a:rPr kumimoji="0" lang="zh-CN" altLang="en-US" sz="1400" b="0">
                <a:latin typeface="Tahoma" panose="020B0604030504040204" pitchFamily="34" charset="0"/>
              </a:rPr>
              <a:pPr algn="r" eaLnBrk="1" hangingPunct="1"/>
              <a:t>21</a:t>
            </a:fld>
            <a:endParaRPr kumimoji="0" lang="en-US" altLang="zh-CN" sz="1400" b="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799090"/>
      </p:ext>
    </p:extLst>
  </p:cSld>
  <p:clrMapOvr>
    <a:masterClrMapping/>
  </p:clrMapOvr>
  <p:transition advTm="5937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063553" y="1412777"/>
            <a:ext cx="49848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Step 1:</a:t>
            </a:r>
            <a:r>
              <a:rPr lang="zh-CN" altLang="en-US" dirty="0"/>
              <a:t>新建</a:t>
            </a:r>
            <a:r>
              <a:rPr lang="en-US" altLang="zh-CN" dirty="0"/>
              <a:t>Java Project,</a:t>
            </a:r>
            <a:r>
              <a:rPr lang="zh-CN" altLang="en-US" dirty="0"/>
              <a:t>创建用户库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24" y="2060849"/>
            <a:ext cx="7486650" cy="35337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9F365851-71A5-4400-8C95-74B4A05FB698}"/>
              </a:ext>
            </a:extLst>
          </p:cNvPr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lvl="0" algn="r">
              <a:defRPr/>
            </a:pPr>
            <a:r>
              <a:rPr lang="en-US" altLang="zh-CN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Neo4j—</a:t>
            </a:r>
            <a:r>
              <a:rPr lang="zh-CN" altLang="en-US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知识图谱构建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itchFamily="34" charset="0"/>
              <a:ea typeface="黑体" pitchFamily="2" charset="-122"/>
              <a:cs typeface="+mn-cs"/>
            </a:endParaRPr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5085A39A-062B-4316-B706-B695271064D8}"/>
              </a:ext>
            </a:extLst>
          </p:cNvPr>
          <p:cNvSpPr txBox="1">
            <a:spLocks noGrp="1"/>
          </p:cNvSpPr>
          <p:nvPr/>
        </p:nvSpPr>
        <p:spPr bwMode="auto">
          <a:xfrm>
            <a:off x="10287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41507284-0812-45A7-8B30-66F2C5187041}" type="slidenum">
              <a:rPr kumimoji="0" lang="zh-CN" altLang="en-US" sz="1400" b="0">
                <a:latin typeface="Tahoma" panose="020B0604030504040204" pitchFamily="34" charset="0"/>
              </a:rPr>
              <a:pPr algn="r" eaLnBrk="1" hangingPunct="1"/>
              <a:t>22</a:t>
            </a:fld>
            <a:endParaRPr kumimoji="0" lang="en-US" altLang="zh-CN" sz="1400" b="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3481989"/>
      </p:ext>
    </p:extLst>
  </p:cSld>
  <p:clrMapOvr>
    <a:masterClrMapping/>
  </p:clrMapOvr>
  <p:transition advTm="5937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063553" y="1412777"/>
            <a:ext cx="49848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Step 1:</a:t>
            </a:r>
            <a:r>
              <a:rPr lang="zh-CN" altLang="en-US" dirty="0"/>
              <a:t>新建</a:t>
            </a:r>
            <a:r>
              <a:rPr lang="en-US" altLang="zh-CN" dirty="0"/>
              <a:t>Java Project,</a:t>
            </a:r>
            <a:r>
              <a:rPr lang="zh-CN" altLang="en-US" dirty="0"/>
              <a:t>创建用户库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6929" y="2011960"/>
            <a:ext cx="5766073" cy="4349574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3AF63936-A758-49A2-972B-06312A10B9FE}"/>
              </a:ext>
            </a:extLst>
          </p:cNvPr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lvl="0" algn="r">
              <a:defRPr/>
            </a:pPr>
            <a:r>
              <a:rPr lang="en-US" altLang="zh-CN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Neo4j—</a:t>
            </a:r>
            <a:r>
              <a:rPr lang="zh-CN" altLang="en-US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知识图谱构建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itchFamily="34" charset="0"/>
              <a:ea typeface="黑体" pitchFamily="2" charset="-122"/>
              <a:cs typeface="+mn-cs"/>
            </a:endParaRPr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1F5C3AD4-0486-4640-B3BC-3F3BA693D02A}"/>
              </a:ext>
            </a:extLst>
          </p:cNvPr>
          <p:cNvSpPr txBox="1">
            <a:spLocks noGrp="1"/>
          </p:cNvSpPr>
          <p:nvPr/>
        </p:nvSpPr>
        <p:spPr bwMode="auto">
          <a:xfrm>
            <a:off x="10287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41507284-0812-45A7-8B30-66F2C5187041}" type="slidenum">
              <a:rPr kumimoji="0" lang="zh-CN" altLang="en-US" sz="1400" b="0">
                <a:latin typeface="Tahoma" panose="020B0604030504040204" pitchFamily="34" charset="0"/>
              </a:rPr>
              <a:pPr algn="r" eaLnBrk="1" hangingPunct="1"/>
              <a:t>23</a:t>
            </a:fld>
            <a:endParaRPr kumimoji="0" lang="en-US" altLang="zh-CN" sz="1400" b="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462203"/>
      </p:ext>
    </p:extLst>
  </p:cSld>
  <p:clrMapOvr>
    <a:masterClrMapping/>
  </p:clrMapOvr>
  <p:transition advTm="5937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063553" y="1412777"/>
            <a:ext cx="49848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Step 1:</a:t>
            </a:r>
            <a:r>
              <a:rPr lang="zh-CN" altLang="en-US" dirty="0"/>
              <a:t>新建</a:t>
            </a:r>
            <a:r>
              <a:rPr lang="en-US" altLang="zh-CN" dirty="0"/>
              <a:t>Java Project,</a:t>
            </a:r>
            <a:r>
              <a:rPr lang="zh-CN" altLang="en-US" dirty="0"/>
              <a:t>创建用户库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9657" y="2060848"/>
            <a:ext cx="5570799" cy="4549080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771EB350-B96B-472D-BDE8-DDDC8829A46E}"/>
              </a:ext>
            </a:extLst>
          </p:cNvPr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lvl="0" algn="r">
              <a:defRPr/>
            </a:pPr>
            <a:r>
              <a:rPr lang="en-US" altLang="zh-CN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Neo4j—</a:t>
            </a:r>
            <a:r>
              <a:rPr lang="zh-CN" altLang="en-US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知识图谱构建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itchFamily="34" charset="0"/>
              <a:ea typeface="黑体" pitchFamily="2" charset="-122"/>
              <a:cs typeface="+mn-cs"/>
            </a:endParaRPr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ACE4A942-3147-45A2-BF81-2897CE184794}"/>
              </a:ext>
            </a:extLst>
          </p:cNvPr>
          <p:cNvSpPr txBox="1">
            <a:spLocks noGrp="1"/>
          </p:cNvSpPr>
          <p:nvPr/>
        </p:nvSpPr>
        <p:spPr bwMode="auto">
          <a:xfrm>
            <a:off x="10287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41507284-0812-45A7-8B30-66F2C5187041}" type="slidenum">
              <a:rPr kumimoji="0" lang="zh-CN" altLang="en-US" sz="1400" b="0">
                <a:latin typeface="Tahoma" panose="020B0604030504040204" pitchFamily="34" charset="0"/>
              </a:rPr>
              <a:pPr algn="r" eaLnBrk="1" hangingPunct="1"/>
              <a:t>24</a:t>
            </a:fld>
            <a:endParaRPr kumimoji="0" lang="en-US" altLang="zh-CN" sz="1400" b="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003631"/>
      </p:ext>
    </p:extLst>
  </p:cSld>
  <p:clrMapOvr>
    <a:masterClrMapping/>
  </p:clrMapOvr>
  <p:transition advTm="5937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063553" y="1412777"/>
            <a:ext cx="42771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Step 2:</a:t>
            </a:r>
            <a:r>
              <a:rPr lang="zh-CN" altLang="en-US" dirty="0"/>
              <a:t>向用户库中添加</a:t>
            </a:r>
            <a:r>
              <a:rPr lang="en-US" altLang="zh-CN" dirty="0"/>
              <a:t>jar</a:t>
            </a:r>
            <a:r>
              <a:rPr lang="zh-CN" altLang="en-US" dirty="0"/>
              <a:t>文件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624" y="1898008"/>
            <a:ext cx="5943376" cy="44833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矩形 6"/>
          <p:cNvSpPr/>
          <p:nvPr/>
        </p:nvSpPr>
        <p:spPr bwMode="auto">
          <a:xfrm>
            <a:off x="7392144" y="4139668"/>
            <a:ext cx="1080120" cy="225437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 b="0">
              <a:latin typeface="Tahoma" pitchFamily="34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2711624" y="3861049"/>
            <a:ext cx="1800200" cy="278619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 b="0">
              <a:latin typeface="Tahoma" pitchFamily="34" charset="0"/>
            </a:endParaRP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A52FCA89-6307-4AEE-98F9-46581F7571AF}"/>
              </a:ext>
            </a:extLst>
          </p:cNvPr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lvl="0" algn="r">
              <a:defRPr/>
            </a:pPr>
            <a:r>
              <a:rPr lang="en-US" altLang="zh-CN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Neo4j—</a:t>
            </a:r>
            <a:r>
              <a:rPr lang="zh-CN" altLang="en-US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知识图谱构建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itchFamily="34" charset="0"/>
              <a:ea typeface="黑体" pitchFamily="2" charset="-122"/>
              <a:cs typeface="+mn-cs"/>
            </a:endParaRPr>
          </a:p>
        </p:txBody>
      </p:sp>
      <p:sp>
        <p:nvSpPr>
          <p:cNvPr id="12" name="灯片编号占位符 5">
            <a:extLst>
              <a:ext uri="{FF2B5EF4-FFF2-40B4-BE49-F238E27FC236}">
                <a16:creationId xmlns:a16="http://schemas.microsoft.com/office/drawing/2014/main" id="{FE272516-80AE-4B67-8F2F-E1F035578B19}"/>
              </a:ext>
            </a:extLst>
          </p:cNvPr>
          <p:cNvSpPr txBox="1">
            <a:spLocks noGrp="1"/>
          </p:cNvSpPr>
          <p:nvPr/>
        </p:nvSpPr>
        <p:spPr bwMode="auto">
          <a:xfrm>
            <a:off x="10287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41507284-0812-45A7-8B30-66F2C5187041}" type="slidenum">
              <a:rPr kumimoji="0" lang="zh-CN" altLang="en-US" sz="1400" b="0">
                <a:latin typeface="Tahoma" panose="020B0604030504040204" pitchFamily="34" charset="0"/>
              </a:rPr>
              <a:pPr algn="r" eaLnBrk="1" hangingPunct="1"/>
              <a:t>25</a:t>
            </a:fld>
            <a:endParaRPr kumimoji="0" lang="en-US" altLang="zh-CN" sz="1400" b="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8765268"/>
      </p:ext>
    </p:extLst>
  </p:cSld>
  <p:clrMapOvr>
    <a:masterClrMapping/>
  </p:clrMapOvr>
  <p:transition advTm="5937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063552" y="1412777"/>
            <a:ext cx="36231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Step 3：</a:t>
            </a:r>
            <a:r>
              <a:rPr lang="zh-CN" altLang="en-US" dirty="0"/>
              <a:t>创建</a:t>
            </a:r>
            <a:r>
              <a:rPr lang="en-US" altLang="zh-CN" dirty="0"/>
              <a:t>Neo4j</a:t>
            </a:r>
            <a:r>
              <a:rPr lang="zh-CN" altLang="en-US" dirty="0"/>
              <a:t>数据库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279577" y="1896940"/>
            <a:ext cx="42963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0" dirty="0"/>
              <a:t>File f = new File("D:/Neo4jDB");</a:t>
            </a:r>
          </a:p>
          <a:p>
            <a:r>
              <a:rPr lang="en-US" altLang="zh-CN" sz="1200" b="0" dirty="0" err="1"/>
              <a:t>GraphDatabaseFactory</a:t>
            </a:r>
            <a:r>
              <a:rPr lang="en-US" altLang="zh-CN" sz="1200" b="0" dirty="0"/>
              <a:t> </a:t>
            </a:r>
            <a:r>
              <a:rPr lang="en-US" altLang="zh-CN" sz="1200" b="0" dirty="0" err="1"/>
              <a:t>dbFactory</a:t>
            </a:r>
            <a:r>
              <a:rPr lang="en-US" altLang="zh-CN" sz="1200" b="0" dirty="0"/>
              <a:t> = new </a:t>
            </a:r>
            <a:r>
              <a:rPr lang="en-US" altLang="zh-CN" sz="1200" b="0" dirty="0" err="1"/>
              <a:t>GraphDatabaseFactory</a:t>
            </a:r>
            <a:r>
              <a:rPr lang="en-US" altLang="zh-CN" sz="1200" b="0" dirty="0"/>
              <a:t>();</a:t>
            </a:r>
          </a:p>
          <a:p>
            <a:r>
              <a:rPr lang="en-US" altLang="zh-CN" sz="1200" b="0" dirty="0" err="1"/>
              <a:t>GraphDatabaseService</a:t>
            </a:r>
            <a:r>
              <a:rPr lang="en-US" altLang="zh-CN" sz="1200" b="0" dirty="0"/>
              <a:t> </a:t>
            </a:r>
            <a:r>
              <a:rPr lang="en-US" altLang="zh-CN" sz="1200" b="0" dirty="0" err="1"/>
              <a:t>db</a:t>
            </a:r>
            <a:r>
              <a:rPr lang="en-US" altLang="zh-CN" sz="1200" b="0" dirty="0"/>
              <a:t>= </a:t>
            </a:r>
            <a:r>
              <a:rPr lang="en-US" altLang="zh-CN" sz="1200" b="0" dirty="0" err="1"/>
              <a:t>dbFactory.newEmbeddedDatabase</a:t>
            </a:r>
            <a:r>
              <a:rPr lang="en-US" altLang="zh-CN" sz="1200" b="0" dirty="0"/>
              <a:t>(f);</a:t>
            </a:r>
            <a:endParaRPr lang="zh-CN" altLang="en-US" sz="1200" b="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577" y="2708921"/>
            <a:ext cx="5114925" cy="2752725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0" name="直接箭头连接符 9"/>
          <p:cNvCxnSpPr/>
          <p:nvPr/>
        </p:nvCxnSpPr>
        <p:spPr bwMode="auto">
          <a:xfrm flipV="1">
            <a:off x="5231904" y="3429000"/>
            <a:ext cx="2664296" cy="1224136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7823900" y="3198168"/>
            <a:ext cx="1800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0" dirty="0">
                <a:latin typeface="+mn-ea"/>
                <a:ea typeface="+mn-ea"/>
              </a:rPr>
              <a:t>指定数据库创建目录</a:t>
            </a: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22EB26D7-D89C-4ACB-842D-A9CF97E65C69}"/>
              </a:ext>
            </a:extLst>
          </p:cNvPr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lvl="0" algn="r">
              <a:defRPr/>
            </a:pPr>
            <a:r>
              <a:rPr lang="en-US" altLang="zh-CN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Neo4j—</a:t>
            </a:r>
            <a:r>
              <a:rPr lang="zh-CN" altLang="en-US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知识图谱构建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itchFamily="34" charset="0"/>
              <a:ea typeface="黑体" pitchFamily="2" charset="-122"/>
              <a:cs typeface="+mn-cs"/>
            </a:endParaRPr>
          </a:p>
        </p:txBody>
      </p:sp>
      <p:sp>
        <p:nvSpPr>
          <p:cNvPr id="14" name="灯片编号占位符 5">
            <a:extLst>
              <a:ext uri="{FF2B5EF4-FFF2-40B4-BE49-F238E27FC236}">
                <a16:creationId xmlns:a16="http://schemas.microsoft.com/office/drawing/2014/main" id="{82304D40-CFEF-428B-B881-D84846AA53CA}"/>
              </a:ext>
            </a:extLst>
          </p:cNvPr>
          <p:cNvSpPr txBox="1">
            <a:spLocks noGrp="1"/>
          </p:cNvSpPr>
          <p:nvPr/>
        </p:nvSpPr>
        <p:spPr bwMode="auto">
          <a:xfrm>
            <a:off x="10287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41507284-0812-45A7-8B30-66F2C5187041}" type="slidenum">
              <a:rPr kumimoji="0" lang="zh-CN" altLang="en-US" sz="1400" b="0">
                <a:latin typeface="Tahoma" panose="020B0604030504040204" pitchFamily="34" charset="0"/>
              </a:rPr>
              <a:pPr algn="r" eaLnBrk="1" hangingPunct="1"/>
              <a:t>26</a:t>
            </a:fld>
            <a:endParaRPr kumimoji="0" lang="en-US" altLang="zh-CN" sz="1400" b="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1626314"/>
      </p:ext>
    </p:extLst>
  </p:cSld>
  <p:clrMapOvr>
    <a:masterClrMapping/>
  </p:clrMapOvr>
  <p:transition advTm="5937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063552" y="1412777"/>
            <a:ext cx="2853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Step 4：</a:t>
            </a:r>
            <a:r>
              <a:rPr lang="zh-CN" altLang="en-US" dirty="0"/>
              <a:t>启动数据库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126071" y="1867596"/>
            <a:ext cx="2964273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kumimoji="0" lang="zh-CN" altLang="zh-CN" sz="1200" b="0" dirty="0">
                <a:latin typeface="Arial Unicode MS" panose="020B0604020202020204" pitchFamily="34" charset="-122"/>
              </a:rPr>
              <a:t>try (Transaction tx = graphDb.beginTx()) </a:t>
            </a:r>
            <a:endParaRPr kumimoji="0" lang="en-US" altLang="zh-CN" sz="1200" b="0" dirty="0">
              <a:latin typeface="Arial Unicode MS" panose="020B0604020202020204" pitchFamily="34" charset="-122"/>
            </a:endParaRPr>
          </a:p>
          <a:p>
            <a:r>
              <a:rPr kumimoji="0" lang="zh-CN" altLang="zh-CN" sz="1200" b="0" dirty="0">
                <a:latin typeface="Arial Unicode MS" panose="020B0604020202020204" pitchFamily="34" charset="-122"/>
              </a:rPr>
              <a:t>{ </a:t>
            </a:r>
            <a:endParaRPr kumimoji="0" lang="en-US" altLang="zh-CN" sz="1200" b="0" dirty="0">
              <a:latin typeface="Arial Unicode MS" panose="020B0604020202020204" pitchFamily="34" charset="-122"/>
            </a:endParaRPr>
          </a:p>
          <a:p>
            <a:r>
              <a:rPr kumimoji="0" lang="en-US" altLang="zh-CN" sz="1200" b="0" dirty="0">
                <a:latin typeface="Arial Unicode MS" panose="020B0604020202020204" pitchFamily="34" charset="-122"/>
              </a:rPr>
              <a:t>     </a:t>
            </a:r>
            <a:r>
              <a:rPr kumimoji="0" lang="zh-CN" altLang="zh-CN" sz="1200" b="0" dirty="0">
                <a:latin typeface="Arial Unicode MS" panose="020B0604020202020204" pitchFamily="34" charset="-122"/>
              </a:rPr>
              <a:t>// Perform DB operations</a:t>
            </a:r>
            <a:endParaRPr kumimoji="0" lang="en-US" altLang="zh-CN" sz="1200" b="0" dirty="0">
              <a:latin typeface="Arial Unicode MS" panose="020B0604020202020204" pitchFamily="34" charset="-122"/>
            </a:endParaRPr>
          </a:p>
          <a:p>
            <a:r>
              <a:rPr kumimoji="0" lang="zh-CN" altLang="zh-CN" sz="1200" b="0" dirty="0">
                <a:latin typeface="Arial Unicode MS" panose="020B0604020202020204" pitchFamily="34" charset="-122"/>
              </a:rPr>
              <a:t> </a:t>
            </a:r>
            <a:r>
              <a:rPr kumimoji="0" lang="en-US" altLang="zh-CN" sz="1200" b="0" dirty="0">
                <a:latin typeface="Arial Unicode MS" panose="020B0604020202020204" pitchFamily="34" charset="-122"/>
              </a:rPr>
              <a:t>       </a:t>
            </a:r>
            <a:r>
              <a:rPr kumimoji="0" lang="zh-CN" altLang="zh-CN" sz="1200" b="0" dirty="0">
                <a:latin typeface="Arial Unicode MS" panose="020B0604020202020204" pitchFamily="34" charset="-122"/>
              </a:rPr>
              <a:t>tx.success(); </a:t>
            </a:r>
            <a:endParaRPr kumimoji="0" lang="en-US" altLang="zh-CN" sz="1200" b="0" dirty="0">
              <a:latin typeface="Arial Unicode MS" panose="020B0604020202020204" pitchFamily="34" charset="-122"/>
            </a:endParaRPr>
          </a:p>
          <a:p>
            <a:r>
              <a:rPr kumimoji="0" lang="zh-CN" altLang="zh-CN" sz="1200" b="0" dirty="0">
                <a:latin typeface="Arial Unicode MS" panose="020B0604020202020204" pitchFamily="34" charset="-122"/>
              </a:rPr>
              <a:t>}</a:t>
            </a:r>
            <a:r>
              <a:rPr kumimoji="0" lang="zh-CN" altLang="zh-CN" sz="1200" b="0" dirty="0"/>
              <a:t> </a:t>
            </a:r>
            <a:endParaRPr kumimoji="0" lang="zh-CN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063553" y="2895328"/>
            <a:ext cx="33986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Step 5：</a:t>
            </a:r>
            <a:r>
              <a:rPr lang="zh-CN" altLang="en-US" dirty="0"/>
              <a:t>标签名称</a:t>
            </a:r>
            <a:r>
              <a:rPr lang="en-US" altLang="zh-CN" dirty="0"/>
              <a:t>:Label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2030413" y="3408383"/>
            <a:ext cx="29722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altLang="zh-CN" sz="1200" b="0" dirty="0">
                <a:latin typeface="Arial Unicode MS" panose="020B0604020202020204" pitchFamily="34" charset="-122"/>
              </a:rPr>
              <a:t>package com.tp.ne4oj.java.examples;</a:t>
            </a:r>
          </a:p>
          <a:p>
            <a:r>
              <a:rPr kumimoji="0" lang="en-US" altLang="zh-CN" sz="1200" b="0" dirty="0">
                <a:latin typeface="Arial Unicode MS" panose="020B0604020202020204" pitchFamily="34" charset="-122"/>
              </a:rPr>
              <a:t>import org.neo4j.graphdb.Label;</a:t>
            </a:r>
          </a:p>
          <a:p>
            <a:r>
              <a:rPr kumimoji="0" lang="en-US" altLang="zh-CN" sz="1200" b="0" dirty="0">
                <a:latin typeface="Arial Unicode MS" panose="020B0604020202020204" pitchFamily="34" charset="-122"/>
              </a:rPr>
              <a:t>public </a:t>
            </a:r>
            <a:r>
              <a:rPr kumimoji="0" lang="en-US" altLang="zh-CN" sz="1200" b="0" dirty="0" err="1">
                <a:latin typeface="Arial Unicode MS" panose="020B0604020202020204" pitchFamily="34" charset="-122"/>
              </a:rPr>
              <a:t>enum</a:t>
            </a:r>
            <a:r>
              <a:rPr kumimoji="0" lang="en-US" altLang="zh-CN" sz="1200" b="0" dirty="0">
                <a:latin typeface="Arial Unicode MS" panose="020B0604020202020204" pitchFamily="34" charset="-122"/>
              </a:rPr>
              <a:t> Tutorials implements Label </a:t>
            </a:r>
          </a:p>
          <a:p>
            <a:r>
              <a:rPr kumimoji="0" lang="en-US" altLang="zh-CN" sz="1200" b="0" dirty="0">
                <a:latin typeface="Arial Unicode MS" panose="020B0604020202020204" pitchFamily="34" charset="-122"/>
              </a:rPr>
              <a:t>{</a:t>
            </a:r>
          </a:p>
          <a:p>
            <a:r>
              <a:rPr kumimoji="0" lang="en-US" altLang="zh-CN" sz="1200" b="0" dirty="0">
                <a:latin typeface="Arial Unicode MS" panose="020B0604020202020204" pitchFamily="34" charset="-122"/>
              </a:rPr>
              <a:t>        JAVA,SCALA,SQL,NEO4J;</a:t>
            </a:r>
          </a:p>
          <a:p>
            <a:r>
              <a:rPr kumimoji="0" lang="en-US" altLang="zh-CN" sz="1200" b="0" dirty="0">
                <a:latin typeface="Arial Unicode MS" panose="020B0604020202020204" pitchFamily="34" charset="-122"/>
              </a:rPr>
              <a:t>}</a:t>
            </a:r>
            <a:endParaRPr kumimoji="0" lang="zh-CN" altLang="en-US" sz="1200" b="0" dirty="0">
              <a:latin typeface="Arial Unicode MS" panose="020B0604020202020204" pitchFamily="34" charset="-122"/>
            </a:endParaRPr>
          </a:p>
        </p:txBody>
      </p:sp>
      <p:cxnSp>
        <p:nvCxnSpPr>
          <p:cNvPr id="7" name="直接箭头连接符 6"/>
          <p:cNvCxnSpPr/>
          <p:nvPr/>
        </p:nvCxnSpPr>
        <p:spPr bwMode="auto">
          <a:xfrm flipV="1">
            <a:off x="4511824" y="2132856"/>
            <a:ext cx="1944216" cy="242570"/>
          </a:xfrm>
          <a:prstGeom prst="straightConnector1">
            <a:avLst/>
          </a:prstGeom>
          <a:ln w="19050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322882" y="1867596"/>
            <a:ext cx="3339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0" dirty="0"/>
              <a:t>启动</a:t>
            </a:r>
            <a:r>
              <a:rPr lang="en-US" altLang="zh-CN" sz="1400" b="0" dirty="0"/>
              <a:t>Neo4j</a:t>
            </a:r>
            <a:r>
              <a:rPr lang="zh-CN" altLang="en-US" sz="1400" b="0" dirty="0"/>
              <a:t>数据库事务以提交我们的更改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5355649" y="3356993"/>
            <a:ext cx="4664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0" dirty="0"/>
              <a:t>要创建节点，我们需要标签名称。 通过实现</a:t>
            </a:r>
            <a:r>
              <a:rPr lang="en-US" altLang="zh-CN" sz="1200" b="0" dirty="0"/>
              <a:t>Neo4j Java </a:t>
            </a:r>
            <a:r>
              <a:rPr lang="en-US" altLang="zh-CN" sz="1200" b="0" dirty="0" err="1"/>
              <a:t>API“Label</a:t>
            </a:r>
            <a:r>
              <a:rPr lang="en-US" altLang="zh-CN" sz="1200" b="0" dirty="0"/>
              <a:t>”</a:t>
            </a:r>
          </a:p>
          <a:p>
            <a:r>
              <a:rPr lang="zh-CN" altLang="en-US" sz="1200" b="0" dirty="0"/>
              <a:t>接口创建一个</a:t>
            </a:r>
            <a:r>
              <a:rPr lang="zh-CN" altLang="en-US" sz="1200" dirty="0"/>
              <a:t>枚举</a:t>
            </a:r>
            <a:r>
              <a:rPr lang="zh-CN" altLang="en-US" sz="1200" b="0" dirty="0"/>
              <a:t>。</a:t>
            </a:r>
          </a:p>
        </p:txBody>
      </p:sp>
      <p:cxnSp>
        <p:nvCxnSpPr>
          <p:cNvPr id="15" name="直接箭头连接符 14"/>
          <p:cNvCxnSpPr/>
          <p:nvPr/>
        </p:nvCxnSpPr>
        <p:spPr bwMode="auto">
          <a:xfrm flipV="1">
            <a:off x="4079776" y="3587826"/>
            <a:ext cx="1404156" cy="345231"/>
          </a:xfrm>
          <a:prstGeom prst="straightConnector1">
            <a:avLst/>
          </a:prstGeom>
          <a:ln w="19050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2063552" y="4623520"/>
            <a:ext cx="41272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Step 6：</a:t>
            </a:r>
            <a:r>
              <a:rPr lang="zh-CN" altLang="en-US" dirty="0"/>
              <a:t>创建节点</a:t>
            </a:r>
            <a:r>
              <a:rPr lang="en-US" altLang="zh-CN" dirty="0"/>
              <a:t>:</a:t>
            </a:r>
            <a:r>
              <a:rPr lang="en-US" altLang="zh-CN" dirty="0" err="1"/>
              <a:t>createNode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1991545" y="5313279"/>
            <a:ext cx="34990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0" dirty="0"/>
              <a:t>Node </a:t>
            </a:r>
            <a:r>
              <a:rPr lang="en-US" altLang="zh-CN" sz="1200" b="0" dirty="0" err="1"/>
              <a:t>javaNode</a:t>
            </a:r>
            <a:r>
              <a:rPr lang="en-US" altLang="zh-CN" sz="1200" b="0" dirty="0"/>
              <a:t> = </a:t>
            </a:r>
            <a:r>
              <a:rPr lang="en-US" altLang="zh-CN" sz="1200" b="0" dirty="0" err="1"/>
              <a:t>db.createNode</a:t>
            </a:r>
            <a:r>
              <a:rPr lang="en-US" altLang="zh-CN" sz="1200" b="0" dirty="0"/>
              <a:t>(Tutorials.JAVA);</a:t>
            </a:r>
          </a:p>
          <a:p>
            <a:r>
              <a:rPr lang="en-US" altLang="zh-CN" sz="1200" b="0" dirty="0"/>
              <a:t>Node </a:t>
            </a:r>
            <a:r>
              <a:rPr lang="en-US" altLang="zh-CN" sz="1200" b="0" dirty="0" err="1"/>
              <a:t>scalaNode</a:t>
            </a:r>
            <a:r>
              <a:rPr lang="en-US" altLang="zh-CN" sz="1200" b="0" dirty="0"/>
              <a:t> = </a:t>
            </a:r>
            <a:r>
              <a:rPr lang="en-US" altLang="zh-CN" sz="1200" b="0" dirty="0" err="1"/>
              <a:t>db.createNode</a:t>
            </a:r>
            <a:r>
              <a:rPr lang="en-US" altLang="zh-CN" sz="1200" b="0" dirty="0"/>
              <a:t>(</a:t>
            </a:r>
            <a:r>
              <a:rPr lang="en-US" altLang="zh-CN" sz="1200" b="0" dirty="0" err="1"/>
              <a:t>Tutorials.SCALA</a:t>
            </a:r>
            <a:r>
              <a:rPr lang="en-US" altLang="zh-CN" sz="1200" b="0" dirty="0"/>
              <a:t>);</a:t>
            </a:r>
            <a:endParaRPr lang="zh-CN" altLang="en-US" sz="1200" b="0" dirty="0"/>
          </a:p>
        </p:txBody>
      </p:sp>
      <p:cxnSp>
        <p:nvCxnSpPr>
          <p:cNvPr id="21" name="直接箭头连接符 20"/>
          <p:cNvCxnSpPr>
            <a:endCxn id="22" idx="1"/>
          </p:cNvCxnSpPr>
          <p:nvPr/>
        </p:nvCxnSpPr>
        <p:spPr bwMode="auto">
          <a:xfrm flipV="1">
            <a:off x="4103416" y="5162709"/>
            <a:ext cx="1354993" cy="254338"/>
          </a:xfrm>
          <a:prstGeom prst="straightConnector1">
            <a:avLst/>
          </a:prstGeom>
          <a:ln w="19050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5458409" y="5024210"/>
            <a:ext cx="41685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0" dirty="0"/>
              <a:t>使用</a:t>
            </a:r>
            <a:r>
              <a:rPr lang="en-US" altLang="zh-CN" sz="1200" dirty="0" err="1">
                <a:solidFill>
                  <a:srgbClr val="FF0000"/>
                </a:solidFill>
              </a:rPr>
              <a:t>createNode</a:t>
            </a:r>
            <a:r>
              <a:rPr lang="zh-CN" altLang="en-US" sz="1200" b="0" dirty="0"/>
              <a:t>函数，创建两个节点</a:t>
            </a:r>
            <a:r>
              <a:rPr lang="en-US" altLang="zh-CN" sz="1200" b="0" dirty="0"/>
              <a:t>”</a:t>
            </a:r>
            <a:r>
              <a:rPr lang="en-US" altLang="zh-CN" sz="1200" b="0" dirty="0" err="1"/>
              <a:t>javaNode</a:t>
            </a:r>
            <a:r>
              <a:rPr lang="en-US" altLang="zh-CN" sz="1200" b="0" dirty="0"/>
              <a:t>”,”</a:t>
            </a:r>
            <a:r>
              <a:rPr lang="en-US" altLang="zh-CN" sz="1200" b="0" dirty="0" err="1"/>
              <a:t>scalaNode</a:t>
            </a:r>
            <a:r>
              <a:rPr lang="en-US" altLang="zh-CN" sz="1200" b="0" dirty="0"/>
              <a:t>”</a:t>
            </a:r>
            <a:endParaRPr lang="zh-CN" altLang="en-US" sz="1200" b="0" dirty="0"/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25D55948-2A0B-4BB8-B114-E363A06E838E}"/>
              </a:ext>
            </a:extLst>
          </p:cNvPr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lvl="0" algn="r">
              <a:defRPr/>
            </a:pPr>
            <a:r>
              <a:rPr lang="en-US" altLang="zh-CN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Neo4j—</a:t>
            </a:r>
            <a:r>
              <a:rPr lang="zh-CN" altLang="en-US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知识图谱构建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itchFamily="34" charset="0"/>
              <a:ea typeface="黑体" pitchFamily="2" charset="-122"/>
              <a:cs typeface="+mn-cs"/>
            </a:endParaRPr>
          </a:p>
        </p:txBody>
      </p:sp>
      <p:sp>
        <p:nvSpPr>
          <p:cNvPr id="20" name="灯片编号占位符 5">
            <a:extLst>
              <a:ext uri="{FF2B5EF4-FFF2-40B4-BE49-F238E27FC236}">
                <a16:creationId xmlns:a16="http://schemas.microsoft.com/office/drawing/2014/main" id="{72A8457C-6733-45D5-B25A-FC9947751D27}"/>
              </a:ext>
            </a:extLst>
          </p:cNvPr>
          <p:cNvSpPr txBox="1">
            <a:spLocks noGrp="1"/>
          </p:cNvSpPr>
          <p:nvPr/>
        </p:nvSpPr>
        <p:spPr bwMode="auto">
          <a:xfrm>
            <a:off x="10287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41507284-0812-45A7-8B30-66F2C5187041}" type="slidenum">
              <a:rPr kumimoji="0" lang="zh-CN" altLang="en-US" sz="1400" b="0">
                <a:latin typeface="Tahoma" panose="020B0604030504040204" pitchFamily="34" charset="0"/>
              </a:rPr>
              <a:pPr algn="r" eaLnBrk="1" hangingPunct="1"/>
              <a:t>27</a:t>
            </a:fld>
            <a:endParaRPr kumimoji="0" lang="en-US" altLang="zh-CN" sz="1400" b="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566111"/>
      </p:ext>
    </p:extLst>
  </p:cSld>
  <p:clrMapOvr>
    <a:masterClrMapping/>
  </p:clrMapOvr>
  <p:transition advTm="5937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063553" y="1412777"/>
            <a:ext cx="51067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Step 7：</a:t>
            </a:r>
            <a:r>
              <a:rPr lang="zh-CN" altLang="en-US" dirty="0"/>
              <a:t>为节点创建属性</a:t>
            </a:r>
            <a:r>
              <a:rPr lang="en-US" altLang="zh-CN" dirty="0"/>
              <a:t>:</a:t>
            </a:r>
            <a:r>
              <a:rPr lang="en-US" altLang="zh-CN" dirty="0" err="1"/>
              <a:t>setProperty</a:t>
            </a:r>
            <a:endParaRPr lang="zh-CN" altLang="en-US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126071" y="2236928"/>
            <a:ext cx="341471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hangingPunct="0"/>
            <a:r>
              <a:rPr kumimoji="0" lang="en-US" altLang="zh-CN" sz="1200" b="0" dirty="0" err="1">
                <a:latin typeface="Arial Unicode MS" panose="020B0604020202020204" pitchFamily="34" charset="-122"/>
              </a:rPr>
              <a:t>javaNode.setProperty</a:t>
            </a:r>
            <a:r>
              <a:rPr kumimoji="0" lang="en-US" altLang="zh-CN" sz="1200" b="0" dirty="0">
                <a:latin typeface="Arial Unicode MS" panose="020B0604020202020204" pitchFamily="34" charset="-122"/>
              </a:rPr>
              <a:t>("</a:t>
            </a:r>
            <a:r>
              <a:rPr kumimoji="0" lang="en-US" altLang="zh-CN" sz="1200" b="0" dirty="0" err="1">
                <a:latin typeface="Arial Unicode MS" panose="020B0604020202020204" pitchFamily="34" charset="-122"/>
              </a:rPr>
              <a:t>TutorialID</a:t>
            </a:r>
            <a:r>
              <a:rPr kumimoji="0" lang="en-US" altLang="zh-CN" sz="1200" b="0" dirty="0">
                <a:latin typeface="Arial Unicode MS" panose="020B0604020202020204" pitchFamily="34" charset="-122"/>
              </a:rPr>
              <a:t>", "JAVA001");</a:t>
            </a:r>
            <a:endParaRPr kumimoji="0" lang="zh-CN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063553" y="2895328"/>
            <a:ext cx="49500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Step 8：</a:t>
            </a:r>
            <a:r>
              <a:rPr lang="zh-CN" altLang="en-US" dirty="0"/>
              <a:t>关系名称</a:t>
            </a:r>
            <a:r>
              <a:rPr lang="en-US" altLang="zh-CN" dirty="0"/>
              <a:t>:</a:t>
            </a:r>
            <a:r>
              <a:rPr lang="en-US" altLang="zh-CN" dirty="0" err="1"/>
              <a:t>RelationshipType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2030413" y="3408383"/>
            <a:ext cx="45881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altLang="zh-CN" sz="1200" b="0" dirty="0">
                <a:latin typeface="Arial Unicode MS" panose="020B0604020202020204" pitchFamily="34" charset="-122"/>
              </a:rPr>
              <a:t>public </a:t>
            </a:r>
            <a:r>
              <a:rPr kumimoji="0" lang="en-US" altLang="zh-CN" sz="1200" b="0" dirty="0" err="1">
                <a:latin typeface="Arial Unicode MS" panose="020B0604020202020204" pitchFamily="34" charset="-122"/>
              </a:rPr>
              <a:t>enum</a:t>
            </a:r>
            <a:r>
              <a:rPr kumimoji="0" lang="en-US" altLang="zh-CN" sz="1200" b="0" dirty="0">
                <a:latin typeface="Arial Unicode MS" panose="020B0604020202020204" pitchFamily="34" charset="-122"/>
              </a:rPr>
              <a:t> </a:t>
            </a:r>
            <a:r>
              <a:rPr kumimoji="0" lang="en-US" altLang="zh-CN" sz="1200" b="0" dirty="0" err="1">
                <a:latin typeface="Arial Unicode MS" panose="020B0604020202020204" pitchFamily="34" charset="-122"/>
              </a:rPr>
              <a:t>TutorialRelationships</a:t>
            </a:r>
            <a:r>
              <a:rPr kumimoji="0" lang="en-US" altLang="zh-CN" sz="1200" b="0" dirty="0">
                <a:latin typeface="Arial Unicode MS" panose="020B0604020202020204" pitchFamily="34" charset="-122"/>
              </a:rPr>
              <a:t> implements </a:t>
            </a:r>
            <a:r>
              <a:rPr kumimoji="0" lang="en-US" altLang="zh-CN" sz="1200" b="0" dirty="0" err="1">
                <a:latin typeface="Arial Unicode MS" panose="020B0604020202020204" pitchFamily="34" charset="-122"/>
              </a:rPr>
              <a:t>RelationshipType</a:t>
            </a:r>
            <a:r>
              <a:rPr kumimoji="0" lang="en-US" altLang="zh-CN" sz="1200" b="0" dirty="0">
                <a:latin typeface="Arial Unicode MS" panose="020B0604020202020204" pitchFamily="34" charset="-122"/>
              </a:rPr>
              <a:t>{</a:t>
            </a:r>
          </a:p>
          <a:p>
            <a:r>
              <a:rPr kumimoji="0" lang="en-US" altLang="zh-CN" sz="1200" b="0" dirty="0">
                <a:latin typeface="Arial Unicode MS" panose="020B0604020202020204" pitchFamily="34" charset="-122"/>
              </a:rPr>
              <a:t>	JVM_LANGIAGES, NON_JVM_LANGIAGES;</a:t>
            </a:r>
          </a:p>
          <a:p>
            <a:r>
              <a:rPr kumimoji="0" lang="en-US" altLang="zh-CN" sz="1200" b="0" dirty="0">
                <a:latin typeface="Arial Unicode MS" panose="020B0604020202020204" pitchFamily="34" charset="-122"/>
              </a:rPr>
              <a:t>}</a:t>
            </a:r>
            <a:endParaRPr kumimoji="0" lang="zh-CN" altLang="en-US" sz="1200" b="0" dirty="0">
              <a:latin typeface="Arial Unicode MS" panose="020B0604020202020204" pitchFamily="34" charset="-122"/>
            </a:endParaRPr>
          </a:p>
        </p:txBody>
      </p:sp>
      <p:cxnSp>
        <p:nvCxnSpPr>
          <p:cNvPr id="7" name="直接箭头连接符 6"/>
          <p:cNvCxnSpPr/>
          <p:nvPr/>
        </p:nvCxnSpPr>
        <p:spPr bwMode="auto">
          <a:xfrm flipV="1">
            <a:off x="3287688" y="2053404"/>
            <a:ext cx="1944216" cy="242570"/>
          </a:xfrm>
          <a:prstGeom prst="straightConnector1">
            <a:avLst/>
          </a:prstGeom>
          <a:ln w="19050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159415" y="1935820"/>
            <a:ext cx="33841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0" dirty="0"/>
              <a:t>通过</a:t>
            </a:r>
            <a:r>
              <a:rPr lang="en-US" altLang="zh-CN" sz="1400" dirty="0" err="1">
                <a:solidFill>
                  <a:srgbClr val="FF0000"/>
                </a:solidFill>
              </a:rPr>
              <a:t>setProperty</a:t>
            </a:r>
            <a:r>
              <a:rPr lang="zh-CN" altLang="en-US" sz="1400" b="0" dirty="0"/>
              <a:t>对节点</a:t>
            </a:r>
            <a:r>
              <a:rPr lang="en-US" altLang="zh-CN" sz="1400" b="0" dirty="0" err="1"/>
              <a:t>javaNode</a:t>
            </a:r>
            <a:r>
              <a:rPr lang="zh-CN" altLang="en-US" sz="1400" b="0" dirty="0"/>
              <a:t>创建属性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2063552" y="4623520"/>
            <a:ext cx="54327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Step 9：</a:t>
            </a:r>
            <a:r>
              <a:rPr lang="zh-CN" altLang="en-US" dirty="0"/>
              <a:t>创建关系</a:t>
            </a:r>
            <a:r>
              <a:rPr lang="en-US" altLang="zh-CN" dirty="0"/>
              <a:t>:</a:t>
            </a:r>
            <a:r>
              <a:rPr lang="en-US" altLang="zh-CN" dirty="0" err="1"/>
              <a:t>createRealtionshipTo</a:t>
            </a:r>
            <a:endParaRPr lang="zh-CN" altLang="en-US" dirty="0"/>
          </a:p>
        </p:txBody>
      </p:sp>
      <p:cxnSp>
        <p:nvCxnSpPr>
          <p:cNvPr id="19" name="直接箭头连接符 18"/>
          <p:cNvCxnSpPr>
            <a:endCxn id="4" idx="1"/>
          </p:cNvCxnSpPr>
          <p:nvPr/>
        </p:nvCxnSpPr>
        <p:spPr bwMode="auto">
          <a:xfrm flipV="1">
            <a:off x="5829907" y="3316953"/>
            <a:ext cx="1802798" cy="276094"/>
          </a:xfrm>
          <a:prstGeom prst="straightConnector1">
            <a:avLst/>
          </a:prstGeom>
          <a:ln w="19050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7632706" y="3086121"/>
            <a:ext cx="2720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0" dirty="0"/>
              <a:t>要创建关系，需要关系类型。 </a:t>
            </a:r>
            <a:endParaRPr lang="en-US" altLang="zh-CN" sz="1200" b="0" dirty="0"/>
          </a:p>
          <a:p>
            <a:r>
              <a:rPr lang="zh-CN" altLang="en-US" sz="1200" b="0" dirty="0"/>
              <a:t>通过实现</a:t>
            </a:r>
            <a:r>
              <a:rPr lang="en-US" altLang="zh-CN" sz="1200" dirty="0" err="1">
                <a:solidFill>
                  <a:srgbClr val="FF0000"/>
                </a:solidFill>
              </a:rPr>
              <a:t>RelationshipType</a:t>
            </a:r>
            <a:r>
              <a:rPr lang="zh-CN" altLang="en-US" sz="1200" b="0" dirty="0"/>
              <a:t>创建枚举。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126071" y="5192326"/>
            <a:ext cx="45709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0" dirty="0"/>
              <a:t>Relationship </a:t>
            </a:r>
            <a:r>
              <a:rPr lang="en-US" altLang="zh-CN" sz="1200" b="0" dirty="0" err="1"/>
              <a:t>relationship</a:t>
            </a:r>
            <a:r>
              <a:rPr lang="en-US" altLang="zh-CN" sz="1200" b="0" dirty="0"/>
              <a:t> = </a:t>
            </a:r>
            <a:r>
              <a:rPr lang="en-US" altLang="zh-CN" sz="1200" b="0" dirty="0" err="1"/>
              <a:t>javaNode.createRelationshipTo</a:t>
            </a:r>
            <a:r>
              <a:rPr lang="en-US" altLang="zh-CN" sz="1200" b="0" dirty="0"/>
              <a:t>(</a:t>
            </a:r>
            <a:r>
              <a:rPr lang="en-US" altLang="zh-CN" sz="1200" b="0" dirty="0" err="1"/>
              <a:t>scalaNode</a:t>
            </a:r>
            <a:r>
              <a:rPr lang="en-US" altLang="zh-CN" sz="1200" b="0" dirty="0"/>
              <a:t>,</a:t>
            </a:r>
          </a:p>
          <a:p>
            <a:r>
              <a:rPr lang="en-US" altLang="zh-CN" sz="1200" b="0" dirty="0"/>
              <a:t>	</a:t>
            </a:r>
            <a:r>
              <a:rPr lang="en-US" altLang="zh-CN" sz="1200" b="0" dirty="0" err="1"/>
              <a:t>TutorialRelationships.JVM_LANGIAGES</a:t>
            </a:r>
            <a:r>
              <a:rPr lang="en-US" altLang="zh-CN" sz="1200" b="0" dirty="0"/>
              <a:t>);</a:t>
            </a:r>
            <a:endParaRPr lang="zh-CN" altLang="en-US" sz="1200" b="0" dirty="0"/>
          </a:p>
        </p:txBody>
      </p:sp>
      <p:cxnSp>
        <p:nvCxnSpPr>
          <p:cNvPr id="23" name="直接箭头连接符 22"/>
          <p:cNvCxnSpPr/>
          <p:nvPr/>
        </p:nvCxnSpPr>
        <p:spPr bwMode="auto">
          <a:xfrm>
            <a:off x="5263385" y="5330372"/>
            <a:ext cx="1781533" cy="546900"/>
          </a:xfrm>
          <a:prstGeom prst="straightConnector1">
            <a:avLst/>
          </a:prstGeom>
          <a:ln w="19050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6545210" y="5792038"/>
            <a:ext cx="37330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0" dirty="0"/>
              <a:t>创建有</a:t>
            </a:r>
            <a:r>
              <a:rPr lang="en-US" altLang="zh-CN" sz="1200" b="0" dirty="0" err="1"/>
              <a:t>javaNode</a:t>
            </a:r>
            <a:r>
              <a:rPr lang="zh-CN" altLang="en-US" sz="1200" b="0" dirty="0"/>
              <a:t>到</a:t>
            </a:r>
            <a:r>
              <a:rPr lang="en-US" altLang="zh-CN" sz="1200" b="0" dirty="0" err="1"/>
              <a:t>scalaNode</a:t>
            </a:r>
            <a:r>
              <a:rPr lang="zh-CN" altLang="en-US" sz="1200" b="0" dirty="0"/>
              <a:t>的名为</a:t>
            </a:r>
            <a:r>
              <a:rPr lang="en-US" altLang="zh-CN" sz="1200" b="0" dirty="0"/>
              <a:t>JVM_LANGIAGES</a:t>
            </a:r>
          </a:p>
          <a:p>
            <a:r>
              <a:rPr lang="zh-CN" altLang="en-US" sz="1200" b="0" dirty="0"/>
              <a:t>的关系</a:t>
            </a: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BB099C03-C009-4A5E-B76E-F137B1947CE3}"/>
              </a:ext>
            </a:extLst>
          </p:cNvPr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lvl="0" algn="r">
              <a:defRPr/>
            </a:pPr>
            <a:r>
              <a:rPr lang="en-US" altLang="zh-CN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Neo4j—</a:t>
            </a:r>
            <a:r>
              <a:rPr lang="zh-CN" altLang="en-US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知识图谱构建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itchFamily="34" charset="0"/>
              <a:ea typeface="黑体" pitchFamily="2" charset="-122"/>
              <a:cs typeface="+mn-cs"/>
            </a:endParaRPr>
          </a:p>
        </p:txBody>
      </p:sp>
      <p:sp>
        <p:nvSpPr>
          <p:cNvPr id="20" name="灯片编号占位符 5">
            <a:extLst>
              <a:ext uri="{FF2B5EF4-FFF2-40B4-BE49-F238E27FC236}">
                <a16:creationId xmlns:a16="http://schemas.microsoft.com/office/drawing/2014/main" id="{3E916EB1-A35D-4FC2-A577-1B3220F34E81}"/>
              </a:ext>
            </a:extLst>
          </p:cNvPr>
          <p:cNvSpPr txBox="1">
            <a:spLocks noGrp="1"/>
          </p:cNvSpPr>
          <p:nvPr/>
        </p:nvSpPr>
        <p:spPr bwMode="auto">
          <a:xfrm>
            <a:off x="10287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41507284-0812-45A7-8B30-66F2C5187041}" type="slidenum">
              <a:rPr kumimoji="0" lang="zh-CN" altLang="en-US" sz="1400" b="0">
                <a:latin typeface="Tahoma" panose="020B0604030504040204" pitchFamily="34" charset="0"/>
              </a:rPr>
              <a:pPr algn="r" eaLnBrk="1" hangingPunct="1"/>
              <a:t>28</a:t>
            </a:fld>
            <a:endParaRPr kumimoji="0" lang="en-US" altLang="zh-CN" sz="1400" b="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5869710"/>
      </p:ext>
    </p:extLst>
  </p:cSld>
  <p:clrMapOvr>
    <a:masterClrMapping/>
  </p:clrMapOvr>
  <p:transition advTm="5937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063553" y="1412777"/>
            <a:ext cx="52606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Step 10：</a:t>
            </a:r>
            <a:r>
              <a:rPr lang="zh-CN" altLang="en-US" dirty="0"/>
              <a:t>为关系创建属性</a:t>
            </a:r>
            <a:r>
              <a:rPr lang="en-US" altLang="zh-CN" dirty="0"/>
              <a:t>:</a:t>
            </a:r>
            <a:r>
              <a:rPr lang="en-US" altLang="zh-CN" dirty="0" err="1"/>
              <a:t>setProperty</a:t>
            </a:r>
            <a:endParaRPr lang="zh-CN" altLang="en-US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126070" y="2236928"/>
            <a:ext cx="267092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hangingPunct="0"/>
            <a:r>
              <a:rPr kumimoji="0" lang="en-US" altLang="zh-CN" sz="1200" b="0" dirty="0" err="1">
                <a:latin typeface="Arial Unicode MS" panose="020B0604020202020204" pitchFamily="34" charset="-122"/>
              </a:rPr>
              <a:t>relationship.setProperty</a:t>
            </a:r>
            <a:r>
              <a:rPr kumimoji="0" lang="en-US" altLang="zh-CN" sz="1200" b="0" dirty="0">
                <a:latin typeface="Arial Unicode MS" panose="020B0604020202020204" pitchFamily="34" charset="-122"/>
              </a:rPr>
              <a:t>("Id","1234");</a:t>
            </a:r>
            <a:endParaRPr kumimoji="0" lang="zh-CN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063552" y="2895328"/>
            <a:ext cx="2990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Step 11：</a:t>
            </a:r>
            <a:r>
              <a:rPr lang="zh-CN" altLang="en-US" dirty="0"/>
              <a:t>查看数据库</a:t>
            </a:r>
          </a:p>
        </p:txBody>
      </p:sp>
      <p:cxnSp>
        <p:nvCxnSpPr>
          <p:cNvPr id="7" name="直接箭头连接符 6"/>
          <p:cNvCxnSpPr/>
          <p:nvPr/>
        </p:nvCxnSpPr>
        <p:spPr bwMode="auto">
          <a:xfrm flipV="1">
            <a:off x="3287688" y="2053404"/>
            <a:ext cx="1944216" cy="242570"/>
          </a:xfrm>
          <a:prstGeom prst="straightConnector1">
            <a:avLst/>
          </a:prstGeom>
          <a:ln w="19050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159416" y="1935820"/>
            <a:ext cx="354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0" dirty="0"/>
              <a:t>通过</a:t>
            </a:r>
            <a:r>
              <a:rPr lang="en-US" altLang="zh-CN" sz="1400" dirty="0" err="1">
                <a:solidFill>
                  <a:srgbClr val="FF0000"/>
                </a:solidFill>
              </a:rPr>
              <a:t>setProperty</a:t>
            </a:r>
            <a:r>
              <a:rPr lang="zh-CN" altLang="en-US" sz="1400" b="0" dirty="0"/>
              <a:t>对关系</a:t>
            </a:r>
            <a:r>
              <a:rPr lang="en-US" altLang="zh-CN" sz="1400" b="0" dirty="0"/>
              <a:t>relationship</a:t>
            </a:r>
            <a:r>
              <a:rPr lang="zh-CN" altLang="en-US" sz="1400" b="0" dirty="0"/>
              <a:t>创建属性</a:t>
            </a:r>
          </a:p>
        </p:txBody>
      </p:sp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2135561" y="3440034"/>
            <a:ext cx="617027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hangingPunct="0"/>
            <a:r>
              <a:rPr lang="zh-CN" altLang="en-US" sz="1200" b="0" dirty="0"/>
              <a:t>一旦数据库成功启动，通过单击“</a:t>
            </a:r>
            <a:r>
              <a:rPr lang="en-US" altLang="zh-CN" sz="1200" b="0" dirty="0"/>
              <a:t>http</a:t>
            </a:r>
            <a:r>
              <a:rPr lang="zh-CN" altLang="en-US" sz="1200" b="0" dirty="0"/>
              <a:t>：</a:t>
            </a:r>
            <a:r>
              <a:rPr lang="en-US" altLang="zh-CN" sz="1200" b="0" dirty="0"/>
              <a:t>// localhost</a:t>
            </a:r>
            <a:r>
              <a:rPr lang="zh-CN" altLang="en-US" sz="1200" b="0" dirty="0"/>
              <a:t>：</a:t>
            </a:r>
            <a:r>
              <a:rPr lang="en-US" altLang="zh-CN" sz="1200" b="0" dirty="0"/>
              <a:t>7474”</a:t>
            </a:r>
            <a:r>
              <a:rPr lang="zh-CN" altLang="en-US" sz="1200" b="0" dirty="0"/>
              <a:t>链接访问</a:t>
            </a:r>
            <a:r>
              <a:rPr lang="en-US" altLang="zh-CN" sz="1200" b="0" dirty="0"/>
              <a:t>Neo4j</a:t>
            </a:r>
            <a:r>
              <a:rPr lang="zh-CN" altLang="en-US" sz="1200" b="0" dirty="0"/>
              <a:t>浏览器来观察。</a:t>
            </a:r>
            <a:endParaRPr kumimoji="0" lang="zh-CN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E672B384-258D-46F3-9C78-D1240AF11515}"/>
              </a:ext>
            </a:extLst>
          </p:cNvPr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lvl="0" algn="r">
              <a:defRPr/>
            </a:pPr>
            <a:r>
              <a:rPr lang="en-US" altLang="zh-CN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Neo4j—</a:t>
            </a:r>
            <a:r>
              <a:rPr lang="zh-CN" altLang="en-US" sz="4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知识图谱构建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itchFamily="34" charset="0"/>
              <a:ea typeface="黑体" pitchFamily="2" charset="-122"/>
              <a:cs typeface="+mn-cs"/>
            </a:endParaRPr>
          </a:p>
        </p:txBody>
      </p:sp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id="{185CB5B0-CCE6-4966-BF77-2807373956E0}"/>
              </a:ext>
            </a:extLst>
          </p:cNvPr>
          <p:cNvSpPr txBox="1">
            <a:spLocks noGrp="1"/>
          </p:cNvSpPr>
          <p:nvPr/>
        </p:nvSpPr>
        <p:spPr bwMode="auto">
          <a:xfrm>
            <a:off x="10287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41507284-0812-45A7-8B30-66F2C5187041}" type="slidenum">
              <a:rPr kumimoji="0" lang="zh-CN" altLang="en-US" sz="1400" b="0">
                <a:latin typeface="Tahoma" panose="020B0604030504040204" pitchFamily="34" charset="0"/>
              </a:rPr>
              <a:pPr algn="r" eaLnBrk="1" hangingPunct="1"/>
              <a:t>29</a:t>
            </a:fld>
            <a:endParaRPr kumimoji="0" lang="en-US" altLang="zh-CN" sz="1400" b="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000161"/>
      </p:ext>
    </p:extLst>
  </p:cSld>
  <p:clrMapOvr>
    <a:masterClrMapping/>
  </p:clrMapOvr>
  <p:transition advTm="5937"/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黑体"/>
        <a:cs typeface=""/>
      </a:majorFont>
      <a:minorFont>
        <a:latin typeface="Tahoma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Designs\Blends.pot</Template>
  <TotalTime>52300</TotalTime>
  <Words>2488</Words>
  <Application>Microsoft Office PowerPoint</Application>
  <PresentationFormat>宽屏</PresentationFormat>
  <Paragraphs>428</Paragraphs>
  <Slides>29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9" baseType="lpstr">
      <vt:lpstr>Arial Unicode MS</vt:lpstr>
      <vt:lpstr>等线</vt:lpstr>
      <vt:lpstr>黑体</vt:lpstr>
      <vt:lpstr>华文楷体</vt:lpstr>
      <vt:lpstr>宋体</vt:lpstr>
      <vt:lpstr>Arial</vt:lpstr>
      <vt:lpstr>Tahoma</vt:lpstr>
      <vt:lpstr>Times New Roman</vt:lpstr>
      <vt:lpstr>Wingdings</vt:lpstr>
      <vt:lpstr>Blends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Tsinghua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2010年国家杰出青年基金项目答辩</dc:title>
  <dc:creator>corey</dc:creator>
  <cp:lastModifiedBy>liboyang77</cp:lastModifiedBy>
  <cp:revision>2375</cp:revision>
  <dcterms:created xsi:type="dcterms:W3CDTF">1999-04-23T05:13:58Z</dcterms:created>
  <dcterms:modified xsi:type="dcterms:W3CDTF">2024-04-30T03:39:34Z</dcterms:modified>
</cp:coreProperties>
</file>